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330" r:id="rId2"/>
    <p:sldId id="278" r:id="rId3"/>
    <p:sldId id="319" r:id="rId4"/>
    <p:sldId id="314" r:id="rId5"/>
    <p:sldId id="280" r:id="rId6"/>
    <p:sldId id="336" r:id="rId7"/>
    <p:sldId id="281" r:id="rId8"/>
    <p:sldId id="285" r:id="rId9"/>
    <p:sldId id="287" r:id="rId10"/>
    <p:sldId id="318" r:id="rId11"/>
    <p:sldId id="315" r:id="rId12"/>
    <p:sldId id="316" r:id="rId13"/>
    <p:sldId id="294" r:id="rId14"/>
    <p:sldId id="322" r:id="rId15"/>
    <p:sldId id="335" r:id="rId16"/>
    <p:sldId id="334" r:id="rId17"/>
    <p:sldId id="333" r:id="rId18"/>
    <p:sldId id="320" r:id="rId19"/>
    <p:sldId id="323" r:id="rId20"/>
    <p:sldId id="300" r:id="rId21"/>
    <p:sldId id="341" r:id="rId22"/>
    <p:sldId id="343" r:id="rId23"/>
    <p:sldId id="347" r:id="rId24"/>
    <p:sldId id="317" r:id="rId25"/>
    <p:sldId id="339" r:id="rId26"/>
    <p:sldId id="306" r:id="rId27"/>
    <p:sldId id="344" r:id="rId28"/>
    <p:sldId id="307" r:id="rId29"/>
    <p:sldId id="309" r:id="rId30"/>
    <p:sldId id="310" r:id="rId31"/>
    <p:sldId id="311" r:id="rId32"/>
    <p:sldId id="346" r:id="rId33"/>
    <p:sldId id="312" r:id="rId34"/>
    <p:sldId id="326" r:id="rId35"/>
    <p:sldId id="331" r:id="rId36"/>
  </p:sldIdLst>
  <p:sldSz cx="9144000" cy="6858000" type="screen4x3"/>
  <p:notesSz cx="6858000" cy="9144000"/>
  <p:custDataLst>
    <p:tags r:id="rId3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omain Crastes dit Sourd" initials="RCdS" lastIdx="1" clrIdx="0">
    <p:extLst>
      <p:ext uri="{19B8F6BF-5375-455C-9EA6-DF929625EA0E}">
        <p15:presenceInfo xmlns:p15="http://schemas.microsoft.com/office/powerpoint/2012/main" userId="S::trarc@leeds.ac.uk::a2132d6e-bc8b-4edd-b1aa-842784ce985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CC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EEF9244-CCB6-4051-A4B5-42EB873ED98A}" v="274" dt="2022-10-25T16:15:18.802"/>
    <p1510:client id="{85D251A1-A8B8-4734-BE9C-7167714E8CC6}" v="94" dt="2022-10-25T20:48:23.6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86" autoAdjust="0"/>
    <p:restoredTop sz="94894" autoAdjust="0"/>
  </p:normalViewPr>
  <p:slideViewPr>
    <p:cSldViewPr>
      <p:cViewPr varScale="1">
        <p:scale>
          <a:sx n="87" d="100"/>
          <a:sy n="87" d="100"/>
        </p:scale>
        <p:origin x="2136"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A6BDA18-A924-4623-AFDA-7F89229823E3}" type="datetimeFigureOut">
              <a:rPr lang="en-GB" smtClean="0"/>
              <a:t>21/10/2024</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FB37484-4BD0-4B53-9749-250372656A21}" type="slidenum">
              <a:rPr lang="en-GB" smtClean="0"/>
              <a:t>‹#›</a:t>
            </a:fld>
            <a:endParaRPr lang="en-GB"/>
          </a:p>
        </p:txBody>
      </p:sp>
    </p:spTree>
    <p:extLst>
      <p:ext uri="{BB962C8B-B14F-4D97-AF65-F5344CB8AC3E}">
        <p14:creationId xmlns:p14="http://schemas.microsoft.com/office/powerpoint/2010/main" val="808446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6492210-F39B-4EEE-854E-3D7C3C2C3969}" type="slidenum">
              <a:rPr lang="en-US" altLang="en-US"/>
              <a:pPr/>
              <a:t>2</a:t>
            </a:fld>
            <a:endParaRPr lang="en-US" altLang="en-US"/>
          </a:p>
        </p:txBody>
      </p:sp>
      <p:sp>
        <p:nvSpPr>
          <p:cNvPr id="106498" name="Rectangle 2"/>
          <p:cNvSpPr>
            <a:spLocks noGrp="1" noRot="1" noChangeAspect="1" noChangeArrowheads="1" noTextEdit="1"/>
          </p:cNvSpPr>
          <p:nvPr>
            <p:ph type="sldImg"/>
          </p:nvPr>
        </p:nvSpPr>
        <p:spPr>
          <a:xfrm>
            <a:off x="1292225" y="796925"/>
            <a:ext cx="4273550" cy="3205163"/>
          </a:xfrm>
          <a:ln/>
        </p:spPr>
      </p:sp>
      <p:sp>
        <p:nvSpPr>
          <p:cNvPr id="106499" name="Rectangle 3"/>
          <p:cNvSpPr>
            <a:spLocks noGrp="1" noChangeArrowheads="1"/>
          </p:cNvSpPr>
          <p:nvPr>
            <p:ph type="body" idx="1"/>
          </p:nvPr>
        </p:nvSpPr>
        <p:spPr>
          <a:xfrm>
            <a:off x="913991" y="4347195"/>
            <a:ext cx="5030018" cy="3849359"/>
          </a:xfrm>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6492210-F39B-4EEE-854E-3D7C3C2C3969}" type="slidenum">
              <a:rPr lang="en-US" altLang="en-US"/>
              <a:pPr/>
              <a:t>3</a:t>
            </a:fld>
            <a:endParaRPr lang="en-US" altLang="en-US"/>
          </a:p>
        </p:txBody>
      </p:sp>
      <p:sp>
        <p:nvSpPr>
          <p:cNvPr id="106498" name="Rectangle 2"/>
          <p:cNvSpPr>
            <a:spLocks noGrp="1" noRot="1" noChangeAspect="1" noChangeArrowheads="1" noTextEdit="1"/>
          </p:cNvSpPr>
          <p:nvPr>
            <p:ph type="sldImg"/>
          </p:nvPr>
        </p:nvSpPr>
        <p:spPr>
          <a:xfrm>
            <a:off x="1292225" y="796925"/>
            <a:ext cx="4273550" cy="3205163"/>
          </a:xfrm>
          <a:ln/>
        </p:spPr>
      </p:sp>
      <p:sp>
        <p:nvSpPr>
          <p:cNvPr id="106499" name="Rectangle 3"/>
          <p:cNvSpPr>
            <a:spLocks noGrp="1" noChangeArrowheads="1"/>
          </p:cNvSpPr>
          <p:nvPr>
            <p:ph type="body" idx="1"/>
          </p:nvPr>
        </p:nvSpPr>
        <p:spPr>
          <a:xfrm>
            <a:off x="913991" y="4347195"/>
            <a:ext cx="5030018" cy="3849359"/>
          </a:xfrm>
        </p:spPr>
        <p:txBody>
          <a:bodyP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6492210-F39B-4EEE-854E-3D7C3C2C3969}" type="slidenum">
              <a:rPr lang="en-US" altLang="en-US"/>
              <a:pPr/>
              <a:t>4</a:t>
            </a:fld>
            <a:endParaRPr lang="en-US" altLang="en-US"/>
          </a:p>
        </p:txBody>
      </p:sp>
      <p:sp>
        <p:nvSpPr>
          <p:cNvPr id="106498" name="Rectangle 2"/>
          <p:cNvSpPr>
            <a:spLocks noGrp="1" noRot="1" noChangeAspect="1" noChangeArrowheads="1" noTextEdit="1"/>
          </p:cNvSpPr>
          <p:nvPr>
            <p:ph type="sldImg"/>
          </p:nvPr>
        </p:nvSpPr>
        <p:spPr>
          <a:xfrm>
            <a:off x="1292225" y="796925"/>
            <a:ext cx="4273550" cy="3205163"/>
          </a:xfrm>
          <a:ln/>
        </p:spPr>
      </p:sp>
      <p:sp>
        <p:nvSpPr>
          <p:cNvPr id="106499" name="Rectangle 3"/>
          <p:cNvSpPr>
            <a:spLocks noGrp="1" noChangeArrowheads="1"/>
          </p:cNvSpPr>
          <p:nvPr>
            <p:ph type="body" idx="1"/>
          </p:nvPr>
        </p:nvSpPr>
        <p:spPr>
          <a:xfrm>
            <a:off x="913991" y="4347195"/>
            <a:ext cx="5030018" cy="3849359"/>
          </a:xfrm>
        </p:spPr>
        <p:txBody>
          <a:bodyP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577D0E7-6614-4DDA-AF03-06F2DC2BB1D0}" type="slidenum">
              <a:rPr lang="en-US" altLang="en-US"/>
              <a:pPr/>
              <a:t>5</a:t>
            </a:fld>
            <a:endParaRPr lang="en-US" altLang="en-US"/>
          </a:p>
        </p:txBody>
      </p:sp>
      <p:sp>
        <p:nvSpPr>
          <p:cNvPr id="108546" name="Rectangle 2"/>
          <p:cNvSpPr>
            <a:spLocks noGrp="1" noRot="1" noChangeAspect="1" noChangeArrowheads="1" noTextEdit="1"/>
          </p:cNvSpPr>
          <p:nvPr>
            <p:ph type="sldImg"/>
          </p:nvPr>
        </p:nvSpPr>
        <p:spPr>
          <a:xfrm>
            <a:off x="1292225" y="796925"/>
            <a:ext cx="4273550" cy="3205163"/>
          </a:xfrm>
          <a:ln/>
        </p:spPr>
      </p:sp>
      <p:sp>
        <p:nvSpPr>
          <p:cNvPr id="108547" name="Rectangle 3"/>
          <p:cNvSpPr>
            <a:spLocks noGrp="1" noChangeArrowheads="1"/>
          </p:cNvSpPr>
          <p:nvPr>
            <p:ph type="body" idx="1"/>
          </p:nvPr>
        </p:nvSpPr>
        <p:spPr>
          <a:xfrm>
            <a:off x="913991" y="4347195"/>
            <a:ext cx="5030018" cy="3849359"/>
          </a:xfrm>
        </p:spPr>
        <p:txBody>
          <a:bodyPr/>
          <a:lstStyle/>
          <a:p>
            <a:r>
              <a:rPr lang="en-GB" altLang="en-US" dirty="0"/>
              <a:t>In research and the commercial world you will come across two sorts of samples</a:t>
            </a:r>
          </a:p>
          <a:p>
            <a:endParaRPr lang="en-GB" altLang="en-US" dirty="0"/>
          </a:p>
          <a:p>
            <a:r>
              <a:rPr lang="en-GB" altLang="en-US" dirty="0"/>
              <a:t>Basically probability samples allow statistical inference to be used to estimate the characteristics of the population from which the sample is drawn and non-probability samples don’t. You need probability samples for statistical analysis</a:t>
            </a:r>
          </a:p>
          <a:p>
            <a:endParaRPr lang="en-GB" altLang="en-US" dirty="0"/>
          </a:p>
          <a:p>
            <a:r>
              <a:rPr lang="en-GB" altLang="en-US" dirty="0"/>
              <a:t>For probability samples the chance of any case being included is known and usually equal</a:t>
            </a:r>
          </a:p>
          <a:p>
            <a:r>
              <a:rPr lang="en-GB" altLang="en-US" dirty="0"/>
              <a:t>For non probability samples the probability of a case being included is not known, so you can’t generalise on statistical grounds</a:t>
            </a:r>
          </a:p>
          <a:p>
            <a:endParaRPr lang="en-GB" altLang="en-US" dirty="0"/>
          </a:p>
          <a:p>
            <a:r>
              <a:rPr lang="en-GB" altLang="en-US" dirty="0"/>
              <a:t>Non probability samples include, for example self selected samples (where you advertise and collect data from whoever turns up), quota samples (where you approach people until you have, say, enough people in each age group), snowball samples where you get an initial contact to recommend others, and judgmental samples where you choose cases for a particular reason (e.g. because they are typical or extreme </a:t>
            </a:r>
            <a:r>
              <a:rPr lang="en-GB" altLang="en-US" dirty="0" err="1"/>
              <a:t>etc</a:t>
            </a:r>
            <a:r>
              <a:rPr lang="en-GB" altLang="en-US" dirty="0"/>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C13B990-5014-4F31-B2CE-FAE417016FC8}" type="slidenum">
              <a:rPr lang="en-US" altLang="en-US"/>
              <a:pPr/>
              <a:t>7</a:t>
            </a:fld>
            <a:endParaRPr lang="en-US" altLang="en-US"/>
          </a:p>
        </p:txBody>
      </p:sp>
      <p:sp>
        <p:nvSpPr>
          <p:cNvPr id="110594" name="Rectangle 2"/>
          <p:cNvSpPr>
            <a:spLocks noGrp="1" noRot="1" noChangeAspect="1" noChangeArrowheads="1" noTextEdit="1"/>
          </p:cNvSpPr>
          <p:nvPr>
            <p:ph type="sldImg"/>
          </p:nvPr>
        </p:nvSpPr>
        <p:spPr>
          <a:xfrm>
            <a:off x="1292225" y="796925"/>
            <a:ext cx="4273550" cy="3205163"/>
          </a:xfrm>
          <a:ln/>
        </p:spPr>
      </p:sp>
      <p:sp>
        <p:nvSpPr>
          <p:cNvPr id="110595" name="Rectangle 3"/>
          <p:cNvSpPr>
            <a:spLocks noGrp="1" noChangeArrowheads="1"/>
          </p:cNvSpPr>
          <p:nvPr>
            <p:ph type="body" idx="1"/>
          </p:nvPr>
        </p:nvSpPr>
        <p:spPr>
          <a:xfrm>
            <a:off x="913991" y="4347195"/>
            <a:ext cx="5030018" cy="3849359"/>
          </a:xfrm>
        </p:spPr>
        <p:txBody>
          <a:bodyPr/>
          <a:lstStyle/>
          <a:p>
            <a:r>
              <a:rPr lang="en-GB" altLang="en-US" dirty="0"/>
              <a:t>Sampling frame - a complete list of cases in the population. If you build your own frame, take care it is unbiased, current &amp; accurate. Phone books, </a:t>
            </a:r>
            <a:r>
              <a:rPr lang="en-GB" altLang="en-US" dirty="0" err="1"/>
              <a:t>eg</a:t>
            </a:r>
            <a:r>
              <a:rPr lang="en-GB" altLang="en-US" dirty="0"/>
              <a:t>, can be a problem as some people are ex-directory. Some can be straightforward to obtain if you have access, </a:t>
            </a:r>
            <a:r>
              <a:rPr lang="en-GB" altLang="en-US" dirty="0" err="1"/>
              <a:t>eg</a:t>
            </a:r>
            <a:r>
              <a:rPr lang="en-GB" altLang="en-US" dirty="0"/>
              <a:t> employees in a firm from the personnel department</a:t>
            </a:r>
          </a:p>
          <a:p>
            <a:endParaRPr lang="en-GB" altLang="en-US" dirty="0"/>
          </a:p>
          <a:p>
            <a:r>
              <a:rPr lang="en-GB" altLang="en-US" dirty="0"/>
              <a:t>Sample size – </a:t>
            </a:r>
          </a:p>
          <a:p>
            <a:r>
              <a:rPr lang="en-US" altLang="en-US" dirty="0"/>
              <a:t>Look at cartridges (mixed colors)</a:t>
            </a:r>
          </a:p>
          <a:p>
            <a:r>
              <a:rPr lang="en-US" altLang="en-US" dirty="0"/>
              <a:t>We want to know what percentage there is of each color</a:t>
            </a:r>
          </a:p>
          <a:p>
            <a:r>
              <a:rPr lang="en-US" altLang="en-US" dirty="0"/>
              <a:t>If we take a sample of a particular size, will we get the population figure?</a:t>
            </a:r>
          </a:p>
          <a:p>
            <a:r>
              <a:rPr lang="en-US" altLang="en-US" dirty="0"/>
              <a:t>if we take 2 samples of a particular size will we get the same result?</a:t>
            </a:r>
          </a:p>
          <a:p>
            <a:r>
              <a:rPr lang="en-US" altLang="en-US" dirty="0"/>
              <a:t>What happens as the sample size changes?</a:t>
            </a:r>
          </a:p>
          <a:p>
            <a:endParaRPr lang="en-GB" altLang="en-US" dirty="0"/>
          </a:p>
          <a:p>
            <a:r>
              <a:rPr lang="en-GB" altLang="en-US" dirty="0"/>
              <a:t>the size you need depends on the accuracy and confidence you want to have in the results. Size affects the potential errors involved when generalising to the population. This is the size you want in the sample, so if doing a survey you need to take account of response rate, and numbers in sub-categories of interest too. Response rates can be under 10% for business, under 3% for consumer if you don’t do follow-up</a:t>
            </a:r>
          </a:p>
          <a:p>
            <a:endParaRPr lang="en-GB" altLang="en-US" dirty="0"/>
          </a:p>
          <a:p>
            <a:r>
              <a:rPr lang="en-GB" altLang="en-US" dirty="0"/>
              <a:t>sampling technique - several available, discussed next</a:t>
            </a:r>
          </a:p>
          <a:p>
            <a:r>
              <a:rPr lang="en-GB" altLang="en-US" dirty="0"/>
              <a:t>representativeness check - test the sample versus the population, respondents vs non-respondents on variables of interest (as we know weird things happen, they are just unlikely)</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FAD77B9-CDF3-47BC-8A21-3083E64DB2E0}" type="slidenum">
              <a:rPr lang="en-US" altLang="en-US"/>
              <a:pPr/>
              <a:t>8</a:t>
            </a:fld>
            <a:endParaRPr lang="en-US" altLang="en-US"/>
          </a:p>
        </p:txBody>
      </p:sp>
      <p:sp>
        <p:nvSpPr>
          <p:cNvPr id="116738" name="Rectangle 2"/>
          <p:cNvSpPr>
            <a:spLocks noGrp="1" noRot="1" noChangeAspect="1" noChangeArrowheads="1" noTextEdit="1"/>
          </p:cNvSpPr>
          <p:nvPr>
            <p:ph type="sldImg"/>
          </p:nvPr>
        </p:nvSpPr>
        <p:spPr>
          <a:xfrm>
            <a:off x="1292225" y="796925"/>
            <a:ext cx="4273550" cy="3205163"/>
          </a:xfrm>
          <a:ln/>
        </p:spPr>
      </p:sp>
      <p:sp>
        <p:nvSpPr>
          <p:cNvPr id="116739" name="Rectangle 3"/>
          <p:cNvSpPr>
            <a:spLocks noGrp="1" noChangeArrowheads="1"/>
          </p:cNvSpPr>
          <p:nvPr>
            <p:ph type="body" idx="1"/>
          </p:nvPr>
        </p:nvSpPr>
        <p:spPr>
          <a:xfrm>
            <a:off x="913991" y="4347195"/>
            <a:ext cx="5030018" cy="3849359"/>
          </a:xfrm>
        </p:spPr>
        <p:txBody>
          <a:bodyP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FB37484-4BD0-4B53-9749-250372656A21}" type="slidenum">
              <a:rPr lang="en-GB" smtClean="0"/>
              <a:t>9</a:t>
            </a:fld>
            <a:endParaRPr lang="en-GB"/>
          </a:p>
        </p:txBody>
      </p:sp>
    </p:spTree>
    <p:extLst>
      <p:ext uri="{BB962C8B-B14F-4D97-AF65-F5344CB8AC3E}">
        <p14:creationId xmlns:p14="http://schemas.microsoft.com/office/powerpoint/2010/main" val="37974948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FB37484-4BD0-4B53-9749-250372656A21}" type="slidenum">
              <a:rPr lang="en-GB" smtClean="0"/>
              <a:t>10</a:t>
            </a:fld>
            <a:endParaRPr lang="en-GB"/>
          </a:p>
        </p:txBody>
      </p:sp>
    </p:spTree>
    <p:extLst>
      <p:ext uri="{BB962C8B-B14F-4D97-AF65-F5344CB8AC3E}">
        <p14:creationId xmlns:p14="http://schemas.microsoft.com/office/powerpoint/2010/main" val="41431797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7AFA5E6-7CCC-47A3-A31C-5CF88C51107F}" type="slidenum">
              <a:rPr lang="en-US" altLang="en-US"/>
              <a:pPr/>
              <a:t>11</a:t>
            </a:fld>
            <a:endParaRPr lang="en-US" altLang="en-US"/>
          </a:p>
        </p:txBody>
      </p:sp>
      <p:sp>
        <p:nvSpPr>
          <p:cNvPr id="126978" name="Rectangle 2"/>
          <p:cNvSpPr>
            <a:spLocks noGrp="1" noRot="1" noChangeAspect="1" noChangeArrowheads="1" noTextEdit="1"/>
          </p:cNvSpPr>
          <p:nvPr>
            <p:ph type="sldImg"/>
          </p:nvPr>
        </p:nvSpPr>
        <p:spPr>
          <a:xfrm>
            <a:off x="1292225" y="796925"/>
            <a:ext cx="4273550" cy="3205163"/>
          </a:xfrm>
          <a:ln/>
        </p:spPr>
      </p:sp>
      <p:sp>
        <p:nvSpPr>
          <p:cNvPr id="126979" name="Rectangle 3"/>
          <p:cNvSpPr>
            <a:spLocks noGrp="1" noChangeArrowheads="1"/>
          </p:cNvSpPr>
          <p:nvPr>
            <p:ph type="body" idx="1"/>
          </p:nvPr>
        </p:nvSpPr>
        <p:spPr>
          <a:xfrm>
            <a:off x="913991" y="4347195"/>
            <a:ext cx="5030018" cy="3849359"/>
          </a:xfrm>
        </p:spPr>
        <p:txBody>
          <a:bodyPr/>
          <a:lstStyle/>
          <a:p>
            <a:r>
              <a:rPr lang="en-GB" altLang="en-US" dirty="0"/>
              <a:t>As you’ll recall from when we tested hypotheses about percentages….</a:t>
            </a:r>
            <a:endParaRPr lang="en-US"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7AFA5E6-7CCC-47A3-A31C-5CF88C51107F}" type="slidenum">
              <a:rPr lang="en-US" altLang="en-US"/>
              <a:pPr/>
              <a:t>12</a:t>
            </a:fld>
            <a:endParaRPr lang="en-US" altLang="en-US"/>
          </a:p>
        </p:txBody>
      </p:sp>
      <p:sp>
        <p:nvSpPr>
          <p:cNvPr id="126978" name="Rectangle 2"/>
          <p:cNvSpPr>
            <a:spLocks noGrp="1" noRot="1" noChangeAspect="1" noChangeArrowheads="1" noTextEdit="1"/>
          </p:cNvSpPr>
          <p:nvPr>
            <p:ph type="sldImg"/>
          </p:nvPr>
        </p:nvSpPr>
        <p:spPr>
          <a:xfrm>
            <a:off x="1292225" y="796925"/>
            <a:ext cx="4273550" cy="3205163"/>
          </a:xfrm>
          <a:ln/>
        </p:spPr>
      </p:sp>
      <p:sp>
        <p:nvSpPr>
          <p:cNvPr id="126979" name="Rectangle 3"/>
          <p:cNvSpPr>
            <a:spLocks noGrp="1" noChangeArrowheads="1"/>
          </p:cNvSpPr>
          <p:nvPr>
            <p:ph type="body" idx="1"/>
          </p:nvPr>
        </p:nvSpPr>
        <p:spPr>
          <a:xfrm>
            <a:off x="913991" y="4347195"/>
            <a:ext cx="5030018" cy="3849359"/>
          </a:xfrm>
        </p:spPr>
        <p:txBody>
          <a:bodyPr/>
          <a:lstStyle/>
          <a:p>
            <a:r>
              <a:rPr lang="en-GB" altLang="en-US"/>
              <a:t>As you’ll recall from when we tested hypotheses about percentages….</a:t>
            </a:r>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altLang="en-US" dirty="0"/>
                  <a:t>Define a range as </a:t>
                </a:r>
                <a14:m>
                  <m:oMath xmlns:m="http://schemas.openxmlformats.org/officeDocument/2006/math">
                    <m:sSub>
                      <m:sSubPr>
                        <m:ctrlPr>
                          <a:rPr lang="en-GB" i="1">
                            <a:latin typeface="Cambria Math" panose="02040503050406030204" pitchFamily="18" charset="0"/>
                            <a:ea typeface="Cambria Math"/>
                          </a:rPr>
                        </m:ctrlPr>
                      </m:sSubPr>
                      <m:e>
                        <m:r>
                          <a:rPr lang="en-GB" i="1">
                            <a:latin typeface="Cambria Math"/>
                            <a:ea typeface="Cambria Math"/>
                          </a:rPr>
                          <m:t>𝜎</m:t>
                        </m:r>
                      </m:e>
                      <m:sub>
                        <m:r>
                          <a:rPr lang="en-GB" i="1">
                            <a:latin typeface="Cambria Math"/>
                            <a:ea typeface="Cambria Math"/>
                          </a:rPr>
                          <m:t>𝑝</m:t>
                        </m:r>
                      </m:sub>
                    </m:sSub>
                    <m:sSub>
                      <m:sSubPr>
                        <m:ctrlPr>
                          <a:rPr lang="en-GB" i="1">
                            <a:latin typeface="Cambria Math" panose="02040503050406030204" pitchFamily="18" charset="0"/>
                          </a:rPr>
                        </m:ctrlPr>
                      </m:sSubPr>
                      <m:e>
                        <m:r>
                          <a:rPr lang="en-GB" i="1">
                            <a:latin typeface="Cambria Math"/>
                          </a:rPr>
                          <m:t>𝑍</m:t>
                        </m:r>
                      </m:e>
                      <m:sub>
                        <m:r>
                          <a:rPr lang="en-GB" i="1">
                            <a:latin typeface="Cambria Math"/>
                          </a:rPr>
                          <m:t>𝑐𝑟𝑖𝑡</m:t>
                        </m:r>
                      </m:sub>
                    </m:sSub>
                    <m:r>
                      <a:rPr lang="en-GB" b="0" i="0" smtClean="0">
                        <a:latin typeface="Cambria Math"/>
                      </a:rPr>
                      <m:t> </m:t>
                    </m:r>
                  </m:oMath>
                </a14:m>
                <a:r>
                  <a:rPr lang="en-GB" altLang="en-US" dirty="0">
                    <a:sym typeface="GreekMathSymbols" pitchFamily="34" charset="2"/>
                  </a:rPr>
                  <a:t>on either side of the mean. Now, the probability of a value being in it is 0.95, or 95%</a:t>
                </a:r>
                <a:endParaRPr lang="en-US" altLang="en-US" dirty="0">
                  <a:latin typeface="Times New Roman" pitchFamily="18" charset="0"/>
                </a:endParaRPr>
              </a:p>
              <a:p>
                <a:endParaRPr lang="en-GB" dirty="0"/>
              </a:p>
            </p:txBody>
          </p:sp>
        </mc:Choice>
        <mc:Fallback xmlns="">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altLang="en-US" dirty="0" smtClean="0"/>
                  <a:t>Define </a:t>
                </a:r>
                <a:r>
                  <a:rPr lang="en-GB" altLang="en-US" dirty="0"/>
                  <a:t>a range </a:t>
                </a:r>
                <a:r>
                  <a:rPr lang="en-GB" altLang="en-US" dirty="0" smtClean="0"/>
                  <a:t>as </a:t>
                </a:r>
                <a:r>
                  <a:rPr lang="en-GB" i="0">
                    <a:latin typeface="Cambria Math"/>
                    <a:ea typeface="Cambria Math"/>
                  </a:rPr>
                  <a:t>𝜎_𝑝 </a:t>
                </a:r>
                <a:r>
                  <a:rPr lang="en-GB" i="0">
                    <a:latin typeface="Cambria Math"/>
                  </a:rPr>
                  <a:t>𝑍_𝑐𝑟𝑖𝑡</a:t>
                </a:r>
                <a:r>
                  <a:rPr lang="en-GB" b="0" i="0" smtClean="0">
                    <a:latin typeface="Cambria Math"/>
                  </a:rPr>
                  <a:t>  </a:t>
                </a:r>
                <a:r>
                  <a:rPr lang="en-GB" altLang="en-US" dirty="0" smtClean="0">
                    <a:sym typeface="GreekMathSymbols" pitchFamily="34" charset="2"/>
                  </a:rPr>
                  <a:t>on </a:t>
                </a:r>
                <a:r>
                  <a:rPr lang="en-GB" altLang="en-US" dirty="0">
                    <a:sym typeface="GreekMathSymbols" pitchFamily="34" charset="2"/>
                  </a:rPr>
                  <a:t>either side of the </a:t>
                </a:r>
                <a:r>
                  <a:rPr lang="en-GB" altLang="en-US" dirty="0" smtClean="0">
                    <a:sym typeface="GreekMathSymbols" pitchFamily="34" charset="2"/>
                  </a:rPr>
                  <a:t>mean. Now, the </a:t>
                </a:r>
                <a:r>
                  <a:rPr lang="en-GB" altLang="en-US" dirty="0">
                    <a:sym typeface="GreekMathSymbols" pitchFamily="34" charset="2"/>
                  </a:rPr>
                  <a:t>probability of a value being in it is 0.95, or 95%</a:t>
                </a:r>
                <a:endParaRPr lang="en-US" altLang="en-US" dirty="0">
                  <a:latin typeface="Times New Roman" pitchFamily="18" charset="0"/>
                </a:endParaRPr>
              </a:p>
              <a:p>
                <a:endParaRPr lang="en-GB" dirty="0"/>
              </a:p>
            </p:txBody>
          </p:sp>
        </mc:Fallback>
      </mc:AlternateContent>
      <p:sp>
        <p:nvSpPr>
          <p:cNvPr id="4" name="Slide Number Placeholder 3"/>
          <p:cNvSpPr>
            <a:spLocks noGrp="1"/>
          </p:cNvSpPr>
          <p:nvPr>
            <p:ph type="sldNum" sz="quarter" idx="10"/>
          </p:nvPr>
        </p:nvSpPr>
        <p:spPr/>
        <p:txBody>
          <a:bodyPr/>
          <a:lstStyle/>
          <a:p>
            <a:fld id="{6FB37484-4BD0-4B53-9749-250372656A21}" type="slidenum">
              <a:rPr lang="en-GB" smtClean="0"/>
              <a:t>13</a:t>
            </a:fld>
            <a:endParaRPr lang="en-GB"/>
          </a:p>
        </p:txBody>
      </p:sp>
    </p:spTree>
    <p:extLst>
      <p:ext uri="{BB962C8B-B14F-4D97-AF65-F5344CB8AC3E}">
        <p14:creationId xmlns:p14="http://schemas.microsoft.com/office/powerpoint/2010/main" val="33946168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F03834B-7EED-48F2-B822-4C4D5883F782}" type="slidenum">
              <a:rPr lang="en-US" altLang="en-US"/>
              <a:pPr/>
              <a:t>14</a:t>
            </a:fld>
            <a:endParaRPr lang="en-US" altLang="en-US"/>
          </a:p>
        </p:txBody>
      </p:sp>
      <p:sp>
        <p:nvSpPr>
          <p:cNvPr id="137218" name="Rectangle 2"/>
          <p:cNvSpPr>
            <a:spLocks noGrp="1" noRot="1" noChangeAspect="1" noChangeArrowheads="1" noTextEdit="1"/>
          </p:cNvSpPr>
          <p:nvPr>
            <p:ph type="sldImg"/>
          </p:nvPr>
        </p:nvSpPr>
        <p:spPr>
          <a:xfrm>
            <a:off x="1292225" y="796925"/>
            <a:ext cx="4273550" cy="3205163"/>
          </a:xfrm>
          <a:ln/>
        </p:spPr>
      </p:sp>
      <p:sp>
        <p:nvSpPr>
          <p:cNvPr id="137219" name="Rectangle 3"/>
          <p:cNvSpPr>
            <a:spLocks noGrp="1" noChangeArrowheads="1"/>
          </p:cNvSpPr>
          <p:nvPr>
            <p:ph type="body" idx="1"/>
          </p:nvPr>
        </p:nvSpPr>
        <p:spPr>
          <a:xfrm>
            <a:off x="913991" y="4347195"/>
            <a:ext cx="5030018" cy="3849359"/>
          </a:xfrm>
        </p:spPr>
        <p:txBody>
          <a:bodyPr/>
          <a:lstStyle/>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F03834B-7EED-48F2-B822-4C4D5883F782}" type="slidenum">
              <a:rPr lang="en-US" altLang="en-US"/>
              <a:pPr/>
              <a:t>15</a:t>
            </a:fld>
            <a:endParaRPr lang="en-US" altLang="en-US"/>
          </a:p>
        </p:txBody>
      </p:sp>
      <p:sp>
        <p:nvSpPr>
          <p:cNvPr id="137218" name="Rectangle 2"/>
          <p:cNvSpPr>
            <a:spLocks noGrp="1" noRot="1" noChangeAspect="1" noChangeArrowheads="1" noTextEdit="1"/>
          </p:cNvSpPr>
          <p:nvPr>
            <p:ph type="sldImg"/>
          </p:nvPr>
        </p:nvSpPr>
        <p:spPr>
          <a:xfrm>
            <a:off x="1292225" y="796925"/>
            <a:ext cx="4273550" cy="3205163"/>
          </a:xfrm>
          <a:ln/>
        </p:spPr>
      </p:sp>
      <p:sp>
        <p:nvSpPr>
          <p:cNvPr id="137219" name="Rectangle 3"/>
          <p:cNvSpPr>
            <a:spLocks noGrp="1" noChangeArrowheads="1"/>
          </p:cNvSpPr>
          <p:nvPr>
            <p:ph type="body" idx="1"/>
          </p:nvPr>
        </p:nvSpPr>
        <p:spPr>
          <a:xfrm>
            <a:off x="913991" y="4347195"/>
            <a:ext cx="5030018" cy="3849359"/>
          </a:xfrm>
        </p:spPr>
        <p:txBody>
          <a:bodyPr/>
          <a:lstStyle/>
          <a:p>
            <a:endParaRPr lang="en-US" altLang="en-US"/>
          </a:p>
        </p:txBody>
      </p:sp>
    </p:spTree>
    <p:extLst>
      <p:ext uri="{BB962C8B-B14F-4D97-AF65-F5344CB8AC3E}">
        <p14:creationId xmlns:p14="http://schemas.microsoft.com/office/powerpoint/2010/main" val="35142004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F03834B-7EED-48F2-B822-4C4D5883F782}" type="slidenum">
              <a:rPr lang="en-US" altLang="en-US"/>
              <a:pPr/>
              <a:t>16</a:t>
            </a:fld>
            <a:endParaRPr lang="en-US" altLang="en-US"/>
          </a:p>
        </p:txBody>
      </p:sp>
      <p:sp>
        <p:nvSpPr>
          <p:cNvPr id="137218" name="Rectangle 2"/>
          <p:cNvSpPr>
            <a:spLocks noGrp="1" noRot="1" noChangeAspect="1" noChangeArrowheads="1" noTextEdit="1"/>
          </p:cNvSpPr>
          <p:nvPr>
            <p:ph type="sldImg"/>
          </p:nvPr>
        </p:nvSpPr>
        <p:spPr>
          <a:xfrm>
            <a:off x="1292225" y="796925"/>
            <a:ext cx="4273550" cy="3205163"/>
          </a:xfrm>
          <a:ln/>
        </p:spPr>
      </p:sp>
      <p:sp>
        <p:nvSpPr>
          <p:cNvPr id="137219" name="Rectangle 3"/>
          <p:cNvSpPr>
            <a:spLocks noGrp="1" noChangeArrowheads="1"/>
          </p:cNvSpPr>
          <p:nvPr>
            <p:ph type="body" idx="1"/>
          </p:nvPr>
        </p:nvSpPr>
        <p:spPr>
          <a:xfrm>
            <a:off x="913991" y="4347195"/>
            <a:ext cx="5030018" cy="3849359"/>
          </a:xfrm>
        </p:spPr>
        <p:txBody>
          <a:bodyPr/>
          <a:lstStyle/>
          <a:p>
            <a:endParaRPr lang="en-US" altLang="en-US"/>
          </a:p>
        </p:txBody>
      </p:sp>
    </p:spTree>
    <p:extLst>
      <p:ext uri="{BB962C8B-B14F-4D97-AF65-F5344CB8AC3E}">
        <p14:creationId xmlns:p14="http://schemas.microsoft.com/office/powerpoint/2010/main" val="13694395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F03834B-7EED-48F2-B822-4C4D5883F782}" type="slidenum">
              <a:rPr lang="en-US" altLang="en-US"/>
              <a:pPr/>
              <a:t>17</a:t>
            </a:fld>
            <a:endParaRPr lang="en-US" altLang="en-US"/>
          </a:p>
        </p:txBody>
      </p:sp>
      <p:sp>
        <p:nvSpPr>
          <p:cNvPr id="137218" name="Rectangle 2"/>
          <p:cNvSpPr>
            <a:spLocks noGrp="1" noRot="1" noChangeAspect="1" noChangeArrowheads="1" noTextEdit="1"/>
          </p:cNvSpPr>
          <p:nvPr>
            <p:ph type="sldImg"/>
          </p:nvPr>
        </p:nvSpPr>
        <p:spPr>
          <a:xfrm>
            <a:off x="1292225" y="796925"/>
            <a:ext cx="4273550" cy="3205163"/>
          </a:xfrm>
          <a:ln/>
        </p:spPr>
      </p:sp>
      <p:sp>
        <p:nvSpPr>
          <p:cNvPr id="137219" name="Rectangle 3"/>
          <p:cNvSpPr>
            <a:spLocks noGrp="1" noChangeArrowheads="1"/>
          </p:cNvSpPr>
          <p:nvPr>
            <p:ph type="body" idx="1"/>
          </p:nvPr>
        </p:nvSpPr>
        <p:spPr>
          <a:xfrm>
            <a:off x="913991" y="4347195"/>
            <a:ext cx="5030018" cy="3849359"/>
          </a:xfrm>
        </p:spPr>
        <p:txBody>
          <a:bodyPr/>
          <a:lstStyle/>
          <a:p>
            <a:endParaRPr lang="en-US" altLang="en-US"/>
          </a:p>
        </p:txBody>
      </p:sp>
    </p:spTree>
    <p:extLst>
      <p:ext uri="{BB962C8B-B14F-4D97-AF65-F5344CB8AC3E}">
        <p14:creationId xmlns:p14="http://schemas.microsoft.com/office/powerpoint/2010/main" val="16700440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BBED6A2-5F05-475A-B070-42D00483B5B6}" type="slidenum">
              <a:rPr lang="en-US" altLang="en-US"/>
              <a:pPr/>
              <a:t>18</a:t>
            </a:fld>
            <a:endParaRPr lang="en-US" altLang="en-US"/>
          </a:p>
        </p:txBody>
      </p:sp>
      <p:sp>
        <p:nvSpPr>
          <p:cNvPr id="120834" name="Rectangle 2"/>
          <p:cNvSpPr>
            <a:spLocks noGrp="1" noRot="1" noChangeAspect="1" noChangeArrowheads="1" noTextEdit="1"/>
          </p:cNvSpPr>
          <p:nvPr>
            <p:ph type="sldImg"/>
          </p:nvPr>
        </p:nvSpPr>
        <p:spPr>
          <a:xfrm>
            <a:off x="1292225" y="796925"/>
            <a:ext cx="4273550" cy="3205163"/>
          </a:xfrm>
          <a:ln/>
        </p:spPr>
      </p:sp>
      <p:sp>
        <p:nvSpPr>
          <p:cNvPr id="120835" name="Rectangle 3"/>
          <p:cNvSpPr>
            <a:spLocks noGrp="1" noChangeArrowheads="1"/>
          </p:cNvSpPr>
          <p:nvPr>
            <p:ph type="body" idx="1"/>
          </p:nvPr>
        </p:nvSpPr>
        <p:spPr>
          <a:xfrm>
            <a:off x="913991" y="4347195"/>
            <a:ext cx="5030018" cy="3849359"/>
          </a:xfrm>
        </p:spPr>
        <p:txBody>
          <a:bodyPr/>
          <a:lstStyle/>
          <a:p>
            <a:pPr>
              <a:buClr>
                <a:srgbClr val="333399"/>
              </a:buClr>
              <a:buSzPct val="75000"/>
            </a:pPr>
            <a:r>
              <a:rPr lang="en-US" altLang="en-US" dirty="0"/>
              <a:t>If we know how accurately we need to know the  population percentage, we can then calculate STEP </a:t>
            </a:r>
            <a:br>
              <a:rPr lang="en-US" altLang="en-US" dirty="0"/>
            </a:br>
            <a:r>
              <a:rPr lang="en-US" altLang="en-US" dirty="0"/>
              <a:t>   e.g. if we want to know the percentage within 5% </a:t>
            </a:r>
            <a:br>
              <a:rPr lang="en-US" altLang="en-US" dirty="0"/>
            </a:br>
            <a:r>
              <a:rPr lang="en-US" altLang="en-US" dirty="0"/>
              <a:t>   either way this means 0.05=1.96*STEP</a:t>
            </a:r>
            <a:br>
              <a:rPr lang="en-US" altLang="en-US" dirty="0"/>
            </a:br>
            <a:r>
              <a:rPr lang="en-US" altLang="en-US" dirty="0"/>
              <a:t>   i.e. STEP = 0.05/1.96 = 0.025510</a:t>
            </a:r>
          </a:p>
          <a:p>
            <a:pPr>
              <a:buClr>
                <a:srgbClr val="333399"/>
              </a:buClr>
              <a:buSzPct val="75000"/>
              <a:buFont typeface="Monotype Sorts" pitchFamily="2" charset="2"/>
              <a:buNone/>
            </a:pPr>
            <a:endParaRPr lang="en-GB" altLang="en-US" dirty="0"/>
          </a:p>
          <a:p>
            <a:pPr>
              <a:buClr>
                <a:srgbClr val="333399"/>
              </a:buClr>
              <a:buSzPct val="75000"/>
              <a:buFont typeface="Monotype Sorts" pitchFamily="2" charset="2"/>
              <a:buNone/>
            </a:pPr>
            <a:r>
              <a:rPr lang="en-GB" altLang="en-US" dirty="0"/>
              <a:t>We can then put this value in the STEP formula and rearrange to calculate n</a:t>
            </a:r>
            <a:endParaRPr lang="en-GB" dirty="0"/>
          </a:p>
          <a:p>
            <a:endParaRPr lang="en-US"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FB37484-4BD0-4B53-9749-250372656A21}" type="slidenum">
              <a:rPr lang="en-GB" smtClean="0"/>
              <a:t>19</a:t>
            </a:fld>
            <a:endParaRPr lang="en-GB"/>
          </a:p>
        </p:txBody>
      </p:sp>
    </p:spTree>
    <p:extLst>
      <p:ext uri="{BB962C8B-B14F-4D97-AF65-F5344CB8AC3E}">
        <p14:creationId xmlns:p14="http://schemas.microsoft.com/office/powerpoint/2010/main" val="24027915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FB37484-4BD0-4B53-9749-250372656A21}" type="slidenum">
              <a:rPr lang="en-GB" smtClean="0"/>
              <a:t>20</a:t>
            </a:fld>
            <a:endParaRPr lang="en-GB"/>
          </a:p>
        </p:txBody>
      </p:sp>
    </p:spTree>
    <p:extLst>
      <p:ext uri="{BB962C8B-B14F-4D97-AF65-F5344CB8AC3E}">
        <p14:creationId xmlns:p14="http://schemas.microsoft.com/office/powerpoint/2010/main" val="25462392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FB37484-4BD0-4B53-9749-250372656A21}" type="slidenum">
              <a:rPr lang="en-GB" smtClean="0"/>
              <a:t>24</a:t>
            </a:fld>
            <a:endParaRPr lang="en-GB"/>
          </a:p>
        </p:txBody>
      </p:sp>
    </p:spTree>
    <p:extLst>
      <p:ext uri="{BB962C8B-B14F-4D97-AF65-F5344CB8AC3E}">
        <p14:creationId xmlns:p14="http://schemas.microsoft.com/office/powerpoint/2010/main" val="3582738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ADD9154-BAFD-45B8-9C92-2835E5D6BCBE}" type="slidenum">
              <a:rPr lang="en-US" altLang="en-US"/>
              <a:pPr/>
              <a:t>26</a:t>
            </a:fld>
            <a:endParaRPr lang="en-US" altLang="en-US"/>
          </a:p>
        </p:txBody>
      </p:sp>
      <p:sp>
        <p:nvSpPr>
          <p:cNvPr id="147458" name="Rectangle 2"/>
          <p:cNvSpPr>
            <a:spLocks noGrp="1" noRot="1" noChangeAspect="1" noChangeArrowheads="1" noTextEdit="1"/>
          </p:cNvSpPr>
          <p:nvPr>
            <p:ph type="sldImg"/>
          </p:nvPr>
        </p:nvSpPr>
        <p:spPr>
          <a:xfrm>
            <a:off x="1292225" y="796925"/>
            <a:ext cx="4273550" cy="3205163"/>
          </a:xfrm>
          <a:ln/>
        </p:spPr>
      </p:sp>
      <p:sp>
        <p:nvSpPr>
          <p:cNvPr id="147459" name="Rectangle 3"/>
          <p:cNvSpPr>
            <a:spLocks noGrp="1" noChangeArrowheads="1"/>
          </p:cNvSpPr>
          <p:nvPr>
            <p:ph type="body" idx="1"/>
          </p:nvPr>
        </p:nvSpPr>
        <p:spPr>
          <a:xfrm>
            <a:off x="913991" y="4347195"/>
            <a:ext cx="5030018" cy="3849359"/>
          </a:xfrm>
        </p:spPr>
        <p:txBody>
          <a:bodyPr/>
          <a:lstStyle/>
          <a:p>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FB37484-4BD0-4B53-9749-250372656A21}" type="slidenum">
              <a:rPr lang="en-GB" smtClean="0"/>
              <a:t>28</a:t>
            </a:fld>
            <a:endParaRPr lang="en-GB"/>
          </a:p>
        </p:txBody>
      </p:sp>
    </p:spTree>
    <p:extLst>
      <p:ext uri="{BB962C8B-B14F-4D97-AF65-F5344CB8AC3E}">
        <p14:creationId xmlns:p14="http://schemas.microsoft.com/office/powerpoint/2010/main" val="34679270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FE13309-A1BE-4152-9C69-7B4BB7CE1148}" type="slidenum">
              <a:rPr lang="en-US" altLang="en-US"/>
              <a:pPr/>
              <a:t>29</a:t>
            </a:fld>
            <a:endParaRPr lang="en-US" altLang="en-US"/>
          </a:p>
        </p:txBody>
      </p:sp>
      <p:sp>
        <p:nvSpPr>
          <p:cNvPr id="149506" name="Rectangle 2"/>
          <p:cNvSpPr>
            <a:spLocks noGrp="1" noRot="1" noChangeAspect="1" noChangeArrowheads="1" noTextEdit="1"/>
          </p:cNvSpPr>
          <p:nvPr>
            <p:ph type="sldImg"/>
          </p:nvPr>
        </p:nvSpPr>
        <p:spPr>
          <a:xfrm>
            <a:off x="1292225" y="796925"/>
            <a:ext cx="4273550" cy="3205163"/>
          </a:xfrm>
          <a:ln/>
        </p:spPr>
      </p:sp>
      <p:sp>
        <p:nvSpPr>
          <p:cNvPr id="149507" name="Rectangle 3"/>
          <p:cNvSpPr>
            <a:spLocks noGrp="1" noChangeArrowheads="1"/>
          </p:cNvSpPr>
          <p:nvPr>
            <p:ph type="body" idx="1"/>
          </p:nvPr>
        </p:nvSpPr>
        <p:spPr>
          <a:xfrm>
            <a:off x="913991" y="4347195"/>
            <a:ext cx="5030018" cy="3849359"/>
          </a:xfrm>
        </p:spPr>
        <p:txBody>
          <a:bodyPr/>
          <a:lstStyle/>
          <a:p>
            <a:r>
              <a:rPr lang="en-GB" altLang="en-US"/>
              <a:t>If you want the mean within +/- 5% you’d need to calculate 5% in units</a:t>
            </a:r>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FB37484-4BD0-4B53-9749-250372656A21}" type="slidenum">
              <a:rPr lang="en-GB" smtClean="0"/>
              <a:t>30</a:t>
            </a:fld>
            <a:endParaRPr lang="en-GB"/>
          </a:p>
        </p:txBody>
      </p:sp>
    </p:spTree>
    <p:extLst>
      <p:ext uri="{BB962C8B-B14F-4D97-AF65-F5344CB8AC3E}">
        <p14:creationId xmlns:p14="http://schemas.microsoft.com/office/powerpoint/2010/main" val="35339907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FB37484-4BD0-4B53-9749-250372656A21}" type="slidenum">
              <a:rPr lang="en-GB" smtClean="0"/>
              <a:t>31</a:t>
            </a:fld>
            <a:endParaRPr lang="en-GB"/>
          </a:p>
        </p:txBody>
      </p:sp>
    </p:spTree>
    <p:extLst>
      <p:ext uri="{BB962C8B-B14F-4D97-AF65-F5344CB8AC3E}">
        <p14:creationId xmlns:p14="http://schemas.microsoft.com/office/powerpoint/2010/main" val="12791360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F821C7B-4D1E-40F6-9675-5C5D897C4B47}" type="slidenum">
              <a:rPr lang="en-US" altLang="en-US"/>
              <a:pPr/>
              <a:t>33</a:t>
            </a:fld>
            <a:endParaRPr lang="en-US" altLang="en-US"/>
          </a:p>
        </p:txBody>
      </p:sp>
      <p:sp>
        <p:nvSpPr>
          <p:cNvPr id="154626" name="Rectangle 2"/>
          <p:cNvSpPr>
            <a:spLocks noGrp="1" noRot="1" noChangeAspect="1" noChangeArrowheads="1" noTextEdit="1"/>
          </p:cNvSpPr>
          <p:nvPr>
            <p:ph type="sldImg"/>
          </p:nvPr>
        </p:nvSpPr>
        <p:spPr>
          <a:xfrm>
            <a:off x="1292225" y="796925"/>
            <a:ext cx="4273550" cy="3205163"/>
          </a:xfrm>
          <a:ln/>
        </p:spPr>
      </p:sp>
      <p:sp>
        <p:nvSpPr>
          <p:cNvPr id="154627" name="Rectangle 3"/>
          <p:cNvSpPr>
            <a:spLocks noGrp="1" noChangeArrowheads="1"/>
          </p:cNvSpPr>
          <p:nvPr>
            <p:ph type="body" idx="1"/>
          </p:nvPr>
        </p:nvSpPr>
        <p:spPr>
          <a:xfrm>
            <a:off x="913991" y="4347195"/>
            <a:ext cx="5030018" cy="3849359"/>
          </a:xfrm>
        </p:spPr>
        <p:txBody>
          <a:bodyPr/>
          <a:lstStyle/>
          <a:p>
            <a:r>
              <a:rPr lang="en-GB" altLang="en-US" dirty="0"/>
              <a:t>Calculating population parameters from a sample value with a particular confidence interval is fairly straightforward, and software such as SPSS can do this for you. Wanting to know that you will get values with a certain value from the population mean (say +/- 5%) needs more forethought to calculate a sample size before data is collected. You also need some idea of the population values (perhaps from a pilot study). The variable with the most variation is the one to calculate on.</a:t>
            </a:r>
          </a:p>
          <a:p>
            <a:endParaRPr lang="en-GB" altLang="en-US" dirty="0"/>
          </a:p>
          <a:p>
            <a:r>
              <a:rPr lang="en-GB" altLang="en-US" dirty="0"/>
              <a:t>For many projects  getting a big enough sample can be an issue. </a:t>
            </a:r>
          </a:p>
          <a:p>
            <a:endParaRPr lang="en-US" alt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6FB37484-4BD0-4B53-9749-250372656A21}" type="slidenum">
              <a:rPr lang="en-GB" smtClean="0"/>
              <a:t>34</a:t>
            </a:fld>
            <a:endParaRPr lang="en-GB"/>
          </a:p>
        </p:txBody>
      </p:sp>
    </p:spTree>
    <p:extLst>
      <p:ext uri="{BB962C8B-B14F-4D97-AF65-F5344CB8AC3E}">
        <p14:creationId xmlns:p14="http://schemas.microsoft.com/office/powerpoint/2010/main" val="5253327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04800" y="76200"/>
            <a:ext cx="8229600" cy="1143000"/>
          </a:xfrm>
        </p:spPr>
        <p:txBody>
          <a:bodyPr/>
          <a:lstStyle>
            <a:lvl1pPr algn="l">
              <a:defRPr/>
            </a:lvl1p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36250"/>
            <a:ext cx="8229600" cy="114300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492875"/>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10/21/2024</a:t>
            </a:fld>
            <a:endParaRPr lang="en-US"/>
          </a:p>
        </p:txBody>
      </p:sp>
      <p:sp>
        <p:nvSpPr>
          <p:cNvPr id="5" name="Footer Placeholder 4"/>
          <p:cNvSpPr>
            <a:spLocks noGrp="1"/>
          </p:cNvSpPr>
          <p:nvPr>
            <p:ph type="ftr" sz="quarter" idx="3"/>
          </p:nvPr>
        </p:nvSpPr>
        <p:spPr>
          <a:xfrm>
            <a:off x="3124200" y="6492875"/>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492875"/>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spcBef>
          <a:spcPct val="0"/>
        </a:spcBef>
        <a:buNone/>
        <a:defRPr sz="3600" b="1"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10.pn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101.png"/><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6.xml"/><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6.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17.png"/><Relationship Id="rId7" Type="http://schemas.openxmlformats.org/officeDocument/2006/relationships/image" Target="../media/image26.png"/><Relationship Id="rId12" Type="http://schemas.openxmlformats.org/officeDocument/2006/relationships/image" Target="../media/image31.png"/><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image" Target="../media/image190.png"/><Relationship Id="rId11" Type="http://schemas.openxmlformats.org/officeDocument/2006/relationships/image" Target="../media/image30.png"/><Relationship Id="rId5" Type="http://schemas.openxmlformats.org/officeDocument/2006/relationships/image" Target="../media/image25.png"/><Relationship Id="rId10" Type="http://schemas.openxmlformats.org/officeDocument/2006/relationships/image" Target="../media/image29.png"/><Relationship Id="rId4" Type="http://schemas.openxmlformats.org/officeDocument/2006/relationships/image" Target="../media/image240.png"/><Relationship Id="rId9" Type="http://schemas.openxmlformats.org/officeDocument/2006/relationships/image" Target="../media/image28.png"/></Relationships>
</file>

<file path=ppt/slides/_rels/slide18.xml.rels><?xml version="1.0" encoding="UTF-8" standalone="yes"?>
<Relationships xmlns="http://schemas.openxmlformats.org/package/2006/relationships"><Relationship Id="rId8" Type="http://schemas.openxmlformats.org/officeDocument/2006/relationships/image" Target="../media/image300.png"/><Relationship Id="rId3" Type="http://schemas.openxmlformats.org/officeDocument/2006/relationships/image" Target="../media/image17.png"/><Relationship Id="rId7" Type="http://schemas.openxmlformats.org/officeDocument/2006/relationships/image" Target="../media/image290.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280.png"/><Relationship Id="rId5" Type="http://schemas.openxmlformats.org/officeDocument/2006/relationships/image" Target="../media/image270.png"/><Relationship Id="rId4" Type="http://schemas.openxmlformats.org/officeDocument/2006/relationships/image" Target="../media/image260.png"/><Relationship Id="rId9" Type="http://schemas.openxmlformats.org/officeDocument/2006/relationships/image" Target="../media/image310.png"/></Relationships>
</file>

<file path=ppt/slides/_rels/slide19.xml.rels><?xml version="1.0" encoding="UTF-8" standalone="yes"?>
<Relationships xmlns="http://schemas.openxmlformats.org/package/2006/relationships"><Relationship Id="rId3" Type="http://schemas.openxmlformats.org/officeDocument/2006/relationships/image" Target="../media/image270.png"/><Relationship Id="rId2" Type="http://schemas.openxmlformats.org/officeDocument/2006/relationships/notesSlide" Target="../notesSlides/notesSlide17.xml"/><Relationship Id="rId1" Type="http://schemas.openxmlformats.org/officeDocument/2006/relationships/slideLayout" Target="../slideLayouts/slideLayout6.xml"/><Relationship Id="rId5" Type="http://schemas.openxmlformats.org/officeDocument/2006/relationships/image" Target="../media/image310.png"/><Relationship Id="rId4" Type="http://schemas.openxmlformats.org/officeDocument/2006/relationships/image" Target="../media/image300.png"/></Relationships>
</file>

<file path=ppt/slides/_rels/slide20.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png"/><Relationship Id="rId7" Type="http://schemas.openxmlformats.org/officeDocument/2006/relationships/image" Target="../media/image36.png"/><Relationship Id="rId12" Type="http://schemas.openxmlformats.org/officeDocument/2006/relationships/image" Target="../media/image41.png"/><Relationship Id="rId2" Type="http://schemas.openxmlformats.org/officeDocument/2006/relationships/notesSlide" Target="../notesSlides/notesSlide18.xml"/><Relationship Id="rId1" Type="http://schemas.openxmlformats.org/officeDocument/2006/relationships/slideLayout" Target="../slideLayouts/slideLayout6.xml"/><Relationship Id="rId6" Type="http://schemas.openxmlformats.org/officeDocument/2006/relationships/image" Target="../media/image35.png"/><Relationship Id="rId11" Type="http://schemas.openxmlformats.org/officeDocument/2006/relationships/image" Target="../media/image40.png"/><Relationship Id="rId5" Type="http://schemas.openxmlformats.org/officeDocument/2006/relationships/image" Target="../media/image34.png"/><Relationship Id="rId10" Type="http://schemas.openxmlformats.org/officeDocument/2006/relationships/image" Target="../media/image39.png"/><Relationship Id="rId4" Type="http://schemas.openxmlformats.org/officeDocument/2006/relationships/image" Target="../media/image33.png"/><Relationship Id="rId9" Type="http://schemas.openxmlformats.org/officeDocument/2006/relationships/image" Target="../media/image38.png"/></Relationships>
</file>

<file path=ppt/slides/_rels/slide21.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image" Target="../media/image23.png"/><Relationship Id="rId1" Type="http://schemas.openxmlformats.org/officeDocument/2006/relationships/slideLayout" Target="../slideLayouts/slideLayout6.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22.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image" Target="../media/image48.png"/><Relationship Id="rId1" Type="http://schemas.openxmlformats.org/officeDocument/2006/relationships/slideLayout" Target="../slideLayouts/slideLayout6.xml"/><Relationship Id="rId6" Type="http://schemas.openxmlformats.org/officeDocument/2006/relationships/image" Target="../media/image52.png"/><Relationship Id="rId11" Type="http://schemas.openxmlformats.org/officeDocument/2006/relationships/image" Target="../media/image57.png"/><Relationship Id="rId5" Type="http://schemas.openxmlformats.org/officeDocument/2006/relationships/image" Target="../media/image51.png"/><Relationship Id="rId10" Type="http://schemas.openxmlformats.org/officeDocument/2006/relationships/image" Target="../media/image56.png"/><Relationship Id="rId4" Type="http://schemas.openxmlformats.org/officeDocument/2006/relationships/image" Target="../media/image50.png"/><Relationship Id="rId9" Type="http://schemas.openxmlformats.org/officeDocument/2006/relationships/image" Target="../media/image5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8" Type="http://schemas.openxmlformats.org/officeDocument/2006/relationships/image" Target="../media/image440.png"/><Relationship Id="rId3" Type="http://schemas.openxmlformats.org/officeDocument/2006/relationships/image" Target="../media/image17.png"/><Relationship Id="rId7"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6.xml"/><Relationship Id="rId6" Type="http://schemas.openxmlformats.org/officeDocument/2006/relationships/image" Target="../media/image431.png"/><Relationship Id="rId5" Type="http://schemas.openxmlformats.org/officeDocument/2006/relationships/image" Target="../media/image420.png"/><Relationship Id="rId4" Type="http://schemas.openxmlformats.org/officeDocument/2006/relationships/image" Target="../media/image410.png"/></Relationships>
</file>

<file path=ppt/slides/_rels/slide27.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8" Type="http://schemas.openxmlformats.org/officeDocument/2006/relationships/image" Target="../media/image490.png"/><Relationship Id="rId3" Type="http://schemas.openxmlformats.org/officeDocument/2006/relationships/image" Target="../media/image17.png"/><Relationship Id="rId7" Type="http://schemas.openxmlformats.org/officeDocument/2006/relationships/image" Target="../media/image480.png"/><Relationship Id="rId2" Type="http://schemas.openxmlformats.org/officeDocument/2006/relationships/notesSlide" Target="../notesSlides/notesSlide22.xml"/><Relationship Id="rId1" Type="http://schemas.openxmlformats.org/officeDocument/2006/relationships/slideLayout" Target="../slideLayouts/slideLayout6.xml"/><Relationship Id="rId6" Type="http://schemas.openxmlformats.org/officeDocument/2006/relationships/image" Target="../media/image470.png"/><Relationship Id="rId11" Type="http://schemas.openxmlformats.org/officeDocument/2006/relationships/image" Target="../media/image410.png"/><Relationship Id="rId5" Type="http://schemas.openxmlformats.org/officeDocument/2006/relationships/image" Target="../media/image460.png"/><Relationship Id="rId10" Type="http://schemas.openxmlformats.org/officeDocument/2006/relationships/image" Target="../media/image510.png"/><Relationship Id="rId4" Type="http://schemas.openxmlformats.org/officeDocument/2006/relationships/image" Target="../media/image450.png"/><Relationship Id="rId9" Type="http://schemas.openxmlformats.org/officeDocument/2006/relationships/image" Target="../media/image500.png"/></Relationships>
</file>

<file path=ppt/slides/_rels/slide3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8" Type="http://schemas.openxmlformats.org/officeDocument/2006/relationships/image" Target="../media/image570.png"/><Relationship Id="rId3" Type="http://schemas.openxmlformats.org/officeDocument/2006/relationships/image" Target="../media/image520.png"/><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notesSlide" Target="../notesSlides/notesSlide24.xml"/><Relationship Id="rId1" Type="http://schemas.openxmlformats.org/officeDocument/2006/relationships/slideLayout" Target="../slideLayouts/slideLayout6.xml"/><Relationship Id="rId6" Type="http://schemas.openxmlformats.org/officeDocument/2006/relationships/image" Target="../media/image550.png"/><Relationship Id="rId11" Type="http://schemas.openxmlformats.org/officeDocument/2006/relationships/image" Target="../media/image60.png"/><Relationship Id="rId5" Type="http://schemas.openxmlformats.org/officeDocument/2006/relationships/image" Target="../media/image540.png"/><Relationship Id="rId10" Type="http://schemas.openxmlformats.org/officeDocument/2006/relationships/image" Target="../media/image59.png"/><Relationship Id="rId4" Type="http://schemas.openxmlformats.org/officeDocument/2006/relationships/image" Target="../media/image530.png"/><Relationship Id="rId9" Type="http://schemas.openxmlformats.org/officeDocument/2006/relationships/image" Target="../media/image580.png"/></Relationships>
</file>

<file path=ppt/slides/_rels/slide32.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62.png"/><Relationship Id="rId7" Type="http://schemas.openxmlformats.org/officeDocument/2006/relationships/image" Target="../media/image66.png"/><Relationship Id="rId12" Type="http://schemas.openxmlformats.org/officeDocument/2006/relationships/image" Target="../media/image23.png"/><Relationship Id="rId2" Type="http://schemas.openxmlformats.org/officeDocument/2006/relationships/image" Target="../media/image17.png"/><Relationship Id="rId1" Type="http://schemas.openxmlformats.org/officeDocument/2006/relationships/slideLayout" Target="../slideLayouts/slideLayout6.xml"/><Relationship Id="rId6" Type="http://schemas.openxmlformats.org/officeDocument/2006/relationships/image" Target="../media/image65.png"/><Relationship Id="rId11" Type="http://schemas.openxmlformats.org/officeDocument/2006/relationships/image" Target="../media/image410.png"/><Relationship Id="rId5" Type="http://schemas.openxmlformats.org/officeDocument/2006/relationships/image" Target="../media/image64.png"/><Relationship Id="rId4" Type="http://schemas.openxmlformats.org/officeDocument/2006/relationships/image" Target="../media/image63.png"/><Relationship Id="rId9" Type="http://schemas.openxmlformats.org/officeDocument/2006/relationships/image" Target="../media/image68.png"/></Relationships>
</file>

<file path=ppt/slides/_rels/slide33.xml.rels><?xml version="1.0" encoding="UTF-8" standalone="yes"?>
<Relationships xmlns="http://schemas.openxmlformats.org/package/2006/relationships"><Relationship Id="rId3" Type="http://schemas.openxmlformats.org/officeDocument/2006/relationships/image" Target="../media/image620.png"/><Relationship Id="rId2" Type="http://schemas.openxmlformats.org/officeDocument/2006/relationships/notesSlide" Target="../notesSlides/notesSlide25.xml"/><Relationship Id="rId1" Type="http://schemas.openxmlformats.org/officeDocument/2006/relationships/slideLayout" Target="../slideLayouts/slideLayout6.xml"/><Relationship Id="rId5" Type="http://schemas.openxmlformats.org/officeDocument/2006/relationships/image" Target="../media/image130.png"/><Relationship Id="rId4" Type="http://schemas.openxmlformats.org/officeDocument/2006/relationships/image" Target="../media/image630.png"/></Relationships>
</file>

<file path=ppt/slides/_rels/slide34.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6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8" name="Straight Arrow Connector 127"/>
          <p:cNvCxnSpPr>
            <a:stCxn id="124" idx="1"/>
            <a:endCxn id="108" idx="2"/>
          </p:cNvCxnSpPr>
          <p:nvPr/>
        </p:nvCxnSpPr>
        <p:spPr>
          <a:xfrm>
            <a:off x="533400" y="2688209"/>
            <a:ext cx="5890947" cy="3172"/>
          </a:xfrm>
          <a:prstGeom prst="straightConnector1">
            <a:avLst/>
          </a:prstGeom>
          <a:ln w="17780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43" name="Straight Arrow Connector 142"/>
          <p:cNvCxnSpPr>
            <a:stCxn id="124" idx="1"/>
            <a:endCxn id="108" idx="2"/>
          </p:cNvCxnSpPr>
          <p:nvPr/>
        </p:nvCxnSpPr>
        <p:spPr>
          <a:xfrm>
            <a:off x="533400" y="2688209"/>
            <a:ext cx="5890947" cy="3172"/>
          </a:xfrm>
          <a:prstGeom prst="straightConnector1">
            <a:avLst/>
          </a:prstGeom>
          <a:ln w="9525" cap="flat" cmpd="sng" algn="ctr">
            <a:solidFill>
              <a:schemeClr val="bg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99" name="Rounded Rectangle 64"/>
          <p:cNvSpPr/>
          <p:nvPr/>
        </p:nvSpPr>
        <p:spPr>
          <a:xfrm>
            <a:off x="1066800" y="1295400"/>
            <a:ext cx="7010400" cy="4676775"/>
          </a:xfrm>
          <a:prstGeom prst="roundRect">
            <a:avLst/>
          </a:prstGeom>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sp>
        <p:nvSpPr>
          <p:cNvPr id="124" name="Pentagon 41"/>
          <p:cNvSpPr/>
          <p:nvPr/>
        </p:nvSpPr>
        <p:spPr>
          <a:xfrm>
            <a:off x="533400" y="2557018"/>
            <a:ext cx="122819" cy="262382"/>
          </a:xfrm>
          <a:prstGeom prst="rect">
            <a:avLst/>
          </a:prstGeom>
          <a:solidFill>
            <a:schemeClr val="tx1">
              <a:lumMod val="50000"/>
              <a:lumOff val="50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sz="2000" b="1" dirty="0"/>
          </a:p>
        </p:txBody>
      </p:sp>
      <p:cxnSp>
        <p:nvCxnSpPr>
          <p:cNvPr id="135" name="Elbow Connector 73"/>
          <p:cNvCxnSpPr>
            <a:stCxn id="122" idx="0"/>
            <a:endCxn id="110" idx="6"/>
          </p:cNvCxnSpPr>
          <p:nvPr/>
        </p:nvCxnSpPr>
        <p:spPr>
          <a:xfrm rot="16200000" flipV="1">
            <a:off x="4670377" y="2285111"/>
            <a:ext cx="716160" cy="5438768"/>
          </a:xfrm>
          <a:prstGeom prst="bentConnector2">
            <a:avLst/>
          </a:prstGeom>
          <a:ln w="177800"/>
        </p:spPr>
        <p:style>
          <a:lnRef idx="1">
            <a:schemeClr val="dk1"/>
          </a:lnRef>
          <a:fillRef idx="0">
            <a:schemeClr val="dk1"/>
          </a:fillRef>
          <a:effectRef idx="0">
            <a:schemeClr val="dk1"/>
          </a:effectRef>
          <a:fontRef idx="minor">
            <a:schemeClr val="tx1"/>
          </a:fontRef>
        </p:style>
      </p:cxnSp>
      <p:sp>
        <p:nvSpPr>
          <p:cNvPr id="101" name="Rectangle 100"/>
          <p:cNvSpPr/>
          <p:nvPr/>
        </p:nvSpPr>
        <p:spPr>
          <a:xfrm>
            <a:off x="2651263" y="2025045"/>
            <a:ext cx="1001621" cy="307777"/>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Probability</a:t>
            </a:r>
            <a:endParaRPr lang="en-GB" sz="1400" dirty="0"/>
          </a:p>
        </p:txBody>
      </p:sp>
      <p:sp>
        <p:nvSpPr>
          <p:cNvPr id="103" name="Rectangle 102"/>
          <p:cNvSpPr/>
          <p:nvPr/>
        </p:nvSpPr>
        <p:spPr>
          <a:xfrm>
            <a:off x="1474886" y="1799422"/>
            <a:ext cx="1020664" cy="523220"/>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Descriptive</a:t>
            </a:r>
          </a:p>
          <a:p>
            <a:pPr algn="ctr"/>
            <a:r>
              <a:rPr lang="en-GB" sz="1400" b="1" dirty="0"/>
              <a:t>Statistics</a:t>
            </a:r>
            <a:endParaRPr lang="en-GB" sz="1400" dirty="0"/>
          </a:p>
        </p:txBody>
      </p:sp>
      <p:sp>
        <p:nvSpPr>
          <p:cNvPr id="105" name="Rectangle 104"/>
          <p:cNvSpPr/>
          <p:nvPr/>
        </p:nvSpPr>
        <p:spPr>
          <a:xfrm>
            <a:off x="3808597" y="1799422"/>
            <a:ext cx="1149289" cy="523220"/>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Probability</a:t>
            </a:r>
          </a:p>
          <a:p>
            <a:pPr algn="ctr"/>
            <a:r>
              <a:rPr lang="en-GB" sz="1400" b="1" dirty="0"/>
              <a:t>Distributions</a:t>
            </a:r>
            <a:endParaRPr lang="en-GB" sz="1400" dirty="0"/>
          </a:p>
        </p:txBody>
      </p:sp>
      <p:sp>
        <p:nvSpPr>
          <p:cNvPr id="107" name="Rectangle 106"/>
          <p:cNvSpPr/>
          <p:nvPr/>
        </p:nvSpPr>
        <p:spPr>
          <a:xfrm>
            <a:off x="6275649" y="1799422"/>
            <a:ext cx="1013418" cy="523220"/>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Hypothesis</a:t>
            </a:r>
          </a:p>
          <a:p>
            <a:pPr algn="ctr"/>
            <a:r>
              <a:rPr lang="en-GB" sz="1400" b="1" dirty="0"/>
              <a:t>Testing 1</a:t>
            </a:r>
            <a:endParaRPr lang="en-GB" sz="1400" dirty="0"/>
          </a:p>
        </p:txBody>
      </p:sp>
      <p:sp>
        <p:nvSpPr>
          <p:cNvPr id="109" name="Rectangle 108"/>
          <p:cNvSpPr/>
          <p:nvPr/>
        </p:nvSpPr>
        <p:spPr>
          <a:xfrm>
            <a:off x="2594245" y="5039380"/>
            <a:ext cx="1113318" cy="523220"/>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Testing</a:t>
            </a:r>
          </a:p>
          <a:p>
            <a:pPr algn="ctr"/>
            <a:r>
              <a:rPr lang="en-GB" sz="1400" b="1" dirty="0"/>
              <a:t>Relationship</a:t>
            </a:r>
            <a:endParaRPr lang="en-GB" sz="1400" dirty="0"/>
          </a:p>
        </p:txBody>
      </p:sp>
      <p:sp>
        <p:nvSpPr>
          <p:cNvPr id="111" name="Rectangle 110"/>
          <p:cNvSpPr/>
          <p:nvPr/>
        </p:nvSpPr>
        <p:spPr>
          <a:xfrm>
            <a:off x="3886201" y="5054798"/>
            <a:ext cx="991169" cy="307777"/>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Regression</a:t>
            </a:r>
            <a:endParaRPr lang="en-GB" sz="1400" dirty="0"/>
          </a:p>
        </p:txBody>
      </p:sp>
      <p:sp>
        <p:nvSpPr>
          <p:cNvPr id="113" name="Rectangle 112"/>
          <p:cNvSpPr/>
          <p:nvPr/>
        </p:nvSpPr>
        <p:spPr>
          <a:xfrm>
            <a:off x="6334125" y="5085080"/>
            <a:ext cx="904875" cy="523220"/>
          </a:xfrm>
          <a:prstGeom prst="rect">
            <a:avLst/>
          </a:prstGeom>
          <a:effectLst>
            <a:outerShdw blurRad="50800" dist="38100" dir="18900000" algn="bl" rotWithShape="0">
              <a:prstClr val="black">
                <a:alpha val="40000"/>
              </a:prstClr>
            </a:outerShdw>
          </a:effectLst>
        </p:spPr>
        <p:txBody>
          <a:bodyPr wrap="square">
            <a:spAutoFit/>
          </a:bodyPr>
          <a:lstStyle/>
          <a:p>
            <a:pPr algn="ctr"/>
            <a:r>
              <a:rPr lang="en-GB" sz="1400" b="1" dirty="0"/>
              <a:t>Factor</a:t>
            </a:r>
          </a:p>
          <a:p>
            <a:pPr algn="ctr"/>
            <a:r>
              <a:rPr lang="en-GB" sz="1400" b="1" dirty="0"/>
              <a:t>Analysis</a:t>
            </a:r>
          </a:p>
        </p:txBody>
      </p:sp>
      <p:sp>
        <p:nvSpPr>
          <p:cNvPr id="115" name="Rectangle 114"/>
          <p:cNvSpPr/>
          <p:nvPr/>
        </p:nvSpPr>
        <p:spPr>
          <a:xfrm>
            <a:off x="5225248" y="1981200"/>
            <a:ext cx="870752" cy="307777"/>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Sampling</a:t>
            </a:r>
          </a:p>
        </p:txBody>
      </p:sp>
      <p:sp>
        <p:nvSpPr>
          <p:cNvPr id="122" name="Oval 121"/>
          <p:cNvSpPr/>
          <p:nvPr/>
        </p:nvSpPr>
        <p:spPr>
          <a:xfrm>
            <a:off x="7385891" y="5362575"/>
            <a:ext cx="723900" cy="695325"/>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100" dirty="0"/>
              <a:t>Week</a:t>
            </a:r>
          </a:p>
          <a:p>
            <a:pPr algn="ctr"/>
            <a:r>
              <a:rPr lang="en-GB" sz="2000" b="1" dirty="0"/>
              <a:t>11</a:t>
            </a:r>
          </a:p>
        </p:txBody>
      </p:sp>
      <p:sp>
        <p:nvSpPr>
          <p:cNvPr id="123" name="Rectangle 122"/>
          <p:cNvSpPr/>
          <p:nvPr/>
        </p:nvSpPr>
        <p:spPr>
          <a:xfrm>
            <a:off x="7342281" y="6106180"/>
            <a:ext cx="811119" cy="307777"/>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Revision</a:t>
            </a:r>
          </a:p>
        </p:txBody>
      </p:sp>
      <p:sp>
        <p:nvSpPr>
          <p:cNvPr id="126" name="Rectangle 125"/>
          <p:cNvSpPr/>
          <p:nvPr/>
        </p:nvSpPr>
        <p:spPr>
          <a:xfrm>
            <a:off x="5134855" y="5090072"/>
            <a:ext cx="1045478" cy="523220"/>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Conditional</a:t>
            </a:r>
          </a:p>
          <a:p>
            <a:pPr algn="ctr"/>
            <a:r>
              <a:rPr lang="en-GB" sz="1400" b="1" dirty="0"/>
              <a:t>Probability</a:t>
            </a:r>
            <a:endParaRPr lang="en-GB" sz="1400" dirty="0"/>
          </a:p>
        </p:txBody>
      </p:sp>
      <p:cxnSp>
        <p:nvCxnSpPr>
          <p:cNvPr id="127" name="Elbow Connector 46"/>
          <p:cNvCxnSpPr>
            <a:stCxn id="110" idx="2"/>
            <a:endCxn id="108" idx="6"/>
          </p:cNvCxnSpPr>
          <p:nvPr/>
        </p:nvCxnSpPr>
        <p:spPr>
          <a:xfrm rot="10800000" flipH="1">
            <a:off x="1585173" y="2691381"/>
            <a:ext cx="5563074" cy="1955034"/>
          </a:xfrm>
          <a:prstGeom prst="bentConnector5">
            <a:avLst>
              <a:gd name="adj1" fmla="val -4109"/>
              <a:gd name="adj2" fmla="val 50000"/>
              <a:gd name="adj3" fmla="val 104109"/>
            </a:avLst>
          </a:prstGeom>
          <a:ln w="177800"/>
        </p:spPr>
        <p:style>
          <a:lnRef idx="1">
            <a:schemeClr val="dk1"/>
          </a:lnRef>
          <a:fillRef idx="0">
            <a:schemeClr val="dk1"/>
          </a:fillRef>
          <a:effectRef idx="0">
            <a:schemeClr val="dk1"/>
          </a:effectRef>
          <a:fontRef idx="minor">
            <a:schemeClr val="tx1"/>
          </a:fontRef>
        </p:style>
      </p:cxnSp>
      <p:sp>
        <p:nvSpPr>
          <p:cNvPr id="136" name="Title 1"/>
          <p:cNvSpPr>
            <a:spLocks noGrp="1"/>
          </p:cNvSpPr>
          <p:nvPr>
            <p:ph type="title"/>
          </p:nvPr>
        </p:nvSpPr>
        <p:spPr>
          <a:xfrm>
            <a:off x="304800" y="76200"/>
            <a:ext cx="8229600" cy="869277"/>
          </a:xfrm>
        </p:spPr>
        <p:txBody>
          <a:bodyPr/>
          <a:lstStyle/>
          <a:p>
            <a:r>
              <a:rPr lang="en-GB" dirty="0"/>
              <a:t>Module Overview</a:t>
            </a:r>
          </a:p>
        </p:txBody>
      </p:sp>
      <p:sp>
        <p:nvSpPr>
          <p:cNvPr id="137" name="Rectangle 136"/>
          <p:cNvSpPr/>
          <p:nvPr/>
        </p:nvSpPr>
        <p:spPr>
          <a:xfrm>
            <a:off x="1447800" y="5029200"/>
            <a:ext cx="1013419" cy="523220"/>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Hypothesis</a:t>
            </a:r>
          </a:p>
          <a:p>
            <a:pPr algn="ctr"/>
            <a:r>
              <a:rPr lang="en-GB" sz="1400" b="1" dirty="0"/>
              <a:t>Testing 2</a:t>
            </a:r>
          </a:p>
        </p:txBody>
      </p:sp>
      <p:cxnSp>
        <p:nvCxnSpPr>
          <p:cNvPr id="142" name="Elbow Connector 73"/>
          <p:cNvCxnSpPr>
            <a:stCxn id="122" idx="0"/>
            <a:endCxn id="110" idx="6"/>
          </p:cNvCxnSpPr>
          <p:nvPr/>
        </p:nvCxnSpPr>
        <p:spPr>
          <a:xfrm rot="16200000" flipV="1">
            <a:off x="4670377" y="2285111"/>
            <a:ext cx="716160" cy="5438768"/>
          </a:xfrm>
          <a:prstGeom prst="bentConnector2">
            <a:avLst/>
          </a:prstGeom>
          <a:ln w="9525" cap="flat" cmpd="sng" algn="ctr">
            <a:solidFill>
              <a:schemeClr val="bg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44" name="Elbow Connector 46"/>
          <p:cNvCxnSpPr>
            <a:stCxn id="110" idx="2"/>
            <a:endCxn id="108" idx="6"/>
          </p:cNvCxnSpPr>
          <p:nvPr/>
        </p:nvCxnSpPr>
        <p:spPr>
          <a:xfrm rot="10800000" flipH="1">
            <a:off x="1585173" y="2691381"/>
            <a:ext cx="5563074" cy="1955034"/>
          </a:xfrm>
          <a:prstGeom prst="bentConnector5">
            <a:avLst>
              <a:gd name="adj1" fmla="val -4109"/>
              <a:gd name="adj2" fmla="val 50000"/>
              <a:gd name="adj3" fmla="val 104109"/>
            </a:avLst>
          </a:prstGeom>
          <a:ln w="9525" cap="flat" cmpd="sng" algn="ctr">
            <a:solidFill>
              <a:schemeClr val="bg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10" name="Oval 109"/>
          <p:cNvSpPr/>
          <p:nvPr/>
        </p:nvSpPr>
        <p:spPr>
          <a:xfrm>
            <a:off x="1585173" y="4298752"/>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6</a:t>
            </a:r>
          </a:p>
        </p:txBody>
      </p:sp>
      <p:sp>
        <p:nvSpPr>
          <p:cNvPr id="112" name="Oval 111"/>
          <p:cNvSpPr/>
          <p:nvPr/>
        </p:nvSpPr>
        <p:spPr>
          <a:xfrm>
            <a:off x="2767095" y="4298752"/>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7</a:t>
            </a:r>
          </a:p>
        </p:txBody>
      </p:sp>
      <p:sp>
        <p:nvSpPr>
          <p:cNvPr id="114" name="Oval 113"/>
          <p:cNvSpPr/>
          <p:nvPr/>
        </p:nvSpPr>
        <p:spPr>
          <a:xfrm>
            <a:off x="4006152" y="4298752"/>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8</a:t>
            </a:r>
          </a:p>
        </p:txBody>
      </p:sp>
      <p:sp>
        <p:nvSpPr>
          <p:cNvPr id="116" name="Oval 115"/>
          <p:cNvSpPr/>
          <p:nvPr/>
        </p:nvSpPr>
        <p:spPr>
          <a:xfrm>
            <a:off x="6424348" y="4298752"/>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10</a:t>
            </a:r>
          </a:p>
        </p:txBody>
      </p:sp>
      <p:sp>
        <p:nvSpPr>
          <p:cNvPr id="125" name="Oval 124"/>
          <p:cNvSpPr/>
          <p:nvPr/>
        </p:nvSpPr>
        <p:spPr>
          <a:xfrm>
            <a:off x="5304166" y="4298752"/>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9</a:t>
            </a:r>
          </a:p>
        </p:txBody>
      </p:sp>
      <p:sp>
        <p:nvSpPr>
          <p:cNvPr id="100" name="Oval 99"/>
          <p:cNvSpPr/>
          <p:nvPr/>
        </p:nvSpPr>
        <p:spPr>
          <a:xfrm>
            <a:off x="2790125" y="2345979"/>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2</a:t>
            </a:r>
          </a:p>
        </p:txBody>
      </p:sp>
      <p:sp>
        <p:nvSpPr>
          <p:cNvPr id="104" name="Oval 103"/>
          <p:cNvSpPr/>
          <p:nvPr/>
        </p:nvSpPr>
        <p:spPr>
          <a:xfrm>
            <a:off x="4019643" y="2345979"/>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3</a:t>
            </a:r>
          </a:p>
        </p:txBody>
      </p:sp>
      <p:sp>
        <p:nvSpPr>
          <p:cNvPr id="106" name="Oval 105"/>
          <p:cNvSpPr/>
          <p:nvPr/>
        </p:nvSpPr>
        <p:spPr>
          <a:xfrm>
            <a:off x="5255214" y="2343718"/>
            <a:ext cx="723900" cy="695325"/>
          </a:xfrm>
          <a:prstGeom prst="ellipse">
            <a:avLst/>
          </a:prstGeom>
          <a:solidFill>
            <a:srgbClr val="FFC000"/>
          </a:solidFill>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4</a:t>
            </a:r>
          </a:p>
        </p:txBody>
      </p:sp>
      <p:sp>
        <p:nvSpPr>
          <p:cNvPr id="108" name="Oval 107"/>
          <p:cNvSpPr/>
          <p:nvPr/>
        </p:nvSpPr>
        <p:spPr>
          <a:xfrm>
            <a:off x="6424347" y="2343718"/>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5</a:t>
            </a:r>
          </a:p>
        </p:txBody>
      </p:sp>
      <p:sp>
        <p:nvSpPr>
          <p:cNvPr id="138" name="Oval 137"/>
          <p:cNvSpPr/>
          <p:nvPr/>
        </p:nvSpPr>
        <p:spPr>
          <a:xfrm>
            <a:off x="1600200" y="2352675"/>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1</a:t>
            </a:r>
          </a:p>
        </p:txBody>
      </p:sp>
      <p:cxnSp>
        <p:nvCxnSpPr>
          <p:cNvPr id="181" name="Straight Arrow Connector 180"/>
          <p:cNvCxnSpPr>
            <a:stCxn id="180" idx="3"/>
            <a:endCxn id="122" idx="6"/>
          </p:cNvCxnSpPr>
          <p:nvPr/>
        </p:nvCxnSpPr>
        <p:spPr>
          <a:xfrm flipH="1">
            <a:off x="8109791" y="5709209"/>
            <a:ext cx="779641" cy="1029"/>
          </a:xfrm>
          <a:prstGeom prst="straightConnector1">
            <a:avLst/>
          </a:prstGeom>
          <a:ln w="17780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82" name="Straight Arrow Connector 181"/>
          <p:cNvCxnSpPr>
            <a:stCxn id="180" idx="3"/>
            <a:endCxn id="122" idx="6"/>
          </p:cNvCxnSpPr>
          <p:nvPr/>
        </p:nvCxnSpPr>
        <p:spPr>
          <a:xfrm flipH="1">
            <a:off x="8109791" y="5709209"/>
            <a:ext cx="779641" cy="1029"/>
          </a:xfrm>
          <a:prstGeom prst="straightConnector1">
            <a:avLst/>
          </a:prstGeom>
          <a:ln w="9525" cap="flat" cmpd="sng" algn="ctr">
            <a:solidFill>
              <a:schemeClr val="bg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80" name="Pentagon 41"/>
          <p:cNvSpPr/>
          <p:nvPr/>
        </p:nvSpPr>
        <p:spPr>
          <a:xfrm>
            <a:off x="8766613" y="5578018"/>
            <a:ext cx="122819" cy="262382"/>
          </a:xfrm>
          <a:prstGeom prst="rect">
            <a:avLst/>
          </a:prstGeom>
          <a:solidFill>
            <a:schemeClr val="tx1">
              <a:lumMod val="50000"/>
              <a:lumOff val="50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sz="2000" b="1" dirty="0"/>
          </a:p>
        </p:txBody>
      </p:sp>
    </p:spTree>
    <p:extLst>
      <p:ext uri="{BB962C8B-B14F-4D97-AF65-F5344CB8AC3E}">
        <p14:creationId xmlns:p14="http://schemas.microsoft.com/office/powerpoint/2010/main" val="36293015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Information from Samples</a:t>
            </a:r>
            <a:endParaRPr lang="en-GB" dirty="0"/>
          </a:p>
        </p:txBody>
      </p:sp>
      <p:sp>
        <p:nvSpPr>
          <p:cNvPr id="4" name="Rectangle 3"/>
          <p:cNvSpPr/>
          <p:nvPr/>
        </p:nvSpPr>
        <p:spPr>
          <a:xfrm>
            <a:off x="304800" y="762000"/>
            <a:ext cx="4876800" cy="400110"/>
          </a:xfrm>
          <a:prstGeom prst="rect">
            <a:avLst/>
          </a:prstGeom>
        </p:spPr>
        <p:txBody>
          <a:bodyPr wrap="square">
            <a:spAutoFit/>
          </a:bodyPr>
          <a:lstStyle/>
          <a:p>
            <a:pPr>
              <a:buClr>
                <a:srgbClr val="333399"/>
              </a:buClr>
              <a:buSzPct val="200000"/>
            </a:pPr>
            <a:r>
              <a:rPr lang="en-US" altLang="en-US" sz="2000" dirty="0"/>
              <a:t>A </a:t>
            </a:r>
            <a:r>
              <a:rPr lang="en-US" altLang="en-US" sz="2000" dirty="0">
                <a:solidFill>
                  <a:srgbClr val="333399"/>
                </a:solidFill>
              </a:rPr>
              <a:t>population</a:t>
            </a:r>
            <a:r>
              <a:rPr lang="en-US" altLang="en-US" sz="2000" dirty="0"/>
              <a:t> is all of some specified group</a:t>
            </a:r>
          </a:p>
        </p:txBody>
      </p:sp>
      <p:sp>
        <p:nvSpPr>
          <p:cNvPr id="5" name="Rectangle 4"/>
          <p:cNvSpPr/>
          <p:nvPr/>
        </p:nvSpPr>
        <p:spPr>
          <a:xfrm>
            <a:off x="304800" y="1371600"/>
            <a:ext cx="5029200" cy="2554545"/>
          </a:xfrm>
          <a:prstGeom prst="rect">
            <a:avLst/>
          </a:prstGeom>
        </p:spPr>
        <p:txBody>
          <a:bodyPr wrap="square">
            <a:spAutoFit/>
          </a:bodyPr>
          <a:lstStyle/>
          <a:p>
            <a:pPr>
              <a:buClr>
                <a:srgbClr val="333399"/>
              </a:buClr>
              <a:buSzPct val="200000"/>
            </a:pPr>
            <a:r>
              <a:rPr lang="en-US" altLang="en-US" sz="2000" dirty="0"/>
              <a:t>For example: </a:t>
            </a:r>
          </a:p>
          <a:p>
            <a:pPr>
              <a:buClr>
                <a:srgbClr val="333399"/>
              </a:buClr>
              <a:buSzPct val="200000"/>
            </a:pPr>
            <a:r>
              <a:rPr lang="en-US" altLang="en-US" sz="2000" dirty="0"/>
              <a:t>	all of the </a:t>
            </a:r>
            <a:r>
              <a:rPr lang="en-US" altLang="en-US" sz="2000" b="1" dirty="0"/>
              <a:t>people in England</a:t>
            </a:r>
            <a:r>
              <a:rPr lang="en-US" altLang="en-US" sz="2000" dirty="0"/>
              <a:t>, or</a:t>
            </a:r>
          </a:p>
          <a:p>
            <a:pPr>
              <a:buClr>
                <a:srgbClr val="333399"/>
              </a:buClr>
              <a:buSzPct val="200000"/>
            </a:pPr>
            <a:r>
              <a:rPr lang="en-US" altLang="en-US" sz="2000" dirty="0"/>
              <a:t>	all </a:t>
            </a:r>
            <a:r>
              <a:rPr lang="en-US" altLang="en-US" sz="2000" b="1" dirty="0"/>
              <a:t>children in Leeds</a:t>
            </a:r>
            <a:r>
              <a:rPr lang="en-US" altLang="en-US" sz="2000" dirty="0"/>
              <a:t>, or</a:t>
            </a:r>
          </a:p>
          <a:p>
            <a:pPr>
              <a:buClr>
                <a:srgbClr val="333399"/>
              </a:buClr>
              <a:buSzPct val="200000"/>
            </a:pPr>
            <a:r>
              <a:rPr lang="en-US" altLang="en-US" sz="2000" dirty="0"/>
              <a:t>	all </a:t>
            </a:r>
            <a:r>
              <a:rPr lang="en-US" altLang="en-US" sz="2000" b="1" dirty="0"/>
              <a:t>bottles produced </a:t>
            </a:r>
            <a:r>
              <a:rPr lang="en-US" altLang="en-US" sz="2000" dirty="0"/>
              <a:t>in a factory, or</a:t>
            </a:r>
          </a:p>
          <a:p>
            <a:pPr>
              <a:buClr>
                <a:srgbClr val="333399"/>
              </a:buClr>
              <a:buSzPct val="200000"/>
            </a:pPr>
            <a:r>
              <a:rPr lang="en-US" altLang="en-US" sz="2000" dirty="0"/>
              <a:t>                all </a:t>
            </a:r>
            <a:r>
              <a:rPr lang="en-US" altLang="en-US" sz="2000" b="1" dirty="0"/>
              <a:t>students in LUBS5586M </a:t>
            </a:r>
            <a:r>
              <a:rPr lang="en-US" altLang="en-US" sz="2000" dirty="0"/>
              <a:t>module</a:t>
            </a:r>
          </a:p>
          <a:p>
            <a:pPr>
              <a:buClr>
                <a:srgbClr val="333399"/>
              </a:buClr>
              <a:buSzPct val="200000"/>
            </a:pPr>
            <a:endParaRPr lang="en-US" altLang="en-US" sz="2000" dirty="0"/>
          </a:p>
          <a:p>
            <a:pPr>
              <a:buClr>
                <a:srgbClr val="333399"/>
              </a:buClr>
              <a:buSzPct val="200000"/>
            </a:pPr>
            <a:r>
              <a:rPr lang="en-US" altLang="en-US" sz="2000" dirty="0"/>
              <a:t>Essentially, this is a true data of the group.</a:t>
            </a:r>
          </a:p>
          <a:p>
            <a:pPr algn="ctr">
              <a:buClr>
                <a:srgbClr val="333399"/>
              </a:buClr>
              <a:buSzPct val="200000"/>
            </a:pPr>
            <a:endParaRPr lang="en-US" altLang="en-US" sz="2000" dirty="0"/>
          </a:p>
        </p:txBody>
      </p:sp>
      <p:pic>
        <p:nvPicPr>
          <p:cNvPr id="1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22551" y="26894"/>
            <a:ext cx="2943225" cy="3752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5" descr="Students wearing mortarboards">
            <a:extLst>
              <a:ext uri="{FF2B5EF4-FFF2-40B4-BE49-F238E27FC236}">
                <a16:creationId xmlns:a16="http://schemas.microsoft.com/office/drawing/2014/main" id="{EC7C5C55-6124-3D7D-0A88-E83E90D7413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13044" y="3894769"/>
            <a:ext cx="3352724" cy="1885790"/>
          </a:xfrm>
          <a:prstGeom prst="rect">
            <a:avLst/>
          </a:prstGeom>
        </p:spPr>
      </p:pic>
      <p:pic>
        <p:nvPicPr>
          <p:cNvPr id="1026" name="Picture 2" descr="Why Leeds is Britain's most underrated city">
            <a:extLst>
              <a:ext uri="{FF2B5EF4-FFF2-40B4-BE49-F238E27FC236}">
                <a16:creationId xmlns:a16="http://schemas.microsoft.com/office/drawing/2014/main" id="{F24EFF6F-8217-F5AF-E844-ED0D542420FB}"/>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698844" y="3713713"/>
            <a:ext cx="3230880" cy="20193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Plastic containers in bright colors">
            <a:extLst>
              <a:ext uri="{FF2B5EF4-FFF2-40B4-BE49-F238E27FC236}">
                <a16:creationId xmlns:a16="http://schemas.microsoft.com/office/drawing/2014/main" id="{341F2137-D0EE-164D-4B0B-8F9CCBDFB8E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041455" y="4708981"/>
            <a:ext cx="3180470" cy="2122125"/>
          </a:xfrm>
          <a:prstGeom prst="rect">
            <a:avLst/>
          </a:prstGeom>
        </p:spPr>
      </p:pic>
    </p:spTree>
    <p:extLst>
      <p:ext uri="{BB962C8B-B14F-4D97-AF65-F5344CB8AC3E}">
        <p14:creationId xmlns:p14="http://schemas.microsoft.com/office/powerpoint/2010/main" val="38295149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Information from Samples</a:t>
            </a:r>
            <a:endParaRPr lang="en-GB" dirty="0"/>
          </a:p>
        </p:txBody>
      </p:sp>
      <p:sp>
        <p:nvSpPr>
          <p:cNvPr id="7" name="Rectangle 6"/>
          <p:cNvSpPr/>
          <p:nvPr/>
        </p:nvSpPr>
        <p:spPr>
          <a:xfrm>
            <a:off x="361670" y="1777855"/>
            <a:ext cx="5429530" cy="1015663"/>
          </a:xfrm>
          <a:prstGeom prst="rect">
            <a:avLst/>
          </a:prstGeom>
        </p:spPr>
        <p:txBody>
          <a:bodyPr wrap="square">
            <a:spAutoFit/>
          </a:bodyPr>
          <a:lstStyle/>
          <a:p>
            <a:pPr>
              <a:buClr>
                <a:srgbClr val="333399"/>
              </a:buClr>
              <a:buSzPct val="200000"/>
            </a:pPr>
            <a:r>
              <a:rPr lang="en-US" altLang="en-US" sz="2000" dirty="0"/>
              <a:t>For example,</a:t>
            </a:r>
          </a:p>
          <a:p>
            <a:pPr>
              <a:buClr>
                <a:srgbClr val="333399"/>
              </a:buClr>
              <a:buSzPct val="200000"/>
            </a:pPr>
            <a:r>
              <a:rPr lang="en-US" altLang="en-US" sz="2000" dirty="0"/>
              <a:t>       average heights of all people in England</a:t>
            </a:r>
          </a:p>
          <a:p>
            <a:pPr>
              <a:buClr>
                <a:srgbClr val="333399"/>
              </a:buClr>
              <a:buSzPct val="200000"/>
            </a:pPr>
            <a:r>
              <a:rPr lang="en-US" altLang="en-US" sz="2000" dirty="0"/>
              <a:t>       proportion of defective bottles in factory</a:t>
            </a:r>
          </a:p>
        </p:txBody>
      </p:sp>
      <p:sp>
        <p:nvSpPr>
          <p:cNvPr id="3" name="Rectangle 2"/>
          <p:cNvSpPr/>
          <p:nvPr/>
        </p:nvSpPr>
        <p:spPr>
          <a:xfrm>
            <a:off x="304800" y="732472"/>
            <a:ext cx="6096000" cy="1015663"/>
          </a:xfrm>
          <a:prstGeom prst="rect">
            <a:avLst/>
          </a:prstGeom>
        </p:spPr>
        <p:txBody>
          <a:bodyPr wrap="square">
            <a:spAutoFit/>
          </a:bodyPr>
          <a:lstStyle/>
          <a:p>
            <a:pPr>
              <a:buClr>
                <a:srgbClr val="333399"/>
              </a:buClr>
              <a:buSzPct val="200000"/>
            </a:pPr>
            <a:r>
              <a:rPr lang="en-US" altLang="en-US" sz="2000" b="1" dirty="0"/>
              <a:t>If</a:t>
            </a:r>
            <a:r>
              <a:rPr lang="en-US" altLang="en-US" sz="2000" dirty="0"/>
              <a:t> </a:t>
            </a:r>
            <a:r>
              <a:rPr lang="en-US" altLang="en-US" sz="2000" b="1" dirty="0"/>
              <a:t>we have complete</a:t>
            </a:r>
            <a:r>
              <a:rPr lang="en-US" altLang="en-US" sz="2000" dirty="0"/>
              <a:t> </a:t>
            </a:r>
            <a:r>
              <a:rPr lang="en-US" altLang="en-US" sz="2000" b="1" dirty="0"/>
              <a:t>data</a:t>
            </a:r>
            <a:r>
              <a:rPr lang="en-US" altLang="en-US" sz="2000" dirty="0"/>
              <a:t> on a population (i.e. census) </a:t>
            </a:r>
          </a:p>
          <a:p>
            <a:pPr>
              <a:buClr>
                <a:srgbClr val="333399"/>
              </a:buClr>
              <a:buSzPct val="200000"/>
            </a:pPr>
            <a:r>
              <a:rPr lang="en-US" altLang="en-US" sz="2000" dirty="0"/>
              <a:t>then </a:t>
            </a:r>
            <a:r>
              <a:rPr lang="en-US" altLang="en-US" sz="2000" b="1" dirty="0"/>
              <a:t>we can calculate</a:t>
            </a:r>
            <a:r>
              <a:rPr lang="en-US" altLang="en-US" sz="2000" dirty="0"/>
              <a:t> descriptive statistic such as averages and proportions </a:t>
            </a:r>
            <a:r>
              <a:rPr lang="en-US" altLang="en-US" sz="2000" b="1" dirty="0"/>
              <a:t>with</a:t>
            </a:r>
            <a:r>
              <a:rPr lang="en-US" altLang="en-US" sz="2000" dirty="0"/>
              <a:t> </a:t>
            </a:r>
            <a:r>
              <a:rPr lang="en-US" altLang="en-US" sz="2000" b="1" dirty="0"/>
              <a:t>certainty</a:t>
            </a:r>
            <a:r>
              <a:rPr lang="en-US" altLang="en-US" sz="2000" dirty="0"/>
              <a:t>.</a:t>
            </a:r>
          </a:p>
        </p:txBody>
      </p:sp>
      <p:sp>
        <p:nvSpPr>
          <p:cNvPr id="5" name="Rectangle 4"/>
          <p:cNvSpPr/>
          <p:nvPr/>
        </p:nvSpPr>
        <p:spPr>
          <a:xfrm>
            <a:off x="320650" y="2846043"/>
            <a:ext cx="5730556" cy="707886"/>
          </a:xfrm>
          <a:prstGeom prst="rect">
            <a:avLst/>
          </a:prstGeom>
        </p:spPr>
        <p:txBody>
          <a:bodyPr wrap="square">
            <a:spAutoFit/>
          </a:bodyPr>
          <a:lstStyle/>
          <a:p>
            <a:pPr>
              <a:buClr>
                <a:srgbClr val="333399"/>
              </a:buClr>
              <a:buSzPct val="200000"/>
            </a:pPr>
            <a:r>
              <a:rPr lang="en-US" altLang="en-US" sz="2000" dirty="0"/>
              <a:t>These values can be called </a:t>
            </a:r>
            <a:r>
              <a:rPr lang="en-US" altLang="en-US" sz="2000" b="1" dirty="0"/>
              <a:t>parameters</a:t>
            </a:r>
            <a:r>
              <a:rPr lang="en-US" altLang="en-US" sz="2000" dirty="0"/>
              <a:t> of the population. </a:t>
            </a:r>
          </a:p>
        </p:txBody>
      </p:sp>
      <p:pic>
        <p:nvPicPr>
          <p:cNvPr id="4" name="Picture 3">
            <a:extLst>
              <a:ext uri="{FF2B5EF4-FFF2-40B4-BE49-F238E27FC236}">
                <a16:creationId xmlns:a16="http://schemas.microsoft.com/office/drawing/2014/main" id="{21F01ABF-87A2-9237-8375-ECF8E85CC1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61827" y="452242"/>
            <a:ext cx="2320503" cy="29588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5" descr="Students wearing mortarboards">
            <a:extLst>
              <a:ext uri="{FF2B5EF4-FFF2-40B4-BE49-F238E27FC236}">
                <a16:creationId xmlns:a16="http://schemas.microsoft.com/office/drawing/2014/main" id="{BCB7F380-3AAB-598A-430A-D2C723CBF0F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13044" y="3713713"/>
            <a:ext cx="3352724" cy="1885790"/>
          </a:xfrm>
          <a:prstGeom prst="rect">
            <a:avLst/>
          </a:prstGeom>
        </p:spPr>
      </p:pic>
      <p:pic>
        <p:nvPicPr>
          <p:cNvPr id="9" name="Picture 2" descr="Why Leeds is Britain's most underrated city">
            <a:extLst>
              <a:ext uri="{FF2B5EF4-FFF2-40B4-BE49-F238E27FC236}">
                <a16:creationId xmlns:a16="http://schemas.microsoft.com/office/drawing/2014/main" id="{2D81F41F-2C0A-C6CE-ACF0-4198CDFEEB29}"/>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592470" y="3510986"/>
            <a:ext cx="3230880" cy="201930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Plastic containers in bright colors">
            <a:extLst>
              <a:ext uri="{FF2B5EF4-FFF2-40B4-BE49-F238E27FC236}">
                <a16:creationId xmlns:a16="http://schemas.microsoft.com/office/drawing/2014/main" id="{32229491-36FE-921B-02AC-09B72502523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981149" y="4538440"/>
            <a:ext cx="3180470" cy="2122125"/>
          </a:xfrm>
          <a:prstGeom prst="rect">
            <a:avLst/>
          </a:prstGeom>
        </p:spPr>
      </p:pic>
    </p:spTree>
    <p:extLst>
      <p:ext uri="{BB962C8B-B14F-4D97-AF65-F5344CB8AC3E}">
        <p14:creationId xmlns:p14="http://schemas.microsoft.com/office/powerpoint/2010/main" val="30785242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00775" y="3028950"/>
            <a:ext cx="2943225" cy="3752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lstStyle/>
          <a:p>
            <a:r>
              <a:rPr lang="en-US" altLang="en-US" dirty="0"/>
              <a:t>Information from Samples</a:t>
            </a:r>
            <a:endParaRPr lang="en-GB" dirty="0"/>
          </a:p>
        </p:txBody>
      </p:sp>
      <p:sp>
        <p:nvSpPr>
          <p:cNvPr id="4" name="Rectangle 3"/>
          <p:cNvSpPr/>
          <p:nvPr/>
        </p:nvSpPr>
        <p:spPr>
          <a:xfrm>
            <a:off x="304800" y="762000"/>
            <a:ext cx="5715000" cy="400110"/>
          </a:xfrm>
          <a:prstGeom prst="rect">
            <a:avLst/>
          </a:prstGeom>
        </p:spPr>
        <p:txBody>
          <a:bodyPr wrap="square">
            <a:spAutoFit/>
          </a:bodyPr>
          <a:lstStyle/>
          <a:p>
            <a:pPr>
              <a:buClr>
                <a:srgbClr val="333399"/>
              </a:buClr>
              <a:buSzPct val="200000"/>
            </a:pPr>
            <a:r>
              <a:rPr lang="en-US" altLang="en-US" sz="2000" dirty="0"/>
              <a:t>Often a </a:t>
            </a:r>
            <a:r>
              <a:rPr lang="en-US" altLang="en-US" sz="2000" b="1" dirty="0"/>
              <a:t>census</a:t>
            </a:r>
            <a:r>
              <a:rPr lang="en-US" altLang="en-US" sz="2000" dirty="0"/>
              <a:t> of the population </a:t>
            </a:r>
            <a:r>
              <a:rPr lang="en-US" altLang="en-US" sz="2000" b="1" dirty="0"/>
              <a:t>is</a:t>
            </a:r>
            <a:r>
              <a:rPr lang="en-US" altLang="en-US" sz="2000" dirty="0"/>
              <a:t> </a:t>
            </a:r>
            <a:r>
              <a:rPr lang="en-US" altLang="en-US" sz="2000" b="1" dirty="0"/>
              <a:t>impractical</a:t>
            </a:r>
            <a:r>
              <a:rPr lang="en-US" altLang="en-US" sz="2000" dirty="0"/>
              <a:t> so…</a:t>
            </a:r>
          </a:p>
        </p:txBody>
      </p:sp>
      <p:sp>
        <p:nvSpPr>
          <p:cNvPr id="7" name="Rectangle 6"/>
          <p:cNvSpPr/>
          <p:nvPr/>
        </p:nvSpPr>
        <p:spPr>
          <a:xfrm>
            <a:off x="304800" y="2227135"/>
            <a:ext cx="5334000" cy="707886"/>
          </a:xfrm>
          <a:prstGeom prst="rect">
            <a:avLst/>
          </a:prstGeom>
        </p:spPr>
        <p:txBody>
          <a:bodyPr wrap="square">
            <a:spAutoFit/>
          </a:bodyPr>
          <a:lstStyle/>
          <a:p>
            <a:pPr>
              <a:buClr>
                <a:srgbClr val="333399"/>
              </a:buClr>
              <a:buSzPct val="200000"/>
            </a:pPr>
            <a:r>
              <a:rPr lang="en-GB" altLang="en-US" sz="2000" dirty="0"/>
              <a:t>To make inferences, </a:t>
            </a:r>
            <a:r>
              <a:rPr lang="en-GB" altLang="en-US" sz="2000" b="1" dirty="0"/>
              <a:t>we need </a:t>
            </a:r>
            <a:r>
              <a:rPr lang="en-GB" altLang="en-US" sz="2000" dirty="0"/>
              <a:t>to take a </a:t>
            </a:r>
            <a:r>
              <a:rPr lang="en-GB" altLang="en-US" sz="2000" b="1" dirty="0"/>
              <a:t>random</a:t>
            </a:r>
            <a:r>
              <a:rPr lang="en-GB" altLang="en-US" sz="2000" dirty="0"/>
              <a:t> or probability </a:t>
            </a:r>
            <a:r>
              <a:rPr lang="en-GB" altLang="en-US" sz="2000" b="1" dirty="0"/>
              <a:t>sample</a:t>
            </a:r>
            <a:endParaRPr lang="en-US" altLang="en-US" sz="2000" b="1" dirty="0"/>
          </a:p>
        </p:txBody>
      </p:sp>
      <p:sp>
        <p:nvSpPr>
          <p:cNvPr id="6" name="Rectangle 5"/>
          <p:cNvSpPr/>
          <p:nvPr/>
        </p:nvSpPr>
        <p:spPr>
          <a:xfrm>
            <a:off x="304800" y="1334821"/>
            <a:ext cx="5410200" cy="707886"/>
          </a:xfrm>
          <a:prstGeom prst="rect">
            <a:avLst/>
          </a:prstGeom>
        </p:spPr>
        <p:txBody>
          <a:bodyPr wrap="square">
            <a:spAutoFit/>
          </a:bodyPr>
          <a:lstStyle/>
          <a:p>
            <a:pPr>
              <a:buClr>
                <a:srgbClr val="333399"/>
              </a:buClr>
              <a:buSzPct val="200000"/>
            </a:pPr>
            <a:r>
              <a:rPr lang="en-US" altLang="en-US" sz="2000" dirty="0"/>
              <a:t>We take a sample from the population and make </a:t>
            </a:r>
            <a:r>
              <a:rPr lang="en-US" altLang="en-US" sz="2000" b="1" dirty="0"/>
              <a:t>inferences</a:t>
            </a:r>
            <a:r>
              <a:rPr lang="en-US" altLang="en-US" sz="2000" dirty="0"/>
              <a:t> about the population</a:t>
            </a:r>
          </a:p>
        </p:txBody>
      </p:sp>
      <p:sp>
        <p:nvSpPr>
          <p:cNvPr id="3" name="Cloud Callout 2"/>
          <p:cNvSpPr/>
          <p:nvPr/>
        </p:nvSpPr>
        <p:spPr>
          <a:xfrm>
            <a:off x="6005862" y="811143"/>
            <a:ext cx="2743200" cy="1093857"/>
          </a:xfrm>
          <a:prstGeom prst="cloudCallout">
            <a:avLst>
              <a:gd name="adj1" fmla="val -64652"/>
              <a:gd name="adj2" fmla="val 4146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General Social Survey (GSS)</a:t>
            </a:r>
          </a:p>
        </p:txBody>
      </p:sp>
      <p:pic>
        <p:nvPicPr>
          <p:cNvPr id="5" name="Picture 4" descr="Students wearing mortarboards">
            <a:extLst>
              <a:ext uri="{FF2B5EF4-FFF2-40B4-BE49-F238E27FC236}">
                <a16:creationId xmlns:a16="http://schemas.microsoft.com/office/drawing/2014/main" id="{E2A9A01C-CC4D-394D-5FDD-B70AC5436BD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04800" y="3515120"/>
            <a:ext cx="2978342" cy="1675213"/>
          </a:xfrm>
          <a:prstGeom prst="rect">
            <a:avLst/>
          </a:prstGeom>
        </p:spPr>
      </p:pic>
      <p:pic>
        <p:nvPicPr>
          <p:cNvPr id="8" name="Picture 2" descr="Why Leeds is Britain's most underrated city">
            <a:extLst>
              <a:ext uri="{FF2B5EF4-FFF2-40B4-BE49-F238E27FC236}">
                <a16:creationId xmlns:a16="http://schemas.microsoft.com/office/drawing/2014/main" id="{F4E5C130-F286-8A5F-F9CC-42EC4127914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903638" y="3515506"/>
            <a:ext cx="2743200" cy="171450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Plastic containers in bright colors">
            <a:extLst>
              <a:ext uri="{FF2B5EF4-FFF2-40B4-BE49-F238E27FC236}">
                <a16:creationId xmlns:a16="http://schemas.microsoft.com/office/drawing/2014/main" id="{A4D4A951-7934-1F5B-1910-D4441675309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057033" y="4835271"/>
            <a:ext cx="2687115" cy="1792941"/>
          </a:xfrm>
          <a:prstGeom prst="rect">
            <a:avLst/>
          </a:prstGeom>
        </p:spPr>
      </p:pic>
    </p:spTree>
    <p:extLst>
      <p:ext uri="{BB962C8B-B14F-4D97-AF65-F5344CB8AC3E}">
        <p14:creationId xmlns:p14="http://schemas.microsoft.com/office/powerpoint/2010/main" val="9756116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 name="Group 50"/>
          <p:cNvGrpSpPr/>
          <p:nvPr/>
        </p:nvGrpSpPr>
        <p:grpSpPr>
          <a:xfrm>
            <a:off x="504825" y="3352800"/>
            <a:ext cx="8077200" cy="762000"/>
            <a:chOff x="76200" y="3933825"/>
            <a:chExt cx="8077200" cy="762000"/>
          </a:xfrm>
        </p:grpSpPr>
        <p:sp>
          <p:nvSpPr>
            <p:cNvPr id="52" name="Horizontal Scroll 51"/>
            <p:cNvSpPr/>
            <p:nvPr/>
          </p:nvSpPr>
          <p:spPr>
            <a:xfrm>
              <a:off x="76200" y="3933825"/>
              <a:ext cx="8077200" cy="762000"/>
            </a:xfrm>
            <a:prstGeom prst="horizontalScroll">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GB"/>
            </a:p>
          </p:txBody>
        </p:sp>
        <p:pic>
          <p:nvPicPr>
            <p:cNvPr id="53"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2987" y="4114800"/>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2" descr="http://images.clipartpanda.com/male-clipart-17738-male-desig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04800" y="4114800"/>
              <a:ext cx="176112" cy="395306"/>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58553" y="4114800"/>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2" descr="http://images.clipartpanda.com/male-clipart-17738-male-desig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60366" y="4114800"/>
              <a:ext cx="176112" cy="395306"/>
            </a:xfrm>
            <a:prstGeom prst="rect">
              <a:avLst/>
            </a:prstGeom>
            <a:noFill/>
            <a:extLst>
              <a:ext uri="{909E8E84-426E-40DD-AFC4-6F175D3DCCD1}">
                <a14:hiddenFill xmlns:a14="http://schemas.microsoft.com/office/drawing/2010/main">
                  <a:solidFill>
                    <a:srgbClr val="FFFFFF"/>
                  </a:solidFill>
                </a14:hiddenFill>
              </a:ext>
            </a:extLst>
          </p:spPr>
        </p:pic>
        <p:pic>
          <p:nvPicPr>
            <p:cNvPr id="57"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88787" y="4114800"/>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58"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44353" y="4114800"/>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59" name="Picture 2" descr="http://images.clipartpanda.com/male-clipart-17738-male-desig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46166" y="4114800"/>
              <a:ext cx="176112" cy="395306"/>
            </a:xfrm>
            <a:prstGeom prst="rect">
              <a:avLst/>
            </a:prstGeom>
            <a:noFill/>
            <a:extLst>
              <a:ext uri="{909E8E84-426E-40DD-AFC4-6F175D3DCCD1}">
                <a14:hiddenFill xmlns:a14="http://schemas.microsoft.com/office/drawing/2010/main">
                  <a:solidFill>
                    <a:srgbClr val="FFFFFF"/>
                  </a:solidFill>
                </a14:hiddenFill>
              </a:ext>
            </a:extLst>
          </p:spPr>
        </p:pic>
        <p:pic>
          <p:nvPicPr>
            <p:cNvPr id="60"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03187" y="4114800"/>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2" descr="http://images.clipartpanda.com/male-clipart-17738-male-desig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05000" y="4114800"/>
              <a:ext cx="176112" cy="395306"/>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58753" y="4114800"/>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63" name="Picture 2" descr="http://images.clipartpanda.com/male-clipart-17738-male-desig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360566" y="4114800"/>
              <a:ext cx="176112" cy="395306"/>
            </a:xfrm>
            <a:prstGeom prst="rect">
              <a:avLst/>
            </a:prstGeom>
            <a:noFill/>
            <a:extLst>
              <a:ext uri="{909E8E84-426E-40DD-AFC4-6F175D3DCCD1}">
                <a14:hiddenFill xmlns:a14="http://schemas.microsoft.com/office/drawing/2010/main">
                  <a:solidFill>
                    <a:srgbClr val="FFFFFF"/>
                  </a:solidFill>
                </a14:hiddenFill>
              </a:ext>
            </a:extLst>
          </p:spPr>
        </p:pic>
        <p:pic>
          <p:nvPicPr>
            <p:cNvPr id="64"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88987" y="4114800"/>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44553" y="4114800"/>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66" name="Picture 2" descr="http://images.clipartpanda.com/male-clipart-17738-male-desig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046366" y="4114800"/>
              <a:ext cx="176112" cy="395306"/>
            </a:xfrm>
            <a:prstGeom prst="rect">
              <a:avLst/>
            </a:prstGeom>
            <a:noFill/>
            <a:extLst>
              <a:ext uri="{909E8E84-426E-40DD-AFC4-6F175D3DCCD1}">
                <a14:hiddenFill xmlns:a14="http://schemas.microsoft.com/office/drawing/2010/main">
                  <a:solidFill>
                    <a:srgbClr val="FFFFFF"/>
                  </a:solidFill>
                </a14:hiddenFill>
              </a:ext>
            </a:extLst>
          </p:spPr>
        </p:pic>
        <p:pic>
          <p:nvPicPr>
            <p:cNvPr id="67"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03387" y="4114800"/>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68" name="Picture 2" descr="http://images.clipartpanda.com/male-clipart-17738-male-desig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505200" y="4114800"/>
              <a:ext cx="176112" cy="395306"/>
            </a:xfrm>
            <a:prstGeom prst="rect">
              <a:avLst/>
            </a:prstGeom>
            <a:noFill/>
            <a:extLst>
              <a:ext uri="{909E8E84-426E-40DD-AFC4-6F175D3DCCD1}">
                <a14:hiddenFill xmlns:a14="http://schemas.microsoft.com/office/drawing/2010/main">
                  <a:solidFill>
                    <a:srgbClr val="FFFFFF"/>
                  </a:solidFill>
                </a14:hiddenFill>
              </a:ext>
            </a:extLst>
          </p:spPr>
        </p:pic>
        <p:pic>
          <p:nvPicPr>
            <p:cNvPr id="69" name="Picture 2" descr="http://images.clipartpanda.com/male-clipart-17738-male-desig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960766" y="4114800"/>
              <a:ext cx="176112" cy="395306"/>
            </a:xfrm>
            <a:prstGeom prst="rect">
              <a:avLst/>
            </a:prstGeom>
            <a:noFill/>
            <a:extLst>
              <a:ext uri="{909E8E84-426E-40DD-AFC4-6F175D3DCCD1}">
                <a14:hiddenFill xmlns:a14="http://schemas.microsoft.com/office/drawing/2010/main">
                  <a:solidFill>
                    <a:srgbClr val="FFFFFF"/>
                  </a:solidFill>
                </a14:hiddenFill>
              </a:ext>
            </a:extLst>
          </p:spPr>
        </p:pic>
        <p:pic>
          <p:nvPicPr>
            <p:cNvPr id="70"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67109" y="4119396"/>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71" name="Picture 2" descr="http://images.clipartpanda.com/male-clipart-17738-male-desig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168922" y="4119396"/>
              <a:ext cx="176112" cy="395306"/>
            </a:xfrm>
            <a:prstGeom prst="rect">
              <a:avLst/>
            </a:prstGeom>
            <a:noFill/>
            <a:extLst>
              <a:ext uri="{909E8E84-426E-40DD-AFC4-6F175D3DCCD1}">
                <a14:hiddenFill xmlns:a14="http://schemas.microsoft.com/office/drawing/2010/main">
                  <a:solidFill>
                    <a:srgbClr val="FFFFFF"/>
                  </a:solidFill>
                </a14:hiddenFill>
              </a:ext>
            </a:extLst>
          </p:spPr>
        </p:pic>
        <p:pic>
          <p:nvPicPr>
            <p:cNvPr id="72"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22675" y="4119396"/>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73" name="Picture 2" descr="http://images.clipartpanda.com/male-clipart-17738-male-desig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24488" y="4119396"/>
              <a:ext cx="176112" cy="395306"/>
            </a:xfrm>
            <a:prstGeom prst="rect">
              <a:avLst/>
            </a:prstGeom>
            <a:noFill/>
            <a:extLst>
              <a:ext uri="{909E8E84-426E-40DD-AFC4-6F175D3DCCD1}">
                <a14:hiddenFill xmlns:a14="http://schemas.microsoft.com/office/drawing/2010/main">
                  <a:solidFill>
                    <a:srgbClr val="FFFFFF"/>
                  </a:solidFill>
                </a14:hiddenFill>
              </a:ext>
            </a:extLst>
          </p:spPr>
        </p:pic>
        <p:pic>
          <p:nvPicPr>
            <p:cNvPr id="74"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52909" y="4119396"/>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75"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08475" y="4119396"/>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76" name="Picture 2" descr="http://images.clipartpanda.com/male-clipart-17738-male-desig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310288" y="4119396"/>
              <a:ext cx="176112" cy="395306"/>
            </a:xfrm>
            <a:prstGeom prst="rect">
              <a:avLst/>
            </a:prstGeom>
            <a:noFill/>
            <a:extLst>
              <a:ext uri="{909E8E84-426E-40DD-AFC4-6F175D3DCCD1}">
                <a14:hiddenFill xmlns:a14="http://schemas.microsoft.com/office/drawing/2010/main">
                  <a:solidFill>
                    <a:srgbClr val="FFFFFF"/>
                  </a:solidFill>
                </a14:hiddenFill>
              </a:ext>
            </a:extLst>
          </p:spPr>
        </p:pic>
        <p:pic>
          <p:nvPicPr>
            <p:cNvPr id="77"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67309" y="4119396"/>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78" name="Picture 2" descr="http://images.clipartpanda.com/male-clipart-17738-male-desig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769122" y="4119396"/>
              <a:ext cx="176112" cy="395306"/>
            </a:xfrm>
            <a:prstGeom prst="rect">
              <a:avLst/>
            </a:prstGeom>
            <a:noFill/>
            <a:extLst>
              <a:ext uri="{909E8E84-426E-40DD-AFC4-6F175D3DCCD1}">
                <a14:hiddenFill xmlns:a14="http://schemas.microsoft.com/office/drawing/2010/main">
                  <a:solidFill>
                    <a:srgbClr val="FFFFFF"/>
                  </a:solidFill>
                </a14:hiddenFill>
              </a:ext>
            </a:extLst>
          </p:spPr>
        </p:pic>
        <p:pic>
          <p:nvPicPr>
            <p:cNvPr id="79"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22875" y="4119396"/>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80" name="Picture 2" descr="http://images.clipartpanda.com/male-clipart-17738-male-desig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224688" y="4119396"/>
              <a:ext cx="176112" cy="395306"/>
            </a:xfrm>
            <a:prstGeom prst="rect">
              <a:avLst/>
            </a:prstGeom>
            <a:noFill/>
            <a:extLst>
              <a:ext uri="{909E8E84-426E-40DD-AFC4-6F175D3DCCD1}">
                <a14:hiddenFill xmlns:a14="http://schemas.microsoft.com/office/drawing/2010/main">
                  <a:solidFill>
                    <a:srgbClr val="FFFFFF"/>
                  </a:solidFill>
                </a14:hiddenFill>
              </a:ext>
            </a:extLst>
          </p:spPr>
        </p:pic>
        <p:pic>
          <p:nvPicPr>
            <p:cNvPr id="81"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53109" y="4119396"/>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82"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08675" y="4119396"/>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83" name="Picture 2" descr="http://images.clipartpanda.com/male-clipart-17738-male-desig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10488" y="4119396"/>
              <a:ext cx="176112" cy="395306"/>
            </a:xfrm>
            <a:prstGeom prst="rect">
              <a:avLst/>
            </a:prstGeom>
            <a:noFill/>
            <a:extLst>
              <a:ext uri="{909E8E84-426E-40DD-AFC4-6F175D3DCCD1}">
                <a14:hiddenFill xmlns:a14="http://schemas.microsoft.com/office/drawing/2010/main">
                  <a:solidFill>
                    <a:srgbClr val="FFFFFF"/>
                  </a:solidFill>
                </a14:hiddenFill>
              </a:ext>
            </a:extLst>
          </p:spPr>
        </p:pic>
        <p:pic>
          <p:nvPicPr>
            <p:cNvPr id="84"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67509" y="4119396"/>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85" name="Picture 2" descr="http://images.clipartpanda.com/male-clipart-17738-male-desig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369322" y="4119396"/>
              <a:ext cx="176112" cy="395306"/>
            </a:xfrm>
            <a:prstGeom prst="rect">
              <a:avLst/>
            </a:prstGeom>
            <a:noFill/>
            <a:extLst>
              <a:ext uri="{909E8E84-426E-40DD-AFC4-6F175D3DCCD1}">
                <a14:hiddenFill xmlns:a14="http://schemas.microsoft.com/office/drawing/2010/main">
                  <a:solidFill>
                    <a:srgbClr val="FFFFFF"/>
                  </a:solidFill>
                </a14:hiddenFill>
              </a:ext>
            </a:extLst>
          </p:spPr>
        </p:pic>
        <p:pic>
          <p:nvPicPr>
            <p:cNvPr id="86" name="Picture 2" descr="http://images.clipartpanda.com/male-clipart-17738-male-desig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824888" y="4119396"/>
              <a:ext cx="176112" cy="39530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7" name="Group 46"/>
          <p:cNvGrpSpPr/>
          <p:nvPr/>
        </p:nvGrpSpPr>
        <p:grpSpPr>
          <a:xfrm>
            <a:off x="504825" y="4114800"/>
            <a:ext cx="8077200" cy="762000"/>
            <a:chOff x="504825" y="3962400"/>
            <a:chExt cx="8077200" cy="762000"/>
          </a:xfrm>
        </p:grpSpPr>
        <p:sp>
          <p:nvSpPr>
            <p:cNvPr id="7" name="Horizontal Scroll 6"/>
            <p:cNvSpPr/>
            <p:nvPr/>
          </p:nvSpPr>
          <p:spPr>
            <a:xfrm>
              <a:off x="504825" y="3962400"/>
              <a:ext cx="8077200" cy="762000"/>
            </a:xfrm>
            <a:prstGeom prst="horizontalScroll">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GB"/>
            </a:p>
          </p:txBody>
        </p:sp>
        <p:pic>
          <p:nvPicPr>
            <p:cNvPr id="11"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31612" y="4143375"/>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http://images.clipartpanda.com/male-clipart-17738-male-desig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33425" y="4143375"/>
              <a:ext cx="176112" cy="395306"/>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87178" y="4143375"/>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http://images.clipartpanda.com/male-clipart-17738-male-desig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88991" y="4143375"/>
              <a:ext cx="176112" cy="395306"/>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72953" y="4143375"/>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http://images.clipartpanda.com/male-clipart-17738-male-desig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674766" y="4143375"/>
              <a:ext cx="176112" cy="395306"/>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31787" y="4143375"/>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 descr="http://images.clipartpanda.com/male-clipart-17738-male-desig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133600" y="4143375"/>
              <a:ext cx="176112" cy="395306"/>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87353" y="4143375"/>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 descr="http://images.clipartpanda.com/male-clipart-17738-male-desig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589166" y="4143375"/>
              <a:ext cx="176112" cy="395306"/>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14800" y="4131477"/>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46187" y="4143375"/>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descr="http://images.clipartpanda.com/male-clipart-17738-male-desig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048000" y="4143375"/>
              <a:ext cx="176112" cy="395306"/>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05021" y="4143375"/>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 descr="http://images.clipartpanda.com/male-clipart-17738-male-desig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506834" y="4143375"/>
              <a:ext cx="176112" cy="395306"/>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 descr="http://images.clipartpanda.com/male-clipart-17738-male-desig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962400" y="4143375"/>
              <a:ext cx="176112" cy="395306"/>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41587" y="4147971"/>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 descr="http://images.clipartpanda.com/male-clipart-17738-male-desig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343400" y="4147971"/>
              <a:ext cx="176112" cy="395306"/>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97153" y="4147971"/>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 descr="http://images.clipartpanda.com/male-clipart-17738-male-desig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798966" y="4147971"/>
              <a:ext cx="176112" cy="395306"/>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62484" y="4147971"/>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18050" y="4147971"/>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2" descr="http://images.clipartpanda.com/male-clipart-17738-male-desig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719863" y="4147971"/>
              <a:ext cx="176112" cy="395306"/>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76884" y="4147971"/>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2" descr="http://images.clipartpanda.com/male-clipart-17738-male-desig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178697" y="4147971"/>
              <a:ext cx="176112" cy="395306"/>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32450" y="4147971"/>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2" descr="http://images.clipartpanda.com/male-clipart-17738-male-desig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634263" y="4147971"/>
              <a:ext cx="176112" cy="395306"/>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83153" y="4147971"/>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38719" y="4147971"/>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2" descr="http://images.clipartpanda.com/male-clipart-17738-male-desig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540532" y="4147971"/>
              <a:ext cx="176112" cy="395306"/>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97553" y="4147971"/>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2" descr="http://images.clipartpanda.com/male-clipart-17738-male-desig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99366" y="4147971"/>
              <a:ext cx="176112" cy="395306"/>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2" descr="http://images.clipartpanda.com/male-clipart-17738-male-desig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257800" y="4147971"/>
              <a:ext cx="176112" cy="395306"/>
            </a:xfrm>
            <a:prstGeom prst="rect">
              <a:avLst/>
            </a:prstGeom>
            <a:noFill/>
            <a:extLst>
              <a:ext uri="{909E8E84-426E-40DD-AFC4-6F175D3DCCD1}">
                <a14:hiddenFill xmlns:a14="http://schemas.microsoft.com/office/drawing/2010/main">
                  <a:solidFill>
                    <a:srgbClr val="FFFFFF"/>
                  </a:solidFill>
                </a14:hiddenFill>
              </a:ext>
            </a:extLst>
          </p:spPr>
        </p:pic>
        <p:pic>
          <p:nvPicPr>
            <p:cNvPr id="87" name="Picture 2" descr="http://images.clipartpanda.com/male-clipart-17738-male-desig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093608" y="4143375"/>
              <a:ext cx="176112" cy="39530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26" name="Group 125"/>
          <p:cNvGrpSpPr/>
          <p:nvPr/>
        </p:nvGrpSpPr>
        <p:grpSpPr>
          <a:xfrm>
            <a:off x="504825" y="4876800"/>
            <a:ext cx="8077200" cy="762000"/>
            <a:chOff x="609600" y="4953000"/>
            <a:chExt cx="8077200" cy="762000"/>
          </a:xfrm>
        </p:grpSpPr>
        <p:sp>
          <p:nvSpPr>
            <p:cNvPr id="127" name="Horizontal Scroll 126"/>
            <p:cNvSpPr/>
            <p:nvPr/>
          </p:nvSpPr>
          <p:spPr>
            <a:xfrm>
              <a:off x="609600" y="4953000"/>
              <a:ext cx="8077200" cy="762000"/>
            </a:xfrm>
            <a:prstGeom prst="horizontalScroll">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GB"/>
            </a:p>
          </p:txBody>
        </p:sp>
        <p:pic>
          <p:nvPicPr>
            <p:cNvPr id="128"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65229" y="5122077"/>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129"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91035" y="5122077"/>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130" name="Picture 2" descr="http://images.clipartpanda.com/male-clipart-17738-male-desig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519699" y="5124450"/>
              <a:ext cx="176112" cy="395306"/>
            </a:xfrm>
            <a:prstGeom prst="rect">
              <a:avLst/>
            </a:prstGeom>
            <a:noFill/>
            <a:extLst>
              <a:ext uri="{909E8E84-426E-40DD-AFC4-6F175D3DCCD1}">
                <a14:hiddenFill xmlns:a14="http://schemas.microsoft.com/office/drawing/2010/main">
                  <a:solidFill>
                    <a:srgbClr val="FFFFFF"/>
                  </a:solidFill>
                </a14:hiddenFill>
              </a:ext>
            </a:extLst>
          </p:spPr>
        </p:pic>
        <p:pic>
          <p:nvPicPr>
            <p:cNvPr id="131"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16841" y="5122077"/>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132" name="Picture 2" descr="http://images.clipartpanda.com/male-clipart-17738-male-desig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43507" y="5124450"/>
              <a:ext cx="176112" cy="395306"/>
            </a:xfrm>
            <a:prstGeom prst="rect">
              <a:avLst/>
            </a:prstGeom>
            <a:noFill/>
            <a:extLst>
              <a:ext uri="{909E8E84-426E-40DD-AFC4-6F175D3DCCD1}">
                <a14:hiddenFill xmlns:a14="http://schemas.microsoft.com/office/drawing/2010/main">
                  <a:solidFill>
                    <a:srgbClr val="FFFFFF"/>
                  </a:solidFill>
                </a14:hiddenFill>
              </a:ext>
            </a:extLst>
          </p:spPr>
        </p:pic>
        <p:pic>
          <p:nvPicPr>
            <p:cNvPr id="133"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42647" y="5122077"/>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134" name="Picture 2" descr="http://images.clipartpanda.com/male-clipart-17738-male-desig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14931" y="5124450"/>
              <a:ext cx="176112" cy="395306"/>
            </a:xfrm>
            <a:prstGeom prst="rect">
              <a:avLst/>
            </a:prstGeom>
            <a:noFill/>
            <a:extLst>
              <a:ext uri="{909E8E84-426E-40DD-AFC4-6F175D3DCCD1}">
                <a14:hiddenFill xmlns:a14="http://schemas.microsoft.com/office/drawing/2010/main">
                  <a:solidFill>
                    <a:srgbClr val="FFFFFF"/>
                  </a:solidFill>
                </a14:hiddenFill>
              </a:ext>
            </a:extLst>
          </p:spPr>
        </p:pic>
        <p:pic>
          <p:nvPicPr>
            <p:cNvPr id="135"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68453" y="5122077"/>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136" name="Picture 2" descr="http://images.clipartpanda.com/male-clipart-17738-male-desig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62547" y="5124450"/>
              <a:ext cx="176112" cy="395306"/>
            </a:xfrm>
            <a:prstGeom prst="rect">
              <a:avLst/>
            </a:prstGeom>
            <a:noFill/>
            <a:extLst>
              <a:ext uri="{909E8E84-426E-40DD-AFC4-6F175D3DCCD1}">
                <a14:hiddenFill xmlns:a14="http://schemas.microsoft.com/office/drawing/2010/main">
                  <a:solidFill>
                    <a:srgbClr val="FFFFFF"/>
                  </a:solidFill>
                </a14:hiddenFill>
              </a:ext>
            </a:extLst>
          </p:spPr>
        </p:pic>
        <p:pic>
          <p:nvPicPr>
            <p:cNvPr id="137"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82968" y="5122077"/>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138"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94259" y="5122077"/>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139" name="Picture 2" descr="http://images.clipartpanda.com/male-clipart-17738-male-desig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533971" y="5124450"/>
              <a:ext cx="176112" cy="395306"/>
            </a:xfrm>
            <a:prstGeom prst="rect">
              <a:avLst/>
            </a:prstGeom>
            <a:noFill/>
            <a:extLst>
              <a:ext uri="{909E8E84-426E-40DD-AFC4-6F175D3DCCD1}">
                <a14:hiddenFill xmlns:a14="http://schemas.microsoft.com/office/drawing/2010/main">
                  <a:solidFill>
                    <a:srgbClr val="FFFFFF"/>
                  </a:solidFill>
                </a14:hiddenFill>
              </a:ext>
            </a:extLst>
          </p:spPr>
        </p:pic>
        <p:pic>
          <p:nvPicPr>
            <p:cNvPr id="140"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08774" y="5122077"/>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141" name="Picture 2" descr="http://images.clipartpanda.com/male-clipart-17738-male-desig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981587" y="5124450"/>
              <a:ext cx="176112" cy="395306"/>
            </a:xfrm>
            <a:prstGeom prst="rect">
              <a:avLst/>
            </a:prstGeom>
            <a:noFill/>
            <a:extLst>
              <a:ext uri="{909E8E84-426E-40DD-AFC4-6F175D3DCCD1}">
                <a14:hiddenFill xmlns:a14="http://schemas.microsoft.com/office/drawing/2010/main">
                  <a:solidFill>
                    <a:srgbClr val="FFFFFF"/>
                  </a:solidFill>
                </a14:hiddenFill>
              </a:ext>
            </a:extLst>
          </p:spPr>
        </p:pic>
        <p:pic>
          <p:nvPicPr>
            <p:cNvPr id="142" name="Picture 2" descr="http://images.clipartpanda.com/male-clipart-17738-male-desig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05388" y="5124450"/>
              <a:ext cx="176112" cy="395306"/>
            </a:xfrm>
            <a:prstGeom prst="rect">
              <a:avLst/>
            </a:prstGeom>
            <a:noFill/>
            <a:extLst>
              <a:ext uri="{909E8E84-426E-40DD-AFC4-6F175D3DCCD1}">
                <a14:hiddenFill xmlns:a14="http://schemas.microsoft.com/office/drawing/2010/main">
                  <a:solidFill>
                    <a:srgbClr val="FFFFFF"/>
                  </a:solidFill>
                </a14:hiddenFill>
              </a:ext>
            </a:extLst>
          </p:spPr>
        </p:pic>
        <p:pic>
          <p:nvPicPr>
            <p:cNvPr id="143"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45871" y="5122077"/>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144" name="Picture 2" descr="http://images.clipartpanda.com/male-clipart-17738-male-desig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48275" y="5124450"/>
              <a:ext cx="176112" cy="395306"/>
            </a:xfrm>
            <a:prstGeom prst="rect">
              <a:avLst/>
            </a:prstGeom>
            <a:noFill/>
            <a:extLst>
              <a:ext uri="{909E8E84-426E-40DD-AFC4-6F175D3DCCD1}">
                <a14:hiddenFill xmlns:a14="http://schemas.microsoft.com/office/drawing/2010/main">
                  <a:solidFill>
                    <a:srgbClr val="FFFFFF"/>
                  </a:solidFill>
                </a14:hiddenFill>
              </a:ext>
            </a:extLst>
          </p:spPr>
        </p:pic>
        <p:pic>
          <p:nvPicPr>
            <p:cNvPr id="145"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20065" y="5122077"/>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146" name="Picture 2" descr="http://images.clipartpanda.com/male-clipart-17738-male-desig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72083" y="5124450"/>
              <a:ext cx="176112" cy="395306"/>
            </a:xfrm>
            <a:prstGeom prst="rect">
              <a:avLst/>
            </a:prstGeom>
            <a:noFill/>
            <a:extLst>
              <a:ext uri="{909E8E84-426E-40DD-AFC4-6F175D3DCCD1}">
                <a14:hiddenFill xmlns:a14="http://schemas.microsoft.com/office/drawing/2010/main">
                  <a:solidFill>
                    <a:srgbClr val="FFFFFF"/>
                  </a:solidFill>
                </a14:hiddenFill>
              </a:ext>
            </a:extLst>
          </p:spPr>
        </p:pic>
        <p:pic>
          <p:nvPicPr>
            <p:cNvPr id="147"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57162" y="5122077"/>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148"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31356" y="5122077"/>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149" name="Picture 2" descr="http://images.clipartpanda.com/male-clipart-17738-male-desig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67315" y="5124450"/>
              <a:ext cx="176112" cy="395306"/>
            </a:xfrm>
            <a:prstGeom prst="rect">
              <a:avLst/>
            </a:prstGeom>
            <a:noFill/>
            <a:extLst>
              <a:ext uri="{909E8E84-426E-40DD-AFC4-6F175D3DCCD1}">
                <a14:hiddenFill xmlns:a14="http://schemas.microsoft.com/office/drawing/2010/main">
                  <a:solidFill>
                    <a:srgbClr val="FFFFFF"/>
                  </a:solidFill>
                </a14:hiddenFill>
              </a:ext>
            </a:extLst>
          </p:spPr>
        </p:pic>
        <p:pic>
          <p:nvPicPr>
            <p:cNvPr id="150"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05550" y="5122077"/>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151" name="Picture 2" descr="http://images.clipartpanda.com/male-clipart-17738-male-desig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638739" y="5124450"/>
              <a:ext cx="176112" cy="395306"/>
            </a:xfrm>
            <a:prstGeom prst="rect">
              <a:avLst/>
            </a:prstGeom>
            <a:noFill/>
            <a:extLst>
              <a:ext uri="{909E8E84-426E-40DD-AFC4-6F175D3DCCD1}">
                <a14:hiddenFill xmlns:a14="http://schemas.microsoft.com/office/drawing/2010/main">
                  <a:solidFill>
                    <a:srgbClr val="FFFFFF"/>
                  </a:solidFill>
                </a14:hiddenFill>
              </a:ext>
            </a:extLst>
          </p:spPr>
        </p:pic>
        <p:pic>
          <p:nvPicPr>
            <p:cNvPr id="152"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79744" y="5122077"/>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153" name="Picture 2" descr="http://images.clipartpanda.com/male-clipart-17738-male-desig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086355" y="5124450"/>
              <a:ext cx="176112" cy="395306"/>
            </a:xfrm>
            <a:prstGeom prst="rect">
              <a:avLst/>
            </a:prstGeom>
            <a:noFill/>
            <a:extLst>
              <a:ext uri="{909E8E84-426E-40DD-AFC4-6F175D3DCCD1}">
                <a14:hiddenFill xmlns:a14="http://schemas.microsoft.com/office/drawing/2010/main">
                  <a:solidFill>
                    <a:srgbClr val="FFFFFF"/>
                  </a:solidFill>
                </a14:hiddenFill>
              </a:ext>
            </a:extLst>
          </p:spPr>
        </p:pic>
        <p:pic>
          <p:nvPicPr>
            <p:cNvPr id="154"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53938" y="5122077"/>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155"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28132" y="5122077"/>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156" name="Picture 2" descr="http://images.clipartpanda.com/male-clipart-17738-male-desig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10163" y="5124450"/>
              <a:ext cx="176112" cy="395306"/>
            </a:xfrm>
            <a:prstGeom prst="rect">
              <a:avLst/>
            </a:prstGeom>
            <a:noFill/>
            <a:extLst>
              <a:ext uri="{909E8E84-426E-40DD-AFC4-6F175D3DCCD1}">
                <a14:hiddenFill xmlns:a14="http://schemas.microsoft.com/office/drawing/2010/main">
                  <a:solidFill>
                    <a:srgbClr val="FFFFFF"/>
                  </a:solidFill>
                </a14:hiddenFill>
              </a:ext>
            </a:extLst>
          </p:spPr>
        </p:pic>
        <p:pic>
          <p:nvPicPr>
            <p:cNvPr id="157"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02328" y="5122077"/>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158" name="Picture 2" descr="http://images.clipartpanda.com/male-clipart-17738-male-desig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191123" y="5124450"/>
              <a:ext cx="176112" cy="395306"/>
            </a:xfrm>
            <a:prstGeom prst="rect">
              <a:avLst/>
            </a:prstGeom>
            <a:noFill/>
            <a:extLst>
              <a:ext uri="{909E8E84-426E-40DD-AFC4-6F175D3DCCD1}">
                <a14:hiddenFill xmlns:a14="http://schemas.microsoft.com/office/drawing/2010/main">
                  <a:solidFill>
                    <a:srgbClr val="FFFFFF"/>
                  </a:solidFill>
                </a14:hiddenFill>
              </a:ext>
            </a:extLst>
          </p:spPr>
        </p:pic>
        <p:pic>
          <p:nvPicPr>
            <p:cNvPr id="159" name="Picture 2" descr="http://images.clipartpanda.com/male-clipart-17738-male-desig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295891" y="5124450"/>
              <a:ext cx="176112" cy="395306"/>
            </a:xfrm>
            <a:prstGeom prst="rect">
              <a:avLst/>
            </a:prstGeom>
            <a:noFill/>
            <a:extLst>
              <a:ext uri="{909E8E84-426E-40DD-AFC4-6F175D3DCCD1}">
                <a14:hiddenFill xmlns:a14="http://schemas.microsoft.com/office/drawing/2010/main">
                  <a:solidFill>
                    <a:srgbClr val="FFFFFF"/>
                  </a:solidFill>
                </a14:hiddenFill>
              </a:ext>
            </a:extLst>
          </p:spPr>
        </p:pic>
        <p:pic>
          <p:nvPicPr>
            <p:cNvPr id="160" name="Picture 2" descr="http://images.clipartpanda.com/male-clipart-17738-male-desig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757779" y="5124450"/>
              <a:ext cx="176112" cy="395306"/>
            </a:xfrm>
            <a:prstGeom prst="rect">
              <a:avLst/>
            </a:prstGeom>
            <a:noFill/>
            <a:extLst>
              <a:ext uri="{909E8E84-426E-40DD-AFC4-6F175D3DCCD1}">
                <a14:hiddenFill xmlns:a14="http://schemas.microsoft.com/office/drawing/2010/main">
                  <a:solidFill>
                    <a:srgbClr val="FFFFFF"/>
                  </a:solidFill>
                </a14:hiddenFill>
              </a:ext>
            </a:extLst>
          </p:spPr>
        </p:pic>
      </p:grpSp>
      <p:sp>
        <p:nvSpPr>
          <p:cNvPr id="2" name="Title 1"/>
          <p:cNvSpPr>
            <a:spLocks noGrp="1"/>
          </p:cNvSpPr>
          <p:nvPr>
            <p:ph type="title"/>
          </p:nvPr>
        </p:nvSpPr>
        <p:spPr/>
        <p:txBody>
          <a:bodyPr/>
          <a:lstStyle/>
          <a:p>
            <a:r>
              <a:rPr lang="en-GB" dirty="0"/>
              <a:t>Types of sampling</a:t>
            </a:r>
          </a:p>
        </p:txBody>
      </p:sp>
      <p:sp>
        <p:nvSpPr>
          <p:cNvPr id="3" name="Text Placeholder 2"/>
          <p:cNvSpPr>
            <a:spLocks noGrp="1"/>
          </p:cNvSpPr>
          <p:nvPr>
            <p:ph type="body" idx="1"/>
          </p:nvPr>
        </p:nvSpPr>
        <p:spPr>
          <a:xfrm>
            <a:off x="457200" y="838200"/>
            <a:ext cx="4040188" cy="639762"/>
          </a:xfrm>
        </p:spPr>
        <p:style>
          <a:lnRef idx="2">
            <a:schemeClr val="accent3">
              <a:shade val="50000"/>
            </a:schemeClr>
          </a:lnRef>
          <a:fillRef idx="1">
            <a:schemeClr val="accent3"/>
          </a:fillRef>
          <a:effectRef idx="0">
            <a:schemeClr val="accent3"/>
          </a:effectRef>
          <a:fontRef idx="minor">
            <a:schemeClr val="lt1"/>
          </a:fontRef>
        </p:style>
        <p:txBody>
          <a:bodyPr/>
          <a:lstStyle/>
          <a:p>
            <a:r>
              <a:rPr lang="en-GB" dirty="0"/>
              <a:t>Probabilistic</a:t>
            </a:r>
          </a:p>
        </p:txBody>
      </p:sp>
      <p:sp>
        <p:nvSpPr>
          <p:cNvPr id="4" name="Content Placeholder 3"/>
          <p:cNvSpPr>
            <a:spLocks noGrp="1"/>
          </p:cNvSpPr>
          <p:nvPr>
            <p:ph sz="half" idx="2"/>
          </p:nvPr>
        </p:nvSpPr>
        <p:spPr>
          <a:xfrm>
            <a:off x="457200" y="1477962"/>
            <a:ext cx="4040188" cy="1798638"/>
          </a:xfrm>
        </p:spPr>
        <p:style>
          <a:lnRef idx="2">
            <a:schemeClr val="accent3"/>
          </a:lnRef>
          <a:fillRef idx="1">
            <a:schemeClr val="lt1"/>
          </a:fillRef>
          <a:effectRef idx="0">
            <a:schemeClr val="accent3"/>
          </a:effectRef>
          <a:fontRef idx="minor">
            <a:schemeClr val="dk1"/>
          </a:fontRef>
        </p:style>
        <p:txBody>
          <a:bodyPr/>
          <a:lstStyle/>
          <a:p>
            <a:r>
              <a:rPr lang="en-GB" dirty="0"/>
              <a:t>Simple Random</a:t>
            </a:r>
          </a:p>
          <a:p>
            <a:r>
              <a:rPr lang="en-GB" dirty="0"/>
              <a:t>Systematic</a:t>
            </a:r>
          </a:p>
          <a:p>
            <a:r>
              <a:rPr lang="en-GB" dirty="0"/>
              <a:t>Stratified</a:t>
            </a:r>
          </a:p>
          <a:p>
            <a:pPr lvl="1"/>
            <a:r>
              <a:rPr lang="en-GB" dirty="0"/>
              <a:t>Etc.</a:t>
            </a:r>
          </a:p>
        </p:txBody>
      </p:sp>
      <p:sp>
        <p:nvSpPr>
          <p:cNvPr id="5" name="Text Placeholder 4"/>
          <p:cNvSpPr>
            <a:spLocks noGrp="1"/>
          </p:cNvSpPr>
          <p:nvPr>
            <p:ph type="body" sz="quarter" idx="3"/>
          </p:nvPr>
        </p:nvSpPr>
        <p:spPr>
          <a:xfrm>
            <a:off x="4645025" y="838200"/>
            <a:ext cx="4041775" cy="639762"/>
          </a:xfrm>
        </p:spPr>
        <p:style>
          <a:lnRef idx="2">
            <a:schemeClr val="accent6">
              <a:shade val="50000"/>
            </a:schemeClr>
          </a:lnRef>
          <a:fillRef idx="1">
            <a:schemeClr val="accent6"/>
          </a:fillRef>
          <a:effectRef idx="0">
            <a:schemeClr val="accent6"/>
          </a:effectRef>
          <a:fontRef idx="minor">
            <a:schemeClr val="lt1"/>
          </a:fontRef>
        </p:style>
        <p:txBody>
          <a:bodyPr/>
          <a:lstStyle/>
          <a:p>
            <a:r>
              <a:rPr lang="en-GB" dirty="0"/>
              <a:t>Non-probabilistic</a:t>
            </a:r>
          </a:p>
        </p:txBody>
      </p:sp>
      <p:sp>
        <p:nvSpPr>
          <p:cNvPr id="6" name="Content Placeholder 5"/>
          <p:cNvSpPr>
            <a:spLocks noGrp="1"/>
          </p:cNvSpPr>
          <p:nvPr>
            <p:ph sz="quarter" idx="4"/>
          </p:nvPr>
        </p:nvSpPr>
        <p:spPr>
          <a:xfrm>
            <a:off x="4645025" y="1477962"/>
            <a:ext cx="4041775" cy="1798638"/>
          </a:xfrm>
        </p:spPr>
        <p:style>
          <a:lnRef idx="2">
            <a:schemeClr val="accent6"/>
          </a:lnRef>
          <a:fillRef idx="1">
            <a:schemeClr val="lt1"/>
          </a:fillRef>
          <a:effectRef idx="0">
            <a:schemeClr val="accent6"/>
          </a:effectRef>
          <a:fontRef idx="minor">
            <a:schemeClr val="dk1"/>
          </a:fontRef>
        </p:style>
        <p:txBody>
          <a:bodyPr/>
          <a:lstStyle/>
          <a:p>
            <a:r>
              <a:rPr lang="en-GB" dirty="0"/>
              <a:t>Convenience</a:t>
            </a:r>
          </a:p>
          <a:p>
            <a:r>
              <a:rPr lang="en-GB" dirty="0"/>
              <a:t>Judgment</a:t>
            </a:r>
          </a:p>
          <a:p>
            <a:r>
              <a:rPr lang="en-GB" dirty="0"/>
              <a:t>Snowball</a:t>
            </a:r>
          </a:p>
          <a:p>
            <a:pPr lvl="1"/>
            <a:r>
              <a:rPr lang="en-GB" dirty="0"/>
              <a:t>Etc.</a:t>
            </a:r>
          </a:p>
        </p:txBody>
      </p:sp>
      <p:sp>
        <p:nvSpPr>
          <p:cNvPr id="10" name="&quot;No&quot; Symbol 9"/>
          <p:cNvSpPr/>
          <p:nvPr/>
        </p:nvSpPr>
        <p:spPr>
          <a:xfrm>
            <a:off x="6462796" y="1371600"/>
            <a:ext cx="2186089" cy="2133600"/>
          </a:xfrm>
          <a:prstGeom prst="noSmoking">
            <a:avLst>
              <a:gd name="adj" fmla="val 8480"/>
            </a:avLst>
          </a:prstGeom>
          <a:solidFill>
            <a:schemeClr val="accent2">
              <a:lumMod val="40000"/>
              <a:lumOff val="60000"/>
            </a:schemeClr>
          </a:solidFill>
          <a:ln>
            <a:solidFill>
              <a:schemeClr val="accent2">
                <a:lumMod val="40000"/>
                <a:lumOff val="6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solidFill>
                <a:schemeClr val="tx1"/>
              </a:solidFill>
            </a:endParaRPr>
          </a:p>
        </p:txBody>
      </p:sp>
      <p:sp>
        <p:nvSpPr>
          <p:cNvPr id="46" name="Rectangle 45"/>
          <p:cNvSpPr/>
          <p:nvPr/>
        </p:nvSpPr>
        <p:spPr>
          <a:xfrm rot="19736708">
            <a:off x="6332815" y="2126198"/>
            <a:ext cx="2503186" cy="707886"/>
          </a:xfrm>
          <a:prstGeom prst="rect">
            <a:avLst/>
          </a:prstGeom>
        </p:spPr>
        <p:txBody>
          <a:bodyPr wrap="none">
            <a:spAutoFit/>
          </a:bodyPr>
          <a:lstStyle/>
          <a:p>
            <a:pPr algn="ctr"/>
            <a:r>
              <a:rPr lang="en-GB" sz="2000" b="1" dirty="0">
                <a:solidFill>
                  <a:srgbClr val="FF0000"/>
                </a:solidFill>
              </a:rPr>
              <a:t>Not good for inferring</a:t>
            </a:r>
          </a:p>
          <a:p>
            <a:pPr algn="ctr"/>
            <a:r>
              <a:rPr lang="en-GB" sz="2000" b="1" dirty="0">
                <a:solidFill>
                  <a:srgbClr val="FF0000"/>
                </a:solidFill>
              </a:rPr>
              <a:t>about population</a:t>
            </a:r>
          </a:p>
        </p:txBody>
      </p:sp>
      <p:sp>
        <p:nvSpPr>
          <p:cNvPr id="49" name="Rounded Rectangle 48"/>
          <p:cNvSpPr/>
          <p:nvPr/>
        </p:nvSpPr>
        <p:spPr>
          <a:xfrm>
            <a:off x="923925" y="3390900"/>
            <a:ext cx="259504" cy="685800"/>
          </a:xfrm>
          <a:prstGeom prst="roundRect">
            <a:avLst/>
          </a:prstGeom>
          <a:noFill/>
          <a:ln w="38100">
            <a:solidFill>
              <a:srgbClr val="00B050"/>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GB"/>
          </a:p>
        </p:txBody>
      </p:sp>
      <p:sp>
        <p:nvSpPr>
          <p:cNvPr id="163" name="Rounded Rectangle 162"/>
          <p:cNvSpPr/>
          <p:nvPr/>
        </p:nvSpPr>
        <p:spPr>
          <a:xfrm>
            <a:off x="4121996" y="3390900"/>
            <a:ext cx="259504" cy="685800"/>
          </a:xfrm>
          <a:prstGeom prst="roundRect">
            <a:avLst/>
          </a:prstGeom>
          <a:noFill/>
          <a:ln w="38100">
            <a:solidFill>
              <a:srgbClr val="00B050"/>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GB"/>
          </a:p>
        </p:txBody>
      </p:sp>
      <p:sp>
        <p:nvSpPr>
          <p:cNvPr id="164" name="Rounded Rectangle 163"/>
          <p:cNvSpPr/>
          <p:nvPr/>
        </p:nvSpPr>
        <p:spPr>
          <a:xfrm>
            <a:off x="2752725" y="3390900"/>
            <a:ext cx="259504" cy="685800"/>
          </a:xfrm>
          <a:prstGeom prst="roundRect">
            <a:avLst/>
          </a:prstGeom>
          <a:noFill/>
          <a:ln w="38100">
            <a:solidFill>
              <a:srgbClr val="00B050"/>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GB"/>
          </a:p>
        </p:txBody>
      </p:sp>
      <p:sp>
        <p:nvSpPr>
          <p:cNvPr id="165" name="Rounded Rectangle 164"/>
          <p:cNvSpPr/>
          <p:nvPr/>
        </p:nvSpPr>
        <p:spPr>
          <a:xfrm>
            <a:off x="7760546" y="3390900"/>
            <a:ext cx="259504" cy="685800"/>
          </a:xfrm>
          <a:prstGeom prst="roundRect">
            <a:avLst/>
          </a:prstGeom>
          <a:noFill/>
          <a:ln w="38100">
            <a:solidFill>
              <a:srgbClr val="00B050"/>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GB"/>
          </a:p>
        </p:txBody>
      </p:sp>
      <p:sp>
        <p:nvSpPr>
          <p:cNvPr id="166" name="Rounded Rectangle 165"/>
          <p:cNvSpPr/>
          <p:nvPr/>
        </p:nvSpPr>
        <p:spPr>
          <a:xfrm>
            <a:off x="5019675" y="3390900"/>
            <a:ext cx="259504" cy="685800"/>
          </a:xfrm>
          <a:prstGeom prst="roundRect">
            <a:avLst/>
          </a:prstGeom>
          <a:noFill/>
          <a:ln w="38100">
            <a:solidFill>
              <a:srgbClr val="00B050"/>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GB"/>
          </a:p>
        </p:txBody>
      </p:sp>
      <p:sp>
        <p:nvSpPr>
          <p:cNvPr id="167" name="Rounded Rectangle 166"/>
          <p:cNvSpPr/>
          <p:nvPr/>
        </p:nvSpPr>
        <p:spPr>
          <a:xfrm>
            <a:off x="1607396" y="3390900"/>
            <a:ext cx="259504" cy="685800"/>
          </a:xfrm>
          <a:prstGeom prst="roundRect">
            <a:avLst/>
          </a:prstGeom>
          <a:noFill/>
          <a:ln w="38100">
            <a:solidFill>
              <a:srgbClr val="00B050"/>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GB"/>
          </a:p>
        </p:txBody>
      </p:sp>
      <p:sp>
        <p:nvSpPr>
          <p:cNvPr id="168" name="Rounded Rectangle 167"/>
          <p:cNvSpPr/>
          <p:nvPr/>
        </p:nvSpPr>
        <p:spPr>
          <a:xfrm>
            <a:off x="1143000" y="4152900"/>
            <a:ext cx="259504" cy="685800"/>
          </a:xfrm>
          <a:prstGeom prst="roundRect">
            <a:avLst/>
          </a:prstGeom>
          <a:noFill/>
          <a:ln w="38100">
            <a:solidFill>
              <a:srgbClr val="00B050"/>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GB"/>
          </a:p>
        </p:txBody>
      </p:sp>
      <p:sp>
        <p:nvSpPr>
          <p:cNvPr id="169" name="Rounded Rectangle 168"/>
          <p:cNvSpPr/>
          <p:nvPr/>
        </p:nvSpPr>
        <p:spPr>
          <a:xfrm>
            <a:off x="2540846" y="4152900"/>
            <a:ext cx="259504" cy="685800"/>
          </a:xfrm>
          <a:prstGeom prst="roundRect">
            <a:avLst/>
          </a:prstGeom>
          <a:noFill/>
          <a:ln w="38100">
            <a:solidFill>
              <a:srgbClr val="00B050"/>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GB"/>
          </a:p>
        </p:txBody>
      </p:sp>
      <p:sp>
        <p:nvSpPr>
          <p:cNvPr id="170" name="Rounded Rectangle 169"/>
          <p:cNvSpPr/>
          <p:nvPr/>
        </p:nvSpPr>
        <p:spPr>
          <a:xfrm>
            <a:off x="3921971" y="4152900"/>
            <a:ext cx="259504" cy="685800"/>
          </a:xfrm>
          <a:prstGeom prst="roundRect">
            <a:avLst/>
          </a:prstGeom>
          <a:noFill/>
          <a:ln w="38100">
            <a:solidFill>
              <a:srgbClr val="00B050"/>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GB"/>
          </a:p>
        </p:txBody>
      </p:sp>
      <p:sp>
        <p:nvSpPr>
          <p:cNvPr id="171" name="Rounded Rectangle 170"/>
          <p:cNvSpPr/>
          <p:nvPr/>
        </p:nvSpPr>
        <p:spPr>
          <a:xfrm>
            <a:off x="5217371" y="4152900"/>
            <a:ext cx="259504" cy="685800"/>
          </a:xfrm>
          <a:prstGeom prst="roundRect">
            <a:avLst/>
          </a:prstGeom>
          <a:noFill/>
          <a:ln w="38100">
            <a:solidFill>
              <a:srgbClr val="00B050"/>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GB"/>
          </a:p>
        </p:txBody>
      </p:sp>
      <p:sp>
        <p:nvSpPr>
          <p:cNvPr id="172" name="Rounded Rectangle 171"/>
          <p:cNvSpPr/>
          <p:nvPr/>
        </p:nvSpPr>
        <p:spPr>
          <a:xfrm>
            <a:off x="6598496" y="4152900"/>
            <a:ext cx="259504" cy="685800"/>
          </a:xfrm>
          <a:prstGeom prst="roundRect">
            <a:avLst/>
          </a:prstGeom>
          <a:noFill/>
          <a:ln w="38100">
            <a:solidFill>
              <a:srgbClr val="00B050"/>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GB"/>
          </a:p>
        </p:txBody>
      </p:sp>
      <p:sp>
        <p:nvSpPr>
          <p:cNvPr id="173" name="Rounded Rectangle 172"/>
          <p:cNvSpPr/>
          <p:nvPr/>
        </p:nvSpPr>
        <p:spPr>
          <a:xfrm>
            <a:off x="7960571" y="4152900"/>
            <a:ext cx="259504" cy="685800"/>
          </a:xfrm>
          <a:prstGeom prst="roundRect">
            <a:avLst/>
          </a:prstGeom>
          <a:noFill/>
          <a:ln w="38100">
            <a:solidFill>
              <a:srgbClr val="00B050"/>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GB"/>
          </a:p>
        </p:txBody>
      </p:sp>
      <p:sp>
        <p:nvSpPr>
          <p:cNvPr id="174" name="Rounded Rectangle 173"/>
          <p:cNvSpPr/>
          <p:nvPr/>
        </p:nvSpPr>
        <p:spPr>
          <a:xfrm>
            <a:off x="2940896" y="4914900"/>
            <a:ext cx="259504" cy="685800"/>
          </a:xfrm>
          <a:prstGeom prst="roundRect">
            <a:avLst/>
          </a:prstGeom>
          <a:noFill/>
          <a:ln w="38100">
            <a:solidFill>
              <a:srgbClr val="00B050"/>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GB"/>
          </a:p>
        </p:txBody>
      </p:sp>
      <p:sp>
        <p:nvSpPr>
          <p:cNvPr id="175" name="Rounded Rectangle 174"/>
          <p:cNvSpPr/>
          <p:nvPr/>
        </p:nvSpPr>
        <p:spPr>
          <a:xfrm>
            <a:off x="1828800" y="4914900"/>
            <a:ext cx="259504" cy="685800"/>
          </a:xfrm>
          <a:prstGeom prst="roundRect">
            <a:avLst/>
          </a:prstGeom>
          <a:noFill/>
          <a:ln w="38100">
            <a:solidFill>
              <a:srgbClr val="00B050"/>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GB"/>
          </a:p>
        </p:txBody>
      </p:sp>
      <p:sp>
        <p:nvSpPr>
          <p:cNvPr id="176" name="Rounded Rectangle 175"/>
          <p:cNvSpPr/>
          <p:nvPr/>
        </p:nvSpPr>
        <p:spPr>
          <a:xfrm>
            <a:off x="3836246" y="4914900"/>
            <a:ext cx="259504" cy="685800"/>
          </a:xfrm>
          <a:prstGeom prst="roundRect">
            <a:avLst/>
          </a:prstGeom>
          <a:noFill/>
          <a:ln w="38100">
            <a:solidFill>
              <a:srgbClr val="00B050"/>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GB"/>
          </a:p>
        </p:txBody>
      </p:sp>
      <p:sp>
        <p:nvSpPr>
          <p:cNvPr id="177" name="Rounded Rectangle 176"/>
          <p:cNvSpPr/>
          <p:nvPr/>
        </p:nvSpPr>
        <p:spPr>
          <a:xfrm>
            <a:off x="4874471" y="4914900"/>
            <a:ext cx="259504" cy="685800"/>
          </a:xfrm>
          <a:prstGeom prst="roundRect">
            <a:avLst/>
          </a:prstGeom>
          <a:noFill/>
          <a:ln w="38100">
            <a:solidFill>
              <a:srgbClr val="00B050"/>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GB"/>
          </a:p>
        </p:txBody>
      </p:sp>
      <p:sp>
        <p:nvSpPr>
          <p:cNvPr id="178" name="Rounded Rectangle 177"/>
          <p:cNvSpPr/>
          <p:nvPr/>
        </p:nvSpPr>
        <p:spPr>
          <a:xfrm>
            <a:off x="8189171" y="4914900"/>
            <a:ext cx="259504" cy="685800"/>
          </a:xfrm>
          <a:prstGeom prst="roundRect">
            <a:avLst/>
          </a:prstGeom>
          <a:noFill/>
          <a:ln w="38100">
            <a:solidFill>
              <a:srgbClr val="00B050"/>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GB"/>
          </a:p>
        </p:txBody>
      </p:sp>
      <p:sp>
        <p:nvSpPr>
          <p:cNvPr id="179" name="Rounded Rectangle 178"/>
          <p:cNvSpPr/>
          <p:nvPr/>
        </p:nvSpPr>
        <p:spPr>
          <a:xfrm>
            <a:off x="6772275" y="4914900"/>
            <a:ext cx="259504" cy="685800"/>
          </a:xfrm>
          <a:prstGeom prst="roundRect">
            <a:avLst/>
          </a:prstGeom>
          <a:noFill/>
          <a:ln w="38100">
            <a:solidFill>
              <a:srgbClr val="00B050"/>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GB"/>
          </a:p>
        </p:txBody>
      </p:sp>
    </p:spTree>
    <p:extLst>
      <p:ext uri="{BB962C8B-B14F-4D97-AF65-F5344CB8AC3E}">
        <p14:creationId xmlns:p14="http://schemas.microsoft.com/office/powerpoint/2010/main" val="1803225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163"/>
                                        </p:tgtEl>
                                        <p:attrNameLst>
                                          <p:attrName>style.visibility</p:attrName>
                                        </p:attrNameLst>
                                      </p:cBhvr>
                                      <p:to>
                                        <p:strVal val="visible"/>
                                      </p:to>
                                    </p:set>
                                    <p:animEffect transition="in" filter="wheel(1)">
                                      <p:cBhvr>
                                        <p:cTn id="12" dur="500"/>
                                        <p:tgtEl>
                                          <p:spTgt spid="163"/>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grpId="0" nodeType="clickEffect">
                                  <p:stCondLst>
                                    <p:cond delay="0"/>
                                  </p:stCondLst>
                                  <p:childTnLst>
                                    <p:set>
                                      <p:cBhvr>
                                        <p:cTn id="16" dur="1" fill="hold">
                                          <p:stCondLst>
                                            <p:cond delay="0"/>
                                          </p:stCondLst>
                                        </p:cTn>
                                        <p:tgtEl>
                                          <p:spTgt spid="49"/>
                                        </p:tgtEl>
                                        <p:attrNameLst>
                                          <p:attrName>style.visibility</p:attrName>
                                        </p:attrNameLst>
                                      </p:cBhvr>
                                      <p:to>
                                        <p:strVal val="visible"/>
                                      </p:to>
                                    </p:set>
                                    <p:animEffect transition="in" filter="wheel(1)">
                                      <p:cBhvr>
                                        <p:cTn id="17" dur="500"/>
                                        <p:tgtEl>
                                          <p:spTgt spid="49"/>
                                        </p:tgtEl>
                                      </p:cBhvr>
                                    </p:animEffect>
                                  </p:childTnLst>
                                </p:cTn>
                              </p:par>
                            </p:childTnLst>
                          </p:cTn>
                        </p:par>
                        <p:par>
                          <p:cTn id="18" fill="hold">
                            <p:stCondLst>
                              <p:cond delay="500"/>
                            </p:stCondLst>
                            <p:childTnLst>
                              <p:par>
                                <p:cTn id="19" presetID="21" presetClass="entr" presetSubtype="1" fill="hold" grpId="0" nodeType="afterEffect">
                                  <p:stCondLst>
                                    <p:cond delay="0"/>
                                  </p:stCondLst>
                                  <p:childTnLst>
                                    <p:set>
                                      <p:cBhvr>
                                        <p:cTn id="20" dur="1" fill="hold">
                                          <p:stCondLst>
                                            <p:cond delay="0"/>
                                          </p:stCondLst>
                                        </p:cTn>
                                        <p:tgtEl>
                                          <p:spTgt spid="166"/>
                                        </p:tgtEl>
                                        <p:attrNameLst>
                                          <p:attrName>style.visibility</p:attrName>
                                        </p:attrNameLst>
                                      </p:cBhvr>
                                      <p:to>
                                        <p:strVal val="visible"/>
                                      </p:to>
                                    </p:set>
                                    <p:animEffect transition="in" filter="wheel(1)">
                                      <p:cBhvr>
                                        <p:cTn id="21" dur="500"/>
                                        <p:tgtEl>
                                          <p:spTgt spid="166"/>
                                        </p:tgtEl>
                                      </p:cBhvr>
                                    </p:animEffect>
                                  </p:childTnLst>
                                </p:cTn>
                              </p:par>
                            </p:childTnLst>
                          </p:cTn>
                        </p:par>
                        <p:par>
                          <p:cTn id="22" fill="hold">
                            <p:stCondLst>
                              <p:cond delay="1000"/>
                            </p:stCondLst>
                            <p:childTnLst>
                              <p:par>
                                <p:cTn id="23" presetID="21" presetClass="entr" presetSubtype="1" fill="hold" grpId="0" nodeType="afterEffect">
                                  <p:stCondLst>
                                    <p:cond delay="0"/>
                                  </p:stCondLst>
                                  <p:childTnLst>
                                    <p:set>
                                      <p:cBhvr>
                                        <p:cTn id="24" dur="1" fill="hold">
                                          <p:stCondLst>
                                            <p:cond delay="0"/>
                                          </p:stCondLst>
                                        </p:cTn>
                                        <p:tgtEl>
                                          <p:spTgt spid="165"/>
                                        </p:tgtEl>
                                        <p:attrNameLst>
                                          <p:attrName>style.visibility</p:attrName>
                                        </p:attrNameLst>
                                      </p:cBhvr>
                                      <p:to>
                                        <p:strVal val="visible"/>
                                      </p:to>
                                    </p:set>
                                    <p:animEffect transition="in" filter="wheel(1)">
                                      <p:cBhvr>
                                        <p:cTn id="25" dur="500"/>
                                        <p:tgtEl>
                                          <p:spTgt spid="165"/>
                                        </p:tgtEl>
                                      </p:cBhvr>
                                    </p:animEffect>
                                  </p:childTnLst>
                                </p:cTn>
                              </p:par>
                            </p:childTnLst>
                          </p:cTn>
                        </p:par>
                        <p:par>
                          <p:cTn id="26" fill="hold">
                            <p:stCondLst>
                              <p:cond delay="1500"/>
                            </p:stCondLst>
                            <p:childTnLst>
                              <p:par>
                                <p:cTn id="27" presetID="21" presetClass="entr" presetSubtype="1" fill="hold" grpId="0" nodeType="afterEffect">
                                  <p:stCondLst>
                                    <p:cond delay="0"/>
                                  </p:stCondLst>
                                  <p:childTnLst>
                                    <p:set>
                                      <p:cBhvr>
                                        <p:cTn id="28" dur="1" fill="hold">
                                          <p:stCondLst>
                                            <p:cond delay="0"/>
                                          </p:stCondLst>
                                        </p:cTn>
                                        <p:tgtEl>
                                          <p:spTgt spid="164"/>
                                        </p:tgtEl>
                                        <p:attrNameLst>
                                          <p:attrName>style.visibility</p:attrName>
                                        </p:attrNameLst>
                                      </p:cBhvr>
                                      <p:to>
                                        <p:strVal val="visible"/>
                                      </p:to>
                                    </p:set>
                                    <p:animEffect transition="in" filter="wheel(1)">
                                      <p:cBhvr>
                                        <p:cTn id="29" dur="500"/>
                                        <p:tgtEl>
                                          <p:spTgt spid="164"/>
                                        </p:tgtEl>
                                      </p:cBhvr>
                                    </p:animEffect>
                                  </p:childTnLst>
                                </p:cTn>
                              </p:par>
                            </p:childTnLst>
                          </p:cTn>
                        </p:par>
                        <p:par>
                          <p:cTn id="30" fill="hold">
                            <p:stCondLst>
                              <p:cond delay="2000"/>
                            </p:stCondLst>
                            <p:childTnLst>
                              <p:par>
                                <p:cTn id="31" presetID="21" presetClass="entr" presetSubtype="1" fill="hold" grpId="0" nodeType="afterEffect">
                                  <p:stCondLst>
                                    <p:cond delay="0"/>
                                  </p:stCondLst>
                                  <p:childTnLst>
                                    <p:set>
                                      <p:cBhvr>
                                        <p:cTn id="32" dur="1" fill="hold">
                                          <p:stCondLst>
                                            <p:cond delay="0"/>
                                          </p:stCondLst>
                                        </p:cTn>
                                        <p:tgtEl>
                                          <p:spTgt spid="167"/>
                                        </p:tgtEl>
                                        <p:attrNameLst>
                                          <p:attrName>style.visibility</p:attrName>
                                        </p:attrNameLst>
                                      </p:cBhvr>
                                      <p:to>
                                        <p:strVal val="visible"/>
                                      </p:to>
                                    </p:set>
                                    <p:animEffect transition="in" filter="wheel(1)">
                                      <p:cBhvr>
                                        <p:cTn id="33" dur="500"/>
                                        <p:tgtEl>
                                          <p:spTgt spid="167"/>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4">
                                            <p:txEl>
                                              <p:pRg st="1" end="1"/>
                                            </p:txEl>
                                          </p:spTgt>
                                        </p:tgtEl>
                                        <p:attrNameLst>
                                          <p:attrName>style.visibility</p:attrName>
                                        </p:attrNameLst>
                                      </p:cBhvr>
                                      <p:to>
                                        <p:strVal val="visible"/>
                                      </p:to>
                                    </p:set>
                                    <p:animEffect transition="in" filter="fade">
                                      <p:cBhvr>
                                        <p:cTn id="38" dur="500"/>
                                        <p:tgtEl>
                                          <p:spTgt spid="4">
                                            <p:txEl>
                                              <p:pRg st="1" end="1"/>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47"/>
                                        </p:tgtEl>
                                        <p:attrNameLst>
                                          <p:attrName>style.visibility</p:attrName>
                                        </p:attrNameLst>
                                      </p:cBhvr>
                                      <p:to>
                                        <p:strVal val="visible"/>
                                      </p:to>
                                    </p:set>
                                    <p:animEffect transition="in" filter="fade">
                                      <p:cBhvr>
                                        <p:cTn id="43" dur="500"/>
                                        <p:tgtEl>
                                          <p:spTgt spid="47"/>
                                        </p:tgtEl>
                                      </p:cBhvr>
                                    </p:animEffect>
                                  </p:childTnLst>
                                </p:cTn>
                              </p:par>
                            </p:childTnLst>
                          </p:cTn>
                        </p:par>
                      </p:childTnLst>
                    </p:cTn>
                  </p:par>
                  <p:par>
                    <p:cTn id="44" fill="hold">
                      <p:stCondLst>
                        <p:cond delay="indefinite"/>
                      </p:stCondLst>
                      <p:childTnLst>
                        <p:par>
                          <p:cTn id="45" fill="hold">
                            <p:stCondLst>
                              <p:cond delay="0"/>
                            </p:stCondLst>
                            <p:childTnLst>
                              <p:par>
                                <p:cTn id="46" presetID="21" presetClass="entr" presetSubtype="1" fill="hold" grpId="0" nodeType="clickEffect">
                                  <p:stCondLst>
                                    <p:cond delay="0"/>
                                  </p:stCondLst>
                                  <p:childTnLst>
                                    <p:set>
                                      <p:cBhvr>
                                        <p:cTn id="47" dur="1" fill="hold">
                                          <p:stCondLst>
                                            <p:cond delay="0"/>
                                          </p:stCondLst>
                                        </p:cTn>
                                        <p:tgtEl>
                                          <p:spTgt spid="168"/>
                                        </p:tgtEl>
                                        <p:attrNameLst>
                                          <p:attrName>style.visibility</p:attrName>
                                        </p:attrNameLst>
                                      </p:cBhvr>
                                      <p:to>
                                        <p:strVal val="visible"/>
                                      </p:to>
                                    </p:set>
                                    <p:animEffect transition="in" filter="wheel(1)">
                                      <p:cBhvr>
                                        <p:cTn id="48" dur="500"/>
                                        <p:tgtEl>
                                          <p:spTgt spid="168"/>
                                        </p:tgtEl>
                                      </p:cBhvr>
                                    </p:animEffect>
                                  </p:childTnLst>
                                </p:cTn>
                              </p:par>
                            </p:childTnLst>
                          </p:cTn>
                        </p:par>
                      </p:childTnLst>
                    </p:cTn>
                  </p:par>
                  <p:par>
                    <p:cTn id="49" fill="hold">
                      <p:stCondLst>
                        <p:cond delay="indefinite"/>
                      </p:stCondLst>
                      <p:childTnLst>
                        <p:par>
                          <p:cTn id="50" fill="hold">
                            <p:stCondLst>
                              <p:cond delay="0"/>
                            </p:stCondLst>
                            <p:childTnLst>
                              <p:par>
                                <p:cTn id="51" presetID="21" presetClass="entr" presetSubtype="1" fill="hold" grpId="0" nodeType="clickEffect">
                                  <p:stCondLst>
                                    <p:cond delay="0"/>
                                  </p:stCondLst>
                                  <p:childTnLst>
                                    <p:set>
                                      <p:cBhvr>
                                        <p:cTn id="52" dur="1" fill="hold">
                                          <p:stCondLst>
                                            <p:cond delay="0"/>
                                          </p:stCondLst>
                                        </p:cTn>
                                        <p:tgtEl>
                                          <p:spTgt spid="169"/>
                                        </p:tgtEl>
                                        <p:attrNameLst>
                                          <p:attrName>style.visibility</p:attrName>
                                        </p:attrNameLst>
                                      </p:cBhvr>
                                      <p:to>
                                        <p:strVal val="visible"/>
                                      </p:to>
                                    </p:set>
                                    <p:animEffect transition="in" filter="wheel(1)">
                                      <p:cBhvr>
                                        <p:cTn id="53" dur="500"/>
                                        <p:tgtEl>
                                          <p:spTgt spid="169"/>
                                        </p:tgtEl>
                                      </p:cBhvr>
                                    </p:animEffect>
                                  </p:childTnLst>
                                </p:cTn>
                              </p:par>
                              <p:par>
                                <p:cTn id="54" presetID="21" presetClass="entr" presetSubtype="1" fill="hold" grpId="0" nodeType="withEffect">
                                  <p:stCondLst>
                                    <p:cond delay="0"/>
                                  </p:stCondLst>
                                  <p:childTnLst>
                                    <p:set>
                                      <p:cBhvr>
                                        <p:cTn id="55" dur="1" fill="hold">
                                          <p:stCondLst>
                                            <p:cond delay="0"/>
                                          </p:stCondLst>
                                        </p:cTn>
                                        <p:tgtEl>
                                          <p:spTgt spid="170"/>
                                        </p:tgtEl>
                                        <p:attrNameLst>
                                          <p:attrName>style.visibility</p:attrName>
                                        </p:attrNameLst>
                                      </p:cBhvr>
                                      <p:to>
                                        <p:strVal val="visible"/>
                                      </p:to>
                                    </p:set>
                                    <p:animEffect transition="in" filter="wheel(1)">
                                      <p:cBhvr>
                                        <p:cTn id="56" dur="500"/>
                                        <p:tgtEl>
                                          <p:spTgt spid="170"/>
                                        </p:tgtEl>
                                      </p:cBhvr>
                                    </p:animEffect>
                                  </p:childTnLst>
                                </p:cTn>
                              </p:par>
                              <p:par>
                                <p:cTn id="57" presetID="21" presetClass="entr" presetSubtype="1" fill="hold" grpId="0" nodeType="withEffect">
                                  <p:stCondLst>
                                    <p:cond delay="0"/>
                                  </p:stCondLst>
                                  <p:childTnLst>
                                    <p:set>
                                      <p:cBhvr>
                                        <p:cTn id="58" dur="1" fill="hold">
                                          <p:stCondLst>
                                            <p:cond delay="0"/>
                                          </p:stCondLst>
                                        </p:cTn>
                                        <p:tgtEl>
                                          <p:spTgt spid="171"/>
                                        </p:tgtEl>
                                        <p:attrNameLst>
                                          <p:attrName>style.visibility</p:attrName>
                                        </p:attrNameLst>
                                      </p:cBhvr>
                                      <p:to>
                                        <p:strVal val="visible"/>
                                      </p:to>
                                    </p:set>
                                    <p:animEffect transition="in" filter="wheel(1)">
                                      <p:cBhvr>
                                        <p:cTn id="59" dur="500"/>
                                        <p:tgtEl>
                                          <p:spTgt spid="171"/>
                                        </p:tgtEl>
                                      </p:cBhvr>
                                    </p:animEffect>
                                  </p:childTnLst>
                                </p:cTn>
                              </p:par>
                              <p:par>
                                <p:cTn id="60" presetID="21" presetClass="entr" presetSubtype="1" fill="hold" grpId="0" nodeType="withEffect">
                                  <p:stCondLst>
                                    <p:cond delay="0"/>
                                  </p:stCondLst>
                                  <p:childTnLst>
                                    <p:set>
                                      <p:cBhvr>
                                        <p:cTn id="61" dur="1" fill="hold">
                                          <p:stCondLst>
                                            <p:cond delay="0"/>
                                          </p:stCondLst>
                                        </p:cTn>
                                        <p:tgtEl>
                                          <p:spTgt spid="172"/>
                                        </p:tgtEl>
                                        <p:attrNameLst>
                                          <p:attrName>style.visibility</p:attrName>
                                        </p:attrNameLst>
                                      </p:cBhvr>
                                      <p:to>
                                        <p:strVal val="visible"/>
                                      </p:to>
                                    </p:set>
                                    <p:animEffect transition="in" filter="wheel(1)">
                                      <p:cBhvr>
                                        <p:cTn id="62" dur="500"/>
                                        <p:tgtEl>
                                          <p:spTgt spid="172"/>
                                        </p:tgtEl>
                                      </p:cBhvr>
                                    </p:animEffect>
                                  </p:childTnLst>
                                </p:cTn>
                              </p:par>
                              <p:par>
                                <p:cTn id="63" presetID="21" presetClass="entr" presetSubtype="1" fill="hold" grpId="0" nodeType="withEffect">
                                  <p:stCondLst>
                                    <p:cond delay="0"/>
                                  </p:stCondLst>
                                  <p:childTnLst>
                                    <p:set>
                                      <p:cBhvr>
                                        <p:cTn id="64" dur="1" fill="hold">
                                          <p:stCondLst>
                                            <p:cond delay="0"/>
                                          </p:stCondLst>
                                        </p:cTn>
                                        <p:tgtEl>
                                          <p:spTgt spid="173"/>
                                        </p:tgtEl>
                                        <p:attrNameLst>
                                          <p:attrName>style.visibility</p:attrName>
                                        </p:attrNameLst>
                                      </p:cBhvr>
                                      <p:to>
                                        <p:strVal val="visible"/>
                                      </p:to>
                                    </p:set>
                                    <p:animEffect transition="in" filter="wheel(1)">
                                      <p:cBhvr>
                                        <p:cTn id="65" dur="500"/>
                                        <p:tgtEl>
                                          <p:spTgt spid="173"/>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4">
                                            <p:txEl>
                                              <p:pRg st="2" end="2"/>
                                            </p:txEl>
                                          </p:spTgt>
                                        </p:tgtEl>
                                        <p:attrNameLst>
                                          <p:attrName>style.visibility</p:attrName>
                                        </p:attrNameLst>
                                      </p:cBhvr>
                                      <p:to>
                                        <p:strVal val="visible"/>
                                      </p:to>
                                    </p:set>
                                    <p:animEffect transition="in" filter="fade">
                                      <p:cBhvr>
                                        <p:cTn id="70" dur="500"/>
                                        <p:tgtEl>
                                          <p:spTgt spid="4">
                                            <p:txEl>
                                              <p:pRg st="2" end="2"/>
                                            </p:txEl>
                                          </p:spTgt>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126"/>
                                        </p:tgtEl>
                                        <p:attrNameLst>
                                          <p:attrName>style.visibility</p:attrName>
                                        </p:attrNameLst>
                                      </p:cBhvr>
                                      <p:to>
                                        <p:strVal val="visible"/>
                                      </p:to>
                                    </p:set>
                                    <p:animEffect transition="in" filter="fade">
                                      <p:cBhvr>
                                        <p:cTn id="75" dur="500"/>
                                        <p:tgtEl>
                                          <p:spTgt spid="126"/>
                                        </p:tgtEl>
                                      </p:cBhvr>
                                    </p:animEffect>
                                  </p:childTnLst>
                                </p:cTn>
                              </p:par>
                            </p:childTnLst>
                          </p:cTn>
                        </p:par>
                      </p:childTnLst>
                    </p:cTn>
                  </p:par>
                  <p:par>
                    <p:cTn id="76" fill="hold">
                      <p:stCondLst>
                        <p:cond delay="indefinite"/>
                      </p:stCondLst>
                      <p:childTnLst>
                        <p:par>
                          <p:cTn id="77" fill="hold">
                            <p:stCondLst>
                              <p:cond delay="0"/>
                            </p:stCondLst>
                            <p:childTnLst>
                              <p:par>
                                <p:cTn id="78" presetID="21" presetClass="entr" presetSubtype="1" fill="hold" grpId="0" nodeType="clickEffect">
                                  <p:stCondLst>
                                    <p:cond delay="0"/>
                                  </p:stCondLst>
                                  <p:childTnLst>
                                    <p:set>
                                      <p:cBhvr>
                                        <p:cTn id="79" dur="1" fill="hold">
                                          <p:stCondLst>
                                            <p:cond delay="0"/>
                                          </p:stCondLst>
                                        </p:cTn>
                                        <p:tgtEl>
                                          <p:spTgt spid="174"/>
                                        </p:tgtEl>
                                        <p:attrNameLst>
                                          <p:attrName>style.visibility</p:attrName>
                                        </p:attrNameLst>
                                      </p:cBhvr>
                                      <p:to>
                                        <p:strVal val="visible"/>
                                      </p:to>
                                    </p:set>
                                    <p:animEffect transition="in" filter="wheel(1)">
                                      <p:cBhvr>
                                        <p:cTn id="80" dur="500"/>
                                        <p:tgtEl>
                                          <p:spTgt spid="174"/>
                                        </p:tgtEl>
                                      </p:cBhvr>
                                    </p:animEffect>
                                  </p:childTnLst>
                                </p:cTn>
                              </p:par>
                            </p:childTnLst>
                          </p:cTn>
                        </p:par>
                        <p:par>
                          <p:cTn id="81" fill="hold">
                            <p:stCondLst>
                              <p:cond delay="500"/>
                            </p:stCondLst>
                            <p:childTnLst>
                              <p:par>
                                <p:cTn id="82" presetID="21" presetClass="entr" presetSubtype="1" fill="hold" grpId="0" nodeType="afterEffect">
                                  <p:stCondLst>
                                    <p:cond delay="0"/>
                                  </p:stCondLst>
                                  <p:childTnLst>
                                    <p:set>
                                      <p:cBhvr>
                                        <p:cTn id="83" dur="1" fill="hold">
                                          <p:stCondLst>
                                            <p:cond delay="0"/>
                                          </p:stCondLst>
                                        </p:cTn>
                                        <p:tgtEl>
                                          <p:spTgt spid="175"/>
                                        </p:tgtEl>
                                        <p:attrNameLst>
                                          <p:attrName>style.visibility</p:attrName>
                                        </p:attrNameLst>
                                      </p:cBhvr>
                                      <p:to>
                                        <p:strVal val="visible"/>
                                      </p:to>
                                    </p:set>
                                    <p:animEffect transition="in" filter="wheel(1)">
                                      <p:cBhvr>
                                        <p:cTn id="84" dur="500"/>
                                        <p:tgtEl>
                                          <p:spTgt spid="175"/>
                                        </p:tgtEl>
                                      </p:cBhvr>
                                    </p:animEffect>
                                  </p:childTnLst>
                                </p:cTn>
                              </p:par>
                            </p:childTnLst>
                          </p:cTn>
                        </p:par>
                        <p:par>
                          <p:cTn id="85" fill="hold">
                            <p:stCondLst>
                              <p:cond delay="1000"/>
                            </p:stCondLst>
                            <p:childTnLst>
                              <p:par>
                                <p:cTn id="86" presetID="21" presetClass="entr" presetSubtype="1" fill="hold" grpId="0" nodeType="afterEffect">
                                  <p:stCondLst>
                                    <p:cond delay="0"/>
                                  </p:stCondLst>
                                  <p:childTnLst>
                                    <p:set>
                                      <p:cBhvr>
                                        <p:cTn id="87" dur="1" fill="hold">
                                          <p:stCondLst>
                                            <p:cond delay="0"/>
                                          </p:stCondLst>
                                        </p:cTn>
                                        <p:tgtEl>
                                          <p:spTgt spid="176"/>
                                        </p:tgtEl>
                                        <p:attrNameLst>
                                          <p:attrName>style.visibility</p:attrName>
                                        </p:attrNameLst>
                                      </p:cBhvr>
                                      <p:to>
                                        <p:strVal val="visible"/>
                                      </p:to>
                                    </p:set>
                                    <p:animEffect transition="in" filter="wheel(1)">
                                      <p:cBhvr>
                                        <p:cTn id="88" dur="500"/>
                                        <p:tgtEl>
                                          <p:spTgt spid="176"/>
                                        </p:tgtEl>
                                      </p:cBhvr>
                                    </p:animEffect>
                                  </p:childTnLst>
                                </p:cTn>
                              </p:par>
                            </p:childTnLst>
                          </p:cTn>
                        </p:par>
                        <p:par>
                          <p:cTn id="89" fill="hold">
                            <p:stCondLst>
                              <p:cond delay="1500"/>
                            </p:stCondLst>
                            <p:childTnLst>
                              <p:par>
                                <p:cTn id="90" presetID="21" presetClass="entr" presetSubtype="1" fill="hold" grpId="0" nodeType="afterEffect">
                                  <p:stCondLst>
                                    <p:cond delay="0"/>
                                  </p:stCondLst>
                                  <p:childTnLst>
                                    <p:set>
                                      <p:cBhvr>
                                        <p:cTn id="91" dur="1" fill="hold">
                                          <p:stCondLst>
                                            <p:cond delay="0"/>
                                          </p:stCondLst>
                                        </p:cTn>
                                        <p:tgtEl>
                                          <p:spTgt spid="177"/>
                                        </p:tgtEl>
                                        <p:attrNameLst>
                                          <p:attrName>style.visibility</p:attrName>
                                        </p:attrNameLst>
                                      </p:cBhvr>
                                      <p:to>
                                        <p:strVal val="visible"/>
                                      </p:to>
                                    </p:set>
                                    <p:animEffect transition="in" filter="wheel(1)">
                                      <p:cBhvr>
                                        <p:cTn id="92" dur="500"/>
                                        <p:tgtEl>
                                          <p:spTgt spid="177"/>
                                        </p:tgtEl>
                                      </p:cBhvr>
                                    </p:animEffect>
                                  </p:childTnLst>
                                </p:cTn>
                              </p:par>
                            </p:childTnLst>
                          </p:cTn>
                        </p:par>
                        <p:par>
                          <p:cTn id="93" fill="hold">
                            <p:stCondLst>
                              <p:cond delay="2000"/>
                            </p:stCondLst>
                            <p:childTnLst>
                              <p:par>
                                <p:cTn id="94" presetID="21" presetClass="entr" presetSubtype="1" fill="hold" grpId="0" nodeType="afterEffect">
                                  <p:stCondLst>
                                    <p:cond delay="0"/>
                                  </p:stCondLst>
                                  <p:childTnLst>
                                    <p:set>
                                      <p:cBhvr>
                                        <p:cTn id="95" dur="1" fill="hold">
                                          <p:stCondLst>
                                            <p:cond delay="0"/>
                                          </p:stCondLst>
                                        </p:cTn>
                                        <p:tgtEl>
                                          <p:spTgt spid="178"/>
                                        </p:tgtEl>
                                        <p:attrNameLst>
                                          <p:attrName>style.visibility</p:attrName>
                                        </p:attrNameLst>
                                      </p:cBhvr>
                                      <p:to>
                                        <p:strVal val="visible"/>
                                      </p:to>
                                    </p:set>
                                    <p:animEffect transition="in" filter="wheel(1)">
                                      <p:cBhvr>
                                        <p:cTn id="96" dur="500"/>
                                        <p:tgtEl>
                                          <p:spTgt spid="178"/>
                                        </p:tgtEl>
                                      </p:cBhvr>
                                    </p:animEffect>
                                  </p:childTnLst>
                                </p:cTn>
                              </p:par>
                            </p:childTnLst>
                          </p:cTn>
                        </p:par>
                        <p:par>
                          <p:cTn id="97" fill="hold">
                            <p:stCondLst>
                              <p:cond delay="2500"/>
                            </p:stCondLst>
                            <p:childTnLst>
                              <p:par>
                                <p:cTn id="98" presetID="21" presetClass="entr" presetSubtype="1" fill="hold" grpId="0" nodeType="afterEffect">
                                  <p:stCondLst>
                                    <p:cond delay="0"/>
                                  </p:stCondLst>
                                  <p:childTnLst>
                                    <p:set>
                                      <p:cBhvr>
                                        <p:cTn id="99" dur="1" fill="hold">
                                          <p:stCondLst>
                                            <p:cond delay="0"/>
                                          </p:stCondLst>
                                        </p:cTn>
                                        <p:tgtEl>
                                          <p:spTgt spid="179"/>
                                        </p:tgtEl>
                                        <p:attrNameLst>
                                          <p:attrName>style.visibility</p:attrName>
                                        </p:attrNameLst>
                                      </p:cBhvr>
                                      <p:to>
                                        <p:strVal val="visible"/>
                                      </p:to>
                                    </p:set>
                                    <p:animEffect transition="in" filter="wheel(1)">
                                      <p:cBhvr>
                                        <p:cTn id="100" dur="500"/>
                                        <p:tgtEl>
                                          <p:spTgt spid="179"/>
                                        </p:tgtEl>
                                      </p:cBhvr>
                                    </p:animEffect>
                                  </p:childTnLst>
                                </p:cTn>
                              </p:par>
                            </p:childTnLst>
                          </p:cTn>
                        </p:par>
                      </p:childTnLst>
                    </p:cTn>
                  </p:par>
                  <p:par>
                    <p:cTn id="101" fill="hold">
                      <p:stCondLst>
                        <p:cond delay="indefinite"/>
                      </p:stCondLst>
                      <p:childTnLst>
                        <p:par>
                          <p:cTn id="102" fill="hold">
                            <p:stCondLst>
                              <p:cond delay="0"/>
                            </p:stCondLst>
                            <p:childTnLst>
                              <p:par>
                                <p:cTn id="103" presetID="10" presetClass="entr" presetSubtype="0" fill="hold" grpId="0" nodeType="clickEffect">
                                  <p:stCondLst>
                                    <p:cond delay="0"/>
                                  </p:stCondLst>
                                  <p:childTnLst>
                                    <p:set>
                                      <p:cBhvr>
                                        <p:cTn id="104" dur="1" fill="hold">
                                          <p:stCondLst>
                                            <p:cond delay="0"/>
                                          </p:stCondLst>
                                        </p:cTn>
                                        <p:tgtEl>
                                          <p:spTgt spid="4">
                                            <p:txEl>
                                              <p:pRg st="3" end="3"/>
                                            </p:txEl>
                                          </p:spTgt>
                                        </p:tgtEl>
                                        <p:attrNameLst>
                                          <p:attrName>style.visibility</p:attrName>
                                        </p:attrNameLst>
                                      </p:cBhvr>
                                      <p:to>
                                        <p:strVal val="visible"/>
                                      </p:to>
                                    </p:set>
                                    <p:animEffect transition="in" filter="fade">
                                      <p:cBhvr>
                                        <p:cTn id="105" dur="500"/>
                                        <p:tgtEl>
                                          <p:spTgt spid="4">
                                            <p:txEl>
                                              <p:pRg st="3" end="3"/>
                                            </p:txEl>
                                          </p:spTgt>
                                        </p:tgtEl>
                                      </p:cBhvr>
                                    </p:animEffect>
                                  </p:childTnLst>
                                </p:cTn>
                              </p:par>
                            </p:childTnLst>
                          </p:cTn>
                        </p:par>
                        <p:par>
                          <p:cTn id="106" fill="hold">
                            <p:stCondLst>
                              <p:cond delay="500"/>
                            </p:stCondLst>
                            <p:childTnLst>
                              <p:par>
                                <p:cTn id="107" presetID="10" presetClass="entr" presetSubtype="0" fill="hold" grpId="0" nodeType="afterEffect">
                                  <p:stCondLst>
                                    <p:cond delay="0"/>
                                  </p:stCondLst>
                                  <p:childTnLst>
                                    <p:set>
                                      <p:cBhvr>
                                        <p:cTn id="108" dur="1" fill="hold">
                                          <p:stCondLst>
                                            <p:cond delay="0"/>
                                          </p:stCondLst>
                                        </p:cTn>
                                        <p:tgtEl>
                                          <p:spTgt spid="6">
                                            <p:bg/>
                                          </p:spTgt>
                                        </p:tgtEl>
                                        <p:attrNameLst>
                                          <p:attrName>style.visibility</p:attrName>
                                        </p:attrNameLst>
                                      </p:cBhvr>
                                      <p:to>
                                        <p:strVal val="visible"/>
                                      </p:to>
                                    </p:set>
                                    <p:animEffect transition="in" filter="fade">
                                      <p:cBhvr>
                                        <p:cTn id="109" dur="500"/>
                                        <p:tgtEl>
                                          <p:spTgt spid="6">
                                            <p:bg/>
                                          </p:spTgt>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6">
                                            <p:txEl>
                                              <p:pRg st="0" end="0"/>
                                            </p:txEl>
                                          </p:spTgt>
                                        </p:tgtEl>
                                        <p:attrNameLst>
                                          <p:attrName>style.visibility</p:attrName>
                                        </p:attrNameLst>
                                      </p:cBhvr>
                                      <p:to>
                                        <p:strVal val="visible"/>
                                      </p:to>
                                    </p:set>
                                    <p:animEffect transition="in" filter="fade">
                                      <p:cBhvr>
                                        <p:cTn id="112" dur="500"/>
                                        <p:tgtEl>
                                          <p:spTgt spid="6">
                                            <p:txEl>
                                              <p:pRg st="0" end="0"/>
                                            </p:txEl>
                                          </p:spTgt>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6">
                                            <p:txEl>
                                              <p:pRg st="1" end="1"/>
                                            </p:txEl>
                                          </p:spTgt>
                                        </p:tgtEl>
                                        <p:attrNameLst>
                                          <p:attrName>style.visibility</p:attrName>
                                        </p:attrNameLst>
                                      </p:cBhvr>
                                      <p:to>
                                        <p:strVal val="visible"/>
                                      </p:to>
                                    </p:set>
                                    <p:animEffect transition="in" filter="fade">
                                      <p:cBhvr>
                                        <p:cTn id="115" dur="500"/>
                                        <p:tgtEl>
                                          <p:spTgt spid="6">
                                            <p:txEl>
                                              <p:pRg st="1" end="1"/>
                                            </p:txEl>
                                          </p:spTgt>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6">
                                            <p:txEl>
                                              <p:pRg st="2" end="2"/>
                                            </p:txEl>
                                          </p:spTgt>
                                        </p:tgtEl>
                                        <p:attrNameLst>
                                          <p:attrName>style.visibility</p:attrName>
                                        </p:attrNameLst>
                                      </p:cBhvr>
                                      <p:to>
                                        <p:strVal val="visible"/>
                                      </p:to>
                                    </p:set>
                                    <p:animEffect transition="in" filter="fade">
                                      <p:cBhvr>
                                        <p:cTn id="118" dur="500"/>
                                        <p:tgtEl>
                                          <p:spTgt spid="6">
                                            <p:txEl>
                                              <p:pRg st="2" end="2"/>
                                            </p:txEl>
                                          </p:spTgt>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6">
                                            <p:txEl>
                                              <p:pRg st="3" end="3"/>
                                            </p:txEl>
                                          </p:spTgt>
                                        </p:tgtEl>
                                        <p:attrNameLst>
                                          <p:attrName>style.visibility</p:attrName>
                                        </p:attrNameLst>
                                      </p:cBhvr>
                                      <p:to>
                                        <p:strVal val="visible"/>
                                      </p:to>
                                    </p:set>
                                    <p:animEffect transition="in" filter="fade">
                                      <p:cBhvr>
                                        <p:cTn id="121" dur="500"/>
                                        <p:tgtEl>
                                          <p:spTgt spid="6">
                                            <p:txEl>
                                              <p:pRg st="3" end="3"/>
                                            </p:txEl>
                                          </p:spTgt>
                                        </p:tgtEl>
                                      </p:cBhvr>
                                    </p:animEffect>
                                  </p:childTnLst>
                                </p:cTn>
                              </p:par>
                            </p:childTnLst>
                          </p:cTn>
                        </p:par>
                      </p:childTnLst>
                    </p:cTn>
                  </p:par>
                  <p:par>
                    <p:cTn id="122" fill="hold">
                      <p:stCondLst>
                        <p:cond delay="indefinite"/>
                      </p:stCondLst>
                      <p:childTnLst>
                        <p:par>
                          <p:cTn id="123" fill="hold">
                            <p:stCondLst>
                              <p:cond delay="0"/>
                            </p:stCondLst>
                            <p:childTnLst>
                              <p:par>
                                <p:cTn id="124" presetID="10" presetClass="entr" presetSubtype="0" fill="hold" grpId="0" nodeType="clickEffect">
                                  <p:stCondLst>
                                    <p:cond delay="0"/>
                                  </p:stCondLst>
                                  <p:childTnLst>
                                    <p:set>
                                      <p:cBhvr>
                                        <p:cTn id="125" dur="1" fill="hold">
                                          <p:stCondLst>
                                            <p:cond delay="0"/>
                                          </p:stCondLst>
                                        </p:cTn>
                                        <p:tgtEl>
                                          <p:spTgt spid="10"/>
                                        </p:tgtEl>
                                        <p:attrNameLst>
                                          <p:attrName>style.visibility</p:attrName>
                                        </p:attrNameLst>
                                      </p:cBhvr>
                                      <p:to>
                                        <p:strVal val="visible"/>
                                      </p:to>
                                    </p:set>
                                    <p:animEffect transition="in" filter="fade">
                                      <p:cBhvr>
                                        <p:cTn id="126" dur="500"/>
                                        <p:tgtEl>
                                          <p:spTgt spid="10"/>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46"/>
                                        </p:tgtEl>
                                        <p:attrNameLst>
                                          <p:attrName>style.visibility</p:attrName>
                                        </p:attrNameLst>
                                      </p:cBhvr>
                                      <p:to>
                                        <p:strVal val="visible"/>
                                      </p:to>
                                    </p:set>
                                    <p:animEffect transition="in" filter="fade">
                                      <p:cBhvr>
                                        <p:cTn id="129"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6" grpId="0" uiExpand="1" build="p" animBg="1"/>
      <p:bldP spid="10" grpId="0" animBg="1"/>
      <p:bldP spid="46" grpId="0"/>
      <p:bldP spid="49" grpId="0" animBg="1"/>
      <p:bldP spid="163" grpId="0" animBg="1"/>
      <p:bldP spid="164" grpId="0" animBg="1"/>
      <p:bldP spid="165" grpId="0" animBg="1"/>
      <p:bldP spid="166" grpId="0" animBg="1"/>
      <p:bldP spid="167" grpId="0" animBg="1"/>
      <p:bldP spid="168" grpId="0" animBg="1"/>
      <p:bldP spid="169" grpId="0" animBg="1"/>
      <p:bldP spid="170" grpId="0" animBg="1"/>
      <p:bldP spid="171" grpId="0" animBg="1"/>
      <p:bldP spid="172" grpId="0" animBg="1"/>
      <p:bldP spid="173" grpId="0" animBg="1"/>
      <p:bldP spid="174" grpId="0" animBg="1"/>
      <p:bldP spid="175" grpId="0" animBg="1"/>
      <p:bldP spid="176" grpId="0" animBg="1"/>
      <p:bldP spid="177" grpId="0" animBg="1"/>
      <p:bldP spid="178" grpId="0" animBg="1"/>
      <p:bldP spid="17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F6B4F-7226-4C4F-B760-B43C1A9E5AA8}"/>
              </a:ext>
            </a:extLst>
          </p:cNvPr>
          <p:cNvSpPr>
            <a:spLocks noGrp="1"/>
          </p:cNvSpPr>
          <p:nvPr>
            <p:ph type="title"/>
          </p:nvPr>
        </p:nvSpPr>
        <p:spPr>
          <a:xfrm>
            <a:off x="457200" y="160337"/>
            <a:ext cx="8229600" cy="1143000"/>
          </a:xfrm>
        </p:spPr>
        <p:txBody>
          <a:bodyPr>
            <a:normAutofit fontScale="90000"/>
          </a:bodyPr>
          <a:lstStyle/>
          <a:p>
            <a:r>
              <a:rPr lang="en-GB" dirty="0"/>
              <a:t>More on sampling before we stop, </a:t>
            </a:r>
            <a:br>
              <a:rPr lang="en-GB" dirty="0"/>
            </a:br>
            <a:r>
              <a:rPr lang="en-GB" sz="2200" dirty="0"/>
              <a:t>but we will also see that in the dissertation and research methods module</a:t>
            </a:r>
            <a:endParaRPr lang="en-GB" dirty="0"/>
          </a:p>
        </p:txBody>
      </p:sp>
      <p:sp>
        <p:nvSpPr>
          <p:cNvPr id="3" name="Text Placeholder 2">
            <a:extLst>
              <a:ext uri="{FF2B5EF4-FFF2-40B4-BE49-F238E27FC236}">
                <a16:creationId xmlns:a16="http://schemas.microsoft.com/office/drawing/2014/main" id="{C961B790-4B42-4A20-94E6-45228110C2CE}"/>
              </a:ext>
            </a:extLst>
          </p:cNvPr>
          <p:cNvSpPr>
            <a:spLocks noGrp="1"/>
          </p:cNvSpPr>
          <p:nvPr>
            <p:ph type="body" idx="1"/>
          </p:nvPr>
        </p:nvSpPr>
        <p:spPr/>
        <p:txBody>
          <a:bodyPr/>
          <a:lstStyle/>
          <a:p>
            <a:r>
              <a:rPr lang="en-GB" dirty="0"/>
              <a:t>SYSTEMATIC</a:t>
            </a:r>
          </a:p>
        </p:txBody>
      </p:sp>
      <p:sp>
        <p:nvSpPr>
          <p:cNvPr id="4" name="Content Placeholder 3">
            <a:extLst>
              <a:ext uri="{FF2B5EF4-FFF2-40B4-BE49-F238E27FC236}">
                <a16:creationId xmlns:a16="http://schemas.microsoft.com/office/drawing/2014/main" id="{37939F86-21CE-4C9E-BA4F-07720441AE6F}"/>
              </a:ext>
            </a:extLst>
          </p:cNvPr>
          <p:cNvSpPr>
            <a:spLocks noGrp="1"/>
          </p:cNvSpPr>
          <p:nvPr>
            <p:ph sz="half" idx="2"/>
          </p:nvPr>
        </p:nvSpPr>
        <p:spPr/>
        <p:txBody>
          <a:bodyPr>
            <a:normAutofit fontScale="92500" lnSpcReduction="20000"/>
          </a:bodyPr>
          <a:lstStyle/>
          <a:p>
            <a:pPr algn="just"/>
            <a:r>
              <a:rPr lang="en-GB" dirty="0"/>
              <a:t>Sample members from a larger population are selected according to </a:t>
            </a:r>
            <a:r>
              <a:rPr lang="en-GB" b="1" dirty="0"/>
              <a:t>a random starting point but with a fixed, periodic interval</a:t>
            </a:r>
            <a:r>
              <a:rPr lang="en-GB" dirty="0"/>
              <a:t>. This interval, called the sampling interval, is </a:t>
            </a:r>
            <a:r>
              <a:rPr lang="en-GB" b="1" dirty="0"/>
              <a:t>calculated by dividing the population size by the desired sample size.</a:t>
            </a:r>
          </a:p>
          <a:p>
            <a:pPr algn="just"/>
            <a:r>
              <a:rPr lang="en-GB" dirty="0"/>
              <a:t>E.g. One out of every five from population</a:t>
            </a:r>
          </a:p>
        </p:txBody>
      </p:sp>
      <p:sp>
        <p:nvSpPr>
          <p:cNvPr id="5" name="Text Placeholder 4">
            <a:extLst>
              <a:ext uri="{FF2B5EF4-FFF2-40B4-BE49-F238E27FC236}">
                <a16:creationId xmlns:a16="http://schemas.microsoft.com/office/drawing/2014/main" id="{62269B61-A055-4836-9D5E-805A72D8C74B}"/>
              </a:ext>
            </a:extLst>
          </p:cNvPr>
          <p:cNvSpPr>
            <a:spLocks noGrp="1"/>
          </p:cNvSpPr>
          <p:nvPr>
            <p:ph type="body" sz="quarter" idx="3"/>
          </p:nvPr>
        </p:nvSpPr>
        <p:spPr/>
        <p:txBody>
          <a:bodyPr/>
          <a:lstStyle/>
          <a:p>
            <a:r>
              <a:rPr lang="en-GB" dirty="0"/>
              <a:t>STRATIFED</a:t>
            </a:r>
          </a:p>
        </p:txBody>
      </p:sp>
      <p:sp>
        <p:nvSpPr>
          <p:cNvPr id="6" name="Content Placeholder 5">
            <a:extLst>
              <a:ext uri="{FF2B5EF4-FFF2-40B4-BE49-F238E27FC236}">
                <a16:creationId xmlns:a16="http://schemas.microsoft.com/office/drawing/2014/main" id="{0359E958-8474-4412-B60B-30B35591CDEA}"/>
              </a:ext>
            </a:extLst>
          </p:cNvPr>
          <p:cNvSpPr>
            <a:spLocks noGrp="1"/>
          </p:cNvSpPr>
          <p:nvPr>
            <p:ph sz="quarter" idx="4"/>
          </p:nvPr>
        </p:nvSpPr>
        <p:spPr>
          <a:xfrm>
            <a:off x="4645025" y="2174875"/>
            <a:ext cx="4041775" cy="3951288"/>
          </a:xfrm>
        </p:spPr>
        <p:txBody>
          <a:bodyPr>
            <a:normAutofit fontScale="92500" lnSpcReduction="20000"/>
          </a:bodyPr>
          <a:lstStyle/>
          <a:p>
            <a:r>
              <a:rPr lang="en-GB" dirty="0"/>
              <a:t>Stratified random sampling is a method of sampling that involves the division of a population into smaller sub-groups known as strata. In stratified random sampling, or stratification, </a:t>
            </a:r>
            <a:r>
              <a:rPr lang="en-GB" b="1" dirty="0"/>
              <a:t>the strata are formed based on members' shared attributes</a:t>
            </a:r>
            <a:r>
              <a:rPr lang="en-GB" dirty="0"/>
              <a:t> or characteristics such as income or educational attainment.</a:t>
            </a:r>
          </a:p>
          <a:p>
            <a:r>
              <a:rPr lang="en-GB" dirty="0"/>
              <a:t>E.g. Half of the sample as female and half as male.</a:t>
            </a:r>
          </a:p>
        </p:txBody>
      </p:sp>
    </p:spTree>
    <p:extLst>
      <p:ext uri="{BB962C8B-B14F-4D97-AF65-F5344CB8AC3E}">
        <p14:creationId xmlns:p14="http://schemas.microsoft.com/office/powerpoint/2010/main" val="22792861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1" name="Text Box 3"/>
          <p:cNvSpPr txBox="1">
            <a:spLocks noChangeArrowheads="1"/>
          </p:cNvSpPr>
          <p:nvPr/>
        </p:nvSpPr>
        <p:spPr bwMode="auto">
          <a:xfrm>
            <a:off x="304800" y="1078468"/>
            <a:ext cx="269785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Clr>
                <a:srgbClr val="333399"/>
              </a:buClr>
            </a:pPr>
            <a:r>
              <a:rPr lang="en-GB" altLang="en-US" sz="2000" b="1" dirty="0"/>
              <a:t>Identify</a:t>
            </a:r>
            <a:r>
              <a:rPr lang="en-GB" altLang="en-US" sz="2000" dirty="0"/>
              <a:t> sampling </a:t>
            </a:r>
            <a:r>
              <a:rPr lang="en-GB" altLang="en-US" sz="2000" b="1" dirty="0"/>
              <a:t>frame</a:t>
            </a:r>
          </a:p>
        </p:txBody>
      </p:sp>
      <p:sp>
        <p:nvSpPr>
          <p:cNvPr id="2" name="Title 1"/>
          <p:cNvSpPr>
            <a:spLocks noGrp="1"/>
          </p:cNvSpPr>
          <p:nvPr>
            <p:ph type="title"/>
          </p:nvPr>
        </p:nvSpPr>
        <p:spPr/>
        <p:txBody>
          <a:bodyPr/>
          <a:lstStyle/>
          <a:p>
            <a:r>
              <a:rPr lang="en-GB" dirty="0"/>
              <a:t>Procedure for sampling</a:t>
            </a:r>
          </a:p>
        </p:txBody>
      </p:sp>
      <p:grpSp>
        <p:nvGrpSpPr>
          <p:cNvPr id="40" name="Group 39"/>
          <p:cNvGrpSpPr/>
          <p:nvPr/>
        </p:nvGrpSpPr>
        <p:grpSpPr>
          <a:xfrm>
            <a:off x="3413838" y="1033176"/>
            <a:ext cx="4807849" cy="490824"/>
            <a:chOff x="76200" y="3933825"/>
            <a:chExt cx="8077200" cy="762000"/>
          </a:xfrm>
        </p:grpSpPr>
        <p:sp>
          <p:nvSpPr>
            <p:cNvPr id="41" name="Horizontal Scroll 40"/>
            <p:cNvSpPr/>
            <p:nvPr/>
          </p:nvSpPr>
          <p:spPr>
            <a:xfrm>
              <a:off x="76200" y="3933825"/>
              <a:ext cx="8077200" cy="762000"/>
            </a:xfrm>
            <a:prstGeom prst="horizontalScroll">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GB"/>
            </a:p>
          </p:txBody>
        </p:sp>
        <p:pic>
          <p:nvPicPr>
            <p:cNvPr id="42"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2987" y="4114800"/>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2" descr="http://images.clipartpanda.com/male-clipart-17738-male-desig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04800" y="4114800"/>
              <a:ext cx="176112" cy="395306"/>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58553" y="4114800"/>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2" descr="http://images.clipartpanda.com/male-clipart-17738-male-desig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60366" y="4114800"/>
              <a:ext cx="176112" cy="395306"/>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88787" y="4114800"/>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44353" y="4114800"/>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2" descr="http://images.clipartpanda.com/male-clipart-17738-male-desig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46166" y="4114800"/>
              <a:ext cx="176112" cy="395306"/>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03187" y="4114800"/>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2" descr="http://images.clipartpanda.com/male-clipart-17738-male-desig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05000" y="4114800"/>
              <a:ext cx="176112" cy="395306"/>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58753" y="4114800"/>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2" descr="http://images.clipartpanda.com/male-clipart-17738-male-desig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360566" y="4114800"/>
              <a:ext cx="176112" cy="395306"/>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88987" y="4114800"/>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44553" y="4114800"/>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2" descr="http://images.clipartpanda.com/male-clipart-17738-male-desig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046366" y="4114800"/>
              <a:ext cx="176112" cy="395306"/>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03387" y="4114800"/>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57" name="Picture 2" descr="http://images.clipartpanda.com/male-clipart-17738-male-desig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505200" y="4114800"/>
              <a:ext cx="176112" cy="395306"/>
            </a:xfrm>
            <a:prstGeom prst="rect">
              <a:avLst/>
            </a:prstGeom>
            <a:noFill/>
            <a:extLst>
              <a:ext uri="{909E8E84-426E-40DD-AFC4-6F175D3DCCD1}">
                <a14:hiddenFill xmlns:a14="http://schemas.microsoft.com/office/drawing/2010/main">
                  <a:solidFill>
                    <a:srgbClr val="FFFFFF"/>
                  </a:solidFill>
                </a14:hiddenFill>
              </a:ext>
            </a:extLst>
          </p:spPr>
        </p:pic>
        <p:pic>
          <p:nvPicPr>
            <p:cNvPr id="58" name="Picture 2" descr="http://images.clipartpanda.com/male-clipart-17738-male-desig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960766" y="4114800"/>
              <a:ext cx="176112" cy="395306"/>
            </a:xfrm>
            <a:prstGeom prst="rect">
              <a:avLst/>
            </a:prstGeom>
            <a:noFill/>
            <a:extLst>
              <a:ext uri="{909E8E84-426E-40DD-AFC4-6F175D3DCCD1}">
                <a14:hiddenFill xmlns:a14="http://schemas.microsoft.com/office/drawing/2010/main">
                  <a:solidFill>
                    <a:srgbClr val="FFFFFF"/>
                  </a:solidFill>
                </a14:hiddenFill>
              </a:ext>
            </a:extLst>
          </p:spPr>
        </p:pic>
        <p:pic>
          <p:nvPicPr>
            <p:cNvPr id="59"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67109" y="4119396"/>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60" name="Picture 2" descr="http://images.clipartpanda.com/male-clipart-17738-male-desig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168922" y="4119396"/>
              <a:ext cx="176112" cy="395306"/>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22675" y="4119396"/>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2" descr="http://images.clipartpanda.com/male-clipart-17738-male-desig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24488" y="4119396"/>
              <a:ext cx="176112" cy="395306"/>
            </a:xfrm>
            <a:prstGeom prst="rect">
              <a:avLst/>
            </a:prstGeom>
            <a:noFill/>
            <a:extLst>
              <a:ext uri="{909E8E84-426E-40DD-AFC4-6F175D3DCCD1}">
                <a14:hiddenFill xmlns:a14="http://schemas.microsoft.com/office/drawing/2010/main">
                  <a:solidFill>
                    <a:srgbClr val="FFFFFF"/>
                  </a:solidFill>
                </a14:hiddenFill>
              </a:ext>
            </a:extLst>
          </p:spPr>
        </p:pic>
        <p:pic>
          <p:nvPicPr>
            <p:cNvPr id="63"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52909" y="4119396"/>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64"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08475" y="4119396"/>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2" descr="http://images.clipartpanda.com/male-clipart-17738-male-desig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310288" y="4119396"/>
              <a:ext cx="176112" cy="395306"/>
            </a:xfrm>
            <a:prstGeom prst="rect">
              <a:avLst/>
            </a:prstGeom>
            <a:noFill/>
            <a:extLst>
              <a:ext uri="{909E8E84-426E-40DD-AFC4-6F175D3DCCD1}">
                <a14:hiddenFill xmlns:a14="http://schemas.microsoft.com/office/drawing/2010/main">
                  <a:solidFill>
                    <a:srgbClr val="FFFFFF"/>
                  </a:solidFill>
                </a14:hiddenFill>
              </a:ext>
            </a:extLst>
          </p:spPr>
        </p:pic>
        <p:pic>
          <p:nvPicPr>
            <p:cNvPr id="66"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67309" y="4119396"/>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67" name="Picture 2" descr="http://images.clipartpanda.com/male-clipart-17738-male-desig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769122" y="4119396"/>
              <a:ext cx="176112" cy="395306"/>
            </a:xfrm>
            <a:prstGeom prst="rect">
              <a:avLst/>
            </a:prstGeom>
            <a:noFill/>
            <a:extLst>
              <a:ext uri="{909E8E84-426E-40DD-AFC4-6F175D3DCCD1}">
                <a14:hiddenFill xmlns:a14="http://schemas.microsoft.com/office/drawing/2010/main">
                  <a:solidFill>
                    <a:srgbClr val="FFFFFF"/>
                  </a:solidFill>
                </a14:hiddenFill>
              </a:ext>
            </a:extLst>
          </p:spPr>
        </p:pic>
        <p:pic>
          <p:nvPicPr>
            <p:cNvPr id="68"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22875" y="4119396"/>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69" name="Picture 2" descr="http://images.clipartpanda.com/male-clipart-17738-male-desig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224688" y="4119396"/>
              <a:ext cx="176112" cy="395306"/>
            </a:xfrm>
            <a:prstGeom prst="rect">
              <a:avLst/>
            </a:prstGeom>
            <a:noFill/>
            <a:extLst>
              <a:ext uri="{909E8E84-426E-40DD-AFC4-6F175D3DCCD1}">
                <a14:hiddenFill xmlns:a14="http://schemas.microsoft.com/office/drawing/2010/main">
                  <a:solidFill>
                    <a:srgbClr val="FFFFFF"/>
                  </a:solidFill>
                </a14:hiddenFill>
              </a:ext>
            </a:extLst>
          </p:spPr>
        </p:pic>
        <p:pic>
          <p:nvPicPr>
            <p:cNvPr id="70"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53109" y="4119396"/>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71"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08675" y="4119396"/>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72" name="Picture 2" descr="http://images.clipartpanda.com/male-clipart-17738-male-desig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10488" y="4119396"/>
              <a:ext cx="176112" cy="395306"/>
            </a:xfrm>
            <a:prstGeom prst="rect">
              <a:avLst/>
            </a:prstGeom>
            <a:noFill/>
            <a:extLst>
              <a:ext uri="{909E8E84-426E-40DD-AFC4-6F175D3DCCD1}">
                <a14:hiddenFill xmlns:a14="http://schemas.microsoft.com/office/drawing/2010/main">
                  <a:solidFill>
                    <a:srgbClr val="FFFFFF"/>
                  </a:solidFill>
                </a14:hiddenFill>
              </a:ext>
            </a:extLst>
          </p:spPr>
        </p:pic>
        <p:pic>
          <p:nvPicPr>
            <p:cNvPr id="73"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67509" y="4119396"/>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74" name="Picture 2" descr="http://images.clipartpanda.com/male-clipart-17738-male-desig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369322" y="4119396"/>
              <a:ext cx="176112" cy="395306"/>
            </a:xfrm>
            <a:prstGeom prst="rect">
              <a:avLst/>
            </a:prstGeom>
            <a:noFill/>
            <a:extLst>
              <a:ext uri="{909E8E84-426E-40DD-AFC4-6F175D3DCCD1}">
                <a14:hiddenFill xmlns:a14="http://schemas.microsoft.com/office/drawing/2010/main">
                  <a:solidFill>
                    <a:srgbClr val="FFFFFF"/>
                  </a:solidFill>
                </a14:hiddenFill>
              </a:ext>
            </a:extLst>
          </p:spPr>
        </p:pic>
        <p:pic>
          <p:nvPicPr>
            <p:cNvPr id="75" name="Picture 2" descr="http://images.clipartpanda.com/male-clipart-17738-male-desig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824888" y="4119396"/>
              <a:ext cx="176112" cy="395306"/>
            </a:xfrm>
            <a:prstGeom prst="rect">
              <a:avLst/>
            </a:prstGeom>
            <a:noFill/>
            <a:extLst>
              <a:ext uri="{909E8E84-426E-40DD-AFC4-6F175D3DCCD1}">
                <a14:hiddenFill xmlns:a14="http://schemas.microsoft.com/office/drawing/2010/main">
                  <a:solidFill>
                    <a:srgbClr val="FFFFFF"/>
                  </a:solidFill>
                </a14:hiddenFill>
              </a:ext>
            </a:extLst>
          </p:spPr>
        </p:pic>
      </p:grpSp>
      <p:sp>
        <p:nvSpPr>
          <p:cNvPr id="76" name="Text Box 3"/>
          <p:cNvSpPr txBox="1">
            <a:spLocks noChangeArrowheads="1"/>
          </p:cNvSpPr>
          <p:nvPr/>
        </p:nvSpPr>
        <p:spPr bwMode="auto">
          <a:xfrm>
            <a:off x="304800" y="2069068"/>
            <a:ext cx="247920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Clr>
                <a:srgbClr val="333399"/>
              </a:buClr>
            </a:pPr>
            <a:r>
              <a:rPr lang="en-GB" altLang="en-US" sz="2000" b="1" dirty="0"/>
              <a:t>Decide</a:t>
            </a:r>
            <a:r>
              <a:rPr lang="en-GB" altLang="en-US" sz="2000" dirty="0"/>
              <a:t> on sample </a:t>
            </a:r>
            <a:r>
              <a:rPr lang="en-GB" altLang="en-US" sz="2000" b="1" dirty="0"/>
              <a:t>size</a:t>
            </a:r>
          </a:p>
        </p:txBody>
      </p:sp>
      <p:sp>
        <p:nvSpPr>
          <p:cNvPr id="77" name="Text Box 3"/>
          <p:cNvSpPr txBox="1">
            <a:spLocks noChangeArrowheads="1"/>
          </p:cNvSpPr>
          <p:nvPr/>
        </p:nvSpPr>
        <p:spPr bwMode="auto">
          <a:xfrm>
            <a:off x="304800" y="3059668"/>
            <a:ext cx="332860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Clr>
                <a:srgbClr val="333399"/>
              </a:buClr>
            </a:pPr>
            <a:r>
              <a:rPr lang="en-GB" altLang="en-US" sz="2000" b="1" dirty="0"/>
              <a:t>Decide</a:t>
            </a:r>
            <a:r>
              <a:rPr lang="en-GB" altLang="en-US" sz="2000" dirty="0"/>
              <a:t> on sampling </a:t>
            </a:r>
            <a:r>
              <a:rPr lang="en-GB" altLang="en-US" sz="2000" b="1" dirty="0"/>
              <a:t>technique</a:t>
            </a:r>
          </a:p>
        </p:txBody>
      </p:sp>
      <p:sp>
        <p:nvSpPr>
          <p:cNvPr id="78" name="Text Box 3"/>
          <p:cNvSpPr txBox="1">
            <a:spLocks noChangeArrowheads="1"/>
          </p:cNvSpPr>
          <p:nvPr/>
        </p:nvSpPr>
        <p:spPr bwMode="auto">
          <a:xfrm>
            <a:off x="304800" y="4050268"/>
            <a:ext cx="341196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buClr>
                <a:srgbClr val="333399"/>
              </a:buClr>
            </a:pPr>
            <a:r>
              <a:rPr lang="en-GB" altLang="en-US" sz="2000" b="1" dirty="0"/>
              <a:t>Check sample </a:t>
            </a:r>
            <a:r>
              <a:rPr lang="en-GB" altLang="en-US" sz="2000" dirty="0"/>
              <a:t>is representative</a:t>
            </a:r>
          </a:p>
        </p:txBody>
      </p:sp>
      <p:sp>
        <p:nvSpPr>
          <p:cNvPr id="80" name="Content Placeholder 3"/>
          <p:cNvSpPr txBox="1">
            <a:spLocks/>
          </p:cNvSpPr>
          <p:nvPr/>
        </p:nvSpPr>
        <p:spPr>
          <a:xfrm>
            <a:off x="3706125" y="2971800"/>
            <a:ext cx="2686762" cy="587633"/>
          </a:xfrm>
          <a:prstGeom prst="rect">
            <a:avLst/>
          </a:prstGeom>
        </p:spPr>
        <p:style>
          <a:lnRef idx="2">
            <a:schemeClr val="accent3"/>
          </a:lnRef>
          <a:fillRef idx="1">
            <a:schemeClr val="lt1"/>
          </a:fillRef>
          <a:effectRef idx="0">
            <a:schemeClr val="accent3"/>
          </a:effectRef>
          <a:fontRef idx="minor">
            <a:schemeClr val="dk1"/>
          </a:fontRef>
        </p:style>
        <p:txBody>
          <a:bodyPr/>
          <a:lstStyle>
            <a:lvl1pPr marL="342900" indent="-342900" algn="l" defTabSz="914400" rtl="0" eaLnBrk="1" latinLnBrk="0" hangingPunct="1">
              <a:spcBef>
                <a:spcPct val="20000"/>
              </a:spcBef>
              <a:buFont typeface="Arial" pitchFamily="34" charset="0"/>
              <a:buChar char="•"/>
              <a:defRPr sz="3200" kern="1200">
                <a:solidFill>
                  <a:schemeClr val="dk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dk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dk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dk1"/>
                </a:solidFill>
                <a:latin typeface="+mn-lt"/>
                <a:ea typeface="+mn-ea"/>
                <a:cs typeface="+mn-cs"/>
              </a:defRPr>
            </a:lvl9pPr>
          </a:lstStyle>
          <a:p>
            <a:pPr marL="0" indent="0">
              <a:buNone/>
            </a:pPr>
            <a:r>
              <a:rPr lang="en-GB" sz="1600" dirty="0"/>
              <a:t>Simple Random, Systematic, Stratified, </a:t>
            </a:r>
            <a:r>
              <a:rPr lang="en-GB" sz="1400" dirty="0"/>
              <a:t>Etc.</a:t>
            </a:r>
          </a:p>
        </p:txBody>
      </p:sp>
      <p:sp>
        <p:nvSpPr>
          <p:cNvPr id="3" name="Cloud Callout 2"/>
          <p:cNvSpPr/>
          <p:nvPr/>
        </p:nvSpPr>
        <p:spPr>
          <a:xfrm>
            <a:off x="3421087" y="1905000"/>
            <a:ext cx="1360710" cy="533400"/>
          </a:xfrm>
          <a:prstGeom prst="cloudCallout">
            <a:avLst>
              <a:gd name="adj1" fmla="val -89433"/>
              <a:gd name="adj2" fmla="val 1785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n=?</a:t>
            </a:r>
          </a:p>
        </p:txBody>
      </p:sp>
      <p:grpSp>
        <p:nvGrpSpPr>
          <p:cNvPr id="81" name="Group 80"/>
          <p:cNvGrpSpPr/>
          <p:nvPr/>
        </p:nvGrpSpPr>
        <p:grpSpPr>
          <a:xfrm>
            <a:off x="3413838" y="4406144"/>
            <a:ext cx="4815762" cy="470656"/>
            <a:chOff x="504825" y="4876800"/>
            <a:chExt cx="8077200" cy="762000"/>
          </a:xfrm>
        </p:grpSpPr>
        <p:grpSp>
          <p:nvGrpSpPr>
            <p:cNvPr id="82" name="Group 81"/>
            <p:cNvGrpSpPr/>
            <p:nvPr/>
          </p:nvGrpSpPr>
          <p:grpSpPr>
            <a:xfrm>
              <a:off x="504825" y="4876800"/>
              <a:ext cx="8077200" cy="762000"/>
              <a:chOff x="609600" y="4953000"/>
              <a:chExt cx="8077200" cy="762000"/>
            </a:xfrm>
          </p:grpSpPr>
          <p:sp>
            <p:nvSpPr>
              <p:cNvPr id="83" name="Horizontal Scroll 82"/>
              <p:cNvSpPr/>
              <p:nvPr/>
            </p:nvSpPr>
            <p:spPr>
              <a:xfrm>
                <a:off x="609600" y="4953000"/>
                <a:ext cx="8077200" cy="762000"/>
              </a:xfrm>
              <a:prstGeom prst="horizontalScroll">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GB"/>
              </a:p>
            </p:txBody>
          </p:sp>
          <p:pic>
            <p:nvPicPr>
              <p:cNvPr id="84"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65229" y="5122077"/>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85"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91035" y="5122077"/>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86" name="Picture 2" descr="http://images.clipartpanda.com/male-clipart-17738-male-design.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519699" y="5124450"/>
                <a:ext cx="176112" cy="395306"/>
              </a:xfrm>
              <a:prstGeom prst="rect">
                <a:avLst/>
              </a:prstGeom>
              <a:noFill/>
              <a:extLst>
                <a:ext uri="{909E8E84-426E-40DD-AFC4-6F175D3DCCD1}">
                  <a14:hiddenFill xmlns:a14="http://schemas.microsoft.com/office/drawing/2010/main">
                    <a:solidFill>
                      <a:srgbClr val="FFFFFF"/>
                    </a:solidFill>
                  </a14:hiddenFill>
                </a:ext>
              </a:extLst>
            </p:spPr>
          </p:pic>
          <p:pic>
            <p:nvPicPr>
              <p:cNvPr id="87"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16841" y="5122077"/>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2" descr="http://images.clipartpanda.com/male-clipart-17738-male-design.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743507" y="5124450"/>
                <a:ext cx="176112" cy="395306"/>
              </a:xfrm>
              <a:prstGeom prst="rect">
                <a:avLst/>
              </a:prstGeom>
              <a:noFill/>
              <a:extLst>
                <a:ext uri="{909E8E84-426E-40DD-AFC4-6F175D3DCCD1}">
                  <a14:hiddenFill xmlns:a14="http://schemas.microsoft.com/office/drawing/2010/main">
                    <a:solidFill>
                      <a:srgbClr val="FFFFFF"/>
                    </a:solidFill>
                  </a14:hiddenFill>
                </a:ext>
              </a:extLst>
            </p:spPr>
          </p:pic>
          <p:pic>
            <p:nvPicPr>
              <p:cNvPr id="89"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42647" y="5122077"/>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90" name="Picture 2" descr="http://images.clipartpanda.com/male-clipart-17738-male-design.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414931" y="5124450"/>
                <a:ext cx="176112" cy="395306"/>
              </a:xfrm>
              <a:prstGeom prst="rect">
                <a:avLst/>
              </a:prstGeom>
              <a:noFill/>
              <a:extLst>
                <a:ext uri="{909E8E84-426E-40DD-AFC4-6F175D3DCCD1}">
                  <a14:hiddenFill xmlns:a14="http://schemas.microsoft.com/office/drawing/2010/main">
                    <a:solidFill>
                      <a:srgbClr val="FFFFFF"/>
                    </a:solidFill>
                  </a14:hiddenFill>
                </a:ext>
              </a:extLst>
            </p:spPr>
          </p:pic>
          <p:pic>
            <p:nvPicPr>
              <p:cNvPr id="91"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68453" y="5122077"/>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92" name="Picture 2" descr="http://images.clipartpanda.com/male-clipart-17738-male-design.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862547" y="5124450"/>
                <a:ext cx="176112" cy="395306"/>
              </a:xfrm>
              <a:prstGeom prst="rect">
                <a:avLst/>
              </a:prstGeom>
              <a:noFill/>
              <a:extLst>
                <a:ext uri="{909E8E84-426E-40DD-AFC4-6F175D3DCCD1}">
                  <a14:hiddenFill xmlns:a14="http://schemas.microsoft.com/office/drawing/2010/main">
                    <a:solidFill>
                      <a:srgbClr val="FFFFFF"/>
                    </a:solidFill>
                  </a14:hiddenFill>
                </a:ext>
              </a:extLst>
            </p:spPr>
          </p:pic>
          <p:pic>
            <p:nvPicPr>
              <p:cNvPr id="93"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82968" y="5122077"/>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94"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94259" y="5122077"/>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95" name="Picture 2" descr="http://images.clipartpanda.com/male-clipart-17738-male-design.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533971" y="5124450"/>
                <a:ext cx="176112" cy="395306"/>
              </a:xfrm>
              <a:prstGeom prst="rect">
                <a:avLst/>
              </a:prstGeom>
              <a:noFill/>
              <a:extLst>
                <a:ext uri="{909E8E84-426E-40DD-AFC4-6F175D3DCCD1}">
                  <a14:hiddenFill xmlns:a14="http://schemas.microsoft.com/office/drawing/2010/main">
                    <a:solidFill>
                      <a:srgbClr val="FFFFFF"/>
                    </a:solidFill>
                  </a14:hiddenFill>
                </a:ext>
              </a:extLst>
            </p:spPr>
          </p:pic>
          <p:pic>
            <p:nvPicPr>
              <p:cNvPr id="96"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08774" y="5122077"/>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97" name="Picture 2" descr="http://images.clipartpanda.com/male-clipart-17738-male-design.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981587" y="5124450"/>
                <a:ext cx="176112" cy="395306"/>
              </a:xfrm>
              <a:prstGeom prst="rect">
                <a:avLst/>
              </a:prstGeom>
              <a:noFill/>
              <a:extLst>
                <a:ext uri="{909E8E84-426E-40DD-AFC4-6F175D3DCCD1}">
                  <a14:hiddenFill xmlns:a14="http://schemas.microsoft.com/office/drawing/2010/main">
                    <a:solidFill>
                      <a:srgbClr val="FFFFFF"/>
                    </a:solidFill>
                  </a14:hiddenFill>
                </a:ext>
              </a:extLst>
            </p:spPr>
          </p:pic>
          <p:pic>
            <p:nvPicPr>
              <p:cNvPr id="98" name="Picture 2" descr="http://images.clipartpanda.com/male-clipart-17738-male-design.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205388" y="5124450"/>
                <a:ext cx="176112" cy="395306"/>
              </a:xfrm>
              <a:prstGeom prst="rect">
                <a:avLst/>
              </a:prstGeom>
              <a:noFill/>
              <a:extLst>
                <a:ext uri="{909E8E84-426E-40DD-AFC4-6F175D3DCCD1}">
                  <a14:hiddenFill xmlns:a14="http://schemas.microsoft.com/office/drawing/2010/main">
                    <a:solidFill>
                      <a:srgbClr val="FFFFFF"/>
                    </a:solidFill>
                  </a14:hiddenFill>
                </a:ext>
              </a:extLst>
            </p:spPr>
          </p:pic>
          <p:pic>
            <p:nvPicPr>
              <p:cNvPr id="99"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45871" y="5122077"/>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100" name="Picture 2" descr="http://images.clipartpanda.com/male-clipart-17738-male-design.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48275" y="5124450"/>
                <a:ext cx="176112" cy="395306"/>
              </a:xfrm>
              <a:prstGeom prst="rect">
                <a:avLst/>
              </a:prstGeom>
              <a:noFill/>
              <a:extLst>
                <a:ext uri="{909E8E84-426E-40DD-AFC4-6F175D3DCCD1}">
                  <a14:hiddenFill xmlns:a14="http://schemas.microsoft.com/office/drawing/2010/main">
                    <a:solidFill>
                      <a:srgbClr val="FFFFFF"/>
                    </a:solidFill>
                  </a14:hiddenFill>
                </a:ext>
              </a:extLst>
            </p:spPr>
          </p:pic>
          <p:pic>
            <p:nvPicPr>
              <p:cNvPr id="101"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20065" y="5122077"/>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102" name="Picture 2" descr="http://images.clipartpanda.com/male-clipart-17738-male-design.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72083" y="5124450"/>
                <a:ext cx="176112" cy="395306"/>
              </a:xfrm>
              <a:prstGeom prst="rect">
                <a:avLst/>
              </a:prstGeom>
              <a:noFill/>
              <a:extLst>
                <a:ext uri="{909E8E84-426E-40DD-AFC4-6F175D3DCCD1}">
                  <a14:hiddenFill xmlns:a14="http://schemas.microsoft.com/office/drawing/2010/main">
                    <a:solidFill>
                      <a:srgbClr val="FFFFFF"/>
                    </a:solidFill>
                  </a14:hiddenFill>
                </a:ext>
              </a:extLst>
            </p:spPr>
          </p:pic>
          <p:pic>
            <p:nvPicPr>
              <p:cNvPr id="103"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57162" y="5122077"/>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104"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31356" y="5122077"/>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105" name="Picture 2" descr="http://images.clipartpanda.com/male-clipart-17738-male-design.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967315" y="5124450"/>
                <a:ext cx="176112" cy="395306"/>
              </a:xfrm>
              <a:prstGeom prst="rect">
                <a:avLst/>
              </a:prstGeom>
              <a:noFill/>
              <a:extLst>
                <a:ext uri="{909E8E84-426E-40DD-AFC4-6F175D3DCCD1}">
                  <a14:hiddenFill xmlns:a14="http://schemas.microsoft.com/office/drawing/2010/main">
                    <a:solidFill>
                      <a:srgbClr val="FFFFFF"/>
                    </a:solidFill>
                  </a14:hiddenFill>
                </a:ext>
              </a:extLst>
            </p:spPr>
          </p:pic>
          <p:pic>
            <p:nvPicPr>
              <p:cNvPr id="106"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05550" y="5122077"/>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107" name="Picture 2" descr="http://images.clipartpanda.com/male-clipart-17738-male-design.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638739" y="5124450"/>
                <a:ext cx="176112" cy="395306"/>
              </a:xfrm>
              <a:prstGeom prst="rect">
                <a:avLst/>
              </a:prstGeom>
              <a:noFill/>
              <a:extLst>
                <a:ext uri="{909E8E84-426E-40DD-AFC4-6F175D3DCCD1}">
                  <a14:hiddenFill xmlns:a14="http://schemas.microsoft.com/office/drawing/2010/main">
                    <a:solidFill>
                      <a:srgbClr val="FFFFFF"/>
                    </a:solidFill>
                  </a14:hiddenFill>
                </a:ext>
              </a:extLst>
            </p:spPr>
          </p:pic>
          <p:pic>
            <p:nvPicPr>
              <p:cNvPr id="108"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79744" y="5122077"/>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109" name="Picture 2" descr="http://images.clipartpanda.com/male-clipart-17738-male-design.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086355" y="5124450"/>
                <a:ext cx="176112" cy="395306"/>
              </a:xfrm>
              <a:prstGeom prst="rect">
                <a:avLst/>
              </a:prstGeom>
              <a:noFill/>
              <a:extLst>
                <a:ext uri="{909E8E84-426E-40DD-AFC4-6F175D3DCCD1}">
                  <a14:hiddenFill xmlns:a14="http://schemas.microsoft.com/office/drawing/2010/main">
                    <a:solidFill>
                      <a:srgbClr val="FFFFFF"/>
                    </a:solidFill>
                  </a14:hiddenFill>
                </a:ext>
              </a:extLst>
            </p:spPr>
          </p:pic>
          <p:pic>
            <p:nvPicPr>
              <p:cNvPr id="110"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53938" y="5122077"/>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111"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28132" y="5122077"/>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112" name="Picture 2" descr="http://images.clipartpanda.com/male-clipart-17738-male-design.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310163" y="5124450"/>
                <a:ext cx="176112" cy="395306"/>
              </a:xfrm>
              <a:prstGeom prst="rect">
                <a:avLst/>
              </a:prstGeom>
              <a:noFill/>
              <a:extLst>
                <a:ext uri="{909E8E84-426E-40DD-AFC4-6F175D3DCCD1}">
                  <a14:hiddenFill xmlns:a14="http://schemas.microsoft.com/office/drawing/2010/main">
                    <a:solidFill>
                      <a:srgbClr val="FFFFFF"/>
                    </a:solidFill>
                  </a14:hiddenFill>
                </a:ext>
              </a:extLst>
            </p:spPr>
          </p:pic>
          <p:pic>
            <p:nvPicPr>
              <p:cNvPr id="113"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02328" y="5122077"/>
                <a:ext cx="260647" cy="428293"/>
              </a:xfrm>
              <a:prstGeom prst="rect">
                <a:avLst/>
              </a:prstGeom>
              <a:noFill/>
              <a:extLst>
                <a:ext uri="{909E8E84-426E-40DD-AFC4-6F175D3DCCD1}">
                  <a14:hiddenFill xmlns:a14="http://schemas.microsoft.com/office/drawing/2010/main">
                    <a:solidFill>
                      <a:srgbClr val="FFFFFF"/>
                    </a:solidFill>
                  </a14:hiddenFill>
                </a:ext>
              </a:extLst>
            </p:spPr>
          </p:pic>
          <p:pic>
            <p:nvPicPr>
              <p:cNvPr id="114" name="Picture 2" descr="http://images.clipartpanda.com/male-clipart-17738-male-design.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191123" y="5124450"/>
                <a:ext cx="176112" cy="395306"/>
              </a:xfrm>
              <a:prstGeom prst="rect">
                <a:avLst/>
              </a:prstGeom>
              <a:noFill/>
              <a:extLst>
                <a:ext uri="{909E8E84-426E-40DD-AFC4-6F175D3DCCD1}">
                  <a14:hiddenFill xmlns:a14="http://schemas.microsoft.com/office/drawing/2010/main">
                    <a:solidFill>
                      <a:srgbClr val="FFFFFF"/>
                    </a:solidFill>
                  </a14:hiddenFill>
                </a:ext>
              </a:extLst>
            </p:spPr>
          </p:pic>
          <p:pic>
            <p:nvPicPr>
              <p:cNvPr id="115" name="Picture 2" descr="http://images.clipartpanda.com/male-clipart-17738-male-design.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295891" y="5124450"/>
                <a:ext cx="176112" cy="395306"/>
              </a:xfrm>
              <a:prstGeom prst="rect">
                <a:avLst/>
              </a:prstGeom>
              <a:noFill/>
              <a:extLst>
                <a:ext uri="{909E8E84-426E-40DD-AFC4-6F175D3DCCD1}">
                  <a14:hiddenFill xmlns:a14="http://schemas.microsoft.com/office/drawing/2010/main">
                    <a:solidFill>
                      <a:srgbClr val="FFFFFF"/>
                    </a:solidFill>
                  </a14:hiddenFill>
                </a:ext>
              </a:extLst>
            </p:spPr>
          </p:pic>
          <p:pic>
            <p:nvPicPr>
              <p:cNvPr id="116" name="Picture 2" descr="http://images.clipartpanda.com/male-clipart-17738-male-design.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757779" y="5124450"/>
                <a:ext cx="176112" cy="395306"/>
              </a:xfrm>
              <a:prstGeom prst="rect">
                <a:avLst/>
              </a:prstGeom>
              <a:noFill/>
              <a:extLst>
                <a:ext uri="{909E8E84-426E-40DD-AFC4-6F175D3DCCD1}">
                  <a14:hiddenFill xmlns:a14="http://schemas.microsoft.com/office/drawing/2010/main">
                    <a:solidFill>
                      <a:srgbClr val="FFFFFF"/>
                    </a:solidFill>
                  </a14:hiddenFill>
                </a:ext>
              </a:extLst>
            </p:spPr>
          </p:pic>
        </p:grpSp>
        <p:sp>
          <p:nvSpPr>
            <p:cNvPr id="117" name="Rounded Rectangle 116"/>
            <p:cNvSpPr/>
            <p:nvPr/>
          </p:nvSpPr>
          <p:spPr>
            <a:xfrm>
              <a:off x="2940896" y="4914900"/>
              <a:ext cx="259504" cy="685800"/>
            </a:xfrm>
            <a:prstGeom prst="roundRect">
              <a:avLst/>
            </a:prstGeom>
            <a:noFill/>
            <a:ln w="38100">
              <a:solidFill>
                <a:srgbClr val="00B050"/>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GB"/>
            </a:p>
          </p:txBody>
        </p:sp>
        <p:sp>
          <p:nvSpPr>
            <p:cNvPr id="118" name="Rounded Rectangle 117"/>
            <p:cNvSpPr/>
            <p:nvPr/>
          </p:nvSpPr>
          <p:spPr>
            <a:xfrm>
              <a:off x="1828800" y="4914900"/>
              <a:ext cx="259504" cy="685800"/>
            </a:xfrm>
            <a:prstGeom prst="roundRect">
              <a:avLst/>
            </a:prstGeom>
            <a:noFill/>
            <a:ln w="38100">
              <a:solidFill>
                <a:srgbClr val="00B050"/>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GB"/>
            </a:p>
          </p:txBody>
        </p:sp>
        <p:sp>
          <p:nvSpPr>
            <p:cNvPr id="119" name="Rounded Rectangle 118"/>
            <p:cNvSpPr/>
            <p:nvPr/>
          </p:nvSpPr>
          <p:spPr>
            <a:xfrm>
              <a:off x="3836246" y="4914900"/>
              <a:ext cx="259504" cy="685800"/>
            </a:xfrm>
            <a:prstGeom prst="roundRect">
              <a:avLst/>
            </a:prstGeom>
            <a:noFill/>
            <a:ln w="38100">
              <a:solidFill>
                <a:srgbClr val="00B050"/>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GB"/>
            </a:p>
          </p:txBody>
        </p:sp>
        <p:sp>
          <p:nvSpPr>
            <p:cNvPr id="120" name="Rounded Rectangle 119"/>
            <p:cNvSpPr/>
            <p:nvPr/>
          </p:nvSpPr>
          <p:spPr>
            <a:xfrm>
              <a:off x="4874471" y="4914900"/>
              <a:ext cx="259504" cy="685800"/>
            </a:xfrm>
            <a:prstGeom prst="roundRect">
              <a:avLst/>
            </a:prstGeom>
            <a:noFill/>
            <a:ln w="38100">
              <a:solidFill>
                <a:srgbClr val="00B050"/>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GB"/>
            </a:p>
          </p:txBody>
        </p:sp>
        <p:sp>
          <p:nvSpPr>
            <p:cNvPr id="121" name="Rounded Rectangle 120"/>
            <p:cNvSpPr/>
            <p:nvPr/>
          </p:nvSpPr>
          <p:spPr>
            <a:xfrm>
              <a:off x="8189171" y="4914900"/>
              <a:ext cx="259504" cy="685800"/>
            </a:xfrm>
            <a:prstGeom prst="roundRect">
              <a:avLst/>
            </a:prstGeom>
            <a:noFill/>
            <a:ln w="38100">
              <a:solidFill>
                <a:srgbClr val="00B050"/>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GB"/>
            </a:p>
          </p:txBody>
        </p:sp>
        <p:sp>
          <p:nvSpPr>
            <p:cNvPr id="122" name="Rounded Rectangle 121"/>
            <p:cNvSpPr/>
            <p:nvPr/>
          </p:nvSpPr>
          <p:spPr>
            <a:xfrm>
              <a:off x="6772275" y="4914900"/>
              <a:ext cx="259504" cy="685800"/>
            </a:xfrm>
            <a:prstGeom prst="roundRect">
              <a:avLst/>
            </a:prstGeom>
            <a:noFill/>
            <a:ln w="38100">
              <a:solidFill>
                <a:srgbClr val="00B050"/>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GB"/>
            </a:p>
          </p:txBody>
        </p:sp>
      </p:grpSp>
    </p:spTree>
    <p:extLst>
      <p:ext uri="{BB962C8B-B14F-4D97-AF65-F5344CB8AC3E}">
        <p14:creationId xmlns:p14="http://schemas.microsoft.com/office/powerpoint/2010/main" val="2424825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500"/>
                                        <p:tgtEl>
                                          <p:spTgt spid="4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6"/>
                                        </p:tgtEl>
                                        <p:attrNameLst>
                                          <p:attrName>style.visibility</p:attrName>
                                        </p:attrNameLst>
                                      </p:cBhvr>
                                      <p:to>
                                        <p:strVal val="visible"/>
                                      </p:to>
                                    </p:set>
                                    <p:animEffect transition="in" filter="fade">
                                      <p:cBhvr>
                                        <p:cTn id="12" dur="500"/>
                                        <p:tgtEl>
                                          <p:spTgt spid="76"/>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500"/>
                                        <p:tgtEl>
                                          <p:spTgt spid="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77"/>
                                        </p:tgtEl>
                                        <p:attrNameLst>
                                          <p:attrName>style.visibility</p:attrName>
                                        </p:attrNameLst>
                                      </p:cBhvr>
                                      <p:to>
                                        <p:strVal val="visible"/>
                                      </p:to>
                                    </p:set>
                                    <p:animEffect transition="in" filter="fade">
                                      <p:cBhvr>
                                        <p:cTn id="21" dur="500"/>
                                        <p:tgtEl>
                                          <p:spTgt spid="77"/>
                                        </p:tgtEl>
                                      </p:cBhvr>
                                    </p:animEffect>
                                  </p:childTnLst>
                                </p:cTn>
                              </p:par>
                            </p:childTnLst>
                          </p:cTn>
                        </p:par>
                        <p:par>
                          <p:cTn id="22" fill="hold">
                            <p:stCondLst>
                              <p:cond delay="500"/>
                            </p:stCondLst>
                            <p:childTnLst>
                              <p:par>
                                <p:cTn id="23" presetID="10" presetClass="entr" presetSubtype="0" fill="hold" grpId="0" nodeType="afterEffect">
                                  <p:stCondLst>
                                    <p:cond delay="0"/>
                                  </p:stCondLst>
                                  <p:childTnLst>
                                    <p:set>
                                      <p:cBhvr>
                                        <p:cTn id="24" dur="1" fill="hold">
                                          <p:stCondLst>
                                            <p:cond delay="0"/>
                                          </p:stCondLst>
                                        </p:cTn>
                                        <p:tgtEl>
                                          <p:spTgt spid="80"/>
                                        </p:tgtEl>
                                        <p:attrNameLst>
                                          <p:attrName>style.visibility</p:attrName>
                                        </p:attrNameLst>
                                      </p:cBhvr>
                                      <p:to>
                                        <p:strVal val="visible"/>
                                      </p:to>
                                    </p:set>
                                    <p:animEffect transition="in" filter="fade">
                                      <p:cBhvr>
                                        <p:cTn id="25" dur="500"/>
                                        <p:tgtEl>
                                          <p:spTgt spid="80"/>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78"/>
                                        </p:tgtEl>
                                        <p:attrNameLst>
                                          <p:attrName>style.visibility</p:attrName>
                                        </p:attrNameLst>
                                      </p:cBhvr>
                                      <p:to>
                                        <p:strVal val="visible"/>
                                      </p:to>
                                    </p:set>
                                    <p:animEffect transition="in" filter="fade">
                                      <p:cBhvr>
                                        <p:cTn id="30" dur="500"/>
                                        <p:tgtEl>
                                          <p:spTgt spid="78"/>
                                        </p:tgtEl>
                                      </p:cBhvr>
                                    </p:animEffect>
                                  </p:childTnLst>
                                </p:cTn>
                              </p:par>
                            </p:childTnLst>
                          </p:cTn>
                        </p:par>
                        <p:par>
                          <p:cTn id="31" fill="hold">
                            <p:stCondLst>
                              <p:cond delay="500"/>
                            </p:stCondLst>
                            <p:childTnLst>
                              <p:par>
                                <p:cTn id="32" presetID="10" presetClass="entr" presetSubtype="0" fill="hold" nodeType="afterEffect">
                                  <p:stCondLst>
                                    <p:cond delay="0"/>
                                  </p:stCondLst>
                                  <p:childTnLst>
                                    <p:set>
                                      <p:cBhvr>
                                        <p:cTn id="33" dur="1" fill="hold">
                                          <p:stCondLst>
                                            <p:cond delay="0"/>
                                          </p:stCondLst>
                                        </p:cTn>
                                        <p:tgtEl>
                                          <p:spTgt spid="81"/>
                                        </p:tgtEl>
                                        <p:attrNameLst>
                                          <p:attrName>style.visibility</p:attrName>
                                        </p:attrNameLst>
                                      </p:cBhvr>
                                      <p:to>
                                        <p:strVal val="visible"/>
                                      </p:to>
                                    </p:set>
                                    <p:animEffect transition="in" filter="fade">
                                      <p:cBhvr>
                                        <p:cTn id="34" dur="5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p:bldP spid="77" grpId="0"/>
      <p:bldP spid="78" grpId="0"/>
      <p:bldP spid="80" grpId="0" animBg="1"/>
      <p:bldP spid="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Statistical Inference</a:t>
            </a:r>
          </a:p>
        </p:txBody>
      </p:sp>
      <p:sp>
        <p:nvSpPr>
          <p:cNvPr id="115715" name="Text Box 3"/>
          <p:cNvSpPr txBox="1">
            <a:spLocks noChangeArrowheads="1"/>
          </p:cNvSpPr>
          <p:nvPr/>
        </p:nvSpPr>
        <p:spPr bwMode="auto">
          <a:xfrm>
            <a:off x="304800" y="762000"/>
            <a:ext cx="58547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2000" dirty="0"/>
              <a:t>We infer population </a:t>
            </a:r>
            <a:r>
              <a:rPr lang="en-US" altLang="en-US" sz="2000" b="1" dirty="0"/>
              <a:t>parameters</a:t>
            </a:r>
            <a:r>
              <a:rPr lang="en-US" altLang="en-US" sz="2000" dirty="0"/>
              <a:t> from sample </a:t>
            </a:r>
            <a:r>
              <a:rPr lang="en-US" altLang="en-US" sz="2000" b="1" dirty="0"/>
              <a:t>statistics</a:t>
            </a:r>
          </a:p>
        </p:txBody>
      </p:sp>
      <p:sp>
        <p:nvSpPr>
          <p:cNvPr id="5" name="Rectangle 3"/>
          <p:cNvSpPr>
            <a:spLocks noChangeArrowheads="1"/>
          </p:cNvSpPr>
          <p:nvPr/>
        </p:nvSpPr>
        <p:spPr bwMode="auto">
          <a:xfrm>
            <a:off x="285750" y="2286000"/>
            <a:ext cx="779145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marL="342900" indent="-342900">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marL="0" indent="0">
              <a:buClr>
                <a:srgbClr val="333399"/>
              </a:buClr>
              <a:buSzPct val="200000"/>
              <a:buNone/>
            </a:pPr>
            <a:r>
              <a:rPr lang="en-US" altLang="en-US" sz="2000" dirty="0">
                <a:latin typeface="+mn-lt"/>
              </a:rPr>
              <a:t>We </a:t>
            </a:r>
            <a:r>
              <a:rPr lang="en-US" altLang="en-US" sz="2000" b="1" dirty="0">
                <a:latin typeface="+mn-lt"/>
              </a:rPr>
              <a:t>cannot expect sample</a:t>
            </a:r>
            <a:r>
              <a:rPr lang="en-US" altLang="en-US" sz="2000" dirty="0">
                <a:latin typeface="+mn-lt"/>
              </a:rPr>
              <a:t> means, standard deviations or percentages to </a:t>
            </a:r>
            <a:r>
              <a:rPr lang="en-US" altLang="en-US" sz="2000" b="1" dirty="0">
                <a:latin typeface="+mn-lt"/>
              </a:rPr>
              <a:t>be an exact</a:t>
            </a:r>
            <a:r>
              <a:rPr lang="en-US" altLang="en-US" sz="2000" b="1" i="1" dirty="0">
                <a:latin typeface="+mn-lt"/>
              </a:rPr>
              <a:t> </a:t>
            </a:r>
            <a:r>
              <a:rPr lang="en-US" altLang="en-US" sz="2000" b="1" dirty="0">
                <a:latin typeface="+mn-lt"/>
              </a:rPr>
              <a:t>match of </a:t>
            </a:r>
            <a:r>
              <a:rPr lang="en-US" altLang="en-US" sz="2000" dirty="0">
                <a:latin typeface="+mn-lt"/>
              </a:rPr>
              <a:t>the </a:t>
            </a:r>
            <a:r>
              <a:rPr lang="en-US" altLang="en-US" sz="2000" b="1" dirty="0">
                <a:latin typeface="+mn-lt"/>
              </a:rPr>
              <a:t>population</a:t>
            </a:r>
            <a:r>
              <a:rPr lang="en-US" altLang="en-US" sz="2000" dirty="0">
                <a:latin typeface="+mn-lt"/>
              </a:rPr>
              <a:t> figures.</a:t>
            </a:r>
          </a:p>
        </p:txBody>
      </p:sp>
      <p:sp>
        <p:nvSpPr>
          <p:cNvPr id="14" name="Horizontal Scroll 13"/>
          <p:cNvSpPr/>
          <p:nvPr/>
        </p:nvSpPr>
        <p:spPr>
          <a:xfrm>
            <a:off x="1966038" y="1422676"/>
            <a:ext cx="4968162" cy="558524"/>
          </a:xfrm>
          <a:prstGeom prst="horizontalScroll">
            <a:avLst/>
          </a:prstGeom>
          <a:ln>
            <a:solidFill>
              <a:schemeClr val="bg2"/>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GB"/>
          </a:p>
        </p:txBody>
      </p:sp>
      <p:pic>
        <p:nvPicPr>
          <p:cNvPr id="15" name="Picture 4" descr="https://encrypted-tbn3.gstatic.com/images?q=tbn:ANd9GcSYalP_o92KbXHoPFFqiq3Bvqwigqxp-tT4vK0P7iW-hwi5ZHCjhA"/>
          <p:cNvPicPr>
            <a:picLocks noChangeAspect="1" noChangeArrowheads="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228135" y="1614976"/>
            <a:ext cx="155402" cy="264539"/>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4" descr="https://encrypted-tbn3.gstatic.com/images?q=tbn:ANd9GcSYalP_o92KbXHoPFFqiq3Bvqwigqxp-tT4vK0P7iW-hwi5ZHCjhA"/>
          <p:cNvPicPr>
            <a:picLocks noChangeAspect="1" noChangeArrowheads="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790955" y="1614976"/>
            <a:ext cx="155402" cy="264539"/>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 descr="http://images.clipartpanda.com/male-clipart-17738-male-design.png"/>
          <p:cNvPicPr>
            <a:picLocks noChangeAspect="1" noChangeArrowheads="1"/>
          </p:cNvPicPr>
          <p:nvPr/>
        </p:nvPicPr>
        <p:blipFill>
          <a:blip r:embed="rId4"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657646" y="1614976"/>
            <a:ext cx="105001" cy="244164"/>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4" descr="https://encrypted-tbn3.gstatic.com/images?q=tbn:ANd9GcSYalP_o92KbXHoPFFqiq3Bvqwigqxp-tT4vK0P7iW-hwi5ZHCjhA"/>
          <p:cNvPicPr>
            <a:picLocks noChangeAspect="1" noChangeArrowheads="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241649" y="1614976"/>
            <a:ext cx="155402" cy="264539"/>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 descr="http://images.clipartpanda.com/male-clipart-17738-male-design.png"/>
          <p:cNvPicPr>
            <a:picLocks noChangeAspect="1" noChangeArrowheads="1"/>
          </p:cNvPicPr>
          <p:nvPr/>
        </p:nvPicPr>
        <p:blipFill>
          <a:blip r:embed="rId4"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932299" y="1614976"/>
            <a:ext cx="105001" cy="244164"/>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4" descr="https://encrypted-tbn3.gstatic.com/images?q=tbn:ANd9GcSYalP_o92KbXHoPFFqiq3Bvqwigqxp-tT4vK0P7iW-hwi5ZHCjhA"/>
          <p:cNvPicPr>
            <a:picLocks noChangeAspect="1" noChangeArrowheads="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692343" y="1614976"/>
            <a:ext cx="155402" cy="264539"/>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 descr="http://images.clipartpanda.com/male-clipart-17738-male-design.png"/>
          <p:cNvPicPr>
            <a:picLocks noChangeAspect="1" noChangeArrowheads="1"/>
          </p:cNvPicPr>
          <p:nvPr/>
        </p:nvPicPr>
        <p:blipFill>
          <a:blip r:embed="rId4"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756258" y="1614976"/>
            <a:ext cx="105001" cy="244164"/>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4" descr="https://encrypted-tbn3.gstatic.com/images?q=tbn:ANd9GcSYalP_o92KbXHoPFFqiq3Bvqwigqxp-tT4vK0P7iW-hwi5ZHCjhA"/>
          <p:cNvPicPr>
            <a:picLocks noChangeAspect="1" noChangeArrowheads="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143037" y="1614976"/>
            <a:ext cx="155402" cy="264539"/>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 descr="http://images.clipartpanda.com/male-clipart-17738-male-design.png"/>
          <p:cNvPicPr>
            <a:picLocks noChangeAspect="1" noChangeArrowheads="1"/>
          </p:cNvPicPr>
          <p:nvPr/>
        </p:nvPicPr>
        <p:blipFill>
          <a:blip r:embed="rId4"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305564" y="1614976"/>
            <a:ext cx="105001" cy="244164"/>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4" descr="https://encrypted-tbn3.gstatic.com/images?q=tbn:ANd9GcSYalP_o92KbXHoPFFqiq3Bvqwigqxp-tT4vK0P7iW-hwi5ZHCjhA"/>
          <p:cNvPicPr>
            <a:picLocks noChangeAspect="1" noChangeArrowheads="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593731" y="1614976"/>
            <a:ext cx="155402" cy="264539"/>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 descr="http://images.clipartpanda.com/male-clipart-17738-male-design.png"/>
          <p:cNvPicPr>
            <a:picLocks noChangeAspect="1" noChangeArrowheads="1"/>
          </p:cNvPicPr>
          <p:nvPr/>
        </p:nvPicPr>
        <p:blipFill>
          <a:blip r:embed="rId4"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129523" y="1614976"/>
            <a:ext cx="105001" cy="244164"/>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4" descr="https://encrypted-tbn3.gstatic.com/images?q=tbn:ANd9GcSYalP_o92KbXHoPFFqiq3Bvqwigqxp-tT4vK0P7iW-hwi5ZHCjhA"/>
          <p:cNvPicPr>
            <a:picLocks noChangeAspect="1" noChangeArrowheads="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220466" y="1614976"/>
            <a:ext cx="155402" cy="264539"/>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 descr="http://images.clipartpanda.com/male-clipart-17738-male-design.png"/>
          <p:cNvPicPr>
            <a:picLocks noChangeAspect="1" noChangeArrowheads="1"/>
          </p:cNvPicPr>
          <p:nvPr/>
        </p:nvPicPr>
        <p:blipFill>
          <a:blip r:embed="rId4"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953482" y="1614976"/>
            <a:ext cx="105001" cy="244164"/>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4" descr="https://encrypted-tbn3.gstatic.com/images?q=tbn:ANd9GcSYalP_o92KbXHoPFFqiq3Bvqwigqxp-tT4vK0P7iW-hwi5ZHCjhA"/>
          <p:cNvPicPr>
            <a:picLocks noChangeAspect="1" noChangeArrowheads="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495119" y="1614976"/>
            <a:ext cx="155402" cy="264539"/>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2" descr="http://images.clipartpanda.com/male-clipart-17738-male-design.png"/>
          <p:cNvPicPr>
            <a:picLocks noChangeAspect="1" noChangeArrowheads="1"/>
          </p:cNvPicPr>
          <p:nvPr/>
        </p:nvPicPr>
        <p:blipFill>
          <a:blip r:embed="rId4"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108340" y="1614976"/>
            <a:ext cx="105001" cy="244164"/>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4" descr="https://encrypted-tbn3.gstatic.com/images?q=tbn:ANd9GcSYalP_o92KbXHoPFFqiq3Bvqwigqxp-tT4vK0P7iW-hwi5ZHCjhA"/>
          <p:cNvPicPr>
            <a:picLocks noChangeAspect="1" noChangeArrowheads="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044425" y="1614976"/>
            <a:ext cx="155402" cy="264539"/>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descr="http://images.clipartpanda.com/male-clipart-17738-male-design.png"/>
          <p:cNvPicPr>
            <a:picLocks noChangeAspect="1" noChangeArrowheads="1"/>
          </p:cNvPicPr>
          <p:nvPr/>
        </p:nvPicPr>
        <p:blipFill>
          <a:blip r:embed="rId4"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553200" y="1614976"/>
            <a:ext cx="105001" cy="244164"/>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4" descr="https://encrypted-tbn3.gstatic.com/images?q=tbn:ANd9GcSYalP_o92KbXHoPFFqiq3Bvqwigqxp-tT4vK0P7iW-hwi5ZHCjhA"/>
          <p:cNvPicPr>
            <a:picLocks noChangeAspect="1" noChangeArrowheads="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319078" y="1614976"/>
            <a:ext cx="155402" cy="264539"/>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4" descr="https://encrypted-tbn3.gstatic.com/images?q=tbn:ANd9GcSYalP_o92KbXHoPFFqiq3Bvqwigqxp-tT4vK0P7iW-hwi5ZHCjhA"/>
          <p:cNvPicPr>
            <a:picLocks noChangeAspect="1" noChangeArrowheads="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417690" y="1614976"/>
            <a:ext cx="155402" cy="264539"/>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2" descr="http://images.clipartpanda.com/male-clipart-17738-male-design.png"/>
          <p:cNvPicPr>
            <a:picLocks noChangeAspect="1" noChangeArrowheads="1"/>
          </p:cNvPicPr>
          <p:nvPr/>
        </p:nvPicPr>
        <p:blipFill>
          <a:blip r:embed="rId4"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030911" y="1614976"/>
            <a:ext cx="105001" cy="244164"/>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4" descr="https://encrypted-tbn3.gstatic.com/images?q=tbn:ANd9GcSYalP_o92KbXHoPFFqiq3Bvqwigqxp-tT4vK0P7iW-hwi5ZHCjhA"/>
          <p:cNvPicPr>
            <a:picLocks noChangeAspect="1" noChangeArrowheads="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516302" y="1614976"/>
            <a:ext cx="155402" cy="264539"/>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 descr="https://encrypted-tbn3.gstatic.com/images?q=tbn:ANd9GcSYalP_o92KbXHoPFFqiq3Bvqwigqxp-tT4vK0P7iW-hwi5ZHCjhA"/>
          <p:cNvPicPr>
            <a:picLocks noChangeAspect="1" noChangeArrowheads="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065608" y="1614976"/>
            <a:ext cx="155402" cy="264539"/>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2" descr="http://images.clipartpanda.com/male-clipart-17738-male-design.png"/>
          <p:cNvPicPr>
            <a:picLocks noChangeAspect="1" noChangeArrowheads="1"/>
          </p:cNvPicPr>
          <p:nvPr/>
        </p:nvPicPr>
        <p:blipFill>
          <a:blip r:embed="rId4"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854870" y="1614976"/>
            <a:ext cx="105001" cy="244164"/>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2" descr="http://images.clipartpanda.com/male-clipart-17738-male-design.png"/>
          <p:cNvPicPr>
            <a:picLocks noChangeAspect="1" noChangeArrowheads="1"/>
          </p:cNvPicPr>
          <p:nvPr/>
        </p:nvPicPr>
        <p:blipFill>
          <a:blip r:embed="rId4"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481605" y="1614976"/>
            <a:ext cx="105001" cy="244164"/>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2" descr="http://images.clipartpanda.com/male-clipart-17738-male-design.png"/>
          <p:cNvPicPr>
            <a:picLocks noChangeAspect="1" noChangeArrowheads="1"/>
          </p:cNvPicPr>
          <p:nvPr/>
        </p:nvPicPr>
        <p:blipFill>
          <a:blip r:embed="rId4"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382993" y="1614976"/>
            <a:ext cx="105001" cy="244164"/>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2" descr="http://images.clipartpanda.com/male-clipart-17738-male-design.png"/>
          <p:cNvPicPr>
            <a:picLocks noChangeAspect="1" noChangeArrowheads="1"/>
          </p:cNvPicPr>
          <p:nvPr/>
        </p:nvPicPr>
        <p:blipFill>
          <a:blip r:embed="rId4"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404176" y="1614976"/>
            <a:ext cx="105001" cy="244164"/>
          </a:xfrm>
          <a:prstGeom prst="rect">
            <a:avLst/>
          </a:prstGeom>
          <a:noFill/>
          <a:extLst>
            <a:ext uri="{909E8E84-426E-40DD-AFC4-6F175D3DCCD1}">
              <a14:hiddenFill xmlns:a14="http://schemas.microsoft.com/office/drawing/2010/main">
                <a:solidFill>
                  <a:srgbClr val="FFFFFF"/>
                </a:solidFill>
              </a14:hiddenFill>
            </a:ext>
          </a:extLst>
        </p:spPr>
      </p:pic>
      <p:grpSp>
        <p:nvGrpSpPr>
          <p:cNvPr id="49" name="Group 48"/>
          <p:cNvGrpSpPr/>
          <p:nvPr/>
        </p:nvGrpSpPr>
        <p:grpSpPr>
          <a:xfrm>
            <a:off x="2769771" y="1513478"/>
            <a:ext cx="3835917" cy="378066"/>
            <a:chOff x="2769771" y="1513478"/>
            <a:chExt cx="3835917" cy="378066"/>
          </a:xfrm>
        </p:grpSpPr>
        <p:pic>
          <p:nvPicPr>
            <p:cNvPr id="24"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69771" y="1513478"/>
              <a:ext cx="215027" cy="366038"/>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28" name="Picture 2" descr="http://images.clipartpanda.com/male-clipart-17738-male-design.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678829" y="1521295"/>
              <a:ext cx="145288" cy="337845"/>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36" name="Picture 2" descr="http://images.clipartpanda.com/male-clipart-17738-male-design.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206952" y="1521295"/>
              <a:ext cx="145288" cy="337845"/>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39"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66995" y="1513478"/>
              <a:ext cx="215027" cy="366038"/>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40" name="Picture 2" descr="http://images.clipartpanda.com/male-clipart-17738-male-design.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580217" y="1521295"/>
              <a:ext cx="145288" cy="337845"/>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44"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90661" y="1513478"/>
              <a:ext cx="215027" cy="366038"/>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48"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23573" y="1525506"/>
              <a:ext cx="215027" cy="366038"/>
            </a:xfrm>
            <a:prstGeom prst="rect">
              <a:avLst/>
            </a:prstGeom>
            <a:noFill/>
            <a:ln>
              <a:noFill/>
            </a:ln>
            <a:extLst>
              <a:ext uri="{909E8E84-426E-40DD-AFC4-6F175D3DCCD1}">
                <a14:hiddenFill xmlns:a14="http://schemas.microsoft.com/office/drawing/2010/main">
                  <a:solidFill>
                    <a:srgbClr val="FFFFFF"/>
                  </a:solidFill>
                </a14:hiddenFill>
              </a:ext>
            </a:extLst>
          </p:spPr>
        </p:pic>
      </p:grpSp>
      <p:sp>
        <p:nvSpPr>
          <p:cNvPr id="51" name="Rectangle 3"/>
          <p:cNvSpPr>
            <a:spLocks noChangeArrowheads="1"/>
          </p:cNvSpPr>
          <p:nvPr/>
        </p:nvSpPr>
        <p:spPr bwMode="auto">
          <a:xfrm>
            <a:off x="285750" y="3200400"/>
            <a:ext cx="779145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marL="342900" indent="-342900">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marL="0" indent="0">
              <a:buClr>
                <a:srgbClr val="333399"/>
              </a:buClr>
              <a:buSzPct val="200000"/>
              <a:buNone/>
            </a:pPr>
            <a:r>
              <a:rPr lang="en-US" altLang="en-US" sz="2000" dirty="0">
                <a:latin typeface="+mn-lt"/>
              </a:rPr>
              <a:t>Generally, </a:t>
            </a:r>
            <a:r>
              <a:rPr lang="en-US" altLang="en-US" sz="2000" b="1" dirty="0">
                <a:latin typeface="+mn-lt"/>
              </a:rPr>
              <a:t>small samples </a:t>
            </a:r>
            <a:r>
              <a:rPr lang="en-US" altLang="en-US" sz="2000" dirty="0">
                <a:latin typeface="+mn-lt"/>
              </a:rPr>
              <a:t>provide </a:t>
            </a:r>
            <a:r>
              <a:rPr lang="en-US" altLang="en-US" sz="2000" b="1" dirty="0">
                <a:latin typeface="+mn-lt"/>
              </a:rPr>
              <a:t>less accurate </a:t>
            </a:r>
            <a:r>
              <a:rPr lang="en-US" altLang="en-US" sz="2000" dirty="0">
                <a:latin typeface="+mn-lt"/>
              </a:rPr>
              <a:t>estimates. There will always be uncertainty </a:t>
            </a:r>
            <a:r>
              <a:rPr lang="en-US" altLang="en-US" sz="2000" b="1" dirty="0">
                <a:latin typeface="+mn-lt"/>
              </a:rPr>
              <a:t>due to sampling variation</a:t>
            </a:r>
            <a:r>
              <a:rPr lang="en-US" altLang="en-US" sz="2000" dirty="0">
                <a:latin typeface="+mn-lt"/>
              </a:rPr>
              <a:t>.</a:t>
            </a:r>
          </a:p>
          <a:p>
            <a:pPr marL="0" indent="0">
              <a:buClr>
                <a:srgbClr val="333399"/>
              </a:buClr>
              <a:buSzPct val="200000"/>
              <a:buNone/>
            </a:pPr>
            <a:endParaRPr lang="en-US" altLang="en-US" sz="2000" dirty="0">
              <a:latin typeface="+mn-lt"/>
            </a:endParaRPr>
          </a:p>
        </p:txBody>
      </p:sp>
      <p:graphicFrame>
        <p:nvGraphicFramePr>
          <p:cNvPr id="3" name="Table 3">
            <a:extLst>
              <a:ext uri="{FF2B5EF4-FFF2-40B4-BE49-F238E27FC236}">
                <a16:creationId xmlns:a16="http://schemas.microsoft.com/office/drawing/2014/main" id="{94F3D57D-984D-2A58-2B34-329D2C55A8DF}"/>
              </a:ext>
            </a:extLst>
          </p:cNvPr>
          <p:cNvGraphicFramePr>
            <a:graphicFrameLocks noGrp="1"/>
          </p:cNvGraphicFramePr>
          <p:nvPr>
            <p:extLst>
              <p:ext uri="{D42A27DB-BD31-4B8C-83A1-F6EECF244321}">
                <p14:modId xmlns:p14="http://schemas.microsoft.com/office/powerpoint/2010/main" val="3298454036"/>
              </p:ext>
            </p:extLst>
          </p:nvPr>
        </p:nvGraphicFramePr>
        <p:xfrm>
          <a:off x="1447391" y="4114800"/>
          <a:ext cx="6096000" cy="741680"/>
        </p:xfrm>
        <a:graphic>
          <a:graphicData uri="http://schemas.openxmlformats.org/drawingml/2006/table">
            <a:tbl>
              <a:tblPr firstRow="1" bandRow="1">
                <a:tableStyleId>{69CF1AB2-1976-4502-BF36-3FF5EA218861}</a:tableStyleId>
              </a:tblPr>
              <a:tblGrid>
                <a:gridCol w="762000">
                  <a:extLst>
                    <a:ext uri="{9D8B030D-6E8A-4147-A177-3AD203B41FA5}">
                      <a16:colId xmlns:a16="http://schemas.microsoft.com/office/drawing/2014/main" val="74876837"/>
                    </a:ext>
                  </a:extLst>
                </a:gridCol>
                <a:gridCol w="762000">
                  <a:extLst>
                    <a:ext uri="{9D8B030D-6E8A-4147-A177-3AD203B41FA5}">
                      <a16:colId xmlns:a16="http://schemas.microsoft.com/office/drawing/2014/main" val="56296960"/>
                    </a:ext>
                  </a:extLst>
                </a:gridCol>
                <a:gridCol w="762000">
                  <a:extLst>
                    <a:ext uri="{9D8B030D-6E8A-4147-A177-3AD203B41FA5}">
                      <a16:colId xmlns:a16="http://schemas.microsoft.com/office/drawing/2014/main" val="3488370400"/>
                    </a:ext>
                  </a:extLst>
                </a:gridCol>
                <a:gridCol w="762000">
                  <a:extLst>
                    <a:ext uri="{9D8B030D-6E8A-4147-A177-3AD203B41FA5}">
                      <a16:colId xmlns:a16="http://schemas.microsoft.com/office/drawing/2014/main" val="348144820"/>
                    </a:ext>
                  </a:extLst>
                </a:gridCol>
                <a:gridCol w="762000">
                  <a:extLst>
                    <a:ext uri="{9D8B030D-6E8A-4147-A177-3AD203B41FA5}">
                      <a16:colId xmlns:a16="http://schemas.microsoft.com/office/drawing/2014/main" val="3068751235"/>
                    </a:ext>
                  </a:extLst>
                </a:gridCol>
                <a:gridCol w="762000">
                  <a:extLst>
                    <a:ext uri="{9D8B030D-6E8A-4147-A177-3AD203B41FA5}">
                      <a16:colId xmlns:a16="http://schemas.microsoft.com/office/drawing/2014/main" val="1070189113"/>
                    </a:ext>
                  </a:extLst>
                </a:gridCol>
                <a:gridCol w="762000">
                  <a:extLst>
                    <a:ext uri="{9D8B030D-6E8A-4147-A177-3AD203B41FA5}">
                      <a16:colId xmlns:a16="http://schemas.microsoft.com/office/drawing/2014/main" val="3696758718"/>
                    </a:ext>
                  </a:extLst>
                </a:gridCol>
                <a:gridCol w="762000">
                  <a:extLst>
                    <a:ext uri="{9D8B030D-6E8A-4147-A177-3AD203B41FA5}">
                      <a16:colId xmlns:a16="http://schemas.microsoft.com/office/drawing/2014/main" val="182581074"/>
                    </a:ext>
                  </a:extLst>
                </a:gridCol>
              </a:tblGrid>
              <a:tr h="370840">
                <a:tc>
                  <a:txBody>
                    <a:bodyPr/>
                    <a:lstStyle/>
                    <a:p>
                      <a:pPr algn="ctr" fontAlgn="b"/>
                      <a:r>
                        <a:rPr lang="en-US" sz="1800" b="0" i="0" u="none" strike="noStrike">
                          <a:solidFill>
                            <a:srgbClr val="000000"/>
                          </a:solidFill>
                          <a:effectLst/>
                          <a:latin typeface="Arial" panose="020B0604020202020204" pitchFamily="34" charset="0"/>
                          <a:cs typeface="Arial" panose="020B0604020202020204" pitchFamily="34" charset="0"/>
                        </a:rPr>
                        <a:t>35</a:t>
                      </a:r>
                    </a:p>
                  </a:txBody>
                  <a:tcPr marL="7620" marR="7620" marT="7620" marB="0" anchor="b"/>
                </a:tc>
                <a:tc>
                  <a:txBody>
                    <a:bodyPr/>
                    <a:lstStyle/>
                    <a:p>
                      <a:pPr algn="ctr" fontAlgn="b"/>
                      <a:r>
                        <a:rPr lang="en-US" sz="1800" b="0" i="0" u="none" strike="noStrike">
                          <a:solidFill>
                            <a:srgbClr val="000000"/>
                          </a:solidFill>
                          <a:effectLst/>
                          <a:latin typeface="Arial" panose="020B0604020202020204" pitchFamily="34" charset="0"/>
                          <a:cs typeface="Arial" panose="020B0604020202020204" pitchFamily="34" charset="0"/>
                        </a:rPr>
                        <a:t>27</a:t>
                      </a:r>
                    </a:p>
                  </a:txBody>
                  <a:tcPr marL="7620" marR="7620" marT="7620" marB="0" anchor="b"/>
                </a:tc>
                <a:tc>
                  <a:txBody>
                    <a:bodyPr/>
                    <a:lstStyle/>
                    <a:p>
                      <a:pPr algn="ctr" fontAlgn="b"/>
                      <a:r>
                        <a:rPr lang="en-US" sz="1800" b="0" i="0" u="none" strike="noStrike" dirty="0">
                          <a:solidFill>
                            <a:srgbClr val="000000"/>
                          </a:solidFill>
                          <a:effectLst/>
                          <a:latin typeface="Arial" panose="020B0604020202020204" pitchFamily="34" charset="0"/>
                          <a:cs typeface="Arial" panose="020B0604020202020204" pitchFamily="34" charset="0"/>
                        </a:rPr>
                        <a:t>22</a:t>
                      </a:r>
                    </a:p>
                  </a:txBody>
                  <a:tcPr marL="7620" marR="7620" marT="7620" marB="0" anchor="b"/>
                </a:tc>
                <a:tc>
                  <a:txBody>
                    <a:bodyPr/>
                    <a:lstStyle/>
                    <a:p>
                      <a:pPr algn="ctr" fontAlgn="b"/>
                      <a:r>
                        <a:rPr lang="en-US" sz="1800" b="0" i="0" u="none" strike="noStrike">
                          <a:solidFill>
                            <a:srgbClr val="000000"/>
                          </a:solidFill>
                          <a:effectLst/>
                          <a:latin typeface="Arial" panose="020B0604020202020204" pitchFamily="34" charset="0"/>
                          <a:cs typeface="Arial" panose="020B0604020202020204" pitchFamily="34" charset="0"/>
                        </a:rPr>
                        <a:t>35</a:t>
                      </a:r>
                    </a:p>
                  </a:txBody>
                  <a:tcPr marL="7620" marR="7620" marT="7620" marB="0" anchor="b"/>
                </a:tc>
                <a:tc>
                  <a:txBody>
                    <a:bodyPr/>
                    <a:lstStyle/>
                    <a:p>
                      <a:pPr algn="ctr" fontAlgn="b"/>
                      <a:r>
                        <a:rPr lang="en-US" sz="1800" b="0" i="0" u="none" strike="noStrike">
                          <a:solidFill>
                            <a:srgbClr val="000000"/>
                          </a:solidFill>
                          <a:effectLst/>
                          <a:latin typeface="Arial" panose="020B0604020202020204" pitchFamily="34" charset="0"/>
                          <a:cs typeface="Arial" panose="020B0604020202020204" pitchFamily="34" charset="0"/>
                        </a:rPr>
                        <a:t>35</a:t>
                      </a:r>
                    </a:p>
                  </a:txBody>
                  <a:tcPr marL="7620" marR="7620" marT="7620" marB="0" anchor="b"/>
                </a:tc>
                <a:tc>
                  <a:txBody>
                    <a:bodyPr/>
                    <a:lstStyle/>
                    <a:p>
                      <a:pPr algn="ctr" fontAlgn="b"/>
                      <a:r>
                        <a:rPr lang="en-US" sz="1800" b="0" i="0" u="none" strike="noStrike">
                          <a:solidFill>
                            <a:srgbClr val="000000"/>
                          </a:solidFill>
                          <a:effectLst/>
                          <a:latin typeface="Arial" panose="020B0604020202020204" pitchFamily="34" charset="0"/>
                          <a:cs typeface="Arial" panose="020B0604020202020204" pitchFamily="34" charset="0"/>
                        </a:rPr>
                        <a:t>23</a:t>
                      </a:r>
                    </a:p>
                  </a:txBody>
                  <a:tcPr marL="7620" marR="7620" marT="7620" marB="0" anchor="b"/>
                </a:tc>
                <a:tc>
                  <a:txBody>
                    <a:bodyPr/>
                    <a:lstStyle/>
                    <a:p>
                      <a:pPr algn="ctr" fontAlgn="b"/>
                      <a:r>
                        <a:rPr lang="en-US" sz="1800" b="0" i="0" u="none" strike="noStrike">
                          <a:solidFill>
                            <a:srgbClr val="000000"/>
                          </a:solidFill>
                          <a:effectLst/>
                          <a:latin typeface="Arial" panose="020B0604020202020204" pitchFamily="34" charset="0"/>
                          <a:cs typeface="Arial" panose="020B0604020202020204" pitchFamily="34" charset="0"/>
                        </a:rPr>
                        <a:t>21</a:t>
                      </a:r>
                    </a:p>
                  </a:txBody>
                  <a:tcPr marL="7620" marR="7620" marT="7620" marB="0" anchor="b"/>
                </a:tc>
                <a:tc>
                  <a:txBody>
                    <a:bodyPr/>
                    <a:lstStyle/>
                    <a:p>
                      <a:pPr algn="ctr" fontAlgn="b"/>
                      <a:r>
                        <a:rPr lang="en-US" sz="1800" b="0" i="0" u="none" strike="noStrike">
                          <a:solidFill>
                            <a:srgbClr val="000000"/>
                          </a:solidFill>
                          <a:effectLst/>
                          <a:latin typeface="Arial" panose="020B0604020202020204" pitchFamily="34" charset="0"/>
                          <a:cs typeface="Arial" panose="020B0604020202020204" pitchFamily="34" charset="0"/>
                        </a:rPr>
                        <a:t>21</a:t>
                      </a:r>
                    </a:p>
                  </a:txBody>
                  <a:tcPr marL="7620" marR="7620" marT="7620" marB="0" anchor="b"/>
                </a:tc>
                <a:extLst>
                  <a:ext uri="{0D108BD9-81ED-4DB2-BD59-A6C34878D82A}">
                    <a16:rowId xmlns:a16="http://schemas.microsoft.com/office/drawing/2014/main" val="1010549421"/>
                  </a:ext>
                </a:extLst>
              </a:tr>
              <a:tr h="370840">
                <a:tc>
                  <a:txBody>
                    <a:bodyPr/>
                    <a:lstStyle/>
                    <a:p>
                      <a:pPr algn="ctr" fontAlgn="b"/>
                      <a:r>
                        <a:rPr lang="en-US" sz="1800" b="0" i="0" u="none" strike="noStrike">
                          <a:solidFill>
                            <a:srgbClr val="000000"/>
                          </a:solidFill>
                          <a:effectLst/>
                          <a:latin typeface="Arial" panose="020B0604020202020204" pitchFamily="34" charset="0"/>
                          <a:cs typeface="Arial" panose="020B0604020202020204" pitchFamily="34" charset="0"/>
                        </a:rPr>
                        <a:t>34</a:t>
                      </a:r>
                    </a:p>
                  </a:txBody>
                  <a:tcPr marL="7620" marR="7620" marT="7620" marB="0" anchor="b"/>
                </a:tc>
                <a:tc>
                  <a:txBody>
                    <a:bodyPr/>
                    <a:lstStyle/>
                    <a:p>
                      <a:pPr algn="ctr" fontAlgn="b"/>
                      <a:r>
                        <a:rPr lang="en-US" sz="1800" b="0" i="0" u="none" strike="noStrike">
                          <a:solidFill>
                            <a:srgbClr val="000000"/>
                          </a:solidFill>
                          <a:effectLst/>
                          <a:latin typeface="Arial" panose="020B0604020202020204" pitchFamily="34" charset="0"/>
                          <a:cs typeface="Arial" panose="020B0604020202020204" pitchFamily="34" charset="0"/>
                        </a:rPr>
                        <a:t>37</a:t>
                      </a:r>
                    </a:p>
                  </a:txBody>
                  <a:tcPr marL="7620" marR="7620" marT="7620" marB="0" anchor="b"/>
                </a:tc>
                <a:tc>
                  <a:txBody>
                    <a:bodyPr/>
                    <a:lstStyle/>
                    <a:p>
                      <a:pPr algn="ctr" fontAlgn="b"/>
                      <a:r>
                        <a:rPr lang="en-US" sz="1800" b="0" i="0" u="none" strike="noStrike">
                          <a:solidFill>
                            <a:srgbClr val="000000"/>
                          </a:solidFill>
                          <a:effectLst/>
                          <a:latin typeface="Arial" panose="020B0604020202020204" pitchFamily="34" charset="0"/>
                          <a:cs typeface="Arial" panose="020B0604020202020204" pitchFamily="34" charset="0"/>
                        </a:rPr>
                        <a:t>29</a:t>
                      </a:r>
                    </a:p>
                  </a:txBody>
                  <a:tcPr marL="7620" marR="7620" marT="7620" marB="0" anchor="b"/>
                </a:tc>
                <a:tc>
                  <a:txBody>
                    <a:bodyPr/>
                    <a:lstStyle/>
                    <a:p>
                      <a:pPr algn="ctr" fontAlgn="b"/>
                      <a:r>
                        <a:rPr lang="en-US" sz="1800" b="0" i="0" u="none" strike="noStrike">
                          <a:solidFill>
                            <a:srgbClr val="000000"/>
                          </a:solidFill>
                          <a:effectLst/>
                          <a:latin typeface="Arial" panose="020B0604020202020204" pitchFamily="34" charset="0"/>
                          <a:cs typeface="Arial" panose="020B0604020202020204" pitchFamily="34" charset="0"/>
                        </a:rPr>
                        <a:t>29</a:t>
                      </a:r>
                    </a:p>
                  </a:txBody>
                  <a:tcPr marL="7620" marR="7620" marT="7620" marB="0" anchor="b"/>
                </a:tc>
                <a:tc>
                  <a:txBody>
                    <a:bodyPr/>
                    <a:lstStyle/>
                    <a:p>
                      <a:pPr algn="ctr" fontAlgn="b"/>
                      <a:r>
                        <a:rPr lang="en-US" sz="1800" b="0" i="0" u="none" strike="noStrike">
                          <a:solidFill>
                            <a:srgbClr val="000000"/>
                          </a:solidFill>
                          <a:effectLst/>
                          <a:latin typeface="Arial" panose="020B0604020202020204" pitchFamily="34" charset="0"/>
                          <a:cs typeface="Arial" panose="020B0604020202020204" pitchFamily="34" charset="0"/>
                        </a:rPr>
                        <a:t>36</a:t>
                      </a:r>
                    </a:p>
                  </a:txBody>
                  <a:tcPr marL="7620" marR="7620" marT="7620" marB="0" anchor="b"/>
                </a:tc>
                <a:tc>
                  <a:txBody>
                    <a:bodyPr/>
                    <a:lstStyle/>
                    <a:p>
                      <a:pPr algn="ctr" fontAlgn="b"/>
                      <a:r>
                        <a:rPr lang="en-US" sz="1800" b="0" i="0" u="none" strike="noStrike">
                          <a:solidFill>
                            <a:srgbClr val="000000"/>
                          </a:solidFill>
                          <a:effectLst/>
                          <a:latin typeface="Arial" panose="020B0604020202020204" pitchFamily="34" charset="0"/>
                          <a:cs typeface="Arial" panose="020B0604020202020204" pitchFamily="34" charset="0"/>
                        </a:rPr>
                        <a:t>38</a:t>
                      </a:r>
                    </a:p>
                  </a:txBody>
                  <a:tcPr marL="7620" marR="7620" marT="7620" marB="0" anchor="b"/>
                </a:tc>
                <a:tc>
                  <a:txBody>
                    <a:bodyPr/>
                    <a:lstStyle/>
                    <a:p>
                      <a:pPr algn="ctr" fontAlgn="b"/>
                      <a:r>
                        <a:rPr lang="en-US" sz="1800" b="0" i="0" u="none" strike="noStrike">
                          <a:solidFill>
                            <a:srgbClr val="000000"/>
                          </a:solidFill>
                          <a:effectLst/>
                          <a:latin typeface="Arial" panose="020B0604020202020204" pitchFamily="34" charset="0"/>
                          <a:cs typeface="Arial" panose="020B0604020202020204" pitchFamily="34" charset="0"/>
                        </a:rPr>
                        <a:t>39</a:t>
                      </a:r>
                    </a:p>
                  </a:txBody>
                  <a:tcPr marL="7620" marR="7620" marT="7620" marB="0" anchor="b"/>
                </a:tc>
                <a:tc>
                  <a:txBody>
                    <a:bodyPr/>
                    <a:lstStyle/>
                    <a:p>
                      <a:pPr algn="ctr" fontAlgn="b"/>
                      <a:r>
                        <a:rPr lang="en-US" sz="1800" b="0" i="0" u="none" strike="noStrike" dirty="0">
                          <a:solidFill>
                            <a:srgbClr val="000000"/>
                          </a:solidFill>
                          <a:effectLst/>
                          <a:latin typeface="Arial" panose="020B0604020202020204" pitchFamily="34" charset="0"/>
                          <a:cs typeface="Arial" panose="020B0604020202020204" pitchFamily="34" charset="0"/>
                        </a:rPr>
                        <a:t>22</a:t>
                      </a:r>
                    </a:p>
                  </a:txBody>
                  <a:tcPr marL="7620" marR="7620" marT="7620" marB="0" anchor="b"/>
                </a:tc>
                <a:extLst>
                  <a:ext uri="{0D108BD9-81ED-4DB2-BD59-A6C34878D82A}">
                    <a16:rowId xmlns:a16="http://schemas.microsoft.com/office/drawing/2014/main" val="3561103609"/>
                  </a:ext>
                </a:extLst>
              </a:tr>
            </a:tbl>
          </a:graphicData>
        </a:graphic>
      </p:graphicFrame>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73AE814D-6B8D-F14D-E892-CCD38EAC39A4}"/>
                  </a:ext>
                </a:extLst>
              </p:cNvPr>
              <p:cNvSpPr txBox="1"/>
              <p:nvPr/>
            </p:nvSpPr>
            <p:spPr>
              <a:xfrm>
                <a:off x="4672502" y="5485185"/>
                <a:ext cx="3229660" cy="49244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GB" sz="3200" i="1" smtClean="0">
                              <a:latin typeface="Cambria Math" panose="02040503050406030204" pitchFamily="18" charset="0"/>
                            </a:rPr>
                          </m:ctrlPr>
                        </m:accPr>
                        <m:e>
                          <m:r>
                            <a:rPr lang="en-GB" sz="3200" b="0" i="1" smtClean="0">
                              <a:latin typeface="Cambria Math" panose="02040503050406030204" pitchFamily="18" charset="0"/>
                            </a:rPr>
                            <m:t>𝑥</m:t>
                          </m:r>
                        </m:e>
                      </m:acc>
                      <m:r>
                        <a:rPr lang="en-GB" sz="3200" b="0" i="1" smtClean="0">
                          <a:latin typeface="Cambria Math" panose="02040503050406030204" pitchFamily="18" charset="0"/>
                        </a:rPr>
                        <m:t>=29.88 </m:t>
                      </m:r>
                    </m:oMath>
                  </m:oMathPara>
                </a14:m>
                <a:endParaRPr lang="en-GB" sz="3200" dirty="0"/>
              </a:p>
            </p:txBody>
          </p:sp>
        </mc:Choice>
        <mc:Fallback xmlns="">
          <p:sp>
            <p:nvSpPr>
              <p:cNvPr id="4" name="TextBox 3">
                <a:extLst>
                  <a:ext uri="{FF2B5EF4-FFF2-40B4-BE49-F238E27FC236}">
                    <a16:creationId xmlns:a16="http://schemas.microsoft.com/office/drawing/2014/main" id="{73AE814D-6B8D-F14D-E892-CCD38EAC39A4}"/>
                  </a:ext>
                </a:extLst>
              </p:cNvPr>
              <p:cNvSpPr txBox="1">
                <a:spLocks noRot="1" noChangeAspect="1" noMove="1" noResize="1" noEditPoints="1" noAdjustHandles="1" noChangeArrowheads="1" noChangeShapeType="1" noTextEdit="1"/>
              </p:cNvSpPr>
              <p:nvPr/>
            </p:nvSpPr>
            <p:spPr>
              <a:xfrm>
                <a:off x="4672502" y="5485185"/>
                <a:ext cx="3229660" cy="492443"/>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AEF37053-29A6-E243-F5E0-BC984E2DC78B}"/>
                  </a:ext>
                </a:extLst>
              </p:cNvPr>
              <p:cNvSpPr txBox="1"/>
              <p:nvPr/>
            </p:nvSpPr>
            <p:spPr>
              <a:xfrm>
                <a:off x="953265" y="5493595"/>
                <a:ext cx="3229660" cy="49244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3200" i="1" smtClean="0">
                          <a:latin typeface="Cambria Math" panose="02040503050406030204" pitchFamily="18" charset="0"/>
                          <a:ea typeface="Cambria Math" panose="02040503050406030204" pitchFamily="18" charset="0"/>
                        </a:rPr>
                        <m:t>𝜇</m:t>
                      </m:r>
                      <m:r>
                        <a:rPr lang="en-GB" sz="3200" b="0" i="1" smtClean="0">
                          <a:latin typeface="Cambria Math" panose="02040503050406030204" pitchFamily="18" charset="0"/>
                        </a:rPr>
                        <m:t>=30.19</m:t>
                      </m:r>
                    </m:oMath>
                  </m:oMathPara>
                </a14:m>
                <a:endParaRPr lang="en-GB" sz="3200" dirty="0"/>
              </a:p>
            </p:txBody>
          </p:sp>
        </mc:Choice>
        <mc:Fallback xmlns="">
          <p:sp>
            <p:nvSpPr>
              <p:cNvPr id="6" name="TextBox 5">
                <a:extLst>
                  <a:ext uri="{FF2B5EF4-FFF2-40B4-BE49-F238E27FC236}">
                    <a16:creationId xmlns:a16="http://schemas.microsoft.com/office/drawing/2014/main" id="{AEF37053-29A6-E243-F5E0-BC984E2DC78B}"/>
                  </a:ext>
                </a:extLst>
              </p:cNvPr>
              <p:cNvSpPr txBox="1">
                <a:spLocks noRot="1" noChangeAspect="1" noMove="1" noResize="1" noEditPoints="1" noAdjustHandles="1" noChangeArrowheads="1" noChangeShapeType="1" noTextEdit="1"/>
              </p:cNvSpPr>
              <p:nvPr/>
            </p:nvSpPr>
            <p:spPr>
              <a:xfrm>
                <a:off x="953265" y="5493595"/>
                <a:ext cx="3229660" cy="492443"/>
              </a:xfrm>
              <a:prstGeom prst="rect">
                <a:avLst/>
              </a:prstGeom>
              <a:blipFill>
                <a:blip r:embed="rId7"/>
                <a:stretch>
                  <a:fillRect/>
                </a:stretch>
              </a:blipFill>
            </p:spPr>
            <p:txBody>
              <a:bodyPr/>
              <a:lstStyle/>
              <a:p>
                <a:r>
                  <a:rPr lang="en-GB">
                    <a:noFill/>
                  </a:rPr>
                  <a:t> </a:t>
                </a:r>
              </a:p>
            </p:txBody>
          </p:sp>
        </mc:Fallback>
      </mc:AlternateContent>
      <p:sp>
        <p:nvSpPr>
          <p:cNvPr id="7" name="Rectangle 6">
            <a:extLst>
              <a:ext uri="{FF2B5EF4-FFF2-40B4-BE49-F238E27FC236}">
                <a16:creationId xmlns:a16="http://schemas.microsoft.com/office/drawing/2014/main" id="{7C60B6A6-BBDF-B73A-2A42-542682C188C3}"/>
              </a:ext>
            </a:extLst>
          </p:cNvPr>
          <p:cNvSpPr/>
          <p:nvPr/>
        </p:nvSpPr>
        <p:spPr>
          <a:xfrm>
            <a:off x="1447391" y="4114800"/>
            <a:ext cx="6096000" cy="74168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E0A4D1C0-548B-8687-5531-88F48F19C1DA}"/>
              </a:ext>
            </a:extLst>
          </p:cNvPr>
          <p:cNvSpPr/>
          <p:nvPr/>
        </p:nvSpPr>
        <p:spPr>
          <a:xfrm>
            <a:off x="1447391" y="4114800"/>
            <a:ext cx="765950" cy="346922"/>
          </a:xfrm>
          <a:prstGeom prst="rect">
            <a:avLst/>
          </a:prstGeom>
          <a:noFill/>
          <a:ln>
            <a:solidFill>
              <a:srgbClr val="00B050"/>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en-GB"/>
          </a:p>
        </p:txBody>
      </p:sp>
      <p:sp>
        <p:nvSpPr>
          <p:cNvPr id="10" name="Rectangle 9">
            <a:extLst>
              <a:ext uri="{FF2B5EF4-FFF2-40B4-BE49-F238E27FC236}">
                <a16:creationId xmlns:a16="http://schemas.microsoft.com/office/drawing/2014/main" id="{0B08F34B-8A1A-9D11-76BB-8755677E1940}"/>
              </a:ext>
            </a:extLst>
          </p:cNvPr>
          <p:cNvSpPr/>
          <p:nvPr/>
        </p:nvSpPr>
        <p:spPr>
          <a:xfrm>
            <a:off x="2204171" y="4475912"/>
            <a:ext cx="765950" cy="346922"/>
          </a:xfrm>
          <a:prstGeom prst="rect">
            <a:avLst/>
          </a:prstGeom>
          <a:noFill/>
          <a:ln>
            <a:solidFill>
              <a:srgbClr val="00B050"/>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en-GB"/>
          </a:p>
        </p:txBody>
      </p:sp>
      <p:sp>
        <p:nvSpPr>
          <p:cNvPr id="11" name="Rectangle 10">
            <a:extLst>
              <a:ext uri="{FF2B5EF4-FFF2-40B4-BE49-F238E27FC236}">
                <a16:creationId xmlns:a16="http://schemas.microsoft.com/office/drawing/2014/main" id="{A618C30B-83FF-6E05-6794-3F4E3FD3C001}"/>
              </a:ext>
            </a:extLst>
          </p:cNvPr>
          <p:cNvSpPr/>
          <p:nvPr/>
        </p:nvSpPr>
        <p:spPr>
          <a:xfrm>
            <a:off x="2970121" y="4121895"/>
            <a:ext cx="765950" cy="346922"/>
          </a:xfrm>
          <a:prstGeom prst="rect">
            <a:avLst/>
          </a:prstGeom>
          <a:noFill/>
          <a:ln>
            <a:solidFill>
              <a:srgbClr val="00B050"/>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en-GB"/>
          </a:p>
        </p:txBody>
      </p:sp>
      <p:sp>
        <p:nvSpPr>
          <p:cNvPr id="12" name="Rectangle 11">
            <a:extLst>
              <a:ext uri="{FF2B5EF4-FFF2-40B4-BE49-F238E27FC236}">
                <a16:creationId xmlns:a16="http://schemas.microsoft.com/office/drawing/2014/main" id="{6C774EBF-1DD0-AB9A-ACAF-8E3F58E4B8BD}"/>
              </a:ext>
            </a:extLst>
          </p:cNvPr>
          <p:cNvSpPr/>
          <p:nvPr/>
        </p:nvSpPr>
        <p:spPr>
          <a:xfrm>
            <a:off x="3724305" y="4475912"/>
            <a:ext cx="765950" cy="346922"/>
          </a:xfrm>
          <a:prstGeom prst="rect">
            <a:avLst/>
          </a:prstGeom>
          <a:noFill/>
          <a:ln>
            <a:solidFill>
              <a:srgbClr val="00B050"/>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en-GB"/>
          </a:p>
        </p:txBody>
      </p:sp>
      <p:sp>
        <p:nvSpPr>
          <p:cNvPr id="13" name="Rectangle 12">
            <a:extLst>
              <a:ext uri="{FF2B5EF4-FFF2-40B4-BE49-F238E27FC236}">
                <a16:creationId xmlns:a16="http://schemas.microsoft.com/office/drawing/2014/main" id="{9EEC9023-EBB2-1AB7-6129-4345A16A0E7F}"/>
              </a:ext>
            </a:extLst>
          </p:cNvPr>
          <p:cNvSpPr/>
          <p:nvPr/>
        </p:nvSpPr>
        <p:spPr>
          <a:xfrm>
            <a:off x="4490806" y="4130407"/>
            <a:ext cx="765950" cy="346922"/>
          </a:xfrm>
          <a:prstGeom prst="rect">
            <a:avLst/>
          </a:prstGeom>
          <a:noFill/>
          <a:ln>
            <a:solidFill>
              <a:srgbClr val="00B050"/>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en-GB"/>
          </a:p>
        </p:txBody>
      </p:sp>
      <p:sp>
        <p:nvSpPr>
          <p:cNvPr id="35" name="Rectangle 34">
            <a:extLst>
              <a:ext uri="{FF2B5EF4-FFF2-40B4-BE49-F238E27FC236}">
                <a16:creationId xmlns:a16="http://schemas.microsoft.com/office/drawing/2014/main" id="{312E3102-AFEC-564F-C200-E4869F0445BE}"/>
              </a:ext>
            </a:extLst>
          </p:cNvPr>
          <p:cNvSpPr/>
          <p:nvPr/>
        </p:nvSpPr>
        <p:spPr>
          <a:xfrm>
            <a:off x="5261660" y="4493679"/>
            <a:ext cx="765950" cy="346922"/>
          </a:xfrm>
          <a:prstGeom prst="rect">
            <a:avLst/>
          </a:prstGeom>
          <a:noFill/>
          <a:ln>
            <a:solidFill>
              <a:srgbClr val="00B050"/>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en-GB"/>
          </a:p>
        </p:txBody>
      </p:sp>
      <p:sp>
        <p:nvSpPr>
          <p:cNvPr id="50" name="Rectangle 49">
            <a:extLst>
              <a:ext uri="{FF2B5EF4-FFF2-40B4-BE49-F238E27FC236}">
                <a16:creationId xmlns:a16="http://schemas.microsoft.com/office/drawing/2014/main" id="{C1623DAC-B486-12F7-5F49-7B308F604E36}"/>
              </a:ext>
            </a:extLst>
          </p:cNvPr>
          <p:cNvSpPr/>
          <p:nvPr/>
        </p:nvSpPr>
        <p:spPr>
          <a:xfrm>
            <a:off x="6016293" y="4135342"/>
            <a:ext cx="765950" cy="346922"/>
          </a:xfrm>
          <a:prstGeom prst="rect">
            <a:avLst/>
          </a:prstGeom>
          <a:noFill/>
          <a:ln>
            <a:solidFill>
              <a:srgbClr val="00B050"/>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en-GB"/>
          </a:p>
        </p:txBody>
      </p:sp>
      <p:sp>
        <p:nvSpPr>
          <p:cNvPr id="52" name="Rectangle 51">
            <a:extLst>
              <a:ext uri="{FF2B5EF4-FFF2-40B4-BE49-F238E27FC236}">
                <a16:creationId xmlns:a16="http://schemas.microsoft.com/office/drawing/2014/main" id="{242E78AF-78B5-52D8-5E82-D40030F6667E}"/>
              </a:ext>
            </a:extLst>
          </p:cNvPr>
          <p:cNvSpPr/>
          <p:nvPr/>
        </p:nvSpPr>
        <p:spPr>
          <a:xfrm>
            <a:off x="6774235" y="4475912"/>
            <a:ext cx="765950" cy="346922"/>
          </a:xfrm>
          <a:prstGeom prst="rect">
            <a:avLst/>
          </a:prstGeom>
          <a:noFill/>
          <a:ln>
            <a:solidFill>
              <a:srgbClr val="00B050"/>
            </a:solidFill>
          </a:ln>
        </p:spPr>
        <p:style>
          <a:lnRef idx="2">
            <a:schemeClr val="accent5"/>
          </a:lnRef>
          <a:fillRef idx="1">
            <a:schemeClr val="lt1"/>
          </a:fillRef>
          <a:effectRef idx="0">
            <a:schemeClr val="accent5"/>
          </a:effectRef>
          <a:fontRef idx="minor">
            <a:schemeClr val="dk1"/>
          </a:fontRef>
        </p:style>
        <p:txBody>
          <a:bodyPr rtlCol="0" anchor="ctr"/>
          <a:lstStyle/>
          <a:p>
            <a:pPr algn="ctr"/>
            <a:endParaRPr lang="en-GB"/>
          </a:p>
        </p:txBody>
      </p:sp>
    </p:spTree>
    <p:extLst>
      <p:ext uri="{BB962C8B-B14F-4D97-AF65-F5344CB8AC3E}">
        <p14:creationId xmlns:p14="http://schemas.microsoft.com/office/powerpoint/2010/main" val="310206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wipe(down)">
                                      <p:cBhvr>
                                        <p:cTn id="7" dur="500"/>
                                        <p:tgtEl>
                                          <p:spTgt spid="4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1"/>
                                        </p:tgtEl>
                                        <p:attrNameLst>
                                          <p:attrName>style.visibility</p:attrName>
                                        </p:attrNameLst>
                                      </p:cBhvr>
                                      <p:to>
                                        <p:strVal val="visible"/>
                                      </p:to>
                                    </p:set>
                                    <p:animEffect transition="in" filter="fade">
                                      <p:cBhvr>
                                        <p:cTn id="17" dur="500"/>
                                        <p:tgtEl>
                                          <p:spTgt spid="5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circle(in)">
                                      <p:cBhvr>
                                        <p:cTn id="27" dur="2000"/>
                                        <p:tgtEl>
                                          <p:spTgt spid="7"/>
                                        </p:tgtEl>
                                      </p:cBhvr>
                                    </p:animEffect>
                                  </p:childTnLst>
                                </p:cTn>
                              </p:par>
                              <p:par>
                                <p:cTn id="28" presetID="6" presetClass="entr" presetSubtype="16" fill="hold" grpId="0" nodeType="with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circle(in)">
                                      <p:cBhvr>
                                        <p:cTn id="30" dur="2000"/>
                                        <p:tgtEl>
                                          <p:spTgt spid="6"/>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52"/>
                                        </p:tgtEl>
                                        <p:attrNameLst>
                                          <p:attrName>style.visibility</p:attrName>
                                        </p:attrNameLst>
                                      </p:cBhvr>
                                      <p:to>
                                        <p:strVal val="visible"/>
                                      </p:to>
                                    </p:set>
                                    <p:animEffect transition="in" filter="wipe(down)">
                                      <p:cBhvr>
                                        <p:cTn id="35" dur="500"/>
                                        <p:tgtEl>
                                          <p:spTgt spid="52"/>
                                        </p:tgtEl>
                                      </p:cBhvr>
                                    </p:animEffect>
                                  </p:childTnLst>
                                </p:cTn>
                              </p:par>
                              <p:par>
                                <p:cTn id="36" presetID="22" presetClass="entr" presetSubtype="4" fill="hold" grpId="0" nodeType="withEffect">
                                  <p:stCondLst>
                                    <p:cond delay="0"/>
                                  </p:stCondLst>
                                  <p:childTnLst>
                                    <p:set>
                                      <p:cBhvr>
                                        <p:cTn id="37" dur="1" fill="hold">
                                          <p:stCondLst>
                                            <p:cond delay="0"/>
                                          </p:stCondLst>
                                        </p:cTn>
                                        <p:tgtEl>
                                          <p:spTgt spid="50"/>
                                        </p:tgtEl>
                                        <p:attrNameLst>
                                          <p:attrName>style.visibility</p:attrName>
                                        </p:attrNameLst>
                                      </p:cBhvr>
                                      <p:to>
                                        <p:strVal val="visible"/>
                                      </p:to>
                                    </p:set>
                                    <p:animEffect transition="in" filter="wipe(down)">
                                      <p:cBhvr>
                                        <p:cTn id="38" dur="500"/>
                                        <p:tgtEl>
                                          <p:spTgt spid="50"/>
                                        </p:tgtEl>
                                      </p:cBhvr>
                                    </p:animEffect>
                                  </p:childTnLst>
                                </p:cTn>
                              </p:par>
                              <p:par>
                                <p:cTn id="39" presetID="22" presetClass="entr" presetSubtype="4" fill="hold" grpId="0" nodeType="withEffect">
                                  <p:stCondLst>
                                    <p:cond delay="0"/>
                                  </p:stCondLst>
                                  <p:childTnLst>
                                    <p:set>
                                      <p:cBhvr>
                                        <p:cTn id="40" dur="1" fill="hold">
                                          <p:stCondLst>
                                            <p:cond delay="0"/>
                                          </p:stCondLst>
                                        </p:cTn>
                                        <p:tgtEl>
                                          <p:spTgt spid="35"/>
                                        </p:tgtEl>
                                        <p:attrNameLst>
                                          <p:attrName>style.visibility</p:attrName>
                                        </p:attrNameLst>
                                      </p:cBhvr>
                                      <p:to>
                                        <p:strVal val="visible"/>
                                      </p:to>
                                    </p:set>
                                    <p:animEffect transition="in" filter="wipe(down)">
                                      <p:cBhvr>
                                        <p:cTn id="41" dur="500"/>
                                        <p:tgtEl>
                                          <p:spTgt spid="35"/>
                                        </p:tgtEl>
                                      </p:cBhvr>
                                    </p:animEffect>
                                  </p:childTnLst>
                                </p:cTn>
                              </p:par>
                              <p:par>
                                <p:cTn id="42" presetID="22" presetClass="entr" presetSubtype="4" fill="hold" grpId="0" nodeType="with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wipe(down)">
                                      <p:cBhvr>
                                        <p:cTn id="44" dur="500"/>
                                        <p:tgtEl>
                                          <p:spTgt spid="13"/>
                                        </p:tgtEl>
                                      </p:cBhvr>
                                    </p:animEffect>
                                  </p:childTnLst>
                                </p:cTn>
                              </p:par>
                              <p:par>
                                <p:cTn id="45" presetID="22" presetClass="entr" presetSubtype="4" fill="hold" grpId="0" nodeType="with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wipe(down)">
                                      <p:cBhvr>
                                        <p:cTn id="47" dur="500"/>
                                        <p:tgtEl>
                                          <p:spTgt spid="12"/>
                                        </p:tgtEl>
                                      </p:cBhvr>
                                    </p:animEffect>
                                  </p:childTnLst>
                                </p:cTn>
                              </p:par>
                              <p:par>
                                <p:cTn id="48" presetID="22" presetClass="entr" presetSubtype="4" fill="hold" grpId="0" nodeType="withEffect">
                                  <p:stCondLst>
                                    <p:cond delay="0"/>
                                  </p:stCondLst>
                                  <p:childTnLst>
                                    <p:set>
                                      <p:cBhvr>
                                        <p:cTn id="49" dur="1" fill="hold">
                                          <p:stCondLst>
                                            <p:cond delay="0"/>
                                          </p:stCondLst>
                                        </p:cTn>
                                        <p:tgtEl>
                                          <p:spTgt spid="11"/>
                                        </p:tgtEl>
                                        <p:attrNameLst>
                                          <p:attrName>style.visibility</p:attrName>
                                        </p:attrNameLst>
                                      </p:cBhvr>
                                      <p:to>
                                        <p:strVal val="visible"/>
                                      </p:to>
                                    </p:set>
                                    <p:animEffect transition="in" filter="wipe(down)">
                                      <p:cBhvr>
                                        <p:cTn id="50" dur="500"/>
                                        <p:tgtEl>
                                          <p:spTgt spid="11"/>
                                        </p:tgtEl>
                                      </p:cBhvr>
                                    </p:animEffect>
                                  </p:childTnLst>
                                </p:cTn>
                              </p:par>
                              <p:par>
                                <p:cTn id="51" presetID="22" presetClass="entr" presetSubtype="4" fill="hold" grpId="0" nodeType="withEffect">
                                  <p:stCondLst>
                                    <p:cond delay="0"/>
                                  </p:stCondLst>
                                  <p:childTnLst>
                                    <p:set>
                                      <p:cBhvr>
                                        <p:cTn id="52" dur="1" fill="hold">
                                          <p:stCondLst>
                                            <p:cond delay="0"/>
                                          </p:stCondLst>
                                        </p:cTn>
                                        <p:tgtEl>
                                          <p:spTgt spid="10"/>
                                        </p:tgtEl>
                                        <p:attrNameLst>
                                          <p:attrName>style.visibility</p:attrName>
                                        </p:attrNameLst>
                                      </p:cBhvr>
                                      <p:to>
                                        <p:strVal val="visible"/>
                                      </p:to>
                                    </p:set>
                                    <p:animEffect transition="in" filter="wipe(down)">
                                      <p:cBhvr>
                                        <p:cTn id="53" dur="500"/>
                                        <p:tgtEl>
                                          <p:spTgt spid="10"/>
                                        </p:tgtEl>
                                      </p:cBhvr>
                                    </p:animEffect>
                                  </p:childTnLst>
                                </p:cTn>
                              </p:par>
                              <p:par>
                                <p:cTn id="54" presetID="22" presetClass="entr" presetSubtype="4" fill="hold" grpId="0" nodeType="withEffect">
                                  <p:stCondLst>
                                    <p:cond delay="0"/>
                                  </p:stCondLst>
                                  <p:childTnLst>
                                    <p:set>
                                      <p:cBhvr>
                                        <p:cTn id="55" dur="1" fill="hold">
                                          <p:stCondLst>
                                            <p:cond delay="0"/>
                                          </p:stCondLst>
                                        </p:cTn>
                                        <p:tgtEl>
                                          <p:spTgt spid="9"/>
                                        </p:tgtEl>
                                        <p:attrNameLst>
                                          <p:attrName>style.visibility</p:attrName>
                                        </p:attrNameLst>
                                      </p:cBhvr>
                                      <p:to>
                                        <p:strVal val="visible"/>
                                      </p:to>
                                    </p:set>
                                    <p:animEffect transition="in" filter="wipe(down)">
                                      <p:cBhvr>
                                        <p:cTn id="56" dur="500"/>
                                        <p:tgtEl>
                                          <p:spTgt spid="9"/>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4"/>
                                        </p:tgtEl>
                                        <p:attrNameLst>
                                          <p:attrName>style.visibility</p:attrName>
                                        </p:attrNameLst>
                                      </p:cBhvr>
                                      <p:to>
                                        <p:strVal val="visible"/>
                                      </p:to>
                                    </p:set>
                                    <p:animEffect transition="in" filter="fade">
                                      <p:cBhvr>
                                        <p:cTn id="6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1" grpId="0"/>
      <p:bldP spid="4" grpId="0"/>
      <p:bldP spid="6" grpId="0"/>
      <p:bldP spid="7" grpId="0" animBg="1"/>
      <p:bldP spid="9" grpId="0" animBg="1"/>
      <p:bldP spid="10" grpId="0" animBg="1"/>
      <p:bldP spid="11" grpId="0" animBg="1"/>
      <p:bldP spid="12" grpId="0" animBg="1"/>
      <p:bldP spid="13" grpId="0" animBg="1"/>
      <p:bldP spid="35" grpId="0" animBg="1"/>
      <p:bldP spid="50" grpId="0" animBg="1"/>
      <p:bldP spid="5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Statistical Inference</a:t>
            </a:r>
          </a:p>
        </p:txBody>
      </p:sp>
      <p:sp>
        <p:nvSpPr>
          <p:cNvPr id="161797" name="Rectangle 5"/>
          <p:cNvSpPr>
            <a:spLocks noChangeArrowheads="1"/>
          </p:cNvSpPr>
          <p:nvPr/>
        </p:nvSpPr>
        <p:spPr bwMode="auto">
          <a:xfrm>
            <a:off x="520184" y="2247900"/>
            <a:ext cx="430462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marL="342900" indent="-342900">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marL="0" indent="0">
              <a:buClr>
                <a:srgbClr val="333399"/>
              </a:buClr>
              <a:buSzPct val="200000"/>
              <a:buNone/>
            </a:pPr>
            <a:r>
              <a:rPr lang="en-GB" altLang="en-US" sz="2000" dirty="0">
                <a:latin typeface="+mn-lt"/>
              </a:rPr>
              <a:t>Sample </a:t>
            </a:r>
            <a:r>
              <a:rPr lang="en-GB" altLang="en-US" sz="2000" b="1" dirty="0">
                <a:latin typeface="+mn-lt"/>
              </a:rPr>
              <a:t>statistics</a:t>
            </a:r>
            <a:r>
              <a:rPr lang="en-GB" altLang="en-US" sz="2000" dirty="0">
                <a:latin typeface="+mn-lt"/>
              </a:rPr>
              <a:t> </a:t>
            </a:r>
            <a:r>
              <a:rPr lang="en-GB" altLang="en-US" sz="2000" b="1" dirty="0">
                <a:latin typeface="+mn-lt"/>
              </a:rPr>
              <a:t>give </a:t>
            </a:r>
            <a:r>
              <a:rPr lang="en-GB" altLang="en-US" sz="2000" b="1" dirty="0">
                <a:solidFill>
                  <a:srgbClr val="333399"/>
                </a:solidFill>
                <a:latin typeface="+mn-lt"/>
              </a:rPr>
              <a:t>point estimates</a:t>
            </a:r>
            <a:r>
              <a:rPr lang="en-GB" altLang="en-US" sz="2000" b="1" dirty="0">
                <a:latin typeface="+mn-lt"/>
              </a:rPr>
              <a:t> </a:t>
            </a:r>
            <a:r>
              <a:rPr lang="en-GB" altLang="en-US" sz="2000" dirty="0">
                <a:latin typeface="+mn-lt"/>
              </a:rPr>
              <a:t>of the population parameters</a:t>
            </a:r>
            <a:endParaRPr lang="en-US" altLang="en-US" sz="2000" dirty="0">
              <a:latin typeface="+mn-lt"/>
            </a:endParaRPr>
          </a:p>
        </p:txBody>
      </p:sp>
      <p:sp>
        <p:nvSpPr>
          <p:cNvPr id="5" name="Rectangle 5"/>
          <p:cNvSpPr>
            <a:spLocks noChangeArrowheads="1"/>
          </p:cNvSpPr>
          <p:nvPr/>
        </p:nvSpPr>
        <p:spPr bwMode="auto">
          <a:xfrm>
            <a:off x="520184" y="3086100"/>
            <a:ext cx="43434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marL="342900" indent="-342900">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marL="0" indent="0">
              <a:buClr>
                <a:srgbClr val="333399"/>
              </a:buClr>
              <a:buSzPct val="200000"/>
              <a:buNone/>
            </a:pPr>
            <a:r>
              <a:rPr lang="en-GB" altLang="en-US" sz="2000" dirty="0">
                <a:latin typeface="+mn-lt"/>
              </a:rPr>
              <a:t>We </a:t>
            </a:r>
            <a:r>
              <a:rPr lang="en-GB" altLang="en-US" sz="2000" b="1" dirty="0">
                <a:latin typeface="+mn-lt"/>
              </a:rPr>
              <a:t>describe the uncertainty </a:t>
            </a:r>
            <a:r>
              <a:rPr lang="en-GB" altLang="en-US" sz="2000" dirty="0">
                <a:latin typeface="+mn-lt"/>
              </a:rPr>
              <a:t>in our estimate </a:t>
            </a:r>
            <a:r>
              <a:rPr lang="en-GB" altLang="en-US" sz="2000" b="1" dirty="0">
                <a:latin typeface="+mn-lt"/>
              </a:rPr>
              <a:t>using a </a:t>
            </a:r>
            <a:r>
              <a:rPr lang="en-GB" altLang="en-US" sz="2000" b="1" dirty="0">
                <a:solidFill>
                  <a:srgbClr val="333399"/>
                </a:solidFill>
                <a:latin typeface="+mn-lt"/>
              </a:rPr>
              <a:t>confidence interval</a:t>
            </a:r>
          </a:p>
        </p:txBody>
      </p:sp>
      <p:sp>
        <p:nvSpPr>
          <p:cNvPr id="6" name="Rectangle 5"/>
          <p:cNvSpPr>
            <a:spLocks noChangeArrowheads="1"/>
          </p:cNvSpPr>
          <p:nvPr/>
        </p:nvSpPr>
        <p:spPr bwMode="auto">
          <a:xfrm>
            <a:off x="520184" y="3924300"/>
            <a:ext cx="47244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marL="342900" indent="-342900">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marL="0" indent="0">
              <a:buClr>
                <a:srgbClr val="333399"/>
              </a:buClr>
              <a:buSzPct val="200000"/>
              <a:buNone/>
            </a:pPr>
            <a:r>
              <a:rPr lang="en-GB" altLang="en-US" sz="2000" dirty="0">
                <a:latin typeface="+mn-lt"/>
              </a:rPr>
              <a:t>The actual population </a:t>
            </a:r>
            <a:r>
              <a:rPr lang="en-GB" altLang="en-US" sz="2000" b="1" dirty="0">
                <a:latin typeface="+mn-lt"/>
              </a:rPr>
              <a:t>parameter lies within the confidence interval </a:t>
            </a:r>
            <a:r>
              <a:rPr lang="en-GB" altLang="en-US" sz="2000" dirty="0">
                <a:latin typeface="+mn-lt"/>
              </a:rPr>
              <a:t>with a particular probability</a:t>
            </a:r>
            <a:endParaRPr lang="en-US" altLang="en-US" sz="2000" dirty="0">
              <a:latin typeface="+mn-lt"/>
            </a:endParaRPr>
          </a:p>
        </p:txBody>
      </p:sp>
      <p:grpSp>
        <p:nvGrpSpPr>
          <p:cNvPr id="2" name="Group 1"/>
          <p:cNvGrpSpPr/>
          <p:nvPr/>
        </p:nvGrpSpPr>
        <p:grpSpPr>
          <a:xfrm>
            <a:off x="5486400" y="2390610"/>
            <a:ext cx="3185067" cy="324569"/>
            <a:chOff x="1966038" y="1422676"/>
            <a:chExt cx="4968162" cy="558524"/>
          </a:xfrm>
        </p:grpSpPr>
        <p:sp>
          <p:nvSpPr>
            <p:cNvPr id="7" name="Horizontal Scroll 6"/>
            <p:cNvSpPr/>
            <p:nvPr/>
          </p:nvSpPr>
          <p:spPr>
            <a:xfrm>
              <a:off x="1966038" y="1422676"/>
              <a:ext cx="4968162" cy="558524"/>
            </a:xfrm>
            <a:prstGeom prst="horizontalScroll">
              <a:avLst/>
            </a:prstGeom>
            <a:ln>
              <a:solidFill>
                <a:schemeClr val="bg2"/>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GB"/>
            </a:p>
          </p:txBody>
        </p:sp>
        <p:pic>
          <p:nvPicPr>
            <p:cNvPr id="8" name="Picture 4" descr="https://encrypted-tbn3.gstatic.com/images?q=tbn:ANd9GcSYalP_o92KbXHoPFFqiq3Bvqwigqxp-tT4vK0P7iW-hwi5ZHCjhA"/>
            <p:cNvPicPr>
              <a:picLocks noChangeAspect="1" noChangeArrowheads="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228135" y="1614976"/>
              <a:ext cx="155402" cy="264539"/>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https://encrypted-tbn3.gstatic.com/images?q=tbn:ANd9GcSYalP_o92KbXHoPFFqiq3Bvqwigqxp-tT4vK0P7iW-hwi5ZHCjhA"/>
            <p:cNvPicPr>
              <a:picLocks noChangeAspect="1" noChangeArrowheads="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790955" y="1614976"/>
              <a:ext cx="155402" cy="264539"/>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http://images.clipartpanda.com/male-clipart-17738-male-design.png"/>
            <p:cNvPicPr>
              <a:picLocks noChangeAspect="1" noChangeArrowheads="1"/>
            </p:cNvPicPr>
            <p:nvPr/>
          </p:nvPicPr>
          <p:blipFill>
            <a:blip r:embed="rId4"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657646" y="1614976"/>
              <a:ext cx="105001" cy="244164"/>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descr="https://encrypted-tbn3.gstatic.com/images?q=tbn:ANd9GcSYalP_o92KbXHoPFFqiq3Bvqwigqxp-tT4vK0P7iW-hwi5ZHCjhA"/>
            <p:cNvPicPr>
              <a:picLocks noChangeAspect="1" noChangeArrowheads="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241649" y="1614976"/>
              <a:ext cx="155402" cy="264539"/>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http://images.clipartpanda.com/male-clipart-17738-male-design.png"/>
            <p:cNvPicPr>
              <a:picLocks noChangeAspect="1" noChangeArrowheads="1"/>
            </p:cNvPicPr>
            <p:nvPr/>
          </p:nvPicPr>
          <p:blipFill>
            <a:blip r:embed="rId4"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932299" y="1614976"/>
              <a:ext cx="105001" cy="244164"/>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descr="https://encrypted-tbn3.gstatic.com/images?q=tbn:ANd9GcSYalP_o92KbXHoPFFqiq3Bvqwigqxp-tT4vK0P7iW-hwi5ZHCjhA"/>
            <p:cNvPicPr>
              <a:picLocks noChangeAspect="1" noChangeArrowheads="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692343" y="1614976"/>
              <a:ext cx="155402" cy="264539"/>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http://images.clipartpanda.com/male-clipart-17738-male-design.png"/>
            <p:cNvPicPr>
              <a:picLocks noChangeAspect="1" noChangeArrowheads="1"/>
            </p:cNvPicPr>
            <p:nvPr/>
          </p:nvPicPr>
          <p:blipFill>
            <a:blip r:embed="rId4"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756258" y="1614976"/>
              <a:ext cx="105001" cy="244164"/>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4" descr="https://encrypted-tbn3.gstatic.com/images?q=tbn:ANd9GcSYalP_o92KbXHoPFFqiq3Bvqwigqxp-tT4vK0P7iW-hwi5ZHCjhA"/>
            <p:cNvPicPr>
              <a:picLocks noChangeAspect="1" noChangeArrowheads="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143037" y="1614976"/>
              <a:ext cx="155402" cy="264539"/>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http://images.clipartpanda.com/male-clipart-17738-male-design.png"/>
            <p:cNvPicPr>
              <a:picLocks noChangeAspect="1" noChangeArrowheads="1"/>
            </p:cNvPicPr>
            <p:nvPr/>
          </p:nvPicPr>
          <p:blipFill>
            <a:blip r:embed="rId4"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305564" y="1614976"/>
              <a:ext cx="105001" cy="244164"/>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4" descr="https://encrypted-tbn3.gstatic.com/images?q=tbn:ANd9GcSYalP_o92KbXHoPFFqiq3Bvqwigqxp-tT4vK0P7iW-hwi5ZHCjhA"/>
            <p:cNvPicPr>
              <a:picLocks noChangeAspect="1" noChangeArrowheads="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593731" y="1614976"/>
              <a:ext cx="155402" cy="264539"/>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http://images.clipartpanda.com/male-clipart-17738-male-design.png"/>
            <p:cNvPicPr>
              <a:picLocks noChangeAspect="1" noChangeArrowheads="1"/>
            </p:cNvPicPr>
            <p:nvPr/>
          </p:nvPicPr>
          <p:blipFill>
            <a:blip r:embed="rId4"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129523" y="1614976"/>
              <a:ext cx="105001" cy="244164"/>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4" descr="https://encrypted-tbn3.gstatic.com/images?q=tbn:ANd9GcSYalP_o92KbXHoPFFqiq3Bvqwigqxp-tT4vK0P7iW-hwi5ZHCjhA"/>
            <p:cNvPicPr>
              <a:picLocks noChangeAspect="1" noChangeArrowheads="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220466" y="1614976"/>
              <a:ext cx="155402" cy="264539"/>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 descr="http://images.clipartpanda.com/male-clipart-17738-male-design.png"/>
            <p:cNvPicPr>
              <a:picLocks noChangeAspect="1" noChangeArrowheads="1"/>
            </p:cNvPicPr>
            <p:nvPr/>
          </p:nvPicPr>
          <p:blipFill>
            <a:blip r:embed="rId4"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953482" y="1614976"/>
              <a:ext cx="105001" cy="244164"/>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4" descr="https://encrypted-tbn3.gstatic.com/images?q=tbn:ANd9GcSYalP_o92KbXHoPFFqiq3Bvqwigqxp-tT4vK0P7iW-hwi5ZHCjhA"/>
            <p:cNvPicPr>
              <a:picLocks noChangeAspect="1" noChangeArrowheads="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495119" y="1614976"/>
              <a:ext cx="155402" cy="264539"/>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 descr="http://images.clipartpanda.com/male-clipart-17738-male-design.png"/>
            <p:cNvPicPr>
              <a:picLocks noChangeAspect="1" noChangeArrowheads="1"/>
            </p:cNvPicPr>
            <p:nvPr/>
          </p:nvPicPr>
          <p:blipFill>
            <a:blip r:embed="rId4"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108340" y="1614976"/>
              <a:ext cx="105001" cy="244164"/>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4" descr="https://encrypted-tbn3.gstatic.com/images?q=tbn:ANd9GcSYalP_o92KbXHoPFFqiq3Bvqwigqxp-tT4vK0P7iW-hwi5ZHCjhA"/>
            <p:cNvPicPr>
              <a:picLocks noChangeAspect="1" noChangeArrowheads="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044425" y="1614976"/>
              <a:ext cx="155402" cy="264539"/>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 descr="http://images.clipartpanda.com/male-clipart-17738-male-design.png"/>
            <p:cNvPicPr>
              <a:picLocks noChangeAspect="1" noChangeArrowheads="1"/>
            </p:cNvPicPr>
            <p:nvPr/>
          </p:nvPicPr>
          <p:blipFill>
            <a:blip r:embed="rId4"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553200" y="1614976"/>
              <a:ext cx="105001" cy="244164"/>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4" descr="https://encrypted-tbn3.gstatic.com/images?q=tbn:ANd9GcSYalP_o92KbXHoPFFqiq3Bvqwigqxp-tT4vK0P7iW-hwi5ZHCjhA"/>
            <p:cNvPicPr>
              <a:picLocks noChangeAspect="1" noChangeArrowheads="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319078" y="1614976"/>
              <a:ext cx="155402" cy="264539"/>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4" descr="https://encrypted-tbn3.gstatic.com/images?q=tbn:ANd9GcSYalP_o92KbXHoPFFqiq3Bvqwigqxp-tT4vK0P7iW-hwi5ZHCjhA"/>
            <p:cNvPicPr>
              <a:picLocks noChangeAspect="1" noChangeArrowheads="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417690" y="1614976"/>
              <a:ext cx="155402" cy="264539"/>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 descr="http://images.clipartpanda.com/male-clipart-17738-male-design.png"/>
            <p:cNvPicPr>
              <a:picLocks noChangeAspect="1" noChangeArrowheads="1"/>
            </p:cNvPicPr>
            <p:nvPr/>
          </p:nvPicPr>
          <p:blipFill>
            <a:blip r:embed="rId4"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030911" y="1614976"/>
              <a:ext cx="105001" cy="244164"/>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4" descr="https://encrypted-tbn3.gstatic.com/images?q=tbn:ANd9GcSYalP_o92KbXHoPFFqiq3Bvqwigqxp-tT4vK0P7iW-hwi5ZHCjhA"/>
            <p:cNvPicPr>
              <a:picLocks noChangeAspect="1" noChangeArrowheads="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516302" y="1614976"/>
              <a:ext cx="155402" cy="264539"/>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4" descr="https://encrypted-tbn3.gstatic.com/images?q=tbn:ANd9GcSYalP_o92KbXHoPFFqiq3Bvqwigqxp-tT4vK0P7iW-hwi5ZHCjhA"/>
            <p:cNvPicPr>
              <a:picLocks noChangeAspect="1" noChangeArrowheads="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065608" y="1614976"/>
              <a:ext cx="155402" cy="264539"/>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 descr="http://images.clipartpanda.com/male-clipart-17738-male-design.png"/>
            <p:cNvPicPr>
              <a:picLocks noChangeAspect="1" noChangeArrowheads="1"/>
            </p:cNvPicPr>
            <p:nvPr/>
          </p:nvPicPr>
          <p:blipFill>
            <a:blip r:embed="rId4"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854870" y="1614976"/>
              <a:ext cx="105001" cy="244164"/>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2" descr="http://images.clipartpanda.com/male-clipart-17738-male-design.png"/>
            <p:cNvPicPr>
              <a:picLocks noChangeAspect="1" noChangeArrowheads="1"/>
            </p:cNvPicPr>
            <p:nvPr/>
          </p:nvPicPr>
          <p:blipFill>
            <a:blip r:embed="rId4"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481605" y="1614976"/>
              <a:ext cx="105001" cy="244164"/>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 descr="http://images.clipartpanda.com/male-clipart-17738-male-design.png"/>
            <p:cNvPicPr>
              <a:picLocks noChangeAspect="1" noChangeArrowheads="1"/>
            </p:cNvPicPr>
            <p:nvPr/>
          </p:nvPicPr>
          <p:blipFill>
            <a:blip r:embed="rId4"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382993" y="1614976"/>
              <a:ext cx="105001" cy="244164"/>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descr="http://images.clipartpanda.com/male-clipart-17738-male-design.png"/>
            <p:cNvPicPr>
              <a:picLocks noChangeAspect="1" noChangeArrowheads="1"/>
            </p:cNvPicPr>
            <p:nvPr/>
          </p:nvPicPr>
          <p:blipFill>
            <a:blip r:embed="rId4"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404176" y="1614976"/>
              <a:ext cx="105001" cy="244164"/>
            </a:xfrm>
            <a:prstGeom prst="rect">
              <a:avLst/>
            </a:prstGeom>
            <a:noFill/>
            <a:extLst>
              <a:ext uri="{909E8E84-426E-40DD-AFC4-6F175D3DCCD1}">
                <a14:hiddenFill xmlns:a14="http://schemas.microsoft.com/office/drawing/2010/main">
                  <a:solidFill>
                    <a:srgbClr val="FFFFFF"/>
                  </a:solidFill>
                </a14:hiddenFill>
              </a:ext>
            </a:extLst>
          </p:spPr>
        </p:pic>
        <p:grpSp>
          <p:nvGrpSpPr>
            <p:cNvPr id="34" name="Group 33"/>
            <p:cNvGrpSpPr/>
            <p:nvPr/>
          </p:nvGrpSpPr>
          <p:grpSpPr>
            <a:xfrm>
              <a:off x="2769771" y="1513478"/>
              <a:ext cx="3835917" cy="378066"/>
              <a:chOff x="2769771" y="1513478"/>
              <a:chExt cx="3835917" cy="378066"/>
            </a:xfrm>
          </p:grpSpPr>
          <p:pic>
            <p:nvPicPr>
              <p:cNvPr id="35"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69771" y="1513478"/>
                <a:ext cx="215027" cy="366038"/>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36" name="Picture 2" descr="http://images.clipartpanda.com/male-clipart-17738-male-design.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678829" y="1521295"/>
                <a:ext cx="145288" cy="337845"/>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37" name="Picture 2" descr="http://images.clipartpanda.com/male-clipart-17738-male-design.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206952" y="1521295"/>
                <a:ext cx="145288" cy="337845"/>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38"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66995" y="1513478"/>
                <a:ext cx="215027" cy="366038"/>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39" name="Picture 2" descr="http://images.clipartpanda.com/male-clipart-17738-male-design.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580217" y="1521295"/>
                <a:ext cx="145288" cy="337845"/>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40"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90661" y="1513478"/>
                <a:ext cx="215027" cy="366038"/>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41" name="Picture 4" descr="https://encrypted-tbn3.gstatic.com/images?q=tbn:ANd9GcSYalP_o92KbXHoPFFqiq3Bvqwigqxp-tT4vK0P7iW-hwi5ZHCjh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23573" y="1525506"/>
                <a:ext cx="215027" cy="366038"/>
              </a:xfrm>
              <a:prstGeom prst="rect">
                <a:avLst/>
              </a:prstGeom>
              <a:noFill/>
              <a:ln>
                <a:noFill/>
              </a:ln>
              <a:extLst>
                <a:ext uri="{909E8E84-426E-40DD-AFC4-6F175D3DCCD1}">
                  <a14:hiddenFill xmlns:a14="http://schemas.microsoft.com/office/drawing/2010/main">
                    <a:solidFill>
                      <a:srgbClr val="FFFFFF"/>
                    </a:solidFill>
                  </a14:hiddenFill>
                </a:ext>
              </a:extLst>
            </p:spPr>
          </p:pic>
        </p:grpSp>
      </p:grpSp>
      <p:grpSp>
        <p:nvGrpSpPr>
          <p:cNvPr id="42" name="Group 41"/>
          <p:cNvGrpSpPr/>
          <p:nvPr/>
        </p:nvGrpSpPr>
        <p:grpSpPr>
          <a:xfrm>
            <a:off x="6604771" y="1419958"/>
            <a:ext cx="1668653" cy="647700"/>
            <a:chOff x="7113856" y="1943100"/>
            <a:chExt cx="1183510" cy="419100"/>
          </a:xfrm>
        </p:grpSpPr>
        <p:sp>
          <p:nvSpPr>
            <p:cNvPr id="3" name="Rectangular Callout 2"/>
            <p:cNvSpPr/>
            <p:nvPr/>
          </p:nvSpPr>
          <p:spPr>
            <a:xfrm>
              <a:off x="7113856" y="1943100"/>
              <a:ext cx="1178976" cy="419100"/>
            </a:xfrm>
            <a:prstGeom prst="wedgeRectCallout">
              <a:avLst>
                <a:gd name="adj1" fmla="val -39330"/>
                <a:gd name="adj2" fmla="val 93034"/>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43" name="Rectangular Callout 42"/>
            <p:cNvSpPr/>
            <p:nvPr/>
          </p:nvSpPr>
          <p:spPr>
            <a:xfrm>
              <a:off x="7118390" y="1943100"/>
              <a:ext cx="1178976" cy="419100"/>
            </a:xfrm>
            <a:prstGeom prst="wedgeRectCallout">
              <a:avLst>
                <a:gd name="adj1" fmla="val 27845"/>
                <a:gd name="adj2" fmla="val 9467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GB" sz="1400" b="1" dirty="0"/>
                <a:t>Sample</a:t>
              </a:r>
              <a:r>
                <a:rPr lang="en-GB" sz="1400" dirty="0"/>
                <a:t> suggests </a:t>
              </a:r>
              <a:r>
                <a:rPr lang="en-GB" sz="1400" b="1" dirty="0"/>
                <a:t>43% male</a:t>
              </a:r>
            </a:p>
          </p:txBody>
        </p:sp>
      </p:grpSp>
      <p:grpSp>
        <p:nvGrpSpPr>
          <p:cNvPr id="81" name="Group 80"/>
          <p:cNvGrpSpPr/>
          <p:nvPr/>
        </p:nvGrpSpPr>
        <p:grpSpPr>
          <a:xfrm>
            <a:off x="6518765" y="3238500"/>
            <a:ext cx="1668653" cy="647700"/>
            <a:chOff x="7113856" y="1943100"/>
            <a:chExt cx="1183510" cy="419100"/>
          </a:xfrm>
          <a:solidFill>
            <a:schemeClr val="bg1">
              <a:lumMod val="85000"/>
            </a:schemeClr>
          </a:solidFill>
        </p:grpSpPr>
        <p:sp>
          <p:nvSpPr>
            <p:cNvPr id="82" name="Rectangular Callout 81"/>
            <p:cNvSpPr/>
            <p:nvPr/>
          </p:nvSpPr>
          <p:spPr>
            <a:xfrm>
              <a:off x="7113856" y="1943100"/>
              <a:ext cx="1178976" cy="419100"/>
            </a:xfrm>
            <a:prstGeom prst="wedgeRectCallout">
              <a:avLst>
                <a:gd name="adj1" fmla="val -47263"/>
                <a:gd name="adj2" fmla="val -137736"/>
              </a:avLst>
            </a:prstGeom>
            <a:grpFill/>
            <a:ln>
              <a:solidFill>
                <a:schemeClr val="bg1">
                  <a:lumMod val="75000"/>
                </a:schemeClr>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83" name="Rectangular Callout 82"/>
            <p:cNvSpPr/>
            <p:nvPr/>
          </p:nvSpPr>
          <p:spPr>
            <a:xfrm>
              <a:off x="7118390" y="1943100"/>
              <a:ext cx="1178976" cy="419100"/>
            </a:xfrm>
            <a:prstGeom prst="wedgeRectCallout">
              <a:avLst>
                <a:gd name="adj1" fmla="val 20969"/>
                <a:gd name="adj2" fmla="val -137450"/>
              </a:avLst>
            </a:prstGeom>
            <a:grpFill/>
            <a:ln>
              <a:solidFill>
                <a:schemeClr val="bg1">
                  <a:lumMod val="75000"/>
                </a:schemeClr>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en-GB" sz="1400" dirty="0"/>
                <a:t>Actual </a:t>
              </a:r>
              <a:r>
                <a:rPr lang="en-GB" sz="1400" b="1" dirty="0"/>
                <a:t>population</a:t>
              </a:r>
              <a:r>
                <a:rPr lang="en-GB" sz="1400" dirty="0"/>
                <a:t> is </a:t>
              </a:r>
              <a:r>
                <a:rPr lang="en-GB" sz="1400" b="1" dirty="0"/>
                <a:t>??% male</a:t>
              </a:r>
            </a:p>
          </p:txBody>
        </p:sp>
      </p:grpSp>
    </p:spTree>
    <p:extLst>
      <p:ext uri="{BB962C8B-B14F-4D97-AF65-F5344CB8AC3E}">
        <p14:creationId xmlns:p14="http://schemas.microsoft.com/office/powerpoint/2010/main" val="3913777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fade">
                                      <p:cBhvr>
                                        <p:cTn id="7" dur="500"/>
                                        <p:tgtEl>
                                          <p:spTgt spid="4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1"/>
                                        </p:tgtEl>
                                        <p:attrNameLst>
                                          <p:attrName>style.visibility</p:attrName>
                                        </p:attrNameLst>
                                      </p:cBhvr>
                                      <p:to>
                                        <p:strVal val="visible"/>
                                      </p:to>
                                    </p:set>
                                    <p:animEffect transition="in" filter="fade">
                                      <p:cBhvr>
                                        <p:cTn id="12" dur="500"/>
                                        <p:tgtEl>
                                          <p:spTgt spid="8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dirty="0"/>
              <a:t>Proportions</a:t>
            </a:r>
          </a:p>
        </p:txBody>
      </p:sp>
      <p:sp>
        <p:nvSpPr>
          <p:cNvPr id="4" name="Text Placeholder 3"/>
          <p:cNvSpPr>
            <a:spLocks noGrp="1"/>
          </p:cNvSpPr>
          <p:nvPr>
            <p:ph type="body" idx="1"/>
          </p:nvPr>
        </p:nvSpPr>
        <p:spPr/>
        <p:txBody>
          <a:bodyPr/>
          <a:lstStyle/>
          <a:p>
            <a:r>
              <a:rPr lang="en-GB" dirty="0"/>
              <a:t>Statistical inference about</a:t>
            </a:r>
          </a:p>
        </p:txBody>
      </p:sp>
    </p:spTree>
    <p:extLst>
      <p:ext uri="{BB962C8B-B14F-4D97-AF65-F5344CB8AC3E}">
        <p14:creationId xmlns:p14="http://schemas.microsoft.com/office/powerpoint/2010/main" val="7430558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7" name="Text Box 5"/>
          <p:cNvSpPr txBox="1">
            <a:spLocks noChangeArrowheads="1"/>
          </p:cNvSpPr>
          <p:nvPr/>
        </p:nvSpPr>
        <p:spPr bwMode="auto">
          <a:xfrm>
            <a:off x="676834" y="4612450"/>
            <a:ext cx="401494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dirty="0"/>
              <a:t>STANDARD ERROR OF THE PROPORTION!</a:t>
            </a:r>
            <a:endParaRPr lang="en-US" altLang="en-US" dirty="0"/>
          </a:p>
        </p:txBody>
      </p:sp>
      <p:sp>
        <p:nvSpPr>
          <p:cNvPr id="2" name="Title 1"/>
          <p:cNvSpPr>
            <a:spLocks noGrp="1"/>
          </p:cNvSpPr>
          <p:nvPr>
            <p:ph type="title"/>
          </p:nvPr>
        </p:nvSpPr>
        <p:spPr>
          <a:xfrm>
            <a:off x="304800" y="143000"/>
            <a:ext cx="8229600" cy="1143000"/>
          </a:xfrm>
        </p:spPr>
        <p:txBody>
          <a:bodyPr>
            <a:normAutofit/>
          </a:bodyPr>
          <a:lstStyle/>
          <a:p>
            <a:r>
              <a:rPr lang="en-US" altLang="en-US" dirty="0"/>
              <a:t>Statistical inferences about proportions</a:t>
            </a:r>
            <a:endParaRPr lang="en-GB" dirty="0"/>
          </a:p>
        </p:txBody>
      </p:sp>
      <mc:AlternateContent xmlns:mc="http://schemas.openxmlformats.org/markup-compatibility/2006" xmlns:a14="http://schemas.microsoft.com/office/drawing/2010/main">
        <mc:Choice Requires="a14">
          <p:sp>
            <p:nvSpPr>
              <p:cNvPr id="15" name="Text Box 12"/>
              <p:cNvSpPr txBox="1">
                <a:spLocks noChangeArrowheads="1"/>
              </p:cNvSpPr>
              <p:nvPr/>
            </p:nvSpPr>
            <p:spPr bwMode="auto">
              <a:xfrm>
                <a:off x="738345" y="5888503"/>
                <a:ext cx="6858000" cy="646331"/>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r>
                  <a:rPr lang="en-GB" altLang="en-US" dirty="0"/>
                  <a:t>Here we </a:t>
                </a:r>
                <a:r>
                  <a:rPr lang="en-GB" altLang="en-US" b="1" dirty="0"/>
                  <a:t>don’t know the population </a:t>
                </a:r>
                <a:r>
                  <a:rPr lang="en-GB" altLang="en-US" dirty="0"/>
                  <a:t>proportion, so we have to </a:t>
                </a:r>
                <a:r>
                  <a:rPr lang="en-GB" altLang="en-US" b="1" dirty="0"/>
                  <a:t>use</a:t>
                </a:r>
                <a:r>
                  <a:rPr lang="en-GB" altLang="en-US" dirty="0"/>
                  <a:t> the </a:t>
                </a:r>
                <a:r>
                  <a:rPr lang="en-GB" altLang="en-US" b="1" dirty="0"/>
                  <a:t>sample proportion </a:t>
                </a:r>
                <a:r>
                  <a:rPr lang="en-GB" altLang="en-US" dirty="0"/>
                  <a:t>(</a:t>
                </a:r>
                <a14:m>
                  <m:oMath xmlns:m="http://schemas.openxmlformats.org/officeDocument/2006/math">
                    <m:r>
                      <a:rPr lang="en-GB" altLang="en-US" i="1" dirty="0" smtClean="0">
                        <a:latin typeface="Cambria Math"/>
                      </a:rPr>
                      <m:t>𝑝</m:t>
                    </m:r>
                  </m:oMath>
                </a14:m>
                <a:r>
                  <a:rPr lang="en-GB" altLang="en-US" dirty="0"/>
                  <a:t>) </a:t>
                </a:r>
                <a:r>
                  <a:rPr lang="en-GB" altLang="en-US" b="1" dirty="0"/>
                  <a:t>as</a:t>
                </a:r>
                <a:r>
                  <a:rPr lang="en-GB" altLang="en-US" dirty="0"/>
                  <a:t> an </a:t>
                </a:r>
                <a:r>
                  <a:rPr lang="en-GB" altLang="en-US" b="1" dirty="0"/>
                  <a:t>estimate</a:t>
                </a:r>
                <a:r>
                  <a:rPr lang="en-GB" altLang="en-US" dirty="0"/>
                  <a:t>.</a:t>
                </a:r>
                <a:endParaRPr lang="en-US" altLang="en-US" dirty="0"/>
              </a:p>
            </p:txBody>
          </p:sp>
        </mc:Choice>
        <mc:Fallback xmlns="">
          <p:sp>
            <p:nvSpPr>
              <p:cNvPr id="15" name="Text Box 12"/>
              <p:cNvSpPr txBox="1">
                <a:spLocks noRot="1" noChangeAspect="1" noMove="1" noResize="1" noEditPoints="1" noAdjustHandles="1" noChangeArrowheads="1" noChangeShapeType="1" noTextEdit="1"/>
              </p:cNvSpPr>
              <p:nvPr/>
            </p:nvSpPr>
            <p:spPr bwMode="auto">
              <a:xfrm>
                <a:off x="738345" y="5888503"/>
                <a:ext cx="6858000" cy="646331"/>
              </a:xfrm>
              <a:prstGeom prst="rect">
                <a:avLst/>
              </a:prstGeom>
              <a:blipFill>
                <a:blip r:embed="rId3"/>
                <a:stretch>
                  <a:fillRect l="-711" t="-5660" b="-14151"/>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5486400" y="3646437"/>
                <a:ext cx="2514600" cy="20574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GB" sz="2000" i="1" smtClean="0">
                              <a:latin typeface="Cambria Math" panose="02040503050406030204" pitchFamily="18" charset="0"/>
                              <a:ea typeface="Cambria Math"/>
                            </a:rPr>
                          </m:ctrlPr>
                        </m:sSubPr>
                        <m:e>
                          <m:r>
                            <a:rPr lang="en-GB" sz="2000" i="1" smtClean="0">
                              <a:latin typeface="Cambria Math"/>
                              <a:ea typeface="Cambria Math"/>
                            </a:rPr>
                            <m:t>𝜎</m:t>
                          </m:r>
                        </m:e>
                        <m:sub>
                          <m:r>
                            <a:rPr lang="en-GB" sz="2000" b="0" i="1" smtClean="0">
                              <a:latin typeface="Cambria Math"/>
                              <a:ea typeface="Cambria Math"/>
                            </a:rPr>
                            <m:t>𝑝</m:t>
                          </m:r>
                        </m:sub>
                      </m:sSub>
                      <m:r>
                        <a:rPr lang="en-GB" sz="2000" b="0" i="1" smtClean="0">
                          <a:latin typeface="Cambria Math"/>
                          <a:ea typeface="Cambria Math"/>
                        </a:rPr>
                        <m:t>=</m:t>
                      </m:r>
                      <m:rad>
                        <m:radPr>
                          <m:degHide m:val="on"/>
                          <m:ctrlPr>
                            <a:rPr lang="en-GB" sz="2000" b="0" i="1" smtClean="0">
                              <a:latin typeface="Cambria Math" panose="02040503050406030204" pitchFamily="18" charset="0"/>
                              <a:ea typeface="Cambria Math"/>
                            </a:rPr>
                          </m:ctrlPr>
                        </m:radPr>
                        <m:deg/>
                        <m:e>
                          <m:f>
                            <m:fPr>
                              <m:ctrlPr>
                                <a:rPr lang="en-GB" sz="2000" b="0" i="1" smtClean="0">
                                  <a:latin typeface="Cambria Math" panose="02040503050406030204" pitchFamily="18" charset="0"/>
                                  <a:ea typeface="Cambria Math"/>
                                </a:rPr>
                              </m:ctrlPr>
                            </m:fPr>
                            <m:num>
                              <m:r>
                                <a:rPr lang="en-GB" sz="2000" b="0" i="1" smtClean="0">
                                  <a:latin typeface="Cambria Math"/>
                                  <a:ea typeface="Cambria Math"/>
                                </a:rPr>
                                <m:t>𝑝</m:t>
                              </m:r>
                              <m:d>
                                <m:dPr>
                                  <m:ctrlPr>
                                    <a:rPr lang="en-GB" sz="2000" i="1">
                                      <a:latin typeface="Cambria Math" panose="02040503050406030204" pitchFamily="18" charset="0"/>
                                      <a:ea typeface="Cambria Math"/>
                                    </a:rPr>
                                  </m:ctrlPr>
                                </m:dPr>
                                <m:e>
                                  <m:r>
                                    <a:rPr lang="en-GB" sz="2000" i="1">
                                      <a:latin typeface="Cambria Math"/>
                                      <a:ea typeface="Cambria Math"/>
                                    </a:rPr>
                                    <m:t>1−</m:t>
                                  </m:r>
                                  <m:r>
                                    <a:rPr lang="en-GB" sz="2000" b="0" i="1" smtClean="0">
                                      <a:latin typeface="Cambria Math"/>
                                      <a:ea typeface="Cambria Math"/>
                                    </a:rPr>
                                    <m:t>𝑝</m:t>
                                  </m:r>
                                </m:e>
                              </m:d>
                            </m:num>
                            <m:den>
                              <m:r>
                                <a:rPr lang="en-GB" sz="2000" b="0" i="1" smtClean="0">
                                  <a:latin typeface="Cambria Math"/>
                                  <a:ea typeface="Cambria Math"/>
                                </a:rPr>
                                <m:t>𝑛</m:t>
                              </m:r>
                            </m:den>
                          </m:f>
                        </m:e>
                      </m:rad>
                    </m:oMath>
                  </m:oMathPara>
                </a14:m>
                <a:endParaRPr lang="en-GB" sz="2000" dirty="0"/>
              </a:p>
              <a:p>
                <a:endParaRPr lang="en-GB" sz="1600" i="1" dirty="0">
                  <a:latin typeface="Cambria Math"/>
                  <a:ea typeface="Cambria Math"/>
                </a:endParaRPr>
              </a:p>
              <a:p>
                <a14:m>
                  <m:oMath xmlns:m="http://schemas.openxmlformats.org/officeDocument/2006/math">
                    <m:r>
                      <a:rPr lang="en-GB" sz="1600" b="0" i="1" smtClean="0">
                        <a:latin typeface="Cambria Math"/>
                        <a:ea typeface="Cambria Math"/>
                      </a:rPr>
                      <m:t>𝑝</m:t>
                    </m:r>
                    <m:r>
                      <a:rPr lang="en-GB" sz="1600" i="1">
                        <a:latin typeface="Cambria Math"/>
                        <a:ea typeface="Cambria Math"/>
                      </a:rPr>
                      <m:t> </m:t>
                    </m:r>
                  </m:oMath>
                </a14:m>
                <a:r>
                  <a:rPr lang="en-US" altLang="en-US" sz="1600" dirty="0"/>
                  <a:t>= sample proportion</a:t>
                </a:r>
              </a:p>
              <a:p>
                <a:r>
                  <a:rPr lang="en-US" altLang="en-US" sz="1600" dirty="0"/>
                  <a:t>n = number in sample</a:t>
                </a:r>
                <a:endParaRPr lang="en-GB" sz="1600" dirty="0"/>
              </a:p>
            </p:txBody>
          </p:sp>
        </mc:Choice>
        <mc:Fallback xmlns="">
          <p:sp>
            <p:nvSpPr>
              <p:cNvPr id="6" name="Rectangle 5"/>
              <p:cNvSpPr>
                <a:spLocks noRot="1" noChangeAspect="1" noMove="1" noResize="1" noEditPoints="1" noAdjustHandles="1" noChangeArrowheads="1" noChangeShapeType="1" noTextEdit="1"/>
              </p:cNvSpPr>
              <p:nvPr/>
            </p:nvSpPr>
            <p:spPr>
              <a:xfrm>
                <a:off x="5486400" y="3646437"/>
                <a:ext cx="2514600" cy="2057400"/>
              </a:xfrm>
              <a:prstGeom prst="rect">
                <a:avLst/>
              </a:prstGeom>
              <a:blipFill>
                <a:blip r:embed="rId4"/>
                <a:stretch>
                  <a:fillRect/>
                </a:stretch>
              </a:blipFill>
            </p:spPr>
            <p:txBody>
              <a:bodyPr/>
              <a:lstStyle/>
              <a:p>
                <a:r>
                  <a:rPr lang="en-GB">
                    <a:noFill/>
                  </a:rPr>
                  <a:t> </a:t>
                </a:r>
              </a:p>
            </p:txBody>
          </p:sp>
        </mc:Fallback>
      </mc:AlternateContent>
      <p:sp>
        <p:nvSpPr>
          <p:cNvPr id="4" name="Text Box 12">
            <a:extLst>
              <a:ext uri="{FF2B5EF4-FFF2-40B4-BE49-F238E27FC236}">
                <a16:creationId xmlns:a16="http://schemas.microsoft.com/office/drawing/2014/main" id="{F058A102-AC88-1529-6E12-050C3D0EC1BC}"/>
              </a:ext>
            </a:extLst>
          </p:cNvPr>
          <p:cNvSpPr txBox="1">
            <a:spLocks noChangeArrowheads="1"/>
          </p:cNvSpPr>
          <p:nvPr/>
        </p:nvSpPr>
        <p:spPr bwMode="auto">
          <a:xfrm>
            <a:off x="676834" y="1028074"/>
            <a:ext cx="7476565"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GB" altLang="en-US" dirty="0"/>
              <a:t>Proportion is defined as number of event of interest out of total number of observation. For Example: </a:t>
            </a:r>
          </a:p>
          <a:p>
            <a:endParaRPr lang="en-GB" altLang="en-US" dirty="0"/>
          </a:p>
          <a:p>
            <a:pPr marL="342900" indent="-342900">
              <a:buFont typeface="+mj-lt"/>
              <a:buAutoNum type="arabicPeriod"/>
            </a:pPr>
            <a:r>
              <a:rPr lang="en-GB" altLang="en-US" dirty="0"/>
              <a:t>Number of students that take French as a second language out of all students.</a:t>
            </a:r>
          </a:p>
          <a:p>
            <a:pPr marL="342900" indent="-342900">
              <a:buFont typeface="+mj-lt"/>
              <a:buAutoNum type="arabicPeriod"/>
            </a:pPr>
            <a:r>
              <a:rPr lang="en-GB" altLang="en-US" dirty="0"/>
              <a:t>Percentage of defect products from factory.</a:t>
            </a:r>
          </a:p>
          <a:p>
            <a:endParaRPr lang="en-GB" altLang="en-US" dirty="0"/>
          </a:p>
          <a:p>
            <a:r>
              <a:rPr lang="en-GB" altLang="en-US" dirty="0"/>
              <a:t>In some situation, you might get this ‘proportion’ from the sample and want to infer to the population.</a:t>
            </a:r>
          </a:p>
          <a:p>
            <a:pPr marL="342900" indent="-342900">
              <a:buFont typeface="+mj-lt"/>
              <a:buAutoNum type="arabicPeriod"/>
            </a:pPr>
            <a:endParaRPr lang="en-US" altLang="en-US" dirty="0"/>
          </a:p>
        </p:txBody>
      </p:sp>
    </p:spTree>
    <p:extLst>
      <p:ext uri="{BB962C8B-B14F-4D97-AF65-F5344CB8AC3E}">
        <p14:creationId xmlns:p14="http://schemas.microsoft.com/office/powerpoint/2010/main" val="19141797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5954" name="Text Box 2"/>
              <p:cNvSpPr txBox="1">
                <a:spLocks noChangeArrowheads="1"/>
              </p:cNvSpPr>
              <p:nvPr/>
            </p:nvSpPr>
            <p:spPr bwMode="auto">
              <a:xfrm>
                <a:off x="882785" y="1254283"/>
                <a:ext cx="6553201" cy="1323439"/>
              </a:xfrm>
              <a:prstGeom prst="rect">
                <a:avLst/>
              </a:prstGeom>
              <a:noFill/>
              <a:ln>
                <a:noFill/>
              </a:ln>
              <a:effectLst/>
              <a:extLst>
                <a:ext uri="{909E8E84-426E-40DD-AFC4-6F175D3DCCD1}">
                  <a14:hiddenFill>
                    <a:solidFill>
                      <a:schemeClr val="accent1"/>
                    </a:solidFill>
                  </a14:hiddenFill>
                </a:ext>
                <a:ext uri="{91240B29-F687-4F45-9708-019B960494DF}">
                  <a14:hiddenLine w="12700">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p>
                <a:pPr>
                  <a:buClr>
                    <a:srgbClr val="333399"/>
                  </a:buClr>
                </a:pPr>
                <a:r>
                  <a:rPr lang="en-US" altLang="en-US" sz="2000" dirty="0"/>
                  <a:t>The </a:t>
                </a:r>
                <a:r>
                  <a:rPr lang="en-US" altLang="en-US" sz="2000" b="1" dirty="0"/>
                  <a:t>sample</a:t>
                </a:r>
                <a:r>
                  <a:rPr lang="en-US" altLang="en-US" sz="2000" dirty="0"/>
                  <a:t> proportion (</a:t>
                </a:r>
                <a14:m>
                  <m:oMath xmlns:m="http://schemas.openxmlformats.org/officeDocument/2006/math">
                    <m:r>
                      <a:rPr lang="en-US" altLang="en-US" sz="2000" i="1" dirty="0" smtClean="0">
                        <a:latin typeface="Cambria Math"/>
                      </a:rPr>
                      <m:t>𝑝</m:t>
                    </m:r>
                  </m:oMath>
                </a14:m>
                <a:r>
                  <a:rPr lang="en-US" altLang="en-US" sz="2000" dirty="0"/>
                  <a:t>) may </a:t>
                </a:r>
                <a:r>
                  <a:rPr lang="en-US" altLang="en-US" sz="2000" b="1" dirty="0"/>
                  <a:t>NOT</a:t>
                </a:r>
                <a:r>
                  <a:rPr lang="en-US" altLang="en-US" sz="2000" dirty="0"/>
                  <a:t> be the </a:t>
                </a:r>
                <a:r>
                  <a:rPr lang="en-US" altLang="en-US" sz="2000" b="1" dirty="0"/>
                  <a:t>same</a:t>
                </a:r>
                <a:r>
                  <a:rPr lang="en-US" altLang="en-US" sz="2000" dirty="0"/>
                  <a:t> </a:t>
                </a:r>
                <a:r>
                  <a:rPr lang="en-US" altLang="en-US" sz="2000" b="1" dirty="0"/>
                  <a:t>as</a:t>
                </a:r>
                <a:r>
                  <a:rPr lang="en-US" altLang="en-US" sz="2000" dirty="0"/>
                  <a:t> </a:t>
                </a:r>
                <a:r>
                  <a:rPr lang="en-US" altLang="en-US" sz="2000" b="1" dirty="0"/>
                  <a:t>population</a:t>
                </a:r>
                <a:r>
                  <a:rPr lang="en-US" altLang="en-US" sz="2000" dirty="0"/>
                  <a:t> proportion (</a:t>
                </a:r>
                <a14:m>
                  <m:oMath xmlns:m="http://schemas.openxmlformats.org/officeDocument/2006/math">
                    <m:r>
                      <a:rPr lang="en-US" altLang="en-US" sz="2000" i="1" smtClean="0">
                        <a:latin typeface="Cambria Math"/>
                        <a:ea typeface="Cambria Math"/>
                      </a:rPr>
                      <m:t>𝜋</m:t>
                    </m:r>
                  </m:oMath>
                </a14:m>
                <a:r>
                  <a:rPr lang="en-US" altLang="en-US" sz="2000" dirty="0"/>
                  <a:t>). We need to </a:t>
                </a:r>
                <a:r>
                  <a:rPr lang="en-US" altLang="en-US" sz="2000" b="1" dirty="0"/>
                  <a:t>calculate</a:t>
                </a:r>
                <a:r>
                  <a:rPr lang="en-US" altLang="en-US" sz="2000" dirty="0"/>
                  <a:t> a “</a:t>
                </a:r>
                <a:r>
                  <a:rPr lang="en-US" altLang="en-US" sz="2000" b="1" dirty="0"/>
                  <a:t>margin of error</a:t>
                </a:r>
                <a:r>
                  <a:rPr lang="en-US" altLang="en-US" sz="2000" dirty="0"/>
                  <a:t>” - the </a:t>
                </a:r>
                <a:r>
                  <a:rPr lang="en-US" altLang="en-US" sz="2000" dirty="0">
                    <a:solidFill>
                      <a:srgbClr val="333399"/>
                    </a:solidFill>
                  </a:rPr>
                  <a:t>confidence interval</a:t>
                </a:r>
              </a:p>
              <a:p>
                <a:pPr>
                  <a:buClr>
                    <a:srgbClr val="333399"/>
                  </a:buClr>
                </a:pPr>
                <a:endParaRPr lang="en-US" altLang="en-US" sz="2000" dirty="0">
                  <a:solidFill>
                    <a:srgbClr val="333399"/>
                  </a:solidFill>
                </a:endParaRPr>
              </a:p>
            </p:txBody>
          </p:sp>
        </mc:Choice>
        <mc:Fallback xmlns="">
          <p:sp>
            <p:nvSpPr>
              <p:cNvPr id="125954" name="Text Box 2"/>
              <p:cNvSpPr txBox="1">
                <a:spLocks noRot="1" noChangeAspect="1" noMove="1" noResize="1" noEditPoints="1" noAdjustHandles="1" noChangeArrowheads="1" noChangeShapeType="1" noTextEdit="1"/>
              </p:cNvSpPr>
              <p:nvPr/>
            </p:nvSpPr>
            <p:spPr bwMode="auto">
              <a:xfrm>
                <a:off x="882785" y="1254283"/>
                <a:ext cx="6553201" cy="1323439"/>
              </a:xfrm>
              <a:prstGeom prst="rect">
                <a:avLst/>
              </a:prstGeom>
              <a:blipFill>
                <a:blip r:embed="rId3"/>
                <a:stretch>
                  <a:fillRect l="-1023" t="-2765" r="-1674"/>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
        <p:nvSpPr>
          <p:cNvPr id="125956" name="Text Box 4"/>
          <p:cNvSpPr txBox="1">
            <a:spLocks noChangeArrowheads="1"/>
          </p:cNvSpPr>
          <p:nvPr/>
        </p:nvSpPr>
        <p:spPr bwMode="auto">
          <a:xfrm>
            <a:off x="1260938" y="2719823"/>
            <a:ext cx="5931709"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buClr>
                <a:srgbClr val="333399"/>
              </a:buClr>
            </a:pPr>
            <a:r>
              <a:rPr lang="en-US" altLang="en-US" sz="2000" dirty="0"/>
              <a:t>An interval around the sample proportion in which we are confident that the population proportion lies</a:t>
            </a:r>
          </a:p>
        </p:txBody>
      </p:sp>
      <p:sp>
        <p:nvSpPr>
          <p:cNvPr id="2" name="Title 1"/>
          <p:cNvSpPr>
            <a:spLocks noGrp="1"/>
          </p:cNvSpPr>
          <p:nvPr>
            <p:ph type="title"/>
          </p:nvPr>
        </p:nvSpPr>
        <p:spPr>
          <a:xfrm>
            <a:off x="304079" y="320833"/>
            <a:ext cx="8229600" cy="1143000"/>
          </a:xfrm>
        </p:spPr>
        <p:txBody>
          <a:bodyPr>
            <a:normAutofit/>
          </a:bodyPr>
          <a:lstStyle/>
          <a:p>
            <a:r>
              <a:rPr lang="en-US" altLang="en-US" dirty="0"/>
              <a:t>Confidence Interval for proportions</a:t>
            </a:r>
            <a:endParaRPr lang="en-GB" dirty="0"/>
          </a:p>
        </p:txBody>
      </p:sp>
      <p:grpSp>
        <p:nvGrpSpPr>
          <p:cNvPr id="6" name="Group 5"/>
          <p:cNvGrpSpPr/>
          <p:nvPr/>
        </p:nvGrpSpPr>
        <p:grpSpPr>
          <a:xfrm>
            <a:off x="4024570" y="3944816"/>
            <a:ext cx="4098802" cy="844060"/>
            <a:chOff x="4114800" y="3429000"/>
            <a:chExt cx="4098802" cy="844060"/>
          </a:xfrm>
        </p:grpSpPr>
        <p:pic>
          <p:nvPicPr>
            <p:cNvPr id="7" name="Picture 10" descr="http://www.reflectiveresolutions.com/2014/wp-content/uploads/2015/03/BellCurve.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317023" y="3429000"/>
              <a:ext cx="3896579" cy="834971"/>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p:nvPr/>
          </p:nvSpPr>
          <p:spPr>
            <a:xfrm>
              <a:off x="4114800" y="3429000"/>
              <a:ext cx="457200" cy="8440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9" name="Group 8"/>
          <p:cNvGrpSpPr/>
          <p:nvPr/>
        </p:nvGrpSpPr>
        <p:grpSpPr>
          <a:xfrm>
            <a:off x="4159386" y="3962400"/>
            <a:ext cx="4653762" cy="1115199"/>
            <a:chOff x="3262115" y="3429000"/>
            <a:chExt cx="4653762" cy="1115199"/>
          </a:xfrm>
        </p:grpSpPr>
        <p:grpSp>
          <p:nvGrpSpPr>
            <p:cNvPr id="10" name="Group 9"/>
            <p:cNvGrpSpPr/>
            <p:nvPr/>
          </p:nvGrpSpPr>
          <p:grpSpPr>
            <a:xfrm>
              <a:off x="3262115" y="4059116"/>
              <a:ext cx="4653762" cy="485083"/>
              <a:chOff x="3262115" y="4059116"/>
              <a:chExt cx="4653762" cy="485083"/>
            </a:xfrm>
          </p:grpSpPr>
          <p:sp>
            <p:nvSpPr>
              <p:cNvPr id="14" name="Rectangle 13"/>
              <p:cNvSpPr/>
              <p:nvPr/>
            </p:nvSpPr>
            <p:spPr>
              <a:xfrm>
                <a:off x="3405162" y="4167554"/>
                <a:ext cx="4214838" cy="762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GB">
                  <a:solidFill>
                    <a:schemeClr val="accent3">
                      <a:lumMod val="75000"/>
                    </a:schemeClr>
                  </a:solidFill>
                </a:endParaRPr>
              </a:p>
            </p:txBody>
          </p:sp>
          <p:sp>
            <p:nvSpPr>
              <p:cNvPr id="15" name="TextBox 14"/>
              <p:cNvSpPr txBox="1"/>
              <p:nvPr/>
            </p:nvSpPr>
            <p:spPr>
              <a:xfrm>
                <a:off x="3262115" y="4267200"/>
                <a:ext cx="375423" cy="276999"/>
              </a:xfrm>
              <a:prstGeom prst="rect">
                <a:avLst/>
              </a:prstGeom>
              <a:noFill/>
            </p:spPr>
            <p:txBody>
              <a:bodyPr wrap="none" rtlCol="0">
                <a:spAutoFit/>
              </a:bodyPr>
              <a:lstStyle/>
              <a:p>
                <a:pPr algn="ctr"/>
                <a:r>
                  <a:rPr lang="en-GB" sz="1200" dirty="0">
                    <a:solidFill>
                      <a:schemeClr val="accent3">
                        <a:lumMod val="75000"/>
                      </a:schemeClr>
                    </a:solidFill>
                  </a:rPr>
                  <a:t>0%</a:t>
                </a:r>
              </a:p>
            </p:txBody>
          </p:sp>
          <p:sp>
            <p:nvSpPr>
              <p:cNvPr id="16" name="TextBox 15"/>
              <p:cNvSpPr txBox="1"/>
              <p:nvPr/>
            </p:nvSpPr>
            <p:spPr>
              <a:xfrm>
                <a:off x="7383360" y="4267200"/>
                <a:ext cx="532517" cy="276999"/>
              </a:xfrm>
              <a:prstGeom prst="rect">
                <a:avLst/>
              </a:prstGeom>
              <a:noFill/>
            </p:spPr>
            <p:txBody>
              <a:bodyPr wrap="none" rtlCol="0">
                <a:spAutoFit/>
              </a:bodyPr>
              <a:lstStyle/>
              <a:p>
                <a:pPr algn="ctr"/>
                <a:r>
                  <a:rPr lang="en-GB" sz="1200" dirty="0">
                    <a:solidFill>
                      <a:schemeClr val="accent3">
                        <a:lumMod val="75000"/>
                      </a:schemeClr>
                    </a:solidFill>
                  </a:rPr>
                  <a:t>100%</a:t>
                </a:r>
              </a:p>
            </p:txBody>
          </p:sp>
          <p:cxnSp>
            <p:nvCxnSpPr>
              <p:cNvPr id="17" name="Straight Connector 16"/>
              <p:cNvCxnSpPr/>
              <p:nvPr/>
            </p:nvCxnSpPr>
            <p:spPr>
              <a:xfrm>
                <a:off x="3402624" y="4059116"/>
                <a:ext cx="0" cy="190500"/>
              </a:xfrm>
              <a:prstGeom prst="line">
                <a:avLst/>
              </a:prstGeom>
              <a:ln>
                <a:solidFill>
                  <a:schemeClr val="accent3"/>
                </a:solidFill>
              </a:ln>
            </p:spPr>
            <p:style>
              <a:lnRef idx="1">
                <a:schemeClr val="dk1"/>
              </a:lnRef>
              <a:fillRef idx="0">
                <a:schemeClr val="dk1"/>
              </a:fillRef>
              <a:effectRef idx="0">
                <a:schemeClr val="dk1"/>
              </a:effectRef>
              <a:fontRef idx="minor">
                <a:schemeClr val="tx1"/>
              </a:fontRef>
            </p:style>
          </p:cxnSp>
          <p:cxnSp>
            <p:nvCxnSpPr>
              <p:cNvPr id="18" name="Straight Connector 17"/>
              <p:cNvCxnSpPr/>
              <p:nvPr/>
            </p:nvCxnSpPr>
            <p:spPr>
              <a:xfrm>
                <a:off x="7620000" y="4059116"/>
                <a:ext cx="0" cy="190500"/>
              </a:xfrm>
              <a:prstGeom prst="line">
                <a:avLst/>
              </a:prstGeom>
              <a:ln>
                <a:solidFill>
                  <a:schemeClr val="accent3"/>
                </a:solidFill>
              </a:ln>
            </p:spPr>
            <p:style>
              <a:lnRef idx="1">
                <a:schemeClr val="dk1"/>
              </a:lnRef>
              <a:fillRef idx="0">
                <a:schemeClr val="dk1"/>
              </a:fillRef>
              <a:effectRef idx="0">
                <a:schemeClr val="dk1"/>
              </a:effectRef>
              <a:fontRef idx="minor">
                <a:schemeClr val="tx1"/>
              </a:fontRef>
            </p:style>
          </p:cxnSp>
          <p:cxnSp>
            <p:nvCxnSpPr>
              <p:cNvPr id="20" name="Straight Connector 19"/>
              <p:cNvCxnSpPr/>
              <p:nvPr/>
            </p:nvCxnSpPr>
            <p:spPr>
              <a:xfrm>
                <a:off x="5503984" y="4064976"/>
                <a:ext cx="0" cy="190500"/>
              </a:xfrm>
              <a:prstGeom prst="line">
                <a:avLst/>
              </a:prstGeom>
              <a:ln>
                <a:solidFill>
                  <a:schemeClr val="accent3"/>
                </a:solidFill>
              </a:ln>
            </p:spPr>
            <p:style>
              <a:lnRef idx="1">
                <a:schemeClr val="dk1"/>
              </a:lnRef>
              <a:fillRef idx="0">
                <a:schemeClr val="dk1"/>
              </a:fillRef>
              <a:effectRef idx="0">
                <a:schemeClr val="dk1"/>
              </a:effectRef>
              <a:fontRef idx="minor">
                <a:schemeClr val="tx1"/>
              </a:fontRef>
            </p:style>
          </p:cxnSp>
        </p:grpSp>
        <p:grpSp>
          <p:nvGrpSpPr>
            <p:cNvPr id="11" name="Group 10"/>
            <p:cNvGrpSpPr/>
            <p:nvPr/>
          </p:nvGrpSpPr>
          <p:grpSpPr>
            <a:xfrm>
              <a:off x="5105341" y="3429000"/>
              <a:ext cx="280846" cy="1084384"/>
              <a:chOff x="5105341" y="3429000"/>
              <a:chExt cx="280846" cy="1084384"/>
            </a:xfrm>
          </p:grpSpPr>
          <p:sp>
            <p:nvSpPr>
              <p:cNvPr id="12" name="TextBox 11"/>
              <p:cNvSpPr txBox="1"/>
              <p:nvPr/>
            </p:nvSpPr>
            <p:spPr>
              <a:xfrm>
                <a:off x="5105341" y="4205607"/>
                <a:ext cx="280846" cy="307777"/>
              </a:xfrm>
              <a:prstGeom prst="rect">
                <a:avLst/>
              </a:prstGeom>
              <a:noFill/>
            </p:spPr>
            <p:txBody>
              <a:bodyPr wrap="none" rtlCol="0">
                <a:spAutoFit/>
              </a:bodyPr>
              <a:lstStyle/>
              <a:p>
                <a:pPr algn="ctr"/>
                <a:r>
                  <a:rPr lang="en-GB" sz="1400" b="1" dirty="0"/>
                  <a:t>p</a:t>
                </a:r>
              </a:p>
            </p:txBody>
          </p:sp>
          <p:cxnSp>
            <p:nvCxnSpPr>
              <p:cNvPr id="13" name="Straight Connector 12"/>
              <p:cNvCxnSpPr/>
              <p:nvPr/>
            </p:nvCxnSpPr>
            <p:spPr>
              <a:xfrm flipV="1">
                <a:off x="5202427" y="3429000"/>
                <a:ext cx="0" cy="820616"/>
              </a:xfrm>
              <a:prstGeom prst="line">
                <a:avLst/>
              </a:prstGeom>
            </p:spPr>
            <p:style>
              <a:lnRef idx="2">
                <a:schemeClr val="dk1"/>
              </a:lnRef>
              <a:fillRef idx="0">
                <a:schemeClr val="dk1"/>
              </a:fillRef>
              <a:effectRef idx="1">
                <a:schemeClr val="dk1"/>
              </a:effectRef>
              <a:fontRef idx="minor">
                <a:schemeClr val="tx1"/>
              </a:fontRef>
            </p:style>
          </p:cxnSp>
        </p:grpSp>
      </p:grpSp>
      <p:grpSp>
        <p:nvGrpSpPr>
          <p:cNvPr id="21" name="Group 20"/>
          <p:cNvGrpSpPr/>
          <p:nvPr/>
        </p:nvGrpSpPr>
        <p:grpSpPr>
          <a:xfrm>
            <a:off x="5387378" y="4303875"/>
            <a:ext cx="1439008" cy="461557"/>
            <a:chOff x="5181600" y="3962400"/>
            <a:chExt cx="1439008" cy="461557"/>
          </a:xfrm>
        </p:grpSpPr>
        <p:grpSp>
          <p:nvGrpSpPr>
            <p:cNvPr id="22" name="Group 21"/>
            <p:cNvGrpSpPr/>
            <p:nvPr/>
          </p:nvGrpSpPr>
          <p:grpSpPr>
            <a:xfrm>
              <a:off x="5181600" y="3962400"/>
              <a:ext cx="1439008" cy="461557"/>
              <a:chOff x="5181600" y="3751384"/>
              <a:chExt cx="1439008" cy="824973"/>
            </a:xfrm>
          </p:grpSpPr>
          <p:cxnSp>
            <p:nvCxnSpPr>
              <p:cNvPr id="24" name="Straight Connector 23"/>
              <p:cNvCxnSpPr/>
              <p:nvPr/>
            </p:nvCxnSpPr>
            <p:spPr>
              <a:xfrm flipV="1">
                <a:off x="5181600" y="3755741"/>
                <a:ext cx="0" cy="820616"/>
              </a:xfrm>
              <a:prstGeom prst="line">
                <a:avLst/>
              </a:prstGeom>
              <a:ln>
                <a:solidFill>
                  <a:schemeClr val="bg1">
                    <a:lumMod val="65000"/>
                  </a:schemeClr>
                </a:solidFill>
              </a:ln>
            </p:spPr>
            <p:style>
              <a:lnRef idx="2">
                <a:schemeClr val="accent4"/>
              </a:lnRef>
              <a:fillRef idx="0">
                <a:schemeClr val="accent4"/>
              </a:fillRef>
              <a:effectRef idx="1">
                <a:schemeClr val="accent4"/>
              </a:effectRef>
              <a:fontRef idx="minor">
                <a:schemeClr val="tx1"/>
              </a:fontRef>
            </p:style>
          </p:cxnSp>
          <p:cxnSp>
            <p:nvCxnSpPr>
              <p:cNvPr id="25" name="Straight Connector 24"/>
              <p:cNvCxnSpPr/>
              <p:nvPr/>
            </p:nvCxnSpPr>
            <p:spPr>
              <a:xfrm flipV="1">
                <a:off x="6620608" y="3751384"/>
                <a:ext cx="0" cy="820616"/>
              </a:xfrm>
              <a:prstGeom prst="line">
                <a:avLst/>
              </a:prstGeom>
              <a:ln>
                <a:solidFill>
                  <a:schemeClr val="bg1">
                    <a:lumMod val="65000"/>
                  </a:schemeClr>
                </a:solidFill>
              </a:ln>
            </p:spPr>
            <p:style>
              <a:lnRef idx="2">
                <a:schemeClr val="accent4"/>
              </a:lnRef>
              <a:fillRef idx="0">
                <a:schemeClr val="accent4"/>
              </a:fillRef>
              <a:effectRef idx="1">
                <a:schemeClr val="accent4"/>
              </a:effectRef>
              <a:fontRef idx="minor">
                <a:schemeClr val="tx1"/>
              </a:fontRef>
            </p:style>
          </p:cxnSp>
        </p:grpSp>
        <p:cxnSp>
          <p:nvCxnSpPr>
            <p:cNvPr id="23" name="Straight Arrow Connector 22"/>
            <p:cNvCxnSpPr/>
            <p:nvPr/>
          </p:nvCxnSpPr>
          <p:spPr>
            <a:xfrm>
              <a:off x="5181600" y="4112362"/>
              <a:ext cx="1438504" cy="2438"/>
            </a:xfrm>
            <a:prstGeom prst="straightConnector1">
              <a:avLst/>
            </a:prstGeom>
            <a:ln w="12700">
              <a:solidFill>
                <a:schemeClr val="bg1">
                  <a:lumMod val="65000"/>
                </a:schemeClr>
              </a:solidFill>
              <a:headEnd type="arrow"/>
              <a:tailEnd type="arrow"/>
            </a:ln>
          </p:spPr>
          <p:style>
            <a:lnRef idx="2">
              <a:schemeClr val="accent1"/>
            </a:lnRef>
            <a:fillRef idx="0">
              <a:schemeClr val="accent1"/>
            </a:fillRef>
            <a:effectRef idx="1">
              <a:schemeClr val="accent1"/>
            </a:effectRef>
            <a:fontRef idx="minor">
              <a:schemeClr val="tx1"/>
            </a:fontRef>
          </p:style>
        </p:cxnSp>
      </p:grpSp>
      <p:sp>
        <p:nvSpPr>
          <p:cNvPr id="3" name="Rectangle 2"/>
          <p:cNvSpPr/>
          <p:nvPr/>
        </p:nvSpPr>
        <p:spPr>
          <a:xfrm>
            <a:off x="471451" y="4208582"/>
            <a:ext cx="3189261" cy="646331"/>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a:buClr>
                <a:srgbClr val="333399"/>
              </a:buClr>
            </a:pPr>
            <a:r>
              <a:rPr lang="en-US" altLang="en-US" dirty="0"/>
              <a:t>Conventionally we use the 95% or 99% confidence intervals</a:t>
            </a:r>
          </a:p>
        </p:txBody>
      </p:sp>
    </p:spTree>
    <p:extLst>
      <p:ext uri="{BB962C8B-B14F-4D97-AF65-F5344CB8AC3E}">
        <p14:creationId xmlns:p14="http://schemas.microsoft.com/office/powerpoint/2010/main" val="1914179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5956"/>
                                        </p:tgtEl>
                                        <p:attrNameLst>
                                          <p:attrName>style.visibility</p:attrName>
                                        </p:attrNameLst>
                                      </p:cBhvr>
                                      <p:to>
                                        <p:strVal val="visible"/>
                                      </p:to>
                                    </p:set>
                                    <p:animEffect transition="in" filter="fade">
                                      <p:cBhvr>
                                        <p:cTn id="7" dur="500"/>
                                        <p:tgtEl>
                                          <p:spTgt spid="12595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500"/>
                                        <p:tgtEl>
                                          <p:spTgt spid="2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56" grpId="0"/>
      <p:bldP spid="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21" name="Text Box 5"/>
          <p:cNvSpPr txBox="1">
            <a:spLocks noChangeArrowheads="1"/>
          </p:cNvSpPr>
          <p:nvPr/>
        </p:nvSpPr>
        <p:spPr bwMode="auto">
          <a:xfrm>
            <a:off x="304799" y="914401"/>
            <a:ext cx="7315201"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buClr>
                <a:srgbClr val="333399"/>
              </a:buClr>
              <a:buSzPct val="75000"/>
            </a:pPr>
            <a:r>
              <a:rPr lang="en-US" altLang="en-US" sz="2000" dirty="0"/>
              <a:t>How far from the mean does a value have to be for there to be only a </a:t>
            </a:r>
            <a:r>
              <a:rPr lang="en-GB" altLang="en-US" sz="2000" dirty="0"/>
              <a:t>2.5% probability of that happening (i.e. 5% for both tails of higher and lower)? </a:t>
            </a:r>
          </a:p>
        </p:txBody>
      </p:sp>
      <p:sp>
        <p:nvSpPr>
          <p:cNvPr id="2" name="Title 1"/>
          <p:cNvSpPr>
            <a:spLocks noGrp="1"/>
          </p:cNvSpPr>
          <p:nvPr>
            <p:ph type="title"/>
          </p:nvPr>
        </p:nvSpPr>
        <p:spPr/>
        <p:txBody>
          <a:bodyPr/>
          <a:lstStyle/>
          <a:p>
            <a:r>
              <a:rPr lang="en-US" altLang="en-US" dirty="0"/>
              <a:t>Confidence Interval for proportions</a:t>
            </a:r>
            <a:endParaRPr lang="en-GB" dirty="0"/>
          </a:p>
        </p:txBody>
      </p:sp>
      <p:grpSp>
        <p:nvGrpSpPr>
          <p:cNvPr id="4" name="Group 3"/>
          <p:cNvGrpSpPr/>
          <p:nvPr/>
        </p:nvGrpSpPr>
        <p:grpSpPr>
          <a:xfrm>
            <a:off x="3745822" y="2978132"/>
            <a:ext cx="4098802" cy="844060"/>
            <a:chOff x="4114800" y="3429000"/>
            <a:chExt cx="4098802" cy="844060"/>
          </a:xfrm>
        </p:grpSpPr>
        <p:pic>
          <p:nvPicPr>
            <p:cNvPr id="5" name="Picture 10" descr="http://www.reflectiveresolutions.com/2014/wp-content/uploads/2015/03/BellCurv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17023" y="3429000"/>
              <a:ext cx="3896579" cy="834971"/>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4114800" y="3429000"/>
              <a:ext cx="457200" cy="8440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7" name="Group 6"/>
          <p:cNvGrpSpPr/>
          <p:nvPr/>
        </p:nvGrpSpPr>
        <p:grpSpPr>
          <a:xfrm>
            <a:off x="3880638" y="2995716"/>
            <a:ext cx="4653762" cy="1115199"/>
            <a:chOff x="3262115" y="3429000"/>
            <a:chExt cx="4653762" cy="1115199"/>
          </a:xfrm>
        </p:grpSpPr>
        <p:grpSp>
          <p:nvGrpSpPr>
            <p:cNvPr id="8" name="Group 7"/>
            <p:cNvGrpSpPr/>
            <p:nvPr/>
          </p:nvGrpSpPr>
          <p:grpSpPr>
            <a:xfrm>
              <a:off x="3262115" y="4059116"/>
              <a:ext cx="4653762" cy="485083"/>
              <a:chOff x="3262115" y="4059116"/>
              <a:chExt cx="4653762" cy="485083"/>
            </a:xfrm>
          </p:grpSpPr>
          <p:sp>
            <p:nvSpPr>
              <p:cNvPr id="12" name="Rectangle 11"/>
              <p:cNvSpPr/>
              <p:nvPr/>
            </p:nvSpPr>
            <p:spPr>
              <a:xfrm>
                <a:off x="3405162" y="4167554"/>
                <a:ext cx="4214838" cy="762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GB">
                  <a:solidFill>
                    <a:schemeClr val="accent3">
                      <a:lumMod val="75000"/>
                    </a:schemeClr>
                  </a:solidFill>
                </a:endParaRPr>
              </a:p>
            </p:txBody>
          </p:sp>
          <p:sp>
            <p:nvSpPr>
              <p:cNvPr id="13" name="TextBox 12"/>
              <p:cNvSpPr txBox="1"/>
              <p:nvPr/>
            </p:nvSpPr>
            <p:spPr>
              <a:xfrm>
                <a:off x="3262115" y="4267200"/>
                <a:ext cx="375423" cy="276999"/>
              </a:xfrm>
              <a:prstGeom prst="rect">
                <a:avLst/>
              </a:prstGeom>
              <a:noFill/>
            </p:spPr>
            <p:txBody>
              <a:bodyPr wrap="none" rtlCol="0">
                <a:spAutoFit/>
              </a:bodyPr>
              <a:lstStyle/>
              <a:p>
                <a:pPr algn="ctr"/>
                <a:r>
                  <a:rPr lang="en-GB" sz="1200" dirty="0">
                    <a:solidFill>
                      <a:schemeClr val="accent3">
                        <a:lumMod val="75000"/>
                      </a:schemeClr>
                    </a:solidFill>
                  </a:rPr>
                  <a:t>0%</a:t>
                </a:r>
              </a:p>
            </p:txBody>
          </p:sp>
          <p:sp>
            <p:nvSpPr>
              <p:cNvPr id="14" name="TextBox 13"/>
              <p:cNvSpPr txBox="1"/>
              <p:nvPr/>
            </p:nvSpPr>
            <p:spPr>
              <a:xfrm>
                <a:off x="7383360" y="4267200"/>
                <a:ext cx="532517" cy="276999"/>
              </a:xfrm>
              <a:prstGeom prst="rect">
                <a:avLst/>
              </a:prstGeom>
              <a:noFill/>
            </p:spPr>
            <p:txBody>
              <a:bodyPr wrap="none" rtlCol="0">
                <a:spAutoFit/>
              </a:bodyPr>
              <a:lstStyle/>
              <a:p>
                <a:pPr algn="ctr"/>
                <a:r>
                  <a:rPr lang="en-GB" sz="1200" dirty="0">
                    <a:solidFill>
                      <a:schemeClr val="accent3">
                        <a:lumMod val="75000"/>
                      </a:schemeClr>
                    </a:solidFill>
                  </a:rPr>
                  <a:t>100%</a:t>
                </a:r>
              </a:p>
            </p:txBody>
          </p:sp>
          <p:cxnSp>
            <p:nvCxnSpPr>
              <p:cNvPr id="15" name="Straight Connector 14"/>
              <p:cNvCxnSpPr/>
              <p:nvPr/>
            </p:nvCxnSpPr>
            <p:spPr>
              <a:xfrm>
                <a:off x="3402624" y="4059116"/>
                <a:ext cx="0" cy="190500"/>
              </a:xfrm>
              <a:prstGeom prst="line">
                <a:avLst/>
              </a:prstGeom>
              <a:ln>
                <a:solidFill>
                  <a:schemeClr val="accent3"/>
                </a:solidFill>
              </a:ln>
            </p:spPr>
            <p:style>
              <a:lnRef idx="1">
                <a:schemeClr val="dk1"/>
              </a:lnRef>
              <a:fillRef idx="0">
                <a:schemeClr val="dk1"/>
              </a:fillRef>
              <a:effectRef idx="0">
                <a:schemeClr val="dk1"/>
              </a:effectRef>
              <a:fontRef idx="minor">
                <a:schemeClr val="tx1"/>
              </a:fontRef>
            </p:style>
          </p:cxnSp>
          <p:cxnSp>
            <p:nvCxnSpPr>
              <p:cNvPr id="16" name="Straight Connector 15"/>
              <p:cNvCxnSpPr/>
              <p:nvPr/>
            </p:nvCxnSpPr>
            <p:spPr>
              <a:xfrm>
                <a:off x="7620000" y="4059116"/>
                <a:ext cx="0" cy="190500"/>
              </a:xfrm>
              <a:prstGeom prst="line">
                <a:avLst/>
              </a:prstGeom>
              <a:ln>
                <a:solidFill>
                  <a:schemeClr val="accent3"/>
                </a:solidFill>
              </a:ln>
            </p:spPr>
            <p:style>
              <a:lnRef idx="1">
                <a:schemeClr val="dk1"/>
              </a:lnRef>
              <a:fillRef idx="0">
                <a:schemeClr val="dk1"/>
              </a:fillRef>
              <a:effectRef idx="0">
                <a:schemeClr val="dk1"/>
              </a:effectRef>
              <a:fontRef idx="minor">
                <a:schemeClr val="tx1"/>
              </a:fontRef>
            </p:style>
          </p:cxnSp>
          <p:cxnSp>
            <p:nvCxnSpPr>
              <p:cNvPr id="18" name="Straight Connector 17"/>
              <p:cNvCxnSpPr/>
              <p:nvPr/>
            </p:nvCxnSpPr>
            <p:spPr>
              <a:xfrm>
                <a:off x="5503984" y="4064976"/>
                <a:ext cx="0" cy="190500"/>
              </a:xfrm>
              <a:prstGeom prst="line">
                <a:avLst/>
              </a:prstGeom>
              <a:ln>
                <a:solidFill>
                  <a:schemeClr val="accent3"/>
                </a:solidFill>
              </a:ln>
            </p:spPr>
            <p:style>
              <a:lnRef idx="1">
                <a:schemeClr val="dk1"/>
              </a:lnRef>
              <a:fillRef idx="0">
                <a:schemeClr val="dk1"/>
              </a:fillRef>
              <a:effectRef idx="0">
                <a:schemeClr val="dk1"/>
              </a:effectRef>
              <a:fontRef idx="minor">
                <a:schemeClr val="tx1"/>
              </a:fontRef>
            </p:style>
          </p:cxnSp>
        </p:grpSp>
        <p:grpSp>
          <p:nvGrpSpPr>
            <p:cNvPr id="9" name="Group 8"/>
            <p:cNvGrpSpPr/>
            <p:nvPr/>
          </p:nvGrpSpPr>
          <p:grpSpPr>
            <a:xfrm>
              <a:off x="5105341" y="3429000"/>
              <a:ext cx="280846" cy="1084384"/>
              <a:chOff x="5105341" y="3429000"/>
              <a:chExt cx="280846" cy="1084384"/>
            </a:xfrm>
          </p:grpSpPr>
          <p:sp>
            <p:nvSpPr>
              <p:cNvPr id="10" name="TextBox 9"/>
              <p:cNvSpPr txBox="1"/>
              <p:nvPr/>
            </p:nvSpPr>
            <p:spPr>
              <a:xfrm>
                <a:off x="5105341" y="4205607"/>
                <a:ext cx="280846" cy="307777"/>
              </a:xfrm>
              <a:prstGeom prst="rect">
                <a:avLst/>
              </a:prstGeom>
              <a:noFill/>
            </p:spPr>
            <p:txBody>
              <a:bodyPr wrap="none" rtlCol="0">
                <a:spAutoFit/>
              </a:bodyPr>
              <a:lstStyle/>
              <a:p>
                <a:pPr algn="ctr"/>
                <a:r>
                  <a:rPr lang="en-GB" sz="1400" b="1" dirty="0"/>
                  <a:t>p</a:t>
                </a:r>
              </a:p>
            </p:txBody>
          </p:sp>
          <p:cxnSp>
            <p:nvCxnSpPr>
              <p:cNvPr id="11" name="Straight Connector 10"/>
              <p:cNvCxnSpPr/>
              <p:nvPr/>
            </p:nvCxnSpPr>
            <p:spPr>
              <a:xfrm flipV="1">
                <a:off x="5202427" y="3429000"/>
                <a:ext cx="0" cy="820616"/>
              </a:xfrm>
              <a:prstGeom prst="line">
                <a:avLst/>
              </a:prstGeom>
            </p:spPr>
            <p:style>
              <a:lnRef idx="2">
                <a:schemeClr val="dk1"/>
              </a:lnRef>
              <a:fillRef idx="0">
                <a:schemeClr val="dk1"/>
              </a:fillRef>
              <a:effectRef idx="1">
                <a:schemeClr val="dk1"/>
              </a:effectRef>
              <a:fontRef idx="minor">
                <a:schemeClr val="tx1"/>
              </a:fontRef>
            </p:style>
          </p:cxnSp>
        </p:grpSp>
      </p:grpSp>
      <p:grpSp>
        <p:nvGrpSpPr>
          <p:cNvPr id="19" name="Group 18"/>
          <p:cNvGrpSpPr/>
          <p:nvPr/>
        </p:nvGrpSpPr>
        <p:grpSpPr>
          <a:xfrm>
            <a:off x="5108630" y="3337191"/>
            <a:ext cx="1439008" cy="461557"/>
            <a:chOff x="5181600" y="3962400"/>
            <a:chExt cx="1439008" cy="461557"/>
          </a:xfrm>
        </p:grpSpPr>
        <p:grpSp>
          <p:nvGrpSpPr>
            <p:cNvPr id="20" name="Group 19"/>
            <p:cNvGrpSpPr/>
            <p:nvPr/>
          </p:nvGrpSpPr>
          <p:grpSpPr>
            <a:xfrm>
              <a:off x="5181600" y="3962400"/>
              <a:ext cx="1439008" cy="461557"/>
              <a:chOff x="5181600" y="3751384"/>
              <a:chExt cx="1439008" cy="824973"/>
            </a:xfrm>
          </p:grpSpPr>
          <p:cxnSp>
            <p:nvCxnSpPr>
              <p:cNvPr id="22" name="Straight Connector 21"/>
              <p:cNvCxnSpPr/>
              <p:nvPr/>
            </p:nvCxnSpPr>
            <p:spPr>
              <a:xfrm flipV="1">
                <a:off x="5181600" y="3755741"/>
                <a:ext cx="0" cy="820616"/>
              </a:xfrm>
              <a:prstGeom prst="line">
                <a:avLst/>
              </a:prstGeom>
              <a:ln>
                <a:solidFill>
                  <a:schemeClr val="bg1">
                    <a:lumMod val="65000"/>
                  </a:schemeClr>
                </a:solidFill>
              </a:ln>
            </p:spPr>
            <p:style>
              <a:lnRef idx="2">
                <a:schemeClr val="accent4"/>
              </a:lnRef>
              <a:fillRef idx="0">
                <a:schemeClr val="accent4"/>
              </a:fillRef>
              <a:effectRef idx="1">
                <a:schemeClr val="accent4"/>
              </a:effectRef>
              <a:fontRef idx="minor">
                <a:schemeClr val="tx1"/>
              </a:fontRef>
            </p:style>
          </p:cxnSp>
          <p:cxnSp>
            <p:nvCxnSpPr>
              <p:cNvPr id="23" name="Straight Connector 22"/>
              <p:cNvCxnSpPr/>
              <p:nvPr/>
            </p:nvCxnSpPr>
            <p:spPr>
              <a:xfrm flipV="1">
                <a:off x="6620608" y="3751384"/>
                <a:ext cx="0" cy="820616"/>
              </a:xfrm>
              <a:prstGeom prst="line">
                <a:avLst/>
              </a:prstGeom>
              <a:ln>
                <a:solidFill>
                  <a:schemeClr val="bg1">
                    <a:lumMod val="65000"/>
                  </a:schemeClr>
                </a:solidFill>
              </a:ln>
            </p:spPr>
            <p:style>
              <a:lnRef idx="2">
                <a:schemeClr val="accent4"/>
              </a:lnRef>
              <a:fillRef idx="0">
                <a:schemeClr val="accent4"/>
              </a:fillRef>
              <a:effectRef idx="1">
                <a:schemeClr val="accent4"/>
              </a:effectRef>
              <a:fontRef idx="minor">
                <a:schemeClr val="tx1"/>
              </a:fontRef>
            </p:style>
          </p:cxnSp>
        </p:grpSp>
        <p:cxnSp>
          <p:nvCxnSpPr>
            <p:cNvPr id="21" name="Straight Arrow Connector 20"/>
            <p:cNvCxnSpPr/>
            <p:nvPr/>
          </p:nvCxnSpPr>
          <p:spPr>
            <a:xfrm>
              <a:off x="5181600" y="4112362"/>
              <a:ext cx="1438504" cy="2438"/>
            </a:xfrm>
            <a:prstGeom prst="straightConnector1">
              <a:avLst/>
            </a:prstGeom>
            <a:ln w="12700">
              <a:solidFill>
                <a:schemeClr val="bg1">
                  <a:lumMod val="65000"/>
                </a:schemeClr>
              </a:solidFill>
              <a:headEnd type="arrow"/>
              <a:tailEnd type="arrow"/>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25" name="Rectangular Callout 24"/>
              <p:cNvSpPr/>
              <p:nvPr/>
            </p:nvSpPr>
            <p:spPr>
              <a:xfrm>
                <a:off x="6744197" y="4239306"/>
                <a:ext cx="2018803" cy="647700"/>
              </a:xfrm>
              <a:prstGeom prst="wedgeRectCallout">
                <a:avLst>
                  <a:gd name="adj1" fmla="val -60430"/>
                  <a:gd name="adj2" fmla="val -103229"/>
                </a:avLst>
              </a:prstGeom>
              <a:ln>
                <a:solidFill>
                  <a:schemeClr val="bg1">
                    <a:lumMod val="6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GB" sz="1400" i="1" smtClean="0">
                          <a:latin typeface="Cambria Math"/>
                        </a:rPr>
                        <m:t>𝑝</m:t>
                      </m:r>
                      <m:r>
                        <a:rPr lang="en-GB" sz="1400" b="0" i="1" smtClean="0">
                          <a:latin typeface="Cambria Math" panose="02040503050406030204" pitchFamily="18" charset="0"/>
                        </a:rPr>
                        <m:t>+</m:t>
                      </m:r>
                      <m:sSub>
                        <m:sSubPr>
                          <m:ctrlPr>
                            <a:rPr lang="en-GB" sz="1400" i="1">
                              <a:latin typeface="Cambria Math" panose="02040503050406030204" pitchFamily="18" charset="0"/>
                              <a:ea typeface="Cambria Math"/>
                            </a:rPr>
                          </m:ctrlPr>
                        </m:sSubPr>
                        <m:e>
                          <m:r>
                            <a:rPr lang="en-GB" sz="1400" i="1">
                              <a:latin typeface="Cambria Math"/>
                              <a:ea typeface="Cambria Math"/>
                            </a:rPr>
                            <m:t>𝜎</m:t>
                          </m:r>
                        </m:e>
                        <m:sub>
                          <m:r>
                            <a:rPr lang="en-GB" sz="1400" i="1">
                              <a:latin typeface="Cambria Math"/>
                              <a:ea typeface="Cambria Math"/>
                            </a:rPr>
                            <m:t>𝑝</m:t>
                          </m:r>
                        </m:sub>
                      </m:sSub>
                      <m:sSub>
                        <m:sSubPr>
                          <m:ctrlPr>
                            <a:rPr lang="en-GB" sz="1400" i="1">
                              <a:latin typeface="Cambria Math" panose="02040503050406030204" pitchFamily="18" charset="0"/>
                            </a:rPr>
                          </m:ctrlPr>
                        </m:sSubPr>
                        <m:e>
                          <m:r>
                            <a:rPr lang="en-GB" sz="1400" i="1">
                              <a:latin typeface="Cambria Math"/>
                            </a:rPr>
                            <m:t>𝑍</m:t>
                          </m:r>
                        </m:e>
                        <m:sub>
                          <m:r>
                            <a:rPr lang="en-GB" sz="1400" i="1">
                              <a:latin typeface="Cambria Math"/>
                            </a:rPr>
                            <m:t>𝑐𝑟𝑖𝑡</m:t>
                          </m:r>
                        </m:sub>
                      </m:sSub>
                    </m:oMath>
                  </m:oMathPara>
                </a14:m>
                <a:endParaRPr lang="en-GB" sz="1400" b="1" dirty="0"/>
              </a:p>
              <a:p>
                <a:pPr algn="ctr"/>
                <a:r>
                  <a:rPr lang="en-GB" sz="1400" dirty="0"/>
                  <a:t>With </a:t>
                </a:r>
                <a:r>
                  <a:rPr lang="en-GB" sz="1400" b="1" dirty="0"/>
                  <a:t>95% confidence</a:t>
                </a:r>
                <a:endParaRPr lang="en-GB" sz="1400" dirty="0"/>
              </a:p>
            </p:txBody>
          </p:sp>
        </mc:Choice>
        <mc:Fallback xmlns="">
          <p:sp>
            <p:nvSpPr>
              <p:cNvPr id="25" name="Rectangular Callout 24"/>
              <p:cNvSpPr>
                <a:spLocks noRot="1" noChangeAspect="1" noMove="1" noResize="1" noEditPoints="1" noAdjustHandles="1" noChangeArrowheads="1" noChangeShapeType="1" noTextEdit="1"/>
              </p:cNvSpPr>
              <p:nvPr/>
            </p:nvSpPr>
            <p:spPr>
              <a:xfrm>
                <a:off x="6744197" y="4239306"/>
                <a:ext cx="2018803" cy="647700"/>
              </a:xfrm>
              <a:prstGeom prst="wedgeRectCallout">
                <a:avLst>
                  <a:gd name="adj1" fmla="val -60430"/>
                  <a:gd name="adj2" fmla="val -103229"/>
                </a:avLst>
              </a:prstGeom>
              <a:blipFill>
                <a:blip r:embed="rId4"/>
                <a:stretch>
                  <a:fillRect/>
                </a:stretch>
              </a:blipFill>
              <a:ln>
                <a:solidFill>
                  <a:schemeClr val="bg1">
                    <a:lumMod val="65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Rectangular Callout 25"/>
              <p:cNvSpPr/>
              <p:nvPr/>
            </p:nvSpPr>
            <p:spPr>
              <a:xfrm>
                <a:off x="3089827" y="4290185"/>
                <a:ext cx="2018803" cy="647700"/>
              </a:xfrm>
              <a:prstGeom prst="wedgeRectCallout">
                <a:avLst>
                  <a:gd name="adj1" fmla="val 49189"/>
                  <a:gd name="adj2" fmla="val -114372"/>
                </a:avLst>
              </a:prstGeom>
              <a:ln>
                <a:solidFill>
                  <a:schemeClr val="bg1">
                    <a:lumMod val="6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GB" sz="1400" i="1" smtClean="0">
                          <a:latin typeface="Cambria Math"/>
                        </a:rPr>
                        <m:t>𝑝</m:t>
                      </m:r>
                      <m:r>
                        <a:rPr lang="en-GB" sz="1400" b="0" i="1" smtClean="0">
                          <a:latin typeface="Cambria Math" panose="02040503050406030204" pitchFamily="18" charset="0"/>
                        </a:rPr>
                        <m:t>−</m:t>
                      </m:r>
                      <m:sSub>
                        <m:sSubPr>
                          <m:ctrlPr>
                            <a:rPr lang="en-GB" sz="1400" i="1">
                              <a:latin typeface="Cambria Math" panose="02040503050406030204" pitchFamily="18" charset="0"/>
                              <a:ea typeface="Cambria Math"/>
                            </a:rPr>
                          </m:ctrlPr>
                        </m:sSubPr>
                        <m:e>
                          <m:r>
                            <a:rPr lang="en-GB" sz="1400" i="1">
                              <a:latin typeface="Cambria Math"/>
                              <a:ea typeface="Cambria Math"/>
                            </a:rPr>
                            <m:t>𝜎</m:t>
                          </m:r>
                        </m:e>
                        <m:sub>
                          <m:r>
                            <a:rPr lang="en-GB" sz="1400" i="1">
                              <a:latin typeface="Cambria Math"/>
                              <a:ea typeface="Cambria Math"/>
                            </a:rPr>
                            <m:t>𝑝</m:t>
                          </m:r>
                        </m:sub>
                      </m:sSub>
                      <m:sSub>
                        <m:sSubPr>
                          <m:ctrlPr>
                            <a:rPr lang="en-GB" sz="1400" i="1">
                              <a:latin typeface="Cambria Math" panose="02040503050406030204" pitchFamily="18" charset="0"/>
                            </a:rPr>
                          </m:ctrlPr>
                        </m:sSubPr>
                        <m:e>
                          <m:r>
                            <a:rPr lang="en-GB" sz="1400" i="1">
                              <a:latin typeface="Cambria Math"/>
                            </a:rPr>
                            <m:t>𝑍</m:t>
                          </m:r>
                        </m:e>
                        <m:sub>
                          <m:r>
                            <a:rPr lang="en-GB" sz="1400" i="1">
                              <a:latin typeface="Cambria Math"/>
                            </a:rPr>
                            <m:t>𝑐𝑟𝑖𝑡</m:t>
                          </m:r>
                        </m:sub>
                      </m:sSub>
                    </m:oMath>
                  </m:oMathPara>
                </a14:m>
                <a:endParaRPr lang="en-GB" sz="1400" b="1" dirty="0"/>
              </a:p>
              <a:p>
                <a:pPr algn="ctr"/>
                <a:r>
                  <a:rPr lang="en-GB" sz="1400" dirty="0"/>
                  <a:t>With </a:t>
                </a:r>
                <a:r>
                  <a:rPr lang="en-GB" sz="1400" b="1" dirty="0"/>
                  <a:t>95% confidence</a:t>
                </a:r>
              </a:p>
            </p:txBody>
          </p:sp>
        </mc:Choice>
        <mc:Fallback xmlns="">
          <p:sp>
            <p:nvSpPr>
              <p:cNvPr id="26" name="Rectangular Callout 25"/>
              <p:cNvSpPr>
                <a:spLocks noRot="1" noChangeAspect="1" noMove="1" noResize="1" noEditPoints="1" noAdjustHandles="1" noChangeArrowheads="1" noChangeShapeType="1" noTextEdit="1"/>
              </p:cNvSpPr>
              <p:nvPr/>
            </p:nvSpPr>
            <p:spPr>
              <a:xfrm>
                <a:off x="3089827" y="4290185"/>
                <a:ext cx="2018803" cy="647700"/>
              </a:xfrm>
              <a:prstGeom prst="wedgeRectCallout">
                <a:avLst>
                  <a:gd name="adj1" fmla="val 49189"/>
                  <a:gd name="adj2" fmla="val -114372"/>
                </a:avLst>
              </a:prstGeom>
              <a:blipFill>
                <a:blip r:embed="rId5"/>
                <a:stretch>
                  <a:fillRect/>
                </a:stretch>
              </a:blipFill>
              <a:ln>
                <a:solidFill>
                  <a:schemeClr val="bg1">
                    <a:lumMod val="65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Rectangle 27"/>
              <p:cNvSpPr/>
              <p:nvPr/>
            </p:nvSpPr>
            <p:spPr>
              <a:xfrm>
                <a:off x="304799" y="2220586"/>
                <a:ext cx="4689686" cy="1200329"/>
              </a:xfrm>
              <a:prstGeom prst="rect">
                <a:avLst/>
              </a:prstGeom>
            </p:spPr>
            <p:txBody>
              <a:bodyPr wrap="square">
                <a:spAutoFit/>
              </a:bodyPr>
              <a:lstStyle/>
              <a:p>
                <a:pPr>
                  <a:buClr>
                    <a:srgbClr val="333399"/>
                  </a:buClr>
                  <a:buSzPct val="75000"/>
                </a:pPr>
                <a:r>
                  <a:rPr lang="en-GB" altLang="en-US" dirty="0">
                    <a:solidFill>
                      <a:srgbClr val="00B050"/>
                    </a:solidFill>
                  </a:rPr>
                  <a:t>Looking at the normal distribution tables, we can see the CRITICAL VALUE (</a:t>
                </a:r>
                <a14:m>
                  <m:oMath xmlns:m="http://schemas.openxmlformats.org/officeDocument/2006/math">
                    <m:sSub>
                      <m:sSubPr>
                        <m:ctrlPr>
                          <a:rPr lang="en-GB" altLang="en-US" b="0" i="1" smtClean="0">
                            <a:solidFill>
                              <a:srgbClr val="00B050"/>
                            </a:solidFill>
                            <a:latin typeface="Cambria Math" panose="02040503050406030204" pitchFamily="18" charset="0"/>
                          </a:rPr>
                        </m:ctrlPr>
                      </m:sSubPr>
                      <m:e>
                        <m:r>
                          <a:rPr lang="en-GB" altLang="en-US" b="0" i="1" smtClean="0">
                            <a:solidFill>
                              <a:srgbClr val="00B050"/>
                            </a:solidFill>
                            <a:latin typeface="Cambria Math"/>
                          </a:rPr>
                          <m:t>𝑍</m:t>
                        </m:r>
                      </m:e>
                      <m:sub>
                        <m:r>
                          <a:rPr lang="en-GB" altLang="en-US" b="0" i="1" smtClean="0">
                            <a:solidFill>
                              <a:srgbClr val="00B050"/>
                            </a:solidFill>
                            <a:latin typeface="Cambria Math"/>
                          </a:rPr>
                          <m:t>𝑐𝑟𝑖𝑡</m:t>
                        </m:r>
                      </m:sub>
                    </m:sSub>
                  </m:oMath>
                </a14:m>
                <a:r>
                  <a:rPr lang="en-GB" altLang="en-US" dirty="0">
                    <a:solidFill>
                      <a:srgbClr val="00B050"/>
                    </a:solidFill>
                  </a:rPr>
                  <a:t>) is 1.96.</a:t>
                </a:r>
              </a:p>
              <a:p>
                <a:pPr>
                  <a:buClr>
                    <a:srgbClr val="333399"/>
                  </a:buClr>
                  <a:buSzPct val="75000"/>
                </a:pPr>
                <a:endParaRPr lang="en-GB" altLang="en-US" dirty="0">
                  <a:solidFill>
                    <a:srgbClr val="00B050"/>
                  </a:solidFill>
                </a:endParaRPr>
              </a:p>
              <a:p>
                <a:pPr>
                  <a:buClr>
                    <a:srgbClr val="333399"/>
                  </a:buClr>
                  <a:buSzPct val="75000"/>
                </a:pPr>
                <a:r>
                  <a:rPr lang="en-GB" altLang="en-US" dirty="0">
                    <a:solidFill>
                      <a:srgbClr val="00B050"/>
                    </a:solidFill>
                  </a:rPr>
                  <a:t>If the sample is small, consider t table instead.</a:t>
                </a:r>
              </a:p>
            </p:txBody>
          </p:sp>
        </mc:Choice>
        <mc:Fallback xmlns="">
          <p:sp>
            <p:nvSpPr>
              <p:cNvPr id="28" name="Rectangle 27"/>
              <p:cNvSpPr>
                <a:spLocks noRot="1" noChangeAspect="1" noMove="1" noResize="1" noEditPoints="1" noAdjustHandles="1" noChangeArrowheads="1" noChangeShapeType="1" noTextEdit="1"/>
              </p:cNvSpPr>
              <p:nvPr/>
            </p:nvSpPr>
            <p:spPr>
              <a:xfrm>
                <a:off x="304799" y="2220586"/>
                <a:ext cx="4689686" cy="1200329"/>
              </a:xfrm>
              <a:prstGeom prst="rect">
                <a:avLst/>
              </a:prstGeom>
              <a:blipFill>
                <a:blip r:embed="rId6"/>
                <a:stretch>
                  <a:fillRect l="-1040" t="-2538" b="-71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Rectangle 30"/>
              <p:cNvSpPr/>
              <p:nvPr/>
            </p:nvSpPr>
            <p:spPr>
              <a:xfrm>
                <a:off x="6705600" y="2117990"/>
                <a:ext cx="1521453" cy="1268886"/>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GB" sz="1400" b="1" i="0" dirty="0">
                    <a:latin typeface="+mj-lt"/>
                    <a:ea typeface="Cambria Math"/>
                  </a:rPr>
                  <a:t>STEP:</a:t>
                </a:r>
                <a:endParaRPr lang="en-GB" sz="1400" b="1" i="1" dirty="0">
                  <a:latin typeface="Cambria Math"/>
                  <a:ea typeface="Cambria Math"/>
                </a:endParaRPr>
              </a:p>
              <a:p>
                <a:pPr algn="ctr"/>
                <a14:m>
                  <m:oMathPara xmlns:m="http://schemas.openxmlformats.org/officeDocument/2006/math">
                    <m:oMathParaPr>
                      <m:jc m:val="left"/>
                    </m:oMathParaPr>
                    <m:oMath xmlns:m="http://schemas.openxmlformats.org/officeDocument/2006/math">
                      <m:sSub>
                        <m:sSubPr>
                          <m:ctrlPr>
                            <a:rPr lang="en-GB" sz="1400" i="1" smtClean="0">
                              <a:latin typeface="Cambria Math" panose="02040503050406030204" pitchFamily="18" charset="0"/>
                              <a:ea typeface="Cambria Math"/>
                            </a:rPr>
                          </m:ctrlPr>
                        </m:sSubPr>
                        <m:e>
                          <m:r>
                            <a:rPr lang="en-GB" sz="1400" i="1" smtClean="0">
                              <a:latin typeface="Cambria Math"/>
                              <a:ea typeface="Cambria Math"/>
                            </a:rPr>
                            <m:t>𝜎</m:t>
                          </m:r>
                        </m:e>
                        <m:sub>
                          <m:r>
                            <a:rPr lang="en-GB" sz="1400" b="0" i="1" smtClean="0">
                              <a:latin typeface="Cambria Math"/>
                              <a:ea typeface="Cambria Math"/>
                            </a:rPr>
                            <m:t>𝑝</m:t>
                          </m:r>
                        </m:sub>
                      </m:sSub>
                      <m:r>
                        <a:rPr lang="en-GB" sz="1400" b="0" i="1" smtClean="0">
                          <a:latin typeface="Cambria Math"/>
                          <a:ea typeface="Cambria Math"/>
                        </a:rPr>
                        <m:t>=</m:t>
                      </m:r>
                      <m:rad>
                        <m:radPr>
                          <m:degHide m:val="on"/>
                          <m:ctrlPr>
                            <a:rPr lang="en-GB" sz="1400" b="0" i="1" smtClean="0">
                              <a:latin typeface="Cambria Math" panose="02040503050406030204" pitchFamily="18" charset="0"/>
                              <a:ea typeface="Cambria Math"/>
                            </a:rPr>
                          </m:ctrlPr>
                        </m:radPr>
                        <m:deg/>
                        <m:e>
                          <m:f>
                            <m:fPr>
                              <m:ctrlPr>
                                <a:rPr lang="en-GB" sz="1400" b="0" i="1" smtClean="0">
                                  <a:latin typeface="Cambria Math" panose="02040503050406030204" pitchFamily="18" charset="0"/>
                                  <a:ea typeface="Cambria Math"/>
                                </a:rPr>
                              </m:ctrlPr>
                            </m:fPr>
                            <m:num>
                              <m:r>
                                <a:rPr lang="en-GB" sz="1400" b="0" i="1" smtClean="0">
                                  <a:latin typeface="Cambria Math"/>
                                  <a:ea typeface="Cambria Math"/>
                                </a:rPr>
                                <m:t>𝑝</m:t>
                              </m:r>
                              <m:d>
                                <m:dPr>
                                  <m:ctrlPr>
                                    <a:rPr lang="en-GB" sz="1400" i="1">
                                      <a:latin typeface="Cambria Math" panose="02040503050406030204" pitchFamily="18" charset="0"/>
                                      <a:ea typeface="Cambria Math"/>
                                    </a:rPr>
                                  </m:ctrlPr>
                                </m:dPr>
                                <m:e>
                                  <m:r>
                                    <a:rPr lang="en-GB" sz="1400" i="1">
                                      <a:latin typeface="Cambria Math"/>
                                      <a:ea typeface="Cambria Math"/>
                                    </a:rPr>
                                    <m:t>1−</m:t>
                                  </m:r>
                                  <m:r>
                                    <a:rPr lang="en-GB" sz="1400" b="0" i="1" smtClean="0">
                                      <a:latin typeface="Cambria Math"/>
                                      <a:ea typeface="Cambria Math"/>
                                    </a:rPr>
                                    <m:t>𝑝</m:t>
                                  </m:r>
                                </m:e>
                              </m:d>
                            </m:num>
                            <m:den>
                              <m:r>
                                <a:rPr lang="en-GB" sz="1400" b="0" i="1" smtClean="0">
                                  <a:latin typeface="Cambria Math"/>
                                  <a:ea typeface="Cambria Math"/>
                                </a:rPr>
                                <m:t>𝑛</m:t>
                              </m:r>
                            </m:den>
                          </m:f>
                        </m:e>
                      </m:rad>
                    </m:oMath>
                  </m:oMathPara>
                </a14:m>
                <a:endParaRPr lang="en-GB" sz="1400" dirty="0"/>
              </a:p>
              <a:p>
                <a14:m>
                  <m:oMath xmlns:m="http://schemas.openxmlformats.org/officeDocument/2006/math">
                    <m:r>
                      <a:rPr lang="en-GB" sz="1100" b="0" i="1" smtClean="0">
                        <a:latin typeface="Cambria Math"/>
                        <a:ea typeface="Cambria Math"/>
                      </a:rPr>
                      <m:t>𝑝</m:t>
                    </m:r>
                    <m:r>
                      <a:rPr lang="en-GB" sz="1100" i="1">
                        <a:latin typeface="Cambria Math"/>
                        <a:ea typeface="Cambria Math"/>
                      </a:rPr>
                      <m:t> </m:t>
                    </m:r>
                  </m:oMath>
                </a14:m>
                <a:r>
                  <a:rPr lang="en-US" altLang="en-US" sz="1100" dirty="0"/>
                  <a:t>= sample proportion</a:t>
                </a:r>
              </a:p>
              <a:p>
                <a14:m>
                  <m:oMath xmlns:m="http://schemas.openxmlformats.org/officeDocument/2006/math">
                    <m:r>
                      <a:rPr lang="en-US" altLang="en-US" sz="1100" i="1" dirty="0" smtClean="0">
                        <a:latin typeface="Cambria Math"/>
                      </a:rPr>
                      <m:t>𝑛</m:t>
                    </m:r>
                  </m:oMath>
                </a14:m>
                <a:r>
                  <a:rPr lang="en-US" altLang="en-US" sz="1100" dirty="0"/>
                  <a:t> = number in sample</a:t>
                </a:r>
                <a:endParaRPr lang="en-GB" sz="1100" dirty="0"/>
              </a:p>
            </p:txBody>
          </p:sp>
        </mc:Choice>
        <mc:Fallback xmlns="">
          <p:sp>
            <p:nvSpPr>
              <p:cNvPr id="31" name="Rectangle 30"/>
              <p:cNvSpPr>
                <a:spLocks noRot="1" noChangeAspect="1" noMove="1" noResize="1" noEditPoints="1" noAdjustHandles="1" noChangeArrowheads="1" noChangeShapeType="1" noTextEdit="1"/>
              </p:cNvSpPr>
              <p:nvPr/>
            </p:nvSpPr>
            <p:spPr>
              <a:xfrm>
                <a:off x="6705600" y="2117990"/>
                <a:ext cx="1521453" cy="1268886"/>
              </a:xfrm>
              <a:prstGeom prst="rect">
                <a:avLst/>
              </a:prstGeom>
              <a:blipFill>
                <a:blip r:embed="rId7"/>
                <a:stretch>
                  <a:fillRect/>
                </a:stretch>
              </a:blipFill>
            </p:spPr>
            <p:txBody>
              <a:bodyPr/>
              <a:lstStyle/>
              <a:p>
                <a:r>
                  <a:rPr lang="en-US">
                    <a:noFill/>
                  </a:rPr>
                  <a:t> </a:t>
                </a:r>
              </a:p>
            </p:txBody>
          </p:sp>
        </mc:Fallback>
      </mc:AlternateContent>
      <p:sp>
        <p:nvSpPr>
          <p:cNvPr id="29" name="Rectangle 28"/>
          <p:cNvSpPr/>
          <p:nvPr/>
        </p:nvSpPr>
        <p:spPr>
          <a:xfrm>
            <a:off x="134816" y="4121212"/>
            <a:ext cx="2514599" cy="646331"/>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r>
              <a:rPr lang="en-US" altLang="en-US" b="1" dirty="0">
                <a:solidFill>
                  <a:srgbClr val="333399"/>
                </a:solidFill>
              </a:rPr>
              <a:t>What would the 95% confidence interval be?</a:t>
            </a:r>
            <a:endParaRPr lang="en-GB" b="1" dirty="0"/>
          </a:p>
        </p:txBody>
      </p:sp>
    </p:spTree>
    <p:extLst>
      <p:ext uri="{BB962C8B-B14F-4D97-AF65-F5344CB8AC3E}">
        <p14:creationId xmlns:p14="http://schemas.microsoft.com/office/powerpoint/2010/main" val="708288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fade">
                                      <p:cBhvr>
                                        <p:cTn id="12"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5" name="Text Box 3"/>
          <p:cNvSpPr txBox="1">
            <a:spLocks noChangeArrowheads="1"/>
          </p:cNvSpPr>
          <p:nvPr/>
        </p:nvSpPr>
        <p:spPr bwMode="auto">
          <a:xfrm>
            <a:off x="304800" y="762000"/>
            <a:ext cx="800100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GB" altLang="en-US" sz="2000" dirty="0"/>
              <a:t>You survey a sample of </a:t>
            </a:r>
            <a:r>
              <a:rPr lang="en-GB" altLang="en-US" sz="2000" b="1" dirty="0"/>
              <a:t>200</a:t>
            </a:r>
            <a:r>
              <a:rPr lang="en-GB" altLang="en-US" sz="2000" dirty="0"/>
              <a:t> employees in a large organisation and discover that </a:t>
            </a:r>
            <a:r>
              <a:rPr lang="en-GB" altLang="en-US" sz="2000" b="1" dirty="0"/>
              <a:t>40% </a:t>
            </a:r>
            <a:r>
              <a:rPr lang="en-GB" altLang="en-US" sz="2000" dirty="0"/>
              <a:t>of respondents </a:t>
            </a:r>
            <a:r>
              <a:rPr lang="en-GB" altLang="en-US" sz="2000" b="1" dirty="0"/>
              <a:t>feel their</a:t>
            </a:r>
            <a:r>
              <a:rPr lang="en-GB" altLang="en-US" sz="2000" dirty="0"/>
              <a:t> home </a:t>
            </a:r>
            <a:r>
              <a:rPr lang="en-GB" altLang="en-US" sz="2000" b="1" dirty="0"/>
              <a:t>life</a:t>
            </a:r>
            <a:r>
              <a:rPr lang="en-GB" altLang="en-US" sz="2000" dirty="0"/>
              <a:t> is adversely </a:t>
            </a:r>
            <a:r>
              <a:rPr lang="en-GB" altLang="en-US" sz="2000" b="1" dirty="0"/>
              <a:t>affected</a:t>
            </a:r>
            <a:r>
              <a:rPr lang="en-GB" altLang="en-US" sz="2000" dirty="0"/>
              <a:t> </a:t>
            </a:r>
            <a:r>
              <a:rPr lang="en-GB" altLang="en-US" sz="2000" b="1" dirty="0"/>
              <a:t>by</a:t>
            </a:r>
            <a:r>
              <a:rPr lang="en-GB" altLang="en-US" sz="2000" dirty="0"/>
              <a:t> </a:t>
            </a:r>
            <a:r>
              <a:rPr lang="en-GB" altLang="en-US" sz="2000" b="1" dirty="0"/>
              <a:t>stress at work</a:t>
            </a:r>
            <a:r>
              <a:rPr lang="en-GB" altLang="en-US" sz="2000" dirty="0"/>
              <a:t>.</a:t>
            </a:r>
          </a:p>
        </p:txBody>
      </p:sp>
      <p:sp>
        <p:nvSpPr>
          <p:cNvPr id="2" name="Title 1"/>
          <p:cNvSpPr>
            <a:spLocks noGrp="1"/>
          </p:cNvSpPr>
          <p:nvPr>
            <p:ph type="title"/>
          </p:nvPr>
        </p:nvSpPr>
        <p:spPr/>
        <p:txBody>
          <a:bodyPr/>
          <a:lstStyle/>
          <a:p>
            <a:r>
              <a:rPr lang="en-US" altLang="en-US" dirty="0"/>
              <a:t>Example Problem 1</a:t>
            </a:r>
            <a:endParaRPr lang="en-GB" dirty="0"/>
          </a:p>
        </p:txBody>
      </p:sp>
      <p:sp>
        <p:nvSpPr>
          <p:cNvPr id="3" name="Rectangle 2"/>
          <p:cNvSpPr/>
          <p:nvPr/>
        </p:nvSpPr>
        <p:spPr>
          <a:xfrm>
            <a:off x="1676400" y="1777663"/>
            <a:ext cx="7467600" cy="369332"/>
          </a:xfrm>
          <a:prstGeom prst="rect">
            <a:avLst/>
          </a:prstGeom>
        </p:spPr>
        <p:txBody>
          <a:bodyPr wrap="square">
            <a:spAutoFit/>
          </a:bodyPr>
          <a:lstStyle/>
          <a:p>
            <a:r>
              <a:rPr lang="en-GB" altLang="en-US" dirty="0"/>
              <a:t>How would you </a:t>
            </a:r>
            <a:r>
              <a:rPr lang="en-GB" altLang="en-US" b="1" dirty="0"/>
              <a:t>report</a:t>
            </a:r>
            <a:r>
              <a:rPr lang="en-GB" altLang="en-US" dirty="0"/>
              <a:t> these results using </a:t>
            </a:r>
            <a:r>
              <a:rPr lang="en-GB" altLang="en-US" b="1" dirty="0"/>
              <a:t>a 95% confidence interval</a:t>
            </a:r>
            <a:r>
              <a:rPr lang="en-GB" altLang="en-US" dirty="0"/>
              <a:t>? </a:t>
            </a:r>
          </a:p>
        </p:txBody>
      </p:sp>
    </p:spTree>
    <p:extLst>
      <p:ext uri="{BB962C8B-B14F-4D97-AF65-F5344CB8AC3E}">
        <p14:creationId xmlns:p14="http://schemas.microsoft.com/office/powerpoint/2010/main" val="32965156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5" name="Text Box 3"/>
          <p:cNvSpPr txBox="1">
            <a:spLocks noChangeArrowheads="1"/>
          </p:cNvSpPr>
          <p:nvPr/>
        </p:nvSpPr>
        <p:spPr bwMode="auto">
          <a:xfrm>
            <a:off x="304800" y="762000"/>
            <a:ext cx="800100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GB" altLang="en-US" sz="2000" dirty="0"/>
              <a:t>You survey a sample of 200 employees in a large organisation and discover that </a:t>
            </a:r>
            <a:r>
              <a:rPr lang="en-GB" altLang="en-US" sz="2000" b="1" dirty="0"/>
              <a:t>40% </a:t>
            </a:r>
            <a:r>
              <a:rPr lang="en-GB" altLang="en-US" sz="2000" dirty="0"/>
              <a:t>of respondents </a:t>
            </a:r>
            <a:r>
              <a:rPr lang="en-GB" altLang="en-US" sz="2000" b="1" dirty="0"/>
              <a:t>feel their</a:t>
            </a:r>
            <a:r>
              <a:rPr lang="en-GB" altLang="en-US" sz="2000" dirty="0"/>
              <a:t> home </a:t>
            </a:r>
            <a:r>
              <a:rPr lang="en-GB" altLang="en-US" sz="2000" b="1" dirty="0"/>
              <a:t>life</a:t>
            </a:r>
            <a:r>
              <a:rPr lang="en-GB" altLang="en-US" sz="2000" dirty="0"/>
              <a:t> is adversely </a:t>
            </a:r>
            <a:r>
              <a:rPr lang="en-GB" altLang="en-US" sz="2000" b="1" dirty="0"/>
              <a:t>affected</a:t>
            </a:r>
            <a:r>
              <a:rPr lang="en-GB" altLang="en-US" sz="2000" dirty="0"/>
              <a:t> </a:t>
            </a:r>
            <a:r>
              <a:rPr lang="en-GB" altLang="en-US" sz="2000" b="1" dirty="0"/>
              <a:t>by</a:t>
            </a:r>
            <a:r>
              <a:rPr lang="en-GB" altLang="en-US" sz="2000" dirty="0"/>
              <a:t> </a:t>
            </a:r>
            <a:r>
              <a:rPr lang="en-GB" altLang="en-US" sz="2000" b="1" dirty="0"/>
              <a:t>stress at work</a:t>
            </a:r>
            <a:r>
              <a:rPr lang="en-GB" altLang="en-US" sz="2000" dirty="0"/>
              <a:t>.</a:t>
            </a:r>
          </a:p>
        </p:txBody>
      </p:sp>
      <p:sp>
        <p:nvSpPr>
          <p:cNvPr id="2" name="Title 1"/>
          <p:cNvSpPr>
            <a:spLocks noGrp="1"/>
          </p:cNvSpPr>
          <p:nvPr>
            <p:ph type="title"/>
          </p:nvPr>
        </p:nvSpPr>
        <p:spPr/>
        <p:txBody>
          <a:bodyPr/>
          <a:lstStyle/>
          <a:p>
            <a:r>
              <a:rPr lang="en-US" altLang="en-US" dirty="0"/>
              <a:t>Example Problem 1</a:t>
            </a:r>
            <a:endParaRPr lang="en-GB" dirty="0"/>
          </a:p>
        </p:txBody>
      </p:sp>
      <p:sp>
        <p:nvSpPr>
          <p:cNvPr id="3" name="Rectangle 2"/>
          <p:cNvSpPr/>
          <p:nvPr/>
        </p:nvSpPr>
        <p:spPr>
          <a:xfrm>
            <a:off x="304800" y="1777663"/>
            <a:ext cx="4572000" cy="646331"/>
          </a:xfrm>
          <a:prstGeom prst="rect">
            <a:avLst/>
          </a:prstGeom>
        </p:spPr>
        <p:txBody>
          <a:bodyPr>
            <a:spAutoFit/>
          </a:bodyPr>
          <a:lstStyle/>
          <a:p>
            <a:r>
              <a:rPr lang="en-GB" altLang="en-US" dirty="0"/>
              <a:t>How would you </a:t>
            </a:r>
            <a:r>
              <a:rPr lang="en-GB" altLang="en-US" b="1" dirty="0"/>
              <a:t>report</a:t>
            </a:r>
            <a:r>
              <a:rPr lang="en-GB" altLang="en-US" dirty="0"/>
              <a:t> these results using </a:t>
            </a:r>
            <a:r>
              <a:rPr lang="en-GB" altLang="en-US" b="1" dirty="0"/>
              <a:t>a 95% confidence interval</a:t>
            </a:r>
            <a:r>
              <a:rPr lang="en-GB" altLang="en-US" dirty="0"/>
              <a:t>? </a:t>
            </a:r>
          </a:p>
        </p:txBody>
      </p:sp>
      <p:pic>
        <p:nvPicPr>
          <p:cNvPr id="5" name="Picture 4">
            <a:extLst>
              <a:ext uri="{FF2B5EF4-FFF2-40B4-BE49-F238E27FC236}">
                <a16:creationId xmlns:a16="http://schemas.microsoft.com/office/drawing/2014/main" id="{B8B4BFAE-8BD3-4F4F-B688-58E108098EA9}"/>
              </a:ext>
            </a:extLst>
          </p:cNvPr>
          <p:cNvPicPr>
            <a:picLocks noChangeAspect="1"/>
          </p:cNvPicPr>
          <p:nvPr/>
        </p:nvPicPr>
        <p:blipFill>
          <a:blip r:embed="rId3"/>
          <a:stretch>
            <a:fillRect/>
          </a:stretch>
        </p:blipFill>
        <p:spPr>
          <a:xfrm>
            <a:off x="1157287" y="2472428"/>
            <a:ext cx="6829425" cy="3895725"/>
          </a:xfrm>
          <a:prstGeom prst="rect">
            <a:avLst/>
          </a:prstGeom>
        </p:spPr>
      </p:pic>
      <p:sp>
        <p:nvSpPr>
          <p:cNvPr id="6" name="Rectangle 5">
            <a:extLst>
              <a:ext uri="{FF2B5EF4-FFF2-40B4-BE49-F238E27FC236}">
                <a16:creationId xmlns:a16="http://schemas.microsoft.com/office/drawing/2014/main" id="{C0C77DAC-64C0-45F6-9D08-9CFC2C601462}"/>
              </a:ext>
            </a:extLst>
          </p:cNvPr>
          <p:cNvSpPr/>
          <p:nvPr/>
        </p:nvSpPr>
        <p:spPr>
          <a:xfrm>
            <a:off x="1295401" y="5981700"/>
            <a:ext cx="4724399" cy="2286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7B4B0958-5198-4233-971D-140657779EAC}"/>
              </a:ext>
            </a:extLst>
          </p:cNvPr>
          <p:cNvSpPr/>
          <p:nvPr/>
        </p:nvSpPr>
        <p:spPr>
          <a:xfrm rot="5400000">
            <a:off x="3890681" y="4090149"/>
            <a:ext cx="3704665" cy="55357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727627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5" name="Text Box 3"/>
          <p:cNvSpPr txBox="1">
            <a:spLocks noChangeArrowheads="1"/>
          </p:cNvSpPr>
          <p:nvPr/>
        </p:nvSpPr>
        <p:spPr bwMode="auto">
          <a:xfrm>
            <a:off x="304800" y="762000"/>
            <a:ext cx="800100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GB" altLang="en-US" sz="2000" dirty="0"/>
              <a:t>You survey a sample of 200 employees in a large organisation and discover that </a:t>
            </a:r>
            <a:r>
              <a:rPr lang="en-GB" altLang="en-US" sz="2000" b="1" dirty="0"/>
              <a:t>40% </a:t>
            </a:r>
            <a:r>
              <a:rPr lang="en-GB" altLang="en-US" sz="2000" dirty="0"/>
              <a:t>of respondents </a:t>
            </a:r>
            <a:r>
              <a:rPr lang="en-GB" altLang="en-US" sz="2000" b="1" dirty="0"/>
              <a:t>feel their</a:t>
            </a:r>
            <a:r>
              <a:rPr lang="en-GB" altLang="en-US" sz="2000" dirty="0"/>
              <a:t> home </a:t>
            </a:r>
            <a:r>
              <a:rPr lang="en-GB" altLang="en-US" sz="2000" b="1" dirty="0"/>
              <a:t>life</a:t>
            </a:r>
            <a:r>
              <a:rPr lang="en-GB" altLang="en-US" sz="2000" dirty="0"/>
              <a:t> is adversely </a:t>
            </a:r>
            <a:r>
              <a:rPr lang="en-GB" altLang="en-US" sz="2000" b="1" dirty="0"/>
              <a:t>affected</a:t>
            </a:r>
            <a:r>
              <a:rPr lang="en-GB" altLang="en-US" sz="2000" dirty="0"/>
              <a:t> </a:t>
            </a:r>
            <a:r>
              <a:rPr lang="en-GB" altLang="en-US" sz="2000" b="1" dirty="0"/>
              <a:t>by</a:t>
            </a:r>
            <a:r>
              <a:rPr lang="en-GB" altLang="en-US" sz="2000" dirty="0"/>
              <a:t> </a:t>
            </a:r>
            <a:r>
              <a:rPr lang="en-GB" altLang="en-US" sz="2000" b="1" dirty="0"/>
              <a:t>stress at work</a:t>
            </a:r>
            <a:r>
              <a:rPr lang="en-GB" altLang="en-US" sz="2000" dirty="0"/>
              <a:t>.</a:t>
            </a:r>
          </a:p>
        </p:txBody>
      </p:sp>
      <p:sp>
        <p:nvSpPr>
          <p:cNvPr id="2" name="Title 1"/>
          <p:cNvSpPr>
            <a:spLocks noGrp="1"/>
          </p:cNvSpPr>
          <p:nvPr>
            <p:ph type="title"/>
          </p:nvPr>
        </p:nvSpPr>
        <p:spPr/>
        <p:txBody>
          <a:bodyPr/>
          <a:lstStyle/>
          <a:p>
            <a:r>
              <a:rPr lang="en-US" altLang="en-US" dirty="0"/>
              <a:t>Example Problem 1</a:t>
            </a:r>
            <a:endParaRPr lang="en-GB" dirty="0"/>
          </a:p>
        </p:txBody>
      </p:sp>
      <p:sp>
        <p:nvSpPr>
          <p:cNvPr id="3" name="Rectangle 2"/>
          <p:cNvSpPr/>
          <p:nvPr/>
        </p:nvSpPr>
        <p:spPr>
          <a:xfrm>
            <a:off x="304800" y="1777663"/>
            <a:ext cx="4572000" cy="646331"/>
          </a:xfrm>
          <a:prstGeom prst="rect">
            <a:avLst/>
          </a:prstGeom>
        </p:spPr>
        <p:txBody>
          <a:bodyPr>
            <a:spAutoFit/>
          </a:bodyPr>
          <a:lstStyle/>
          <a:p>
            <a:r>
              <a:rPr lang="en-GB" altLang="en-US" dirty="0"/>
              <a:t>How would you </a:t>
            </a:r>
            <a:r>
              <a:rPr lang="en-GB" altLang="en-US" b="1" dirty="0"/>
              <a:t>report</a:t>
            </a:r>
            <a:r>
              <a:rPr lang="en-GB" altLang="en-US" dirty="0"/>
              <a:t> these results using </a:t>
            </a:r>
            <a:r>
              <a:rPr lang="en-GB" altLang="en-US" b="1" dirty="0"/>
              <a:t>a 95% confidence interval</a:t>
            </a:r>
            <a:r>
              <a:rPr lang="en-GB" altLang="en-US" dirty="0"/>
              <a:t>? </a:t>
            </a:r>
          </a:p>
        </p:txBody>
      </p:sp>
      <p:pic>
        <p:nvPicPr>
          <p:cNvPr id="4" name="Picture 3">
            <a:extLst>
              <a:ext uri="{FF2B5EF4-FFF2-40B4-BE49-F238E27FC236}">
                <a16:creationId xmlns:a16="http://schemas.microsoft.com/office/drawing/2014/main" id="{303E1A9C-5048-4F69-AEAD-48A1F2FC0BAD}"/>
              </a:ext>
            </a:extLst>
          </p:cNvPr>
          <p:cNvPicPr>
            <a:picLocks noChangeAspect="1"/>
          </p:cNvPicPr>
          <p:nvPr/>
        </p:nvPicPr>
        <p:blipFill>
          <a:blip r:embed="rId3"/>
          <a:stretch>
            <a:fillRect/>
          </a:stretch>
        </p:blipFill>
        <p:spPr>
          <a:xfrm>
            <a:off x="605649" y="2667000"/>
            <a:ext cx="7700151" cy="2895600"/>
          </a:xfrm>
          <a:prstGeom prst="rect">
            <a:avLst/>
          </a:prstGeom>
        </p:spPr>
      </p:pic>
    </p:spTree>
    <p:extLst>
      <p:ext uri="{BB962C8B-B14F-4D97-AF65-F5344CB8AC3E}">
        <p14:creationId xmlns:p14="http://schemas.microsoft.com/office/powerpoint/2010/main" val="14462275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5" name="Text Box 3"/>
          <p:cNvSpPr txBox="1">
            <a:spLocks noChangeArrowheads="1"/>
          </p:cNvSpPr>
          <p:nvPr/>
        </p:nvSpPr>
        <p:spPr bwMode="auto">
          <a:xfrm>
            <a:off x="304800" y="762000"/>
            <a:ext cx="800100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GB" altLang="en-US" sz="2000" dirty="0"/>
              <a:t>You survey a sample of 200 employees in a large organisation and discover that </a:t>
            </a:r>
            <a:r>
              <a:rPr lang="en-GB" altLang="en-US" sz="2000" b="1" dirty="0"/>
              <a:t>40% </a:t>
            </a:r>
            <a:r>
              <a:rPr lang="en-GB" altLang="en-US" sz="2000" dirty="0"/>
              <a:t>of respondents </a:t>
            </a:r>
            <a:r>
              <a:rPr lang="en-GB" altLang="en-US" sz="2000" b="1" dirty="0"/>
              <a:t>feel their</a:t>
            </a:r>
            <a:r>
              <a:rPr lang="en-GB" altLang="en-US" sz="2000" dirty="0"/>
              <a:t> home </a:t>
            </a:r>
            <a:r>
              <a:rPr lang="en-GB" altLang="en-US" sz="2000" b="1" dirty="0"/>
              <a:t>life</a:t>
            </a:r>
            <a:r>
              <a:rPr lang="en-GB" altLang="en-US" sz="2000" dirty="0"/>
              <a:t> is adversely </a:t>
            </a:r>
            <a:r>
              <a:rPr lang="en-GB" altLang="en-US" sz="2000" b="1" dirty="0"/>
              <a:t>affected</a:t>
            </a:r>
            <a:r>
              <a:rPr lang="en-GB" altLang="en-US" sz="2000" dirty="0"/>
              <a:t> </a:t>
            </a:r>
            <a:r>
              <a:rPr lang="en-GB" altLang="en-US" sz="2000" b="1" dirty="0"/>
              <a:t>by</a:t>
            </a:r>
            <a:r>
              <a:rPr lang="en-GB" altLang="en-US" sz="2000" dirty="0"/>
              <a:t> </a:t>
            </a:r>
            <a:r>
              <a:rPr lang="en-GB" altLang="en-US" sz="2000" b="1" dirty="0"/>
              <a:t>stress at work</a:t>
            </a:r>
            <a:r>
              <a:rPr lang="en-GB" altLang="en-US" sz="2000" dirty="0"/>
              <a:t>.</a:t>
            </a:r>
          </a:p>
        </p:txBody>
      </p:sp>
      <p:sp>
        <p:nvSpPr>
          <p:cNvPr id="2" name="Title 1"/>
          <p:cNvSpPr>
            <a:spLocks noGrp="1"/>
          </p:cNvSpPr>
          <p:nvPr>
            <p:ph type="title"/>
          </p:nvPr>
        </p:nvSpPr>
        <p:spPr/>
        <p:txBody>
          <a:bodyPr/>
          <a:lstStyle/>
          <a:p>
            <a:r>
              <a:rPr lang="en-US" altLang="en-US" dirty="0"/>
              <a:t>Example Problem 1</a:t>
            </a:r>
            <a:endParaRPr lang="en-GB" dirty="0"/>
          </a:p>
        </p:txBody>
      </p:sp>
      <p:sp>
        <p:nvSpPr>
          <p:cNvPr id="3" name="Rectangle 2"/>
          <p:cNvSpPr/>
          <p:nvPr/>
        </p:nvSpPr>
        <p:spPr>
          <a:xfrm>
            <a:off x="304800" y="1777663"/>
            <a:ext cx="4572000" cy="646331"/>
          </a:xfrm>
          <a:prstGeom prst="rect">
            <a:avLst/>
          </a:prstGeom>
        </p:spPr>
        <p:txBody>
          <a:bodyPr>
            <a:spAutoFit/>
          </a:bodyPr>
          <a:lstStyle/>
          <a:p>
            <a:r>
              <a:rPr lang="en-GB" altLang="en-US" dirty="0"/>
              <a:t>How would you </a:t>
            </a:r>
            <a:r>
              <a:rPr lang="en-GB" altLang="en-US" b="1" dirty="0"/>
              <a:t>report</a:t>
            </a:r>
            <a:r>
              <a:rPr lang="en-GB" altLang="en-US" dirty="0"/>
              <a:t> these results using </a:t>
            </a:r>
            <a:r>
              <a:rPr lang="en-GB" altLang="en-US" b="1" dirty="0"/>
              <a:t>a 95% confidence interval</a:t>
            </a:r>
            <a:r>
              <a:rPr lang="en-GB" altLang="en-US" dirty="0"/>
              <a:t>? </a:t>
            </a:r>
          </a:p>
        </p:txBody>
      </p:sp>
      <p:grpSp>
        <p:nvGrpSpPr>
          <p:cNvPr id="5" name="Group 4"/>
          <p:cNvGrpSpPr/>
          <p:nvPr/>
        </p:nvGrpSpPr>
        <p:grpSpPr>
          <a:xfrm>
            <a:off x="3581400" y="4387007"/>
            <a:ext cx="4098802" cy="844060"/>
            <a:chOff x="4114800" y="3429000"/>
            <a:chExt cx="4098802" cy="844060"/>
          </a:xfrm>
        </p:grpSpPr>
        <p:pic>
          <p:nvPicPr>
            <p:cNvPr id="6" name="Picture 10" descr="http://www.reflectiveresolutions.com/2014/wp-content/uploads/2015/03/BellCurv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17023" y="3429000"/>
              <a:ext cx="3896579" cy="834971"/>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4114800" y="3429000"/>
              <a:ext cx="457200" cy="8440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8" name="Group 7"/>
          <p:cNvGrpSpPr/>
          <p:nvPr/>
        </p:nvGrpSpPr>
        <p:grpSpPr>
          <a:xfrm>
            <a:off x="3716216" y="4404591"/>
            <a:ext cx="4653762" cy="1115199"/>
            <a:chOff x="3262115" y="3429000"/>
            <a:chExt cx="4653762" cy="1115199"/>
          </a:xfrm>
        </p:grpSpPr>
        <p:grpSp>
          <p:nvGrpSpPr>
            <p:cNvPr id="9" name="Group 8"/>
            <p:cNvGrpSpPr/>
            <p:nvPr/>
          </p:nvGrpSpPr>
          <p:grpSpPr>
            <a:xfrm>
              <a:off x="3262115" y="4059116"/>
              <a:ext cx="4653762" cy="485083"/>
              <a:chOff x="3262115" y="4059116"/>
              <a:chExt cx="4653762" cy="485083"/>
            </a:xfrm>
          </p:grpSpPr>
          <p:sp>
            <p:nvSpPr>
              <p:cNvPr id="13" name="Rectangle 12"/>
              <p:cNvSpPr/>
              <p:nvPr/>
            </p:nvSpPr>
            <p:spPr>
              <a:xfrm>
                <a:off x="3405162" y="4167554"/>
                <a:ext cx="4214838" cy="762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GB">
                  <a:solidFill>
                    <a:schemeClr val="accent3">
                      <a:lumMod val="75000"/>
                    </a:schemeClr>
                  </a:solidFill>
                </a:endParaRPr>
              </a:p>
            </p:txBody>
          </p:sp>
          <p:sp>
            <p:nvSpPr>
              <p:cNvPr id="14" name="TextBox 13"/>
              <p:cNvSpPr txBox="1"/>
              <p:nvPr/>
            </p:nvSpPr>
            <p:spPr>
              <a:xfrm>
                <a:off x="3262115" y="4267200"/>
                <a:ext cx="375423" cy="276999"/>
              </a:xfrm>
              <a:prstGeom prst="rect">
                <a:avLst/>
              </a:prstGeom>
              <a:noFill/>
            </p:spPr>
            <p:txBody>
              <a:bodyPr wrap="none" rtlCol="0">
                <a:spAutoFit/>
              </a:bodyPr>
              <a:lstStyle/>
              <a:p>
                <a:pPr algn="ctr"/>
                <a:r>
                  <a:rPr lang="en-GB" sz="1200" dirty="0">
                    <a:solidFill>
                      <a:schemeClr val="accent3">
                        <a:lumMod val="75000"/>
                      </a:schemeClr>
                    </a:solidFill>
                  </a:rPr>
                  <a:t>0%</a:t>
                </a:r>
              </a:p>
            </p:txBody>
          </p:sp>
          <p:sp>
            <p:nvSpPr>
              <p:cNvPr id="15" name="TextBox 14"/>
              <p:cNvSpPr txBox="1"/>
              <p:nvPr/>
            </p:nvSpPr>
            <p:spPr>
              <a:xfrm>
                <a:off x="7383360" y="4267200"/>
                <a:ext cx="532517" cy="276999"/>
              </a:xfrm>
              <a:prstGeom prst="rect">
                <a:avLst/>
              </a:prstGeom>
              <a:noFill/>
            </p:spPr>
            <p:txBody>
              <a:bodyPr wrap="none" rtlCol="0">
                <a:spAutoFit/>
              </a:bodyPr>
              <a:lstStyle/>
              <a:p>
                <a:pPr algn="ctr"/>
                <a:r>
                  <a:rPr lang="en-GB" sz="1200" dirty="0">
                    <a:solidFill>
                      <a:schemeClr val="accent3">
                        <a:lumMod val="75000"/>
                      </a:schemeClr>
                    </a:solidFill>
                  </a:rPr>
                  <a:t>100%</a:t>
                </a:r>
              </a:p>
            </p:txBody>
          </p:sp>
          <p:cxnSp>
            <p:nvCxnSpPr>
              <p:cNvPr id="16" name="Straight Connector 15"/>
              <p:cNvCxnSpPr/>
              <p:nvPr/>
            </p:nvCxnSpPr>
            <p:spPr>
              <a:xfrm>
                <a:off x="3402624" y="4059116"/>
                <a:ext cx="0" cy="190500"/>
              </a:xfrm>
              <a:prstGeom prst="line">
                <a:avLst/>
              </a:prstGeom>
              <a:ln>
                <a:solidFill>
                  <a:schemeClr val="accent3"/>
                </a:solidFill>
              </a:ln>
            </p:spPr>
            <p:style>
              <a:lnRef idx="1">
                <a:schemeClr val="dk1"/>
              </a:lnRef>
              <a:fillRef idx="0">
                <a:schemeClr val="dk1"/>
              </a:fillRef>
              <a:effectRef idx="0">
                <a:schemeClr val="dk1"/>
              </a:effectRef>
              <a:fontRef idx="minor">
                <a:schemeClr val="tx1"/>
              </a:fontRef>
            </p:style>
          </p:cxnSp>
          <p:cxnSp>
            <p:nvCxnSpPr>
              <p:cNvPr id="17" name="Straight Connector 16"/>
              <p:cNvCxnSpPr/>
              <p:nvPr/>
            </p:nvCxnSpPr>
            <p:spPr>
              <a:xfrm>
                <a:off x="7620000" y="4059116"/>
                <a:ext cx="0" cy="190500"/>
              </a:xfrm>
              <a:prstGeom prst="line">
                <a:avLst/>
              </a:prstGeom>
              <a:ln>
                <a:solidFill>
                  <a:schemeClr val="accent3"/>
                </a:solidFill>
              </a:ln>
            </p:spPr>
            <p:style>
              <a:lnRef idx="1">
                <a:schemeClr val="dk1"/>
              </a:lnRef>
              <a:fillRef idx="0">
                <a:schemeClr val="dk1"/>
              </a:fillRef>
              <a:effectRef idx="0">
                <a:schemeClr val="dk1"/>
              </a:effectRef>
              <a:fontRef idx="minor">
                <a:schemeClr val="tx1"/>
              </a:fontRef>
            </p:style>
          </p:cxnSp>
          <p:cxnSp>
            <p:nvCxnSpPr>
              <p:cNvPr id="18" name="Straight Connector 17"/>
              <p:cNvCxnSpPr/>
              <p:nvPr/>
            </p:nvCxnSpPr>
            <p:spPr>
              <a:xfrm>
                <a:off x="5503984" y="4064976"/>
                <a:ext cx="0" cy="190500"/>
              </a:xfrm>
              <a:prstGeom prst="line">
                <a:avLst/>
              </a:prstGeom>
              <a:ln>
                <a:solidFill>
                  <a:schemeClr val="accent3"/>
                </a:solidFill>
              </a:ln>
            </p:spPr>
            <p:style>
              <a:lnRef idx="1">
                <a:schemeClr val="dk1"/>
              </a:lnRef>
              <a:fillRef idx="0">
                <a:schemeClr val="dk1"/>
              </a:fillRef>
              <a:effectRef idx="0">
                <a:schemeClr val="dk1"/>
              </a:effectRef>
              <a:fontRef idx="minor">
                <a:schemeClr val="tx1"/>
              </a:fontRef>
            </p:style>
          </p:cxnSp>
        </p:grpSp>
        <p:grpSp>
          <p:nvGrpSpPr>
            <p:cNvPr id="10" name="Group 9"/>
            <p:cNvGrpSpPr/>
            <p:nvPr/>
          </p:nvGrpSpPr>
          <p:grpSpPr>
            <a:xfrm>
              <a:off x="5105341" y="3429000"/>
              <a:ext cx="280846" cy="1084384"/>
              <a:chOff x="5105341" y="3429000"/>
              <a:chExt cx="280846" cy="1084384"/>
            </a:xfrm>
          </p:grpSpPr>
          <p:sp>
            <p:nvSpPr>
              <p:cNvPr id="11" name="TextBox 10"/>
              <p:cNvSpPr txBox="1"/>
              <p:nvPr/>
            </p:nvSpPr>
            <p:spPr>
              <a:xfrm>
                <a:off x="5105341" y="4205607"/>
                <a:ext cx="280846" cy="307777"/>
              </a:xfrm>
              <a:prstGeom prst="rect">
                <a:avLst/>
              </a:prstGeom>
              <a:noFill/>
            </p:spPr>
            <p:txBody>
              <a:bodyPr wrap="none" rtlCol="0">
                <a:spAutoFit/>
              </a:bodyPr>
              <a:lstStyle/>
              <a:p>
                <a:pPr algn="ctr"/>
                <a:r>
                  <a:rPr lang="en-GB" sz="1400" b="1" dirty="0"/>
                  <a:t>p</a:t>
                </a:r>
              </a:p>
            </p:txBody>
          </p:sp>
          <p:cxnSp>
            <p:nvCxnSpPr>
              <p:cNvPr id="12" name="Straight Connector 11"/>
              <p:cNvCxnSpPr/>
              <p:nvPr/>
            </p:nvCxnSpPr>
            <p:spPr>
              <a:xfrm flipV="1">
                <a:off x="5202427" y="3429000"/>
                <a:ext cx="0" cy="820616"/>
              </a:xfrm>
              <a:prstGeom prst="line">
                <a:avLst/>
              </a:prstGeom>
            </p:spPr>
            <p:style>
              <a:lnRef idx="2">
                <a:schemeClr val="dk1"/>
              </a:lnRef>
              <a:fillRef idx="0">
                <a:schemeClr val="dk1"/>
              </a:fillRef>
              <a:effectRef idx="1">
                <a:schemeClr val="dk1"/>
              </a:effectRef>
              <a:fontRef idx="minor">
                <a:schemeClr val="tx1"/>
              </a:fontRef>
            </p:style>
          </p:cxnSp>
        </p:grpSp>
      </p:grpSp>
      <p:grpSp>
        <p:nvGrpSpPr>
          <p:cNvPr id="19" name="Group 18"/>
          <p:cNvGrpSpPr/>
          <p:nvPr/>
        </p:nvGrpSpPr>
        <p:grpSpPr>
          <a:xfrm>
            <a:off x="4944208" y="4746066"/>
            <a:ext cx="1439008" cy="461557"/>
            <a:chOff x="5181600" y="3962400"/>
            <a:chExt cx="1439008" cy="461557"/>
          </a:xfrm>
        </p:grpSpPr>
        <p:grpSp>
          <p:nvGrpSpPr>
            <p:cNvPr id="20" name="Group 19"/>
            <p:cNvGrpSpPr/>
            <p:nvPr/>
          </p:nvGrpSpPr>
          <p:grpSpPr>
            <a:xfrm>
              <a:off x="5181600" y="3962400"/>
              <a:ext cx="1439008" cy="461557"/>
              <a:chOff x="5181600" y="3751384"/>
              <a:chExt cx="1439008" cy="824973"/>
            </a:xfrm>
          </p:grpSpPr>
          <p:cxnSp>
            <p:nvCxnSpPr>
              <p:cNvPr id="22" name="Straight Connector 21"/>
              <p:cNvCxnSpPr/>
              <p:nvPr/>
            </p:nvCxnSpPr>
            <p:spPr>
              <a:xfrm flipV="1">
                <a:off x="5181600" y="3755741"/>
                <a:ext cx="0" cy="820616"/>
              </a:xfrm>
              <a:prstGeom prst="line">
                <a:avLst/>
              </a:prstGeom>
              <a:ln>
                <a:solidFill>
                  <a:schemeClr val="bg1">
                    <a:lumMod val="65000"/>
                  </a:schemeClr>
                </a:solidFill>
              </a:ln>
            </p:spPr>
            <p:style>
              <a:lnRef idx="2">
                <a:schemeClr val="accent4"/>
              </a:lnRef>
              <a:fillRef idx="0">
                <a:schemeClr val="accent4"/>
              </a:fillRef>
              <a:effectRef idx="1">
                <a:schemeClr val="accent4"/>
              </a:effectRef>
              <a:fontRef idx="minor">
                <a:schemeClr val="tx1"/>
              </a:fontRef>
            </p:style>
          </p:cxnSp>
          <p:cxnSp>
            <p:nvCxnSpPr>
              <p:cNvPr id="23" name="Straight Connector 22"/>
              <p:cNvCxnSpPr/>
              <p:nvPr/>
            </p:nvCxnSpPr>
            <p:spPr>
              <a:xfrm flipV="1">
                <a:off x="6620608" y="3751384"/>
                <a:ext cx="0" cy="820616"/>
              </a:xfrm>
              <a:prstGeom prst="line">
                <a:avLst/>
              </a:prstGeom>
              <a:ln>
                <a:solidFill>
                  <a:schemeClr val="bg1">
                    <a:lumMod val="65000"/>
                  </a:schemeClr>
                </a:solidFill>
              </a:ln>
            </p:spPr>
            <p:style>
              <a:lnRef idx="2">
                <a:schemeClr val="accent4"/>
              </a:lnRef>
              <a:fillRef idx="0">
                <a:schemeClr val="accent4"/>
              </a:fillRef>
              <a:effectRef idx="1">
                <a:schemeClr val="accent4"/>
              </a:effectRef>
              <a:fontRef idx="minor">
                <a:schemeClr val="tx1"/>
              </a:fontRef>
            </p:style>
          </p:cxnSp>
        </p:grpSp>
        <p:cxnSp>
          <p:nvCxnSpPr>
            <p:cNvPr id="21" name="Straight Arrow Connector 20"/>
            <p:cNvCxnSpPr/>
            <p:nvPr/>
          </p:nvCxnSpPr>
          <p:spPr>
            <a:xfrm>
              <a:off x="5181600" y="4112362"/>
              <a:ext cx="1438504" cy="2438"/>
            </a:xfrm>
            <a:prstGeom prst="straightConnector1">
              <a:avLst/>
            </a:prstGeom>
            <a:ln w="12700">
              <a:solidFill>
                <a:schemeClr val="bg1">
                  <a:lumMod val="65000"/>
                </a:schemeClr>
              </a:solidFill>
              <a:headEnd type="arrow"/>
              <a:tailEnd type="arrow"/>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27" name="Rectangle 26"/>
              <p:cNvSpPr/>
              <p:nvPr/>
            </p:nvSpPr>
            <p:spPr>
              <a:xfrm>
                <a:off x="6569722" y="3522062"/>
                <a:ext cx="1521453" cy="1268886"/>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GB" sz="1400" b="1" i="0" dirty="0">
                    <a:latin typeface="+mj-lt"/>
                    <a:ea typeface="Cambria Math"/>
                  </a:rPr>
                  <a:t>STEP:</a:t>
                </a:r>
                <a:endParaRPr lang="en-GB" sz="1400" b="1" i="1" dirty="0">
                  <a:latin typeface="Cambria Math"/>
                  <a:ea typeface="Cambria Math"/>
                </a:endParaRPr>
              </a:p>
              <a:p>
                <a:pPr algn="ctr"/>
                <a14:m>
                  <m:oMathPara xmlns:m="http://schemas.openxmlformats.org/officeDocument/2006/math">
                    <m:oMathParaPr>
                      <m:jc m:val="left"/>
                    </m:oMathParaPr>
                    <m:oMath xmlns:m="http://schemas.openxmlformats.org/officeDocument/2006/math">
                      <m:sSub>
                        <m:sSubPr>
                          <m:ctrlPr>
                            <a:rPr lang="en-GB" sz="1400" i="1" smtClean="0">
                              <a:latin typeface="Cambria Math" panose="02040503050406030204" pitchFamily="18" charset="0"/>
                              <a:ea typeface="Cambria Math"/>
                            </a:rPr>
                          </m:ctrlPr>
                        </m:sSubPr>
                        <m:e>
                          <m:r>
                            <a:rPr lang="en-GB" sz="1400" i="1" smtClean="0">
                              <a:latin typeface="Cambria Math"/>
                              <a:ea typeface="Cambria Math"/>
                            </a:rPr>
                            <m:t>𝜎</m:t>
                          </m:r>
                        </m:e>
                        <m:sub>
                          <m:r>
                            <a:rPr lang="en-GB" sz="1400" b="0" i="1" smtClean="0">
                              <a:latin typeface="Cambria Math"/>
                              <a:ea typeface="Cambria Math"/>
                            </a:rPr>
                            <m:t>𝑝</m:t>
                          </m:r>
                        </m:sub>
                      </m:sSub>
                      <m:r>
                        <a:rPr lang="en-GB" sz="1400" b="0" i="1" smtClean="0">
                          <a:latin typeface="Cambria Math"/>
                          <a:ea typeface="Cambria Math"/>
                        </a:rPr>
                        <m:t>=</m:t>
                      </m:r>
                      <m:rad>
                        <m:radPr>
                          <m:degHide m:val="on"/>
                          <m:ctrlPr>
                            <a:rPr lang="en-GB" sz="1400" b="0" i="1" smtClean="0">
                              <a:latin typeface="Cambria Math" panose="02040503050406030204" pitchFamily="18" charset="0"/>
                              <a:ea typeface="Cambria Math"/>
                            </a:rPr>
                          </m:ctrlPr>
                        </m:radPr>
                        <m:deg/>
                        <m:e>
                          <m:f>
                            <m:fPr>
                              <m:ctrlPr>
                                <a:rPr lang="en-GB" sz="1400" b="0" i="1" smtClean="0">
                                  <a:latin typeface="Cambria Math" panose="02040503050406030204" pitchFamily="18" charset="0"/>
                                  <a:ea typeface="Cambria Math"/>
                                </a:rPr>
                              </m:ctrlPr>
                            </m:fPr>
                            <m:num>
                              <m:r>
                                <a:rPr lang="en-GB" sz="1400" b="0" i="1" smtClean="0">
                                  <a:latin typeface="Cambria Math"/>
                                  <a:ea typeface="Cambria Math"/>
                                </a:rPr>
                                <m:t>𝑝</m:t>
                              </m:r>
                              <m:d>
                                <m:dPr>
                                  <m:ctrlPr>
                                    <a:rPr lang="en-GB" sz="1400" i="1">
                                      <a:latin typeface="Cambria Math" panose="02040503050406030204" pitchFamily="18" charset="0"/>
                                      <a:ea typeface="Cambria Math"/>
                                    </a:rPr>
                                  </m:ctrlPr>
                                </m:dPr>
                                <m:e>
                                  <m:r>
                                    <a:rPr lang="en-GB" sz="1400" i="1">
                                      <a:latin typeface="Cambria Math"/>
                                      <a:ea typeface="Cambria Math"/>
                                    </a:rPr>
                                    <m:t>1−</m:t>
                                  </m:r>
                                  <m:r>
                                    <a:rPr lang="en-GB" sz="1400" b="0" i="1" smtClean="0">
                                      <a:latin typeface="Cambria Math"/>
                                      <a:ea typeface="Cambria Math"/>
                                    </a:rPr>
                                    <m:t>𝑝</m:t>
                                  </m:r>
                                </m:e>
                              </m:d>
                            </m:num>
                            <m:den>
                              <m:r>
                                <a:rPr lang="en-GB" sz="1400" b="0" i="1" smtClean="0">
                                  <a:latin typeface="Cambria Math"/>
                                  <a:ea typeface="Cambria Math"/>
                                </a:rPr>
                                <m:t>𝑛</m:t>
                              </m:r>
                            </m:den>
                          </m:f>
                        </m:e>
                      </m:rad>
                    </m:oMath>
                  </m:oMathPara>
                </a14:m>
                <a:endParaRPr lang="en-GB" sz="1400" dirty="0"/>
              </a:p>
              <a:p>
                <a14:m>
                  <m:oMath xmlns:m="http://schemas.openxmlformats.org/officeDocument/2006/math">
                    <m:r>
                      <a:rPr lang="en-GB" sz="1100" b="0" i="1" smtClean="0">
                        <a:latin typeface="Cambria Math"/>
                        <a:ea typeface="Cambria Math"/>
                      </a:rPr>
                      <m:t>𝑝</m:t>
                    </m:r>
                    <m:r>
                      <a:rPr lang="en-GB" sz="1100" i="1">
                        <a:latin typeface="Cambria Math"/>
                        <a:ea typeface="Cambria Math"/>
                      </a:rPr>
                      <m:t> </m:t>
                    </m:r>
                  </m:oMath>
                </a14:m>
                <a:r>
                  <a:rPr lang="en-US" altLang="en-US" sz="1100" dirty="0"/>
                  <a:t>= sample proportion</a:t>
                </a:r>
              </a:p>
              <a:p>
                <a14:m>
                  <m:oMath xmlns:m="http://schemas.openxmlformats.org/officeDocument/2006/math">
                    <m:r>
                      <a:rPr lang="en-US" altLang="en-US" sz="1100" i="1" dirty="0" smtClean="0">
                        <a:latin typeface="Cambria Math"/>
                      </a:rPr>
                      <m:t>𝑛</m:t>
                    </m:r>
                  </m:oMath>
                </a14:m>
                <a:r>
                  <a:rPr lang="en-US" altLang="en-US" sz="1100" dirty="0"/>
                  <a:t> = number in sample</a:t>
                </a:r>
                <a:endParaRPr lang="en-GB" sz="1100" dirty="0"/>
              </a:p>
            </p:txBody>
          </p:sp>
        </mc:Choice>
        <mc:Fallback xmlns="">
          <p:sp>
            <p:nvSpPr>
              <p:cNvPr id="27" name="Rectangle 26"/>
              <p:cNvSpPr>
                <a:spLocks noRot="1" noChangeAspect="1" noMove="1" noResize="1" noEditPoints="1" noAdjustHandles="1" noChangeArrowheads="1" noChangeShapeType="1" noTextEdit="1"/>
              </p:cNvSpPr>
              <p:nvPr/>
            </p:nvSpPr>
            <p:spPr>
              <a:xfrm>
                <a:off x="6569722" y="3522062"/>
                <a:ext cx="1521453" cy="1268886"/>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8" name="Rectangle 27"/>
              <p:cNvSpPr/>
              <p:nvPr/>
            </p:nvSpPr>
            <p:spPr>
              <a:xfrm>
                <a:off x="6564626" y="3522310"/>
                <a:ext cx="1521453" cy="1268886"/>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r>
                  <a:rPr lang="en-GB" sz="1400" b="1" i="0" dirty="0">
                    <a:latin typeface="+mj-lt"/>
                    <a:ea typeface="Cambria Math"/>
                  </a:rPr>
                  <a:t>STEP:</a:t>
                </a:r>
                <a:endParaRPr lang="en-GB" sz="1400" b="1" i="1" dirty="0">
                  <a:latin typeface="Cambria Math"/>
                  <a:ea typeface="Cambria Math"/>
                </a:endParaRPr>
              </a:p>
              <a:p>
                <a:pPr algn="ctr"/>
                <a14:m>
                  <m:oMathPara xmlns:m="http://schemas.openxmlformats.org/officeDocument/2006/math">
                    <m:oMathParaPr>
                      <m:jc m:val="left"/>
                    </m:oMathParaPr>
                    <m:oMath xmlns:m="http://schemas.openxmlformats.org/officeDocument/2006/math">
                      <m:sSub>
                        <m:sSubPr>
                          <m:ctrlPr>
                            <a:rPr lang="en-GB" sz="1400" i="1" smtClean="0">
                              <a:latin typeface="Cambria Math" panose="02040503050406030204" pitchFamily="18" charset="0"/>
                              <a:ea typeface="Cambria Math"/>
                            </a:rPr>
                          </m:ctrlPr>
                        </m:sSubPr>
                        <m:e>
                          <m:r>
                            <a:rPr lang="en-GB" sz="1400" i="1" smtClean="0">
                              <a:latin typeface="Cambria Math"/>
                              <a:ea typeface="Cambria Math"/>
                            </a:rPr>
                            <m:t>𝜎</m:t>
                          </m:r>
                        </m:e>
                        <m:sub>
                          <m:r>
                            <a:rPr lang="en-GB" sz="1400" b="0" i="1" smtClean="0">
                              <a:latin typeface="Cambria Math"/>
                              <a:ea typeface="Cambria Math"/>
                            </a:rPr>
                            <m:t>𝑝</m:t>
                          </m:r>
                        </m:sub>
                      </m:sSub>
                      <m:r>
                        <a:rPr lang="en-GB" sz="1400" b="0" i="1" smtClean="0">
                          <a:latin typeface="Cambria Math"/>
                          <a:ea typeface="Cambria Math"/>
                        </a:rPr>
                        <m:t>=</m:t>
                      </m:r>
                      <m:rad>
                        <m:radPr>
                          <m:degHide m:val="on"/>
                          <m:ctrlPr>
                            <a:rPr lang="en-GB" sz="1400" b="0" i="1" smtClean="0">
                              <a:latin typeface="Cambria Math" panose="02040503050406030204" pitchFamily="18" charset="0"/>
                              <a:ea typeface="Cambria Math"/>
                            </a:rPr>
                          </m:ctrlPr>
                        </m:radPr>
                        <m:deg/>
                        <m:e>
                          <m:f>
                            <m:fPr>
                              <m:ctrlPr>
                                <a:rPr lang="en-GB" sz="1400" b="0" i="1" smtClean="0">
                                  <a:latin typeface="Cambria Math" panose="02040503050406030204" pitchFamily="18" charset="0"/>
                                  <a:ea typeface="Cambria Math"/>
                                </a:rPr>
                              </m:ctrlPr>
                            </m:fPr>
                            <m:num>
                              <m:r>
                                <a:rPr lang="en-GB" sz="1400" b="0" i="1" smtClean="0">
                                  <a:latin typeface="Cambria Math"/>
                                  <a:ea typeface="Cambria Math"/>
                                </a:rPr>
                                <m:t>.4</m:t>
                              </m:r>
                              <m:d>
                                <m:dPr>
                                  <m:ctrlPr>
                                    <a:rPr lang="en-GB" sz="1400" i="1">
                                      <a:latin typeface="Cambria Math" panose="02040503050406030204" pitchFamily="18" charset="0"/>
                                      <a:ea typeface="Cambria Math"/>
                                    </a:rPr>
                                  </m:ctrlPr>
                                </m:dPr>
                                <m:e>
                                  <m:r>
                                    <a:rPr lang="en-GB" sz="1400" i="1">
                                      <a:latin typeface="Cambria Math"/>
                                      <a:ea typeface="Cambria Math"/>
                                    </a:rPr>
                                    <m:t>1−</m:t>
                                  </m:r>
                                  <m:r>
                                    <a:rPr lang="en-GB" sz="1400" b="0" i="1" smtClean="0">
                                      <a:latin typeface="Cambria Math"/>
                                      <a:ea typeface="Cambria Math"/>
                                    </a:rPr>
                                    <m:t>.4</m:t>
                                  </m:r>
                                </m:e>
                              </m:d>
                            </m:num>
                            <m:den>
                              <m:r>
                                <a:rPr lang="en-GB" sz="1400" b="0" i="1" smtClean="0">
                                  <a:latin typeface="Cambria Math"/>
                                  <a:ea typeface="Cambria Math"/>
                                </a:rPr>
                                <m:t>200</m:t>
                              </m:r>
                            </m:den>
                          </m:f>
                        </m:e>
                      </m:rad>
                    </m:oMath>
                  </m:oMathPara>
                </a14:m>
                <a:endParaRPr lang="en-GB" sz="1400" dirty="0"/>
              </a:p>
              <a:p>
                <a:r>
                  <a:rPr lang="en-GB" sz="1600" b="1" dirty="0"/>
                  <a:t>     =  .03464</a:t>
                </a:r>
              </a:p>
            </p:txBody>
          </p:sp>
        </mc:Choice>
        <mc:Fallback xmlns="">
          <p:sp>
            <p:nvSpPr>
              <p:cNvPr id="28" name="Rectangle 27"/>
              <p:cNvSpPr>
                <a:spLocks noRot="1" noChangeAspect="1" noMove="1" noResize="1" noEditPoints="1" noAdjustHandles="1" noChangeArrowheads="1" noChangeShapeType="1" noTextEdit="1"/>
              </p:cNvSpPr>
              <p:nvPr/>
            </p:nvSpPr>
            <p:spPr>
              <a:xfrm>
                <a:off x="6564626" y="3522310"/>
                <a:ext cx="1521453" cy="1268886"/>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TextBox 3"/>
              <p:cNvSpPr txBox="1"/>
              <p:nvPr/>
            </p:nvSpPr>
            <p:spPr>
              <a:xfrm>
                <a:off x="381000" y="2678668"/>
                <a:ext cx="3952172" cy="369332"/>
              </a:xfrm>
              <a:prstGeom prst="rect">
                <a:avLst/>
              </a:prstGeom>
            </p:spPr>
            <p:style>
              <a:lnRef idx="1">
                <a:schemeClr val="accent2"/>
              </a:lnRef>
              <a:fillRef idx="2">
                <a:schemeClr val="accent2"/>
              </a:fillRef>
              <a:effectRef idx="1">
                <a:schemeClr val="accent2"/>
              </a:effectRef>
              <a:fontRef idx="minor">
                <a:schemeClr val="dk1"/>
              </a:fontRef>
            </p:style>
            <p:txBody>
              <a:bodyPr wrap="none" rtlCol="0">
                <a:spAutoFit/>
              </a:bodyPr>
              <a:lstStyle/>
              <a:p>
                <a:r>
                  <a:rPr lang="en-GB" b="0" dirty="0"/>
                  <a:t>Lookup table: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a:rPr>
                          <m:t>𝑍</m:t>
                        </m:r>
                      </m:e>
                      <m:sub>
                        <m:r>
                          <a:rPr lang="en-GB" b="0" i="1" smtClean="0">
                            <a:latin typeface="Cambria Math"/>
                          </a:rPr>
                          <m:t>𝑐𝑟𝑖𝑡</m:t>
                        </m:r>
                      </m:sub>
                    </m:sSub>
                    <m:r>
                      <a:rPr lang="en-GB" b="0" i="1" smtClean="0">
                        <a:latin typeface="Cambria Math"/>
                      </a:rPr>
                      <m:t>=1.96</m:t>
                    </m:r>
                  </m:oMath>
                </a14:m>
                <a:r>
                  <a:rPr lang="en-GB" dirty="0"/>
                  <a:t> for </a:t>
                </a:r>
                <a14:m>
                  <m:oMath xmlns:m="http://schemas.openxmlformats.org/officeDocument/2006/math">
                    <m:r>
                      <a:rPr lang="en-GB" i="1" smtClean="0">
                        <a:latin typeface="Cambria Math"/>
                        <a:ea typeface="Cambria Math"/>
                      </a:rPr>
                      <m:t>𝛼</m:t>
                    </m:r>
                    <m:r>
                      <a:rPr lang="en-GB" b="0" i="1" smtClean="0">
                        <a:latin typeface="Cambria Math"/>
                        <a:ea typeface="Cambria Math"/>
                      </a:rPr>
                      <m:t>=0.05</m:t>
                    </m:r>
                  </m:oMath>
                </a14:m>
                <a:endParaRPr lang="en-GB" dirty="0"/>
              </a:p>
            </p:txBody>
          </p:sp>
        </mc:Choice>
        <mc:Fallback xmlns="">
          <p:sp>
            <p:nvSpPr>
              <p:cNvPr id="4" name="TextBox 3"/>
              <p:cNvSpPr txBox="1">
                <a:spLocks noRot="1" noChangeAspect="1" noMove="1" noResize="1" noEditPoints="1" noAdjustHandles="1" noChangeArrowheads="1" noChangeShapeType="1" noTextEdit="1"/>
              </p:cNvSpPr>
              <p:nvPr/>
            </p:nvSpPr>
            <p:spPr>
              <a:xfrm>
                <a:off x="381000" y="2678668"/>
                <a:ext cx="3952172" cy="369332"/>
              </a:xfrm>
              <a:prstGeom prst="rect">
                <a:avLst/>
              </a:prstGeom>
              <a:blipFill rotWithShape="1">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0" name="Rectangular Callout 39"/>
              <p:cNvSpPr/>
              <p:nvPr/>
            </p:nvSpPr>
            <p:spPr>
              <a:xfrm>
                <a:off x="3357852" y="5562767"/>
                <a:ext cx="1726234" cy="444015"/>
              </a:xfrm>
              <a:prstGeom prst="wedgeRectCallout">
                <a:avLst>
                  <a:gd name="adj1" fmla="val 42404"/>
                  <a:gd name="adj2" fmla="val -106451"/>
                </a:avLst>
              </a:prstGeom>
              <a:ln>
                <a:solidFill>
                  <a:schemeClr val="bg1">
                    <a:lumMod val="6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GB" sz="1400" i="1" smtClean="0">
                          <a:latin typeface="Cambria Math"/>
                        </a:rPr>
                        <m:t>𝑝</m:t>
                      </m:r>
                      <m:r>
                        <a:rPr lang="en-GB" sz="1400" b="0" i="1" smtClean="0">
                          <a:latin typeface="Cambria Math"/>
                        </a:rPr>
                        <m:t>−</m:t>
                      </m:r>
                      <m:sSub>
                        <m:sSubPr>
                          <m:ctrlPr>
                            <a:rPr lang="en-GB" sz="1400" i="1">
                              <a:latin typeface="Cambria Math" panose="02040503050406030204" pitchFamily="18" charset="0"/>
                              <a:ea typeface="Cambria Math"/>
                            </a:rPr>
                          </m:ctrlPr>
                        </m:sSubPr>
                        <m:e>
                          <m:r>
                            <a:rPr lang="en-GB" sz="1400" i="1">
                              <a:latin typeface="Cambria Math"/>
                              <a:ea typeface="Cambria Math"/>
                            </a:rPr>
                            <m:t>𝜎</m:t>
                          </m:r>
                        </m:e>
                        <m:sub>
                          <m:r>
                            <a:rPr lang="en-GB" sz="1400" i="1">
                              <a:latin typeface="Cambria Math"/>
                              <a:ea typeface="Cambria Math"/>
                            </a:rPr>
                            <m:t>𝑝</m:t>
                          </m:r>
                        </m:sub>
                      </m:sSub>
                      <m:sSub>
                        <m:sSubPr>
                          <m:ctrlPr>
                            <a:rPr lang="en-GB" sz="1400" i="1">
                              <a:latin typeface="Cambria Math" panose="02040503050406030204" pitchFamily="18" charset="0"/>
                            </a:rPr>
                          </m:ctrlPr>
                        </m:sSubPr>
                        <m:e>
                          <m:r>
                            <a:rPr lang="en-GB" sz="1400" i="1">
                              <a:latin typeface="Cambria Math"/>
                            </a:rPr>
                            <m:t>𝑍</m:t>
                          </m:r>
                        </m:e>
                        <m:sub>
                          <m:r>
                            <a:rPr lang="en-GB" sz="1400" i="1">
                              <a:latin typeface="Cambria Math"/>
                            </a:rPr>
                            <m:t>𝑐𝑟𝑖𝑡</m:t>
                          </m:r>
                        </m:sub>
                      </m:sSub>
                    </m:oMath>
                  </m:oMathPara>
                </a14:m>
                <a:endParaRPr lang="en-GB" sz="1400" b="1" dirty="0"/>
              </a:p>
            </p:txBody>
          </p:sp>
        </mc:Choice>
        <mc:Fallback xmlns="">
          <p:sp>
            <p:nvSpPr>
              <p:cNvPr id="40" name="Rectangular Callout 39"/>
              <p:cNvSpPr>
                <a:spLocks noRot="1" noChangeAspect="1" noMove="1" noResize="1" noEditPoints="1" noAdjustHandles="1" noChangeArrowheads="1" noChangeShapeType="1" noTextEdit="1"/>
              </p:cNvSpPr>
              <p:nvPr/>
            </p:nvSpPr>
            <p:spPr>
              <a:xfrm>
                <a:off x="3357852" y="5562767"/>
                <a:ext cx="1726234" cy="444015"/>
              </a:xfrm>
              <a:prstGeom prst="wedgeRectCallout">
                <a:avLst>
                  <a:gd name="adj1" fmla="val 42404"/>
                  <a:gd name="adj2" fmla="val -106451"/>
                </a:avLst>
              </a:prstGeom>
              <a:blipFill>
                <a:blip r:embed="rId7"/>
                <a:stretch>
                  <a:fillRect/>
                </a:stretch>
              </a:blipFill>
              <a:ln>
                <a:solidFill>
                  <a:schemeClr val="bg1">
                    <a:lumMod val="65000"/>
                  </a:schemeClr>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1" name="Rectangular Callout 40"/>
              <p:cNvSpPr/>
              <p:nvPr/>
            </p:nvSpPr>
            <p:spPr>
              <a:xfrm>
                <a:off x="6177252" y="5562767"/>
                <a:ext cx="1726234" cy="444015"/>
              </a:xfrm>
              <a:prstGeom prst="wedgeRectCallout">
                <a:avLst>
                  <a:gd name="adj1" fmla="val -37052"/>
                  <a:gd name="adj2" fmla="val -100510"/>
                </a:avLst>
              </a:prstGeom>
              <a:ln>
                <a:solidFill>
                  <a:schemeClr val="bg1">
                    <a:lumMod val="6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GB" sz="1400" i="1" smtClean="0">
                          <a:latin typeface="Cambria Math"/>
                        </a:rPr>
                        <m:t>𝑝</m:t>
                      </m:r>
                      <m:r>
                        <a:rPr lang="en-GB" sz="1400" b="0" i="1" smtClean="0">
                          <a:latin typeface="Cambria Math"/>
                        </a:rPr>
                        <m:t>+</m:t>
                      </m:r>
                      <m:sSub>
                        <m:sSubPr>
                          <m:ctrlPr>
                            <a:rPr lang="en-GB" sz="1400" i="1">
                              <a:latin typeface="Cambria Math" panose="02040503050406030204" pitchFamily="18" charset="0"/>
                              <a:ea typeface="Cambria Math"/>
                            </a:rPr>
                          </m:ctrlPr>
                        </m:sSubPr>
                        <m:e>
                          <m:r>
                            <a:rPr lang="en-GB" sz="1400" i="1">
                              <a:latin typeface="Cambria Math"/>
                              <a:ea typeface="Cambria Math"/>
                            </a:rPr>
                            <m:t>𝜎</m:t>
                          </m:r>
                        </m:e>
                        <m:sub>
                          <m:r>
                            <a:rPr lang="en-GB" sz="1400" i="1">
                              <a:latin typeface="Cambria Math"/>
                              <a:ea typeface="Cambria Math"/>
                            </a:rPr>
                            <m:t>𝑝</m:t>
                          </m:r>
                        </m:sub>
                      </m:sSub>
                      <m:sSub>
                        <m:sSubPr>
                          <m:ctrlPr>
                            <a:rPr lang="en-GB" sz="1400" i="1">
                              <a:latin typeface="Cambria Math" panose="02040503050406030204" pitchFamily="18" charset="0"/>
                            </a:rPr>
                          </m:ctrlPr>
                        </m:sSubPr>
                        <m:e>
                          <m:r>
                            <a:rPr lang="en-GB" sz="1400" i="1">
                              <a:latin typeface="Cambria Math"/>
                            </a:rPr>
                            <m:t>𝑍</m:t>
                          </m:r>
                        </m:e>
                        <m:sub>
                          <m:r>
                            <a:rPr lang="en-GB" sz="1400" i="1">
                              <a:latin typeface="Cambria Math"/>
                            </a:rPr>
                            <m:t>𝑐𝑟𝑖𝑡</m:t>
                          </m:r>
                        </m:sub>
                      </m:sSub>
                    </m:oMath>
                  </m:oMathPara>
                </a14:m>
                <a:endParaRPr lang="en-GB" sz="1400" b="1" dirty="0"/>
              </a:p>
            </p:txBody>
          </p:sp>
        </mc:Choice>
        <mc:Fallback xmlns="">
          <p:sp>
            <p:nvSpPr>
              <p:cNvPr id="41" name="Rectangular Callout 40"/>
              <p:cNvSpPr>
                <a:spLocks noRot="1" noChangeAspect="1" noMove="1" noResize="1" noEditPoints="1" noAdjustHandles="1" noChangeArrowheads="1" noChangeShapeType="1" noTextEdit="1"/>
              </p:cNvSpPr>
              <p:nvPr/>
            </p:nvSpPr>
            <p:spPr>
              <a:xfrm>
                <a:off x="6177252" y="5562767"/>
                <a:ext cx="1726234" cy="444015"/>
              </a:xfrm>
              <a:prstGeom prst="wedgeRectCallout">
                <a:avLst>
                  <a:gd name="adj1" fmla="val -37052"/>
                  <a:gd name="adj2" fmla="val -100510"/>
                </a:avLst>
              </a:prstGeom>
              <a:blipFill>
                <a:blip r:embed="rId8"/>
                <a:stretch>
                  <a:fillRect/>
                </a:stretch>
              </a:blipFill>
              <a:ln>
                <a:solidFill>
                  <a:schemeClr val="bg1">
                    <a:lumMod val="65000"/>
                  </a:schemeClr>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2" name="Rectangular Callout 41"/>
              <p:cNvSpPr/>
              <p:nvPr/>
            </p:nvSpPr>
            <p:spPr>
              <a:xfrm>
                <a:off x="3357852" y="5543190"/>
                <a:ext cx="1726234" cy="444015"/>
              </a:xfrm>
              <a:prstGeom prst="wedgeRectCallout">
                <a:avLst>
                  <a:gd name="adj1" fmla="val 42404"/>
                  <a:gd name="adj2" fmla="val -106451"/>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GB" sz="1400" i="1" smtClean="0">
                          <a:latin typeface="Cambria Math"/>
                        </a:rPr>
                        <m:t>.4</m:t>
                      </m:r>
                      <m:r>
                        <a:rPr lang="en-GB" sz="1400" b="0" i="1" smtClean="0">
                          <a:latin typeface="Cambria Math"/>
                        </a:rPr>
                        <m:t>−</m:t>
                      </m:r>
                      <m:r>
                        <a:rPr lang="en-GB" sz="1400" i="1">
                          <a:latin typeface="Cambria Math"/>
                          <a:ea typeface="Cambria Math"/>
                        </a:rPr>
                        <m:t>(.0346×</m:t>
                      </m:r>
                      <m:r>
                        <a:rPr lang="en-GB" sz="1400" i="1">
                          <a:latin typeface="Cambria Math"/>
                        </a:rPr>
                        <m:t>1.96)</m:t>
                      </m:r>
                    </m:oMath>
                  </m:oMathPara>
                </a14:m>
                <a:endParaRPr lang="en-GB" sz="1400" b="1" dirty="0"/>
              </a:p>
            </p:txBody>
          </p:sp>
        </mc:Choice>
        <mc:Fallback xmlns="">
          <p:sp>
            <p:nvSpPr>
              <p:cNvPr id="42" name="Rectangular Callout 41"/>
              <p:cNvSpPr>
                <a:spLocks noRot="1" noChangeAspect="1" noMove="1" noResize="1" noEditPoints="1" noAdjustHandles="1" noChangeArrowheads="1" noChangeShapeType="1" noTextEdit="1"/>
              </p:cNvSpPr>
              <p:nvPr/>
            </p:nvSpPr>
            <p:spPr>
              <a:xfrm>
                <a:off x="3357852" y="5543190"/>
                <a:ext cx="1726234" cy="444015"/>
              </a:xfrm>
              <a:prstGeom prst="wedgeRectCallout">
                <a:avLst>
                  <a:gd name="adj1" fmla="val 42404"/>
                  <a:gd name="adj2" fmla="val -106451"/>
                </a:avLst>
              </a:prstGeom>
              <a:blipFill>
                <a:blip r:embed="rId9"/>
                <a:stretch>
                  <a:fillRect/>
                </a:stretch>
              </a:blip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3" name="Rectangular Callout 42"/>
              <p:cNvSpPr/>
              <p:nvPr/>
            </p:nvSpPr>
            <p:spPr>
              <a:xfrm>
                <a:off x="6177252" y="5543190"/>
                <a:ext cx="1726234" cy="444015"/>
              </a:xfrm>
              <a:prstGeom prst="wedgeRectCallout">
                <a:avLst>
                  <a:gd name="adj1" fmla="val -37052"/>
                  <a:gd name="adj2" fmla="val -100510"/>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GB" sz="1400" i="1" smtClean="0">
                          <a:latin typeface="Cambria Math"/>
                        </a:rPr>
                        <m:t>.4</m:t>
                      </m:r>
                      <m:r>
                        <a:rPr lang="en-GB" sz="1400" b="0" i="1" smtClean="0">
                          <a:latin typeface="Cambria Math"/>
                        </a:rPr>
                        <m:t>+</m:t>
                      </m:r>
                      <m:r>
                        <a:rPr lang="en-GB" sz="1400" i="1">
                          <a:latin typeface="Cambria Math"/>
                          <a:ea typeface="Cambria Math"/>
                        </a:rPr>
                        <m:t>(.0346×</m:t>
                      </m:r>
                      <m:r>
                        <a:rPr lang="en-GB" sz="1400" i="1">
                          <a:latin typeface="Cambria Math"/>
                        </a:rPr>
                        <m:t>1.96)</m:t>
                      </m:r>
                    </m:oMath>
                  </m:oMathPara>
                </a14:m>
                <a:endParaRPr lang="en-GB" sz="1400" b="1" dirty="0"/>
              </a:p>
            </p:txBody>
          </p:sp>
        </mc:Choice>
        <mc:Fallback xmlns="">
          <p:sp>
            <p:nvSpPr>
              <p:cNvPr id="43" name="Rectangular Callout 42"/>
              <p:cNvSpPr>
                <a:spLocks noRot="1" noChangeAspect="1" noMove="1" noResize="1" noEditPoints="1" noAdjustHandles="1" noChangeArrowheads="1" noChangeShapeType="1" noTextEdit="1"/>
              </p:cNvSpPr>
              <p:nvPr/>
            </p:nvSpPr>
            <p:spPr>
              <a:xfrm>
                <a:off x="6177252" y="5543190"/>
                <a:ext cx="1726234" cy="444015"/>
              </a:xfrm>
              <a:prstGeom prst="wedgeRectCallout">
                <a:avLst>
                  <a:gd name="adj1" fmla="val -37052"/>
                  <a:gd name="adj2" fmla="val -100510"/>
                </a:avLst>
              </a:prstGeom>
              <a:blipFill>
                <a:blip r:embed="rId10"/>
                <a:stretch>
                  <a:fillRect/>
                </a:stretch>
              </a:blip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5" name="Rectangular Callout 44"/>
              <p:cNvSpPr/>
              <p:nvPr/>
            </p:nvSpPr>
            <p:spPr>
              <a:xfrm>
                <a:off x="3357852" y="5526867"/>
                <a:ext cx="1726234" cy="444015"/>
              </a:xfrm>
              <a:prstGeom prst="wedgeRectCallout">
                <a:avLst>
                  <a:gd name="adj1" fmla="val 42404"/>
                  <a:gd name="adj2" fmla="val -106451"/>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GB" i="1" smtClean="0">
                          <a:latin typeface="Cambria Math"/>
                        </a:rPr>
                        <m:t>.</m:t>
                      </m:r>
                      <m:r>
                        <a:rPr lang="en-GB" b="0" i="1" smtClean="0">
                          <a:latin typeface="Cambria Math"/>
                        </a:rPr>
                        <m:t>3321</m:t>
                      </m:r>
                    </m:oMath>
                  </m:oMathPara>
                </a14:m>
                <a:endParaRPr lang="en-GB" b="1" dirty="0"/>
              </a:p>
            </p:txBody>
          </p:sp>
        </mc:Choice>
        <mc:Fallback xmlns="">
          <p:sp>
            <p:nvSpPr>
              <p:cNvPr id="45" name="Rectangular Callout 44"/>
              <p:cNvSpPr>
                <a:spLocks noRot="1" noChangeAspect="1" noMove="1" noResize="1" noEditPoints="1" noAdjustHandles="1" noChangeArrowheads="1" noChangeShapeType="1" noTextEdit="1"/>
              </p:cNvSpPr>
              <p:nvPr/>
            </p:nvSpPr>
            <p:spPr>
              <a:xfrm>
                <a:off x="3357852" y="5526867"/>
                <a:ext cx="1726234" cy="444015"/>
              </a:xfrm>
              <a:prstGeom prst="wedgeRectCallout">
                <a:avLst>
                  <a:gd name="adj1" fmla="val 42404"/>
                  <a:gd name="adj2" fmla="val -106451"/>
                </a:avLst>
              </a:prstGeom>
              <a:blipFill>
                <a:blip r:embed="rId11"/>
                <a:stretch>
                  <a:fillRect/>
                </a:stretch>
              </a:blip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6" name="Rectangular Callout 45"/>
              <p:cNvSpPr/>
              <p:nvPr/>
            </p:nvSpPr>
            <p:spPr>
              <a:xfrm>
                <a:off x="6177252" y="5526867"/>
                <a:ext cx="1726234" cy="444015"/>
              </a:xfrm>
              <a:prstGeom prst="wedgeRectCallout">
                <a:avLst>
                  <a:gd name="adj1" fmla="val -37052"/>
                  <a:gd name="adj2" fmla="val -100510"/>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GB" i="1" smtClean="0">
                          <a:latin typeface="Cambria Math"/>
                        </a:rPr>
                        <m:t>.4</m:t>
                      </m:r>
                      <m:r>
                        <a:rPr lang="en-GB" b="0" i="1" smtClean="0">
                          <a:latin typeface="Cambria Math"/>
                        </a:rPr>
                        <m:t>679</m:t>
                      </m:r>
                    </m:oMath>
                  </m:oMathPara>
                </a14:m>
                <a:endParaRPr lang="en-GB" b="1" dirty="0"/>
              </a:p>
            </p:txBody>
          </p:sp>
        </mc:Choice>
        <mc:Fallback xmlns="">
          <p:sp>
            <p:nvSpPr>
              <p:cNvPr id="46" name="Rectangular Callout 45"/>
              <p:cNvSpPr>
                <a:spLocks noRot="1" noChangeAspect="1" noMove="1" noResize="1" noEditPoints="1" noAdjustHandles="1" noChangeArrowheads="1" noChangeShapeType="1" noTextEdit="1"/>
              </p:cNvSpPr>
              <p:nvPr/>
            </p:nvSpPr>
            <p:spPr>
              <a:xfrm>
                <a:off x="6177252" y="5526867"/>
                <a:ext cx="1726234" cy="444015"/>
              </a:xfrm>
              <a:prstGeom prst="wedgeRectCallout">
                <a:avLst>
                  <a:gd name="adj1" fmla="val -37052"/>
                  <a:gd name="adj2" fmla="val -100510"/>
                </a:avLst>
              </a:prstGeom>
              <a:blipFill>
                <a:blip r:embed="rId12"/>
                <a:stretch>
                  <a:fillRect/>
                </a:stretch>
              </a:blipFill>
              <a:ln/>
            </p:spPr>
            <p:txBody>
              <a:bodyPr/>
              <a:lstStyle/>
              <a:p>
                <a:r>
                  <a:rPr lang="en-GB">
                    <a:noFill/>
                  </a:rPr>
                  <a:t> </a:t>
                </a:r>
              </a:p>
            </p:txBody>
          </p:sp>
        </mc:Fallback>
      </mc:AlternateContent>
      <p:sp>
        <p:nvSpPr>
          <p:cNvPr id="136193" name="Explosion 1 136192"/>
          <p:cNvSpPr/>
          <p:nvPr/>
        </p:nvSpPr>
        <p:spPr>
          <a:xfrm>
            <a:off x="959127" y="3378434"/>
            <a:ext cx="2819400" cy="1676399"/>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33% - 47%</a:t>
            </a:r>
          </a:p>
        </p:txBody>
      </p:sp>
    </p:spTree>
    <p:extLst>
      <p:ext uri="{BB962C8B-B14F-4D97-AF65-F5344CB8AC3E}">
        <p14:creationId xmlns:p14="http://schemas.microsoft.com/office/powerpoint/2010/main" val="4195755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5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0"/>
                                        </p:tgtEl>
                                        <p:attrNameLst>
                                          <p:attrName>style.visibility</p:attrName>
                                        </p:attrNameLst>
                                      </p:cBhvr>
                                      <p:to>
                                        <p:strVal val="visible"/>
                                      </p:to>
                                    </p:set>
                                    <p:animEffect transition="in" filter="fade">
                                      <p:cBhvr>
                                        <p:cTn id="22" dur="500"/>
                                        <p:tgtEl>
                                          <p:spTgt spid="4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41"/>
                                        </p:tgtEl>
                                        <p:attrNameLst>
                                          <p:attrName>style.visibility</p:attrName>
                                        </p:attrNameLst>
                                      </p:cBhvr>
                                      <p:to>
                                        <p:strVal val="visible"/>
                                      </p:to>
                                    </p:set>
                                    <p:animEffect transition="in" filter="fade">
                                      <p:cBhvr>
                                        <p:cTn id="25" dur="500"/>
                                        <p:tgtEl>
                                          <p:spTgt spid="41"/>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42"/>
                                        </p:tgtEl>
                                        <p:attrNameLst>
                                          <p:attrName>style.visibility</p:attrName>
                                        </p:attrNameLst>
                                      </p:cBhvr>
                                      <p:to>
                                        <p:strVal val="visible"/>
                                      </p:to>
                                    </p:set>
                                    <p:animEffect transition="in" filter="fade">
                                      <p:cBhvr>
                                        <p:cTn id="30" dur="500"/>
                                        <p:tgtEl>
                                          <p:spTgt spid="4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43"/>
                                        </p:tgtEl>
                                        <p:attrNameLst>
                                          <p:attrName>style.visibility</p:attrName>
                                        </p:attrNameLst>
                                      </p:cBhvr>
                                      <p:to>
                                        <p:strVal val="visible"/>
                                      </p:to>
                                    </p:set>
                                    <p:animEffect transition="in" filter="fade">
                                      <p:cBhvr>
                                        <p:cTn id="33" dur="500"/>
                                        <p:tgtEl>
                                          <p:spTgt spid="43"/>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45"/>
                                        </p:tgtEl>
                                        <p:attrNameLst>
                                          <p:attrName>style.visibility</p:attrName>
                                        </p:attrNameLst>
                                      </p:cBhvr>
                                      <p:to>
                                        <p:strVal val="visible"/>
                                      </p:to>
                                    </p:set>
                                    <p:animEffect transition="in" filter="fade">
                                      <p:cBhvr>
                                        <p:cTn id="38" dur="500"/>
                                        <p:tgtEl>
                                          <p:spTgt spid="4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46"/>
                                        </p:tgtEl>
                                        <p:attrNameLst>
                                          <p:attrName>style.visibility</p:attrName>
                                        </p:attrNameLst>
                                      </p:cBhvr>
                                      <p:to>
                                        <p:strVal val="visible"/>
                                      </p:to>
                                    </p:set>
                                    <p:animEffect transition="in" filter="fade">
                                      <p:cBhvr>
                                        <p:cTn id="41" dur="500"/>
                                        <p:tgtEl>
                                          <p:spTgt spid="46"/>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36193"/>
                                        </p:tgtEl>
                                        <p:attrNameLst>
                                          <p:attrName>style.visibility</p:attrName>
                                        </p:attrNameLst>
                                      </p:cBhvr>
                                      <p:to>
                                        <p:strVal val="visible"/>
                                      </p:to>
                                    </p:set>
                                    <p:animEffect transition="in" filter="fade">
                                      <p:cBhvr>
                                        <p:cTn id="46" dur="500"/>
                                        <p:tgtEl>
                                          <p:spTgt spid="1361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4" grpId="0" animBg="1"/>
      <p:bldP spid="40" grpId="0" animBg="1"/>
      <p:bldP spid="41" grpId="0" animBg="1"/>
      <p:bldP spid="42" grpId="0" animBg="1"/>
      <p:bldP spid="43" grpId="0" animBg="1"/>
      <p:bldP spid="45" grpId="0" animBg="1"/>
      <p:bldP spid="46" grpId="0" animBg="1"/>
      <p:bldP spid="13619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p:cNvGrpSpPr/>
          <p:nvPr/>
        </p:nvGrpSpPr>
        <p:grpSpPr>
          <a:xfrm>
            <a:off x="3733800" y="1447800"/>
            <a:ext cx="4098802" cy="844060"/>
            <a:chOff x="4114800" y="3429000"/>
            <a:chExt cx="4098802" cy="844060"/>
          </a:xfrm>
        </p:grpSpPr>
        <p:pic>
          <p:nvPicPr>
            <p:cNvPr id="25" name="Picture 10" descr="http://www.reflectiveresolutions.com/2014/wp-content/uploads/2015/03/BellCurv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17023" y="3429000"/>
              <a:ext cx="3896579" cy="834971"/>
            </a:xfrm>
            <a:prstGeom prst="rect">
              <a:avLst/>
            </a:prstGeom>
            <a:noFill/>
            <a:extLst>
              <a:ext uri="{909E8E84-426E-40DD-AFC4-6F175D3DCCD1}">
                <a14:hiddenFill xmlns:a14="http://schemas.microsoft.com/office/drawing/2010/main">
                  <a:solidFill>
                    <a:srgbClr val="FFFFFF"/>
                  </a:solidFill>
                </a14:hiddenFill>
              </a:ext>
            </a:extLst>
          </p:spPr>
        </p:pic>
        <p:sp>
          <p:nvSpPr>
            <p:cNvPr id="26" name="Rectangle 25"/>
            <p:cNvSpPr/>
            <p:nvPr/>
          </p:nvSpPr>
          <p:spPr>
            <a:xfrm>
              <a:off x="4114800" y="3429000"/>
              <a:ext cx="457200" cy="8440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19812" name="Rectangle 4"/>
          <p:cNvSpPr>
            <a:spLocks noChangeArrowheads="1"/>
          </p:cNvSpPr>
          <p:nvPr/>
        </p:nvSpPr>
        <p:spPr bwMode="auto">
          <a:xfrm>
            <a:off x="285749" y="762000"/>
            <a:ext cx="5890473"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marL="342900" indent="-342900">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marL="0" indent="0">
              <a:buClr>
                <a:srgbClr val="333399"/>
              </a:buClr>
              <a:buSzPct val="200000"/>
              <a:buNone/>
            </a:pPr>
            <a:r>
              <a:rPr lang="en-US" altLang="en-US" sz="2000" dirty="0">
                <a:latin typeface="+mn-lt"/>
              </a:rPr>
              <a:t>We can also determine sample sizes for estimates of a given accuracy and confidence level</a:t>
            </a:r>
          </a:p>
        </p:txBody>
      </p:sp>
      <p:sp>
        <p:nvSpPr>
          <p:cNvPr id="2" name="Title 1"/>
          <p:cNvSpPr>
            <a:spLocks noGrp="1"/>
          </p:cNvSpPr>
          <p:nvPr>
            <p:ph type="title"/>
          </p:nvPr>
        </p:nvSpPr>
        <p:spPr/>
        <p:txBody>
          <a:bodyPr/>
          <a:lstStyle/>
          <a:p>
            <a:r>
              <a:rPr lang="en-GB" dirty="0"/>
              <a:t>Sample size for target confidence level</a:t>
            </a:r>
          </a:p>
        </p:txBody>
      </p:sp>
      <p:grpSp>
        <p:nvGrpSpPr>
          <p:cNvPr id="7" name="Group 6"/>
          <p:cNvGrpSpPr/>
          <p:nvPr/>
        </p:nvGrpSpPr>
        <p:grpSpPr>
          <a:xfrm>
            <a:off x="3866179" y="1469741"/>
            <a:ext cx="4653762" cy="1115199"/>
            <a:chOff x="3262115" y="3429000"/>
            <a:chExt cx="4653762" cy="1115199"/>
          </a:xfrm>
        </p:grpSpPr>
        <p:grpSp>
          <p:nvGrpSpPr>
            <p:cNvPr id="8" name="Group 7"/>
            <p:cNvGrpSpPr/>
            <p:nvPr/>
          </p:nvGrpSpPr>
          <p:grpSpPr>
            <a:xfrm>
              <a:off x="3262115" y="4059116"/>
              <a:ext cx="4653762" cy="485083"/>
              <a:chOff x="3262115" y="4059116"/>
              <a:chExt cx="4653762" cy="485083"/>
            </a:xfrm>
          </p:grpSpPr>
          <p:sp>
            <p:nvSpPr>
              <p:cNvPr id="12" name="Rectangle 11"/>
              <p:cNvSpPr/>
              <p:nvPr/>
            </p:nvSpPr>
            <p:spPr>
              <a:xfrm>
                <a:off x="3405162" y="4167554"/>
                <a:ext cx="4214838" cy="762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GB">
                  <a:solidFill>
                    <a:schemeClr val="accent3">
                      <a:lumMod val="75000"/>
                    </a:schemeClr>
                  </a:solidFill>
                </a:endParaRPr>
              </a:p>
            </p:txBody>
          </p:sp>
          <p:sp>
            <p:nvSpPr>
              <p:cNvPr id="13" name="TextBox 12"/>
              <p:cNvSpPr txBox="1"/>
              <p:nvPr/>
            </p:nvSpPr>
            <p:spPr>
              <a:xfrm>
                <a:off x="3262115" y="4267200"/>
                <a:ext cx="375423" cy="276999"/>
              </a:xfrm>
              <a:prstGeom prst="rect">
                <a:avLst/>
              </a:prstGeom>
              <a:noFill/>
            </p:spPr>
            <p:txBody>
              <a:bodyPr wrap="none" rtlCol="0">
                <a:spAutoFit/>
              </a:bodyPr>
              <a:lstStyle/>
              <a:p>
                <a:pPr algn="ctr"/>
                <a:r>
                  <a:rPr lang="en-GB" sz="1200" dirty="0">
                    <a:solidFill>
                      <a:schemeClr val="accent3">
                        <a:lumMod val="75000"/>
                      </a:schemeClr>
                    </a:solidFill>
                  </a:rPr>
                  <a:t>0%</a:t>
                </a:r>
              </a:p>
            </p:txBody>
          </p:sp>
          <p:sp>
            <p:nvSpPr>
              <p:cNvPr id="14" name="TextBox 13"/>
              <p:cNvSpPr txBox="1"/>
              <p:nvPr/>
            </p:nvSpPr>
            <p:spPr>
              <a:xfrm>
                <a:off x="7383360" y="4267200"/>
                <a:ext cx="532517" cy="276999"/>
              </a:xfrm>
              <a:prstGeom prst="rect">
                <a:avLst/>
              </a:prstGeom>
              <a:noFill/>
            </p:spPr>
            <p:txBody>
              <a:bodyPr wrap="none" rtlCol="0">
                <a:spAutoFit/>
              </a:bodyPr>
              <a:lstStyle/>
              <a:p>
                <a:pPr algn="ctr"/>
                <a:r>
                  <a:rPr lang="en-GB" sz="1200" dirty="0">
                    <a:solidFill>
                      <a:schemeClr val="accent3">
                        <a:lumMod val="75000"/>
                      </a:schemeClr>
                    </a:solidFill>
                  </a:rPr>
                  <a:t>100%</a:t>
                </a:r>
              </a:p>
            </p:txBody>
          </p:sp>
          <p:cxnSp>
            <p:nvCxnSpPr>
              <p:cNvPr id="15" name="Straight Connector 14"/>
              <p:cNvCxnSpPr/>
              <p:nvPr/>
            </p:nvCxnSpPr>
            <p:spPr>
              <a:xfrm>
                <a:off x="3402624" y="4059116"/>
                <a:ext cx="0" cy="190500"/>
              </a:xfrm>
              <a:prstGeom prst="line">
                <a:avLst/>
              </a:prstGeom>
              <a:ln>
                <a:solidFill>
                  <a:schemeClr val="accent3"/>
                </a:solidFill>
              </a:ln>
            </p:spPr>
            <p:style>
              <a:lnRef idx="1">
                <a:schemeClr val="dk1"/>
              </a:lnRef>
              <a:fillRef idx="0">
                <a:schemeClr val="dk1"/>
              </a:fillRef>
              <a:effectRef idx="0">
                <a:schemeClr val="dk1"/>
              </a:effectRef>
              <a:fontRef idx="minor">
                <a:schemeClr val="tx1"/>
              </a:fontRef>
            </p:style>
          </p:cxnSp>
          <p:cxnSp>
            <p:nvCxnSpPr>
              <p:cNvPr id="16" name="Straight Connector 15"/>
              <p:cNvCxnSpPr/>
              <p:nvPr/>
            </p:nvCxnSpPr>
            <p:spPr>
              <a:xfrm>
                <a:off x="7620000" y="4059116"/>
                <a:ext cx="0" cy="190500"/>
              </a:xfrm>
              <a:prstGeom prst="line">
                <a:avLst/>
              </a:prstGeom>
              <a:ln>
                <a:solidFill>
                  <a:schemeClr val="accent3"/>
                </a:solidFill>
              </a:ln>
            </p:spPr>
            <p:style>
              <a:lnRef idx="1">
                <a:schemeClr val="dk1"/>
              </a:lnRef>
              <a:fillRef idx="0">
                <a:schemeClr val="dk1"/>
              </a:fillRef>
              <a:effectRef idx="0">
                <a:schemeClr val="dk1"/>
              </a:effectRef>
              <a:fontRef idx="minor">
                <a:schemeClr val="tx1"/>
              </a:fontRef>
            </p:style>
          </p:cxnSp>
        </p:grpSp>
        <p:grpSp>
          <p:nvGrpSpPr>
            <p:cNvPr id="9" name="Group 8"/>
            <p:cNvGrpSpPr/>
            <p:nvPr/>
          </p:nvGrpSpPr>
          <p:grpSpPr>
            <a:xfrm>
              <a:off x="5077289" y="3429000"/>
              <a:ext cx="336952" cy="1084384"/>
              <a:chOff x="5077289" y="3429000"/>
              <a:chExt cx="336952" cy="1084384"/>
            </a:xfrm>
          </p:grpSpPr>
          <mc:AlternateContent xmlns:mc="http://schemas.openxmlformats.org/markup-compatibility/2006" xmlns:a14="http://schemas.microsoft.com/office/drawing/2010/main">
            <mc:Choice Requires="a14">
              <p:sp>
                <p:nvSpPr>
                  <p:cNvPr id="10" name="TextBox 9"/>
                  <p:cNvSpPr txBox="1"/>
                  <p:nvPr/>
                </p:nvSpPr>
                <p:spPr>
                  <a:xfrm>
                    <a:off x="5077289" y="4205607"/>
                    <a:ext cx="336952" cy="307777"/>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r>
                            <a:rPr lang="en-GB" sz="1400" b="1" i="1" smtClean="0">
                              <a:latin typeface="Cambria Math"/>
                            </a:rPr>
                            <m:t>𝒑</m:t>
                          </m:r>
                        </m:oMath>
                      </m:oMathPara>
                    </a14:m>
                    <a:endParaRPr lang="en-GB" sz="1400" b="1" dirty="0"/>
                  </a:p>
                </p:txBody>
              </p:sp>
            </mc:Choice>
            <mc:Fallback xmlns="">
              <p:sp>
                <p:nvSpPr>
                  <p:cNvPr id="10" name="TextBox 9"/>
                  <p:cNvSpPr txBox="1">
                    <a:spLocks noRot="1" noChangeAspect="1" noMove="1" noResize="1" noEditPoints="1" noAdjustHandles="1" noChangeArrowheads="1" noChangeShapeType="1" noTextEdit="1"/>
                  </p:cNvSpPr>
                  <p:nvPr/>
                </p:nvSpPr>
                <p:spPr>
                  <a:xfrm>
                    <a:off x="5077289" y="4205607"/>
                    <a:ext cx="336952" cy="307777"/>
                  </a:xfrm>
                  <a:prstGeom prst="rect">
                    <a:avLst/>
                  </a:prstGeom>
                  <a:blipFill rotWithShape="1">
                    <a:blip r:embed="rId4"/>
                    <a:stretch>
                      <a:fillRect/>
                    </a:stretch>
                  </a:blipFill>
                </p:spPr>
                <p:txBody>
                  <a:bodyPr/>
                  <a:lstStyle/>
                  <a:p>
                    <a:r>
                      <a:rPr lang="en-GB">
                        <a:noFill/>
                      </a:rPr>
                      <a:t> </a:t>
                    </a:r>
                  </a:p>
                </p:txBody>
              </p:sp>
            </mc:Fallback>
          </mc:AlternateContent>
          <p:cxnSp>
            <p:nvCxnSpPr>
              <p:cNvPr id="11" name="Straight Connector 10"/>
              <p:cNvCxnSpPr/>
              <p:nvPr/>
            </p:nvCxnSpPr>
            <p:spPr>
              <a:xfrm flipV="1">
                <a:off x="5202427" y="3429000"/>
                <a:ext cx="0" cy="820616"/>
              </a:xfrm>
              <a:prstGeom prst="line">
                <a:avLst/>
              </a:prstGeom>
            </p:spPr>
            <p:style>
              <a:lnRef idx="2">
                <a:schemeClr val="dk1"/>
              </a:lnRef>
              <a:fillRef idx="0">
                <a:schemeClr val="dk1"/>
              </a:fillRef>
              <a:effectRef idx="1">
                <a:schemeClr val="dk1"/>
              </a:effectRef>
              <a:fontRef idx="minor">
                <a:schemeClr val="tx1"/>
              </a:fontRef>
            </p:style>
          </p:cxnSp>
        </p:grpSp>
      </p:grpSp>
      <p:grpSp>
        <p:nvGrpSpPr>
          <p:cNvPr id="19" name="Group 18"/>
          <p:cNvGrpSpPr/>
          <p:nvPr/>
        </p:nvGrpSpPr>
        <p:grpSpPr>
          <a:xfrm>
            <a:off x="5102963" y="1811216"/>
            <a:ext cx="1439008" cy="461557"/>
            <a:chOff x="5181600" y="3962400"/>
            <a:chExt cx="1439008" cy="461557"/>
          </a:xfrm>
        </p:grpSpPr>
        <p:grpSp>
          <p:nvGrpSpPr>
            <p:cNvPr id="20" name="Group 19"/>
            <p:cNvGrpSpPr/>
            <p:nvPr/>
          </p:nvGrpSpPr>
          <p:grpSpPr>
            <a:xfrm>
              <a:off x="5181600" y="3962400"/>
              <a:ext cx="1439008" cy="461557"/>
              <a:chOff x="5181600" y="3751384"/>
              <a:chExt cx="1439008" cy="824973"/>
            </a:xfrm>
          </p:grpSpPr>
          <p:cxnSp>
            <p:nvCxnSpPr>
              <p:cNvPr id="22" name="Straight Connector 21"/>
              <p:cNvCxnSpPr/>
              <p:nvPr/>
            </p:nvCxnSpPr>
            <p:spPr>
              <a:xfrm flipV="1">
                <a:off x="5181600" y="3755741"/>
                <a:ext cx="0" cy="820616"/>
              </a:xfrm>
              <a:prstGeom prst="line">
                <a:avLst/>
              </a:prstGeom>
              <a:ln>
                <a:solidFill>
                  <a:schemeClr val="bg1">
                    <a:lumMod val="65000"/>
                  </a:schemeClr>
                </a:solidFill>
              </a:ln>
            </p:spPr>
            <p:style>
              <a:lnRef idx="2">
                <a:schemeClr val="accent4"/>
              </a:lnRef>
              <a:fillRef idx="0">
                <a:schemeClr val="accent4"/>
              </a:fillRef>
              <a:effectRef idx="1">
                <a:schemeClr val="accent4"/>
              </a:effectRef>
              <a:fontRef idx="minor">
                <a:schemeClr val="tx1"/>
              </a:fontRef>
            </p:style>
          </p:cxnSp>
          <p:cxnSp>
            <p:nvCxnSpPr>
              <p:cNvPr id="23" name="Straight Connector 22"/>
              <p:cNvCxnSpPr/>
              <p:nvPr/>
            </p:nvCxnSpPr>
            <p:spPr>
              <a:xfrm flipV="1">
                <a:off x="6620608" y="3751384"/>
                <a:ext cx="0" cy="820616"/>
              </a:xfrm>
              <a:prstGeom prst="line">
                <a:avLst/>
              </a:prstGeom>
              <a:ln>
                <a:solidFill>
                  <a:schemeClr val="bg1">
                    <a:lumMod val="65000"/>
                  </a:schemeClr>
                </a:solidFill>
              </a:ln>
            </p:spPr>
            <p:style>
              <a:lnRef idx="2">
                <a:schemeClr val="accent4"/>
              </a:lnRef>
              <a:fillRef idx="0">
                <a:schemeClr val="accent4"/>
              </a:fillRef>
              <a:effectRef idx="1">
                <a:schemeClr val="accent4"/>
              </a:effectRef>
              <a:fontRef idx="minor">
                <a:schemeClr val="tx1"/>
              </a:fontRef>
            </p:style>
          </p:cxnSp>
        </p:grpSp>
        <p:cxnSp>
          <p:nvCxnSpPr>
            <p:cNvPr id="21" name="Straight Arrow Connector 20"/>
            <p:cNvCxnSpPr/>
            <p:nvPr/>
          </p:nvCxnSpPr>
          <p:spPr>
            <a:xfrm>
              <a:off x="5181600" y="4112362"/>
              <a:ext cx="1438504" cy="2438"/>
            </a:xfrm>
            <a:prstGeom prst="straightConnector1">
              <a:avLst/>
            </a:prstGeom>
            <a:ln w="12700">
              <a:solidFill>
                <a:schemeClr val="bg1">
                  <a:lumMod val="65000"/>
                </a:schemeClr>
              </a:solidFill>
              <a:headEnd type="arrow"/>
              <a:tailEnd type="arrow"/>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32" name="Flowchart: Predefined Process 31"/>
              <p:cNvSpPr/>
              <p:nvPr/>
            </p:nvSpPr>
            <p:spPr>
              <a:xfrm>
                <a:off x="533400" y="2667000"/>
                <a:ext cx="2286000" cy="838200"/>
              </a:xfrm>
              <a:prstGeom prst="flowChartPredefinedProcess">
                <a:avLst/>
              </a:prstGeom>
            </p:spPr>
            <p:style>
              <a:lnRef idx="1">
                <a:schemeClr val="accent4"/>
              </a:lnRef>
              <a:fillRef idx="2">
                <a:schemeClr val="accent4"/>
              </a:fillRef>
              <a:effectRef idx="1">
                <a:schemeClr val="accent4"/>
              </a:effectRef>
              <a:fontRef idx="minor">
                <a:schemeClr val="dk1"/>
              </a:fontRef>
            </p:style>
            <p:txBody>
              <a:bodyPr rtlCol="0" anchor="ctr"/>
              <a:lstStyle/>
              <a:p>
                <a:pPr algn="ctr"/>
                <a14:m>
                  <m:oMath xmlns:m="http://schemas.openxmlformats.org/officeDocument/2006/math">
                    <m:r>
                      <a:rPr lang="en-GB" sz="2400" i="1">
                        <a:latin typeface="Cambria Math"/>
                        <a:ea typeface="Cambria Math"/>
                      </a:rPr>
                      <m:t>±</m:t>
                    </m:r>
                    <m:sSub>
                      <m:sSubPr>
                        <m:ctrlPr>
                          <a:rPr lang="en-GB" sz="2400" i="1">
                            <a:latin typeface="Cambria Math" panose="02040503050406030204" pitchFamily="18" charset="0"/>
                            <a:ea typeface="Cambria Math"/>
                          </a:rPr>
                        </m:ctrlPr>
                      </m:sSubPr>
                      <m:e>
                        <m:r>
                          <a:rPr lang="en-GB" sz="2400" i="1">
                            <a:latin typeface="Cambria Math"/>
                            <a:ea typeface="Cambria Math"/>
                          </a:rPr>
                          <m:t>𝜎</m:t>
                        </m:r>
                      </m:e>
                      <m:sub>
                        <m:r>
                          <a:rPr lang="en-GB" sz="2400" i="1">
                            <a:latin typeface="Cambria Math"/>
                            <a:ea typeface="Cambria Math"/>
                          </a:rPr>
                          <m:t>𝑝</m:t>
                        </m:r>
                      </m:sub>
                    </m:sSub>
                    <m:sSub>
                      <m:sSubPr>
                        <m:ctrlPr>
                          <a:rPr lang="en-GB" sz="2400" b="0" i="1" smtClean="0">
                            <a:latin typeface="Cambria Math" panose="02040503050406030204" pitchFamily="18" charset="0"/>
                          </a:rPr>
                        </m:ctrlPr>
                      </m:sSubPr>
                      <m:e>
                        <m:r>
                          <a:rPr lang="en-GB" sz="2400" b="0" i="1" smtClean="0">
                            <a:latin typeface="Cambria Math"/>
                          </a:rPr>
                          <m:t>𝑍</m:t>
                        </m:r>
                      </m:e>
                      <m:sub>
                        <m:r>
                          <a:rPr lang="en-GB" sz="2400" b="0" i="1" smtClean="0">
                            <a:latin typeface="Cambria Math"/>
                          </a:rPr>
                          <m:t>𝑐𝑟𝑖𝑡</m:t>
                        </m:r>
                      </m:sub>
                    </m:sSub>
                  </m:oMath>
                </a14:m>
                <a:r>
                  <a:rPr lang="en-GB" sz="2400" dirty="0"/>
                  <a:t> </a:t>
                </a:r>
              </a:p>
              <a:p>
                <a:pPr algn="ctr"/>
                <a:r>
                  <a:rPr lang="en-GB" sz="1400" dirty="0"/>
                  <a:t>Confidence Interval</a:t>
                </a:r>
              </a:p>
            </p:txBody>
          </p:sp>
        </mc:Choice>
        <mc:Fallback xmlns="">
          <p:sp>
            <p:nvSpPr>
              <p:cNvPr id="32" name="Flowchart: Predefined Process 31"/>
              <p:cNvSpPr>
                <a:spLocks noRot="1" noChangeAspect="1" noMove="1" noResize="1" noEditPoints="1" noAdjustHandles="1" noChangeArrowheads="1" noChangeShapeType="1" noTextEdit="1"/>
              </p:cNvSpPr>
              <p:nvPr/>
            </p:nvSpPr>
            <p:spPr>
              <a:xfrm>
                <a:off x="533400" y="2667000"/>
                <a:ext cx="2286000" cy="838200"/>
              </a:xfrm>
              <a:prstGeom prst="flowChartPredefinedProcess">
                <a:avLst/>
              </a:prstGeom>
              <a:blipFill rotWithShape="1">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 name="Rectangle 3"/>
              <p:cNvSpPr/>
              <p:nvPr/>
            </p:nvSpPr>
            <p:spPr>
              <a:xfrm>
                <a:off x="6237611" y="2276252"/>
                <a:ext cx="678968" cy="29129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GB" sz="1200" i="1">
                              <a:latin typeface="Cambria Math" panose="02040503050406030204" pitchFamily="18" charset="0"/>
                            </a:rPr>
                          </m:ctrlPr>
                        </m:sSubPr>
                        <m:e>
                          <m:sSub>
                            <m:sSubPr>
                              <m:ctrlPr>
                                <a:rPr lang="en-GB" sz="1200" i="1">
                                  <a:latin typeface="Cambria Math" panose="02040503050406030204" pitchFamily="18" charset="0"/>
                                  <a:ea typeface="Cambria Math"/>
                                </a:rPr>
                              </m:ctrlPr>
                            </m:sSubPr>
                            <m:e>
                              <m:r>
                                <a:rPr lang="en-GB" sz="1200" i="1">
                                  <a:latin typeface="Cambria Math"/>
                                  <a:ea typeface="Cambria Math"/>
                                </a:rPr>
                                <m:t>𝜎</m:t>
                              </m:r>
                            </m:e>
                            <m:sub>
                              <m:r>
                                <a:rPr lang="en-GB" sz="1200" i="1">
                                  <a:latin typeface="Cambria Math"/>
                                  <a:ea typeface="Cambria Math"/>
                                </a:rPr>
                                <m:t>𝑝</m:t>
                              </m:r>
                            </m:sub>
                          </m:sSub>
                          <m:r>
                            <a:rPr lang="en-GB" sz="1200" i="1">
                              <a:latin typeface="Cambria Math"/>
                            </a:rPr>
                            <m:t>𝑍</m:t>
                          </m:r>
                        </m:e>
                        <m:sub>
                          <m:r>
                            <a:rPr lang="en-GB" sz="1200" i="1">
                              <a:latin typeface="Cambria Math"/>
                            </a:rPr>
                            <m:t>𝑐𝑟𝑖𝑡</m:t>
                          </m:r>
                        </m:sub>
                      </m:sSub>
                    </m:oMath>
                  </m:oMathPara>
                </a14:m>
                <a:endParaRPr lang="en-GB" sz="1200" dirty="0"/>
              </a:p>
            </p:txBody>
          </p:sp>
        </mc:Choice>
        <mc:Fallback xmlns="">
          <p:sp>
            <p:nvSpPr>
              <p:cNvPr id="4" name="Rectangle 3"/>
              <p:cNvSpPr>
                <a:spLocks noRot="1" noChangeAspect="1" noMove="1" noResize="1" noEditPoints="1" noAdjustHandles="1" noChangeArrowheads="1" noChangeShapeType="1" noTextEdit="1"/>
              </p:cNvSpPr>
              <p:nvPr/>
            </p:nvSpPr>
            <p:spPr>
              <a:xfrm>
                <a:off x="6237611" y="2276252"/>
                <a:ext cx="678968" cy="291298"/>
              </a:xfrm>
              <a:prstGeom prst="rect">
                <a:avLst/>
              </a:prstGeom>
              <a:blipFill rotWithShape="1">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4" name="Rectangle 33"/>
              <p:cNvSpPr/>
              <p:nvPr/>
            </p:nvSpPr>
            <p:spPr>
              <a:xfrm>
                <a:off x="4768215" y="2276252"/>
                <a:ext cx="794385" cy="29129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GB" sz="1200" i="1" smtClean="0">
                              <a:latin typeface="Cambria Math" panose="02040503050406030204" pitchFamily="18" charset="0"/>
                            </a:rPr>
                          </m:ctrlPr>
                        </m:sSubPr>
                        <m:e>
                          <m:sSub>
                            <m:sSubPr>
                              <m:ctrlPr>
                                <a:rPr lang="en-GB" sz="1200" i="1">
                                  <a:latin typeface="Cambria Math" panose="02040503050406030204" pitchFamily="18" charset="0"/>
                                  <a:ea typeface="Cambria Math"/>
                                </a:rPr>
                              </m:ctrlPr>
                            </m:sSubPr>
                            <m:e>
                              <m:r>
                                <a:rPr lang="en-GB" sz="1200" b="0" i="1" smtClean="0">
                                  <a:latin typeface="Cambria Math"/>
                                  <a:ea typeface="Cambria Math"/>
                                </a:rPr>
                                <m:t>−</m:t>
                              </m:r>
                              <m:r>
                                <a:rPr lang="en-GB" sz="1200" i="1">
                                  <a:latin typeface="Cambria Math"/>
                                  <a:ea typeface="Cambria Math"/>
                                </a:rPr>
                                <m:t>𝜎</m:t>
                              </m:r>
                            </m:e>
                            <m:sub>
                              <m:r>
                                <a:rPr lang="en-GB" sz="1200" i="1">
                                  <a:latin typeface="Cambria Math"/>
                                  <a:ea typeface="Cambria Math"/>
                                </a:rPr>
                                <m:t>𝑝</m:t>
                              </m:r>
                            </m:sub>
                          </m:sSub>
                          <m:r>
                            <a:rPr lang="en-GB" sz="1200" i="1">
                              <a:latin typeface="Cambria Math"/>
                            </a:rPr>
                            <m:t>𝑍</m:t>
                          </m:r>
                        </m:e>
                        <m:sub>
                          <m:r>
                            <a:rPr lang="en-GB" sz="1200" i="1">
                              <a:latin typeface="Cambria Math"/>
                            </a:rPr>
                            <m:t>𝑐𝑟𝑖𝑡</m:t>
                          </m:r>
                        </m:sub>
                      </m:sSub>
                    </m:oMath>
                  </m:oMathPara>
                </a14:m>
                <a:endParaRPr lang="en-GB" sz="1200" dirty="0"/>
              </a:p>
            </p:txBody>
          </p:sp>
        </mc:Choice>
        <mc:Fallback xmlns="">
          <p:sp>
            <p:nvSpPr>
              <p:cNvPr id="34" name="Rectangle 33"/>
              <p:cNvSpPr>
                <a:spLocks noRot="1" noChangeAspect="1" noMove="1" noResize="1" noEditPoints="1" noAdjustHandles="1" noChangeArrowheads="1" noChangeShapeType="1" noTextEdit="1"/>
              </p:cNvSpPr>
              <p:nvPr/>
            </p:nvSpPr>
            <p:spPr>
              <a:xfrm>
                <a:off x="4768215" y="2276252"/>
                <a:ext cx="794385" cy="291298"/>
              </a:xfrm>
              <a:prstGeom prst="rect">
                <a:avLst/>
              </a:prstGeom>
              <a:blipFill rotWithShape="1">
                <a:blip r:embed="rId7"/>
                <a:stretch>
                  <a:fillRect/>
                </a:stretch>
              </a:blipFill>
            </p:spPr>
            <p:txBody>
              <a:bodyPr/>
              <a:lstStyle/>
              <a:p>
                <a:r>
                  <a:rPr lang="en-GB">
                    <a:noFill/>
                  </a:rPr>
                  <a:t> </a:t>
                </a:r>
              </a:p>
            </p:txBody>
          </p:sp>
        </mc:Fallback>
      </mc:AlternateContent>
      <p:grpSp>
        <p:nvGrpSpPr>
          <p:cNvPr id="37" name="Group 36"/>
          <p:cNvGrpSpPr/>
          <p:nvPr/>
        </p:nvGrpSpPr>
        <p:grpSpPr>
          <a:xfrm>
            <a:off x="2700506" y="2844339"/>
            <a:ext cx="2842073" cy="1270461"/>
            <a:chOff x="2700506" y="2844339"/>
            <a:chExt cx="2842073" cy="1270461"/>
          </a:xfrm>
        </p:grpSpPr>
        <mc:AlternateContent xmlns:mc="http://schemas.openxmlformats.org/markup-compatibility/2006" xmlns:a14="http://schemas.microsoft.com/office/drawing/2010/main">
          <mc:Choice Requires="a14">
            <p:sp>
              <p:nvSpPr>
                <p:cNvPr id="31" name="Flowchart: Predefined Process 30"/>
                <p:cNvSpPr/>
                <p:nvPr/>
              </p:nvSpPr>
              <p:spPr>
                <a:xfrm>
                  <a:off x="3256579" y="3276600"/>
                  <a:ext cx="2286000" cy="838200"/>
                </a:xfrm>
                <a:prstGeom prst="flowChartPredefinedProcess">
                  <a:avLst/>
                </a:prstGeom>
              </p:spPr>
              <p:style>
                <a:lnRef idx="1">
                  <a:schemeClr val="accent2"/>
                </a:lnRef>
                <a:fillRef idx="2">
                  <a:schemeClr val="accent2"/>
                </a:fillRef>
                <a:effectRef idx="1">
                  <a:schemeClr val="accent2"/>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GB" sz="1600" i="1">
                                <a:latin typeface="Cambria Math" panose="02040503050406030204" pitchFamily="18" charset="0"/>
                                <a:ea typeface="Cambria Math"/>
                              </a:rPr>
                            </m:ctrlPr>
                          </m:sSubPr>
                          <m:e>
                            <m:r>
                              <a:rPr lang="en-GB" sz="1600" i="1">
                                <a:latin typeface="Cambria Math"/>
                                <a:ea typeface="Cambria Math"/>
                              </a:rPr>
                              <m:t>𝜎</m:t>
                            </m:r>
                          </m:e>
                          <m:sub>
                            <m:r>
                              <a:rPr lang="en-GB" sz="1600" i="1">
                                <a:latin typeface="Cambria Math"/>
                                <a:ea typeface="Cambria Math"/>
                              </a:rPr>
                              <m:t>𝑝</m:t>
                            </m:r>
                          </m:sub>
                        </m:sSub>
                        <m:r>
                          <a:rPr lang="en-GB" sz="1600" i="1">
                            <a:latin typeface="Cambria Math"/>
                            <a:ea typeface="Cambria Math"/>
                          </a:rPr>
                          <m:t>=</m:t>
                        </m:r>
                        <m:rad>
                          <m:radPr>
                            <m:degHide m:val="on"/>
                            <m:ctrlPr>
                              <a:rPr lang="en-GB" sz="1600" i="1">
                                <a:latin typeface="Cambria Math" panose="02040503050406030204" pitchFamily="18" charset="0"/>
                                <a:ea typeface="Cambria Math"/>
                              </a:rPr>
                            </m:ctrlPr>
                          </m:radPr>
                          <m:deg/>
                          <m:e>
                            <m:f>
                              <m:fPr>
                                <m:ctrlPr>
                                  <a:rPr lang="en-GB" sz="1600" i="1">
                                    <a:latin typeface="Cambria Math" panose="02040503050406030204" pitchFamily="18" charset="0"/>
                                    <a:ea typeface="Cambria Math"/>
                                  </a:rPr>
                                </m:ctrlPr>
                              </m:fPr>
                              <m:num>
                                <m:r>
                                  <a:rPr lang="en-GB" sz="1600" i="1">
                                    <a:latin typeface="Cambria Math"/>
                                    <a:ea typeface="Cambria Math"/>
                                  </a:rPr>
                                  <m:t>𝑝</m:t>
                                </m:r>
                                <m:d>
                                  <m:dPr>
                                    <m:ctrlPr>
                                      <a:rPr lang="en-GB" sz="1600" i="1">
                                        <a:latin typeface="Cambria Math" panose="02040503050406030204" pitchFamily="18" charset="0"/>
                                        <a:ea typeface="Cambria Math"/>
                                      </a:rPr>
                                    </m:ctrlPr>
                                  </m:dPr>
                                  <m:e>
                                    <m:r>
                                      <a:rPr lang="en-GB" sz="1600" i="1">
                                        <a:latin typeface="Cambria Math"/>
                                        <a:ea typeface="Cambria Math"/>
                                      </a:rPr>
                                      <m:t>1−</m:t>
                                    </m:r>
                                    <m:r>
                                      <a:rPr lang="en-GB" sz="1600" i="1">
                                        <a:latin typeface="Cambria Math"/>
                                        <a:ea typeface="Cambria Math"/>
                                      </a:rPr>
                                      <m:t>𝑝</m:t>
                                    </m:r>
                                  </m:e>
                                </m:d>
                              </m:num>
                              <m:den>
                                <m:r>
                                  <a:rPr lang="en-GB" sz="1600" i="1">
                                    <a:latin typeface="Cambria Math"/>
                                    <a:ea typeface="Cambria Math"/>
                                  </a:rPr>
                                  <m:t>𝑛</m:t>
                                </m:r>
                              </m:den>
                            </m:f>
                          </m:e>
                        </m:rad>
                      </m:oMath>
                    </m:oMathPara>
                  </a14:m>
                  <a:endParaRPr lang="en-GB" sz="1050" dirty="0"/>
                </a:p>
              </p:txBody>
            </p:sp>
          </mc:Choice>
          <mc:Fallback xmlns="">
            <p:sp>
              <p:nvSpPr>
                <p:cNvPr id="31" name="Flowchart: Predefined Process 30"/>
                <p:cNvSpPr>
                  <a:spLocks noRot="1" noChangeAspect="1" noMove="1" noResize="1" noEditPoints="1" noAdjustHandles="1" noChangeArrowheads="1" noChangeShapeType="1" noTextEdit="1"/>
                </p:cNvSpPr>
                <p:nvPr/>
              </p:nvSpPr>
              <p:spPr>
                <a:xfrm>
                  <a:off x="3256579" y="3276600"/>
                  <a:ext cx="2286000" cy="838200"/>
                </a:xfrm>
                <a:prstGeom prst="flowChartPredefinedProcess">
                  <a:avLst/>
                </a:prstGeom>
                <a:blipFill rotWithShape="1">
                  <a:blip r:embed="rId8"/>
                  <a:stretch>
                    <a:fillRect/>
                  </a:stretch>
                </a:blipFill>
              </p:spPr>
              <p:txBody>
                <a:bodyPr/>
                <a:lstStyle/>
                <a:p>
                  <a:r>
                    <a:rPr lang="en-GB">
                      <a:noFill/>
                    </a:rPr>
                    <a:t> </a:t>
                  </a:r>
                </a:p>
              </p:txBody>
            </p:sp>
          </mc:Fallback>
        </mc:AlternateContent>
        <p:sp>
          <p:nvSpPr>
            <p:cNvPr id="36" name="Curved Down Arrow 35"/>
            <p:cNvSpPr/>
            <p:nvPr/>
          </p:nvSpPr>
          <p:spPr>
            <a:xfrm rot="594112">
              <a:off x="2700506" y="2844339"/>
              <a:ext cx="1219200" cy="495300"/>
            </a:xfrm>
            <a:prstGeom prst="curvedDown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GB">
                <a:solidFill>
                  <a:schemeClr val="tx1"/>
                </a:solidFill>
              </a:endParaRPr>
            </a:p>
          </p:txBody>
        </p:sp>
      </p:grpSp>
      <p:grpSp>
        <p:nvGrpSpPr>
          <p:cNvPr id="38" name="Group 37"/>
          <p:cNvGrpSpPr/>
          <p:nvPr/>
        </p:nvGrpSpPr>
        <p:grpSpPr>
          <a:xfrm>
            <a:off x="5376694" y="3442161"/>
            <a:ext cx="3021175" cy="1282239"/>
            <a:chOff x="5376694" y="3442161"/>
            <a:chExt cx="3021175" cy="1282239"/>
          </a:xfrm>
        </p:grpSpPr>
        <mc:AlternateContent xmlns:mc="http://schemas.openxmlformats.org/markup-compatibility/2006" xmlns:a14="http://schemas.microsoft.com/office/drawing/2010/main">
          <mc:Choice Requires="a14">
            <p:sp>
              <p:nvSpPr>
                <p:cNvPr id="3" name="Flowchart: Predefined Process 2"/>
                <p:cNvSpPr/>
                <p:nvPr/>
              </p:nvSpPr>
              <p:spPr>
                <a:xfrm>
                  <a:off x="6111869" y="3886200"/>
                  <a:ext cx="2286000" cy="838200"/>
                </a:xfrm>
                <a:prstGeom prst="flowChartPredefinedProcess">
                  <a:avLst/>
                </a:prstGeom>
              </p:spPr>
              <p:style>
                <a:lnRef idx="1">
                  <a:schemeClr val="accent1"/>
                </a:lnRef>
                <a:fillRef idx="2">
                  <a:schemeClr val="accent1"/>
                </a:fillRef>
                <a:effectRef idx="1">
                  <a:schemeClr val="accent1"/>
                </a:effectRef>
                <a:fontRef idx="minor">
                  <a:schemeClr val="dk1"/>
                </a:fontRef>
              </p:style>
              <p:txBody>
                <a:bodyPr rtlCol="0" anchor="ctr"/>
                <a:lstStyle/>
                <a:p>
                  <a:pPr algn="ctr"/>
                  <a14:m>
                    <m:oMath xmlns:m="http://schemas.openxmlformats.org/officeDocument/2006/math">
                      <m:r>
                        <a:rPr lang="en-GB" sz="2400" b="0" i="1" smtClean="0">
                          <a:latin typeface="Cambria Math"/>
                        </a:rPr>
                        <m:t>𝑛</m:t>
                      </m:r>
                    </m:oMath>
                  </a14:m>
                  <a:r>
                    <a:rPr lang="en-GB" sz="2400" dirty="0"/>
                    <a:t> </a:t>
                  </a:r>
                </a:p>
                <a:p>
                  <a:pPr algn="ctr"/>
                  <a:r>
                    <a:rPr lang="en-GB" sz="1400" dirty="0"/>
                    <a:t>Number of samples</a:t>
                  </a:r>
                </a:p>
              </p:txBody>
            </p:sp>
          </mc:Choice>
          <mc:Fallback xmlns="">
            <p:sp>
              <p:nvSpPr>
                <p:cNvPr id="3" name="Flowchart: Predefined Process 2"/>
                <p:cNvSpPr>
                  <a:spLocks noRot="1" noChangeAspect="1" noMove="1" noResize="1" noEditPoints="1" noAdjustHandles="1" noChangeArrowheads="1" noChangeShapeType="1" noTextEdit="1"/>
                </p:cNvSpPr>
                <p:nvPr/>
              </p:nvSpPr>
              <p:spPr>
                <a:xfrm>
                  <a:off x="6111869" y="3886200"/>
                  <a:ext cx="2286000" cy="838200"/>
                </a:xfrm>
                <a:prstGeom prst="flowChartPredefinedProcess">
                  <a:avLst/>
                </a:prstGeom>
                <a:blipFill rotWithShape="1">
                  <a:blip r:embed="rId9"/>
                  <a:stretch>
                    <a:fillRect/>
                  </a:stretch>
                </a:blipFill>
              </p:spPr>
              <p:txBody>
                <a:bodyPr/>
                <a:lstStyle/>
                <a:p>
                  <a:r>
                    <a:rPr lang="en-GB">
                      <a:noFill/>
                    </a:rPr>
                    <a:t> </a:t>
                  </a:r>
                </a:p>
              </p:txBody>
            </p:sp>
          </mc:Fallback>
        </mc:AlternateContent>
        <p:sp>
          <p:nvSpPr>
            <p:cNvPr id="39" name="Curved Down Arrow 38"/>
            <p:cNvSpPr/>
            <p:nvPr/>
          </p:nvSpPr>
          <p:spPr>
            <a:xfrm rot="594112">
              <a:off x="5376694" y="3442161"/>
              <a:ext cx="1219200" cy="495300"/>
            </a:xfrm>
            <a:prstGeom prst="curvedDown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solidFill>
                  <a:schemeClr val="tx1"/>
                </a:solidFill>
              </a:endParaRPr>
            </a:p>
          </p:txBody>
        </p:sp>
      </p:grpSp>
    </p:spTree>
    <p:extLst>
      <p:ext uri="{BB962C8B-B14F-4D97-AF65-F5344CB8AC3E}">
        <p14:creationId xmlns:p14="http://schemas.microsoft.com/office/powerpoint/2010/main" val="3742284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7"/>
                                        </p:tgtEl>
                                        <p:attrNameLst>
                                          <p:attrName>style.visibility</p:attrName>
                                        </p:attrNameLst>
                                      </p:cBhvr>
                                      <p:to>
                                        <p:strVal val="visible"/>
                                      </p:to>
                                    </p:set>
                                    <p:animEffect transition="in" filter="fade">
                                      <p:cBhvr>
                                        <p:cTn id="12" dur="500"/>
                                        <p:tgtEl>
                                          <p:spTgt spid="3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8"/>
                                        </p:tgtEl>
                                        <p:attrNameLst>
                                          <p:attrName>style.visibility</p:attrName>
                                        </p:attrNameLst>
                                      </p:cBhvr>
                                      <p:to>
                                        <p:strVal val="visible"/>
                                      </p:to>
                                    </p:set>
                                    <p:animEffect transition="in" filter="fade">
                                      <p:cBhvr>
                                        <p:cTn id="1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Problem 2</a:t>
            </a:r>
          </a:p>
        </p:txBody>
      </p:sp>
      <p:sp>
        <p:nvSpPr>
          <p:cNvPr id="164872" name="Text Box 8"/>
          <p:cNvSpPr txBox="1">
            <a:spLocks noChangeArrowheads="1"/>
          </p:cNvSpPr>
          <p:nvPr/>
        </p:nvSpPr>
        <p:spPr bwMode="auto">
          <a:xfrm>
            <a:off x="304800" y="838200"/>
            <a:ext cx="754380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GB" altLang="en-US" sz="2000" dirty="0"/>
              <a:t>If the </a:t>
            </a:r>
            <a:r>
              <a:rPr lang="en-GB" altLang="en-US" sz="2000" b="1" dirty="0"/>
              <a:t>female population </a:t>
            </a:r>
            <a:r>
              <a:rPr lang="en-GB" altLang="en-US" sz="2000" dirty="0"/>
              <a:t>in the IT industry </a:t>
            </a:r>
            <a:r>
              <a:rPr lang="en-GB" altLang="en-US" sz="2000" b="1" dirty="0"/>
              <a:t>is</a:t>
            </a:r>
            <a:r>
              <a:rPr lang="en-GB" altLang="en-US" sz="2000" dirty="0"/>
              <a:t> roughly </a:t>
            </a:r>
            <a:r>
              <a:rPr lang="en-GB" altLang="en-US" sz="2000" b="1" dirty="0"/>
              <a:t>40%, </a:t>
            </a:r>
            <a:r>
              <a:rPr lang="en-GB" altLang="en-US" sz="2000" dirty="0"/>
              <a:t>and we want to </a:t>
            </a:r>
            <a:r>
              <a:rPr lang="en-GB" altLang="en-US" sz="2000" b="1" dirty="0"/>
              <a:t>collect a sample </a:t>
            </a:r>
            <a:r>
              <a:rPr lang="en-GB" altLang="en-US" sz="2000" dirty="0"/>
              <a:t>that is </a:t>
            </a:r>
            <a:r>
              <a:rPr lang="en-GB" altLang="en-US" sz="2000" b="1" dirty="0"/>
              <a:t>within 5%</a:t>
            </a:r>
            <a:r>
              <a:rPr lang="en-GB" altLang="en-US" sz="2000" dirty="0"/>
              <a:t> </a:t>
            </a:r>
            <a:r>
              <a:rPr lang="en-GB" altLang="en-US" sz="2000" b="1" dirty="0"/>
              <a:t>of</a:t>
            </a:r>
            <a:r>
              <a:rPr lang="en-GB" altLang="en-US" sz="2000" dirty="0"/>
              <a:t> this </a:t>
            </a:r>
            <a:r>
              <a:rPr lang="en-GB" altLang="en-US" sz="2000" b="1" dirty="0"/>
              <a:t>population</a:t>
            </a:r>
            <a:r>
              <a:rPr lang="en-GB" altLang="en-US" sz="2000" dirty="0"/>
              <a:t> percentage, </a:t>
            </a:r>
            <a:r>
              <a:rPr lang="en-GB" altLang="en-US" sz="2000" b="1" dirty="0"/>
              <a:t>what sample size </a:t>
            </a:r>
            <a:r>
              <a:rPr lang="en-GB" altLang="en-US" sz="2000" dirty="0"/>
              <a:t>would we require?</a:t>
            </a:r>
          </a:p>
        </p:txBody>
      </p:sp>
      <mc:AlternateContent xmlns:mc="http://schemas.openxmlformats.org/markup-compatibility/2006" xmlns:a14="http://schemas.microsoft.com/office/drawing/2010/main">
        <mc:Choice Requires="a14">
          <p:sp>
            <p:nvSpPr>
              <p:cNvPr id="4" name="Flowchart: Predefined Process 3"/>
              <p:cNvSpPr/>
              <p:nvPr/>
            </p:nvSpPr>
            <p:spPr>
              <a:xfrm>
                <a:off x="533400" y="2667000"/>
                <a:ext cx="2286000" cy="838200"/>
              </a:xfrm>
              <a:prstGeom prst="flowChartPredefinedProcess">
                <a:avLst/>
              </a:prstGeom>
            </p:spPr>
            <p:style>
              <a:lnRef idx="1">
                <a:schemeClr val="accent4"/>
              </a:lnRef>
              <a:fillRef idx="2">
                <a:schemeClr val="accent4"/>
              </a:fillRef>
              <a:effectRef idx="1">
                <a:schemeClr val="accent4"/>
              </a:effectRef>
              <a:fontRef idx="minor">
                <a:schemeClr val="dk1"/>
              </a:fontRef>
            </p:style>
            <p:txBody>
              <a:bodyPr rtlCol="0" anchor="ctr"/>
              <a:lstStyle/>
              <a:p>
                <a:pPr algn="ctr"/>
                <a14:m>
                  <m:oMath xmlns:m="http://schemas.openxmlformats.org/officeDocument/2006/math">
                    <m:r>
                      <a:rPr lang="en-GB" sz="2400" i="1">
                        <a:latin typeface="Cambria Math"/>
                        <a:ea typeface="Cambria Math"/>
                      </a:rPr>
                      <m:t>±</m:t>
                    </m:r>
                    <m:sSub>
                      <m:sSubPr>
                        <m:ctrlPr>
                          <a:rPr lang="en-GB" sz="2400" i="1">
                            <a:latin typeface="Cambria Math" panose="02040503050406030204" pitchFamily="18" charset="0"/>
                            <a:ea typeface="Cambria Math"/>
                          </a:rPr>
                        </m:ctrlPr>
                      </m:sSubPr>
                      <m:e>
                        <m:r>
                          <a:rPr lang="en-GB" sz="2400" i="1">
                            <a:latin typeface="Cambria Math"/>
                            <a:ea typeface="Cambria Math"/>
                          </a:rPr>
                          <m:t>𝜎</m:t>
                        </m:r>
                      </m:e>
                      <m:sub>
                        <m:r>
                          <a:rPr lang="en-GB" sz="2400" i="1">
                            <a:latin typeface="Cambria Math"/>
                            <a:ea typeface="Cambria Math"/>
                          </a:rPr>
                          <m:t>𝑝</m:t>
                        </m:r>
                      </m:sub>
                    </m:sSub>
                    <m:sSub>
                      <m:sSubPr>
                        <m:ctrlPr>
                          <a:rPr lang="en-GB" sz="2400" b="0" i="1" smtClean="0">
                            <a:latin typeface="Cambria Math" panose="02040503050406030204" pitchFamily="18" charset="0"/>
                          </a:rPr>
                        </m:ctrlPr>
                      </m:sSubPr>
                      <m:e>
                        <m:r>
                          <a:rPr lang="en-GB" sz="2400" b="0" i="1" smtClean="0">
                            <a:latin typeface="Cambria Math"/>
                          </a:rPr>
                          <m:t>𝑍</m:t>
                        </m:r>
                      </m:e>
                      <m:sub>
                        <m:r>
                          <a:rPr lang="en-GB" sz="2400" b="0" i="1" smtClean="0">
                            <a:latin typeface="Cambria Math"/>
                          </a:rPr>
                          <m:t>𝑐𝑟𝑖𝑡</m:t>
                        </m:r>
                      </m:sub>
                    </m:sSub>
                  </m:oMath>
                </a14:m>
                <a:r>
                  <a:rPr lang="en-GB" sz="2400" dirty="0"/>
                  <a:t> </a:t>
                </a:r>
              </a:p>
              <a:p>
                <a:pPr algn="ctr"/>
                <a:r>
                  <a:rPr lang="en-GB" sz="1400" dirty="0"/>
                  <a:t>Confidence Interval</a:t>
                </a:r>
              </a:p>
            </p:txBody>
          </p:sp>
        </mc:Choice>
        <mc:Fallback xmlns="">
          <p:sp>
            <p:nvSpPr>
              <p:cNvPr id="4" name="Flowchart: Predefined Process 3"/>
              <p:cNvSpPr>
                <a:spLocks noRot="1" noChangeAspect="1" noMove="1" noResize="1" noEditPoints="1" noAdjustHandles="1" noChangeArrowheads="1" noChangeShapeType="1" noTextEdit="1"/>
              </p:cNvSpPr>
              <p:nvPr/>
            </p:nvSpPr>
            <p:spPr>
              <a:xfrm>
                <a:off x="533400" y="2667000"/>
                <a:ext cx="2286000" cy="838200"/>
              </a:xfrm>
              <a:prstGeom prst="flowChartPredefinedProcess">
                <a:avLst/>
              </a:prstGeom>
              <a:blipFill rotWithShape="1">
                <a:blip r:embed="rId3"/>
                <a:stretch>
                  <a:fillRect/>
                </a:stretch>
              </a:blipFill>
            </p:spPr>
            <p:txBody>
              <a:bodyPr/>
              <a:lstStyle/>
              <a:p>
                <a:r>
                  <a:rPr lang="en-GB">
                    <a:noFill/>
                  </a:rPr>
                  <a:t> </a:t>
                </a:r>
              </a:p>
            </p:txBody>
          </p:sp>
        </mc:Fallback>
      </mc:AlternateContent>
      <p:grpSp>
        <p:nvGrpSpPr>
          <p:cNvPr id="5" name="Group 4"/>
          <p:cNvGrpSpPr/>
          <p:nvPr/>
        </p:nvGrpSpPr>
        <p:grpSpPr>
          <a:xfrm>
            <a:off x="2700506" y="2844339"/>
            <a:ext cx="2842073" cy="1270461"/>
            <a:chOff x="2700506" y="2844339"/>
            <a:chExt cx="2842073" cy="1270461"/>
          </a:xfrm>
        </p:grpSpPr>
        <mc:AlternateContent xmlns:mc="http://schemas.openxmlformats.org/markup-compatibility/2006" xmlns:a14="http://schemas.microsoft.com/office/drawing/2010/main">
          <mc:Choice Requires="a14">
            <p:sp>
              <p:nvSpPr>
                <p:cNvPr id="6" name="Flowchart: Predefined Process 5"/>
                <p:cNvSpPr/>
                <p:nvPr/>
              </p:nvSpPr>
              <p:spPr>
                <a:xfrm>
                  <a:off x="3256579" y="3276600"/>
                  <a:ext cx="2286000" cy="838200"/>
                </a:xfrm>
                <a:prstGeom prst="flowChartPredefinedProcess">
                  <a:avLst/>
                </a:prstGeom>
              </p:spPr>
              <p:style>
                <a:lnRef idx="1">
                  <a:schemeClr val="accent2"/>
                </a:lnRef>
                <a:fillRef idx="2">
                  <a:schemeClr val="accent2"/>
                </a:fillRef>
                <a:effectRef idx="1">
                  <a:schemeClr val="accent2"/>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GB" sz="1600" i="1">
                                <a:latin typeface="Cambria Math" panose="02040503050406030204" pitchFamily="18" charset="0"/>
                                <a:ea typeface="Cambria Math"/>
                              </a:rPr>
                            </m:ctrlPr>
                          </m:sSubPr>
                          <m:e>
                            <m:r>
                              <a:rPr lang="en-GB" sz="1600" i="1">
                                <a:latin typeface="Cambria Math"/>
                                <a:ea typeface="Cambria Math"/>
                              </a:rPr>
                              <m:t>𝜎</m:t>
                            </m:r>
                          </m:e>
                          <m:sub>
                            <m:r>
                              <a:rPr lang="en-GB" sz="1600" i="1">
                                <a:latin typeface="Cambria Math"/>
                                <a:ea typeface="Cambria Math"/>
                              </a:rPr>
                              <m:t>𝑝</m:t>
                            </m:r>
                          </m:sub>
                        </m:sSub>
                        <m:r>
                          <a:rPr lang="en-GB" sz="1600" i="1">
                            <a:latin typeface="Cambria Math"/>
                            <a:ea typeface="Cambria Math"/>
                          </a:rPr>
                          <m:t>=</m:t>
                        </m:r>
                        <m:rad>
                          <m:radPr>
                            <m:degHide m:val="on"/>
                            <m:ctrlPr>
                              <a:rPr lang="en-GB" sz="1600" i="1">
                                <a:latin typeface="Cambria Math" panose="02040503050406030204" pitchFamily="18" charset="0"/>
                                <a:ea typeface="Cambria Math"/>
                              </a:rPr>
                            </m:ctrlPr>
                          </m:radPr>
                          <m:deg/>
                          <m:e>
                            <m:f>
                              <m:fPr>
                                <m:ctrlPr>
                                  <a:rPr lang="en-GB" sz="1600" i="1">
                                    <a:latin typeface="Cambria Math" panose="02040503050406030204" pitchFamily="18" charset="0"/>
                                    <a:ea typeface="Cambria Math"/>
                                  </a:rPr>
                                </m:ctrlPr>
                              </m:fPr>
                              <m:num>
                                <m:r>
                                  <a:rPr lang="en-GB" sz="1600" i="1">
                                    <a:latin typeface="Cambria Math"/>
                                    <a:ea typeface="Cambria Math"/>
                                  </a:rPr>
                                  <m:t>𝑝</m:t>
                                </m:r>
                                <m:d>
                                  <m:dPr>
                                    <m:ctrlPr>
                                      <a:rPr lang="en-GB" sz="1600" i="1">
                                        <a:latin typeface="Cambria Math" panose="02040503050406030204" pitchFamily="18" charset="0"/>
                                        <a:ea typeface="Cambria Math"/>
                                      </a:rPr>
                                    </m:ctrlPr>
                                  </m:dPr>
                                  <m:e>
                                    <m:r>
                                      <a:rPr lang="en-GB" sz="1600" i="1">
                                        <a:latin typeface="Cambria Math"/>
                                        <a:ea typeface="Cambria Math"/>
                                      </a:rPr>
                                      <m:t>1−</m:t>
                                    </m:r>
                                    <m:r>
                                      <a:rPr lang="en-GB" sz="1600" i="1">
                                        <a:latin typeface="Cambria Math"/>
                                        <a:ea typeface="Cambria Math"/>
                                      </a:rPr>
                                      <m:t>𝑝</m:t>
                                    </m:r>
                                  </m:e>
                                </m:d>
                              </m:num>
                              <m:den>
                                <m:r>
                                  <a:rPr lang="en-GB" sz="1600" i="1">
                                    <a:latin typeface="Cambria Math"/>
                                    <a:ea typeface="Cambria Math"/>
                                  </a:rPr>
                                  <m:t>𝑛</m:t>
                                </m:r>
                              </m:den>
                            </m:f>
                          </m:e>
                        </m:rad>
                      </m:oMath>
                    </m:oMathPara>
                  </a14:m>
                  <a:endParaRPr lang="en-GB" sz="1050" dirty="0"/>
                </a:p>
              </p:txBody>
            </p:sp>
          </mc:Choice>
          <mc:Fallback xmlns="">
            <p:sp>
              <p:nvSpPr>
                <p:cNvPr id="6" name="Flowchart: Predefined Process 5"/>
                <p:cNvSpPr>
                  <a:spLocks noRot="1" noChangeAspect="1" noMove="1" noResize="1" noEditPoints="1" noAdjustHandles="1" noChangeArrowheads="1" noChangeShapeType="1" noTextEdit="1"/>
                </p:cNvSpPr>
                <p:nvPr/>
              </p:nvSpPr>
              <p:spPr>
                <a:xfrm>
                  <a:off x="3256579" y="3276600"/>
                  <a:ext cx="2286000" cy="838200"/>
                </a:xfrm>
                <a:prstGeom prst="flowChartPredefinedProcess">
                  <a:avLst/>
                </a:prstGeom>
                <a:blipFill rotWithShape="1">
                  <a:blip r:embed="rId4"/>
                  <a:stretch>
                    <a:fillRect/>
                  </a:stretch>
                </a:blipFill>
              </p:spPr>
              <p:txBody>
                <a:bodyPr/>
                <a:lstStyle/>
                <a:p>
                  <a:r>
                    <a:rPr lang="en-GB">
                      <a:noFill/>
                    </a:rPr>
                    <a:t> </a:t>
                  </a:r>
                </a:p>
              </p:txBody>
            </p:sp>
          </mc:Fallback>
        </mc:AlternateContent>
        <p:sp>
          <p:nvSpPr>
            <p:cNvPr id="7" name="Curved Down Arrow 6"/>
            <p:cNvSpPr/>
            <p:nvPr/>
          </p:nvSpPr>
          <p:spPr>
            <a:xfrm rot="594112">
              <a:off x="2700506" y="2844339"/>
              <a:ext cx="1219200" cy="495300"/>
            </a:xfrm>
            <a:prstGeom prst="curvedDown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GB">
                <a:solidFill>
                  <a:schemeClr val="tx1"/>
                </a:solidFill>
              </a:endParaRPr>
            </a:p>
          </p:txBody>
        </p:sp>
      </p:grpSp>
      <p:grpSp>
        <p:nvGrpSpPr>
          <p:cNvPr id="8" name="Group 7"/>
          <p:cNvGrpSpPr/>
          <p:nvPr/>
        </p:nvGrpSpPr>
        <p:grpSpPr>
          <a:xfrm>
            <a:off x="5376694" y="3442161"/>
            <a:ext cx="3021175" cy="1282239"/>
            <a:chOff x="5376694" y="3442161"/>
            <a:chExt cx="3021175" cy="1282239"/>
          </a:xfrm>
        </p:grpSpPr>
        <mc:AlternateContent xmlns:mc="http://schemas.openxmlformats.org/markup-compatibility/2006" xmlns:a14="http://schemas.microsoft.com/office/drawing/2010/main">
          <mc:Choice Requires="a14">
            <p:sp>
              <p:nvSpPr>
                <p:cNvPr id="9" name="Flowchart: Predefined Process 8"/>
                <p:cNvSpPr/>
                <p:nvPr/>
              </p:nvSpPr>
              <p:spPr>
                <a:xfrm>
                  <a:off x="6111869" y="3886200"/>
                  <a:ext cx="2286000" cy="838200"/>
                </a:xfrm>
                <a:prstGeom prst="flowChartPredefinedProcess">
                  <a:avLst/>
                </a:prstGeom>
              </p:spPr>
              <p:style>
                <a:lnRef idx="1">
                  <a:schemeClr val="accent1"/>
                </a:lnRef>
                <a:fillRef idx="2">
                  <a:schemeClr val="accent1"/>
                </a:fillRef>
                <a:effectRef idx="1">
                  <a:schemeClr val="accent1"/>
                </a:effectRef>
                <a:fontRef idx="minor">
                  <a:schemeClr val="dk1"/>
                </a:fontRef>
              </p:style>
              <p:txBody>
                <a:bodyPr rtlCol="0" anchor="ctr"/>
                <a:lstStyle/>
                <a:p>
                  <a:pPr algn="ctr"/>
                  <a14:m>
                    <m:oMath xmlns:m="http://schemas.openxmlformats.org/officeDocument/2006/math">
                      <m:r>
                        <a:rPr lang="en-GB" sz="2400" b="0" i="1" smtClean="0">
                          <a:latin typeface="Cambria Math"/>
                        </a:rPr>
                        <m:t>𝑛</m:t>
                      </m:r>
                    </m:oMath>
                  </a14:m>
                  <a:r>
                    <a:rPr lang="en-GB" sz="2400" dirty="0"/>
                    <a:t> </a:t>
                  </a:r>
                </a:p>
                <a:p>
                  <a:pPr algn="ctr"/>
                  <a:r>
                    <a:rPr lang="en-GB" sz="1400" dirty="0"/>
                    <a:t>Number of samples</a:t>
                  </a:r>
                </a:p>
              </p:txBody>
            </p:sp>
          </mc:Choice>
          <mc:Fallback xmlns="">
            <p:sp>
              <p:nvSpPr>
                <p:cNvPr id="9" name="Flowchart: Predefined Process 8"/>
                <p:cNvSpPr>
                  <a:spLocks noRot="1" noChangeAspect="1" noMove="1" noResize="1" noEditPoints="1" noAdjustHandles="1" noChangeArrowheads="1" noChangeShapeType="1" noTextEdit="1"/>
                </p:cNvSpPr>
                <p:nvPr/>
              </p:nvSpPr>
              <p:spPr>
                <a:xfrm>
                  <a:off x="6111869" y="3886200"/>
                  <a:ext cx="2286000" cy="838200"/>
                </a:xfrm>
                <a:prstGeom prst="flowChartPredefinedProcess">
                  <a:avLst/>
                </a:prstGeom>
                <a:blipFill rotWithShape="1">
                  <a:blip r:embed="rId5"/>
                  <a:stretch>
                    <a:fillRect/>
                  </a:stretch>
                </a:blipFill>
              </p:spPr>
              <p:txBody>
                <a:bodyPr/>
                <a:lstStyle/>
                <a:p>
                  <a:r>
                    <a:rPr lang="en-GB">
                      <a:noFill/>
                    </a:rPr>
                    <a:t> </a:t>
                  </a:r>
                </a:p>
              </p:txBody>
            </p:sp>
          </mc:Fallback>
        </mc:AlternateContent>
        <p:sp>
          <p:nvSpPr>
            <p:cNvPr id="10" name="Curved Down Arrow 9"/>
            <p:cNvSpPr/>
            <p:nvPr/>
          </p:nvSpPr>
          <p:spPr>
            <a:xfrm rot="594112">
              <a:off x="5376694" y="3442161"/>
              <a:ext cx="1219200" cy="495300"/>
            </a:xfrm>
            <a:prstGeom prst="curvedDown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solidFill>
                  <a:schemeClr val="tx1"/>
                </a:solidFill>
              </a:endParaRPr>
            </a:p>
          </p:txBody>
        </p:sp>
      </p:grpSp>
    </p:spTree>
    <p:extLst>
      <p:ext uri="{BB962C8B-B14F-4D97-AF65-F5344CB8AC3E}">
        <p14:creationId xmlns:p14="http://schemas.microsoft.com/office/powerpoint/2010/main" val="38159629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Problem 2</a:t>
            </a:r>
          </a:p>
        </p:txBody>
      </p:sp>
      <p:sp>
        <p:nvSpPr>
          <p:cNvPr id="164872" name="Text Box 8"/>
          <p:cNvSpPr txBox="1">
            <a:spLocks noChangeArrowheads="1"/>
          </p:cNvSpPr>
          <p:nvPr/>
        </p:nvSpPr>
        <p:spPr bwMode="auto">
          <a:xfrm>
            <a:off x="304800" y="838200"/>
            <a:ext cx="754380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GB" altLang="en-US" sz="2000" dirty="0"/>
              <a:t>If the </a:t>
            </a:r>
            <a:r>
              <a:rPr lang="en-GB" altLang="en-US" sz="2000" b="1" dirty="0"/>
              <a:t>female population </a:t>
            </a:r>
            <a:r>
              <a:rPr lang="en-GB" altLang="en-US" sz="2000" dirty="0"/>
              <a:t>in the IT industry </a:t>
            </a:r>
            <a:r>
              <a:rPr lang="en-GB" altLang="en-US" sz="2000" b="1" dirty="0"/>
              <a:t>is</a:t>
            </a:r>
            <a:r>
              <a:rPr lang="en-GB" altLang="en-US" sz="2000" dirty="0"/>
              <a:t> roughly </a:t>
            </a:r>
            <a:r>
              <a:rPr lang="en-GB" altLang="en-US" sz="2000" b="1" dirty="0"/>
              <a:t>40%, </a:t>
            </a:r>
            <a:r>
              <a:rPr lang="en-GB" altLang="en-US" sz="2000" dirty="0"/>
              <a:t>and we want to </a:t>
            </a:r>
            <a:r>
              <a:rPr lang="en-GB" altLang="en-US" sz="2000" b="1" dirty="0"/>
              <a:t>collect a sample </a:t>
            </a:r>
            <a:r>
              <a:rPr lang="en-GB" altLang="en-US" sz="2000" dirty="0"/>
              <a:t>that is </a:t>
            </a:r>
            <a:r>
              <a:rPr lang="en-GB" altLang="en-US" sz="2000" b="1" dirty="0"/>
              <a:t>within 5%</a:t>
            </a:r>
            <a:r>
              <a:rPr lang="en-GB" altLang="en-US" sz="2000" dirty="0"/>
              <a:t> </a:t>
            </a:r>
            <a:r>
              <a:rPr lang="en-GB" altLang="en-US" sz="2000" b="1" dirty="0"/>
              <a:t>of</a:t>
            </a:r>
            <a:r>
              <a:rPr lang="en-GB" altLang="en-US" sz="2000" dirty="0"/>
              <a:t> this </a:t>
            </a:r>
            <a:r>
              <a:rPr lang="en-GB" altLang="en-US" sz="2000" b="1" dirty="0"/>
              <a:t>population</a:t>
            </a:r>
            <a:r>
              <a:rPr lang="en-GB" altLang="en-US" sz="2000" dirty="0"/>
              <a:t> percentage, </a:t>
            </a:r>
            <a:r>
              <a:rPr lang="en-GB" altLang="en-US" sz="2000" b="1" dirty="0"/>
              <a:t>what sample size </a:t>
            </a:r>
            <a:r>
              <a:rPr lang="en-GB" altLang="en-US" sz="2000" dirty="0"/>
              <a:t>would we require?</a:t>
            </a:r>
          </a:p>
        </p:txBody>
      </p:sp>
      <p:grpSp>
        <p:nvGrpSpPr>
          <p:cNvPr id="31" name="Group 30"/>
          <p:cNvGrpSpPr/>
          <p:nvPr/>
        </p:nvGrpSpPr>
        <p:grpSpPr>
          <a:xfrm>
            <a:off x="1685827" y="2286000"/>
            <a:ext cx="5629373" cy="2667000"/>
            <a:chOff x="1685827" y="2286000"/>
            <a:chExt cx="5629373" cy="2667000"/>
          </a:xfrm>
        </p:grpSpPr>
        <p:grpSp>
          <p:nvGrpSpPr>
            <p:cNvPr id="32" name="Group 31"/>
            <p:cNvGrpSpPr/>
            <p:nvPr/>
          </p:nvGrpSpPr>
          <p:grpSpPr>
            <a:xfrm>
              <a:off x="1685827" y="2286000"/>
              <a:ext cx="5629373" cy="2667000"/>
              <a:chOff x="1685827" y="2286000"/>
              <a:chExt cx="5629373" cy="2667000"/>
            </a:xfrm>
          </p:grpSpPr>
          <p:cxnSp>
            <p:nvCxnSpPr>
              <p:cNvPr id="34" name="Straight Arrow Connector 33"/>
              <p:cNvCxnSpPr/>
              <p:nvPr/>
            </p:nvCxnSpPr>
            <p:spPr>
              <a:xfrm>
                <a:off x="1685827" y="2286000"/>
                <a:ext cx="0" cy="2667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a:off x="7315200" y="2286000"/>
                <a:ext cx="0" cy="174317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6" name="Elbow Connector 35"/>
              <p:cNvCxnSpPr/>
              <p:nvPr/>
            </p:nvCxnSpPr>
            <p:spPr>
              <a:xfrm flipV="1">
                <a:off x="1685827" y="2286000"/>
                <a:ext cx="2809973" cy="2667000"/>
              </a:xfrm>
              <a:prstGeom prst="bentConnector3">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7" name="Elbow Connector 36"/>
              <p:cNvCxnSpPr/>
              <p:nvPr/>
            </p:nvCxnSpPr>
            <p:spPr>
              <a:xfrm flipV="1">
                <a:off x="4495800" y="2286000"/>
                <a:ext cx="2819400" cy="2667000"/>
              </a:xfrm>
              <a:prstGeom prst="bentConnector3">
                <a:avLst/>
              </a:prstGeom>
              <a:ln>
                <a:tailEnd type="arrow"/>
              </a:ln>
            </p:spPr>
            <p:style>
              <a:lnRef idx="1">
                <a:schemeClr val="accent1"/>
              </a:lnRef>
              <a:fillRef idx="0">
                <a:schemeClr val="accent1"/>
              </a:fillRef>
              <a:effectRef idx="0">
                <a:schemeClr val="accent1"/>
              </a:effectRef>
              <a:fontRef idx="minor">
                <a:schemeClr val="tx1"/>
              </a:fontRef>
            </p:style>
          </p:cxnSp>
        </p:grpSp>
        <p:cxnSp>
          <p:nvCxnSpPr>
            <p:cNvPr id="33" name="Straight Arrow Connector 32"/>
            <p:cNvCxnSpPr/>
            <p:nvPr/>
          </p:nvCxnSpPr>
          <p:spPr>
            <a:xfrm>
              <a:off x="4495800" y="2286000"/>
              <a:ext cx="0" cy="2667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38" name="Flowchart: Predefined Process 37"/>
              <p:cNvSpPr/>
              <p:nvPr/>
            </p:nvSpPr>
            <p:spPr>
              <a:xfrm>
                <a:off x="542827" y="2399336"/>
                <a:ext cx="2286000" cy="428919"/>
              </a:xfrm>
              <a:prstGeom prst="flowChartPredefinedProcess">
                <a:avLst/>
              </a:prstGeom>
            </p:spPr>
            <p:style>
              <a:lnRef idx="1">
                <a:schemeClr val="accent4"/>
              </a:lnRef>
              <a:fillRef idx="2">
                <a:schemeClr val="accent4"/>
              </a:fillRef>
              <a:effectRef idx="1">
                <a:schemeClr val="accent4"/>
              </a:effectRef>
              <a:fontRef idx="minor">
                <a:schemeClr val="dk1"/>
              </a:fontRef>
            </p:style>
            <p:txBody>
              <a:bodyPr rtlCol="0" anchor="ctr"/>
              <a:lstStyle/>
              <a:p>
                <a:pPr algn="ctr"/>
                <a14:m>
                  <m:oMath xmlns:m="http://schemas.openxmlformats.org/officeDocument/2006/math">
                    <m:sSub>
                      <m:sSubPr>
                        <m:ctrlPr>
                          <a:rPr lang="en-GB" sz="2400" i="1" smtClean="0">
                            <a:latin typeface="Cambria Math" panose="02040503050406030204" pitchFamily="18" charset="0"/>
                            <a:ea typeface="Cambria Math"/>
                          </a:rPr>
                        </m:ctrlPr>
                      </m:sSubPr>
                      <m:e>
                        <m:r>
                          <a:rPr lang="en-GB" sz="2400" i="1">
                            <a:latin typeface="Cambria Math"/>
                            <a:ea typeface="Cambria Math"/>
                          </a:rPr>
                          <m:t>𝜎</m:t>
                        </m:r>
                      </m:e>
                      <m:sub>
                        <m:r>
                          <a:rPr lang="en-GB" sz="2400" b="0" i="1" smtClean="0">
                            <a:latin typeface="Cambria Math"/>
                            <a:ea typeface="Cambria Math"/>
                          </a:rPr>
                          <m:t>𝑝</m:t>
                        </m:r>
                      </m:sub>
                    </m:sSub>
                    <m:sSub>
                      <m:sSubPr>
                        <m:ctrlPr>
                          <a:rPr lang="en-GB" sz="2400" b="0" i="1" smtClean="0">
                            <a:latin typeface="Cambria Math" panose="02040503050406030204" pitchFamily="18" charset="0"/>
                          </a:rPr>
                        </m:ctrlPr>
                      </m:sSubPr>
                      <m:e>
                        <m:r>
                          <a:rPr lang="en-GB" sz="2400" b="0" i="1" smtClean="0">
                            <a:latin typeface="Cambria Math"/>
                          </a:rPr>
                          <m:t>𝑍</m:t>
                        </m:r>
                      </m:e>
                      <m:sub>
                        <m:r>
                          <a:rPr lang="en-GB" sz="2400" b="0" i="1" smtClean="0">
                            <a:latin typeface="Cambria Math"/>
                          </a:rPr>
                          <m:t>𝑐𝑟𝑖𝑡</m:t>
                        </m:r>
                      </m:sub>
                    </m:sSub>
                  </m:oMath>
                </a14:m>
                <a:r>
                  <a:rPr lang="en-GB" sz="2400" b="1" dirty="0"/>
                  <a:t>=.05</a:t>
                </a:r>
                <a:r>
                  <a:rPr lang="en-GB" sz="2400" dirty="0"/>
                  <a:t> </a:t>
                </a:r>
              </a:p>
            </p:txBody>
          </p:sp>
        </mc:Choice>
        <mc:Fallback xmlns="">
          <p:sp>
            <p:nvSpPr>
              <p:cNvPr id="38" name="Flowchart: Predefined Process 37"/>
              <p:cNvSpPr>
                <a:spLocks noRot="1" noChangeAspect="1" noMove="1" noResize="1" noEditPoints="1" noAdjustHandles="1" noChangeArrowheads="1" noChangeShapeType="1" noTextEdit="1"/>
              </p:cNvSpPr>
              <p:nvPr/>
            </p:nvSpPr>
            <p:spPr>
              <a:xfrm>
                <a:off x="542827" y="2399336"/>
                <a:ext cx="2286000" cy="428919"/>
              </a:xfrm>
              <a:prstGeom prst="flowChartPredefinedProcess">
                <a:avLst/>
              </a:prstGeom>
              <a:blipFill rotWithShape="1">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9" name="Flowchart: Predefined Process 38"/>
              <p:cNvSpPr/>
              <p:nvPr/>
            </p:nvSpPr>
            <p:spPr>
              <a:xfrm>
                <a:off x="542827" y="3002842"/>
                <a:ext cx="2286000" cy="428919"/>
              </a:xfrm>
              <a:prstGeom prst="flowChartPredefinedProcess">
                <a:avLst/>
              </a:prstGeom>
            </p:spPr>
            <p:style>
              <a:lnRef idx="1">
                <a:schemeClr val="accent4"/>
              </a:lnRef>
              <a:fillRef idx="2">
                <a:schemeClr val="accent4"/>
              </a:fillRef>
              <a:effectRef idx="1">
                <a:schemeClr val="accent4"/>
              </a:effectRef>
              <a:fontRef idx="minor">
                <a:schemeClr val="dk1"/>
              </a:fontRef>
            </p:style>
            <p:txBody>
              <a:bodyPr rtlCol="0" anchor="ctr"/>
              <a:lstStyle/>
              <a:p>
                <a:pPr algn="ctr"/>
                <a14:m>
                  <m:oMath xmlns:m="http://schemas.openxmlformats.org/officeDocument/2006/math">
                    <m:sSub>
                      <m:sSubPr>
                        <m:ctrlPr>
                          <a:rPr lang="en-GB" sz="2400" i="1" smtClean="0">
                            <a:latin typeface="Cambria Math" panose="02040503050406030204" pitchFamily="18" charset="0"/>
                            <a:ea typeface="Cambria Math"/>
                          </a:rPr>
                        </m:ctrlPr>
                      </m:sSubPr>
                      <m:e>
                        <m:r>
                          <a:rPr lang="en-GB" sz="2400" i="1">
                            <a:latin typeface="Cambria Math"/>
                            <a:ea typeface="Cambria Math"/>
                          </a:rPr>
                          <m:t>𝜎</m:t>
                        </m:r>
                      </m:e>
                      <m:sub>
                        <m:r>
                          <a:rPr lang="en-GB" sz="2400" b="0" i="1" smtClean="0">
                            <a:latin typeface="Cambria Math"/>
                            <a:ea typeface="Cambria Math"/>
                          </a:rPr>
                          <m:t>𝑝</m:t>
                        </m:r>
                      </m:sub>
                    </m:sSub>
                  </m:oMath>
                </a14:m>
                <a:r>
                  <a:rPr lang="en-GB" sz="2400" b="1" dirty="0"/>
                  <a:t>1.96=.05</a:t>
                </a:r>
                <a:r>
                  <a:rPr lang="en-GB" sz="2400" dirty="0"/>
                  <a:t> </a:t>
                </a:r>
              </a:p>
            </p:txBody>
          </p:sp>
        </mc:Choice>
        <mc:Fallback xmlns="">
          <p:sp>
            <p:nvSpPr>
              <p:cNvPr id="39" name="Flowchart: Predefined Process 38"/>
              <p:cNvSpPr>
                <a:spLocks noRot="1" noChangeAspect="1" noMove="1" noResize="1" noEditPoints="1" noAdjustHandles="1" noChangeArrowheads="1" noChangeShapeType="1" noTextEdit="1"/>
              </p:cNvSpPr>
              <p:nvPr/>
            </p:nvSpPr>
            <p:spPr>
              <a:xfrm>
                <a:off x="542827" y="3002842"/>
                <a:ext cx="2286000" cy="428919"/>
              </a:xfrm>
              <a:prstGeom prst="flowChartPredefinedProcess">
                <a:avLst/>
              </a:prstGeom>
              <a:blipFill rotWithShape="1">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0" name="Flowchart: Predefined Process 39"/>
              <p:cNvSpPr/>
              <p:nvPr/>
            </p:nvSpPr>
            <p:spPr>
              <a:xfrm>
                <a:off x="542827" y="3606348"/>
                <a:ext cx="2286000" cy="428919"/>
              </a:xfrm>
              <a:prstGeom prst="flowChartPredefinedProcess">
                <a:avLst/>
              </a:prstGeom>
            </p:spPr>
            <p:style>
              <a:lnRef idx="1">
                <a:schemeClr val="accent4"/>
              </a:lnRef>
              <a:fillRef idx="2">
                <a:schemeClr val="accent4"/>
              </a:fillRef>
              <a:effectRef idx="1">
                <a:schemeClr val="accent4"/>
              </a:effectRef>
              <a:fontRef idx="minor">
                <a:schemeClr val="dk1"/>
              </a:fontRef>
            </p:style>
            <p:txBody>
              <a:bodyPr rtlCol="0" anchor="ctr"/>
              <a:lstStyle/>
              <a:p>
                <a:pPr algn="ctr"/>
                <a14:m>
                  <m:oMath xmlns:m="http://schemas.openxmlformats.org/officeDocument/2006/math">
                    <m:sSub>
                      <m:sSubPr>
                        <m:ctrlPr>
                          <a:rPr lang="en-GB" sz="2400" i="1" smtClean="0">
                            <a:latin typeface="Cambria Math" panose="02040503050406030204" pitchFamily="18" charset="0"/>
                            <a:ea typeface="Cambria Math"/>
                          </a:rPr>
                        </m:ctrlPr>
                      </m:sSubPr>
                      <m:e>
                        <m:r>
                          <a:rPr lang="en-GB" sz="2400" i="1">
                            <a:latin typeface="Cambria Math"/>
                            <a:ea typeface="Cambria Math"/>
                          </a:rPr>
                          <m:t>𝜎</m:t>
                        </m:r>
                      </m:e>
                      <m:sub>
                        <m:r>
                          <a:rPr lang="en-GB" sz="2400" b="0" i="1" smtClean="0">
                            <a:latin typeface="Cambria Math"/>
                            <a:ea typeface="Cambria Math"/>
                          </a:rPr>
                          <m:t>𝑝</m:t>
                        </m:r>
                      </m:sub>
                    </m:sSub>
                  </m:oMath>
                </a14:m>
                <a:r>
                  <a:rPr lang="en-GB" sz="2400" b="1" dirty="0"/>
                  <a:t>=.05/1.96</a:t>
                </a:r>
                <a:r>
                  <a:rPr lang="en-GB" sz="2400" dirty="0"/>
                  <a:t> </a:t>
                </a:r>
              </a:p>
            </p:txBody>
          </p:sp>
        </mc:Choice>
        <mc:Fallback xmlns="">
          <p:sp>
            <p:nvSpPr>
              <p:cNvPr id="40" name="Flowchart: Predefined Process 39"/>
              <p:cNvSpPr>
                <a:spLocks noRot="1" noChangeAspect="1" noMove="1" noResize="1" noEditPoints="1" noAdjustHandles="1" noChangeArrowheads="1" noChangeShapeType="1" noTextEdit="1"/>
              </p:cNvSpPr>
              <p:nvPr/>
            </p:nvSpPr>
            <p:spPr>
              <a:xfrm>
                <a:off x="542827" y="3606348"/>
                <a:ext cx="2286000" cy="428919"/>
              </a:xfrm>
              <a:prstGeom prst="flowChartPredefinedProcess">
                <a:avLst/>
              </a:prstGeom>
              <a:blipFill rotWithShape="1">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1" name="Flowchart: Predefined Process 40"/>
              <p:cNvSpPr/>
              <p:nvPr/>
            </p:nvSpPr>
            <p:spPr>
              <a:xfrm>
                <a:off x="542827" y="4209854"/>
                <a:ext cx="2286000" cy="428919"/>
              </a:xfrm>
              <a:prstGeom prst="flowChartPredefinedProcess">
                <a:avLst/>
              </a:prstGeom>
            </p:spPr>
            <p:style>
              <a:lnRef idx="1">
                <a:schemeClr val="accent4"/>
              </a:lnRef>
              <a:fillRef idx="2">
                <a:schemeClr val="accent4"/>
              </a:fillRef>
              <a:effectRef idx="1">
                <a:schemeClr val="accent4"/>
              </a:effectRef>
              <a:fontRef idx="minor">
                <a:schemeClr val="dk1"/>
              </a:fontRef>
            </p:style>
            <p:txBody>
              <a:bodyPr rtlCol="0" anchor="ctr"/>
              <a:lstStyle/>
              <a:p>
                <a:pPr algn="ctr"/>
                <a14:m>
                  <m:oMath xmlns:m="http://schemas.openxmlformats.org/officeDocument/2006/math">
                    <m:sSub>
                      <m:sSubPr>
                        <m:ctrlPr>
                          <a:rPr lang="en-GB" sz="2400" i="1" smtClean="0">
                            <a:latin typeface="Cambria Math" panose="02040503050406030204" pitchFamily="18" charset="0"/>
                            <a:ea typeface="Cambria Math"/>
                          </a:rPr>
                        </m:ctrlPr>
                      </m:sSubPr>
                      <m:e>
                        <m:r>
                          <a:rPr lang="en-GB" sz="2400" i="1">
                            <a:latin typeface="Cambria Math"/>
                            <a:ea typeface="Cambria Math"/>
                          </a:rPr>
                          <m:t>𝜎</m:t>
                        </m:r>
                      </m:e>
                      <m:sub>
                        <m:r>
                          <a:rPr lang="en-GB" sz="2400" b="0" i="1" smtClean="0">
                            <a:latin typeface="Cambria Math"/>
                            <a:ea typeface="Cambria Math"/>
                          </a:rPr>
                          <m:t>𝑝</m:t>
                        </m:r>
                      </m:sub>
                    </m:sSub>
                  </m:oMath>
                </a14:m>
                <a:r>
                  <a:rPr lang="en-GB" sz="2400" b="1" dirty="0"/>
                  <a:t> = .02551</a:t>
                </a:r>
                <a:endParaRPr lang="en-GB" sz="2400" dirty="0"/>
              </a:p>
            </p:txBody>
          </p:sp>
        </mc:Choice>
        <mc:Fallback xmlns="">
          <p:sp>
            <p:nvSpPr>
              <p:cNvPr id="41" name="Flowchart: Predefined Process 40"/>
              <p:cNvSpPr>
                <a:spLocks noRot="1" noChangeAspect="1" noMove="1" noResize="1" noEditPoints="1" noAdjustHandles="1" noChangeArrowheads="1" noChangeShapeType="1" noTextEdit="1"/>
              </p:cNvSpPr>
              <p:nvPr/>
            </p:nvSpPr>
            <p:spPr>
              <a:xfrm>
                <a:off x="542827" y="4209854"/>
                <a:ext cx="2286000" cy="428919"/>
              </a:xfrm>
              <a:prstGeom prst="flowChartPredefinedProcess">
                <a:avLst/>
              </a:prstGeom>
              <a:blipFill rotWithShape="1">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2" name="Flowchart: Predefined Process 41"/>
              <p:cNvSpPr/>
              <p:nvPr/>
            </p:nvSpPr>
            <p:spPr>
              <a:xfrm>
                <a:off x="3352800" y="2399336"/>
                <a:ext cx="2286000" cy="609600"/>
              </a:xfrm>
              <a:prstGeom prst="flowChartPredefinedProcess">
                <a:avLst/>
              </a:prstGeom>
            </p:spPr>
            <p:style>
              <a:lnRef idx="1">
                <a:schemeClr val="accent2"/>
              </a:lnRef>
              <a:fillRef idx="2">
                <a:schemeClr val="accent2"/>
              </a:fillRef>
              <a:effectRef idx="1">
                <a:schemeClr val="accent2"/>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GB" sz="1400" i="1" smtClean="0">
                              <a:latin typeface="Cambria Math" panose="02040503050406030204" pitchFamily="18" charset="0"/>
                              <a:ea typeface="Cambria Math"/>
                            </a:rPr>
                          </m:ctrlPr>
                        </m:sSubPr>
                        <m:e>
                          <m:r>
                            <a:rPr lang="en-GB" sz="1400" i="1">
                              <a:latin typeface="Cambria Math"/>
                              <a:ea typeface="Cambria Math"/>
                            </a:rPr>
                            <m:t>𝜎</m:t>
                          </m:r>
                        </m:e>
                        <m:sub>
                          <m:r>
                            <a:rPr lang="en-GB" sz="1400" b="0" i="1" smtClean="0">
                              <a:latin typeface="Cambria Math"/>
                              <a:ea typeface="Cambria Math"/>
                            </a:rPr>
                            <m:t>𝑝</m:t>
                          </m:r>
                        </m:sub>
                      </m:sSub>
                      <m:r>
                        <a:rPr lang="en-GB" sz="1200" i="1">
                          <a:latin typeface="Cambria Math"/>
                          <a:ea typeface="Cambria Math"/>
                        </a:rPr>
                        <m:t>=</m:t>
                      </m:r>
                      <m:rad>
                        <m:radPr>
                          <m:degHide m:val="on"/>
                          <m:ctrlPr>
                            <a:rPr lang="en-GB" sz="1400" i="1">
                              <a:latin typeface="Cambria Math" panose="02040503050406030204" pitchFamily="18" charset="0"/>
                              <a:ea typeface="Cambria Math"/>
                            </a:rPr>
                          </m:ctrlPr>
                        </m:radPr>
                        <m:deg/>
                        <m:e>
                          <m:f>
                            <m:fPr>
                              <m:ctrlPr>
                                <a:rPr lang="en-GB" sz="1400" i="1">
                                  <a:latin typeface="Cambria Math" panose="02040503050406030204" pitchFamily="18" charset="0"/>
                                  <a:ea typeface="Cambria Math"/>
                                </a:rPr>
                              </m:ctrlPr>
                            </m:fPr>
                            <m:num>
                              <m:r>
                                <a:rPr lang="en-GB" sz="1400" i="1">
                                  <a:latin typeface="Cambria Math"/>
                                  <a:ea typeface="Cambria Math"/>
                                </a:rPr>
                                <m:t>𝑝</m:t>
                              </m:r>
                              <m:d>
                                <m:dPr>
                                  <m:ctrlPr>
                                    <a:rPr lang="en-GB" sz="1400" i="1">
                                      <a:latin typeface="Cambria Math" panose="02040503050406030204" pitchFamily="18" charset="0"/>
                                      <a:ea typeface="Cambria Math"/>
                                    </a:rPr>
                                  </m:ctrlPr>
                                </m:dPr>
                                <m:e>
                                  <m:r>
                                    <a:rPr lang="en-GB" sz="1400" i="1">
                                      <a:latin typeface="Cambria Math"/>
                                      <a:ea typeface="Cambria Math"/>
                                    </a:rPr>
                                    <m:t>1−</m:t>
                                  </m:r>
                                  <m:r>
                                    <a:rPr lang="en-GB" sz="1400" i="1">
                                      <a:latin typeface="Cambria Math"/>
                                      <a:ea typeface="Cambria Math"/>
                                    </a:rPr>
                                    <m:t>𝑝</m:t>
                                  </m:r>
                                </m:e>
                              </m:d>
                            </m:num>
                            <m:den>
                              <m:r>
                                <a:rPr lang="en-GB" sz="1400" i="1">
                                  <a:latin typeface="Cambria Math"/>
                                  <a:ea typeface="Cambria Math"/>
                                </a:rPr>
                                <m:t>𝑛</m:t>
                              </m:r>
                            </m:den>
                          </m:f>
                        </m:e>
                      </m:rad>
                    </m:oMath>
                  </m:oMathPara>
                </a14:m>
                <a:endParaRPr lang="en-GB" sz="1050" dirty="0"/>
              </a:p>
            </p:txBody>
          </p:sp>
        </mc:Choice>
        <mc:Fallback xmlns="">
          <p:sp>
            <p:nvSpPr>
              <p:cNvPr id="42" name="Flowchart: Predefined Process 41"/>
              <p:cNvSpPr>
                <a:spLocks noRot="1" noChangeAspect="1" noMove="1" noResize="1" noEditPoints="1" noAdjustHandles="1" noChangeArrowheads="1" noChangeShapeType="1" noTextEdit="1"/>
              </p:cNvSpPr>
              <p:nvPr/>
            </p:nvSpPr>
            <p:spPr>
              <a:xfrm>
                <a:off x="3352800" y="2399336"/>
                <a:ext cx="2286000" cy="609600"/>
              </a:xfrm>
              <a:prstGeom prst="flowChartPredefinedProcess">
                <a:avLst/>
              </a:prstGeom>
              <a:blipFill rotWithShape="1">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3" name="Flowchart: Predefined Process 42"/>
              <p:cNvSpPr/>
              <p:nvPr/>
            </p:nvSpPr>
            <p:spPr>
              <a:xfrm>
                <a:off x="3352800" y="3214255"/>
                <a:ext cx="2286000" cy="609600"/>
              </a:xfrm>
              <a:prstGeom prst="flowChartPredefinedProcess">
                <a:avLst/>
              </a:prstGeom>
            </p:spPr>
            <p:style>
              <a:lnRef idx="1">
                <a:schemeClr val="accent2"/>
              </a:lnRef>
              <a:fillRef idx="2">
                <a:schemeClr val="accent2"/>
              </a:fillRef>
              <a:effectRef idx="1">
                <a:schemeClr val="accent2"/>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GB" sz="1200" i="1">
                          <a:latin typeface="Cambria Math"/>
                          <a:ea typeface="Cambria Math"/>
                        </a:rPr>
                        <m:t>.02551=</m:t>
                      </m:r>
                      <m:rad>
                        <m:radPr>
                          <m:degHide m:val="on"/>
                          <m:ctrlPr>
                            <a:rPr lang="en-GB" sz="1200" i="1">
                              <a:latin typeface="Cambria Math" panose="02040503050406030204" pitchFamily="18" charset="0"/>
                              <a:ea typeface="Cambria Math"/>
                            </a:rPr>
                          </m:ctrlPr>
                        </m:radPr>
                        <m:deg/>
                        <m:e>
                          <m:f>
                            <m:fPr>
                              <m:ctrlPr>
                                <a:rPr lang="en-GB" sz="1200" i="1">
                                  <a:latin typeface="Cambria Math" panose="02040503050406030204" pitchFamily="18" charset="0"/>
                                  <a:ea typeface="Cambria Math"/>
                                </a:rPr>
                              </m:ctrlPr>
                            </m:fPr>
                            <m:num>
                              <m:r>
                                <a:rPr lang="en-GB" sz="1200" i="1">
                                  <a:latin typeface="Cambria Math"/>
                                  <a:ea typeface="Cambria Math"/>
                                </a:rPr>
                                <m:t>.4</m:t>
                              </m:r>
                              <m:d>
                                <m:dPr>
                                  <m:ctrlPr>
                                    <a:rPr lang="en-GB" sz="1200" i="1">
                                      <a:latin typeface="Cambria Math" panose="02040503050406030204" pitchFamily="18" charset="0"/>
                                      <a:ea typeface="Cambria Math"/>
                                    </a:rPr>
                                  </m:ctrlPr>
                                </m:dPr>
                                <m:e>
                                  <m:r>
                                    <a:rPr lang="en-GB" sz="1200" i="1">
                                      <a:latin typeface="Cambria Math"/>
                                      <a:ea typeface="Cambria Math"/>
                                    </a:rPr>
                                    <m:t>1−.4</m:t>
                                  </m:r>
                                </m:e>
                              </m:d>
                            </m:num>
                            <m:den>
                              <m:r>
                                <a:rPr lang="en-GB" sz="1200" i="1">
                                  <a:latin typeface="Cambria Math"/>
                                  <a:ea typeface="Cambria Math"/>
                                </a:rPr>
                                <m:t>𝑛</m:t>
                              </m:r>
                            </m:den>
                          </m:f>
                        </m:e>
                      </m:rad>
                    </m:oMath>
                  </m:oMathPara>
                </a14:m>
                <a:endParaRPr lang="en-GB" sz="900" dirty="0"/>
              </a:p>
            </p:txBody>
          </p:sp>
        </mc:Choice>
        <mc:Fallback xmlns="">
          <p:sp>
            <p:nvSpPr>
              <p:cNvPr id="43" name="Flowchart: Predefined Process 42"/>
              <p:cNvSpPr>
                <a:spLocks noRot="1" noChangeAspect="1" noMove="1" noResize="1" noEditPoints="1" noAdjustHandles="1" noChangeArrowheads="1" noChangeShapeType="1" noTextEdit="1"/>
              </p:cNvSpPr>
              <p:nvPr/>
            </p:nvSpPr>
            <p:spPr>
              <a:xfrm>
                <a:off x="3352800" y="3214255"/>
                <a:ext cx="2286000" cy="609600"/>
              </a:xfrm>
              <a:prstGeom prst="flowChartPredefinedProcess">
                <a:avLst/>
              </a:prstGeom>
              <a:blipFill rotWithShape="1">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4" name="Flowchart: Predefined Process 43"/>
              <p:cNvSpPr/>
              <p:nvPr/>
            </p:nvSpPr>
            <p:spPr>
              <a:xfrm>
                <a:off x="3352800" y="4029173"/>
                <a:ext cx="2286000" cy="609600"/>
              </a:xfrm>
              <a:prstGeom prst="flowChartPredefinedProcess">
                <a:avLst/>
              </a:prstGeom>
            </p:spPr>
            <p:style>
              <a:lnRef idx="1">
                <a:schemeClr val="accent2"/>
              </a:lnRef>
              <a:fillRef idx="2">
                <a:schemeClr val="accent2"/>
              </a:fillRef>
              <a:effectRef idx="1">
                <a:schemeClr val="accent2"/>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GB" sz="1200" i="1">
                              <a:latin typeface="Cambria Math" panose="02040503050406030204" pitchFamily="18" charset="0"/>
                              <a:ea typeface="Cambria Math"/>
                            </a:rPr>
                          </m:ctrlPr>
                        </m:sSupPr>
                        <m:e>
                          <m:d>
                            <m:dPr>
                              <m:ctrlPr>
                                <a:rPr lang="en-GB" sz="1200" i="1">
                                  <a:latin typeface="Cambria Math" panose="02040503050406030204" pitchFamily="18" charset="0"/>
                                  <a:ea typeface="Cambria Math"/>
                                </a:rPr>
                              </m:ctrlPr>
                            </m:dPr>
                            <m:e>
                              <m:r>
                                <a:rPr lang="en-GB" sz="1200" i="1">
                                  <a:latin typeface="Cambria Math"/>
                                  <a:ea typeface="Cambria Math"/>
                                </a:rPr>
                                <m:t>.02551</m:t>
                              </m:r>
                            </m:e>
                          </m:d>
                        </m:e>
                        <m:sup>
                          <m:r>
                            <a:rPr lang="en-GB" sz="1200" i="1">
                              <a:latin typeface="Cambria Math"/>
                              <a:ea typeface="Cambria Math"/>
                            </a:rPr>
                            <m:t>2</m:t>
                          </m:r>
                        </m:sup>
                      </m:sSup>
                      <m:r>
                        <a:rPr lang="en-GB" sz="1200" i="1">
                          <a:latin typeface="Cambria Math"/>
                          <a:ea typeface="Cambria Math"/>
                        </a:rPr>
                        <m:t>=</m:t>
                      </m:r>
                      <m:f>
                        <m:fPr>
                          <m:ctrlPr>
                            <a:rPr lang="en-GB" sz="1200" i="1">
                              <a:latin typeface="Cambria Math" panose="02040503050406030204" pitchFamily="18" charset="0"/>
                              <a:ea typeface="Cambria Math"/>
                            </a:rPr>
                          </m:ctrlPr>
                        </m:fPr>
                        <m:num>
                          <m:r>
                            <a:rPr lang="en-GB" sz="1200" i="1">
                              <a:latin typeface="Cambria Math"/>
                              <a:ea typeface="Cambria Math"/>
                            </a:rPr>
                            <m:t>.4</m:t>
                          </m:r>
                          <m:d>
                            <m:dPr>
                              <m:ctrlPr>
                                <a:rPr lang="en-GB" sz="1200" i="1">
                                  <a:latin typeface="Cambria Math" panose="02040503050406030204" pitchFamily="18" charset="0"/>
                                  <a:ea typeface="Cambria Math"/>
                                </a:rPr>
                              </m:ctrlPr>
                            </m:dPr>
                            <m:e>
                              <m:r>
                                <a:rPr lang="en-GB" sz="1200" i="1">
                                  <a:latin typeface="Cambria Math"/>
                                  <a:ea typeface="Cambria Math"/>
                                </a:rPr>
                                <m:t>1−.4</m:t>
                              </m:r>
                            </m:e>
                          </m:d>
                        </m:num>
                        <m:den>
                          <m:r>
                            <a:rPr lang="en-GB" sz="1200" i="1">
                              <a:latin typeface="Cambria Math"/>
                              <a:ea typeface="Cambria Math"/>
                            </a:rPr>
                            <m:t>𝑛</m:t>
                          </m:r>
                        </m:den>
                      </m:f>
                    </m:oMath>
                  </m:oMathPara>
                </a14:m>
                <a:endParaRPr lang="en-GB" sz="900" dirty="0"/>
              </a:p>
            </p:txBody>
          </p:sp>
        </mc:Choice>
        <mc:Fallback xmlns="">
          <p:sp>
            <p:nvSpPr>
              <p:cNvPr id="44" name="Flowchart: Predefined Process 43"/>
              <p:cNvSpPr>
                <a:spLocks noRot="1" noChangeAspect="1" noMove="1" noResize="1" noEditPoints="1" noAdjustHandles="1" noChangeArrowheads="1" noChangeShapeType="1" noTextEdit="1"/>
              </p:cNvSpPr>
              <p:nvPr/>
            </p:nvSpPr>
            <p:spPr>
              <a:xfrm>
                <a:off x="3352800" y="4029173"/>
                <a:ext cx="2286000" cy="609600"/>
              </a:xfrm>
              <a:prstGeom prst="flowChartPredefinedProcess">
                <a:avLst/>
              </a:prstGeom>
              <a:blipFill rotWithShape="1">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5" name="Flowchart: Predefined Process 44"/>
              <p:cNvSpPr/>
              <p:nvPr/>
            </p:nvSpPr>
            <p:spPr>
              <a:xfrm>
                <a:off x="6172200" y="2399336"/>
                <a:ext cx="2286000" cy="609600"/>
              </a:xfrm>
              <a:prstGeom prst="flowChartPredefinedProcess">
                <a:avLst/>
              </a:prstGeom>
            </p:spPr>
            <p:style>
              <a:lnRef idx="1">
                <a:schemeClr val="accent1"/>
              </a:lnRef>
              <a:fillRef idx="2">
                <a:schemeClr val="accent1"/>
              </a:fillRef>
              <a:effectRef idx="1">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GB" i="1">
                          <a:latin typeface="Cambria Math"/>
                          <a:ea typeface="Cambria Math"/>
                        </a:rPr>
                        <m:t>𝑛</m:t>
                      </m:r>
                      <m:r>
                        <a:rPr lang="en-GB" i="1">
                          <a:latin typeface="Cambria Math"/>
                          <a:ea typeface="Cambria Math"/>
                        </a:rPr>
                        <m:t>=</m:t>
                      </m:r>
                      <m:f>
                        <m:fPr>
                          <m:ctrlPr>
                            <a:rPr lang="en-GB" i="1">
                              <a:latin typeface="Cambria Math" panose="02040503050406030204" pitchFamily="18" charset="0"/>
                              <a:ea typeface="Cambria Math"/>
                            </a:rPr>
                          </m:ctrlPr>
                        </m:fPr>
                        <m:num>
                          <m:r>
                            <a:rPr lang="en-GB" i="1">
                              <a:latin typeface="Cambria Math"/>
                              <a:ea typeface="Cambria Math"/>
                            </a:rPr>
                            <m:t>.4</m:t>
                          </m:r>
                          <m:d>
                            <m:dPr>
                              <m:ctrlPr>
                                <a:rPr lang="en-GB" i="1">
                                  <a:latin typeface="Cambria Math" panose="02040503050406030204" pitchFamily="18" charset="0"/>
                                  <a:ea typeface="Cambria Math"/>
                                </a:rPr>
                              </m:ctrlPr>
                            </m:dPr>
                            <m:e>
                              <m:r>
                                <a:rPr lang="en-GB" i="1">
                                  <a:latin typeface="Cambria Math"/>
                                  <a:ea typeface="Cambria Math"/>
                                </a:rPr>
                                <m:t>1−.4</m:t>
                              </m:r>
                            </m:e>
                          </m:d>
                        </m:num>
                        <m:den>
                          <m:sSup>
                            <m:sSupPr>
                              <m:ctrlPr>
                                <a:rPr lang="en-GB" i="1">
                                  <a:latin typeface="Cambria Math" panose="02040503050406030204" pitchFamily="18" charset="0"/>
                                  <a:ea typeface="Cambria Math"/>
                                </a:rPr>
                              </m:ctrlPr>
                            </m:sSupPr>
                            <m:e>
                              <m:d>
                                <m:dPr>
                                  <m:ctrlPr>
                                    <a:rPr lang="en-GB" i="1">
                                      <a:latin typeface="Cambria Math" panose="02040503050406030204" pitchFamily="18" charset="0"/>
                                      <a:ea typeface="Cambria Math"/>
                                    </a:rPr>
                                  </m:ctrlPr>
                                </m:dPr>
                                <m:e>
                                  <m:r>
                                    <a:rPr lang="en-GB" i="1">
                                      <a:latin typeface="Cambria Math"/>
                                      <a:ea typeface="Cambria Math"/>
                                    </a:rPr>
                                    <m:t>.02551</m:t>
                                  </m:r>
                                </m:e>
                              </m:d>
                            </m:e>
                            <m:sup>
                              <m:r>
                                <a:rPr lang="en-GB" i="1">
                                  <a:latin typeface="Cambria Math"/>
                                  <a:ea typeface="Cambria Math"/>
                                </a:rPr>
                                <m:t>2</m:t>
                              </m:r>
                            </m:sup>
                          </m:sSup>
                        </m:den>
                      </m:f>
                    </m:oMath>
                  </m:oMathPara>
                </a14:m>
                <a:endParaRPr lang="en-GB" dirty="0"/>
              </a:p>
            </p:txBody>
          </p:sp>
        </mc:Choice>
        <mc:Fallback xmlns="">
          <p:sp>
            <p:nvSpPr>
              <p:cNvPr id="45" name="Flowchart: Predefined Process 44"/>
              <p:cNvSpPr>
                <a:spLocks noRot="1" noChangeAspect="1" noMove="1" noResize="1" noEditPoints="1" noAdjustHandles="1" noChangeArrowheads="1" noChangeShapeType="1" noTextEdit="1"/>
              </p:cNvSpPr>
              <p:nvPr/>
            </p:nvSpPr>
            <p:spPr>
              <a:xfrm>
                <a:off x="6172200" y="2399336"/>
                <a:ext cx="2286000" cy="609600"/>
              </a:xfrm>
              <a:prstGeom prst="flowChartPredefinedProcess">
                <a:avLst/>
              </a:prstGeom>
              <a:blipFill rotWithShape="1">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6" name="Flowchart: Predefined Process 45"/>
              <p:cNvSpPr/>
              <p:nvPr/>
            </p:nvSpPr>
            <p:spPr>
              <a:xfrm>
                <a:off x="6172200" y="3214254"/>
                <a:ext cx="2286000" cy="609600"/>
              </a:xfrm>
              <a:prstGeom prst="flowChartPredefinedProcess">
                <a:avLst/>
              </a:prstGeom>
            </p:spPr>
            <p:style>
              <a:lnRef idx="1">
                <a:schemeClr val="accent1"/>
              </a:lnRef>
              <a:fillRef idx="2">
                <a:schemeClr val="accent1"/>
              </a:fillRef>
              <a:effectRef idx="1">
                <a:schemeClr val="accent1"/>
              </a:effectRef>
              <a:fontRef idx="minor">
                <a:schemeClr val="dk1"/>
              </a:fontRef>
            </p:style>
            <p:txBody>
              <a:bodyPr rtlCol="0" anchor="ctr"/>
              <a:lstStyle/>
              <a:p>
                <a:pPr algn="ctr"/>
                <a14:m>
                  <m:oMath xmlns:m="http://schemas.openxmlformats.org/officeDocument/2006/math">
                    <m:r>
                      <a:rPr lang="en-GB" sz="2400" b="0" i="1" smtClean="0">
                        <a:latin typeface="Cambria Math"/>
                      </a:rPr>
                      <m:t>𝑛</m:t>
                    </m:r>
                  </m:oMath>
                </a14:m>
                <a:r>
                  <a:rPr lang="en-GB" sz="2400" dirty="0"/>
                  <a:t> = 368.8</a:t>
                </a:r>
              </a:p>
            </p:txBody>
          </p:sp>
        </mc:Choice>
        <mc:Fallback xmlns="">
          <p:sp>
            <p:nvSpPr>
              <p:cNvPr id="46" name="Flowchart: Predefined Process 45"/>
              <p:cNvSpPr>
                <a:spLocks noRot="1" noChangeAspect="1" noMove="1" noResize="1" noEditPoints="1" noAdjustHandles="1" noChangeArrowheads="1" noChangeShapeType="1" noTextEdit="1"/>
              </p:cNvSpPr>
              <p:nvPr/>
            </p:nvSpPr>
            <p:spPr>
              <a:xfrm>
                <a:off x="6172200" y="3214254"/>
                <a:ext cx="2286000" cy="609600"/>
              </a:xfrm>
              <a:prstGeom prst="flowChartPredefinedProcess">
                <a:avLst/>
              </a:prstGeom>
              <a:blipFill rotWithShape="1">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7" name="Flowchart: Predefined Process 46"/>
              <p:cNvSpPr/>
              <p:nvPr/>
            </p:nvSpPr>
            <p:spPr>
              <a:xfrm>
                <a:off x="6172200" y="4029173"/>
                <a:ext cx="2286000" cy="609600"/>
              </a:xfrm>
              <a:prstGeom prst="flowChartPredefinedProcess">
                <a:avLst/>
              </a:prstGeom>
            </p:spPr>
            <p:style>
              <a:lnRef idx="1">
                <a:schemeClr val="accent1"/>
              </a:lnRef>
              <a:fillRef idx="2">
                <a:schemeClr val="accent1"/>
              </a:fillRef>
              <a:effectRef idx="1">
                <a:schemeClr val="accent1"/>
              </a:effectRef>
              <a:fontRef idx="minor">
                <a:schemeClr val="dk1"/>
              </a:fontRef>
            </p:style>
            <p:txBody>
              <a:bodyPr rtlCol="0" anchor="ctr"/>
              <a:lstStyle/>
              <a:p>
                <a:pPr algn="ctr"/>
                <a14:m>
                  <m:oMath xmlns:m="http://schemas.openxmlformats.org/officeDocument/2006/math">
                    <m:r>
                      <a:rPr lang="en-GB" sz="2400" b="1" i="1" smtClean="0">
                        <a:latin typeface="Cambria Math"/>
                      </a:rPr>
                      <m:t>𝒏</m:t>
                    </m:r>
                  </m:oMath>
                </a14:m>
                <a:r>
                  <a:rPr lang="en-GB" sz="2400" b="1" dirty="0"/>
                  <a:t> = 369</a:t>
                </a:r>
              </a:p>
            </p:txBody>
          </p:sp>
        </mc:Choice>
        <mc:Fallback xmlns="">
          <p:sp>
            <p:nvSpPr>
              <p:cNvPr id="47" name="Flowchart: Predefined Process 46"/>
              <p:cNvSpPr>
                <a:spLocks noRot="1" noChangeAspect="1" noMove="1" noResize="1" noEditPoints="1" noAdjustHandles="1" noChangeArrowheads="1" noChangeShapeType="1" noTextEdit="1"/>
              </p:cNvSpPr>
              <p:nvPr/>
            </p:nvSpPr>
            <p:spPr>
              <a:xfrm>
                <a:off x="6172200" y="4029173"/>
                <a:ext cx="2286000" cy="609600"/>
              </a:xfrm>
              <a:prstGeom prst="flowChartPredefinedProcess">
                <a:avLst/>
              </a:prstGeom>
              <a:blipFill rotWithShape="1">
                <a:blip r:embed="rId12"/>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886313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9"/>
                                        </p:tgtEl>
                                        <p:attrNameLst>
                                          <p:attrName>style.visibility</p:attrName>
                                        </p:attrNameLst>
                                      </p:cBhvr>
                                      <p:to>
                                        <p:strVal val="visible"/>
                                      </p:to>
                                    </p:set>
                                    <p:animEffect transition="in" filter="fade">
                                      <p:cBhvr>
                                        <p:cTn id="12" dur="500"/>
                                        <p:tgtEl>
                                          <p:spTgt spid="3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0"/>
                                        </p:tgtEl>
                                        <p:attrNameLst>
                                          <p:attrName>style.visibility</p:attrName>
                                        </p:attrNameLst>
                                      </p:cBhvr>
                                      <p:to>
                                        <p:strVal val="visible"/>
                                      </p:to>
                                    </p:set>
                                    <p:animEffect transition="in" filter="fade">
                                      <p:cBhvr>
                                        <p:cTn id="17" dur="500"/>
                                        <p:tgtEl>
                                          <p:spTgt spid="4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1"/>
                                        </p:tgtEl>
                                        <p:attrNameLst>
                                          <p:attrName>style.visibility</p:attrName>
                                        </p:attrNameLst>
                                      </p:cBhvr>
                                      <p:to>
                                        <p:strVal val="visible"/>
                                      </p:to>
                                    </p:set>
                                    <p:animEffect transition="in" filter="fade">
                                      <p:cBhvr>
                                        <p:cTn id="22" dur="500"/>
                                        <p:tgtEl>
                                          <p:spTgt spid="4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2"/>
                                        </p:tgtEl>
                                        <p:attrNameLst>
                                          <p:attrName>style.visibility</p:attrName>
                                        </p:attrNameLst>
                                      </p:cBhvr>
                                      <p:to>
                                        <p:strVal val="visible"/>
                                      </p:to>
                                    </p:set>
                                    <p:animEffect transition="in" filter="fade">
                                      <p:cBhvr>
                                        <p:cTn id="27" dur="500"/>
                                        <p:tgtEl>
                                          <p:spTgt spid="4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3"/>
                                        </p:tgtEl>
                                        <p:attrNameLst>
                                          <p:attrName>style.visibility</p:attrName>
                                        </p:attrNameLst>
                                      </p:cBhvr>
                                      <p:to>
                                        <p:strVal val="visible"/>
                                      </p:to>
                                    </p:set>
                                    <p:animEffect transition="in" filter="fade">
                                      <p:cBhvr>
                                        <p:cTn id="32" dur="500"/>
                                        <p:tgtEl>
                                          <p:spTgt spid="4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4"/>
                                        </p:tgtEl>
                                        <p:attrNameLst>
                                          <p:attrName>style.visibility</p:attrName>
                                        </p:attrNameLst>
                                      </p:cBhvr>
                                      <p:to>
                                        <p:strVal val="visible"/>
                                      </p:to>
                                    </p:set>
                                    <p:animEffect transition="in" filter="fade">
                                      <p:cBhvr>
                                        <p:cTn id="37" dur="500"/>
                                        <p:tgtEl>
                                          <p:spTgt spid="4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45"/>
                                        </p:tgtEl>
                                        <p:attrNameLst>
                                          <p:attrName>style.visibility</p:attrName>
                                        </p:attrNameLst>
                                      </p:cBhvr>
                                      <p:to>
                                        <p:strVal val="visible"/>
                                      </p:to>
                                    </p:set>
                                    <p:animEffect transition="in" filter="fade">
                                      <p:cBhvr>
                                        <p:cTn id="42" dur="500"/>
                                        <p:tgtEl>
                                          <p:spTgt spid="4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46"/>
                                        </p:tgtEl>
                                        <p:attrNameLst>
                                          <p:attrName>style.visibility</p:attrName>
                                        </p:attrNameLst>
                                      </p:cBhvr>
                                      <p:to>
                                        <p:strVal val="visible"/>
                                      </p:to>
                                    </p:set>
                                    <p:animEffect transition="in" filter="fade">
                                      <p:cBhvr>
                                        <p:cTn id="47" dur="500"/>
                                        <p:tgtEl>
                                          <p:spTgt spid="46"/>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47"/>
                                        </p:tgtEl>
                                        <p:attrNameLst>
                                          <p:attrName>style.visibility</p:attrName>
                                        </p:attrNameLst>
                                      </p:cBhvr>
                                      <p:to>
                                        <p:strVal val="visible"/>
                                      </p:to>
                                    </p:set>
                                    <p:animEffect transition="in" filter="fade">
                                      <p:cBhvr>
                                        <p:cTn id="52"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6AC4F-E9F1-280D-C2C4-C5B3B8998C59}"/>
              </a:ext>
            </a:extLst>
          </p:cNvPr>
          <p:cNvSpPr>
            <a:spLocks noGrp="1"/>
          </p:cNvSpPr>
          <p:nvPr>
            <p:ph type="title"/>
          </p:nvPr>
        </p:nvSpPr>
        <p:spPr/>
        <p:txBody>
          <a:bodyPr/>
          <a:lstStyle/>
          <a:p>
            <a:r>
              <a:rPr lang="en-GB" dirty="0"/>
              <a:t>Exercise Problem 1</a:t>
            </a:r>
          </a:p>
        </p:txBody>
      </p:sp>
      <p:sp>
        <p:nvSpPr>
          <p:cNvPr id="3" name="Text Box 3">
            <a:extLst>
              <a:ext uri="{FF2B5EF4-FFF2-40B4-BE49-F238E27FC236}">
                <a16:creationId xmlns:a16="http://schemas.microsoft.com/office/drawing/2014/main" id="{EF0D6464-0930-6879-503D-495A5885CB7A}"/>
              </a:ext>
            </a:extLst>
          </p:cNvPr>
          <p:cNvSpPr txBox="1">
            <a:spLocks noChangeArrowheads="1"/>
          </p:cNvSpPr>
          <p:nvPr/>
        </p:nvSpPr>
        <p:spPr bwMode="auto">
          <a:xfrm>
            <a:off x="304800" y="762000"/>
            <a:ext cx="80010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GB" altLang="en-US" sz="2000" dirty="0"/>
              <a:t>You survey a sample of 145 Phone from a production line and discover that </a:t>
            </a:r>
            <a:r>
              <a:rPr lang="en-GB" altLang="en-US" sz="2000" b="1" dirty="0"/>
              <a:t>10% </a:t>
            </a:r>
            <a:r>
              <a:rPr lang="en-GB" altLang="en-US" sz="2000" dirty="0"/>
              <a:t>of them is defective.</a:t>
            </a:r>
          </a:p>
        </p:txBody>
      </p:sp>
      <p:sp>
        <p:nvSpPr>
          <p:cNvPr id="4" name="Rectangle 3">
            <a:extLst>
              <a:ext uri="{FF2B5EF4-FFF2-40B4-BE49-F238E27FC236}">
                <a16:creationId xmlns:a16="http://schemas.microsoft.com/office/drawing/2014/main" id="{5F6F30D9-FD92-B6DF-CDAB-FE3EF1101207}"/>
              </a:ext>
            </a:extLst>
          </p:cNvPr>
          <p:cNvSpPr/>
          <p:nvPr/>
        </p:nvSpPr>
        <p:spPr>
          <a:xfrm>
            <a:off x="304800" y="1777663"/>
            <a:ext cx="4572000" cy="646331"/>
          </a:xfrm>
          <a:prstGeom prst="rect">
            <a:avLst/>
          </a:prstGeom>
        </p:spPr>
        <p:txBody>
          <a:bodyPr>
            <a:spAutoFit/>
          </a:bodyPr>
          <a:lstStyle/>
          <a:p>
            <a:r>
              <a:rPr lang="en-GB" altLang="en-US" dirty="0"/>
              <a:t>How would you </a:t>
            </a:r>
            <a:r>
              <a:rPr lang="en-GB" altLang="en-US" b="1" dirty="0"/>
              <a:t>report</a:t>
            </a:r>
            <a:r>
              <a:rPr lang="en-GB" altLang="en-US" dirty="0"/>
              <a:t> these results using </a:t>
            </a:r>
            <a:r>
              <a:rPr lang="en-GB" altLang="en-US" b="1" dirty="0"/>
              <a:t>a 99% confidence interval</a:t>
            </a:r>
            <a:r>
              <a:rPr lang="en-GB" altLang="en-US" dirty="0"/>
              <a:t>? </a:t>
            </a:r>
          </a:p>
        </p:txBody>
      </p:sp>
      <p:pic>
        <p:nvPicPr>
          <p:cNvPr id="5" name="Picture 4">
            <a:extLst>
              <a:ext uri="{FF2B5EF4-FFF2-40B4-BE49-F238E27FC236}">
                <a16:creationId xmlns:a16="http://schemas.microsoft.com/office/drawing/2014/main" id="{9BDC9A15-2017-E779-F746-A68B3E89CC71}"/>
              </a:ext>
            </a:extLst>
          </p:cNvPr>
          <p:cNvPicPr>
            <a:picLocks noChangeAspect="1"/>
          </p:cNvPicPr>
          <p:nvPr/>
        </p:nvPicPr>
        <p:blipFill>
          <a:blip r:embed="rId2"/>
          <a:stretch>
            <a:fillRect/>
          </a:stretch>
        </p:blipFill>
        <p:spPr>
          <a:xfrm>
            <a:off x="4692158" y="1614737"/>
            <a:ext cx="4052711" cy="1524000"/>
          </a:xfrm>
          <a:prstGeom prst="rect">
            <a:avLst/>
          </a:prstGeom>
        </p:spPr>
      </p:pic>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F47DD7ED-1379-998E-8603-339CDF822584}"/>
                  </a:ext>
                </a:extLst>
              </p:cNvPr>
              <p:cNvSpPr/>
              <p:nvPr/>
            </p:nvSpPr>
            <p:spPr>
              <a:xfrm>
                <a:off x="5416525" y="3196746"/>
                <a:ext cx="1521453" cy="1268886"/>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r>
                  <a:rPr lang="en-GB" sz="1400" b="1" i="0" dirty="0">
                    <a:latin typeface="+mj-lt"/>
                    <a:ea typeface="Cambria Math"/>
                  </a:rPr>
                  <a:t>STEP:</a:t>
                </a:r>
                <a:endParaRPr lang="en-GB" sz="1400" b="1" i="1" dirty="0">
                  <a:latin typeface="Cambria Math"/>
                  <a:ea typeface="Cambria Math"/>
                </a:endParaRPr>
              </a:p>
              <a:p>
                <a:pPr algn="ctr"/>
                <a14:m>
                  <m:oMathPara xmlns:m="http://schemas.openxmlformats.org/officeDocument/2006/math">
                    <m:oMathParaPr>
                      <m:jc m:val="left"/>
                    </m:oMathParaPr>
                    <m:oMath xmlns:m="http://schemas.openxmlformats.org/officeDocument/2006/math">
                      <m:sSub>
                        <m:sSubPr>
                          <m:ctrlPr>
                            <a:rPr lang="en-GB" sz="1400" i="1" smtClean="0">
                              <a:latin typeface="Cambria Math" panose="02040503050406030204" pitchFamily="18" charset="0"/>
                              <a:ea typeface="Cambria Math"/>
                            </a:rPr>
                          </m:ctrlPr>
                        </m:sSubPr>
                        <m:e>
                          <m:r>
                            <a:rPr lang="en-GB" sz="1400" i="1" smtClean="0">
                              <a:latin typeface="Cambria Math"/>
                              <a:ea typeface="Cambria Math"/>
                            </a:rPr>
                            <m:t>𝜎</m:t>
                          </m:r>
                        </m:e>
                        <m:sub>
                          <m:r>
                            <a:rPr lang="en-GB" sz="1400" b="0" i="1" smtClean="0">
                              <a:latin typeface="Cambria Math"/>
                              <a:ea typeface="Cambria Math"/>
                            </a:rPr>
                            <m:t>𝑝</m:t>
                          </m:r>
                        </m:sub>
                      </m:sSub>
                      <m:r>
                        <a:rPr lang="en-GB" sz="1400" b="0" i="1" smtClean="0">
                          <a:latin typeface="Cambria Math"/>
                          <a:ea typeface="Cambria Math"/>
                        </a:rPr>
                        <m:t>=</m:t>
                      </m:r>
                      <m:rad>
                        <m:radPr>
                          <m:degHide m:val="on"/>
                          <m:ctrlPr>
                            <a:rPr lang="en-GB" sz="1400" b="0" i="1" smtClean="0">
                              <a:latin typeface="Cambria Math" panose="02040503050406030204" pitchFamily="18" charset="0"/>
                              <a:ea typeface="Cambria Math"/>
                            </a:rPr>
                          </m:ctrlPr>
                        </m:radPr>
                        <m:deg/>
                        <m:e>
                          <m:f>
                            <m:fPr>
                              <m:ctrlPr>
                                <a:rPr lang="en-GB" sz="1400" b="0" i="1" smtClean="0">
                                  <a:latin typeface="Cambria Math" panose="02040503050406030204" pitchFamily="18" charset="0"/>
                                  <a:ea typeface="Cambria Math"/>
                                </a:rPr>
                              </m:ctrlPr>
                            </m:fPr>
                            <m:num>
                              <m:r>
                                <a:rPr lang="en-GB" sz="1400" b="0" i="1" smtClean="0">
                                  <a:latin typeface="Cambria Math"/>
                                  <a:ea typeface="Cambria Math"/>
                                </a:rPr>
                                <m:t>.</m:t>
                              </m:r>
                              <m:r>
                                <a:rPr lang="en-GB" sz="1400" b="0" i="1" smtClean="0">
                                  <a:latin typeface="Cambria Math" panose="02040503050406030204" pitchFamily="18" charset="0"/>
                                  <a:ea typeface="Cambria Math"/>
                                </a:rPr>
                                <m:t>1</m:t>
                              </m:r>
                              <m:r>
                                <a:rPr lang="en-GB" sz="1400" b="0" i="1" smtClean="0">
                                  <a:latin typeface="Cambria Math"/>
                                  <a:ea typeface="Cambria Math"/>
                                </a:rPr>
                                <m:t> </m:t>
                              </m:r>
                              <m:d>
                                <m:dPr>
                                  <m:ctrlPr>
                                    <a:rPr lang="en-GB" sz="1400" i="1">
                                      <a:latin typeface="Cambria Math" panose="02040503050406030204" pitchFamily="18" charset="0"/>
                                      <a:ea typeface="Cambria Math"/>
                                    </a:rPr>
                                  </m:ctrlPr>
                                </m:dPr>
                                <m:e>
                                  <m:r>
                                    <a:rPr lang="en-GB" sz="1400" i="1">
                                      <a:latin typeface="Cambria Math"/>
                                      <a:ea typeface="Cambria Math"/>
                                    </a:rPr>
                                    <m:t>1−</m:t>
                                  </m:r>
                                  <m:r>
                                    <a:rPr lang="en-GB" sz="1400" b="0" i="1" smtClean="0">
                                      <a:latin typeface="Cambria Math"/>
                                      <a:ea typeface="Cambria Math"/>
                                    </a:rPr>
                                    <m:t>.</m:t>
                                  </m:r>
                                  <m:r>
                                    <a:rPr lang="en-GB" sz="1400" b="0" i="1" smtClean="0">
                                      <a:latin typeface="Cambria Math" panose="02040503050406030204" pitchFamily="18" charset="0"/>
                                      <a:ea typeface="Cambria Math"/>
                                    </a:rPr>
                                    <m:t>1</m:t>
                                  </m:r>
                                </m:e>
                              </m:d>
                            </m:num>
                            <m:den>
                              <m:r>
                                <a:rPr lang="en-GB" sz="1400" b="0" i="1" smtClean="0">
                                  <a:latin typeface="Cambria Math" panose="02040503050406030204" pitchFamily="18" charset="0"/>
                                  <a:ea typeface="Cambria Math"/>
                                </a:rPr>
                                <m:t>145</m:t>
                              </m:r>
                            </m:den>
                          </m:f>
                        </m:e>
                      </m:rad>
                    </m:oMath>
                  </m:oMathPara>
                </a14:m>
                <a:endParaRPr lang="en-GB" sz="1400" dirty="0"/>
              </a:p>
              <a:p>
                <a:r>
                  <a:rPr lang="en-GB" sz="1600" b="1" dirty="0"/>
                  <a:t>     =  0.0249</a:t>
                </a:r>
              </a:p>
            </p:txBody>
          </p:sp>
        </mc:Choice>
        <mc:Fallback xmlns="">
          <p:sp>
            <p:nvSpPr>
              <p:cNvPr id="26" name="Rectangle 25">
                <a:extLst>
                  <a:ext uri="{FF2B5EF4-FFF2-40B4-BE49-F238E27FC236}">
                    <a16:creationId xmlns:a16="http://schemas.microsoft.com/office/drawing/2014/main" id="{F47DD7ED-1379-998E-8603-339CDF822584}"/>
                  </a:ext>
                </a:extLst>
              </p:cNvPr>
              <p:cNvSpPr>
                <a:spLocks noRot="1" noChangeAspect="1" noMove="1" noResize="1" noEditPoints="1" noAdjustHandles="1" noChangeArrowheads="1" noChangeShapeType="1" noTextEdit="1"/>
              </p:cNvSpPr>
              <p:nvPr/>
            </p:nvSpPr>
            <p:spPr>
              <a:xfrm>
                <a:off x="5416525" y="3196746"/>
                <a:ext cx="1521453" cy="1268886"/>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CB67262C-6A43-3170-F3DF-FB02AC4FC470}"/>
                  </a:ext>
                </a:extLst>
              </p:cNvPr>
              <p:cNvSpPr txBox="1"/>
              <p:nvPr/>
            </p:nvSpPr>
            <p:spPr>
              <a:xfrm>
                <a:off x="381000" y="2678668"/>
                <a:ext cx="4080412" cy="369332"/>
              </a:xfrm>
              <a:prstGeom prst="rect">
                <a:avLst/>
              </a:prstGeom>
            </p:spPr>
            <p:style>
              <a:lnRef idx="1">
                <a:schemeClr val="accent2"/>
              </a:lnRef>
              <a:fillRef idx="2">
                <a:schemeClr val="accent2"/>
              </a:fillRef>
              <a:effectRef idx="1">
                <a:schemeClr val="accent2"/>
              </a:effectRef>
              <a:fontRef idx="minor">
                <a:schemeClr val="dk1"/>
              </a:fontRef>
            </p:style>
            <p:txBody>
              <a:bodyPr wrap="none" rtlCol="0">
                <a:spAutoFit/>
              </a:bodyPr>
              <a:lstStyle/>
              <a:p>
                <a:r>
                  <a:rPr lang="en-GB" b="0" dirty="0"/>
                  <a:t>Lookup table: </a:t>
                </a:r>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a:rPr>
                          <m:t>𝑍</m:t>
                        </m:r>
                      </m:e>
                      <m:sub>
                        <m:r>
                          <a:rPr lang="en-GB" b="0" i="1" smtClean="0">
                            <a:latin typeface="Cambria Math"/>
                          </a:rPr>
                          <m:t>𝑐𝑟𝑖𝑡</m:t>
                        </m:r>
                      </m:sub>
                    </m:sSub>
                    <m:r>
                      <a:rPr lang="en-GB" b="0" i="1" smtClean="0">
                        <a:latin typeface="Cambria Math"/>
                      </a:rPr>
                      <m:t>=</m:t>
                    </m:r>
                    <m:r>
                      <a:rPr lang="en-GB" b="0" i="1" smtClean="0">
                        <a:latin typeface="Cambria Math" panose="02040503050406030204" pitchFamily="18" charset="0"/>
                      </a:rPr>
                      <m:t>2.576</m:t>
                    </m:r>
                  </m:oMath>
                </a14:m>
                <a:r>
                  <a:rPr lang="en-GB" dirty="0"/>
                  <a:t> for </a:t>
                </a:r>
                <a14:m>
                  <m:oMath xmlns:m="http://schemas.openxmlformats.org/officeDocument/2006/math">
                    <m:r>
                      <a:rPr lang="en-GB" i="1" smtClean="0">
                        <a:latin typeface="Cambria Math"/>
                        <a:ea typeface="Cambria Math"/>
                      </a:rPr>
                      <m:t>𝛼</m:t>
                    </m:r>
                    <m:r>
                      <a:rPr lang="en-GB" b="0" i="1" smtClean="0">
                        <a:latin typeface="Cambria Math"/>
                        <a:ea typeface="Cambria Math"/>
                      </a:rPr>
                      <m:t>=0.0</m:t>
                    </m:r>
                    <m:r>
                      <a:rPr lang="en-GB" b="0" i="1" smtClean="0">
                        <a:latin typeface="Cambria Math" panose="02040503050406030204" pitchFamily="18" charset="0"/>
                        <a:ea typeface="Cambria Math"/>
                      </a:rPr>
                      <m:t>1</m:t>
                    </m:r>
                  </m:oMath>
                </a14:m>
                <a:endParaRPr lang="en-GB" dirty="0"/>
              </a:p>
            </p:txBody>
          </p:sp>
        </mc:Choice>
        <mc:Fallback xmlns="">
          <p:sp>
            <p:nvSpPr>
              <p:cNvPr id="27" name="TextBox 26">
                <a:extLst>
                  <a:ext uri="{FF2B5EF4-FFF2-40B4-BE49-F238E27FC236}">
                    <a16:creationId xmlns:a16="http://schemas.microsoft.com/office/drawing/2014/main" id="{CB67262C-6A43-3170-F3DF-FB02AC4FC470}"/>
                  </a:ext>
                </a:extLst>
              </p:cNvPr>
              <p:cNvSpPr txBox="1">
                <a:spLocks noRot="1" noChangeAspect="1" noMove="1" noResize="1" noEditPoints="1" noAdjustHandles="1" noChangeArrowheads="1" noChangeShapeType="1" noTextEdit="1"/>
              </p:cNvSpPr>
              <p:nvPr/>
            </p:nvSpPr>
            <p:spPr>
              <a:xfrm>
                <a:off x="381000" y="2678668"/>
                <a:ext cx="4080412" cy="369332"/>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0" name="Rectangular Callout 41">
                <a:extLst>
                  <a:ext uri="{FF2B5EF4-FFF2-40B4-BE49-F238E27FC236}">
                    <a16:creationId xmlns:a16="http://schemas.microsoft.com/office/drawing/2014/main" id="{2803CD35-734E-E01D-0E81-65A95612E02A}"/>
                  </a:ext>
                </a:extLst>
              </p:cNvPr>
              <p:cNvSpPr/>
              <p:nvPr/>
            </p:nvSpPr>
            <p:spPr>
              <a:xfrm>
                <a:off x="4126416" y="4799248"/>
                <a:ext cx="1726234" cy="444015"/>
              </a:xfrm>
              <a:prstGeom prst="wedgeRectCallout">
                <a:avLst>
                  <a:gd name="adj1" fmla="val 42404"/>
                  <a:gd name="adj2" fmla="val -106451"/>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GB" sz="1400" i="1" smtClean="0">
                          <a:latin typeface="Cambria Math"/>
                        </a:rPr>
                        <m:t>.</m:t>
                      </m:r>
                      <m:r>
                        <a:rPr lang="en-GB" sz="1400" b="0" i="1" smtClean="0">
                          <a:latin typeface="Cambria Math" panose="02040503050406030204" pitchFamily="18" charset="0"/>
                        </a:rPr>
                        <m:t>1</m:t>
                      </m:r>
                      <m:r>
                        <a:rPr lang="en-GB" sz="1400" b="0" i="1" smtClean="0">
                          <a:latin typeface="Cambria Math"/>
                        </a:rPr>
                        <m:t>−</m:t>
                      </m:r>
                      <m:r>
                        <a:rPr lang="en-GB" sz="1400" i="1">
                          <a:latin typeface="Cambria Math"/>
                          <a:ea typeface="Cambria Math"/>
                        </a:rPr>
                        <m:t>(.</m:t>
                      </m:r>
                      <m:r>
                        <a:rPr lang="en-GB" sz="1400" b="0" i="1" smtClean="0">
                          <a:latin typeface="Cambria Math" panose="02040503050406030204" pitchFamily="18" charset="0"/>
                          <a:ea typeface="Cambria Math"/>
                        </a:rPr>
                        <m:t>0249</m:t>
                      </m:r>
                      <m:r>
                        <a:rPr lang="en-GB" sz="1400" i="1">
                          <a:latin typeface="Cambria Math"/>
                          <a:ea typeface="Cambria Math"/>
                        </a:rPr>
                        <m:t>×</m:t>
                      </m:r>
                      <m:r>
                        <a:rPr lang="en-GB" sz="1400" b="0" i="1" smtClean="0">
                          <a:latin typeface="Cambria Math" panose="02040503050406030204" pitchFamily="18" charset="0"/>
                          <a:ea typeface="Cambria Math"/>
                        </a:rPr>
                        <m:t>2.576</m:t>
                      </m:r>
                      <m:r>
                        <a:rPr lang="en-GB" sz="1400" i="1">
                          <a:latin typeface="Cambria Math"/>
                        </a:rPr>
                        <m:t>)</m:t>
                      </m:r>
                    </m:oMath>
                  </m:oMathPara>
                </a14:m>
                <a:endParaRPr lang="en-GB" sz="1400" b="1" dirty="0"/>
              </a:p>
            </p:txBody>
          </p:sp>
        </mc:Choice>
        <mc:Fallback xmlns="">
          <p:sp>
            <p:nvSpPr>
              <p:cNvPr id="30" name="Rectangular Callout 41">
                <a:extLst>
                  <a:ext uri="{FF2B5EF4-FFF2-40B4-BE49-F238E27FC236}">
                    <a16:creationId xmlns:a16="http://schemas.microsoft.com/office/drawing/2014/main" id="{2803CD35-734E-E01D-0E81-65A95612E02A}"/>
                  </a:ext>
                </a:extLst>
              </p:cNvPr>
              <p:cNvSpPr>
                <a:spLocks noRot="1" noChangeAspect="1" noMove="1" noResize="1" noEditPoints="1" noAdjustHandles="1" noChangeArrowheads="1" noChangeShapeType="1" noTextEdit="1"/>
              </p:cNvSpPr>
              <p:nvPr/>
            </p:nvSpPr>
            <p:spPr>
              <a:xfrm>
                <a:off x="4126416" y="4799248"/>
                <a:ext cx="1726234" cy="444015"/>
              </a:xfrm>
              <a:prstGeom prst="wedgeRectCallout">
                <a:avLst>
                  <a:gd name="adj1" fmla="val 42404"/>
                  <a:gd name="adj2" fmla="val -106451"/>
                </a:avLst>
              </a:prstGeom>
              <a:blipFill>
                <a:blip r:embed="rId5"/>
                <a:stretch>
                  <a:fillRect/>
                </a:stretch>
              </a:blip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1" name="Rectangular Callout 42">
                <a:extLst>
                  <a:ext uri="{FF2B5EF4-FFF2-40B4-BE49-F238E27FC236}">
                    <a16:creationId xmlns:a16="http://schemas.microsoft.com/office/drawing/2014/main" id="{ABD92F6B-5CB8-366C-8B3E-E23314636815}"/>
                  </a:ext>
                </a:extLst>
              </p:cNvPr>
              <p:cNvSpPr/>
              <p:nvPr/>
            </p:nvSpPr>
            <p:spPr>
              <a:xfrm>
                <a:off x="6458639" y="4795621"/>
                <a:ext cx="1726234" cy="444015"/>
              </a:xfrm>
              <a:prstGeom prst="wedgeRectCallout">
                <a:avLst>
                  <a:gd name="adj1" fmla="val -37052"/>
                  <a:gd name="adj2" fmla="val -100510"/>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GB" sz="1400" i="1" smtClean="0">
                          <a:latin typeface="Cambria Math"/>
                        </a:rPr>
                        <m:t>.</m:t>
                      </m:r>
                      <m:r>
                        <a:rPr lang="en-GB" sz="1400" b="0" i="1" smtClean="0">
                          <a:latin typeface="Cambria Math" panose="02040503050406030204" pitchFamily="18" charset="0"/>
                        </a:rPr>
                        <m:t>1</m:t>
                      </m:r>
                      <m:r>
                        <a:rPr lang="en-GB" sz="1400" b="0" i="1" smtClean="0">
                          <a:latin typeface="Cambria Math"/>
                        </a:rPr>
                        <m:t>+</m:t>
                      </m:r>
                      <m:r>
                        <a:rPr lang="en-GB" sz="1400" i="1">
                          <a:latin typeface="Cambria Math"/>
                          <a:ea typeface="Cambria Math"/>
                        </a:rPr>
                        <m:t>(.</m:t>
                      </m:r>
                      <m:r>
                        <a:rPr lang="en-GB" sz="1400" b="0" i="1" smtClean="0">
                          <a:latin typeface="Cambria Math" panose="02040503050406030204" pitchFamily="18" charset="0"/>
                          <a:ea typeface="Cambria Math"/>
                        </a:rPr>
                        <m:t>0249</m:t>
                      </m:r>
                      <m:r>
                        <a:rPr lang="en-GB" sz="1400" i="1">
                          <a:latin typeface="Cambria Math"/>
                          <a:ea typeface="Cambria Math"/>
                        </a:rPr>
                        <m:t>×</m:t>
                      </m:r>
                      <m:r>
                        <a:rPr lang="en-GB" sz="1400" b="0" i="1" smtClean="0">
                          <a:latin typeface="Cambria Math" panose="02040503050406030204" pitchFamily="18" charset="0"/>
                          <a:ea typeface="Cambria Math"/>
                        </a:rPr>
                        <m:t>2.576</m:t>
                      </m:r>
                      <m:r>
                        <a:rPr lang="en-GB" sz="1400" i="1">
                          <a:latin typeface="Cambria Math"/>
                        </a:rPr>
                        <m:t>)</m:t>
                      </m:r>
                    </m:oMath>
                  </m:oMathPara>
                </a14:m>
                <a:endParaRPr lang="en-GB" sz="1400" b="1" dirty="0"/>
              </a:p>
            </p:txBody>
          </p:sp>
        </mc:Choice>
        <mc:Fallback xmlns="">
          <p:sp>
            <p:nvSpPr>
              <p:cNvPr id="31" name="Rectangular Callout 42">
                <a:extLst>
                  <a:ext uri="{FF2B5EF4-FFF2-40B4-BE49-F238E27FC236}">
                    <a16:creationId xmlns:a16="http://schemas.microsoft.com/office/drawing/2014/main" id="{ABD92F6B-5CB8-366C-8B3E-E23314636815}"/>
                  </a:ext>
                </a:extLst>
              </p:cNvPr>
              <p:cNvSpPr>
                <a:spLocks noRot="1" noChangeAspect="1" noMove="1" noResize="1" noEditPoints="1" noAdjustHandles="1" noChangeArrowheads="1" noChangeShapeType="1" noTextEdit="1"/>
              </p:cNvSpPr>
              <p:nvPr/>
            </p:nvSpPr>
            <p:spPr>
              <a:xfrm>
                <a:off x="6458639" y="4795621"/>
                <a:ext cx="1726234" cy="444015"/>
              </a:xfrm>
              <a:prstGeom prst="wedgeRectCallout">
                <a:avLst>
                  <a:gd name="adj1" fmla="val -37052"/>
                  <a:gd name="adj2" fmla="val -100510"/>
                </a:avLst>
              </a:prstGeom>
              <a:blipFill>
                <a:blip r:embed="rId6"/>
                <a:stretch>
                  <a:fillRect/>
                </a:stretch>
              </a:blip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2" name="Rectangular Callout 44">
                <a:extLst>
                  <a:ext uri="{FF2B5EF4-FFF2-40B4-BE49-F238E27FC236}">
                    <a16:creationId xmlns:a16="http://schemas.microsoft.com/office/drawing/2014/main" id="{D79AFE30-5B06-EC92-AC0E-7763DE8D9D11}"/>
                  </a:ext>
                </a:extLst>
              </p:cNvPr>
              <p:cNvSpPr/>
              <p:nvPr/>
            </p:nvSpPr>
            <p:spPr>
              <a:xfrm>
                <a:off x="4126416" y="5579422"/>
                <a:ext cx="1726234" cy="444015"/>
              </a:xfrm>
              <a:prstGeom prst="wedgeRectCallout">
                <a:avLst>
                  <a:gd name="adj1" fmla="val 42404"/>
                  <a:gd name="adj2" fmla="val -106451"/>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GB" i="1" smtClean="0">
                          <a:latin typeface="Cambria Math"/>
                        </a:rPr>
                        <m:t>.</m:t>
                      </m:r>
                      <m:r>
                        <a:rPr lang="en-GB" b="0" i="1" smtClean="0">
                          <a:latin typeface="Cambria Math" panose="02040503050406030204" pitchFamily="18" charset="0"/>
                        </a:rPr>
                        <m:t>0358</m:t>
                      </m:r>
                    </m:oMath>
                  </m:oMathPara>
                </a14:m>
                <a:endParaRPr lang="en-GB" b="1" dirty="0"/>
              </a:p>
            </p:txBody>
          </p:sp>
        </mc:Choice>
        <mc:Fallback xmlns="">
          <p:sp>
            <p:nvSpPr>
              <p:cNvPr id="32" name="Rectangular Callout 44">
                <a:extLst>
                  <a:ext uri="{FF2B5EF4-FFF2-40B4-BE49-F238E27FC236}">
                    <a16:creationId xmlns:a16="http://schemas.microsoft.com/office/drawing/2014/main" id="{D79AFE30-5B06-EC92-AC0E-7763DE8D9D11}"/>
                  </a:ext>
                </a:extLst>
              </p:cNvPr>
              <p:cNvSpPr>
                <a:spLocks noRot="1" noChangeAspect="1" noMove="1" noResize="1" noEditPoints="1" noAdjustHandles="1" noChangeArrowheads="1" noChangeShapeType="1" noTextEdit="1"/>
              </p:cNvSpPr>
              <p:nvPr/>
            </p:nvSpPr>
            <p:spPr>
              <a:xfrm>
                <a:off x="4126416" y="5579422"/>
                <a:ext cx="1726234" cy="444015"/>
              </a:xfrm>
              <a:prstGeom prst="wedgeRectCallout">
                <a:avLst>
                  <a:gd name="adj1" fmla="val 42404"/>
                  <a:gd name="adj2" fmla="val -106451"/>
                </a:avLst>
              </a:prstGeom>
              <a:blipFill>
                <a:blip r:embed="rId7"/>
                <a:stretch>
                  <a:fillRect/>
                </a:stretch>
              </a:blip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3" name="Rectangular Callout 45">
                <a:extLst>
                  <a:ext uri="{FF2B5EF4-FFF2-40B4-BE49-F238E27FC236}">
                    <a16:creationId xmlns:a16="http://schemas.microsoft.com/office/drawing/2014/main" id="{98E56C24-AF87-CD76-3A01-694D473EAC7C}"/>
                  </a:ext>
                </a:extLst>
              </p:cNvPr>
              <p:cNvSpPr/>
              <p:nvPr/>
            </p:nvSpPr>
            <p:spPr>
              <a:xfrm>
                <a:off x="6458639" y="5579422"/>
                <a:ext cx="1726234" cy="444015"/>
              </a:xfrm>
              <a:prstGeom prst="wedgeRectCallout">
                <a:avLst>
                  <a:gd name="adj1" fmla="val -37052"/>
                  <a:gd name="adj2" fmla="val -100510"/>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GB" i="1" smtClean="0">
                          <a:latin typeface="Cambria Math"/>
                        </a:rPr>
                        <m:t>.</m:t>
                      </m:r>
                      <m:r>
                        <a:rPr lang="en-GB" i="1" smtClean="0">
                          <a:latin typeface="Cambria Math" panose="02040503050406030204" pitchFamily="18" charset="0"/>
                        </a:rPr>
                        <m:t>1</m:t>
                      </m:r>
                      <m:r>
                        <a:rPr lang="en-GB" b="0" i="1" smtClean="0">
                          <a:latin typeface="Cambria Math" panose="02040503050406030204" pitchFamily="18" charset="0"/>
                        </a:rPr>
                        <m:t>641</m:t>
                      </m:r>
                    </m:oMath>
                  </m:oMathPara>
                </a14:m>
                <a:endParaRPr lang="en-GB" b="1" dirty="0"/>
              </a:p>
            </p:txBody>
          </p:sp>
        </mc:Choice>
        <mc:Fallback xmlns="">
          <p:sp>
            <p:nvSpPr>
              <p:cNvPr id="33" name="Rectangular Callout 45">
                <a:extLst>
                  <a:ext uri="{FF2B5EF4-FFF2-40B4-BE49-F238E27FC236}">
                    <a16:creationId xmlns:a16="http://schemas.microsoft.com/office/drawing/2014/main" id="{98E56C24-AF87-CD76-3A01-694D473EAC7C}"/>
                  </a:ext>
                </a:extLst>
              </p:cNvPr>
              <p:cNvSpPr>
                <a:spLocks noRot="1" noChangeAspect="1" noMove="1" noResize="1" noEditPoints="1" noAdjustHandles="1" noChangeArrowheads="1" noChangeShapeType="1" noTextEdit="1"/>
              </p:cNvSpPr>
              <p:nvPr/>
            </p:nvSpPr>
            <p:spPr>
              <a:xfrm>
                <a:off x="6458639" y="5579422"/>
                <a:ext cx="1726234" cy="444015"/>
              </a:xfrm>
              <a:prstGeom prst="wedgeRectCallout">
                <a:avLst>
                  <a:gd name="adj1" fmla="val -37052"/>
                  <a:gd name="adj2" fmla="val -100510"/>
                </a:avLst>
              </a:prstGeom>
              <a:blipFill>
                <a:blip r:embed="rId8"/>
                <a:stretch>
                  <a:fillRect/>
                </a:stretch>
              </a:blipFill>
              <a:ln/>
            </p:spPr>
            <p:txBody>
              <a:bodyPr/>
              <a:lstStyle/>
              <a:p>
                <a:r>
                  <a:rPr lang="en-GB">
                    <a:noFill/>
                  </a:rPr>
                  <a:t> </a:t>
                </a:r>
              </a:p>
            </p:txBody>
          </p:sp>
        </mc:Fallback>
      </mc:AlternateContent>
      <p:sp>
        <p:nvSpPr>
          <p:cNvPr id="34" name="Explosion 1 136192">
            <a:extLst>
              <a:ext uri="{FF2B5EF4-FFF2-40B4-BE49-F238E27FC236}">
                <a16:creationId xmlns:a16="http://schemas.microsoft.com/office/drawing/2014/main" id="{59E76067-2446-BB38-0DFE-20E33E5BA7CD}"/>
              </a:ext>
            </a:extLst>
          </p:cNvPr>
          <p:cNvSpPr/>
          <p:nvPr/>
        </p:nvSpPr>
        <p:spPr>
          <a:xfrm>
            <a:off x="1011506" y="3350194"/>
            <a:ext cx="2819400" cy="1676399"/>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3% - 16%</a:t>
            </a:r>
          </a:p>
        </p:txBody>
      </p:sp>
    </p:spTree>
    <p:extLst>
      <p:ext uri="{BB962C8B-B14F-4D97-AF65-F5344CB8AC3E}">
        <p14:creationId xmlns:p14="http://schemas.microsoft.com/office/powerpoint/2010/main" val="889395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5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500"/>
                                        <p:tgtEl>
                                          <p:spTgt spid="3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1"/>
                                        </p:tgtEl>
                                        <p:attrNameLst>
                                          <p:attrName>style.visibility</p:attrName>
                                        </p:attrNameLst>
                                      </p:cBhvr>
                                      <p:to>
                                        <p:strVal val="visible"/>
                                      </p:to>
                                    </p:set>
                                    <p:animEffect transition="in" filter="fade">
                                      <p:cBhvr>
                                        <p:cTn id="20" dur="500"/>
                                        <p:tgtEl>
                                          <p:spTgt spid="31"/>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2"/>
                                        </p:tgtEl>
                                        <p:attrNameLst>
                                          <p:attrName>style.visibility</p:attrName>
                                        </p:attrNameLst>
                                      </p:cBhvr>
                                      <p:to>
                                        <p:strVal val="visible"/>
                                      </p:to>
                                    </p:set>
                                    <p:animEffect transition="in" filter="fade">
                                      <p:cBhvr>
                                        <p:cTn id="25" dur="500"/>
                                        <p:tgtEl>
                                          <p:spTgt spid="3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3"/>
                                        </p:tgtEl>
                                        <p:attrNameLst>
                                          <p:attrName>style.visibility</p:attrName>
                                        </p:attrNameLst>
                                      </p:cBhvr>
                                      <p:to>
                                        <p:strVal val="visible"/>
                                      </p:to>
                                    </p:set>
                                    <p:animEffect transition="in" filter="fade">
                                      <p:cBhvr>
                                        <p:cTn id="28" dur="500"/>
                                        <p:tgtEl>
                                          <p:spTgt spid="33"/>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4"/>
                                        </p:tgtEl>
                                        <p:attrNameLst>
                                          <p:attrName>style.visibility</p:attrName>
                                        </p:attrNameLst>
                                      </p:cBhvr>
                                      <p:to>
                                        <p:strVal val="visible"/>
                                      </p:to>
                                    </p:set>
                                    <p:animEffect transition="in" filter="fade">
                                      <p:cBhvr>
                                        <p:cTn id="33"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30" grpId="0" animBg="1"/>
      <p:bldP spid="31" grpId="0" animBg="1"/>
      <p:bldP spid="32" grpId="0" animBg="1"/>
      <p:bldP spid="33" grpId="0" animBg="1"/>
      <p:bldP spid="3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6AC4F-E9F1-280D-C2C4-C5B3B8998C59}"/>
              </a:ext>
            </a:extLst>
          </p:cNvPr>
          <p:cNvSpPr>
            <a:spLocks noGrp="1"/>
          </p:cNvSpPr>
          <p:nvPr>
            <p:ph type="title"/>
          </p:nvPr>
        </p:nvSpPr>
        <p:spPr/>
        <p:txBody>
          <a:bodyPr/>
          <a:lstStyle/>
          <a:p>
            <a:r>
              <a:rPr lang="en-GB" dirty="0"/>
              <a:t>Exercise Problem 2</a:t>
            </a:r>
          </a:p>
        </p:txBody>
      </p:sp>
      <p:sp>
        <p:nvSpPr>
          <p:cNvPr id="3" name="Text Box 3">
            <a:extLst>
              <a:ext uri="{FF2B5EF4-FFF2-40B4-BE49-F238E27FC236}">
                <a16:creationId xmlns:a16="http://schemas.microsoft.com/office/drawing/2014/main" id="{EF0D6464-0930-6879-503D-495A5885CB7A}"/>
              </a:ext>
            </a:extLst>
          </p:cNvPr>
          <p:cNvSpPr txBox="1">
            <a:spLocks noChangeArrowheads="1"/>
          </p:cNvSpPr>
          <p:nvPr/>
        </p:nvSpPr>
        <p:spPr bwMode="auto">
          <a:xfrm>
            <a:off x="304800" y="762000"/>
            <a:ext cx="800100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GB" altLang="en-US" sz="2000" dirty="0"/>
              <a:t>If the </a:t>
            </a:r>
            <a:r>
              <a:rPr lang="en-GB" altLang="en-US" sz="2000" b="1" dirty="0"/>
              <a:t>percentage </a:t>
            </a:r>
            <a:r>
              <a:rPr lang="en-GB" altLang="en-US" sz="2000" dirty="0"/>
              <a:t>of those who prefer rice over noodle </a:t>
            </a:r>
            <a:r>
              <a:rPr lang="en-GB" altLang="en-US" sz="2000" b="1" dirty="0"/>
              <a:t>is</a:t>
            </a:r>
            <a:r>
              <a:rPr lang="en-GB" altLang="en-US" sz="2000" dirty="0"/>
              <a:t> roughly </a:t>
            </a:r>
            <a:r>
              <a:rPr lang="en-GB" altLang="en-US" sz="2000" b="1" dirty="0"/>
              <a:t>25%, </a:t>
            </a:r>
            <a:r>
              <a:rPr lang="en-GB" altLang="en-US" sz="2000" dirty="0"/>
              <a:t>and we want to </a:t>
            </a:r>
            <a:r>
              <a:rPr lang="en-GB" altLang="en-US" sz="2000" b="1" dirty="0"/>
              <a:t>collect a sample </a:t>
            </a:r>
            <a:r>
              <a:rPr lang="en-GB" altLang="en-US" sz="2000" dirty="0"/>
              <a:t>that is </a:t>
            </a:r>
            <a:r>
              <a:rPr lang="en-GB" altLang="en-US" sz="2000" b="1" dirty="0"/>
              <a:t>within 2%</a:t>
            </a:r>
            <a:r>
              <a:rPr lang="en-GB" altLang="en-US" sz="2000" dirty="0"/>
              <a:t> </a:t>
            </a:r>
            <a:r>
              <a:rPr lang="en-GB" altLang="en-US" sz="2000" b="1" dirty="0"/>
              <a:t>of</a:t>
            </a:r>
            <a:r>
              <a:rPr lang="en-GB" altLang="en-US" sz="2000" dirty="0"/>
              <a:t> this </a:t>
            </a:r>
            <a:r>
              <a:rPr lang="en-GB" altLang="en-US" sz="2000" b="1" dirty="0"/>
              <a:t>population</a:t>
            </a:r>
            <a:r>
              <a:rPr lang="en-GB" altLang="en-US" sz="2000" dirty="0"/>
              <a:t> percentage, </a:t>
            </a:r>
            <a:r>
              <a:rPr lang="en-GB" altLang="en-US" sz="2000" b="1" dirty="0"/>
              <a:t>what sample size </a:t>
            </a:r>
            <a:r>
              <a:rPr lang="en-GB" altLang="en-US" sz="2000" dirty="0"/>
              <a:t>would we require? (95% Confidence Interval)</a:t>
            </a:r>
          </a:p>
        </p:txBody>
      </p:sp>
      <p:grpSp>
        <p:nvGrpSpPr>
          <p:cNvPr id="6" name="Group 5">
            <a:extLst>
              <a:ext uri="{FF2B5EF4-FFF2-40B4-BE49-F238E27FC236}">
                <a16:creationId xmlns:a16="http://schemas.microsoft.com/office/drawing/2014/main" id="{A97CDD69-06BE-734B-C49B-628B91466BB2}"/>
              </a:ext>
            </a:extLst>
          </p:cNvPr>
          <p:cNvGrpSpPr/>
          <p:nvPr/>
        </p:nvGrpSpPr>
        <p:grpSpPr>
          <a:xfrm>
            <a:off x="1685827" y="2286000"/>
            <a:ext cx="5629373" cy="2667000"/>
            <a:chOff x="1685827" y="2286000"/>
            <a:chExt cx="5629373" cy="2667000"/>
          </a:xfrm>
        </p:grpSpPr>
        <p:grpSp>
          <p:nvGrpSpPr>
            <p:cNvPr id="7" name="Group 6">
              <a:extLst>
                <a:ext uri="{FF2B5EF4-FFF2-40B4-BE49-F238E27FC236}">
                  <a16:creationId xmlns:a16="http://schemas.microsoft.com/office/drawing/2014/main" id="{80C975B5-580B-F3F4-F895-4574A75E81BD}"/>
                </a:ext>
              </a:extLst>
            </p:cNvPr>
            <p:cNvGrpSpPr/>
            <p:nvPr/>
          </p:nvGrpSpPr>
          <p:grpSpPr>
            <a:xfrm>
              <a:off x="1685827" y="2286000"/>
              <a:ext cx="5629373" cy="2667000"/>
              <a:chOff x="1685827" y="2286000"/>
              <a:chExt cx="5629373" cy="2667000"/>
            </a:xfrm>
          </p:grpSpPr>
          <p:cxnSp>
            <p:nvCxnSpPr>
              <p:cNvPr id="9" name="Straight Arrow Connector 8">
                <a:extLst>
                  <a:ext uri="{FF2B5EF4-FFF2-40B4-BE49-F238E27FC236}">
                    <a16:creationId xmlns:a16="http://schemas.microsoft.com/office/drawing/2014/main" id="{ACCF5215-3572-DB68-90A2-6B59DFAAADA8}"/>
                  </a:ext>
                </a:extLst>
              </p:cNvPr>
              <p:cNvCxnSpPr/>
              <p:nvPr/>
            </p:nvCxnSpPr>
            <p:spPr>
              <a:xfrm>
                <a:off x="1685827" y="2286000"/>
                <a:ext cx="0" cy="2667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4AB7E5DC-11AC-133C-2CDD-3F995ACAC403}"/>
                  </a:ext>
                </a:extLst>
              </p:cNvPr>
              <p:cNvCxnSpPr/>
              <p:nvPr/>
            </p:nvCxnSpPr>
            <p:spPr>
              <a:xfrm>
                <a:off x="7315200" y="2286000"/>
                <a:ext cx="0" cy="174317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 name="Elbow Connector 35">
                <a:extLst>
                  <a:ext uri="{FF2B5EF4-FFF2-40B4-BE49-F238E27FC236}">
                    <a16:creationId xmlns:a16="http://schemas.microsoft.com/office/drawing/2014/main" id="{4655BDB7-DD8E-DD52-4775-1212F531021F}"/>
                  </a:ext>
                </a:extLst>
              </p:cNvPr>
              <p:cNvCxnSpPr/>
              <p:nvPr/>
            </p:nvCxnSpPr>
            <p:spPr>
              <a:xfrm flipV="1">
                <a:off x="1685827" y="2286000"/>
                <a:ext cx="2809973" cy="2667000"/>
              </a:xfrm>
              <a:prstGeom prst="bentConnector3">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Elbow Connector 36">
                <a:extLst>
                  <a:ext uri="{FF2B5EF4-FFF2-40B4-BE49-F238E27FC236}">
                    <a16:creationId xmlns:a16="http://schemas.microsoft.com/office/drawing/2014/main" id="{82CAC6F1-EEC4-2D94-1430-FDB79719E787}"/>
                  </a:ext>
                </a:extLst>
              </p:cNvPr>
              <p:cNvCxnSpPr/>
              <p:nvPr/>
            </p:nvCxnSpPr>
            <p:spPr>
              <a:xfrm flipV="1">
                <a:off x="4495800" y="2286000"/>
                <a:ext cx="2819400" cy="2667000"/>
              </a:xfrm>
              <a:prstGeom prst="bentConnector3">
                <a:avLst/>
              </a:prstGeom>
              <a:ln>
                <a:tailEnd type="arrow"/>
              </a:ln>
            </p:spPr>
            <p:style>
              <a:lnRef idx="1">
                <a:schemeClr val="accent1"/>
              </a:lnRef>
              <a:fillRef idx="0">
                <a:schemeClr val="accent1"/>
              </a:fillRef>
              <a:effectRef idx="0">
                <a:schemeClr val="accent1"/>
              </a:effectRef>
              <a:fontRef idx="minor">
                <a:schemeClr val="tx1"/>
              </a:fontRef>
            </p:style>
          </p:cxnSp>
        </p:grpSp>
        <p:cxnSp>
          <p:nvCxnSpPr>
            <p:cNvPr id="8" name="Straight Arrow Connector 7">
              <a:extLst>
                <a:ext uri="{FF2B5EF4-FFF2-40B4-BE49-F238E27FC236}">
                  <a16:creationId xmlns:a16="http://schemas.microsoft.com/office/drawing/2014/main" id="{65340559-E8FF-5726-BBFB-4868C40B9099}"/>
                </a:ext>
              </a:extLst>
            </p:cNvPr>
            <p:cNvCxnSpPr/>
            <p:nvPr/>
          </p:nvCxnSpPr>
          <p:spPr>
            <a:xfrm>
              <a:off x="4495800" y="2286000"/>
              <a:ext cx="0" cy="2667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3" name="Flowchart: Predefined Process 12">
                <a:extLst>
                  <a:ext uri="{FF2B5EF4-FFF2-40B4-BE49-F238E27FC236}">
                    <a16:creationId xmlns:a16="http://schemas.microsoft.com/office/drawing/2014/main" id="{6DE3B257-34B0-02C1-6304-1EA5236101AB}"/>
                  </a:ext>
                </a:extLst>
              </p:cNvPr>
              <p:cNvSpPr/>
              <p:nvPr/>
            </p:nvSpPr>
            <p:spPr>
              <a:xfrm>
                <a:off x="542827" y="2399336"/>
                <a:ext cx="2286000" cy="428919"/>
              </a:xfrm>
              <a:prstGeom prst="flowChartPredefinedProcess">
                <a:avLst/>
              </a:prstGeom>
            </p:spPr>
            <p:style>
              <a:lnRef idx="1">
                <a:schemeClr val="accent4"/>
              </a:lnRef>
              <a:fillRef idx="2">
                <a:schemeClr val="accent4"/>
              </a:fillRef>
              <a:effectRef idx="1">
                <a:schemeClr val="accent4"/>
              </a:effectRef>
              <a:fontRef idx="minor">
                <a:schemeClr val="dk1"/>
              </a:fontRef>
            </p:style>
            <p:txBody>
              <a:bodyPr rtlCol="0" anchor="ctr"/>
              <a:lstStyle/>
              <a:p>
                <a:pPr algn="ctr"/>
                <a14:m>
                  <m:oMath xmlns:m="http://schemas.openxmlformats.org/officeDocument/2006/math">
                    <m:sSub>
                      <m:sSubPr>
                        <m:ctrlPr>
                          <a:rPr lang="en-GB" sz="2400" i="1" smtClean="0">
                            <a:latin typeface="Cambria Math" panose="02040503050406030204" pitchFamily="18" charset="0"/>
                            <a:ea typeface="Cambria Math"/>
                          </a:rPr>
                        </m:ctrlPr>
                      </m:sSubPr>
                      <m:e>
                        <m:r>
                          <a:rPr lang="en-GB" sz="2400" i="1">
                            <a:latin typeface="Cambria Math"/>
                            <a:ea typeface="Cambria Math"/>
                          </a:rPr>
                          <m:t>𝜎</m:t>
                        </m:r>
                      </m:e>
                      <m:sub>
                        <m:r>
                          <a:rPr lang="en-GB" sz="2400" b="0" i="1" smtClean="0">
                            <a:latin typeface="Cambria Math"/>
                            <a:ea typeface="Cambria Math"/>
                          </a:rPr>
                          <m:t>𝑝</m:t>
                        </m:r>
                      </m:sub>
                    </m:sSub>
                    <m:sSub>
                      <m:sSubPr>
                        <m:ctrlPr>
                          <a:rPr lang="en-GB" sz="2400" b="0" i="1" smtClean="0">
                            <a:latin typeface="Cambria Math" panose="02040503050406030204" pitchFamily="18" charset="0"/>
                          </a:rPr>
                        </m:ctrlPr>
                      </m:sSubPr>
                      <m:e>
                        <m:r>
                          <a:rPr lang="en-GB" sz="2400" b="0" i="1" smtClean="0">
                            <a:latin typeface="Cambria Math"/>
                          </a:rPr>
                          <m:t>𝑍</m:t>
                        </m:r>
                      </m:e>
                      <m:sub>
                        <m:r>
                          <a:rPr lang="en-GB" sz="2400" b="0" i="1" smtClean="0">
                            <a:latin typeface="Cambria Math"/>
                          </a:rPr>
                          <m:t>𝑐𝑟𝑖𝑡</m:t>
                        </m:r>
                      </m:sub>
                    </m:sSub>
                  </m:oMath>
                </a14:m>
                <a:r>
                  <a:rPr lang="en-GB" sz="2400" b="1" dirty="0"/>
                  <a:t>=.02</a:t>
                </a:r>
                <a:r>
                  <a:rPr lang="en-GB" sz="2400" dirty="0"/>
                  <a:t> </a:t>
                </a:r>
              </a:p>
            </p:txBody>
          </p:sp>
        </mc:Choice>
        <mc:Fallback xmlns="">
          <p:sp>
            <p:nvSpPr>
              <p:cNvPr id="13" name="Flowchart: Predefined Process 12">
                <a:extLst>
                  <a:ext uri="{FF2B5EF4-FFF2-40B4-BE49-F238E27FC236}">
                    <a16:creationId xmlns:a16="http://schemas.microsoft.com/office/drawing/2014/main" id="{6DE3B257-34B0-02C1-6304-1EA5236101AB}"/>
                  </a:ext>
                </a:extLst>
              </p:cNvPr>
              <p:cNvSpPr>
                <a:spLocks noRot="1" noChangeAspect="1" noMove="1" noResize="1" noEditPoints="1" noAdjustHandles="1" noChangeArrowheads="1" noChangeShapeType="1" noTextEdit="1"/>
              </p:cNvSpPr>
              <p:nvPr/>
            </p:nvSpPr>
            <p:spPr>
              <a:xfrm>
                <a:off x="542827" y="2399336"/>
                <a:ext cx="2286000" cy="428919"/>
              </a:xfrm>
              <a:prstGeom prst="flowChartPredefinedProcess">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Flowchart: Predefined Process 13">
                <a:extLst>
                  <a:ext uri="{FF2B5EF4-FFF2-40B4-BE49-F238E27FC236}">
                    <a16:creationId xmlns:a16="http://schemas.microsoft.com/office/drawing/2014/main" id="{D6C35147-021D-4058-7CFC-9AAE9F99F1D8}"/>
                  </a:ext>
                </a:extLst>
              </p:cNvPr>
              <p:cNvSpPr/>
              <p:nvPr/>
            </p:nvSpPr>
            <p:spPr>
              <a:xfrm>
                <a:off x="542827" y="3002842"/>
                <a:ext cx="2286000" cy="428919"/>
              </a:xfrm>
              <a:prstGeom prst="flowChartPredefinedProcess">
                <a:avLst/>
              </a:prstGeom>
            </p:spPr>
            <p:style>
              <a:lnRef idx="1">
                <a:schemeClr val="accent4"/>
              </a:lnRef>
              <a:fillRef idx="2">
                <a:schemeClr val="accent4"/>
              </a:fillRef>
              <a:effectRef idx="1">
                <a:schemeClr val="accent4"/>
              </a:effectRef>
              <a:fontRef idx="minor">
                <a:schemeClr val="dk1"/>
              </a:fontRef>
            </p:style>
            <p:txBody>
              <a:bodyPr rtlCol="0" anchor="ctr"/>
              <a:lstStyle/>
              <a:p>
                <a:pPr algn="ctr"/>
                <a14:m>
                  <m:oMath xmlns:m="http://schemas.openxmlformats.org/officeDocument/2006/math">
                    <m:sSub>
                      <m:sSubPr>
                        <m:ctrlPr>
                          <a:rPr lang="en-GB" sz="2400" i="1" smtClean="0">
                            <a:latin typeface="Cambria Math" panose="02040503050406030204" pitchFamily="18" charset="0"/>
                            <a:ea typeface="Cambria Math"/>
                          </a:rPr>
                        </m:ctrlPr>
                      </m:sSubPr>
                      <m:e>
                        <m:r>
                          <a:rPr lang="en-GB" sz="2400" i="1">
                            <a:latin typeface="Cambria Math"/>
                            <a:ea typeface="Cambria Math"/>
                          </a:rPr>
                          <m:t>𝜎</m:t>
                        </m:r>
                      </m:e>
                      <m:sub>
                        <m:r>
                          <a:rPr lang="en-GB" sz="2400" b="0" i="1" smtClean="0">
                            <a:latin typeface="Cambria Math"/>
                            <a:ea typeface="Cambria Math"/>
                          </a:rPr>
                          <m:t>𝑝</m:t>
                        </m:r>
                      </m:sub>
                    </m:sSub>
                  </m:oMath>
                </a14:m>
                <a:r>
                  <a:rPr lang="en-GB" sz="2400" b="1" dirty="0"/>
                  <a:t>1.96=.02</a:t>
                </a:r>
                <a:r>
                  <a:rPr lang="en-GB" sz="2400" dirty="0"/>
                  <a:t> </a:t>
                </a:r>
              </a:p>
            </p:txBody>
          </p:sp>
        </mc:Choice>
        <mc:Fallback xmlns="">
          <p:sp>
            <p:nvSpPr>
              <p:cNvPr id="14" name="Flowchart: Predefined Process 13">
                <a:extLst>
                  <a:ext uri="{FF2B5EF4-FFF2-40B4-BE49-F238E27FC236}">
                    <a16:creationId xmlns:a16="http://schemas.microsoft.com/office/drawing/2014/main" id="{D6C35147-021D-4058-7CFC-9AAE9F99F1D8}"/>
                  </a:ext>
                </a:extLst>
              </p:cNvPr>
              <p:cNvSpPr>
                <a:spLocks noRot="1" noChangeAspect="1" noMove="1" noResize="1" noEditPoints="1" noAdjustHandles="1" noChangeArrowheads="1" noChangeShapeType="1" noTextEdit="1"/>
              </p:cNvSpPr>
              <p:nvPr/>
            </p:nvSpPr>
            <p:spPr>
              <a:xfrm>
                <a:off x="542827" y="3002842"/>
                <a:ext cx="2286000" cy="428919"/>
              </a:xfrm>
              <a:prstGeom prst="flowChartPredefinedProcess">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Flowchart: Predefined Process 14">
                <a:extLst>
                  <a:ext uri="{FF2B5EF4-FFF2-40B4-BE49-F238E27FC236}">
                    <a16:creationId xmlns:a16="http://schemas.microsoft.com/office/drawing/2014/main" id="{D3D69D83-851C-8585-ADE8-DBBEFFD52F5B}"/>
                  </a:ext>
                </a:extLst>
              </p:cNvPr>
              <p:cNvSpPr/>
              <p:nvPr/>
            </p:nvSpPr>
            <p:spPr>
              <a:xfrm>
                <a:off x="534589" y="3609394"/>
                <a:ext cx="2286000" cy="428919"/>
              </a:xfrm>
              <a:prstGeom prst="flowChartPredefinedProcess">
                <a:avLst/>
              </a:prstGeom>
            </p:spPr>
            <p:style>
              <a:lnRef idx="1">
                <a:schemeClr val="accent4"/>
              </a:lnRef>
              <a:fillRef idx="2">
                <a:schemeClr val="accent4"/>
              </a:fillRef>
              <a:effectRef idx="1">
                <a:schemeClr val="accent4"/>
              </a:effectRef>
              <a:fontRef idx="minor">
                <a:schemeClr val="dk1"/>
              </a:fontRef>
            </p:style>
            <p:txBody>
              <a:bodyPr rtlCol="0" anchor="ctr"/>
              <a:lstStyle/>
              <a:p>
                <a:pPr algn="ctr"/>
                <a14:m>
                  <m:oMath xmlns:m="http://schemas.openxmlformats.org/officeDocument/2006/math">
                    <m:sSub>
                      <m:sSubPr>
                        <m:ctrlPr>
                          <a:rPr lang="en-GB" sz="2400" i="1" smtClean="0">
                            <a:latin typeface="Cambria Math" panose="02040503050406030204" pitchFamily="18" charset="0"/>
                            <a:ea typeface="Cambria Math"/>
                          </a:rPr>
                        </m:ctrlPr>
                      </m:sSubPr>
                      <m:e>
                        <m:r>
                          <a:rPr lang="en-GB" sz="2400" i="1">
                            <a:latin typeface="Cambria Math"/>
                            <a:ea typeface="Cambria Math"/>
                          </a:rPr>
                          <m:t>𝜎</m:t>
                        </m:r>
                      </m:e>
                      <m:sub>
                        <m:r>
                          <a:rPr lang="en-GB" sz="2400" b="0" i="1" smtClean="0">
                            <a:latin typeface="Cambria Math"/>
                            <a:ea typeface="Cambria Math"/>
                          </a:rPr>
                          <m:t>𝑝</m:t>
                        </m:r>
                      </m:sub>
                    </m:sSub>
                  </m:oMath>
                </a14:m>
                <a:r>
                  <a:rPr lang="en-GB" sz="2400" b="1" dirty="0"/>
                  <a:t>=.02/1.96</a:t>
                </a:r>
                <a:r>
                  <a:rPr lang="en-GB" sz="2400" dirty="0"/>
                  <a:t> </a:t>
                </a:r>
              </a:p>
            </p:txBody>
          </p:sp>
        </mc:Choice>
        <mc:Fallback xmlns="">
          <p:sp>
            <p:nvSpPr>
              <p:cNvPr id="15" name="Flowchart: Predefined Process 14">
                <a:extLst>
                  <a:ext uri="{FF2B5EF4-FFF2-40B4-BE49-F238E27FC236}">
                    <a16:creationId xmlns:a16="http://schemas.microsoft.com/office/drawing/2014/main" id="{D3D69D83-851C-8585-ADE8-DBBEFFD52F5B}"/>
                  </a:ext>
                </a:extLst>
              </p:cNvPr>
              <p:cNvSpPr>
                <a:spLocks noRot="1" noChangeAspect="1" noMove="1" noResize="1" noEditPoints="1" noAdjustHandles="1" noChangeArrowheads="1" noChangeShapeType="1" noTextEdit="1"/>
              </p:cNvSpPr>
              <p:nvPr/>
            </p:nvSpPr>
            <p:spPr>
              <a:xfrm>
                <a:off x="534589" y="3609394"/>
                <a:ext cx="2286000" cy="428919"/>
              </a:xfrm>
              <a:prstGeom prst="flowChartPredefinedProcess">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Flowchart: Predefined Process 15">
                <a:extLst>
                  <a:ext uri="{FF2B5EF4-FFF2-40B4-BE49-F238E27FC236}">
                    <a16:creationId xmlns:a16="http://schemas.microsoft.com/office/drawing/2014/main" id="{F7BE558E-0196-DA1B-EE5B-AF3D85F8107F}"/>
                  </a:ext>
                </a:extLst>
              </p:cNvPr>
              <p:cNvSpPr/>
              <p:nvPr/>
            </p:nvSpPr>
            <p:spPr>
              <a:xfrm>
                <a:off x="542827" y="4209854"/>
                <a:ext cx="2286000" cy="428919"/>
              </a:xfrm>
              <a:prstGeom prst="flowChartPredefinedProcess">
                <a:avLst/>
              </a:prstGeom>
            </p:spPr>
            <p:style>
              <a:lnRef idx="1">
                <a:schemeClr val="accent4"/>
              </a:lnRef>
              <a:fillRef idx="2">
                <a:schemeClr val="accent4"/>
              </a:fillRef>
              <a:effectRef idx="1">
                <a:schemeClr val="accent4"/>
              </a:effectRef>
              <a:fontRef idx="minor">
                <a:schemeClr val="dk1"/>
              </a:fontRef>
            </p:style>
            <p:txBody>
              <a:bodyPr rtlCol="0" anchor="ctr"/>
              <a:lstStyle/>
              <a:p>
                <a:pPr algn="ctr"/>
                <a14:m>
                  <m:oMath xmlns:m="http://schemas.openxmlformats.org/officeDocument/2006/math">
                    <m:sSub>
                      <m:sSubPr>
                        <m:ctrlPr>
                          <a:rPr lang="en-GB" sz="2400" i="1" smtClean="0">
                            <a:latin typeface="Cambria Math" panose="02040503050406030204" pitchFamily="18" charset="0"/>
                            <a:ea typeface="Cambria Math"/>
                          </a:rPr>
                        </m:ctrlPr>
                      </m:sSubPr>
                      <m:e>
                        <m:r>
                          <a:rPr lang="en-GB" sz="2400" i="1">
                            <a:latin typeface="Cambria Math"/>
                            <a:ea typeface="Cambria Math"/>
                          </a:rPr>
                          <m:t>𝜎</m:t>
                        </m:r>
                      </m:e>
                      <m:sub>
                        <m:r>
                          <a:rPr lang="en-GB" sz="2400" b="0" i="1" smtClean="0">
                            <a:latin typeface="Cambria Math"/>
                            <a:ea typeface="Cambria Math"/>
                          </a:rPr>
                          <m:t>𝑝</m:t>
                        </m:r>
                      </m:sub>
                    </m:sSub>
                  </m:oMath>
                </a14:m>
                <a:r>
                  <a:rPr lang="en-GB" sz="2400" b="1" dirty="0"/>
                  <a:t> = .01020</a:t>
                </a:r>
                <a:endParaRPr lang="en-GB" sz="2400" dirty="0"/>
              </a:p>
            </p:txBody>
          </p:sp>
        </mc:Choice>
        <mc:Fallback xmlns="">
          <p:sp>
            <p:nvSpPr>
              <p:cNvPr id="16" name="Flowchart: Predefined Process 15">
                <a:extLst>
                  <a:ext uri="{FF2B5EF4-FFF2-40B4-BE49-F238E27FC236}">
                    <a16:creationId xmlns:a16="http://schemas.microsoft.com/office/drawing/2014/main" id="{F7BE558E-0196-DA1B-EE5B-AF3D85F8107F}"/>
                  </a:ext>
                </a:extLst>
              </p:cNvPr>
              <p:cNvSpPr>
                <a:spLocks noRot="1" noChangeAspect="1" noMove="1" noResize="1" noEditPoints="1" noAdjustHandles="1" noChangeArrowheads="1" noChangeShapeType="1" noTextEdit="1"/>
              </p:cNvSpPr>
              <p:nvPr/>
            </p:nvSpPr>
            <p:spPr>
              <a:xfrm>
                <a:off x="542827" y="4209854"/>
                <a:ext cx="2286000" cy="428919"/>
              </a:xfrm>
              <a:prstGeom prst="flowChartPredefinedProcess">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Flowchart: Predefined Process 16">
                <a:extLst>
                  <a:ext uri="{FF2B5EF4-FFF2-40B4-BE49-F238E27FC236}">
                    <a16:creationId xmlns:a16="http://schemas.microsoft.com/office/drawing/2014/main" id="{D42F07A0-D75E-6A44-F300-01423FA3FD19}"/>
                  </a:ext>
                </a:extLst>
              </p:cNvPr>
              <p:cNvSpPr/>
              <p:nvPr/>
            </p:nvSpPr>
            <p:spPr>
              <a:xfrm>
                <a:off x="3352800" y="2399336"/>
                <a:ext cx="2286000" cy="609600"/>
              </a:xfrm>
              <a:prstGeom prst="flowChartPredefinedProcess">
                <a:avLst/>
              </a:prstGeom>
            </p:spPr>
            <p:style>
              <a:lnRef idx="1">
                <a:schemeClr val="accent2"/>
              </a:lnRef>
              <a:fillRef idx="2">
                <a:schemeClr val="accent2"/>
              </a:fillRef>
              <a:effectRef idx="1">
                <a:schemeClr val="accent2"/>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GB" sz="1400" i="1" smtClean="0">
                              <a:latin typeface="Cambria Math" panose="02040503050406030204" pitchFamily="18" charset="0"/>
                              <a:ea typeface="Cambria Math"/>
                            </a:rPr>
                          </m:ctrlPr>
                        </m:sSubPr>
                        <m:e>
                          <m:r>
                            <a:rPr lang="en-GB" sz="1400" i="1">
                              <a:latin typeface="Cambria Math"/>
                              <a:ea typeface="Cambria Math"/>
                            </a:rPr>
                            <m:t>𝜎</m:t>
                          </m:r>
                        </m:e>
                        <m:sub>
                          <m:r>
                            <a:rPr lang="en-GB" sz="1400" b="0" i="1" smtClean="0">
                              <a:latin typeface="Cambria Math"/>
                              <a:ea typeface="Cambria Math"/>
                            </a:rPr>
                            <m:t>𝑝</m:t>
                          </m:r>
                        </m:sub>
                      </m:sSub>
                      <m:r>
                        <a:rPr lang="en-GB" sz="1200" i="1">
                          <a:latin typeface="Cambria Math"/>
                          <a:ea typeface="Cambria Math"/>
                        </a:rPr>
                        <m:t>=</m:t>
                      </m:r>
                      <m:rad>
                        <m:radPr>
                          <m:degHide m:val="on"/>
                          <m:ctrlPr>
                            <a:rPr lang="en-GB" sz="1400" i="1">
                              <a:latin typeface="Cambria Math" panose="02040503050406030204" pitchFamily="18" charset="0"/>
                              <a:ea typeface="Cambria Math"/>
                            </a:rPr>
                          </m:ctrlPr>
                        </m:radPr>
                        <m:deg/>
                        <m:e>
                          <m:f>
                            <m:fPr>
                              <m:ctrlPr>
                                <a:rPr lang="en-GB" sz="1400" i="1">
                                  <a:latin typeface="Cambria Math" panose="02040503050406030204" pitchFamily="18" charset="0"/>
                                  <a:ea typeface="Cambria Math"/>
                                </a:rPr>
                              </m:ctrlPr>
                            </m:fPr>
                            <m:num>
                              <m:r>
                                <a:rPr lang="en-GB" sz="1400" i="1">
                                  <a:latin typeface="Cambria Math"/>
                                  <a:ea typeface="Cambria Math"/>
                                </a:rPr>
                                <m:t>𝑝</m:t>
                              </m:r>
                              <m:d>
                                <m:dPr>
                                  <m:ctrlPr>
                                    <a:rPr lang="en-GB" sz="1400" i="1">
                                      <a:latin typeface="Cambria Math" panose="02040503050406030204" pitchFamily="18" charset="0"/>
                                      <a:ea typeface="Cambria Math"/>
                                    </a:rPr>
                                  </m:ctrlPr>
                                </m:dPr>
                                <m:e>
                                  <m:r>
                                    <a:rPr lang="en-GB" sz="1400" i="1">
                                      <a:latin typeface="Cambria Math"/>
                                      <a:ea typeface="Cambria Math"/>
                                    </a:rPr>
                                    <m:t>1−</m:t>
                                  </m:r>
                                  <m:r>
                                    <a:rPr lang="en-GB" sz="1400" i="1">
                                      <a:latin typeface="Cambria Math"/>
                                      <a:ea typeface="Cambria Math"/>
                                    </a:rPr>
                                    <m:t>𝑝</m:t>
                                  </m:r>
                                </m:e>
                              </m:d>
                            </m:num>
                            <m:den>
                              <m:r>
                                <a:rPr lang="en-GB" sz="1400" i="1">
                                  <a:latin typeface="Cambria Math"/>
                                  <a:ea typeface="Cambria Math"/>
                                </a:rPr>
                                <m:t>𝑛</m:t>
                              </m:r>
                            </m:den>
                          </m:f>
                        </m:e>
                      </m:rad>
                    </m:oMath>
                  </m:oMathPara>
                </a14:m>
                <a:endParaRPr lang="en-GB" sz="1050" dirty="0"/>
              </a:p>
            </p:txBody>
          </p:sp>
        </mc:Choice>
        <mc:Fallback xmlns="">
          <p:sp>
            <p:nvSpPr>
              <p:cNvPr id="17" name="Flowchart: Predefined Process 16">
                <a:extLst>
                  <a:ext uri="{FF2B5EF4-FFF2-40B4-BE49-F238E27FC236}">
                    <a16:creationId xmlns:a16="http://schemas.microsoft.com/office/drawing/2014/main" id="{D42F07A0-D75E-6A44-F300-01423FA3FD19}"/>
                  </a:ext>
                </a:extLst>
              </p:cNvPr>
              <p:cNvSpPr>
                <a:spLocks noRot="1" noChangeAspect="1" noMove="1" noResize="1" noEditPoints="1" noAdjustHandles="1" noChangeArrowheads="1" noChangeShapeType="1" noTextEdit="1"/>
              </p:cNvSpPr>
              <p:nvPr/>
            </p:nvSpPr>
            <p:spPr>
              <a:xfrm>
                <a:off x="3352800" y="2399336"/>
                <a:ext cx="2286000" cy="609600"/>
              </a:xfrm>
              <a:prstGeom prst="flowChartPredefinedProcess">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8" name="Flowchart: Predefined Process 17">
                <a:extLst>
                  <a:ext uri="{FF2B5EF4-FFF2-40B4-BE49-F238E27FC236}">
                    <a16:creationId xmlns:a16="http://schemas.microsoft.com/office/drawing/2014/main" id="{D47F1200-276C-C428-DAA5-B55E5A01F00D}"/>
                  </a:ext>
                </a:extLst>
              </p:cNvPr>
              <p:cNvSpPr/>
              <p:nvPr/>
            </p:nvSpPr>
            <p:spPr>
              <a:xfrm>
                <a:off x="3352800" y="3214255"/>
                <a:ext cx="2295426" cy="609600"/>
              </a:xfrm>
              <a:prstGeom prst="flowChartPredefinedProcess">
                <a:avLst/>
              </a:prstGeom>
            </p:spPr>
            <p:style>
              <a:lnRef idx="1">
                <a:schemeClr val="accent2"/>
              </a:lnRef>
              <a:fillRef idx="2">
                <a:schemeClr val="accent2"/>
              </a:fillRef>
              <a:effectRef idx="1">
                <a:schemeClr val="accent2"/>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GB" sz="1200" i="1">
                          <a:latin typeface="Cambria Math"/>
                          <a:ea typeface="Cambria Math"/>
                        </a:rPr>
                        <m:t>.01020</m:t>
                      </m:r>
                      <m:r>
                        <a:rPr lang="en-GB" sz="1200" i="1" smtClean="0">
                          <a:latin typeface="Cambria Math"/>
                          <a:ea typeface="Cambria Math"/>
                        </a:rPr>
                        <m:t>=</m:t>
                      </m:r>
                      <m:rad>
                        <m:radPr>
                          <m:degHide m:val="on"/>
                          <m:ctrlPr>
                            <a:rPr lang="en-GB" sz="1200" i="1">
                              <a:latin typeface="Cambria Math" panose="02040503050406030204" pitchFamily="18" charset="0"/>
                              <a:ea typeface="Cambria Math"/>
                            </a:rPr>
                          </m:ctrlPr>
                        </m:radPr>
                        <m:deg/>
                        <m:e>
                          <m:f>
                            <m:fPr>
                              <m:ctrlPr>
                                <a:rPr lang="en-GB" sz="1200" i="1">
                                  <a:latin typeface="Cambria Math" panose="02040503050406030204" pitchFamily="18" charset="0"/>
                                  <a:ea typeface="Cambria Math"/>
                                </a:rPr>
                              </m:ctrlPr>
                            </m:fPr>
                            <m:num>
                              <m:r>
                                <a:rPr lang="en-GB" sz="1200" i="1">
                                  <a:latin typeface="Cambria Math"/>
                                  <a:ea typeface="Cambria Math"/>
                                </a:rPr>
                                <m:t>.</m:t>
                              </m:r>
                              <m:r>
                                <a:rPr lang="en-GB" sz="1200" b="0" i="1" smtClean="0">
                                  <a:latin typeface="Cambria Math" panose="02040503050406030204" pitchFamily="18" charset="0"/>
                                  <a:ea typeface="Cambria Math"/>
                                </a:rPr>
                                <m:t>25(0.75)</m:t>
                              </m:r>
                            </m:num>
                            <m:den>
                              <m:r>
                                <a:rPr lang="en-GB" sz="1200" i="1">
                                  <a:latin typeface="Cambria Math"/>
                                  <a:ea typeface="Cambria Math"/>
                                </a:rPr>
                                <m:t>𝑛</m:t>
                              </m:r>
                            </m:den>
                          </m:f>
                        </m:e>
                      </m:rad>
                    </m:oMath>
                  </m:oMathPara>
                </a14:m>
                <a:endParaRPr lang="en-GB" sz="900" dirty="0"/>
              </a:p>
            </p:txBody>
          </p:sp>
        </mc:Choice>
        <mc:Fallback xmlns="">
          <p:sp>
            <p:nvSpPr>
              <p:cNvPr id="18" name="Flowchart: Predefined Process 17">
                <a:extLst>
                  <a:ext uri="{FF2B5EF4-FFF2-40B4-BE49-F238E27FC236}">
                    <a16:creationId xmlns:a16="http://schemas.microsoft.com/office/drawing/2014/main" id="{D47F1200-276C-C428-DAA5-B55E5A01F00D}"/>
                  </a:ext>
                </a:extLst>
              </p:cNvPr>
              <p:cNvSpPr>
                <a:spLocks noRot="1" noChangeAspect="1" noMove="1" noResize="1" noEditPoints="1" noAdjustHandles="1" noChangeArrowheads="1" noChangeShapeType="1" noTextEdit="1"/>
              </p:cNvSpPr>
              <p:nvPr/>
            </p:nvSpPr>
            <p:spPr>
              <a:xfrm>
                <a:off x="3352800" y="3214255"/>
                <a:ext cx="2295426" cy="609600"/>
              </a:xfrm>
              <a:prstGeom prst="flowChartPredefinedProcess">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Flowchart: Predefined Process 18">
                <a:extLst>
                  <a:ext uri="{FF2B5EF4-FFF2-40B4-BE49-F238E27FC236}">
                    <a16:creationId xmlns:a16="http://schemas.microsoft.com/office/drawing/2014/main" id="{17626511-108B-5480-53E9-A2980EDADD27}"/>
                  </a:ext>
                </a:extLst>
              </p:cNvPr>
              <p:cNvSpPr/>
              <p:nvPr/>
            </p:nvSpPr>
            <p:spPr>
              <a:xfrm>
                <a:off x="3352800" y="4029173"/>
                <a:ext cx="2286000" cy="609600"/>
              </a:xfrm>
              <a:prstGeom prst="flowChartPredefinedProcess">
                <a:avLst/>
              </a:prstGeom>
            </p:spPr>
            <p:style>
              <a:lnRef idx="1">
                <a:schemeClr val="accent2"/>
              </a:lnRef>
              <a:fillRef idx="2">
                <a:schemeClr val="accent2"/>
              </a:fillRef>
              <a:effectRef idx="1">
                <a:schemeClr val="accent2"/>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GB" sz="1200" i="1" smtClean="0">
                              <a:latin typeface="Cambria Math" panose="02040503050406030204" pitchFamily="18" charset="0"/>
                              <a:ea typeface="Cambria Math"/>
                            </a:rPr>
                          </m:ctrlPr>
                        </m:sSupPr>
                        <m:e>
                          <m:r>
                            <a:rPr lang="en-US" sz="1200" b="0" i="1" smtClean="0">
                              <a:latin typeface="Cambria Math" panose="02040503050406030204" pitchFamily="18" charset="0"/>
                              <a:ea typeface="Cambria Math"/>
                            </a:rPr>
                            <m:t>.01020</m:t>
                          </m:r>
                        </m:e>
                        <m:sup>
                          <m:r>
                            <a:rPr lang="en-GB" sz="1200" i="1">
                              <a:latin typeface="Cambria Math"/>
                              <a:ea typeface="Cambria Math"/>
                            </a:rPr>
                            <m:t>2</m:t>
                          </m:r>
                        </m:sup>
                      </m:sSup>
                      <m:r>
                        <a:rPr lang="en-GB" sz="1200" i="1">
                          <a:latin typeface="Cambria Math"/>
                          <a:ea typeface="Cambria Math"/>
                        </a:rPr>
                        <m:t>=</m:t>
                      </m:r>
                      <m:f>
                        <m:fPr>
                          <m:ctrlPr>
                            <a:rPr lang="en-GB" sz="1200" i="1">
                              <a:latin typeface="Cambria Math" panose="02040503050406030204" pitchFamily="18" charset="0"/>
                              <a:ea typeface="Cambria Math"/>
                            </a:rPr>
                          </m:ctrlPr>
                        </m:fPr>
                        <m:num>
                          <m:r>
                            <a:rPr lang="en-GB" sz="1200" i="1">
                              <a:latin typeface="Cambria Math"/>
                              <a:ea typeface="Cambria Math"/>
                            </a:rPr>
                            <m:t>.</m:t>
                          </m:r>
                          <m:r>
                            <a:rPr lang="en-GB" sz="1200" b="0" i="1" smtClean="0">
                              <a:latin typeface="Cambria Math" panose="02040503050406030204" pitchFamily="18" charset="0"/>
                              <a:ea typeface="Cambria Math"/>
                            </a:rPr>
                            <m:t>25</m:t>
                          </m:r>
                          <m:d>
                            <m:dPr>
                              <m:ctrlPr>
                                <a:rPr lang="en-GB" sz="1200" i="1" smtClean="0">
                                  <a:latin typeface="Cambria Math" panose="02040503050406030204" pitchFamily="18" charset="0"/>
                                  <a:ea typeface="Cambria Math"/>
                                </a:rPr>
                              </m:ctrlPr>
                            </m:dPr>
                            <m:e>
                              <m:r>
                                <a:rPr lang="en-GB" sz="1200" b="0" i="1" smtClean="0">
                                  <a:latin typeface="Cambria Math" panose="02040503050406030204" pitchFamily="18" charset="0"/>
                                  <a:ea typeface="Cambria Math"/>
                                </a:rPr>
                                <m:t>.75</m:t>
                              </m:r>
                            </m:e>
                          </m:d>
                        </m:num>
                        <m:den>
                          <m:r>
                            <a:rPr lang="en-GB" sz="1200" i="1">
                              <a:latin typeface="Cambria Math"/>
                              <a:ea typeface="Cambria Math"/>
                            </a:rPr>
                            <m:t>𝑛</m:t>
                          </m:r>
                        </m:den>
                      </m:f>
                    </m:oMath>
                  </m:oMathPara>
                </a14:m>
                <a:endParaRPr lang="en-GB" sz="900" dirty="0"/>
              </a:p>
            </p:txBody>
          </p:sp>
        </mc:Choice>
        <mc:Fallback xmlns="">
          <p:sp>
            <p:nvSpPr>
              <p:cNvPr id="19" name="Flowchart: Predefined Process 18">
                <a:extLst>
                  <a:ext uri="{FF2B5EF4-FFF2-40B4-BE49-F238E27FC236}">
                    <a16:creationId xmlns:a16="http://schemas.microsoft.com/office/drawing/2014/main" id="{17626511-108B-5480-53E9-A2980EDADD27}"/>
                  </a:ext>
                </a:extLst>
              </p:cNvPr>
              <p:cNvSpPr>
                <a:spLocks noRot="1" noChangeAspect="1" noMove="1" noResize="1" noEditPoints="1" noAdjustHandles="1" noChangeArrowheads="1" noChangeShapeType="1" noTextEdit="1"/>
              </p:cNvSpPr>
              <p:nvPr/>
            </p:nvSpPr>
            <p:spPr>
              <a:xfrm>
                <a:off x="3352800" y="4029173"/>
                <a:ext cx="2286000" cy="609600"/>
              </a:xfrm>
              <a:prstGeom prst="flowChartPredefinedProcess">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Flowchart: Predefined Process 19">
                <a:extLst>
                  <a:ext uri="{FF2B5EF4-FFF2-40B4-BE49-F238E27FC236}">
                    <a16:creationId xmlns:a16="http://schemas.microsoft.com/office/drawing/2014/main" id="{2A39F6C3-E6AE-8654-8734-C93C35A10424}"/>
                  </a:ext>
                </a:extLst>
              </p:cNvPr>
              <p:cNvSpPr/>
              <p:nvPr/>
            </p:nvSpPr>
            <p:spPr>
              <a:xfrm>
                <a:off x="6172200" y="2399336"/>
                <a:ext cx="2286000" cy="609600"/>
              </a:xfrm>
              <a:prstGeom prst="flowChartPredefinedProcess">
                <a:avLst/>
              </a:prstGeom>
            </p:spPr>
            <p:style>
              <a:lnRef idx="1">
                <a:schemeClr val="accent1"/>
              </a:lnRef>
              <a:fillRef idx="2">
                <a:schemeClr val="accent1"/>
              </a:fillRef>
              <a:effectRef idx="1">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GB" i="1" smtClean="0">
                          <a:latin typeface="Cambria Math"/>
                          <a:ea typeface="Cambria Math"/>
                        </a:rPr>
                        <m:t>𝑛</m:t>
                      </m:r>
                      <m:r>
                        <a:rPr lang="en-GB" i="1" smtClean="0">
                          <a:latin typeface="Cambria Math"/>
                          <a:ea typeface="Cambria Math"/>
                        </a:rPr>
                        <m:t>=</m:t>
                      </m:r>
                      <m:f>
                        <m:fPr>
                          <m:ctrlPr>
                            <a:rPr lang="en-GB" i="1">
                              <a:latin typeface="Cambria Math" panose="02040503050406030204" pitchFamily="18" charset="0"/>
                              <a:ea typeface="Cambria Math"/>
                            </a:rPr>
                          </m:ctrlPr>
                        </m:fPr>
                        <m:num>
                          <m:r>
                            <a:rPr lang="en-GB" i="1">
                              <a:latin typeface="Cambria Math"/>
                              <a:ea typeface="Cambria Math"/>
                            </a:rPr>
                            <m:t>.</m:t>
                          </m:r>
                          <m:r>
                            <a:rPr lang="en-GB" b="0" i="1" smtClean="0">
                              <a:latin typeface="Cambria Math" panose="02040503050406030204" pitchFamily="18" charset="0"/>
                              <a:ea typeface="Cambria Math"/>
                            </a:rPr>
                            <m:t>25</m:t>
                          </m:r>
                          <m:d>
                            <m:dPr>
                              <m:ctrlPr>
                                <a:rPr lang="en-GB" i="1">
                                  <a:latin typeface="Cambria Math" panose="02040503050406030204" pitchFamily="18" charset="0"/>
                                  <a:ea typeface="Cambria Math"/>
                                </a:rPr>
                              </m:ctrlPr>
                            </m:dPr>
                            <m:e>
                              <m:r>
                                <a:rPr lang="en-GB" b="0" i="1" smtClean="0">
                                  <a:latin typeface="Cambria Math" panose="02040503050406030204" pitchFamily="18" charset="0"/>
                                  <a:ea typeface="Cambria Math"/>
                                </a:rPr>
                                <m:t>.75</m:t>
                              </m:r>
                            </m:e>
                          </m:d>
                        </m:num>
                        <m:den>
                          <m:sSup>
                            <m:sSupPr>
                              <m:ctrlPr>
                                <a:rPr lang="en-GB" i="1">
                                  <a:latin typeface="Cambria Math" panose="02040503050406030204" pitchFamily="18" charset="0"/>
                                  <a:ea typeface="Cambria Math"/>
                                </a:rPr>
                              </m:ctrlPr>
                            </m:sSupPr>
                            <m:e>
                              <m:d>
                                <m:dPr>
                                  <m:ctrlPr>
                                    <a:rPr lang="en-GB" i="1">
                                      <a:latin typeface="Cambria Math" panose="02040503050406030204" pitchFamily="18" charset="0"/>
                                      <a:ea typeface="Cambria Math"/>
                                    </a:rPr>
                                  </m:ctrlPr>
                                </m:dPr>
                                <m:e>
                                  <m:r>
                                    <a:rPr lang="en-GB" i="1">
                                      <a:latin typeface="Cambria Math"/>
                                      <a:ea typeface="Cambria Math"/>
                                    </a:rPr>
                                    <m:t>.0</m:t>
                                  </m:r>
                                  <m:r>
                                    <a:rPr lang="en-US" b="0" i="1" smtClean="0">
                                      <a:latin typeface="Cambria Math" panose="02040503050406030204" pitchFamily="18" charset="0"/>
                                      <a:ea typeface="Cambria Math"/>
                                    </a:rPr>
                                    <m:t>1020</m:t>
                                  </m:r>
                                </m:e>
                              </m:d>
                            </m:e>
                            <m:sup>
                              <m:r>
                                <a:rPr lang="en-GB" i="1">
                                  <a:latin typeface="Cambria Math"/>
                                  <a:ea typeface="Cambria Math"/>
                                </a:rPr>
                                <m:t>2</m:t>
                              </m:r>
                            </m:sup>
                          </m:sSup>
                        </m:den>
                      </m:f>
                    </m:oMath>
                  </m:oMathPara>
                </a14:m>
                <a:endParaRPr lang="en-GB" dirty="0"/>
              </a:p>
            </p:txBody>
          </p:sp>
        </mc:Choice>
        <mc:Fallback xmlns="">
          <p:sp>
            <p:nvSpPr>
              <p:cNvPr id="20" name="Flowchart: Predefined Process 19">
                <a:extLst>
                  <a:ext uri="{FF2B5EF4-FFF2-40B4-BE49-F238E27FC236}">
                    <a16:creationId xmlns:a16="http://schemas.microsoft.com/office/drawing/2014/main" id="{2A39F6C3-E6AE-8654-8734-C93C35A10424}"/>
                  </a:ext>
                </a:extLst>
              </p:cNvPr>
              <p:cNvSpPr>
                <a:spLocks noRot="1" noChangeAspect="1" noMove="1" noResize="1" noEditPoints="1" noAdjustHandles="1" noChangeArrowheads="1" noChangeShapeType="1" noTextEdit="1"/>
              </p:cNvSpPr>
              <p:nvPr/>
            </p:nvSpPr>
            <p:spPr>
              <a:xfrm>
                <a:off x="6172200" y="2399336"/>
                <a:ext cx="2286000" cy="609600"/>
              </a:xfrm>
              <a:prstGeom prst="flowChartPredefinedProcess">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Flowchart: Predefined Process 20">
                <a:extLst>
                  <a:ext uri="{FF2B5EF4-FFF2-40B4-BE49-F238E27FC236}">
                    <a16:creationId xmlns:a16="http://schemas.microsoft.com/office/drawing/2014/main" id="{7CD48740-8B34-48CF-11CF-1DFD26CE31D4}"/>
                  </a:ext>
                </a:extLst>
              </p:cNvPr>
              <p:cNvSpPr/>
              <p:nvPr/>
            </p:nvSpPr>
            <p:spPr>
              <a:xfrm>
                <a:off x="6172200" y="3214254"/>
                <a:ext cx="2286000" cy="609600"/>
              </a:xfrm>
              <a:prstGeom prst="flowChartPredefinedProcess">
                <a:avLst/>
              </a:prstGeom>
            </p:spPr>
            <p:style>
              <a:lnRef idx="1">
                <a:schemeClr val="accent1"/>
              </a:lnRef>
              <a:fillRef idx="2">
                <a:schemeClr val="accent1"/>
              </a:fillRef>
              <a:effectRef idx="1">
                <a:schemeClr val="accent1"/>
              </a:effectRef>
              <a:fontRef idx="minor">
                <a:schemeClr val="dk1"/>
              </a:fontRef>
            </p:style>
            <p:txBody>
              <a:bodyPr rtlCol="0" anchor="ctr"/>
              <a:lstStyle/>
              <a:p>
                <a:pPr algn="ctr"/>
                <a14:m>
                  <m:oMath xmlns:m="http://schemas.openxmlformats.org/officeDocument/2006/math">
                    <m:r>
                      <a:rPr lang="en-GB" sz="2400" b="0" i="1" smtClean="0">
                        <a:latin typeface="Cambria Math"/>
                      </a:rPr>
                      <m:t>𝑛</m:t>
                    </m:r>
                  </m:oMath>
                </a14:m>
                <a:r>
                  <a:rPr lang="en-GB" sz="2400" dirty="0"/>
                  <a:t> = 1800.75</a:t>
                </a:r>
              </a:p>
            </p:txBody>
          </p:sp>
        </mc:Choice>
        <mc:Fallback xmlns="">
          <p:sp>
            <p:nvSpPr>
              <p:cNvPr id="21" name="Flowchart: Predefined Process 20">
                <a:extLst>
                  <a:ext uri="{FF2B5EF4-FFF2-40B4-BE49-F238E27FC236}">
                    <a16:creationId xmlns:a16="http://schemas.microsoft.com/office/drawing/2014/main" id="{7CD48740-8B34-48CF-11CF-1DFD26CE31D4}"/>
                  </a:ext>
                </a:extLst>
              </p:cNvPr>
              <p:cNvSpPr>
                <a:spLocks noRot="1" noChangeAspect="1" noMove="1" noResize="1" noEditPoints="1" noAdjustHandles="1" noChangeArrowheads="1" noChangeShapeType="1" noTextEdit="1"/>
              </p:cNvSpPr>
              <p:nvPr/>
            </p:nvSpPr>
            <p:spPr>
              <a:xfrm>
                <a:off x="6172200" y="3214254"/>
                <a:ext cx="2286000" cy="609600"/>
              </a:xfrm>
              <a:prstGeom prst="flowChartPredefinedProcess">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Flowchart: Predefined Process 21">
                <a:extLst>
                  <a:ext uri="{FF2B5EF4-FFF2-40B4-BE49-F238E27FC236}">
                    <a16:creationId xmlns:a16="http://schemas.microsoft.com/office/drawing/2014/main" id="{AD09AEC4-7DB7-D290-67CF-67FE59FC2C11}"/>
                  </a:ext>
                </a:extLst>
              </p:cNvPr>
              <p:cNvSpPr/>
              <p:nvPr/>
            </p:nvSpPr>
            <p:spPr>
              <a:xfrm>
                <a:off x="6172200" y="4029173"/>
                <a:ext cx="2286000" cy="609600"/>
              </a:xfrm>
              <a:prstGeom prst="flowChartPredefinedProcess">
                <a:avLst/>
              </a:prstGeom>
            </p:spPr>
            <p:style>
              <a:lnRef idx="1">
                <a:schemeClr val="accent1"/>
              </a:lnRef>
              <a:fillRef idx="2">
                <a:schemeClr val="accent1"/>
              </a:fillRef>
              <a:effectRef idx="1">
                <a:schemeClr val="accent1"/>
              </a:effectRef>
              <a:fontRef idx="minor">
                <a:schemeClr val="dk1"/>
              </a:fontRef>
            </p:style>
            <p:txBody>
              <a:bodyPr rtlCol="0" anchor="ctr"/>
              <a:lstStyle/>
              <a:p>
                <a:pPr algn="ctr"/>
                <a14:m>
                  <m:oMath xmlns:m="http://schemas.openxmlformats.org/officeDocument/2006/math">
                    <m:r>
                      <a:rPr lang="en-GB" sz="2400" b="1" i="1" smtClean="0">
                        <a:latin typeface="Cambria Math"/>
                      </a:rPr>
                      <m:t>𝒏</m:t>
                    </m:r>
                  </m:oMath>
                </a14:m>
                <a:r>
                  <a:rPr lang="en-GB" sz="2400" b="1" dirty="0"/>
                  <a:t> = 1801</a:t>
                </a:r>
              </a:p>
            </p:txBody>
          </p:sp>
        </mc:Choice>
        <mc:Fallback xmlns="">
          <p:sp>
            <p:nvSpPr>
              <p:cNvPr id="22" name="Flowchart: Predefined Process 21">
                <a:extLst>
                  <a:ext uri="{FF2B5EF4-FFF2-40B4-BE49-F238E27FC236}">
                    <a16:creationId xmlns:a16="http://schemas.microsoft.com/office/drawing/2014/main" id="{AD09AEC4-7DB7-D290-67CF-67FE59FC2C11}"/>
                  </a:ext>
                </a:extLst>
              </p:cNvPr>
              <p:cNvSpPr>
                <a:spLocks noRot="1" noChangeAspect="1" noMove="1" noResize="1" noEditPoints="1" noAdjustHandles="1" noChangeArrowheads="1" noChangeShapeType="1" noTextEdit="1"/>
              </p:cNvSpPr>
              <p:nvPr/>
            </p:nvSpPr>
            <p:spPr>
              <a:xfrm>
                <a:off x="6172200" y="4029173"/>
                <a:ext cx="2286000" cy="609600"/>
              </a:xfrm>
              <a:prstGeom prst="flowChartPredefinedProcess">
                <a:avLst/>
              </a:prstGeom>
              <a:blipFill>
                <a:blip r:embed="rId11"/>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90057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5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500"/>
                                        <p:tgtEl>
                                          <p:spTgt spid="1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500"/>
                                        <p:tgtEl>
                                          <p:spTgt spid="1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500"/>
                                        <p:tgtEl>
                                          <p:spTgt spid="2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500"/>
                                        <p:tgtEl>
                                          <p:spTgt spid="21"/>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02FD8-1E86-1054-BA88-418B6037E947}"/>
              </a:ext>
            </a:extLst>
          </p:cNvPr>
          <p:cNvSpPr>
            <a:spLocks noGrp="1"/>
          </p:cNvSpPr>
          <p:nvPr>
            <p:ph type="title"/>
          </p:nvPr>
        </p:nvSpPr>
        <p:spPr/>
        <p:txBody>
          <a:bodyPr/>
          <a:lstStyle/>
          <a:p>
            <a:r>
              <a:rPr lang="en-GB" dirty="0"/>
              <a:t>10 </a:t>
            </a:r>
            <a:r>
              <a:rPr lang="en-GB" dirty="0">
                <a:latin typeface="+mn-lt"/>
              </a:rPr>
              <a:t>Minutes Break</a:t>
            </a:r>
          </a:p>
        </p:txBody>
      </p:sp>
    </p:spTree>
    <p:extLst>
      <p:ext uri="{BB962C8B-B14F-4D97-AF65-F5344CB8AC3E}">
        <p14:creationId xmlns:p14="http://schemas.microsoft.com/office/powerpoint/2010/main" val="27359856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600200"/>
            <a:ext cx="7772400" cy="1362075"/>
          </a:xfrm>
        </p:spPr>
        <p:txBody>
          <a:bodyPr/>
          <a:lstStyle/>
          <a:p>
            <a:r>
              <a:rPr lang="en-GB" dirty="0"/>
              <a:t>Means</a:t>
            </a:r>
          </a:p>
        </p:txBody>
      </p:sp>
      <p:sp>
        <p:nvSpPr>
          <p:cNvPr id="3" name="Text Placeholder 2"/>
          <p:cNvSpPr>
            <a:spLocks noGrp="1"/>
          </p:cNvSpPr>
          <p:nvPr>
            <p:ph type="body" idx="1"/>
          </p:nvPr>
        </p:nvSpPr>
        <p:spPr>
          <a:xfrm>
            <a:off x="381000" y="152400"/>
            <a:ext cx="7772400" cy="1500187"/>
          </a:xfrm>
        </p:spPr>
        <p:txBody>
          <a:bodyPr/>
          <a:lstStyle/>
          <a:p>
            <a:r>
              <a:rPr lang="en-GB" dirty="0"/>
              <a:t>Statistical inference about</a:t>
            </a:r>
          </a:p>
        </p:txBody>
      </p:sp>
      <p:sp>
        <p:nvSpPr>
          <p:cNvPr id="4" name="Rectangle 3">
            <a:extLst>
              <a:ext uri="{FF2B5EF4-FFF2-40B4-BE49-F238E27FC236}">
                <a16:creationId xmlns:a16="http://schemas.microsoft.com/office/drawing/2014/main" id="{A863FDFA-5FBA-4211-8AE5-4E756BA5BEBC}"/>
              </a:ext>
            </a:extLst>
          </p:cNvPr>
          <p:cNvSpPr/>
          <p:nvPr/>
        </p:nvSpPr>
        <p:spPr>
          <a:xfrm>
            <a:off x="347870" y="2438400"/>
            <a:ext cx="8567530" cy="1938992"/>
          </a:xfrm>
          <a:prstGeom prst="rect">
            <a:avLst/>
          </a:prstGeom>
        </p:spPr>
        <p:txBody>
          <a:bodyPr wrap="square">
            <a:spAutoFit/>
          </a:bodyPr>
          <a:lstStyle/>
          <a:p>
            <a:pPr algn="just"/>
            <a:r>
              <a:rPr lang="en-GB" sz="2400" dirty="0">
                <a:solidFill>
                  <a:srgbClr val="202124"/>
                </a:solidFill>
                <a:latin typeface="Arial" panose="020B0604020202020204" pitchFamily="34" charset="0"/>
                <a:cs typeface="Arial" panose="020B0604020202020204" pitchFamily="34" charset="0"/>
              </a:rPr>
              <a:t>The </a:t>
            </a:r>
            <a:r>
              <a:rPr lang="en-GB" sz="2400" b="1" dirty="0">
                <a:solidFill>
                  <a:srgbClr val="202124"/>
                </a:solidFill>
                <a:latin typeface="Arial" panose="020B0604020202020204" pitchFamily="34" charset="0"/>
                <a:cs typeface="Arial" panose="020B0604020202020204" pitchFamily="34" charset="0"/>
              </a:rPr>
              <a:t>standard error</a:t>
            </a:r>
            <a:r>
              <a:rPr lang="en-GB" sz="2400" dirty="0">
                <a:solidFill>
                  <a:srgbClr val="202124"/>
                </a:solidFill>
                <a:latin typeface="Arial" panose="020B0604020202020204" pitchFamily="34" charset="0"/>
                <a:cs typeface="Arial" panose="020B0604020202020204" pitchFamily="34" charset="0"/>
              </a:rPr>
              <a:t> is a statistical term that measures the accuracy with which a sample distribution represents a population by using </a:t>
            </a:r>
            <a:r>
              <a:rPr lang="en-GB" sz="2400" b="1" dirty="0">
                <a:solidFill>
                  <a:srgbClr val="202124"/>
                </a:solidFill>
                <a:latin typeface="Arial" panose="020B0604020202020204" pitchFamily="34" charset="0"/>
                <a:cs typeface="Arial" panose="020B0604020202020204" pitchFamily="34" charset="0"/>
              </a:rPr>
              <a:t>standard deviation</a:t>
            </a:r>
            <a:r>
              <a:rPr lang="en-GB" sz="2400" dirty="0">
                <a:solidFill>
                  <a:srgbClr val="202124"/>
                </a:solidFill>
                <a:latin typeface="Arial" panose="020B0604020202020204" pitchFamily="34" charset="0"/>
                <a:cs typeface="Arial" panose="020B0604020202020204" pitchFamily="34" charset="0"/>
              </a:rPr>
              <a:t>. In statistics, a sample </a:t>
            </a:r>
            <a:r>
              <a:rPr lang="en-GB" sz="2400" b="1" dirty="0">
                <a:solidFill>
                  <a:srgbClr val="202124"/>
                </a:solidFill>
                <a:latin typeface="Arial" panose="020B0604020202020204" pitchFamily="34" charset="0"/>
                <a:cs typeface="Arial" panose="020B0604020202020204" pitchFamily="34" charset="0"/>
              </a:rPr>
              <a:t>mean</a:t>
            </a:r>
            <a:r>
              <a:rPr lang="en-GB" sz="2400" dirty="0">
                <a:solidFill>
                  <a:srgbClr val="202124"/>
                </a:solidFill>
                <a:latin typeface="Arial" panose="020B0604020202020204" pitchFamily="34" charset="0"/>
                <a:cs typeface="Arial" panose="020B0604020202020204" pitchFamily="34" charset="0"/>
              </a:rPr>
              <a:t> deviates from the actual </a:t>
            </a:r>
            <a:r>
              <a:rPr lang="en-GB" sz="2400" b="1" dirty="0">
                <a:solidFill>
                  <a:srgbClr val="202124"/>
                </a:solidFill>
                <a:latin typeface="Arial" panose="020B0604020202020204" pitchFamily="34" charset="0"/>
                <a:cs typeface="Arial" panose="020B0604020202020204" pitchFamily="34" charset="0"/>
              </a:rPr>
              <a:t>mean</a:t>
            </a:r>
            <a:r>
              <a:rPr lang="en-GB" sz="2400" dirty="0">
                <a:solidFill>
                  <a:srgbClr val="202124"/>
                </a:solidFill>
                <a:latin typeface="Arial" panose="020B0604020202020204" pitchFamily="34" charset="0"/>
                <a:cs typeface="Arial" panose="020B0604020202020204" pitchFamily="34" charset="0"/>
              </a:rPr>
              <a:t> of a population; this </a:t>
            </a:r>
            <a:r>
              <a:rPr lang="en-GB" sz="2400" b="1" dirty="0">
                <a:solidFill>
                  <a:srgbClr val="202124"/>
                </a:solidFill>
                <a:latin typeface="Arial" panose="020B0604020202020204" pitchFamily="34" charset="0"/>
                <a:cs typeface="Arial" panose="020B0604020202020204" pitchFamily="34" charset="0"/>
              </a:rPr>
              <a:t>deviation</a:t>
            </a:r>
            <a:r>
              <a:rPr lang="en-GB" sz="2400" dirty="0">
                <a:solidFill>
                  <a:srgbClr val="202124"/>
                </a:solidFill>
                <a:latin typeface="Arial" panose="020B0604020202020204" pitchFamily="34" charset="0"/>
                <a:cs typeface="Arial" panose="020B0604020202020204" pitchFamily="34" charset="0"/>
              </a:rPr>
              <a:t> is the </a:t>
            </a:r>
            <a:r>
              <a:rPr lang="en-GB" sz="2400" b="1" dirty="0">
                <a:solidFill>
                  <a:srgbClr val="202124"/>
                </a:solidFill>
                <a:latin typeface="Arial" panose="020B0604020202020204" pitchFamily="34" charset="0"/>
                <a:cs typeface="Arial" panose="020B0604020202020204" pitchFamily="34" charset="0"/>
              </a:rPr>
              <a:t>standard error of the mean</a:t>
            </a:r>
            <a:r>
              <a:rPr lang="en-GB" sz="2400" dirty="0">
                <a:solidFill>
                  <a:srgbClr val="202124"/>
                </a:solidFill>
                <a:latin typeface="Arial" panose="020B0604020202020204" pitchFamily="34" charset="0"/>
                <a:cs typeface="Arial" panose="020B0604020202020204" pitchFamily="34" charset="0"/>
              </a:rPr>
              <a:t>.</a:t>
            </a:r>
            <a:endParaRPr lang="en-GB"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916393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0EBAE-921F-4B99-811B-3701C92C569B}"/>
              </a:ext>
            </a:extLst>
          </p:cNvPr>
          <p:cNvSpPr>
            <a:spLocks noGrp="1"/>
          </p:cNvSpPr>
          <p:nvPr>
            <p:ph type="title"/>
          </p:nvPr>
        </p:nvSpPr>
        <p:spPr>
          <a:xfrm>
            <a:off x="174812" y="416299"/>
            <a:ext cx="8305800" cy="1362075"/>
          </a:xfrm>
        </p:spPr>
        <p:txBody>
          <a:bodyPr>
            <a:noAutofit/>
          </a:bodyPr>
          <a:lstStyle/>
          <a:p>
            <a:r>
              <a:rPr lang="en-GB" sz="3200" dirty="0"/>
              <a:t>But what is the difference between </a:t>
            </a:r>
            <a:r>
              <a:rPr lang="en-GB" sz="3200" i="1" dirty="0"/>
              <a:t>standard error</a:t>
            </a:r>
            <a:r>
              <a:rPr lang="en-GB" sz="3200" dirty="0"/>
              <a:t> and </a:t>
            </a:r>
            <a:r>
              <a:rPr lang="en-GB" sz="3200" i="1" dirty="0"/>
              <a:t>standard deviation</a:t>
            </a:r>
            <a:r>
              <a:rPr lang="en-GB" sz="3200" dirty="0"/>
              <a:t>?</a:t>
            </a:r>
          </a:p>
        </p:txBody>
      </p:sp>
      <p:sp>
        <p:nvSpPr>
          <p:cNvPr id="4" name="Rectangle 3">
            <a:extLst>
              <a:ext uri="{FF2B5EF4-FFF2-40B4-BE49-F238E27FC236}">
                <a16:creationId xmlns:a16="http://schemas.microsoft.com/office/drawing/2014/main" id="{E05E4B96-64A2-458E-A25D-F5E72B04B43D}"/>
              </a:ext>
            </a:extLst>
          </p:cNvPr>
          <p:cNvSpPr/>
          <p:nvPr/>
        </p:nvSpPr>
        <p:spPr>
          <a:xfrm>
            <a:off x="389965" y="1981200"/>
            <a:ext cx="8077200" cy="4154984"/>
          </a:xfrm>
          <a:prstGeom prst="rect">
            <a:avLst/>
          </a:prstGeom>
        </p:spPr>
        <p:txBody>
          <a:bodyPr wrap="square">
            <a:spAutoFit/>
          </a:bodyPr>
          <a:lstStyle/>
          <a:p>
            <a:pPr algn="just"/>
            <a:r>
              <a:rPr lang="en-GB" sz="2400" dirty="0"/>
              <a:t>The </a:t>
            </a:r>
            <a:r>
              <a:rPr lang="en-GB" sz="2400" b="1" dirty="0"/>
              <a:t>standard deviation</a:t>
            </a:r>
            <a:r>
              <a:rPr lang="en-GB" sz="2400" dirty="0"/>
              <a:t> (</a:t>
            </a:r>
            <a:r>
              <a:rPr lang="en-GB" sz="2400" b="1" dirty="0"/>
              <a:t>SD</a:t>
            </a:r>
            <a:r>
              <a:rPr lang="en-GB" sz="2400" dirty="0"/>
              <a:t>) measures the amount of variability, or dispersion, from the individual data values to the mean, while the </a:t>
            </a:r>
            <a:r>
              <a:rPr lang="en-GB" sz="2400" b="1" dirty="0"/>
              <a:t>standard error of the</a:t>
            </a:r>
            <a:r>
              <a:rPr lang="en-GB" sz="2400" dirty="0"/>
              <a:t> mean (STEM) measures how far the sample mean (average) </a:t>
            </a:r>
            <a:r>
              <a:rPr lang="en-GB" sz="2400" b="1" dirty="0"/>
              <a:t>of the</a:t>
            </a:r>
            <a:r>
              <a:rPr lang="en-GB" sz="2400" dirty="0"/>
              <a:t> data is likely to be from the true population mean.</a:t>
            </a:r>
          </a:p>
          <a:p>
            <a:pPr algn="just"/>
            <a:endParaRPr lang="en-GB" sz="2400" dirty="0"/>
          </a:p>
          <a:p>
            <a:pPr algn="just"/>
            <a:r>
              <a:rPr lang="en-GB" sz="2400" dirty="0"/>
              <a:t>The standard deviation is about </a:t>
            </a:r>
            <a:r>
              <a:rPr lang="en-GB" sz="2400" b="1" dirty="0"/>
              <a:t>spread. </a:t>
            </a:r>
            <a:r>
              <a:rPr lang="en-GB" sz="2400" dirty="0"/>
              <a:t>You want to show the shape of the data</a:t>
            </a:r>
          </a:p>
          <a:p>
            <a:pPr algn="just"/>
            <a:endParaRPr lang="en-GB" sz="2400" b="1" dirty="0"/>
          </a:p>
          <a:p>
            <a:pPr algn="just"/>
            <a:r>
              <a:rPr lang="en-GB" sz="2400" dirty="0"/>
              <a:t>The standard error is about </a:t>
            </a:r>
            <a:r>
              <a:rPr lang="en-GB" sz="2400" b="1" dirty="0"/>
              <a:t>precision. </a:t>
            </a:r>
            <a:r>
              <a:rPr lang="en-GB" sz="2400" dirty="0"/>
              <a:t>You want to covered all potential answer.</a:t>
            </a:r>
          </a:p>
        </p:txBody>
      </p:sp>
    </p:spTree>
    <p:extLst>
      <p:ext uri="{BB962C8B-B14F-4D97-AF65-F5344CB8AC3E}">
        <p14:creationId xmlns:p14="http://schemas.microsoft.com/office/powerpoint/2010/main" val="30479397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Statistical inferences about means</a:t>
            </a:r>
            <a:endParaRPr lang="en-GB" dirty="0"/>
          </a:p>
        </p:txBody>
      </p:sp>
      <p:grpSp>
        <p:nvGrpSpPr>
          <p:cNvPr id="5" name="Group 4"/>
          <p:cNvGrpSpPr/>
          <p:nvPr/>
        </p:nvGrpSpPr>
        <p:grpSpPr>
          <a:xfrm>
            <a:off x="3822022" y="2841342"/>
            <a:ext cx="4098802" cy="844060"/>
            <a:chOff x="4114800" y="3429000"/>
            <a:chExt cx="4098802" cy="844060"/>
          </a:xfrm>
        </p:grpSpPr>
        <p:pic>
          <p:nvPicPr>
            <p:cNvPr id="6" name="Picture 10" descr="http://www.reflectiveresolutions.com/2014/wp-content/uploads/2015/03/BellCurv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17023" y="3429000"/>
              <a:ext cx="3896579" cy="834971"/>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4114800" y="3429000"/>
              <a:ext cx="457200" cy="8440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8" name="Group 7"/>
          <p:cNvGrpSpPr/>
          <p:nvPr/>
        </p:nvGrpSpPr>
        <p:grpSpPr>
          <a:xfrm>
            <a:off x="4097347" y="2858926"/>
            <a:ext cx="4217376" cy="1084384"/>
            <a:chOff x="3402624" y="3429000"/>
            <a:chExt cx="4217376" cy="1084384"/>
          </a:xfrm>
        </p:grpSpPr>
        <p:grpSp>
          <p:nvGrpSpPr>
            <p:cNvPr id="9" name="Group 8"/>
            <p:cNvGrpSpPr/>
            <p:nvPr/>
          </p:nvGrpSpPr>
          <p:grpSpPr>
            <a:xfrm>
              <a:off x="3402624" y="4059116"/>
              <a:ext cx="4217376" cy="196360"/>
              <a:chOff x="3402624" y="4059116"/>
              <a:chExt cx="4217376" cy="196360"/>
            </a:xfrm>
          </p:grpSpPr>
          <p:sp>
            <p:nvSpPr>
              <p:cNvPr id="13" name="Rectangle 12"/>
              <p:cNvSpPr/>
              <p:nvPr/>
            </p:nvSpPr>
            <p:spPr>
              <a:xfrm>
                <a:off x="3405162" y="4167554"/>
                <a:ext cx="4214838" cy="762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GB">
                  <a:solidFill>
                    <a:schemeClr val="accent3">
                      <a:lumMod val="75000"/>
                    </a:schemeClr>
                  </a:solidFill>
                </a:endParaRPr>
              </a:p>
            </p:txBody>
          </p:sp>
          <p:cxnSp>
            <p:nvCxnSpPr>
              <p:cNvPr id="16" name="Straight Connector 15"/>
              <p:cNvCxnSpPr/>
              <p:nvPr/>
            </p:nvCxnSpPr>
            <p:spPr>
              <a:xfrm>
                <a:off x="3402624" y="4059116"/>
                <a:ext cx="0" cy="190500"/>
              </a:xfrm>
              <a:prstGeom prst="line">
                <a:avLst/>
              </a:prstGeom>
              <a:ln>
                <a:solidFill>
                  <a:schemeClr val="accent3"/>
                </a:solidFill>
              </a:ln>
            </p:spPr>
            <p:style>
              <a:lnRef idx="1">
                <a:schemeClr val="dk1"/>
              </a:lnRef>
              <a:fillRef idx="0">
                <a:schemeClr val="dk1"/>
              </a:fillRef>
              <a:effectRef idx="0">
                <a:schemeClr val="dk1"/>
              </a:effectRef>
              <a:fontRef idx="minor">
                <a:schemeClr val="tx1"/>
              </a:fontRef>
            </p:style>
          </p:cxnSp>
          <p:cxnSp>
            <p:nvCxnSpPr>
              <p:cNvPr id="17" name="Straight Connector 16"/>
              <p:cNvCxnSpPr/>
              <p:nvPr/>
            </p:nvCxnSpPr>
            <p:spPr>
              <a:xfrm>
                <a:off x="7620000" y="4059116"/>
                <a:ext cx="0" cy="190500"/>
              </a:xfrm>
              <a:prstGeom prst="line">
                <a:avLst/>
              </a:prstGeom>
              <a:ln>
                <a:solidFill>
                  <a:schemeClr val="accent3"/>
                </a:solidFill>
              </a:ln>
            </p:spPr>
            <p:style>
              <a:lnRef idx="1">
                <a:schemeClr val="dk1"/>
              </a:lnRef>
              <a:fillRef idx="0">
                <a:schemeClr val="dk1"/>
              </a:fillRef>
              <a:effectRef idx="0">
                <a:schemeClr val="dk1"/>
              </a:effectRef>
              <a:fontRef idx="minor">
                <a:schemeClr val="tx1"/>
              </a:fontRef>
            </p:style>
          </p:cxnSp>
          <p:cxnSp>
            <p:nvCxnSpPr>
              <p:cNvPr id="18" name="Straight Connector 17"/>
              <p:cNvCxnSpPr/>
              <p:nvPr/>
            </p:nvCxnSpPr>
            <p:spPr>
              <a:xfrm>
                <a:off x="5503984" y="4064976"/>
                <a:ext cx="0" cy="190500"/>
              </a:xfrm>
              <a:prstGeom prst="line">
                <a:avLst/>
              </a:prstGeom>
              <a:ln>
                <a:solidFill>
                  <a:schemeClr val="accent3"/>
                </a:solidFill>
              </a:ln>
            </p:spPr>
            <p:style>
              <a:lnRef idx="1">
                <a:schemeClr val="dk1"/>
              </a:lnRef>
              <a:fillRef idx="0">
                <a:schemeClr val="dk1"/>
              </a:fillRef>
              <a:effectRef idx="0">
                <a:schemeClr val="dk1"/>
              </a:effectRef>
              <a:fontRef idx="minor">
                <a:schemeClr val="tx1"/>
              </a:fontRef>
            </p:style>
          </p:cxnSp>
        </p:grpSp>
        <p:grpSp>
          <p:nvGrpSpPr>
            <p:cNvPr id="10" name="Group 9"/>
            <p:cNvGrpSpPr/>
            <p:nvPr/>
          </p:nvGrpSpPr>
          <p:grpSpPr>
            <a:xfrm>
              <a:off x="5082578" y="3429000"/>
              <a:ext cx="326371" cy="1084384"/>
              <a:chOff x="5082578" y="3429000"/>
              <a:chExt cx="326371" cy="1084384"/>
            </a:xfrm>
          </p:grpSpPr>
          <mc:AlternateContent xmlns:mc="http://schemas.openxmlformats.org/markup-compatibility/2006" xmlns:a14="http://schemas.microsoft.com/office/drawing/2010/main">
            <mc:Choice Requires="a14">
              <p:sp>
                <p:nvSpPr>
                  <p:cNvPr id="11" name="TextBox 10"/>
                  <p:cNvSpPr txBox="1"/>
                  <p:nvPr/>
                </p:nvSpPr>
                <p:spPr>
                  <a:xfrm>
                    <a:off x="5082578" y="4205607"/>
                    <a:ext cx="326371" cy="307777"/>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acc>
                            <m:accPr>
                              <m:chr m:val="̅"/>
                              <m:ctrlPr>
                                <a:rPr lang="en-GB" sz="1400" i="1">
                                  <a:latin typeface="Cambria Math" panose="02040503050406030204" pitchFamily="18" charset="0"/>
                                  <a:ea typeface="Cambria Math"/>
                                </a:rPr>
                              </m:ctrlPr>
                            </m:accPr>
                            <m:e>
                              <m:r>
                                <a:rPr lang="en-GB" sz="1400" i="1">
                                  <a:latin typeface="Cambria Math"/>
                                  <a:ea typeface="Cambria Math"/>
                                </a:rPr>
                                <m:t>𝑥</m:t>
                              </m:r>
                            </m:e>
                          </m:acc>
                        </m:oMath>
                      </m:oMathPara>
                    </a14:m>
                    <a:endParaRPr lang="en-GB" sz="1400" b="1" dirty="0"/>
                  </a:p>
                </p:txBody>
              </p:sp>
            </mc:Choice>
            <mc:Fallback xmlns="">
              <p:sp>
                <p:nvSpPr>
                  <p:cNvPr id="11" name="TextBox 10"/>
                  <p:cNvSpPr txBox="1">
                    <a:spLocks noRot="1" noChangeAspect="1" noMove="1" noResize="1" noEditPoints="1" noAdjustHandles="1" noChangeArrowheads="1" noChangeShapeType="1" noTextEdit="1"/>
                  </p:cNvSpPr>
                  <p:nvPr/>
                </p:nvSpPr>
                <p:spPr>
                  <a:xfrm>
                    <a:off x="5082578" y="4205607"/>
                    <a:ext cx="326371" cy="307777"/>
                  </a:xfrm>
                  <a:prstGeom prst="rect">
                    <a:avLst/>
                  </a:prstGeom>
                  <a:blipFill rotWithShape="1">
                    <a:blip r:embed="rId4"/>
                    <a:stretch>
                      <a:fillRect r="-1887"/>
                    </a:stretch>
                  </a:blipFill>
                </p:spPr>
                <p:txBody>
                  <a:bodyPr/>
                  <a:lstStyle/>
                  <a:p>
                    <a:r>
                      <a:rPr lang="en-GB">
                        <a:noFill/>
                      </a:rPr>
                      <a:t> </a:t>
                    </a:r>
                  </a:p>
                </p:txBody>
              </p:sp>
            </mc:Fallback>
          </mc:AlternateContent>
          <p:cxnSp>
            <p:nvCxnSpPr>
              <p:cNvPr id="12" name="Straight Connector 11"/>
              <p:cNvCxnSpPr/>
              <p:nvPr/>
            </p:nvCxnSpPr>
            <p:spPr>
              <a:xfrm flipV="1">
                <a:off x="5202427" y="3429000"/>
                <a:ext cx="0" cy="820616"/>
              </a:xfrm>
              <a:prstGeom prst="line">
                <a:avLst/>
              </a:prstGeom>
            </p:spPr>
            <p:style>
              <a:lnRef idx="2">
                <a:schemeClr val="dk1"/>
              </a:lnRef>
              <a:fillRef idx="0">
                <a:schemeClr val="dk1"/>
              </a:fillRef>
              <a:effectRef idx="1">
                <a:schemeClr val="dk1"/>
              </a:effectRef>
              <a:fontRef idx="minor">
                <a:schemeClr val="tx1"/>
              </a:fontRef>
            </p:style>
          </p:cxnSp>
        </p:grpSp>
      </p:grpSp>
      <p:grpSp>
        <p:nvGrpSpPr>
          <p:cNvPr id="19" name="Group 18"/>
          <p:cNvGrpSpPr/>
          <p:nvPr/>
        </p:nvGrpSpPr>
        <p:grpSpPr>
          <a:xfrm>
            <a:off x="5184830" y="3200401"/>
            <a:ext cx="1439008" cy="461557"/>
            <a:chOff x="5181600" y="3962400"/>
            <a:chExt cx="1439008" cy="461557"/>
          </a:xfrm>
        </p:grpSpPr>
        <p:grpSp>
          <p:nvGrpSpPr>
            <p:cNvPr id="20" name="Group 19"/>
            <p:cNvGrpSpPr/>
            <p:nvPr/>
          </p:nvGrpSpPr>
          <p:grpSpPr>
            <a:xfrm>
              <a:off x="5181600" y="3962400"/>
              <a:ext cx="1439008" cy="461557"/>
              <a:chOff x="5181600" y="3751384"/>
              <a:chExt cx="1439008" cy="824973"/>
            </a:xfrm>
          </p:grpSpPr>
          <p:cxnSp>
            <p:nvCxnSpPr>
              <p:cNvPr id="22" name="Straight Connector 21"/>
              <p:cNvCxnSpPr/>
              <p:nvPr/>
            </p:nvCxnSpPr>
            <p:spPr>
              <a:xfrm flipV="1">
                <a:off x="5181600" y="3755741"/>
                <a:ext cx="0" cy="820616"/>
              </a:xfrm>
              <a:prstGeom prst="line">
                <a:avLst/>
              </a:prstGeom>
              <a:ln>
                <a:solidFill>
                  <a:schemeClr val="bg1">
                    <a:lumMod val="65000"/>
                  </a:schemeClr>
                </a:solidFill>
              </a:ln>
            </p:spPr>
            <p:style>
              <a:lnRef idx="2">
                <a:schemeClr val="accent4"/>
              </a:lnRef>
              <a:fillRef idx="0">
                <a:schemeClr val="accent4"/>
              </a:fillRef>
              <a:effectRef idx="1">
                <a:schemeClr val="accent4"/>
              </a:effectRef>
              <a:fontRef idx="minor">
                <a:schemeClr val="tx1"/>
              </a:fontRef>
            </p:style>
          </p:cxnSp>
          <p:cxnSp>
            <p:nvCxnSpPr>
              <p:cNvPr id="23" name="Straight Connector 22"/>
              <p:cNvCxnSpPr/>
              <p:nvPr/>
            </p:nvCxnSpPr>
            <p:spPr>
              <a:xfrm flipV="1">
                <a:off x="6620608" y="3751384"/>
                <a:ext cx="0" cy="820616"/>
              </a:xfrm>
              <a:prstGeom prst="line">
                <a:avLst/>
              </a:prstGeom>
              <a:ln>
                <a:solidFill>
                  <a:schemeClr val="bg1">
                    <a:lumMod val="65000"/>
                  </a:schemeClr>
                </a:solidFill>
              </a:ln>
            </p:spPr>
            <p:style>
              <a:lnRef idx="2">
                <a:schemeClr val="accent4"/>
              </a:lnRef>
              <a:fillRef idx="0">
                <a:schemeClr val="accent4"/>
              </a:fillRef>
              <a:effectRef idx="1">
                <a:schemeClr val="accent4"/>
              </a:effectRef>
              <a:fontRef idx="minor">
                <a:schemeClr val="tx1"/>
              </a:fontRef>
            </p:style>
          </p:cxnSp>
        </p:grpSp>
        <p:cxnSp>
          <p:nvCxnSpPr>
            <p:cNvPr id="21" name="Straight Arrow Connector 20"/>
            <p:cNvCxnSpPr/>
            <p:nvPr/>
          </p:nvCxnSpPr>
          <p:spPr>
            <a:xfrm>
              <a:off x="5181600" y="4112362"/>
              <a:ext cx="1438504" cy="2438"/>
            </a:xfrm>
            <a:prstGeom prst="straightConnector1">
              <a:avLst/>
            </a:prstGeom>
            <a:ln w="12700">
              <a:solidFill>
                <a:schemeClr val="bg1">
                  <a:lumMod val="65000"/>
                </a:schemeClr>
              </a:solidFill>
              <a:headEnd type="arrow"/>
              <a:tailEnd type="arrow"/>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25" name="Rectangular Callout 24"/>
              <p:cNvSpPr/>
              <p:nvPr/>
            </p:nvSpPr>
            <p:spPr>
              <a:xfrm>
                <a:off x="6629400" y="4309658"/>
                <a:ext cx="2018803" cy="647700"/>
              </a:xfrm>
              <a:prstGeom prst="wedgeRectCallout">
                <a:avLst>
                  <a:gd name="adj1" fmla="val -48687"/>
                  <a:gd name="adj2" fmla="val -127630"/>
                </a:avLst>
              </a:prstGeom>
              <a:ln>
                <a:solidFill>
                  <a:schemeClr val="bg1">
                    <a:lumMod val="6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acc>
                        <m:accPr>
                          <m:chr m:val="̅"/>
                          <m:ctrlPr>
                            <a:rPr lang="en-GB" i="1">
                              <a:latin typeface="Cambria Math" panose="02040503050406030204" pitchFamily="18" charset="0"/>
                              <a:ea typeface="Cambria Math"/>
                            </a:rPr>
                          </m:ctrlPr>
                        </m:accPr>
                        <m:e>
                          <m:r>
                            <a:rPr lang="en-GB" i="1">
                              <a:latin typeface="Cambria Math"/>
                              <a:ea typeface="Cambria Math"/>
                            </a:rPr>
                            <m:t>𝑥</m:t>
                          </m:r>
                        </m:e>
                      </m:acc>
                      <m:r>
                        <a:rPr lang="en-GB" i="1">
                          <a:latin typeface="Cambria Math"/>
                          <a:ea typeface="Cambria Math"/>
                        </a:rPr>
                        <m:t>±</m:t>
                      </m:r>
                      <m:sSub>
                        <m:sSubPr>
                          <m:ctrlPr>
                            <a:rPr lang="en-GB" i="1">
                              <a:latin typeface="Cambria Math" panose="02040503050406030204" pitchFamily="18" charset="0"/>
                              <a:ea typeface="Cambria Math"/>
                            </a:rPr>
                          </m:ctrlPr>
                        </m:sSubPr>
                        <m:e>
                          <m:r>
                            <a:rPr lang="en-GB" i="1">
                              <a:latin typeface="Cambria Math"/>
                              <a:ea typeface="Cambria Math"/>
                            </a:rPr>
                            <m:t>𝜎</m:t>
                          </m:r>
                        </m:e>
                        <m:sub>
                          <m:acc>
                            <m:accPr>
                              <m:chr m:val="̅"/>
                              <m:ctrlPr>
                                <a:rPr lang="en-GB" i="1">
                                  <a:latin typeface="Cambria Math" panose="02040503050406030204" pitchFamily="18" charset="0"/>
                                  <a:ea typeface="Cambria Math"/>
                                </a:rPr>
                              </m:ctrlPr>
                            </m:accPr>
                            <m:e>
                              <m:r>
                                <a:rPr lang="en-GB" i="1">
                                  <a:latin typeface="Cambria Math"/>
                                  <a:ea typeface="Cambria Math"/>
                                </a:rPr>
                                <m:t>𝑥</m:t>
                              </m:r>
                            </m:e>
                          </m:acc>
                        </m:sub>
                      </m:sSub>
                      <m:sSub>
                        <m:sSubPr>
                          <m:ctrlPr>
                            <a:rPr lang="en-GB" i="1">
                              <a:latin typeface="Cambria Math" panose="02040503050406030204" pitchFamily="18" charset="0"/>
                            </a:rPr>
                          </m:ctrlPr>
                        </m:sSubPr>
                        <m:e>
                          <m:r>
                            <a:rPr lang="en-GB" i="1">
                              <a:latin typeface="Cambria Math"/>
                            </a:rPr>
                            <m:t>𝑡</m:t>
                          </m:r>
                        </m:e>
                        <m:sub>
                          <m:r>
                            <a:rPr lang="en-GB" i="1">
                              <a:latin typeface="Cambria Math"/>
                            </a:rPr>
                            <m:t>𝑐𝑟𝑖𝑡</m:t>
                          </m:r>
                        </m:sub>
                      </m:sSub>
                    </m:oMath>
                  </m:oMathPara>
                </a14:m>
                <a:endParaRPr lang="en-GB" dirty="0"/>
              </a:p>
              <a:p>
                <a:pPr algn="ctr"/>
                <a:r>
                  <a:rPr lang="en-GB" sz="1600" dirty="0"/>
                  <a:t>With </a:t>
                </a:r>
                <a:r>
                  <a:rPr lang="en-GB" sz="1600" b="1" dirty="0"/>
                  <a:t>95% confidence</a:t>
                </a:r>
              </a:p>
            </p:txBody>
          </p:sp>
        </mc:Choice>
        <mc:Fallback xmlns="">
          <p:sp>
            <p:nvSpPr>
              <p:cNvPr id="25" name="Rectangular Callout 24"/>
              <p:cNvSpPr>
                <a:spLocks noRot="1" noChangeAspect="1" noMove="1" noResize="1" noEditPoints="1" noAdjustHandles="1" noChangeArrowheads="1" noChangeShapeType="1" noTextEdit="1"/>
              </p:cNvSpPr>
              <p:nvPr/>
            </p:nvSpPr>
            <p:spPr>
              <a:xfrm>
                <a:off x="6629400" y="4309658"/>
                <a:ext cx="2018803" cy="647700"/>
              </a:xfrm>
              <a:prstGeom prst="wedgeRectCallout">
                <a:avLst>
                  <a:gd name="adj1" fmla="val -48687"/>
                  <a:gd name="adj2" fmla="val -127630"/>
                </a:avLst>
              </a:prstGeom>
              <a:blipFill>
                <a:blip r:embed="rId5"/>
                <a:stretch>
                  <a:fillRect/>
                </a:stretch>
              </a:blipFill>
              <a:ln>
                <a:solidFill>
                  <a:schemeClr val="bg1">
                    <a:lumMod val="65000"/>
                  </a:schemeClr>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6" name="Rectangular Callout 25"/>
              <p:cNvSpPr/>
              <p:nvPr/>
            </p:nvSpPr>
            <p:spPr>
              <a:xfrm>
                <a:off x="3180138" y="4309658"/>
                <a:ext cx="2018803" cy="647700"/>
              </a:xfrm>
              <a:prstGeom prst="wedgeRectCallout">
                <a:avLst>
                  <a:gd name="adj1" fmla="val 47511"/>
                  <a:gd name="adj2" fmla="val -137030"/>
                </a:avLst>
              </a:prstGeom>
              <a:ln>
                <a:solidFill>
                  <a:schemeClr val="bg1">
                    <a:lumMod val="6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acc>
                        <m:accPr>
                          <m:chr m:val="̅"/>
                          <m:ctrlPr>
                            <a:rPr lang="en-GB" sz="1600" i="1" smtClean="0">
                              <a:latin typeface="Cambria Math" panose="02040503050406030204" pitchFamily="18" charset="0"/>
                              <a:ea typeface="Cambria Math"/>
                            </a:rPr>
                          </m:ctrlPr>
                        </m:accPr>
                        <m:e>
                          <m:r>
                            <a:rPr lang="en-GB" sz="1600" b="0" i="1">
                              <a:latin typeface="Cambria Math"/>
                              <a:ea typeface="Cambria Math"/>
                            </a:rPr>
                            <m:t>𝑥</m:t>
                          </m:r>
                        </m:e>
                      </m:acc>
                      <m:r>
                        <a:rPr lang="en-GB" sz="1600" b="0" i="1">
                          <a:latin typeface="Cambria Math"/>
                          <a:ea typeface="Cambria Math"/>
                        </a:rPr>
                        <m:t>±</m:t>
                      </m:r>
                      <m:sSub>
                        <m:sSubPr>
                          <m:ctrlPr>
                            <a:rPr lang="en-GB" sz="1600" i="1">
                              <a:latin typeface="Cambria Math" panose="02040503050406030204" pitchFamily="18" charset="0"/>
                              <a:ea typeface="Cambria Math"/>
                            </a:rPr>
                          </m:ctrlPr>
                        </m:sSubPr>
                        <m:e>
                          <m:r>
                            <a:rPr lang="en-GB" sz="1600" b="0" i="1">
                              <a:latin typeface="Cambria Math"/>
                              <a:ea typeface="Cambria Math"/>
                            </a:rPr>
                            <m:t>𝜎</m:t>
                          </m:r>
                        </m:e>
                        <m:sub>
                          <m:acc>
                            <m:accPr>
                              <m:chr m:val="̅"/>
                              <m:ctrlPr>
                                <a:rPr lang="en-GB" sz="1600" i="1">
                                  <a:latin typeface="Cambria Math" panose="02040503050406030204" pitchFamily="18" charset="0"/>
                                  <a:ea typeface="Cambria Math"/>
                                </a:rPr>
                              </m:ctrlPr>
                            </m:accPr>
                            <m:e>
                              <m:r>
                                <a:rPr lang="en-GB" sz="1600" b="0" i="1">
                                  <a:latin typeface="Cambria Math"/>
                                  <a:ea typeface="Cambria Math"/>
                                </a:rPr>
                                <m:t>𝑥</m:t>
                              </m:r>
                            </m:e>
                          </m:acc>
                        </m:sub>
                      </m:sSub>
                      <m:sSub>
                        <m:sSubPr>
                          <m:ctrlPr>
                            <a:rPr lang="en-GB" sz="1600" i="1">
                              <a:latin typeface="Cambria Math" panose="02040503050406030204" pitchFamily="18" charset="0"/>
                            </a:rPr>
                          </m:ctrlPr>
                        </m:sSubPr>
                        <m:e>
                          <m:r>
                            <a:rPr lang="en-GB" sz="1600" b="0" i="1" smtClean="0">
                              <a:latin typeface="Cambria Math"/>
                            </a:rPr>
                            <m:t>𝑡</m:t>
                          </m:r>
                        </m:e>
                        <m:sub>
                          <m:r>
                            <a:rPr lang="en-GB" sz="1600" b="0" i="1">
                              <a:latin typeface="Cambria Math"/>
                            </a:rPr>
                            <m:t>𝑐𝑟𝑖𝑡</m:t>
                          </m:r>
                        </m:sub>
                      </m:sSub>
                    </m:oMath>
                  </m:oMathPara>
                </a14:m>
                <a:endParaRPr lang="en-GB" sz="1600" dirty="0"/>
              </a:p>
              <a:p>
                <a:pPr algn="ctr"/>
                <a:r>
                  <a:rPr lang="en-GB" sz="1400" dirty="0"/>
                  <a:t>With </a:t>
                </a:r>
                <a:r>
                  <a:rPr lang="en-GB" sz="1400" b="1" dirty="0"/>
                  <a:t>95% confidence</a:t>
                </a:r>
              </a:p>
            </p:txBody>
          </p:sp>
        </mc:Choice>
        <mc:Fallback xmlns="">
          <p:sp>
            <p:nvSpPr>
              <p:cNvPr id="26" name="Rectangular Callout 25"/>
              <p:cNvSpPr>
                <a:spLocks noRot="1" noChangeAspect="1" noMove="1" noResize="1" noEditPoints="1" noAdjustHandles="1" noChangeArrowheads="1" noChangeShapeType="1" noTextEdit="1"/>
              </p:cNvSpPr>
              <p:nvPr/>
            </p:nvSpPr>
            <p:spPr>
              <a:xfrm>
                <a:off x="3180138" y="4309658"/>
                <a:ext cx="2018803" cy="647700"/>
              </a:xfrm>
              <a:prstGeom prst="wedgeRectCallout">
                <a:avLst>
                  <a:gd name="adj1" fmla="val 47511"/>
                  <a:gd name="adj2" fmla="val -137030"/>
                </a:avLst>
              </a:prstGeom>
              <a:blipFill>
                <a:blip r:embed="rId6"/>
                <a:stretch>
                  <a:fillRect/>
                </a:stretch>
              </a:blipFill>
              <a:ln>
                <a:solidFill>
                  <a:schemeClr val="bg1">
                    <a:lumMod val="65000"/>
                  </a:schemeClr>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7" name="Rectangle 26"/>
              <p:cNvSpPr/>
              <p:nvPr/>
            </p:nvSpPr>
            <p:spPr>
              <a:xfrm>
                <a:off x="304800" y="1676400"/>
                <a:ext cx="4689686" cy="646331"/>
              </a:xfrm>
              <a:prstGeom prst="rect">
                <a:avLst/>
              </a:prstGeom>
            </p:spPr>
            <p:txBody>
              <a:bodyPr wrap="square">
                <a:spAutoFit/>
              </a:bodyPr>
              <a:lstStyle/>
              <a:p>
                <a:pPr>
                  <a:buClr>
                    <a:srgbClr val="333399"/>
                  </a:buClr>
                  <a:buSzPct val="75000"/>
                </a:pPr>
                <a:r>
                  <a:rPr lang="en-GB" altLang="en-US" dirty="0">
                    <a:solidFill>
                      <a:srgbClr val="00B050"/>
                    </a:solidFill>
                  </a:rPr>
                  <a:t>Look at the </a:t>
                </a:r>
                <a:r>
                  <a:rPr lang="en-GB" altLang="en-US" b="1" dirty="0">
                    <a:solidFill>
                      <a:srgbClr val="00B050"/>
                    </a:solidFill>
                  </a:rPr>
                  <a:t>t Distribution Table</a:t>
                </a:r>
                <a:r>
                  <a:rPr lang="en-GB" altLang="en-US" dirty="0">
                    <a:solidFill>
                      <a:srgbClr val="00B050"/>
                    </a:solidFill>
                  </a:rPr>
                  <a:t>, we can see the CRITICAL VALUE (</a:t>
                </a:r>
                <a14:m>
                  <m:oMath xmlns:m="http://schemas.openxmlformats.org/officeDocument/2006/math">
                    <m:sSub>
                      <m:sSubPr>
                        <m:ctrlPr>
                          <a:rPr lang="en-GB" altLang="en-US" b="0" i="1" smtClean="0">
                            <a:solidFill>
                              <a:srgbClr val="00B050"/>
                            </a:solidFill>
                            <a:latin typeface="Cambria Math" panose="02040503050406030204" pitchFamily="18" charset="0"/>
                          </a:rPr>
                        </m:ctrlPr>
                      </m:sSubPr>
                      <m:e>
                        <m:r>
                          <a:rPr lang="en-GB" altLang="en-US" b="0" i="1" smtClean="0">
                            <a:solidFill>
                              <a:srgbClr val="00B050"/>
                            </a:solidFill>
                            <a:latin typeface="Cambria Math"/>
                          </a:rPr>
                          <m:t>𝑡</m:t>
                        </m:r>
                      </m:e>
                      <m:sub>
                        <m:r>
                          <a:rPr lang="en-GB" altLang="en-US" b="0" i="1" smtClean="0">
                            <a:solidFill>
                              <a:srgbClr val="00B050"/>
                            </a:solidFill>
                            <a:latin typeface="Cambria Math"/>
                          </a:rPr>
                          <m:t>𝑐𝑟𝑖𝑡</m:t>
                        </m:r>
                      </m:sub>
                    </m:sSub>
                  </m:oMath>
                </a14:m>
                <a:r>
                  <a:rPr lang="en-GB" altLang="en-US" dirty="0">
                    <a:solidFill>
                      <a:srgbClr val="00B050"/>
                    </a:solidFill>
                  </a:rPr>
                  <a:t>) for mean</a:t>
                </a:r>
                <a:endParaRPr lang="en-GB" altLang="en-US" sz="1400" dirty="0">
                  <a:solidFill>
                    <a:schemeClr val="bg1">
                      <a:lumMod val="65000"/>
                    </a:schemeClr>
                  </a:solidFill>
                </a:endParaRPr>
              </a:p>
            </p:txBody>
          </p:sp>
        </mc:Choice>
        <mc:Fallback xmlns="">
          <p:sp>
            <p:nvSpPr>
              <p:cNvPr id="27" name="Rectangle 26"/>
              <p:cNvSpPr>
                <a:spLocks noRot="1" noChangeAspect="1" noMove="1" noResize="1" noEditPoints="1" noAdjustHandles="1" noChangeArrowheads="1" noChangeShapeType="1" noTextEdit="1"/>
              </p:cNvSpPr>
              <p:nvPr/>
            </p:nvSpPr>
            <p:spPr>
              <a:xfrm>
                <a:off x="304800" y="1676400"/>
                <a:ext cx="4689686" cy="646331"/>
              </a:xfrm>
              <a:prstGeom prst="rect">
                <a:avLst/>
              </a:prstGeom>
              <a:blipFill>
                <a:blip r:embed="rId7"/>
                <a:stretch>
                  <a:fillRect l="-1040" t="-4717" b="-1415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8" name="Rectangle 27"/>
              <p:cNvSpPr/>
              <p:nvPr/>
            </p:nvSpPr>
            <p:spPr>
              <a:xfrm>
                <a:off x="685800" y="2814512"/>
                <a:ext cx="2133600" cy="155128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GB" sz="1600" b="1" i="0" dirty="0">
                    <a:latin typeface="+mj-lt"/>
                    <a:ea typeface="Cambria Math"/>
                  </a:rPr>
                  <a:t>Calculate STEM:</a:t>
                </a:r>
                <a:endParaRPr lang="en-GB" sz="1600" b="1" i="1" dirty="0">
                  <a:latin typeface="Cambria Math"/>
                  <a:ea typeface="Cambria Math"/>
                </a:endParaRPr>
              </a:p>
              <a:p>
                <a:pPr algn="ctr"/>
                <a14:m>
                  <m:oMathPara xmlns:m="http://schemas.openxmlformats.org/officeDocument/2006/math">
                    <m:oMathParaPr>
                      <m:jc m:val="center"/>
                    </m:oMathParaPr>
                    <m:oMath xmlns:m="http://schemas.openxmlformats.org/officeDocument/2006/math">
                      <m:sSub>
                        <m:sSubPr>
                          <m:ctrlPr>
                            <a:rPr lang="en-GB" sz="2400" i="1">
                              <a:latin typeface="Cambria Math" panose="02040503050406030204" pitchFamily="18" charset="0"/>
                              <a:ea typeface="Cambria Math"/>
                            </a:rPr>
                          </m:ctrlPr>
                        </m:sSubPr>
                        <m:e>
                          <m:r>
                            <a:rPr lang="en-GB" sz="2400" i="1">
                              <a:latin typeface="Cambria Math"/>
                              <a:ea typeface="Cambria Math"/>
                            </a:rPr>
                            <m:t>𝜎</m:t>
                          </m:r>
                        </m:e>
                        <m:sub>
                          <m:acc>
                            <m:accPr>
                              <m:chr m:val="̅"/>
                              <m:ctrlPr>
                                <a:rPr lang="en-GB" sz="2400" i="1">
                                  <a:latin typeface="Cambria Math" panose="02040503050406030204" pitchFamily="18" charset="0"/>
                                  <a:ea typeface="Cambria Math"/>
                                </a:rPr>
                              </m:ctrlPr>
                            </m:accPr>
                            <m:e>
                              <m:r>
                                <a:rPr lang="en-GB" sz="2400" i="1">
                                  <a:latin typeface="Cambria Math"/>
                                  <a:ea typeface="Cambria Math"/>
                                </a:rPr>
                                <m:t>𝑥</m:t>
                              </m:r>
                            </m:e>
                          </m:acc>
                        </m:sub>
                      </m:sSub>
                      <m:r>
                        <a:rPr lang="en-GB" b="0" i="1" smtClean="0">
                          <a:latin typeface="Cambria Math"/>
                          <a:ea typeface="Cambria Math"/>
                        </a:rPr>
                        <m:t>=</m:t>
                      </m:r>
                      <m:f>
                        <m:fPr>
                          <m:ctrlPr>
                            <a:rPr lang="en-GB" i="1">
                              <a:latin typeface="Cambria Math" panose="02040503050406030204" pitchFamily="18" charset="0"/>
                              <a:ea typeface="Cambria Math"/>
                            </a:rPr>
                          </m:ctrlPr>
                        </m:fPr>
                        <m:num>
                          <m:r>
                            <a:rPr lang="en-GB" b="0" i="1" smtClean="0">
                              <a:latin typeface="Cambria Math"/>
                              <a:ea typeface="Cambria Math"/>
                            </a:rPr>
                            <m:t>𝑠</m:t>
                          </m:r>
                        </m:num>
                        <m:den>
                          <m:rad>
                            <m:radPr>
                              <m:degHide m:val="on"/>
                              <m:ctrlPr>
                                <a:rPr lang="en-GB" i="1">
                                  <a:latin typeface="Cambria Math" panose="02040503050406030204" pitchFamily="18" charset="0"/>
                                  <a:ea typeface="Cambria Math"/>
                                </a:rPr>
                              </m:ctrlPr>
                            </m:radPr>
                            <m:deg/>
                            <m:e>
                              <m:r>
                                <a:rPr lang="en-GB" b="0" i="1" smtClean="0">
                                  <a:latin typeface="Cambria Math"/>
                                  <a:ea typeface="Cambria Math"/>
                                </a:rPr>
                                <m:t>𝑛</m:t>
                              </m:r>
                            </m:e>
                          </m:rad>
                        </m:den>
                      </m:f>
                    </m:oMath>
                  </m:oMathPara>
                </a14:m>
                <a:endParaRPr lang="en-GB" sz="2400" dirty="0"/>
              </a:p>
              <a:p>
                <a14:m>
                  <m:oMath xmlns:m="http://schemas.openxmlformats.org/officeDocument/2006/math">
                    <m:r>
                      <a:rPr lang="en-GB" sz="1200" b="0" i="1" smtClean="0">
                        <a:latin typeface="Cambria Math"/>
                        <a:ea typeface="Cambria Math"/>
                      </a:rPr>
                      <m:t>𝑠</m:t>
                    </m:r>
                    <m:r>
                      <a:rPr lang="en-GB" sz="1200" i="1">
                        <a:latin typeface="Cambria Math"/>
                        <a:ea typeface="Cambria Math"/>
                      </a:rPr>
                      <m:t> </m:t>
                    </m:r>
                  </m:oMath>
                </a14:m>
                <a:r>
                  <a:rPr lang="en-US" altLang="en-US" sz="1200" dirty="0"/>
                  <a:t>= sample standard deviation</a:t>
                </a:r>
              </a:p>
              <a:p>
                <a14:m>
                  <m:oMath xmlns:m="http://schemas.openxmlformats.org/officeDocument/2006/math">
                    <m:r>
                      <a:rPr lang="en-US" altLang="en-US" sz="1200" i="1" dirty="0" smtClean="0">
                        <a:latin typeface="Cambria Math"/>
                      </a:rPr>
                      <m:t>𝑛</m:t>
                    </m:r>
                  </m:oMath>
                </a14:m>
                <a:r>
                  <a:rPr lang="en-US" altLang="en-US" sz="1200" dirty="0"/>
                  <a:t> = number in sample</a:t>
                </a:r>
                <a:endParaRPr lang="en-GB" sz="1200" dirty="0"/>
              </a:p>
            </p:txBody>
          </p:sp>
        </mc:Choice>
        <mc:Fallback xmlns="">
          <p:sp>
            <p:nvSpPr>
              <p:cNvPr id="28" name="Rectangle 27"/>
              <p:cNvSpPr>
                <a:spLocks noRot="1" noChangeAspect="1" noMove="1" noResize="1" noEditPoints="1" noAdjustHandles="1" noChangeArrowheads="1" noChangeShapeType="1" noTextEdit="1"/>
              </p:cNvSpPr>
              <p:nvPr/>
            </p:nvSpPr>
            <p:spPr>
              <a:xfrm>
                <a:off x="685800" y="2814512"/>
                <a:ext cx="2133600" cy="1551280"/>
              </a:xfrm>
              <a:prstGeom prst="rect">
                <a:avLst/>
              </a:prstGeom>
              <a:blipFill rotWithShape="1">
                <a:blip r:embed="rId8"/>
                <a:stretch>
                  <a:fillRect/>
                </a:stretch>
              </a:blipFill>
            </p:spPr>
            <p:txBody>
              <a:bodyPr/>
              <a:lstStyle/>
              <a:p>
                <a:r>
                  <a:rPr lang="en-GB">
                    <a:noFill/>
                  </a:rPr>
                  <a:t> </a:t>
                </a:r>
              </a:p>
            </p:txBody>
          </p:sp>
        </mc:Fallback>
      </mc:AlternateContent>
      <p:sp>
        <p:nvSpPr>
          <p:cNvPr id="146438" name="Text Box 6"/>
          <p:cNvSpPr txBox="1">
            <a:spLocks noChangeArrowheads="1"/>
          </p:cNvSpPr>
          <p:nvPr/>
        </p:nvSpPr>
        <p:spPr bwMode="auto">
          <a:xfrm>
            <a:off x="304800" y="838200"/>
            <a:ext cx="70104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dirty="0"/>
              <a:t>The </a:t>
            </a:r>
            <a:r>
              <a:rPr lang="en-US" altLang="en-US" b="1" dirty="0"/>
              <a:t>confidence interval for</a:t>
            </a:r>
            <a:r>
              <a:rPr lang="en-US" altLang="en-US" dirty="0"/>
              <a:t> the population </a:t>
            </a:r>
            <a:r>
              <a:rPr lang="en-US" altLang="en-US" b="1" dirty="0"/>
              <a:t>mean</a:t>
            </a:r>
            <a:r>
              <a:rPr lang="en-US" altLang="en-US" dirty="0"/>
              <a:t> is calculated in a </a:t>
            </a:r>
            <a:r>
              <a:rPr lang="en-US" altLang="en-US" b="1" dirty="0"/>
              <a:t>similar</a:t>
            </a:r>
            <a:r>
              <a:rPr lang="en-US" altLang="en-US" dirty="0"/>
              <a:t> way </a:t>
            </a:r>
            <a:r>
              <a:rPr lang="en-US" altLang="en-US" b="1" dirty="0"/>
              <a:t>to</a:t>
            </a:r>
            <a:r>
              <a:rPr lang="en-US" altLang="en-US" dirty="0"/>
              <a:t> the </a:t>
            </a:r>
            <a:r>
              <a:rPr lang="en-US" altLang="en-US" b="1" dirty="0"/>
              <a:t>confidence interval </a:t>
            </a:r>
            <a:r>
              <a:rPr lang="en-US" altLang="en-US" dirty="0"/>
              <a:t>for the population </a:t>
            </a:r>
            <a:r>
              <a:rPr lang="en-US" altLang="en-US" b="1" dirty="0"/>
              <a:t>proportions…</a:t>
            </a:r>
            <a:endParaRPr lang="en-US" altLang="en-US" dirty="0"/>
          </a:p>
        </p:txBody>
      </p:sp>
      <p:sp>
        <p:nvSpPr>
          <p:cNvPr id="3" name="TextBox 2">
            <a:extLst>
              <a:ext uri="{FF2B5EF4-FFF2-40B4-BE49-F238E27FC236}">
                <a16:creationId xmlns:a16="http://schemas.microsoft.com/office/drawing/2014/main" id="{C2917B65-6956-42E5-BF31-44F506725E2B}"/>
              </a:ext>
            </a:extLst>
          </p:cNvPr>
          <p:cNvSpPr txBox="1"/>
          <p:nvPr/>
        </p:nvSpPr>
        <p:spPr>
          <a:xfrm>
            <a:off x="422888" y="5635786"/>
            <a:ext cx="7203363" cy="646331"/>
          </a:xfrm>
          <a:prstGeom prst="rect">
            <a:avLst/>
          </a:prstGeom>
          <a:noFill/>
        </p:spPr>
        <p:txBody>
          <a:bodyPr wrap="square">
            <a:spAutoFit/>
          </a:bodyPr>
          <a:lstStyle/>
          <a:p>
            <a:r>
              <a:rPr lang="en-GB" b="0" dirty="0">
                <a:effectLst/>
                <a:latin typeface="Arial" panose="020B0604020202020204" pitchFamily="34" charset="0"/>
                <a:cs typeface="Arial" panose="020B0604020202020204" pitchFamily="34" charset="0"/>
              </a:rPr>
              <a:t>When a sample </a:t>
            </a:r>
            <a:r>
              <a:rPr lang="en-GB" b="1" u="sng" dirty="0">
                <a:effectLst/>
                <a:latin typeface="Arial" panose="020B0604020202020204" pitchFamily="34" charset="0"/>
                <a:cs typeface="Arial" panose="020B0604020202020204" pitchFamily="34" charset="0"/>
              </a:rPr>
              <a:t>has more than 30 observations</a:t>
            </a:r>
            <a:r>
              <a:rPr lang="en-GB" b="0" dirty="0">
                <a:effectLst/>
                <a:latin typeface="Arial" panose="020B0604020202020204" pitchFamily="34" charset="0"/>
                <a:cs typeface="Arial" panose="020B0604020202020204" pitchFamily="34" charset="0"/>
              </a:rPr>
              <a:t>, the normal distribution can be used in place of the t distribution.</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25949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D1C6A-A009-4361-98A0-F9FF1A2CE400}"/>
              </a:ext>
            </a:extLst>
          </p:cNvPr>
          <p:cNvSpPr>
            <a:spLocks noGrp="1"/>
          </p:cNvSpPr>
          <p:nvPr>
            <p:ph type="title"/>
          </p:nvPr>
        </p:nvSpPr>
        <p:spPr>
          <a:xfrm>
            <a:off x="457200" y="36250"/>
            <a:ext cx="8229600" cy="725750"/>
          </a:xfrm>
        </p:spPr>
        <p:txBody>
          <a:bodyPr/>
          <a:lstStyle/>
          <a:p>
            <a:r>
              <a:rPr lang="en-US" dirty="0"/>
              <a:t>Z-Score vs T-Score</a:t>
            </a:r>
          </a:p>
        </p:txBody>
      </p:sp>
      <p:sp>
        <p:nvSpPr>
          <p:cNvPr id="8" name="Text Placeholder 7">
            <a:extLst>
              <a:ext uri="{FF2B5EF4-FFF2-40B4-BE49-F238E27FC236}">
                <a16:creationId xmlns:a16="http://schemas.microsoft.com/office/drawing/2014/main" id="{535540A5-D50A-4FA3-9089-E75BC63FA836}"/>
              </a:ext>
            </a:extLst>
          </p:cNvPr>
          <p:cNvSpPr>
            <a:spLocks noGrp="1"/>
          </p:cNvSpPr>
          <p:nvPr>
            <p:ph type="body" idx="1"/>
          </p:nvPr>
        </p:nvSpPr>
        <p:spPr>
          <a:xfrm>
            <a:off x="457200" y="2133600"/>
            <a:ext cx="4040188" cy="639762"/>
          </a:xfrm>
        </p:spPr>
        <p:txBody>
          <a:bodyPr>
            <a:normAutofit/>
          </a:bodyPr>
          <a:lstStyle/>
          <a:p>
            <a:r>
              <a:rPr lang="en-US" sz="2000" dirty="0"/>
              <a:t>Z-Score</a:t>
            </a:r>
          </a:p>
        </p:txBody>
      </p:sp>
      <p:sp>
        <p:nvSpPr>
          <p:cNvPr id="9" name="Content Placeholder 8">
            <a:extLst>
              <a:ext uri="{FF2B5EF4-FFF2-40B4-BE49-F238E27FC236}">
                <a16:creationId xmlns:a16="http://schemas.microsoft.com/office/drawing/2014/main" id="{4555078B-3154-4DD4-BAE1-EB0E78FA2F6E}"/>
              </a:ext>
            </a:extLst>
          </p:cNvPr>
          <p:cNvSpPr>
            <a:spLocks noGrp="1"/>
          </p:cNvSpPr>
          <p:nvPr>
            <p:ph sz="half" idx="2"/>
          </p:nvPr>
        </p:nvSpPr>
        <p:spPr>
          <a:xfrm>
            <a:off x="457200" y="2773362"/>
            <a:ext cx="4040188" cy="3951288"/>
          </a:xfrm>
        </p:spPr>
        <p:txBody>
          <a:bodyPr>
            <a:normAutofit/>
          </a:bodyPr>
          <a:lstStyle/>
          <a:p>
            <a:r>
              <a:rPr lang="en-GB" sz="2000" i="0" dirty="0">
                <a:effectLst/>
                <a:latin typeface="Arial" panose="020B0604020202020204" pitchFamily="34" charset="0"/>
                <a:cs typeface="Arial" panose="020B0604020202020204" pitchFamily="34" charset="0"/>
              </a:rPr>
              <a:t>The population’s standard deviation is </a:t>
            </a:r>
            <a:r>
              <a:rPr lang="en-GB" sz="2000" b="1" i="0" dirty="0">
                <a:effectLst/>
                <a:latin typeface="Arial" panose="020B0604020202020204" pitchFamily="34" charset="0"/>
                <a:cs typeface="Arial" panose="020B0604020202020204" pitchFamily="34" charset="0"/>
              </a:rPr>
              <a:t>known</a:t>
            </a:r>
            <a:r>
              <a:rPr lang="en-GB" sz="2000" i="0" dirty="0">
                <a:effectLst/>
                <a:latin typeface="Arial" panose="020B0604020202020204" pitchFamily="34" charset="0"/>
                <a:cs typeface="Arial" panose="020B0604020202020204" pitchFamily="34" charset="0"/>
              </a:rPr>
              <a:t>.</a:t>
            </a:r>
          </a:p>
          <a:p>
            <a:r>
              <a:rPr lang="en-GB" sz="2000" dirty="0">
                <a:latin typeface="Arial" panose="020B0604020202020204" pitchFamily="34" charset="0"/>
                <a:cs typeface="Arial" panose="020B0604020202020204" pitchFamily="34" charset="0"/>
              </a:rPr>
              <a:t>Or the </a:t>
            </a:r>
            <a:r>
              <a:rPr lang="en-GB" sz="2000" b="1" dirty="0">
                <a:latin typeface="Arial" panose="020B0604020202020204" pitchFamily="34" charset="0"/>
                <a:cs typeface="Arial" panose="020B0604020202020204" pitchFamily="34" charset="0"/>
              </a:rPr>
              <a:t>sample size</a:t>
            </a:r>
            <a:r>
              <a:rPr lang="en-GB" sz="2000" dirty="0">
                <a:latin typeface="Arial" panose="020B0604020202020204" pitchFamily="34" charset="0"/>
                <a:cs typeface="Arial" panose="020B0604020202020204" pitchFamily="34" charset="0"/>
              </a:rPr>
              <a:t> is </a:t>
            </a:r>
            <a:r>
              <a:rPr lang="en-GB" sz="2000" b="1" dirty="0">
                <a:latin typeface="Arial" panose="020B0604020202020204" pitchFamily="34" charset="0"/>
                <a:cs typeface="Arial" panose="020B0604020202020204" pitchFamily="34" charset="0"/>
              </a:rPr>
              <a:t>large</a:t>
            </a:r>
            <a:r>
              <a:rPr lang="en-GB" sz="2000" dirty="0">
                <a:latin typeface="Arial" panose="020B0604020202020204" pitchFamily="34" charset="0"/>
                <a:cs typeface="Arial" panose="020B0604020202020204" pitchFamily="34" charset="0"/>
              </a:rPr>
              <a:t> enough.</a:t>
            </a:r>
            <a:endParaRPr lang="en-GB" sz="2000" i="0" dirty="0">
              <a:effectLst/>
              <a:latin typeface="Arial" panose="020B0604020202020204" pitchFamily="34" charset="0"/>
              <a:cs typeface="Arial" panose="020B0604020202020204" pitchFamily="34" charset="0"/>
            </a:endParaRPr>
          </a:p>
        </p:txBody>
      </p:sp>
      <p:sp>
        <p:nvSpPr>
          <p:cNvPr id="10" name="Text Placeholder 9">
            <a:extLst>
              <a:ext uri="{FF2B5EF4-FFF2-40B4-BE49-F238E27FC236}">
                <a16:creationId xmlns:a16="http://schemas.microsoft.com/office/drawing/2014/main" id="{A23465E1-EFF7-4565-A231-F2D25A52F6DC}"/>
              </a:ext>
            </a:extLst>
          </p:cNvPr>
          <p:cNvSpPr>
            <a:spLocks noGrp="1"/>
          </p:cNvSpPr>
          <p:nvPr>
            <p:ph type="body" sz="quarter" idx="3"/>
          </p:nvPr>
        </p:nvSpPr>
        <p:spPr>
          <a:xfrm>
            <a:off x="4645025" y="2133600"/>
            <a:ext cx="4041775" cy="639762"/>
          </a:xfrm>
        </p:spPr>
        <p:txBody>
          <a:bodyPr>
            <a:normAutofit/>
          </a:bodyPr>
          <a:lstStyle/>
          <a:p>
            <a:r>
              <a:rPr lang="en-US" sz="2000" dirty="0"/>
              <a:t>T-Score</a:t>
            </a:r>
          </a:p>
        </p:txBody>
      </p:sp>
      <p:sp>
        <p:nvSpPr>
          <p:cNvPr id="11" name="Content Placeholder 10">
            <a:extLst>
              <a:ext uri="{FF2B5EF4-FFF2-40B4-BE49-F238E27FC236}">
                <a16:creationId xmlns:a16="http://schemas.microsoft.com/office/drawing/2014/main" id="{8620C879-9005-4557-807B-2950BAFC3254}"/>
              </a:ext>
            </a:extLst>
          </p:cNvPr>
          <p:cNvSpPr>
            <a:spLocks noGrp="1"/>
          </p:cNvSpPr>
          <p:nvPr>
            <p:ph sz="quarter" idx="4"/>
          </p:nvPr>
        </p:nvSpPr>
        <p:spPr>
          <a:xfrm>
            <a:off x="4645025" y="2773362"/>
            <a:ext cx="4041775" cy="3951288"/>
          </a:xfrm>
        </p:spPr>
        <p:txBody>
          <a:bodyPr>
            <a:normAutofit/>
          </a:bodyPr>
          <a:lstStyle/>
          <a:p>
            <a:r>
              <a:rPr lang="en-GB" sz="2000" dirty="0">
                <a:latin typeface="Arial" panose="020B0604020202020204" pitchFamily="34" charset="0"/>
                <a:cs typeface="Arial" panose="020B0604020202020204" pitchFamily="34" charset="0"/>
              </a:rPr>
              <a:t>The population standard deviation is </a:t>
            </a:r>
            <a:r>
              <a:rPr lang="en-GB" sz="2000" b="1" dirty="0">
                <a:latin typeface="Arial" panose="020B0604020202020204" pitchFamily="34" charset="0"/>
                <a:cs typeface="Arial" panose="020B0604020202020204" pitchFamily="34" charset="0"/>
              </a:rPr>
              <a:t>unknown</a:t>
            </a:r>
            <a:r>
              <a:rPr lang="en-GB" sz="2000" dirty="0">
                <a:latin typeface="Arial" panose="020B0604020202020204" pitchFamily="34" charset="0"/>
                <a:cs typeface="Arial" panose="020B0604020202020204" pitchFamily="34" charset="0"/>
              </a:rPr>
              <a:t>. You make an estimate by using your sample.</a:t>
            </a:r>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And the </a:t>
            </a:r>
            <a:r>
              <a:rPr lang="en-US" sz="2000" b="1" dirty="0">
                <a:latin typeface="Arial" panose="020B0604020202020204" pitchFamily="34" charset="0"/>
                <a:cs typeface="Arial" panose="020B0604020202020204" pitchFamily="34" charset="0"/>
              </a:rPr>
              <a:t>sample size</a:t>
            </a:r>
            <a:r>
              <a:rPr lang="en-US" sz="2000" dirty="0">
                <a:latin typeface="Arial" panose="020B0604020202020204" pitchFamily="34" charset="0"/>
                <a:cs typeface="Arial" panose="020B0604020202020204" pitchFamily="34" charset="0"/>
              </a:rPr>
              <a:t> is </a:t>
            </a:r>
            <a:r>
              <a:rPr lang="en-US" sz="2000" b="1" dirty="0">
                <a:latin typeface="Arial" panose="020B0604020202020204" pitchFamily="34" charset="0"/>
                <a:cs typeface="Arial" panose="020B0604020202020204" pitchFamily="34" charset="0"/>
              </a:rPr>
              <a:t>small</a:t>
            </a:r>
            <a:r>
              <a:rPr lang="en-US" sz="2000" dirty="0">
                <a:latin typeface="Arial" panose="020B0604020202020204" pitchFamily="34" charset="0"/>
                <a:cs typeface="Arial" panose="020B0604020202020204" pitchFamily="34" charset="0"/>
              </a:rPr>
              <a:t>.</a:t>
            </a:r>
            <a:endParaRPr lang="en-GB" sz="2000" dirty="0">
              <a:latin typeface="Arial" panose="020B0604020202020204" pitchFamily="34" charset="0"/>
              <a:cs typeface="Arial" panose="020B0604020202020204" pitchFamily="34" charset="0"/>
            </a:endParaRPr>
          </a:p>
        </p:txBody>
      </p:sp>
      <p:pic>
        <p:nvPicPr>
          <p:cNvPr id="1028" name="Picture 4">
            <a:extLst>
              <a:ext uri="{FF2B5EF4-FFF2-40B4-BE49-F238E27FC236}">
                <a16:creationId xmlns:a16="http://schemas.microsoft.com/office/drawing/2014/main" id="{5820F09E-A37B-4B96-A138-9CD64A2D26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07955" y="234267"/>
            <a:ext cx="3371850" cy="18993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50791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Problem 3</a:t>
            </a:r>
          </a:p>
        </p:txBody>
      </p:sp>
      <p:sp>
        <p:nvSpPr>
          <p:cNvPr id="166918" name="Text Box 6"/>
          <p:cNvSpPr txBox="1">
            <a:spLocks noChangeArrowheads="1"/>
          </p:cNvSpPr>
          <p:nvPr/>
        </p:nvSpPr>
        <p:spPr bwMode="auto">
          <a:xfrm>
            <a:off x="304800" y="838200"/>
            <a:ext cx="8229600"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GB" altLang="en-US" sz="2000" dirty="0"/>
              <a:t>A </a:t>
            </a:r>
            <a:r>
              <a:rPr lang="en-GB" altLang="en-US" sz="2000" b="1" dirty="0"/>
              <a:t>company</a:t>
            </a:r>
            <a:r>
              <a:rPr lang="en-GB" altLang="en-US" sz="2000" dirty="0"/>
              <a:t> wanting to look at the efficiency of it’s order processing system. It </a:t>
            </a:r>
            <a:r>
              <a:rPr lang="en-GB" altLang="en-US" sz="2000" b="1" dirty="0"/>
              <a:t>takes a sample of 65 orders</a:t>
            </a:r>
            <a:r>
              <a:rPr lang="en-GB" altLang="en-US" sz="2000" dirty="0"/>
              <a:t>, and finds that the </a:t>
            </a:r>
            <a:r>
              <a:rPr lang="en-GB" altLang="en-US" sz="2000" b="1" dirty="0"/>
              <a:t>mean</a:t>
            </a:r>
            <a:r>
              <a:rPr lang="en-GB" altLang="en-US" sz="2000" dirty="0"/>
              <a:t> order processing time </a:t>
            </a:r>
            <a:r>
              <a:rPr lang="en-GB" altLang="en-US" sz="2000" b="1" dirty="0"/>
              <a:t>is 18.1077 days </a:t>
            </a:r>
            <a:r>
              <a:rPr lang="en-GB" altLang="en-US" sz="2000" dirty="0"/>
              <a:t>and the </a:t>
            </a:r>
            <a:r>
              <a:rPr lang="en-GB" altLang="en-US" sz="2000" b="1" dirty="0" err="1"/>
              <a:t>s.d</a:t>
            </a:r>
            <a:r>
              <a:rPr lang="en-GB" altLang="en-US" sz="2000" b="1" dirty="0"/>
              <a:t> </a:t>
            </a:r>
            <a:r>
              <a:rPr lang="en-GB" altLang="en-US" sz="2000" dirty="0"/>
              <a:t>of the sample </a:t>
            </a:r>
            <a:r>
              <a:rPr lang="en-GB" altLang="en-US" sz="2000" b="1" dirty="0"/>
              <a:t>is 3.9612</a:t>
            </a:r>
            <a:r>
              <a:rPr lang="en-GB" altLang="en-US" sz="2000" dirty="0"/>
              <a:t>. </a:t>
            </a:r>
          </a:p>
          <a:p>
            <a:endParaRPr lang="en-GB" altLang="en-US" sz="2000" dirty="0"/>
          </a:p>
          <a:p>
            <a:r>
              <a:rPr lang="en-GB" altLang="en-US" sz="2000" b="1" dirty="0"/>
              <a:t>What is </a:t>
            </a:r>
            <a:r>
              <a:rPr lang="en-GB" altLang="en-US" sz="2000" dirty="0"/>
              <a:t>the </a:t>
            </a:r>
            <a:r>
              <a:rPr lang="en-GB" altLang="en-US" sz="2000" b="1" dirty="0"/>
              <a:t>95% confidence interval </a:t>
            </a:r>
            <a:r>
              <a:rPr lang="en-GB" altLang="en-US" sz="2000" dirty="0"/>
              <a:t>for the population mean?</a:t>
            </a:r>
            <a:endParaRPr lang="en-US" altLang="en-US" sz="2000" dirty="0"/>
          </a:p>
        </p:txBody>
      </p:sp>
    </p:spTree>
    <p:extLst>
      <p:ext uri="{BB962C8B-B14F-4D97-AF65-F5344CB8AC3E}">
        <p14:creationId xmlns:p14="http://schemas.microsoft.com/office/powerpoint/2010/main" val="17459398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Problem 3</a:t>
            </a:r>
          </a:p>
        </p:txBody>
      </p:sp>
      <p:sp>
        <p:nvSpPr>
          <p:cNvPr id="9" name="Text Box 6"/>
          <p:cNvSpPr txBox="1">
            <a:spLocks noChangeArrowheads="1"/>
          </p:cNvSpPr>
          <p:nvPr/>
        </p:nvSpPr>
        <p:spPr bwMode="auto">
          <a:xfrm>
            <a:off x="304800" y="838200"/>
            <a:ext cx="8229600"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GB" altLang="en-US" sz="2000" dirty="0"/>
              <a:t>A </a:t>
            </a:r>
            <a:r>
              <a:rPr lang="en-GB" altLang="en-US" sz="2000" b="1" dirty="0"/>
              <a:t>company</a:t>
            </a:r>
            <a:r>
              <a:rPr lang="en-GB" altLang="en-US" sz="2000" dirty="0"/>
              <a:t> wanting to look at the efficiency of it’s order processing system. It </a:t>
            </a:r>
            <a:r>
              <a:rPr lang="en-GB" altLang="en-US" sz="2000" b="1" dirty="0"/>
              <a:t>takes a sample of 65 orders</a:t>
            </a:r>
            <a:r>
              <a:rPr lang="en-GB" altLang="en-US" sz="2000" dirty="0"/>
              <a:t>, and finds that the </a:t>
            </a:r>
            <a:r>
              <a:rPr lang="en-GB" altLang="en-US" sz="2000" b="1" dirty="0"/>
              <a:t>mean</a:t>
            </a:r>
            <a:r>
              <a:rPr lang="en-GB" altLang="en-US" sz="2000" dirty="0"/>
              <a:t> order processing time </a:t>
            </a:r>
            <a:r>
              <a:rPr lang="en-GB" altLang="en-US" sz="2000" b="1" dirty="0"/>
              <a:t>is 18.1077 days </a:t>
            </a:r>
            <a:r>
              <a:rPr lang="en-GB" altLang="en-US" sz="2000" dirty="0"/>
              <a:t>and the </a:t>
            </a:r>
            <a:r>
              <a:rPr lang="en-GB" altLang="en-US" sz="2000" b="1" dirty="0" err="1"/>
              <a:t>s.d</a:t>
            </a:r>
            <a:r>
              <a:rPr lang="en-GB" altLang="en-US" sz="2000" b="1" dirty="0"/>
              <a:t> </a:t>
            </a:r>
            <a:r>
              <a:rPr lang="en-GB" altLang="en-US" sz="2000" dirty="0"/>
              <a:t>of the sample </a:t>
            </a:r>
            <a:r>
              <a:rPr lang="en-GB" altLang="en-US" sz="2000" b="1" dirty="0"/>
              <a:t>is 3.9612</a:t>
            </a:r>
            <a:r>
              <a:rPr lang="en-GB" altLang="en-US" sz="2000" dirty="0"/>
              <a:t>. </a:t>
            </a:r>
          </a:p>
          <a:p>
            <a:endParaRPr lang="en-GB" altLang="en-US" sz="2000" dirty="0"/>
          </a:p>
          <a:p>
            <a:r>
              <a:rPr lang="en-GB" altLang="en-US" sz="2000" b="1" dirty="0"/>
              <a:t>What is </a:t>
            </a:r>
            <a:r>
              <a:rPr lang="en-GB" altLang="en-US" sz="2000" dirty="0"/>
              <a:t>the </a:t>
            </a:r>
            <a:r>
              <a:rPr lang="en-GB" altLang="en-US" sz="2000" b="1" dirty="0"/>
              <a:t>95% confidence interval </a:t>
            </a:r>
            <a:r>
              <a:rPr lang="en-GB" altLang="en-US" sz="2000" dirty="0"/>
              <a:t>for the population mean?</a:t>
            </a:r>
            <a:endParaRPr lang="en-US" altLang="en-US" sz="2000" dirty="0"/>
          </a:p>
        </p:txBody>
      </p:sp>
      <p:grpSp>
        <p:nvGrpSpPr>
          <p:cNvPr id="6" name="Group 5"/>
          <p:cNvGrpSpPr/>
          <p:nvPr/>
        </p:nvGrpSpPr>
        <p:grpSpPr>
          <a:xfrm>
            <a:off x="3822022" y="2841342"/>
            <a:ext cx="4098802" cy="844060"/>
            <a:chOff x="4114800" y="3429000"/>
            <a:chExt cx="4098802" cy="844060"/>
          </a:xfrm>
        </p:grpSpPr>
        <p:pic>
          <p:nvPicPr>
            <p:cNvPr id="8" name="Picture 10" descr="http://www.reflectiveresolutions.com/2014/wp-content/uploads/2015/03/BellCurv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17023" y="3429000"/>
              <a:ext cx="3896579" cy="834971"/>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p:cNvSpPr/>
            <p:nvPr/>
          </p:nvSpPr>
          <p:spPr>
            <a:xfrm>
              <a:off x="4114800" y="3429000"/>
              <a:ext cx="457200" cy="8440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mc:AlternateContent xmlns:mc="http://schemas.openxmlformats.org/markup-compatibility/2006" xmlns:a14="http://schemas.microsoft.com/office/drawing/2010/main">
        <mc:Choice Requires="a14">
          <p:sp>
            <p:nvSpPr>
              <p:cNvPr id="28" name="Rectangle 27"/>
              <p:cNvSpPr/>
              <p:nvPr/>
            </p:nvSpPr>
            <p:spPr>
              <a:xfrm>
                <a:off x="685800" y="2814512"/>
                <a:ext cx="2133600" cy="155128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GB" sz="1600" b="1" i="0" dirty="0">
                    <a:latin typeface="+mj-lt"/>
                    <a:ea typeface="Cambria Math"/>
                  </a:rPr>
                  <a:t>Calculate STEM:</a:t>
                </a:r>
                <a:endParaRPr lang="en-GB" sz="1600" b="1" i="1" dirty="0">
                  <a:latin typeface="Cambria Math"/>
                  <a:ea typeface="Cambria Math"/>
                </a:endParaRPr>
              </a:p>
              <a:p>
                <a:pPr algn="ctr"/>
                <a14:m>
                  <m:oMathPara xmlns:m="http://schemas.openxmlformats.org/officeDocument/2006/math">
                    <m:oMathParaPr>
                      <m:jc m:val="center"/>
                    </m:oMathParaPr>
                    <m:oMath xmlns:m="http://schemas.openxmlformats.org/officeDocument/2006/math">
                      <m:sSub>
                        <m:sSubPr>
                          <m:ctrlPr>
                            <a:rPr lang="en-GB" sz="2400" i="1">
                              <a:latin typeface="Cambria Math" panose="02040503050406030204" pitchFamily="18" charset="0"/>
                              <a:ea typeface="Cambria Math"/>
                            </a:rPr>
                          </m:ctrlPr>
                        </m:sSubPr>
                        <m:e>
                          <m:r>
                            <a:rPr lang="en-GB" sz="2400" i="1">
                              <a:latin typeface="Cambria Math"/>
                              <a:ea typeface="Cambria Math"/>
                            </a:rPr>
                            <m:t>𝜎</m:t>
                          </m:r>
                        </m:e>
                        <m:sub>
                          <m:acc>
                            <m:accPr>
                              <m:chr m:val="̅"/>
                              <m:ctrlPr>
                                <a:rPr lang="en-GB" sz="2400" i="1">
                                  <a:latin typeface="Cambria Math" panose="02040503050406030204" pitchFamily="18" charset="0"/>
                                  <a:ea typeface="Cambria Math"/>
                                </a:rPr>
                              </m:ctrlPr>
                            </m:accPr>
                            <m:e>
                              <m:r>
                                <a:rPr lang="en-GB" sz="2400" i="1">
                                  <a:latin typeface="Cambria Math"/>
                                  <a:ea typeface="Cambria Math"/>
                                </a:rPr>
                                <m:t>𝑥</m:t>
                              </m:r>
                            </m:e>
                          </m:acc>
                        </m:sub>
                      </m:sSub>
                      <m:r>
                        <a:rPr lang="en-GB" b="0" i="1" smtClean="0">
                          <a:latin typeface="Cambria Math"/>
                          <a:ea typeface="Cambria Math"/>
                        </a:rPr>
                        <m:t>=</m:t>
                      </m:r>
                      <m:f>
                        <m:fPr>
                          <m:ctrlPr>
                            <a:rPr lang="en-GB" i="1">
                              <a:latin typeface="Cambria Math" panose="02040503050406030204" pitchFamily="18" charset="0"/>
                              <a:ea typeface="Cambria Math"/>
                            </a:rPr>
                          </m:ctrlPr>
                        </m:fPr>
                        <m:num>
                          <m:r>
                            <a:rPr lang="en-GB" b="0" i="1" smtClean="0">
                              <a:latin typeface="Cambria Math"/>
                              <a:ea typeface="Cambria Math"/>
                            </a:rPr>
                            <m:t>𝑠</m:t>
                          </m:r>
                        </m:num>
                        <m:den>
                          <m:rad>
                            <m:radPr>
                              <m:degHide m:val="on"/>
                              <m:ctrlPr>
                                <a:rPr lang="en-GB" i="1">
                                  <a:latin typeface="Cambria Math" panose="02040503050406030204" pitchFamily="18" charset="0"/>
                                  <a:ea typeface="Cambria Math"/>
                                </a:rPr>
                              </m:ctrlPr>
                            </m:radPr>
                            <m:deg/>
                            <m:e>
                              <m:r>
                                <a:rPr lang="en-GB" b="0" i="1" smtClean="0">
                                  <a:latin typeface="Cambria Math"/>
                                  <a:ea typeface="Cambria Math"/>
                                </a:rPr>
                                <m:t>𝑛</m:t>
                              </m:r>
                            </m:e>
                          </m:rad>
                        </m:den>
                      </m:f>
                    </m:oMath>
                  </m:oMathPara>
                </a14:m>
                <a:endParaRPr lang="en-GB" sz="2400" dirty="0"/>
              </a:p>
              <a:p>
                <a14:m>
                  <m:oMath xmlns:m="http://schemas.openxmlformats.org/officeDocument/2006/math">
                    <m:r>
                      <a:rPr lang="en-GB" sz="1200" b="0" i="1" smtClean="0">
                        <a:latin typeface="Cambria Math"/>
                        <a:ea typeface="Cambria Math"/>
                      </a:rPr>
                      <m:t>𝑠</m:t>
                    </m:r>
                    <m:r>
                      <a:rPr lang="en-GB" sz="1200" i="1">
                        <a:latin typeface="Cambria Math"/>
                        <a:ea typeface="Cambria Math"/>
                      </a:rPr>
                      <m:t> </m:t>
                    </m:r>
                  </m:oMath>
                </a14:m>
                <a:r>
                  <a:rPr lang="en-US" altLang="en-US" sz="1200" dirty="0"/>
                  <a:t>= sample standard deviation</a:t>
                </a:r>
              </a:p>
              <a:p>
                <a14:m>
                  <m:oMath xmlns:m="http://schemas.openxmlformats.org/officeDocument/2006/math">
                    <m:r>
                      <a:rPr lang="en-US" altLang="en-US" sz="1200" i="1" dirty="0" smtClean="0">
                        <a:latin typeface="Cambria Math"/>
                      </a:rPr>
                      <m:t>𝑛</m:t>
                    </m:r>
                  </m:oMath>
                </a14:m>
                <a:r>
                  <a:rPr lang="en-US" altLang="en-US" sz="1200" dirty="0"/>
                  <a:t> = number in sample</a:t>
                </a:r>
                <a:endParaRPr lang="en-GB" sz="1200" dirty="0"/>
              </a:p>
            </p:txBody>
          </p:sp>
        </mc:Choice>
        <mc:Fallback xmlns="">
          <p:sp>
            <p:nvSpPr>
              <p:cNvPr id="28" name="Rectangle 27"/>
              <p:cNvSpPr>
                <a:spLocks noRot="1" noChangeAspect="1" noMove="1" noResize="1" noEditPoints="1" noAdjustHandles="1" noChangeArrowheads="1" noChangeShapeType="1" noTextEdit="1"/>
              </p:cNvSpPr>
              <p:nvPr/>
            </p:nvSpPr>
            <p:spPr>
              <a:xfrm>
                <a:off x="685800" y="2814512"/>
                <a:ext cx="2133600" cy="1551280"/>
              </a:xfrm>
              <a:prstGeom prst="rect">
                <a:avLst/>
              </a:prstGeom>
              <a:blipFill rotWithShape="1">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9" name="Rectangle 28"/>
              <p:cNvSpPr/>
              <p:nvPr/>
            </p:nvSpPr>
            <p:spPr>
              <a:xfrm>
                <a:off x="685800" y="2819400"/>
                <a:ext cx="2133600" cy="155128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GB" sz="1600" b="1" i="0" dirty="0">
                    <a:latin typeface="+mj-lt"/>
                    <a:ea typeface="Cambria Math"/>
                  </a:rPr>
                  <a:t>Calculate STEM:</a:t>
                </a:r>
                <a:endParaRPr lang="en-GB" sz="1600" b="1" i="1" dirty="0">
                  <a:latin typeface="Cambria Math"/>
                  <a:ea typeface="Cambria Math"/>
                </a:endParaRPr>
              </a:p>
              <a:p>
                <a:pPr algn="ctr"/>
                <a14:m>
                  <m:oMathPara xmlns:m="http://schemas.openxmlformats.org/officeDocument/2006/math">
                    <m:oMathParaPr>
                      <m:jc m:val="center"/>
                    </m:oMathParaPr>
                    <m:oMath xmlns:m="http://schemas.openxmlformats.org/officeDocument/2006/math">
                      <m:sSub>
                        <m:sSubPr>
                          <m:ctrlPr>
                            <a:rPr lang="en-GB" sz="2400" i="1">
                              <a:latin typeface="Cambria Math" panose="02040503050406030204" pitchFamily="18" charset="0"/>
                              <a:ea typeface="Cambria Math"/>
                            </a:rPr>
                          </m:ctrlPr>
                        </m:sSubPr>
                        <m:e>
                          <m:r>
                            <a:rPr lang="en-GB" sz="2400" i="1">
                              <a:latin typeface="Cambria Math"/>
                              <a:ea typeface="Cambria Math"/>
                            </a:rPr>
                            <m:t>𝜎</m:t>
                          </m:r>
                        </m:e>
                        <m:sub>
                          <m:acc>
                            <m:accPr>
                              <m:chr m:val="̅"/>
                              <m:ctrlPr>
                                <a:rPr lang="en-GB" sz="2400" i="1">
                                  <a:latin typeface="Cambria Math" panose="02040503050406030204" pitchFamily="18" charset="0"/>
                                  <a:ea typeface="Cambria Math"/>
                                </a:rPr>
                              </m:ctrlPr>
                            </m:accPr>
                            <m:e>
                              <m:r>
                                <a:rPr lang="en-GB" sz="2400" i="1">
                                  <a:latin typeface="Cambria Math"/>
                                  <a:ea typeface="Cambria Math"/>
                                </a:rPr>
                                <m:t>𝑥</m:t>
                              </m:r>
                            </m:e>
                          </m:acc>
                        </m:sub>
                      </m:sSub>
                      <m:r>
                        <a:rPr lang="en-GB" b="0" i="1" smtClean="0">
                          <a:latin typeface="Cambria Math"/>
                          <a:ea typeface="Cambria Math"/>
                        </a:rPr>
                        <m:t>=</m:t>
                      </m:r>
                      <m:f>
                        <m:fPr>
                          <m:ctrlPr>
                            <a:rPr lang="en-GB" i="1">
                              <a:latin typeface="Cambria Math" panose="02040503050406030204" pitchFamily="18" charset="0"/>
                              <a:ea typeface="Cambria Math"/>
                            </a:rPr>
                          </m:ctrlPr>
                        </m:fPr>
                        <m:num>
                          <m:r>
                            <a:rPr lang="en-GB" b="0" i="1" smtClean="0">
                              <a:latin typeface="Cambria Math"/>
                              <a:ea typeface="Cambria Math"/>
                            </a:rPr>
                            <m:t>3.9612</m:t>
                          </m:r>
                        </m:num>
                        <m:den>
                          <m:rad>
                            <m:radPr>
                              <m:degHide m:val="on"/>
                              <m:ctrlPr>
                                <a:rPr lang="en-GB" i="1">
                                  <a:latin typeface="Cambria Math" panose="02040503050406030204" pitchFamily="18" charset="0"/>
                                  <a:ea typeface="Cambria Math"/>
                                </a:rPr>
                              </m:ctrlPr>
                            </m:radPr>
                            <m:deg/>
                            <m:e>
                              <m:r>
                                <a:rPr lang="en-GB" b="0" i="1" smtClean="0">
                                  <a:latin typeface="Cambria Math"/>
                                  <a:ea typeface="Cambria Math"/>
                                </a:rPr>
                                <m:t>65</m:t>
                              </m:r>
                            </m:e>
                          </m:rad>
                        </m:den>
                      </m:f>
                    </m:oMath>
                  </m:oMathPara>
                </a14:m>
                <a:endParaRPr lang="en-GB" sz="2400" dirty="0"/>
              </a:p>
              <a:p>
                <a14:m>
                  <m:oMath xmlns:m="http://schemas.openxmlformats.org/officeDocument/2006/math">
                    <m:r>
                      <a:rPr lang="en-GB" sz="1200" b="0" i="1" smtClean="0">
                        <a:latin typeface="Cambria Math"/>
                        <a:ea typeface="Cambria Math"/>
                      </a:rPr>
                      <m:t>𝑠</m:t>
                    </m:r>
                    <m:r>
                      <a:rPr lang="en-GB" sz="1200" i="1">
                        <a:latin typeface="Cambria Math"/>
                        <a:ea typeface="Cambria Math"/>
                      </a:rPr>
                      <m:t> </m:t>
                    </m:r>
                  </m:oMath>
                </a14:m>
                <a:r>
                  <a:rPr lang="en-US" altLang="en-US" sz="1200" dirty="0"/>
                  <a:t>= sample standard deviation</a:t>
                </a:r>
              </a:p>
              <a:p>
                <a14:m>
                  <m:oMath xmlns:m="http://schemas.openxmlformats.org/officeDocument/2006/math">
                    <m:r>
                      <a:rPr lang="en-US" altLang="en-US" sz="1200" i="1" dirty="0" smtClean="0">
                        <a:latin typeface="Cambria Math"/>
                      </a:rPr>
                      <m:t>𝑛</m:t>
                    </m:r>
                  </m:oMath>
                </a14:m>
                <a:r>
                  <a:rPr lang="en-US" altLang="en-US" sz="1200" dirty="0"/>
                  <a:t> = number in sample</a:t>
                </a:r>
                <a:endParaRPr lang="en-GB" sz="1200" dirty="0"/>
              </a:p>
            </p:txBody>
          </p:sp>
        </mc:Choice>
        <mc:Fallback xmlns="">
          <p:sp>
            <p:nvSpPr>
              <p:cNvPr id="29" name="Rectangle 28"/>
              <p:cNvSpPr>
                <a:spLocks noRot="1" noChangeAspect="1" noMove="1" noResize="1" noEditPoints="1" noAdjustHandles="1" noChangeArrowheads="1" noChangeShapeType="1" noTextEdit="1"/>
              </p:cNvSpPr>
              <p:nvPr/>
            </p:nvSpPr>
            <p:spPr>
              <a:xfrm>
                <a:off x="685800" y="2819400"/>
                <a:ext cx="2133600" cy="1551280"/>
              </a:xfrm>
              <a:prstGeom prst="rect">
                <a:avLst/>
              </a:prstGeom>
              <a:blipFill rotWithShape="1">
                <a:blip r:embed="rId5"/>
                <a:stretch>
                  <a:fillRect/>
                </a:stretch>
              </a:blipFill>
            </p:spPr>
            <p:txBody>
              <a:bodyPr/>
              <a:lstStyle/>
              <a:p>
                <a:r>
                  <a:rPr lang="en-GB">
                    <a:noFill/>
                  </a:rPr>
                  <a:t> </a:t>
                </a:r>
              </a:p>
            </p:txBody>
          </p:sp>
        </mc:Fallback>
      </mc:AlternateContent>
      <p:sp>
        <p:nvSpPr>
          <p:cNvPr id="3" name="Rectangle 2"/>
          <p:cNvSpPr/>
          <p:nvPr/>
        </p:nvSpPr>
        <p:spPr>
          <a:xfrm>
            <a:off x="4100556" y="3244334"/>
            <a:ext cx="300082" cy="369332"/>
          </a:xfrm>
          <a:prstGeom prst="rect">
            <a:avLst/>
          </a:prstGeom>
        </p:spPr>
        <p:txBody>
          <a:bodyPr wrap="none">
            <a:spAutoFit/>
          </a:bodyPr>
          <a:lstStyle/>
          <a:p>
            <a:r>
              <a:rPr lang="en-GB" dirty="0"/>
              <a:t>=</a:t>
            </a:r>
          </a:p>
        </p:txBody>
      </p:sp>
      <mc:AlternateContent xmlns:mc="http://schemas.openxmlformats.org/markup-compatibility/2006" xmlns:a14="http://schemas.microsoft.com/office/drawing/2010/main">
        <mc:Choice Requires="a14">
          <p:sp>
            <p:nvSpPr>
              <p:cNvPr id="30" name="Rectangle 29"/>
              <p:cNvSpPr/>
              <p:nvPr/>
            </p:nvSpPr>
            <p:spPr>
              <a:xfrm>
                <a:off x="2461181" y="3338661"/>
                <a:ext cx="1143000" cy="37440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14:m>
                  <m:oMathPara xmlns:m="http://schemas.openxmlformats.org/officeDocument/2006/math">
                    <m:oMathParaPr>
                      <m:jc m:val="center"/>
                    </m:oMathParaPr>
                    <m:oMath xmlns:m="http://schemas.openxmlformats.org/officeDocument/2006/math">
                      <m:r>
                        <m:rPr>
                          <m:nor/>
                        </m:rPr>
                        <a:rPr lang="en-GB" sz="2000" b="0" i="0" dirty="0" smtClean="0"/>
                        <m:t>= </m:t>
                      </m:r>
                      <m:r>
                        <m:rPr>
                          <m:nor/>
                        </m:rPr>
                        <a:rPr lang="en-GB" sz="2000" dirty="0"/>
                        <m:t>0.4913</m:t>
                      </m:r>
                    </m:oMath>
                  </m:oMathPara>
                </a14:m>
                <a:endParaRPr lang="en-GB" sz="2800" dirty="0"/>
              </a:p>
            </p:txBody>
          </p:sp>
        </mc:Choice>
        <mc:Fallback xmlns="">
          <p:sp>
            <p:nvSpPr>
              <p:cNvPr id="30" name="Rectangle 29"/>
              <p:cNvSpPr>
                <a:spLocks noRot="1" noChangeAspect="1" noMove="1" noResize="1" noEditPoints="1" noAdjustHandles="1" noChangeArrowheads="1" noChangeShapeType="1" noTextEdit="1"/>
              </p:cNvSpPr>
              <p:nvPr/>
            </p:nvSpPr>
            <p:spPr>
              <a:xfrm>
                <a:off x="2461181" y="3338661"/>
                <a:ext cx="1143000" cy="374408"/>
              </a:xfrm>
              <a:prstGeom prst="rect">
                <a:avLst/>
              </a:prstGeom>
              <a:blipFill rotWithShape="1">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1" name="Rectangular Callout 30"/>
              <p:cNvSpPr/>
              <p:nvPr/>
            </p:nvSpPr>
            <p:spPr>
              <a:xfrm>
                <a:off x="3581400" y="3975585"/>
                <a:ext cx="1726234" cy="444015"/>
              </a:xfrm>
              <a:prstGeom prst="wedgeRectCallout">
                <a:avLst>
                  <a:gd name="adj1" fmla="val 42404"/>
                  <a:gd name="adj2" fmla="val -106451"/>
                </a:avLst>
              </a:prstGeom>
              <a:ln>
                <a:solidFill>
                  <a:schemeClr val="bg1">
                    <a:lumMod val="6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acc>
                        <m:accPr>
                          <m:chr m:val="̅"/>
                          <m:ctrlPr>
                            <a:rPr lang="en-GB" sz="1400" i="1">
                              <a:latin typeface="Cambria Math" panose="02040503050406030204" pitchFamily="18" charset="0"/>
                              <a:ea typeface="Cambria Math"/>
                            </a:rPr>
                          </m:ctrlPr>
                        </m:accPr>
                        <m:e>
                          <m:r>
                            <a:rPr lang="en-GB" sz="1400" i="1">
                              <a:latin typeface="Cambria Math"/>
                              <a:ea typeface="Cambria Math"/>
                            </a:rPr>
                            <m:t>𝑥</m:t>
                          </m:r>
                        </m:e>
                      </m:acc>
                      <m:r>
                        <a:rPr lang="en-GB" sz="1400" i="1">
                          <a:latin typeface="Cambria Math"/>
                          <a:ea typeface="Cambria Math"/>
                        </a:rPr>
                        <m:t> </m:t>
                      </m:r>
                      <m:r>
                        <a:rPr lang="en-GB" sz="1400" b="0" i="1" smtClean="0">
                          <a:latin typeface="Cambria Math"/>
                        </a:rPr>
                        <m:t>−</m:t>
                      </m:r>
                      <m:sSub>
                        <m:sSubPr>
                          <m:ctrlPr>
                            <a:rPr lang="en-GB" sz="1400" i="1">
                              <a:latin typeface="Cambria Math" panose="02040503050406030204" pitchFamily="18" charset="0"/>
                              <a:ea typeface="Cambria Math"/>
                            </a:rPr>
                          </m:ctrlPr>
                        </m:sSubPr>
                        <m:e>
                          <m:r>
                            <a:rPr lang="en-GB" sz="1400" i="1">
                              <a:latin typeface="Cambria Math"/>
                              <a:ea typeface="Cambria Math"/>
                            </a:rPr>
                            <m:t>𝜎</m:t>
                          </m:r>
                        </m:e>
                        <m:sub>
                          <m:acc>
                            <m:accPr>
                              <m:chr m:val="̅"/>
                              <m:ctrlPr>
                                <a:rPr lang="en-GB" sz="1400" i="1">
                                  <a:latin typeface="Cambria Math" panose="02040503050406030204" pitchFamily="18" charset="0"/>
                                  <a:ea typeface="Cambria Math"/>
                                </a:rPr>
                              </m:ctrlPr>
                            </m:accPr>
                            <m:e>
                              <m:r>
                                <a:rPr lang="en-GB" sz="1400" i="1">
                                  <a:latin typeface="Cambria Math"/>
                                  <a:ea typeface="Cambria Math"/>
                                </a:rPr>
                                <m:t>𝑥</m:t>
                              </m:r>
                            </m:e>
                          </m:acc>
                        </m:sub>
                      </m:sSub>
                      <m:sSub>
                        <m:sSubPr>
                          <m:ctrlPr>
                            <a:rPr lang="en-GB" sz="1400" i="1">
                              <a:latin typeface="Cambria Math" panose="02040503050406030204" pitchFamily="18" charset="0"/>
                            </a:rPr>
                          </m:ctrlPr>
                        </m:sSubPr>
                        <m:e>
                          <m:r>
                            <a:rPr lang="en-GB" sz="1400" i="1">
                              <a:latin typeface="Cambria Math"/>
                            </a:rPr>
                            <m:t>𝑍</m:t>
                          </m:r>
                        </m:e>
                        <m:sub>
                          <m:r>
                            <a:rPr lang="en-GB" sz="1400" i="1">
                              <a:latin typeface="Cambria Math"/>
                            </a:rPr>
                            <m:t>𝑐𝑟𝑖𝑡</m:t>
                          </m:r>
                        </m:sub>
                      </m:sSub>
                    </m:oMath>
                  </m:oMathPara>
                </a14:m>
                <a:endParaRPr lang="en-GB" sz="1400" b="1" dirty="0"/>
              </a:p>
            </p:txBody>
          </p:sp>
        </mc:Choice>
        <mc:Fallback xmlns="">
          <p:sp>
            <p:nvSpPr>
              <p:cNvPr id="31" name="Rectangular Callout 30"/>
              <p:cNvSpPr>
                <a:spLocks noRot="1" noChangeAspect="1" noMove="1" noResize="1" noEditPoints="1" noAdjustHandles="1" noChangeArrowheads="1" noChangeShapeType="1" noTextEdit="1"/>
              </p:cNvSpPr>
              <p:nvPr/>
            </p:nvSpPr>
            <p:spPr>
              <a:xfrm>
                <a:off x="3581400" y="3975585"/>
                <a:ext cx="1726234" cy="444015"/>
              </a:xfrm>
              <a:prstGeom prst="wedgeRectCallout">
                <a:avLst>
                  <a:gd name="adj1" fmla="val 42404"/>
                  <a:gd name="adj2" fmla="val -106451"/>
                </a:avLst>
              </a:prstGeom>
              <a:blipFill rotWithShape="1">
                <a:blip r:embed="rId7"/>
                <a:stretch>
                  <a:fillRect/>
                </a:stretch>
              </a:blipFill>
              <a:ln>
                <a:solidFill>
                  <a:schemeClr val="bg1">
                    <a:lumMod val="65000"/>
                  </a:schemeClr>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2" name="Rectangular Callout 31"/>
              <p:cNvSpPr/>
              <p:nvPr/>
            </p:nvSpPr>
            <p:spPr>
              <a:xfrm>
                <a:off x="6400800" y="3975585"/>
                <a:ext cx="1726234" cy="444015"/>
              </a:xfrm>
              <a:prstGeom prst="wedgeRectCallout">
                <a:avLst>
                  <a:gd name="adj1" fmla="val -37052"/>
                  <a:gd name="adj2" fmla="val -100510"/>
                </a:avLst>
              </a:prstGeom>
              <a:ln>
                <a:solidFill>
                  <a:schemeClr val="bg1">
                    <a:lumMod val="6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acc>
                        <m:accPr>
                          <m:chr m:val="̅"/>
                          <m:ctrlPr>
                            <a:rPr lang="en-GB" sz="1400" i="1">
                              <a:latin typeface="Cambria Math" panose="02040503050406030204" pitchFamily="18" charset="0"/>
                              <a:ea typeface="Cambria Math"/>
                            </a:rPr>
                          </m:ctrlPr>
                        </m:accPr>
                        <m:e>
                          <m:r>
                            <a:rPr lang="en-GB" sz="1400" i="1">
                              <a:latin typeface="Cambria Math"/>
                              <a:ea typeface="Cambria Math"/>
                            </a:rPr>
                            <m:t>𝑥</m:t>
                          </m:r>
                        </m:e>
                      </m:acc>
                      <m:r>
                        <a:rPr lang="en-GB" sz="1400" b="0" i="1" smtClean="0">
                          <a:latin typeface="Cambria Math"/>
                        </a:rPr>
                        <m:t>+</m:t>
                      </m:r>
                      <m:sSub>
                        <m:sSubPr>
                          <m:ctrlPr>
                            <a:rPr lang="en-GB" sz="1400" i="1">
                              <a:latin typeface="Cambria Math" panose="02040503050406030204" pitchFamily="18" charset="0"/>
                              <a:ea typeface="Cambria Math"/>
                            </a:rPr>
                          </m:ctrlPr>
                        </m:sSubPr>
                        <m:e>
                          <m:r>
                            <a:rPr lang="en-GB" sz="1400" i="1">
                              <a:latin typeface="Cambria Math"/>
                              <a:ea typeface="Cambria Math"/>
                            </a:rPr>
                            <m:t>𝜎</m:t>
                          </m:r>
                        </m:e>
                        <m:sub>
                          <m:acc>
                            <m:accPr>
                              <m:chr m:val="̅"/>
                              <m:ctrlPr>
                                <a:rPr lang="en-GB" sz="1400" i="1">
                                  <a:latin typeface="Cambria Math" panose="02040503050406030204" pitchFamily="18" charset="0"/>
                                  <a:ea typeface="Cambria Math"/>
                                </a:rPr>
                              </m:ctrlPr>
                            </m:accPr>
                            <m:e>
                              <m:r>
                                <a:rPr lang="en-GB" sz="1400" i="1">
                                  <a:latin typeface="Cambria Math"/>
                                  <a:ea typeface="Cambria Math"/>
                                </a:rPr>
                                <m:t>𝑥</m:t>
                              </m:r>
                            </m:e>
                          </m:acc>
                        </m:sub>
                      </m:sSub>
                      <m:sSub>
                        <m:sSubPr>
                          <m:ctrlPr>
                            <a:rPr lang="en-GB" sz="1400" i="1">
                              <a:latin typeface="Cambria Math" panose="02040503050406030204" pitchFamily="18" charset="0"/>
                            </a:rPr>
                          </m:ctrlPr>
                        </m:sSubPr>
                        <m:e>
                          <m:r>
                            <a:rPr lang="en-GB" sz="1400" i="1">
                              <a:latin typeface="Cambria Math"/>
                            </a:rPr>
                            <m:t>𝑍</m:t>
                          </m:r>
                        </m:e>
                        <m:sub>
                          <m:r>
                            <a:rPr lang="en-GB" sz="1400" i="1">
                              <a:latin typeface="Cambria Math"/>
                            </a:rPr>
                            <m:t>𝑐𝑟𝑖𝑡</m:t>
                          </m:r>
                        </m:sub>
                      </m:sSub>
                    </m:oMath>
                  </m:oMathPara>
                </a14:m>
                <a:endParaRPr lang="en-GB" sz="1400" b="1" dirty="0"/>
              </a:p>
            </p:txBody>
          </p:sp>
        </mc:Choice>
        <mc:Fallback xmlns="">
          <p:sp>
            <p:nvSpPr>
              <p:cNvPr id="32" name="Rectangular Callout 31"/>
              <p:cNvSpPr>
                <a:spLocks noRot="1" noChangeAspect="1" noMove="1" noResize="1" noEditPoints="1" noAdjustHandles="1" noChangeArrowheads="1" noChangeShapeType="1" noTextEdit="1"/>
              </p:cNvSpPr>
              <p:nvPr/>
            </p:nvSpPr>
            <p:spPr>
              <a:xfrm>
                <a:off x="6400800" y="3975585"/>
                <a:ext cx="1726234" cy="444015"/>
              </a:xfrm>
              <a:prstGeom prst="wedgeRectCallout">
                <a:avLst>
                  <a:gd name="adj1" fmla="val -37052"/>
                  <a:gd name="adj2" fmla="val -100510"/>
                </a:avLst>
              </a:prstGeom>
              <a:blipFill rotWithShape="1">
                <a:blip r:embed="rId8"/>
                <a:stretch>
                  <a:fillRect/>
                </a:stretch>
              </a:blipFill>
              <a:ln>
                <a:solidFill>
                  <a:schemeClr val="bg1">
                    <a:lumMod val="65000"/>
                  </a:schemeClr>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3" name="Rectangle 32"/>
              <p:cNvSpPr/>
              <p:nvPr/>
            </p:nvSpPr>
            <p:spPr>
              <a:xfrm>
                <a:off x="3531566" y="4343400"/>
                <a:ext cx="1726234" cy="444015"/>
              </a:xfrm>
              <a:prstGeom prst="rect">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GB" sz="1200" b="0" i="1" smtClean="0">
                          <a:latin typeface="Cambria Math"/>
                        </a:rPr>
                        <m:t>18.107−</m:t>
                      </m:r>
                      <m:r>
                        <a:rPr lang="en-GB" sz="1200" i="1">
                          <a:latin typeface="Cambria Math"/>
                          <a:ea typeface="Cambria Math"/>
                        </a:rPr>
                        <m:t>(.</m:t>
                      </m:r>
                      <m:r>
                        <a:rPr lang="en-GB" sz="1200" b="0" i="1" smtClean="0">
                          <a:latin typeface="Cambria Math"/>
                          <a:ea typeface="Cambria Math"/>
                        </a:rPr>
                        <m:t>4913</m:t>
                      </m:r>
                      <m:r>
                        <a:rPr lang="en-GB" sz="1200" i="1">
                          <a:latin typeface="Cambria Math"/>
                        </a:rPr>
                        <m:t>)</m:t>
                      </m:r>
                      <m:r>
                        <a:rPr lang="en-GB" sz="1200" b="0" i="1" smtClean="0">
                          <a:latin typeface="Cambria Math"/>
                        </a:rPr>
                        <m:t>(</m:t>
                      </m:r>
                      <m:r>
                        <a:rPr lang="en-GB" sz="1200" i="1">
                          <a:latin typeface="Cambria Math"/>
                        </a:rPr>
                        <m:t>1.96</m:t>
                      </m:r>
                      <m:r>
                        <a:rPr lang="en-GB" sz="1200" b="0" i="1" smtClean="0">
                          <a:latin typeface="Cambria Math"/>
                        </a:rPr>
                        <m:t>)</m:t>
                      </m:r>
                    </m:oMath>
                  </m:oMathPara>
                </a14:m>
                <a:endParaRPr lang="en-GB" sz="1200" b="1" dirty="0"/>
              </a:p>
            </p:txBody>
          </p:sp>
        </mc:Choice>
        <mc:Fallback xmlns="">
          <p:sp>
            <p:nvSpPr>
              <p:cNvPr id="33" name="Rectangle 32"/>
              <p:cNvSpPr>
                <a:spLocks noRot="1" noChangeAspect="1" noMove="1" noResize="1" noEditPoints="1" noAdjustHandles="1" noChangeArrowheads="1" noChangeShapeType="1" noTextEdit="1"/>
              </p:cNvSpPr>
              <p:nvPr/>
            </p:nvSpPr>
            <p:spPr>
              <a:xfrm>
                <a:off x="3531566" y="4343400"/>
                <a:ext cx="1726234" cy="444015"/>
              </a:xfrm>
              <a:prstGeom prst="rect">
                <a:avLst/>
              </a:prstGeom>
              <a:blipFill rotWithShape="1">
                <a:blip r:embed="rId9"/>
                <a:stretch>
                  <a:fillRect/>
                </a:stretch>
              </a:blip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4" name="Rectangle 33"/>
              <p:cNvSpPr/>
              <p:nvPr/>
            </p:nvSpPr>
            <p:spPr>
              <a:xfrm>
                <a:off x="6477000" y="4343400"/>
                <a:ext cx="1726234" cy="444015"/>
              </a:xfrm>
              <a:prstGeom prst="rect">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GB" sz="1200" i="1" smtClean="0">
                          <a:latin typeface="Cambria Math"/>
                        </a:rPr>
                        <m:t>18.107</m:t>
                      </m:r>
                      <m:r>
                        <a:rPr lang="en-GB" sz="1200" b="0" i="1" smtClean="0">
                          <a:latin typeface="Cambria Math"/>
                        </a:rPr>
                        <m:t>+</m:t>
                      </m:r>
                      <m:r>
                        <a:rPr lang="en-GB" sz="1200" i="1">
                          <a:latin typeface="Cambria Math"/>
                          <a:ea typeface="Cambria Math"/>
                        </a:rPr>
                        <m:t>(.4913</m:t>
                      </m:r>
                      <m:r>
                        <a:rPr lang="en-GB" sz="1200" i="1">
                          <a:latin typeface="Cambria Math"/>
                        </a:rPr>
                        <m:t>)(1.96)</m:t>
                      </m:r>
                    </m:oMath>
                  </m:oMathPara>
                </a14:m>
                <a:endParaRPr lang="en-GB" sz="1400" b="1" dirty="0"/>
              </a:p>
            </p:txBody>
          </p:sp>
        </mc:Choice>
        <mc:Fallback xmlns="">
          <p:sp>
            <p:nvSpPr>
              <p:cNvPr id="34" name="Rectangle 33"/>
              <p:cNvSpPr>
                <a:spLocks noRot="1" noChangeAspect="1" noMove="1" noResize="1" noEditPoints="1" noAdjustHandles="1" noChangeArrowheads="1" noChangeShapeType="1" noTextEdit="1"/>
              </p:cNvSpPr>
              <p:nvPr/>
            </p:nvSpPr>
            <p:spPr>
              <a:xfrm>
                <a:off x="6477000" y="4343400"/>
                <a:ext cx="1726234" cy="444015"/>
              </a:xfrm>
              <a:prstGeom prst="rect">
                <a:avLst/>
              </a:prstGeom>
              <a:blipFill rotWithShape="1">
                <a:blip r:embed="rId10"/>
                <a:stretch>
                  <a:fillRect/>
                </a:stretch>
              </a:blipFill>
              <a:ln/>
            </p:spPr>
            <p:txBody>
              <a:bodyPr/>
              <a:lstStyle/>
              <a:p>
                <a:r>
                  <a:rPr lang="en-GB">
                    <a:noFill/>
                  </a:rPr>
                  <a:t> </a:t>
                </a:r>
              </a:p>
            </p:txBody>
          </p:sp>
        </mc:Fallback>
      </mc:AlternateContent>
      <p:sp>
        <p:nvSpPr>
          <p:cNvPr id="35" name="Rectangle 34"/>
          <p:cNvSpPr/>
          <p:nvPr/>
        </p:nvSpPr>
        <p:spPr>
          <a:xfrm>
            <a:off x="3455366" y="4419600"/>
            <a:ext cx="1726234" cy="444015"/>
          </a:xfrm>
          <a:prstGeom prst="rect">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r>
              <a:rPr lang="en-GB" dirty="0"/>
              <a:t>17.1447</a:t>
            </a:r>
          </a:p>
        </p:txBody>
      </p:sp>
      <p:sp>
        <p:nvSpPr>
          <p:cNvPr id="36" name="Rectangle 35"/>
          <p:cNvSpPr/>
          <p:nvPr/>
        </p:nvSpPr>
        <p:spPr>
          <a:xfrm>
            <a:off x="6553200" y="4419600"/>
            <a:ext cx="1726234" cy="444015"/>
          </a:xfrm>
          <a:prstGeom prst="rect">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r>
              <a:rPr lang="en-GB" dirty="0"/>
              <a:t>19.0707</a:t>
            </a:r>
          </a:p>
        </p:txBody>
      </p:sp>
      <p:grpSp>
        <p:nvGrpSpPr>
          <p:cNvPr id="39" name="Group 38"/>
          <p:cNvGrpSpPr/>
          <p:nvPr/>
        </p:nvGrpSpPr>
        <p:grpSpPr>
          <a:xfrm>
            <a:off x="5272365" y="3343373"/>
            <a:ext cx="1285124" cy="314227"/>
            <a:chOff x="5272365" y="3343373"/>
            <a:chExt cx="1285124" cy="314227"/>
          </a:xfrm>
        </p:grpSpPr>
        <p:sp>
          <p:nvSpPr>
            <p:cNvPr id="37" name="Rectangle 36"/>
            <p:cNvSpPr/>
            <p:nvPr/>
          </p:nvSpPr>
          <p:spPr>
            <a:xfrm>
              <a:off x="5962454" y="3349823"/>
              <a:ext cx="595035" cy="307777"/>
            </a:xfrm>
            <a:prstGeom prst="rect">
              <a:avLst/>
            </a:prstGeom>
          </p:spPr>
          <p:txBody>
            <a:bodyPr wrap="none">
              <a:spAutoFit/>
            </a:bodyPr>
            <a:lstStyle/>
            <a:p>
              <a:pPr algn="r" fontAlgn="b"/>
              <a:r>
                <a:rPr lang="en-GB" sz="1400" dirty="0"/>
                <a:t>0.963</a:t>
              </a:r>
              <a:endParaRPr lang="en-GB" sz="1400" dirty="0">
                <a:solidFill>
                  <a:srgbClr val="000000"/>
                </a:solidFill>
                <a:latin typeface="Arial"/>
              </a:endParaRPr>
            </a:p>
          </p:txBody>
        </p:sp>
        <p:sp>
          <p:nvSpPr>
            <p:cNvPr id="38" name="Rectangle 37"/>
            <p:cNvSpPr/>
            <p:nvPr/>
          </p:nvSpPr>
          <p:spPr>
            <a:xfrm>
              <a:off x="5272365" y="3343373"/>
              <a:ext cx="595035" cy="307777"/>
            </a:xfrm>
            <a:prstGeom prst="rect">
              <a:avLst/>
            </a:prstGeom>
          </p:spPr>
          <p:txBody>
            <a:bodyPr wrap="none">
              <a:spAutoFit/>
            </a:bodyPr>
            <a:lstStyle/>
            <a:p>
              <a:pPr algn="r" fontAlgn="b"/>
              <a:r>
                <a:rPr lang="en-GB" sz="1400" dirty="0"/>
                <a:t>0.963</a:t>
              </a:r>
              <a:endParaRPr lang="en-GB" sz="1400" dirty="0">
                <a:solidFill>
                  <a:srgbClr val="000000"/>
                </a:solidFill>
                <a:latin typeface="Arial"/>
              </a:endParaRPr>
            </a:p>
          </p:txBody>
        </p:sp>
      </p:grpSp>
      <p:grpSp>
        <p:nvGrpSpPr>
          <p:cNvPr id="11" name="Group 10"/>
          <p:cNvGrpSpPr/>
          <p:nvPr/>
        </p:nvGrpSpPr>
        <p:grpSpPr>
          <a:xfrm>
            <a:off x="4097347" y="2858926"/>
            <a:ext cx="4217376" cy="1084384"/>
            <a:chOff x="3402624" y="3429000"/>
            <a:chExt cx="4217376" cy="1084384"/>
          </a:xfrm>
        </p:grpSpPr>
        <p:grpSp>
          <p:nvGrpSpPr>
            <p:cNvPr id="12" name="Group 11"/>
            <p:cNvGrpSpPr/>
            <p:nvPr/>
          </p:nvGrpSpPr>
          <p:grpSpPr>
            <a:xfrm>
              <a:off x="3402624" y="4059116"/>
              <a:ext cx="4217376" cy="190500"/>
              <a:chOff x="3402624" y="4059116"/>
              <a:chExt cx="4217376" cy="190500"/>
            </a:xfrm>
          </p:grpSpPr>
          <p:sp>
            <p:nvSpPr>
              <p:cNvPr id="16" name="Rectangle 15"/>
              <p:cNvSpPr/>
              <p:nvPr/>
            </p:nvSpPr>
            <p:spPr>
              <a:xfrm>
                <a:off x="3405162" y="4167554"/>
                <a:ext cx="4214838" cy="762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GB">
                  <a:solidFill>
                    <a:schemeClr val="accent3">
                      <a:lumMod val="75000"/>
                    </a:schemeClr>
                  </a:solidFill>
                </a:endParaRPr>
              </a:p>
            </p:txBody>
          </p:sp>
          <p:cxnSp>
            <p:nvCxnSpPr>
              <p:cNvPr id="17" name="Straight Connector 16"/>
              <p:cNvCxnSpPr/>
              <p:nvPr/>
            </p:nvCxnSpPr>
            <p:spPr>
              <a:xfrm>
                <a:off x="3402624" y="4059116"/>
                <a:ext cx="0" cy="190500"/>
              </a:xfrm>
              <a:prstGeom prst="line">
                <a:avLst/>
              </a:prstGeom>
              <a:ln>
                <a:solidFill>
                  <a:schemeClr val="accent3"/>
                </a:solidFill>
              </a:ln>
            </p:spPr>
            <p:style>
              <a:lnRef idx="1">
                <a:schemeClr val="dk1"/>
              </a:lnRef>
              <a:fillRef idx="0">
                <a:schemeClr val="dk1"/>
              </a:fillRef>
              <a:effectRef idx="0">
                <a:schemeClr val="dk1"/>
              </a:effectRef>
              <a:fontRef idx="minor">
                <a:schemeClr val="tx1"/>
              </a:fontRef>
            </p:style>
          </p:cxnSp>
          <p:cxnSp>
            <p:nvCxnSpPr>
              <p:cNvPr id="18" name="Straight Connector 17"/>
              <p:cNvCxnSpPr/>
              <p:nvPr/>
            </p:nvCxnSpPr>
            <p:spPr>
              <a:xfrm>
                <a:off x="7620000" y="4059116"/>
                <a:ext cx="0" cy="190500"/>
              </a:xfrm>
              <a:prstGeom prst="line">
                <a:avLst/>
              </a:prstGeom>
              <a:ln>
                <a:solidFill>
                  <a:schemeClr val="accent3"/>
                </a:solidFill>
              </a:ln>
            </p:spPr>
            <p:style>
              <a:lnRef idx="1">
                <a:schemeClr val="dk1"/>
              </a:lnRef>
              <a:fillRef idx="0">
                <a:schemeClr val="dk1"/>
              </a:fillRef>
              <a:effectRef idx="0">
                <a:schemeClr val="dk1"/>
              </a:effectRef>
              <a:fontRef idx="minor">
                <a:schemeClr val="tx1"/>
              </a:fontRef>
            </p:style>
          </p:cxnSp>
        </p:grpSp>
        <p:grpSp>
          <p:nvGrpSpPr>
            <p:cNvPr id="13" name="Group 12"/>
            <p:cNvGrpSpPr/>
            <p:nvPr/>
          </p:nvGrpSpPr>
          <p:grpSpPr>
            <a:xfrm>
              <a:off x="5082578" y="3429000"/>
              <a:ext cx="326371" cy="1084384"/>
              <a:chOff x="5082578" y="3429000"/>
              <a:chExt cx="326371" cy="1084384"/>
            </a:xfrm>
          </p:grpSpPr>
          <mc:AlternateContent xmlns:mc="http://schemas.openxmlformats.org/markup-compatibility/2006" xmlns:a14="http://schemas.microsoft.com/office/drawing/2010/main">
            <mc:Choice Requires="a14">
              <p:sp>
                <p:nvSpPr>
                  <p:cNvPr id="14" name="TextBox 13"/>
                  <p:cNvSpPr txBox="1"/>
                  <p:nvPr/>
                </p:nvSpPr>
                <p:spPr>
                  <a:xfrm>
                    <a:off x="5082578" y="4205607"/>
                    <a:ext cx="326371" cy="307777"/>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acc>
                            <m:accPr>
                              <m:chr m:val="̅"/>
                              <m:ctrlPr>
                                <a:rPr lang="en-GB" sz="1400" i="1">
                                  <a:latin typeface="Cambria Math" panose="02040503050406030204" pitchFamily="18" charset="0"/>
                                  <a:ea typeface="Cambria Math"/>
                                </a:rPr>
                              </m:ctrlPr>
                            </m:accPr>
                            <m:e>
                              <m:r>
                                <a:rPr lang="en-GB" sz="1400" i="1">
                                  <a:latin typeface="Cambria Math"/>
                                  <a:ea typeface="Cambria Math"/>
                                </a:rPr>
                                <m:t>𝑥</m:t>
                              </m:r>
                            </m:e>
                          </m:acc>
                        </m:oMath>
                      </m:oMathPara>
                    </a14:m>
                    <a:endParaRPr lang="en-GB" sz="1400" b="1" dirty="0"/>
                  </a:p>
                </p:txBody>
              </p:sp>
            </mc:Choice>
            <mc:Fallback xmlns="">
              <p:sp>
                <p:nvSpPr>
                  <p:cNvPr id="11" name="TextBox 10"/>
                  <p:cNvSpPr txBox="1">
                    <a:spLocks noRot="1" noChangeAspect="1" noMove="1" noResize="1" noEditPoints="1" noAdjustHandles="1" noChangeArrowheads="1" noChangeShapeType="1" noTextEdit="1"/>
                  </p:cNvSpPr>
                  <p:nvPr/>
                </p:nvSpPr>
                <p:spPr>
                  <a:xfrm>
                    <a:off x="5082578" y="4205607"/>
                    <a:ext cx="326371" cy="307777"/>
                  </a:xfrm>
                  <a:prstGeom prst="rect">
                    <a:avLst/>
                  </a:prstGeom>
                  <a:blipFill rotWithShape="1">
                    <a:blip r:embed="rId11"/>
                    <a:stretch>
                      <a:fillRect r="-1887"/>
                    </a:stretch>
                  </a:blipFill>
                </p:spPr>
                <p:txBody>
                  <a:bodyPr/>
                  <a:lstStyle/>
                  <a:p>
                    <a:r>
                      <a:rPr lang="en-GB">
                        <a:noFill/>
                      </a:rPr>
                      <a:t> </a:t>
                    </a:r>
                  </a:p>
                </p:txBody>
              </p:sp>
            </mc:Fallback>
          </mc:AlternateContent>
          <p:cxnSp>
            <p:nvCxnSpPr>
              <p:cNvPr id="15" name="Straight Connector 14"/>
              <p:cNvCxnSpPr/>
              <p:nvPr/>
            </p:nvCxnSpPr>
            <p:spPr>
              <a:xfrm flipV="1">
                <a:off x="5202427" y="3429000"/>
                <a:ext cx="0" cy="820616"/>
              </a:xfrm>
              <a:prstGeom prst="line">
                <a:avLst/>
              </a:prstGeom>
            </p:spPr>
            <p:style>
              <a:lnRef idx="2">
                <a:schemeClr val="dk1"/>
              </a:lnRef>
              <a:fillRef idx="0">
                <a:schemeClr val="dk1"/>
              </a:fillRef>
              <a:effectRef idx="1">
                <a:schemeClr val="dk1"/>
              </a:effectRef>
              <a:fontRef idx="minor">
                <a:schemeClr val="tx1"/>
              </a:fontRef>
            </p:style>
          </p:cxnSp>
        </p:grpSp>
      </p:grpSp>
      <p:grpSp>
        <p:nvGrpSpPr>
          <p:cNvPr id="20" name="Group 19"/>
          <p:cNvGrpSpPr/>
          <p:nvPr/>
        </p:nvGrpSpPr>
        <p:grpSpPr>
          <a:xfrm>
            <a:off x="5184830" y="3200401"/>
            <a:ext cx="1439008" cy="461557"/>
            <a:chOff x="5181600" y="3962400"/>
            <a:chExt cx="1439008" cy="461557"/>
          </a:xfrm>
        </p:grpSpPr>
        <p:grpSp>
          <p:nvGrpSpPr>
            <p:cNvPr id="21" name="Group 20"/>
            <p:cNvGrpSpPr/>
            <p:nvPr/>
          </p:nvGrpSpPr>
          <p:grpSpPr>
            <a:xfrm>
              <a:off x="5181600" y="3962400"/>
              <a:ext cx="1439008" cy="461557"/>
              <a:chOff x="5181600" y="3751384"/>
              <a:chExt cx="1439008" cy="824973"/>
            </a:xfrm>
          </p:grpSpPr>
          <p:cxnSp>
            <p:nvCxnSpPr>
              <p:cNvPr id="23" name="Straight Connector 22"/>
              <p:cNvCxnSpPr/>
              <p:nvPr/>
            </p:nvCxnSpPr>
            <p:spPr>
              <a:xfrm flipV="1">
                <a:off x="5181600" y="3755741"/>
                <a:ext cx="0" cy="820616"/>
              </a:xfrm>
              <a:prstGeom prst="line">
                <a:avLst/>
              </a:prstGeom>
              <a:ln>
                <a:solidFill>
                  <a:schemeClr val="bg1">
                    <a:lumMod val="65000"/>
                  </a:schemeClr>
                </a:solidFill>
              </a:ln>
            </p:spPr>
            <p:style>
              <a:lnRef idx="2">
                <a:schemeClr val="accent4"/>
              </a:lnRef>
              <a:fillRef idx="0">
                <a:schemeClr val="accent4"/>
              </a:fillRef>
              <a:effectRef idx="1">
                <a:schemeClr val="accent4"/>
              </a:effectRef>
              <a:fontRef idx="minor">
                <a:schemeClr val="tx1"/>
              </a:fontRef>
            </p:style>
          </p:cxnSp>
          <p:cxnSp>
            <p:nvCxnSpPr>
              <p:cNvPr id="24" name="Straight Connector 23"/>
              <p:cNvCxnSpPr/>
              <p:nvPr/>
            </p:nvCxnSpPr>
            <p:spPr>
              <a:xfrm flipV="1">
                <a:off x="6620608" y="3751384"/>
                <a:ext cx="0" cy="820616"/>
              </a:xfrm>
              <a:prstGeom prst="line">
                <a:avLst/>
              </a:prstGeom>
              <a:ln>
                <a:solidFill>
                  <a:schemeClr val="bg1">
                    <a:lumMod val="65000"/>
                  </a:schemeClr>
                </a:solidFill>
              </a:ln>
            </p:spPr>
            <p:style>
              <a:lnRef idx="2">
                <a:schemeClr val="accent4"/>
              </a:lnRef>
              <a:fillRef idx="0">
                <a:schemeClr val="accent4"/>
              </a:fillRef>
              <a:effectRef idx="1">
                <a:schemeClr val="accent4"/>
              </a:effectRef>
              <a:fontRef idx="minor">
                <a:schemeClr val="tx1"/>
              </a:fontRef>
            </p:style>
          </p:cxnSp>
        </p:grpSp>
        <p:cxnSp>
          <p:nvCxnSpPr>
            <p:cNvPr id="22" name="Straight Arrow Connector 21"/>
            <p:cNvCxnSpPr/>
            <p:nvPr/>
          </p:nvCxnSpPr>
          <p:spPr>
            <a:xfrm>
              <a:off x="5181600" y="4112362"/>
              <a:ext cx="1438504" cy="2438"/>
            </a:xfrm>
            <a:prstGeom prst="straightConnector1">
              <a:avLst/>
            </a:prstGeom>
            <a:ln w="12700">
              <a:solidFill>
                <a:schemeClr val="bg1">
                  <a:lumMod val="65000"/>
                </a:schemeClr>
              </a:solidFill>
              <a:headEnd type="arrow"/>
              <a:tailEnd type="arrow"/>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976598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fade">
                                      <p:cBhvr>
                                        <p:cTn id="12" dur="500"/>
                                        <p:tgtEl>
                                          <p:spTgt spid="3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fade">
                                      <p:cBhvr>
                                        <p:cTn id="17" dur="500"/>
                                        <p:tgtEl>
                                          <p:spTgt spid="31"/>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2"/>
                                        </p:tgtEl>
                                        <p:attrNameLst>
                                          <p:attrName>style.visibility</p:attrName>
                                        </p:attrNameLst>
                                      </p:cBhvr>
                                      <p:to>
                                        <p:strVal val="visible"/>
                                      </p:to>
                                    </p:set>
                                    <p:animEffect transition="in" filter="fade">
                                      <p:cBhvr>
                                        <p:cTn id="20" dur="500"/>
                                        <p:tgtEl>
                                          <p:spTgt spid="32"/>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3"/>
                                        </p:tgtEl>
                                        <p:attrNameLst>
                                          <p:attrName>style.visibility</p:attrName>
                                        </p:attrNameLst>
                                      </p:cBhvr>
                                      <p:to>
                                        <p:strVal val="visible"/>
                                      </p:to>
                                    </p:set>
                                    <p:animEffect transition="in" filter="fade">
                                      <p:cBhvr>
                                        <p:cTn id="25" dur="500"/>
                                        <p:tgtEl>
                                          <p:spTgt spid="3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4"/>
                                        </p:tgtEl>
                                        <p:attrNameLst>
                                          <p:attrName>style.visibility</p:attrName>
                                        </p:attrNameLst>
                                      </p:cBhvr>
                                      <p:to>
                                        <p:strVal val="visible"/>
                                      </p:to>
                                    </p:set>
                                    <p:animEffect transition="in" filter="fade">
                                      <p:cBhvr>
                                        <p:cTn id="28" dur="500"/>
                                        <p:tgtEl>
                                          <p:spTgt spid="34"/>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5"/>
                                        </p:tgtEl>
                                        <p:attrNameLst>
                                          <p:attrName>style.visibility</p:attrName>
                                        </p:attrNameLst>
                                      </p:cBhvr>
                                      <p:to>
                                        <p:strVal val="visible"/>
                                      </p:to>
                                    </p:set>
                                    <p:animEffect transition="in" filter="fade">
                                      <p:cBhvr>
                                        <p:cTn id="33" dur="500"/>
                                        <p:tgtEl>
                                          <p:spTgt spid="3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6"/>
                                        </p:tgtEl>
                                        <p:attrNameLst>
                                          <p:attrName>style.visibility</p:attrName>
                                        </p:attrNameLst>
                                      </p:cBhvr>
                                      <p:to>
                                        <p:strVal val="visible"/>
                                      </p:to>
                                    </p:set>
                                    <p:animEffect transition="in" filter="fade">
                                      <p:cBhvr>
                                        <p:cTn id="36" dur="500"/>
                                        <p:tgtEl>
                                          <p:spTgt spid="36"/>
                                        </p:tgtEl>
                                      </p:cBhvr>
                                    </p:animEffect>
                                  </p:childTnLst>
                                </p:cTn>
                              </p:par>
                              <p:par>
                                <p:cTn id="37" presetID="10" presetClass="entr" presetSubtype="0" fill="hold" nodeType="withEffect">
                                  <p:stCondLst>
                                    <p:cond delay="0"/>
                                  </p:stCondLst>
                                  <p:childTnLst>
                                    <p:set>
                                      <p:cBhvr>
                                        <p:cTn id="38" dur="1" fill="hold">
                                          <p:stCondLst>
                                            <p:cond delay="0"/>
                                          </p:stCondLst>
                                        </p:cTn>
                                        <p:tgtEl>
                                          <p:spTgt spid="39"/>
                                        </p:tgtEl>
                                        <p:attrNameLst>
                                          <p:attrName>style.visibility</p:attrName>
                                        </p:attrNameLst>
                                      </p:cBhvr>
                                      <p:to>
                                        <p:strVal val="visible"/>
                                      </p:to>
                                    </p:set>
                                    <p:animEffect transition="in" filter="fade">
                                      <p:cBhvr>
                                        <p:cTn id="39"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P spid="31" grpId="0" animBg="1"/>
      <p:bldP spid="32" grpId="0" animBg="1"/>
      <p:bldP spid="33" grpId="0" animBg="1"/>
      <p:bldP spid="34" grpId="0" animBg="1"/>
      <p:bldP spid="35" grpId="0" animBg="1"/>
      <p:bldP spid="36"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Problem 4</a:t>
            </a:r>
          </a:p>
        </p:txBody>
      </p:sp>
      <p:sp>
        <p:nvSpPr>
          <p:cNvPr id="150533" name="Text Box 5"/>
          <p:cNvSpPr txBox="1">
            <a:spLocks noChangeArrowheads="1"/>
          </p:cNvSpPr>
          <p:nvPr/>
        </p:nvSpPr>
        <p:spPr bwMode="auto">
          <a:xfrm>
            <a:off x="419100" y="2258943"/>
            <a:ext cx="8000999"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GB" altLang="en-US" sz="2000" dirty="0"/>
              <a:t>The same company wants to </a:t>
            </a:r>
            <a:r>
              <a:rPr lang="en-GB" altLang="en-US" sz="2000" b="1" dirty="0"/>
              <a:t>estimate the mean processing time </a:t>
            </a:r>
            <a:r>
              <a:rPr lang="en-GB" altLang="en-US" sz="2000" dirty="0"/>
              <a:t>with a </a:t>
            </a:r>
            <a:r>
              <a:rPr lang="en-GB" altLang="en-US" sz="2000" b="1" dirty="0"/>
              <a:t>confidence interval of half a day either side.</a:t>
            </a:r>
          </a:p>
          <a:p>
            <a:endParaRPr lang="en-GB" altLang="en-US" sz="2000" dirty="0"/>
          </a:p>
          <a:p>
            <a:r>
              <a:rPr lang="en-GB" altLang="en-US" sz="2000" b="1" dirty="0"/>
              <a:t>What is</a:t>
            </a:r>
            <a:r>
              <a:rPr lang="en-GB" altLang="en-US" sz="2000" dirty="0"/>
              <a:t> the </a:t>
            </a:r>
            <a:r>
              <a:rPr lang="en-GB" altLang="en-US" sz="2000" b="1" dirty="0"/>
              <a:t>size</a:t>
            </a:r>
            <a:r>
              <a:rPr lang="en-GB" altLang="en-US" sz="2000" dirty="0"/>
              <a:t> </a:t>
            </a:r>
            <a:r>
              <a:rPr lang="en-GB" altLang="en-US" sz="2000" b="1" dirty="0"/>
              <a:t>of</a:t>
            </a:r>
            <a:r>
              <a:rPr lang="en-GB" altLang="en-US" sz="2000" dirty="0"/>
              <a:t> the </a:t>
            </a:r>
            <a:r>
              <a:rPr lang="en-GB" altLang="en-US" sz="2000" b="1" dirty="0"/>
              <a:t>sample</a:t>
            </a:r>
            <a:r>
              <a:rPr lang="en-GB" altLang="en-US" sz="2000" dirty="0"/>
              <a:t> of orders that would be </a:t>
            </a:r>
            <a:r>
              <a:rPr lang="en-GB" altLang="en-US" sz="2000" b="1" dirty="0"/>
              <a:t>needed? </a:t>
            </a:r>
            <a:endParaRPr lang="en-US" altLang="en-US" sz="2000" b="1" dirty="0"/>
          </a:p>
        </p:txBody>
      </p:sp>
      <p:sp>
        <p:nvSpPr>
          <p:cNvPr id="4" name="Text Box 6">
            <a:extLst>
              <a:ext uri="{FF2B5EF4-FFF2-40B4-BE49-F238E27FC236}">
                <a16:creationId xmlns:a16="http://schemas.microsoft.com/office/drawing/2014/main" id="{D3594F97-A1C8-4318-8894-A971F9925AF9}"/>
              </a:ext>
            </a:extLst>
          </p:cNvPr>
          <p:cNvSpPr txBox="1">
            <a:spLocks noChangeArrowheads="1"/>
          </p:cNvSpPr>
          <p:nvPr/>
        </p:nvSpPr>
        <p:spPr bwMode="auto">
          <a:xfrm>
            <a:off x="419100" y="990600"/>
            <a:ext cx="8229600"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GB" altLang="en-US" sz="2000" dirty="0"/>
              <a:t>A </a:t>
            </a:r>
            <a:r>
              <a:rPr lang="en-GB" altLang="en-US" sz="2000" b="1" dirty="0"/>
              <a:t>company</a:t>
            </a:r>
            <a:r>
              <a:rPr lang="en-GB" altLang="en-US" sz="2000" dirty="0"/>
              <a:t> wanting to look at the efficiency of it’s order processing system. </a:t>
            </a:r>
          </a:p>
          <a:p>
            <a:endParaRPr lang="en-GB" altLang="en-US" sz="2000" dirty="0"/>
          </a:p>
          <a:p>
            <a:r>
              <a:rPr lang="en-GB" altLang="en-US" sz="2000" dirty="0"/>
              <a:t>The </a:t>
            </a:r>
            <a:r>
              <a:rPr lang="en-GB" altLang="en-US" sz="2000" b="1" dirty="0"/>
              <a:t>mean</a:t>
            </a:r>
            <a:r>
              <a:rPr lang="en-GB" altLang="en-US" sz="2000" dirty="0"/>
              <a:t> order processing time </a:t>
            </a:r>
            <a:r>
              <a:rPr lang="en-GB" altLang="en-US" sz="2000" b="1" dirty="0"/>
              <a:t>is 18.1077 days </a:t>
            </a:r>
            <a:r>
              <a:rPr lang="en-GB" altLang="en-US" sz="2000" dirty="0"/>
              <a:t>and the </a:t>
            </a:r>
            <a:r>
              <a:rPr lang="en-GB" altLang="en-US" sz="2000" b="1" dirty="0" err="1"/>
              <a:t>s.d</a:t>
            </a:r>
            <a:r>
              <a:rPr lang="en-GB" altLang="en-US" sz="2000" b="1" dirty="0"/>
              <a:t> </a:t>
            </a:r>
            <a:r>
              <a:rPr lang="en-GB" altLang="en-US" sz="2000" dirty="0"/>
              <a:t>of the sample </a:t>
            </a:r>
            <a:r>
              <a:rPr lang="en-GB" altLang="en-US" sz="2000" b="1" dirty="0"/>
              <a:t>is 3.9612</a:t>
            </a:r>
            <a:r>
              <a:rPr lang="en-GB" altLang="en-US" sz="2000" dirty="0"/>
              <a:t>. </a:t>
            </a:r>
          </a:p>
        </p:txBody>
      </p:sp>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DAF947A8-6ED5-43E5-911B-88742FB4E65E}"/>
                  </a:ext>
                </a:extLst>
              </p:cNvPr>
              <p:cNvSpPr/>
              <p:nvPr/>
            </p:nvSpPr>
            <p:spPr>
              <a:xfrm>
                <a:off x="3352799" y="4114800"/>
                <a:ext cx="2133600" cy="155128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GB" sz="1600" b="1" i="0" dirty="0">
                    <a:latin typeface="+mj-lt"/>
                    <a:ea typeface="Cambria Math"/>
                  </a:rPr>
                  <a:t>Calculate STEM:</a:t>
                </a:r>
                <a:endParaRPr lang="en-GB" sz="1600" b="1" i="1" dirty="0">
                  <a:latin typeface="Cambria Math"/>
                  <a:ea typeface="Cambria Math"/>
                </a:endParaRPr>
              </a:p>
              <a:p>
                <a:pPr algn="ctr"/>
                <a14:m>
                  <m:oMathPara xmlns:m="http://schemas.openxmlformats.org/officeDocument/2006/math">
                    <m:oMathParaPr>
                      <m:jc m:val="center"/>
                    </m:oMathParaPr>
                    <m:oMath xmlns:m="http://schemas.openxmlformats.org/officeDocument/2006/math">
                      <m:sSub>
                        <m:sSubPr>
                          <m:ctrlPr>
                            <a:rPr lang="en-GB" sz="2400" i="1">
                              <a:latin typeface="Cambria Math" panose="02040503050406030204" pitchFamily="18" charset="0"/>
                              <a:ea typeface="Cambria Math"/>
                            </a:rPr>
                          </m:ctrlPr>
                        </m:sSubPr>
                        <m:e>
                          <m:r>
                            <a:rPr lang="en-GB" sz="2400" i="1">
                              <a:latin typeface="Cambria Math"/>
                              <a:ea typeface="Cambria Math"/>
                            </a:rPr>
                            <m:t>𝜎</m:t>
                          </m:r>
                        </m:e>
                        <m:sub>
                          <m:acc>
                            <m:accPr>
                              <m:chr m:val="̅"/>
                              <m:ctrlPr>
                                <a:rPr lang="en-GB" sz="2400" i="1">
                                  <a:latin typeface="Cambria Math" panose="02040503050406030204" pitchFamily="18" charset="0"/>
                                  <a:ea typeface="Cambria Math"/>
                                </a:rPr>
                              </m:ctrlPr>
                            </m:accPr>
                            <m:e>
                              <m:r>
                                <a:rPr lang="en-GB" sz="2400" i="1">
                                  <a:latin typeface="Cambria Math"/>
                                  <a:ea typeface="Cambria Math"/>
                                </a:rPr>
                                <m:t>𝑥</m:t>
                              </m:r>
                            </m:e>
                          </m:acc>
                        </m:sub>
                      </m:sSub>
                      <m:r>
                        <a:rPr lang="en-GB" b="0" i="1" smtClean="0">
                          <a:latin typeface="Cambria Math"/>
                          <a:ea typeface="Cambria Math"/>
                        </a:rPr>
                        <m:t>=</m:t>
                      </m:r>
                      <m:f>
                        <m:fPr>
                          <m:ctrlPr>
                            <a:rPr lang="en-GB" i="1">
                              <a:latin typeface="Cambria Math" panose="02040503050406030204" pitchFamily="18" charset="0"/>
                              <a:ea typeface="Cambria Math"/>
                            </a:rPr>
                          </m:ctrlPr>
                        </m:fPr>
                        <m:num>
                          <m:r>
                            <a:rPr lang="en-GB" b="0" i="1" smtClean="0">
                              <a:latin typeface="Cambria Math"/>
                              <a:ea typeface="Cambria Math"/>
                            </a:rPr>
                            <m:t>𝑠</m:t>
                          </m:r>
                        </m:num>
                        <m:den>
                          <m:rad>
                            <m:radPr>
                              <m:degHide m:val="on"/>
                              <m:ctrlPr>
                                <a:rPr lang="en-GB" i="1">
                                  <a:latin typeface="Cambria Math" panose="02040503050406030204" pitchFamily="18" charset="0"/>
                                  <a:ea typeface="Cambria Math"/>
                                </a:rPr>
                              </m:ctrlPr>
                            </m:radPr>
                            <m:deg/>
                            <m:e>
                              <m:r>
                                <a:rPr lang="en-GB" b="0" i="1" smtClean="0">
                                  <a:latin typeface="Cambria Math"/>
                                  <a:ea typeface="Cambria Math"/>
                                </a:rPr>
                                <m:t>𝑛</m:t>
                              </m:r>
                            </m:e>
                          </m:rad>
                        </m:den>
                      </m:f>
                    </m:oMath>
                  </m:oMathPara>
                </a14:m>
                <a:endParaRPr lang="en-GB" sz="2400" dirty="0"/>
              </a:p>
              <a:p>
                <a14:m>
                  <m:oMath xmlns:m="http://schemas.openxmlformats.org/officeDocument/2006/math">
                    <m:r>
                      <a:rPr lang="en-GB" sz="1200" b="0" i="1" smtClean="0">
                        <a:latin typeface="Cambria Math"/>
                        <a:ea typeface="Cambria Math"/>
                      </a:rPr>
                      <m:t>𝑠</m:t>
                    </m:r>
                    <m:r>
                      <a:rPr lang="en-GB" sz="1200" i="1">
                        <a:latin typeface="Cambria Math"/>
                        <a:ea typeface="Cambria Math"/>
                      </a:rPr>
                      <m:t> </m:t>
                    </m:r>
                  </m:oMath>
                </a14:m>
                <a:r>
                  <a:rPr lang="en-US" altLang="en-US" sz="1200" dirty="0"/>
                  <a:t>= sample standard deviation</a:t>
                </a:r>
              </a:p>
              <a:p>
                <a14:m>
                  <m:oMath xmlns:m="http://schemas.openxmlformats.org/officeDocument/2006/math">
                    <m:r>
                      <a:rPr lang="en-US" altLang="en-US" sz="1200" i="1" dirty="0" smtClean="0">
                        <a:latin typeface="Cambria Math"/>
                      </a:rPr>
                      <m:t>𝑛</m:t>
                    </m:r>
                  </m:oMath>
                </a14:m>
                <a:r>
                  <a:rPr lang="en-US" altLang="en-US" sz="1200" dirty="0"/>
                  <a:t> = number in sample</a:t>
                </a:r>
                <a:endParaRPr lang="en-GB" sz="1200" dirty="0"/>
              </a:p>
            </p:txBody>
          </p:sp>
        </mc:Choice>
        <mc:Fallback xmlns="">
          <p:sp>
            <p:nvSpPr>
              <p:cNvPr id="5" name="Rectangle 4">
                <a:extLst>
                  <a:ext uri="{FF2B5EF4-FFF2-40B4-BE49-F238E27FC236}">
                    <a16:creationId xmlns:a16="http://schemas.microsoft.com/office/drawing/2014/main" id="{DAF947A8-6ED5-43E5-911B-88742FB4E65E}"/>
                  </a:ext>
                </a:extLst>
              </p:cNvPr>
              <p:cNvSpPr>
                <a:spLocks noRot="1" noChangeAspect="1" noMove="1" noResize="1" noEditPoints="1" noAdjustHandles="1" noChangeArrowheads="1" noChangeShapeType="1" noTextEdit="1"/>
              </p:cNvSpPr>
              <p:nvPr/>
            </p:nvSpPr>
            <p:spPr>
              <a:xfrm>
                <a:off x="3352799" y="4114800"/>
                <a:ext cx="2133600" cy="1551280"/>
              </a:xfrm>
              <a:prstGeom prst="rect">
                <a:avLst/>
              </a:prstGeom>
              <a:blipFill>
                <a:blip r:embed="rId3"/>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3926740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 name="Group 50"/>
          <p:cNvGrpSpPr/>
          <p:nvPr/>
        </p:nvGrpSpPr>
        <p:grpSpPr>
          <a:xfrm>
            <a:off x="1685827" y="2286000"/>
            <a:ext cx="5629373" cy="2667000"/>
            <a:chOff x="1685827" y="2286000"/>
            <a:chExt cx="5629373" cy="2667000"/>
          </a:xfrm>
        </p:grpSpPr>
        <p:grpSp>
          <p:nvGrpSpPr>
            <p:cNvPr id="50" name="Group 49"/>
            <p:cNvGrpSpPr/>
            <p:nvPr/>
          </p:nvGrpSpPr>
          <p:grpSpPr>
            <a:xfrm>
              <a:off x="1685827" y="2286000"/>
              <a:ext cx="5629373" cy="2667000"/>
              <a:chOff x="1685827" y="2286000"/>
              <a:chExt cx="5629373" cy="2667000"/>
            </a:xfrm>
          </p:grpSpPr>
          <p:cxnSp>
            <p:nvCxnSpPr>
              <p:cNvPr id="38" name="Straight Arrow Connector 37"/>
              <p:cNvCxnSpPr/>
              <p:nvPr/>
            </p:nvCxnSpPr>
            <p:spPr>
              <a:xfrm>
                <a:off x="1685827" y="2286000"/>
                <a:ext cx="0" cy="2667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a:off x="7315200" y="2286000"/>
                <a:ext cx="0" cy="174317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6" name="Elbow Connector 45"/>
              <p:cNvCxnSpPr/>
              <p:nvPr/>
            </p:nvCxnSpPr>
            <p:spPr>
              <a:xfrm flipV="1">
                <a:off x="1685827" y="2286000"/>
                <a:ext cx="2809973" cy="2667000"/>
              </a:xfrm>
              <a:prstGeom prst="bentConnector3">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7" name="Elbow Connector 46"/>
              <p:cNvCxnSpPr/>
              <p:nvPr/>
            </p:nvCxnSpPr>
            <p:spPr>
              <a:xfrm flipV="1">
                <a:off x="4495800" y="2286000"/>
                <a:ext cx="2819400" cy="2667000"/>
              </a:xfrm>
              <a:prstGeom prst="bentConnector3">
                <a:avLst/>
              </a:prstGeom>
              <a:ln>
                <a:tailEnd type="arrow"/>
              </a:ln>
            </p:spPr>
            <p:style>
              <a:lnRef idx="1">
                <a:schemeClr val="accent1"/>
              </a:lnRef>
              <a:fillRef idx="0">
                <a:schemeClr val="accent1"/>
              </a:fillRef>
              <a:effectRef idx="0">
                <a:schemeClr val="accent1"/>
              </a:effectRef>
              <a:fontRef idx="minor">
                <a:schemeClr val="tx1"/>
              </a:fontRef>
            </p:style>
          </p:cxnSp>
        </p:grpSp>
        <p:cxnSp>
          <p:nvCxnSpPr>
            <p:cNvPr id="39" name="Straight Arrow Connector 38"/>
            <p:cNvCxnSpPr/>
            <p:nvPr/>
          </p:nvCxnSpPr>
          <p:spPr>
            <a:xfrm>
              <a:off x="4495800" y="2286000"/>
              <a:ext cx="0" cy="2667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a:lstStyle/>
          <a:p>
            <a:r>
              <a:rPr lang="en-GB" dirty="0"/>
              <a:t>Example Problem 4</a:t>
            </a:r>
          </a:p>
        </p:txBody>
      </p:sp>
      <p:sp>
        <p:nvSpPr>
          <p:cNvPr id="6" name="Text Box 5"/>
          <p:cNvSpPr txBox="1">
            <a:spLocks noChangeArrowheads="1"/>
          </p:cNvSpPr>
          <p:nvPr/>
        </p:nvSpPr>
        <p:spPr bwMode="auto">
          <a:xfrm>
            <a:off x="304801" y="762001"/>
            <a:ext cx="8000999"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GB" altLang="en-US" sz="2000" dirty="0"/>
              <a:t>The same company wants to </a:t>
            </a:r>
            <a:r>
              <a:rPr lang="en-GB" altLang="en-US" sz="2000" b="1" dirty="0"/>
              <a:t>estimate the mean processing time </a:t>
            </a:r>
            <a:r>
              <a:rPr lang="en-GB" altLang="en-US" sz="2000" dirty="0"/>
              <a:t>with a </a:t>
            </a:r>
            <a:r>
              <a:rPr lang="en-GB" altLang="en-US" sz="2000" b="1" dirty="0"/>
              <a:t>confidence interval of half a day either side</a:t>
            </a:r>
            <a:r>
              <a:rPr lang="en-GB" altLang="en-US" sz="2000" dirty="0"/>
              <a:t>.</a:t>
            </a:r>
          </a:p>
          <a:p>
            <a:endParaRPr lang="en-GB" altLang="en-US" sz="2000" dirty="0"/>
          </a:p>
          <a:p>
            <a:r>
              <a:rPr lang="en-GB" altLang="en-US" sz="2000" b="1" dirty="0"/>
              <a:t>What is</a:t>
            </a:r>
            <a:r>
              <a:rPr lang="en-GB" altLang="en-US" sz="2000" dirty="0"/>
              <a:t> the </a:t>
            </a:r>
            <a:r>
              <a:rPr lang="en-GB" altLang="en-US" sz="2000" b="1" dirty="0"/>
              <a:t>size</a:t>
            </a:r>
            <a:r>
              <a:rPr lang="en-GB" altLang="en-US" sz="2000" dirty="0"/>
              <a:t> </a:t>
            </a:r>
            <a:r>
              <a:rPr lang="en-GB" altLang="en-US" sz="2000" b="1" dirty="0"/>
              <a:t>of</a:t>
            </a:r>
            <a:r>
              <a:rPr lang="en-GB" altLang="en-US" sz="2000" dirty="0"/>
              <a:t> the </a:t>
            </a:r>
            <a:r>
              <a:rPr lang="en-GB" altLang="en-US" sz="2000" b="1" dirty="0"/>
              <a:t>sample</a:t>
            </a:r>
            <a:r>
              <a:rPr lang="en-GB" altLang="en-US" sz="2000" dirty="0"/>
              <a:t> of orders that would be </a:t>
            </a:r>
            <a:r>
              <a:rPr lang="en-GB" altLang="en-US" sz="2000" b="1" dirty="0"/>
              <a:t>needed? </a:t>
            </a:r>
            <a:endParaRPr lang="en-US" altLang="en-US" sz="2000" b="1" dirty="0"/>
          </a:p>
        </p:txBody>
      </p:sp>
      <mc:AlternateContent xmlns:mc="http://schemas.openxmlformats.org/markup-compatibility/2006" xmlns:a14="http://schemas.microsoft.com/office/drawing/2010/main">
        <mc:Choice Requires="a14">
          <p:sp>
            <p:nvSpPr>
              <p:cNvPr id="15" name="Flowchart: Predefined Process 14"/>
              <p:cNvSpPr/>
              <p:nvPr/>
            </p:nvSpPr>
            <p:spPr>
              <a:xfrm>
                <a:off x="542827" y="2399336"/>
                <a:ext cx="2286000" cy="428919"/>
              </a:xfrm>
              <a:prstGeom prst="flowChartPredefinedProcess">
                <a:avLst/>
              </a:prstGeom>
            </p:spPr>
            <p:style>
              <a:lnRef idx="1">
                <a:schemeClr val="accent4"/>
              </a:lnRef>
              <a:fillRef idx="2">
                <a:schemeClr val="accent4"/>
              </a:fillRef>
              <a:effectRef idx="1">
                <a:schemeClr val="accent4"/>
              </a:effectRef>
              <a:fontRef idx="minor">
                <a:schemeClr val="dk1"/>
              </a:fontRef>
            </p:style>
            <p:txBody>
              <a:bodyPr rtlCol="0" anchor="ctr"/>
              <a:lstStyle/>
              <a:p>
                <a:pPr algn="ctr"/>
                <a14:m>
                  <m:oMath xmlns:m="http://schemas.openxmlformats.org/officeDocument/2006/math">
                    <m:sSub>
                      <m:sSubPr>
                        <m:ctrlPr>
                          <a:rPr lang="en-GB" sz="2400" i="1">
                            <a:latin typeface="Cambria Math" panose="02040503050406030204" pitchFamily="18" charset="0"/>
                            <a:ea typeface="Cambria Math"/>
                          </a:rPr>
                        </m:ctrlPr>
                      </m:sSubPr>
                      <m:e>
                        <m:r>
                          <a:rPr lang="en-GB" sz="2400" i="1">
                            <a:latin typeface="Cambria Math"/>
                            <a:ea typeface="Cambria Math"/>
                          </a:rPr>
                          <m:t>𝜎</m:t>
                        </m:r>
                      </m:e>
                      <m:sub>
                        <m:acc>
                          <m:accPr>
                            <m:chr m:val="̅"/>
                            <m:ctrlPr>
                              <a:rPr lang="en-GB" sz="2400" i="1">
                                <a:latin typeface="Cambria Math" panose="02040503050406030204" pitchFamily="18" charset="0"/>
                                <a:ea typeface="Cambria Math"/>
                              </a:rPr>
                            </m:ctrlPr>
                          </m:accPr>
                          <m:e>
                            <m:r>
                              <a:rPr lang="en-GB" sz="2400" i="1">
                                <a:latin typeface="Cambria Math"/>
                                <a:ea typeface="Cambria Math"/>
                              </a:rPr>
                              <m:t>𝑥</m:t>
                            </m:r>
                          </m:e>
                        </m:acc>
                      </m:sub>
                    </m:sSub>
                    <m:sSub>
                      <m:sSubPr>
                        <m:ctrlPr>
                          <a:rPr lang="en-GB" sz="2400" b="0" i="1" smtClean="0">
                            <a:latin typeface="Cambria Math" panose="02040503050406030204" pitchFamily="18" charset="0"/>
                          </a:rPr>
                        </m:ctrlPr>
                      </m:sSubPr>
                      <m:e>
                        <m:r>
                          <a:rPr lang="en-GB" sz="2400" b="0" i="1" smtClean="0">
                            <a:latin typeface="Cambria Math"/>
                          </a:rPr>
                          <m:t>𝑍</m:t>
                        </m:r>
                      </m:e>
                      <m:sub>
                        <m:r>
                          <a:rPr lang="en-GB" sz="2400" b="0" i="1" smtClean="0">
                            <a:latin typeface="Cambria Math"/>
                          </a:rPr>
                          <m:t>𝑐𝑟𝑖𝑡</m:t>
                        </m:r>
                      </m:sub>
                    </m:sSub>
                  </m:oMath>
                </a14:m>
                <a:r>
                  <a:rPr lang="en-GB" sz="2400" b="1" dirty="0"/>
                  <a:t>=0.5</a:t>
                </a:r>
                <a:r>
                  <a:rPr lang="en-GB" sz="2400" dirty="0"/>
                  <a:t> </a:t>
                </a:r>
              </a:p>
            </p:txBody>
          </p:sp>
        </mc:Choice>
        <mc:Fallback xmlns="">
          <p:sp>
            <p:nvSpPr>
              <p:cNvPr id="15" name="Flowchart: Predefined Process 14"/>
              <p:cNvSpPr>
                <a:spLocks noRot="1" noChangeAspect="1" noMove="1" noResize="1" noEditPoints="1" noAdjustHandles="1" noChangeArrowheads="1" noChangeShapeType="1" noTextEdit="1"/>
              </p:cNvSpPr>
              <p:nvPr/>
            </p:nvSpPr>
            <p:spPr>
              <a:xfrm>
                <a:off x="542827" y="2399336"/>
                <a:ext cx="2286000" cy="428919"/>
              </a:xfrm>
              <a:prstGeom prst="flowChartPredefinedProcess">
                <a:avLst/>
              </a:prstGeom>
              <a:blipFill rotWithShape="1">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 name="Flowchart: Predefined Process 21"/>
              <p:cNvSpPr/>
              <p:nvPr/>
            </p:nvSpPr>
            <p:spPr>
              <a:xfrm>
                <a:off x="542827" y="3002842"/>
                <a:ext cx="2286000" cy="428919"/>
              </a:xfrm>
              <a:prstGeom prst="flowChartPredefinedProcess">
                <a:avLst/>
              </a:prstGeom>
            </p:spPr>
            <p:style>
              <a:lnRef idx="1">
                <a:schemeClr val="accent4"/>
              </a:lnRef>
              <a:fillRef idx="2">
                <a:schemeClr val="accent4"/>
              </a:fillRef>
              <a:effectRef idx="1">
                <a:schemeClr val="accent4"/>
              </a:effectRef>
              <a:fontRef idx="minor">
                <a:schemeClr val="dk1"/>
              </a:fontRef>
            </p:style>
            <p:txBody>
              <a:bodyPr rtlCol="0" anchor="ctr"/>
              <a:lstStyle/>
              <a:p>
                <a:pPr algn="ctr"/>
                <a14:m>
                  <m:oMath xmlns:m="http://schemas.openxmlformats.org/officeDocument/2006/math">
                    <m:sSub>
                      <m:sSubPr>
                        <m:ctrlPr>
                          <a:rPr lang="en-GB" sz="2400" i="1">
                            <a:latin typeface="Cambria Math" panose="02040503050406030204" pitchFamily="18" charset="0"/>
                            <a:ea typeface="Cambria Math"/>
                          </a:rPr>
                        </m:ctrlPr>
                      </m:sSubPr>
                      <m:e>
                        <m:r>
                          <a:rPr lang="en-GB" sz="2400" i="1">
                            <a:latin typeface="Cambria Math"/>
                            <a:ea typeface="Cambria Math"/>
                          </a:rPr>
                          <m:t>𝜎</m:t>
                        </m:r>
                      </m:e>
                      <m:sub>
                        <m:acc>
                          <m:accPr>
                            <m:chr m:val="̅"/>
                            <m:ctrlPr>
                              <a:rPr lang="en-GB" sz="2400" i="1">
                                <a:latin typeface="Cambria Math" panose="02040503050406030204" pitchFamily="18" charset="0"/>
                                <a:ea typeface="Cambria Math"/>
                              </a:rPr>
                            </m:ctrlPr>
                          </m:accPr>
                          <m:e>
                            <m:r>
                              <a:rPr lang="en-GB" sz="2400" i="1">
                                <a:latin typeface="Cambria Math"/>
                                <a:ea typeface="Cambria Math"/>
                              </a:rPr>
                              <m:t>𝑥</m:t>
                            </m:r>
                          </m:e>
                        </m:acc>
                      </m:sub>
                    </m:sSub>
                  </m:oMath>
                </a14:m>
                <a:r>
                  <a:rPr lang="en-GB" sz="2400" b="1" dirty="0"/>
                  <a:t>1.96=0.5</a:t>
                </a:r>
                <a:r>
                  <a:rPr lang="en-GB" sz="2400" dirty="0"/>
                  <a:t> </a:t>
                </a:r>
              </a:p>
            </p:txBody>
          </p:sp>
        </mc:Choice>
        <mc:Fallback xmlns="">
          <p:sp>
            <p:nvSpPr>
              <p:cNvPr id="22" name="Flowchart: Predefined Process 21"/>
              <p:cNvSpPr>
                <a:spLocks noRot="1" noChangeAspect="1" noMove="1" noResize="1" noEditPoints="1" noAdjustHandles="1" noChangeArrowheads="1" noChangeShapeType="1" noTextEdit="1"/>
              </p:cNvSpPr>
              <p:nvPr/>
            </p:nvSpPr>
            <p:spPr>
              <a:xfrm>
                <a:off x="542827" y="3002842"/>
                <a:ext cx="2286000" cy="428919"/>
              </a:xfrm>
              <a:prstGeom prst="flowChartPredefinedProcess">
                <a:avLst/>
              </a:prstGeom>
              <a:blipFill rotWithShape="1">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3" name="Flowchart: Predefined Process 22"/>
              <p:cNvSpPr/>
              <p:nvPr/>
            </p:nvSpPr>
            <p:spPr>
              <a:xfrm>
                <a:off x="542827" y="3606348"/>
                <a:ext cx="2286000" cy="428919"/>
              </a:xfrm>
              <a:prstGeom prst="flowChartPredefinedProcess">
                <a:avLst/>
              </a:prstGeom>
            </p:spPr>
            <p:style>
              <a:lnRef idx="1">
                <a:schemeClr val="accent4"/>
              </a:lnRef>
              <a:fillRef idx="2">
                <a:schemeClr val="accent4"/>
              </a:fillRef>
              <a:effectRef idx="1">
                <a:schemeClr val="accent4"/>
              </a:effectRef>
              <a:fontRef idx="minor">
                <a:schemeClr val="dk1"/>
              </a:fontRef>
            </p:style>
            <p:txBody>
              <a:bodyPr rtlCol="0" anchor="ctr"/>
              <a:lstStyle/>
              <a:p>
                <a:pPr algn="ctr"/>
                <a14:m>
                  <m:oMath xmlns:m="http://schemas.openxmlformats.org/officeDocument/2006/math">
                    <m:sSub>
                      <m:sSubPr>
                        <m:ctrlPr>
                          <a:rPr lang="en-GB" sz="2400" i="1">
                            <a:latin typeface="Cambria Math" panose="02040503050406030204" pitchFamily="18" charset="0"/>
                            <a:ea typeface="Cambria Math"/>
                          </a:rPr>
                        </m:ctrlPr>
                      </m:sSubPr>
                      <m:e>
                        <m:r>
                          <a:rPr lang="en-GB" sz="2400" i="1">
                            <a:latin typeface="Cambria Math"/>
                            <a:ea typeface="Cambria Math"/>
                          </a:rPr>
                          <m:t>𝜎</m:t>
                        </m:r>
                      </m:e>
                      <m:sub>
                        <m:acc>
                          <m:accPr>
                            <m:chr m:val="̅"/>
                            <m:ctrlPr>
                              <a:rPr lang="en-GB" sz="2400" i="1">
                                <a:latin typeface="Cambria Math" panose="02040503050406030204" pitchFamily="18" charset="0"/>
                                <a:ea typeface="Cambria Math"/>
                              </a:rPr>
                            </m:ctrlPr>
                          </m:accPr>
                          <m:e>
                            <m:r>
                              <a:rPr lang="en-GB" sz="2400" i="1">
                                <a:latin typeface="Cambria Math"/>
                                <a:ea typeface="Cambria Math"/>
                              </a:rPr>
                              <m:t>𝑥</m:t>
                            </m:r>
                          </m:e>
                        </m:acc>
                      </m:sub>
                    </m:sSub>
                  </m:oMath>
                </a14:m>
                <a:r>
                  <a:rPr lang="en-GB" sz="2400" b="1" dirty="0"/>
                  <a:t>=0.5/1.96</a:t>
                </a:r>
                <a:r>
                  <a:rPr lang="en-GB" sz="2400" dirty="0"/>
                  <a:t> </a:t>
                </a:r>
              </a:p>
            </p:txBody>
          </p:sp>
        </mc:Choice>
        <mc:Fallback xmlns="">
          <p:sp>
            <p:nvSpPr>
              <p:cNvPr id="23" name="Flowchart: Predefined Process 22"/>
              <p:cNvSpPr>
                <a:spLocks noRot="1" noChangeAspect="1" noMove="1" noResize="1" noEditPoints="1" noAdjustHandles="1" noChangeArrowheads="1" noChangeShapeType="1" noTextEdit="1"/>
              </p:cNvSpPr>
              <p:nvPr/>
            </p:nvSpPr>
            <p:spPr>
              <a:xfrm>
                <a:off x="542827" y="3606348"/>
                <a:ext cx="2286000" cy="428919"/>
              </a:xfrm>
              <a:prstGeom prst="flowChartPredefinedProcess">
                <a:avLst/>
              </a:prstGeom>
              <a:blipFill rotWithShape="1">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 name="Flowchart: Predefined Process 23"/>
              <p:cNvSpPr/>
              <p:nvPr/>
            </p:nvSpPr>
            <p:spPr>
              <a:xfrm>
                <a:off x="542827" y="4209854"/>
                <a:ext cx="2286000" cy="428919"/>
              </a:xfrm>
              <a:prstGeom prst="flowChartPredefinedProcess">
                <a:avLst/>
              </a:prstGeom>
            </p:spPr>
            <p:style>
              <a:lnRef idx="1">
                <a:schemeClr val="accent4"/>
              </a:lnRef>
              <a:fillRef idx="2">
                <a:schemeClr val="accent4"/>
              </a:fillRef>
              <a:effectRef idx="1">
                <a:schemeClr val="accent4"/>
              </a:effectRef>
              <a:fontRef idx="minor">
                <a:schemeClr val="dk1"/>
              </a:fontRef>
            </p:style>
            <p:txBody>
              <a:bodyPr rtlCol="0" anchor="ctr"/>
              <a:lstStyle/>
              <a:p>
                <a:pPr algn="ctr"/>
                <a14:m>
                  <m:oMath xmlns:m="http://schemas.openxmlformats.org/officeDocument/2006/math">
                    <m:sSub>
                      <m:sSubPr>
                        <m:ctrlPr>
                          <a:rPr lang="en-GB" sz="2400" i="1">
                            <a:latin typeface="Cambria Math" panose="02040503050406030204" pitchFamily="18" charset="0"/>
                            <a:ea typeface="Cambria Math"/>
                          </a:rPr>
                        </m:ctrlPr>
                      </m:sSubPr>
                      <m:e>
                        <m:r>
                          <a:rPr lang="en-GB" sz="2400" i="1">
                            <a:latin typeface="Cambria Math"/>
                            <a:ea typeface="Cambria Math"/>
                          </a:rPr>
                          <m:t>𝜎</m:t>
                        </m:r>
                      </m:e>
                      <m:sub>
                        <m:acc>
                          <m:accPr>
                            <m:chr m:val="̅"/>
                            <m:ctrlPr>
                              <a:rPr lang="en-GB" sz="2400" i="1">
                                <a:latin typeface="Cambria Math" panose="02040503050406030204" pitchFamily="18" charset="0"/>
                                <a:ea typeface="Cambria Math"/>
                              </a:rPr>
                            </m:ctrlPr>
                          </m:accPr>
                          <m:e>
                            <m:r>
                              <a:rPr lang="en-GB" sz="2400" i="1">
                                <a:latin typeface="Cambria Math"/>
                                <a:ea typeface="Cambria Math"/>
                              </a:rPr>
                              <m:t>𝑥</m:t>
                            </m:r>
                          </m:e>
                        </m:acc>
                      </m:sub>
                    </m:sSub>
                  </m:oMath>
                </a14:m>
                <a:r>
                  <a:rPr lang="en-GB" sz="2400" b="1" dirty="0"/>
                  <a:t> = 0.2551</a:t>
                </a:r>
                <a:endParaRPr lang="en-GB" sz="2400" dirty="0"/>
              </a:p>
            </p:txBody>
          </p:sp>
        </mc:Choice>
        <mc:Fallback xmlns="">
          <p:sp>
            <p:nvSpPr>
              <p:cNvPr id="24" name="Flowchart: Predefined Process 23"/>
              <p:cNvSpPr>
                <a:spLocks noRot="1" noChangeAspect="1" noMove="1" noResize="1" noEditPoints="1" noAdjustHandles="1" noChangeArrowheads="1" noChangeShapeType="1" noTextEdit="1"/>
              </p:cNvSpPr>
              <p:nvPr/>
            </p:nvSpPr>
            <p:spPr>
              <a:xfrm>
                <a:off x="542827" y="4209854"/>
                <a:ext cx="2286000" cy="428919"/>
              </a:xfrm>
              <a:prstGeom prst="flowChartPredefinedProcess">
                <a:avLst/>
              </a:prstGeom>
              <a:blipFill rotWithShape="1">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Flowchart: Predefined Process 9"/>
              <p:cNvSpPr/>
              <p:nvPr/>
            </p:nvSpPr>
            <p:spPr>
              <a:xfrm>
                <a:off x="3352800" y="2399336"/>
                <a:ext cx="2286000" cy="609600"/>
              </a:xfrm>
              <a:prstGeom prst="flowChartPredefinedProcess">
                <a:avLst/>
              </a:prstGeom>
            </p:spPr>
            <p:style>
              <a:lnRef idx="1">
                <a:schemeClr val="accent2"/>
              </a:lnRef>
              <a:fillRef idx="2">
                <a:schemeClr val="accent2"/>
              </a:fillRef>
              <a:effectRef idx="1">
                <a:schemeClr val="accent2"/>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GB" sz="2000" i="1" smtClean="0">
                              <a:latin typeface="Cambria Math" panose="02040503050406030204" pitchFamily="18" charset="0"/>
                              <a:ea typeface="Cambria Math"/>
                            </a:rPr>
                          </m:ctrlPr>
                        </m:sSubPr>
                        <m:e>
                          <m:r>
                            <a:rPr lang="en-GB" sz="2000" i="1">
                              <a:latin typeface="Cambria Math"/>
                              <a:ea typeface="Cambria Math"/>
                            </a:rPr>
                            <m:t>𝜎</m:t>
                          </m:r>
                        </m:e>
                        <m:sub>
                          <m:acc>
                            <m:accPr>
                              <m:chr m:val="̅"/>
                              <m:ctrlPr>
                                <a:rPr lang="en-GB" sz="2000" i="1">
                                  <a:latin typeface="Cambria Math" panose="02040503050406030204" pitchFamily="18" charset="0"/>
                                  <a:ea typeface="Cambria Math"/>
                                </a:rPr>
                              </m:ctrlPr>
                            </m:accPr>
                            <m:e>
                              <m:r>
                                <a:rPr lang="en-GB" sz="2000" i="1">
                                  <a:latin typeface="Cambria Math"/>
                                  <a:ea typeface="Cambria Math"/>
                                </a:rPr>
                                <m:t>𝑥</m:t>
                              </m:r>
                            </m:e>
                          </m:acc>
                        </m:sub>
                      </m:sSub>
                      <m:r>
                        <a:rPr lang="en-GB" sz="1400" i="1">
                          <a:latin typeface="Cambria Math"/>
                          <a:ea typeface="Cambria Math"/>
                        </a:rPr>
                        <m:t>=</m:t>
                      </m:r>
                      <m:f>
                        <m:fPr>
                          <m:ctrlPr>
                            <a:rPr lang="en-GB" sz="1400" i="1">
                              <a:latin typeface="Cambria Math" panose="02040503050406030204" pitchFamily="18" charset="0"/>
                              <a:ea typeface="Cambria Math"/>
                            </a:rPr>
                          </m:ctrlPr>
                        </m:fPr>
                        <m:num>
                          <m:r>
                            <a:rPr lang="en-GB" sz="1400" i="1">
                              <a:latin typeface="Cambria Math"/>
                              <a:ea typeface="Cambria Math"/>
                            </a:rPr>
                            <m:t>𝑠</m:t>
                          </m:r>
                        </m:num>
                        <m:den>
                          <m:rad>
                            <m:radPr>
                              <m:degHide m:val="on"/>
                              <m:ctrlPr>
                                <a:rPr lang="en-GB" sz="1400" i="1">
                                  <a:latin typeface="Cambria Math" panose="02040503050406030204" pitchFamily="18" charset="0"/>
                                  <a:ea typeface="Cambria Math"/>
                                </a:rPr>
                              </m:ctrlPr>
                            </m:radPr>
                            <m:deg/>
                            <m:e>
                              <m:box>
                                <m:boxPr>
                                  <m:ctrlPr>
                                    <a:rPr lang="en-GB" sz="1400" i="1">
                                      <a:latin typeface="Cambria Math" panose="02040503050406030204" pitchFamily="18" charset="0"/>
                                      <a:ea typeface="Cambria Math"/>
                                    </a:rPr>
                                  </m:ctrlPr>
                                </m:boxPr>
                                <m:e>
                                  <m:argPr>
                                    <m:argSz m:val="-1"/>
                                  </m:argPr>
                                  <m:r>
                                    <m:rPr>
                                      <m:brk m:alnAt="63"/>
                                    </m:rPr>
                                    <a:rPr lang="en-GB" sz="1400" b="0" i="1" smtClean="0">
                                      <a:latin typeface="Cambria Math"/>
                                      <a:ea typeface="Cambria Math"/>
                                    </a:rPr>
                                    <m:t>𝑛</m:t>
                                  </m:r>
                                </m:e>
                              </m:box>
                            </m:e>
                          </m:rad>
                        </m:den>
                      </m:f>
                    </m:oMath>
                  </m:oMathPara>
                </a14:m>
                <a:endParaRPr lang="en-GB" sz="1050" dirty="0"/>
              </a:p>
            </p:txBody>
          </p:sp>
        </mc:Choice>
        <mc:Fallback xmlns="">
          <p:sp>
            <p:nvSpPr>
              <p:cNvPr id="10" name="Flowchart: Predefined Process 9"/>
              <p:cNvSpPr>
                <a:spLocks noRot="1" noChangeAspect="1" noMove="1" noResize="1" noEditPoints="1" noAdjustHandles="1" noChangeArrowheads="1" noChangeShapeType="1" noTextEdit="1"/>
              </p:cNvSpPr>
              <p:nvPr/>
            </p:nvSpPr>
            <p:spPr>
              <a:xfrm>
                <a:off x="3352800" y="2399336"/>
                <a:ext cx="2286000" cy="609600"/>
              </a:xfrm>
              <a:prstGeom prst="flowChartPredefinedProcess">
                <a:avLst/>
              </a:prstGeom>
              <a:blipFill rotWithShape="1">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7" name="Flowchart: Predefined Process 16"/>
              <p:cNvSpPr/>
              <p:nvPr/>
            </p:nvSpPr>
            <p:spPr>
              <a:xfrm>
                <a:off x="3352800" y="3214255"/>
                <a:ext cx="2286000" cy="609600"/>
              </a:xfrm>
              <a:prstGeom prst="flowChartPredefinedProcess">
                <a:avLst/>
              </a:prstGeom>
            </p:spPr>
            <p:style>
              <a:lnRef idx="1">
                <a:schemeClr val="accent2"/>
              </a:lnRef>
              <a:fillRef idx="2">
                <a:schemeClr val="accent2"/>
              </a:fillRef>
              <a:effectRef idx="1">
                <a:schemeClr val="accent2"/>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GB" sz="1600" b="0" i="1" smtClean="0">
                          <a:latin typeface="Cambria Math"/>
                          <a:ea typeface="Cambria Math"/>
                        </a:rPr>
                        <m:t>0.2551</m:t>
                      </m:r>
                      <m:r>
                        <a:rPr lang="en-GB" sz="1600" i="1">
                          <a:latin typeface="Cambria Math"/>
                          <a:ea typeface="Cambria Math"/>
                        </a:rPr>
                        <m:t>=</m:t>
                      </m:r>
                      <m:f>
                        <m:fPr>
                          <m:ctrlPr>
                            <a:rPr lang="en-GB" sz="1600" i="1">
                              <a:latin typeface="Cambria Math" panose="02040503050406030204" pitchFamily="18" charset="0"/>
                              <a:ea typeface="Cambria Math"/>
                            </a:rPr>
                          </m:ctrlPr>
                        </m:fPr>
                        <m:num>
                          <m:r>
                            <a:rPr lang="en-GB" sz="1600" i="1">
                              <a:latin typeface="Cambria Math"/>
                              <a:ea typeface="Cambria Math"/>
                            </a:rPr>
                            <m:t>3.9612</m:t>
                          </m:r>
                        </m:num>
                        <m:den>
                          <m:rad>
                            <m:radPr>
                              <m:degHide m:val="on"/>
                              <m:ctrlPr>
                                <a:rPr lang="en-GB" sz="1600" i="1">
                                  <a:latin typeface="Cambria Math" panose="02040503050406030204" pitchFamily="18" charset="0"/>
                                  <a:ea typeface="Cambria Math"/>
                                </a:rPr>
                              </m:ctrlPr>
                            </m:radPr>
                            <m:deg/>
                            <m:e>
                              <m:r>
                                <a:rPr lang="en-GB" sz="1600" i="1">
                                  <a:latin typeface="Cambria Math"/>
                                  <a:ea typeface="Cambria Math"/>
                                </a:rPr>
                                <m:t>𝑛</m:t>
                              </m:r>
                            </m:e>
                          </m:rad>
                        </m:den>
                      </m:f>
                    </m:oMath>
                  </m:oMathPara>
                </a14:m>
                <a:endParaRPr lang="en-GB" sz="1050" dirty="0"/>
              </a:p>
            </p:txBody>
          </p:sp>
        </mc:Choice>
        <mc:Fallback xmlns="">
          <p:sp>
            <p:nvSpPr>
              <p:cNvPr id="17" name="Flowchart: Predefined Process 16"/>
              <p:cNvSpPr>
                <a:spLocks noRot="1" noChangeAspect="1" noMove="1" noResize="1" noEditPoints="1" noAdjustHandles="1" noChangeArrowheads="1" noChangeShapeType="1" noTextEdit="1"/>
              </p:cNvSpPr>
              <p:nvPr/>
            </p:nvSpPr>
            <p:spPr>
              <a:xfrm>
                <a:off x="3352800" y="3214255"/>
                <a:ext cx="2286000" cy="609600"/>
              </a:xfrm>
              <a:prstGeom prst="flowChartPredefinedProcess">
                <a:avLst/>
              </a:prstGeom>
              <a:blipFill rotWithShape="1">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4" name="Flowchart: Predefined Process 33"/>
              <p:cNvSpPr/>
              <p:nvPr/>
            </p:nvSpPr>
            <p:spPr>
              <a:xfrm>
                <a:off x="3352800" y="4029173"/>
                <a:ext cx="2286000" cy="609600"/>
              </a:xfrm>
              <a:prstGeom prst="flowChartPredefinedProcess">
                <a:avLst/>
              </a:prstGeom>
            </p:spPr>
            <p:style>
              <a:lnRef idx="1">
                <a:schemeClr val="accent2"/>
              </a:lnRef>
              <a:fillRef idx="2">
                <a:schemeClr val="accent2"/>
              </a:fillRef>
              <a:effectRef idx="1">
                <a:schemeClr val="accent2"/>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ad>
                        <m:radPr>
                          <m:degHide m:val="on"/>
                          <m:ctrlPr>
                            <a:rPr lang="en-GB" i="1" smtClean="0">
                              <a:latin typeface="Cambria Math" panose="02040503050406030204" pitchFamily="18" charset="0"/>
                              <a:ea typeface="Cambria Math"/>
                            </a:rPr>
                          </m:ctrlPr>
                        </m:radPr>
                        <m:deg/>
                        <m:e>
                          <m:r>
                            <a:rPr lang="en-GB" i="1">
                              <a:latin typeface="Cambria Math"/>
                              <a:ea typeface="Cambria Math"/>
                            </a:rPr>
                            <m:t>𝑛</m:t>
                          </m:r>
                        </m:e>
                      </m:rad>
                      <m:r>
                        <a:rPr lang="en-GB" i="1">
                          <a:latin typeface="Cambria Math"/>
                          <a:ea typeface="Cambria Math"/>
                        </a:rPr>
                        <m:t>=</m:t>
                      </m:r>
                      <m:f>
                        <m:fPr>
                          <m:ctrlPr>
                            <a:rPr lang="en-GB" i="1">
                              <a:latin typeface="Cambria Math" panose="02040503050406030204" pitchFamily="18" charset="0"/>
                              <a:ea typeface="Cambria Math"/>
                            </a:rPr>
                          </m:ctrlPr>
                        </m:fPr>
                        <m:num>
                          <m:r>
                            <a:rPr lang="en-GB" i="1">
                              <a:latin typeface="Cambria Math"/>
                              <a:ea typeface="Cambria Math"/>
                            </a:rPr>
                            <m:t>3.9612</m:t>
                          </m:r>
                        </m:num>
                        <m:den>
                          <m:r>
                            <a:rPr lang="en-GB" b="0" i="1" smtClean="0">
                              <a:latin typeface="Cambria Math"/>
                              <a:ea typeface="Cambria Math"/>
                            </a:rPr>
                            <m:t>0</m:t>
                          </m:r>
                          <m:r>
                            <a:rPr lang="en-GB" i="1">
                              <a:latin typeface="Cambria Math"/>
                              <a:ea typeface="Cambria Math"/>
                            </a:rPr>
                            <m:t>.2551</m:t>
                          </m:r>
                        </m:den>
                      </m:f>
                    </m:oMath>
                  </m:oMathPara>
                </a14:m>
                <a:endParaRPr lang="en-GB" dirty="0"/>
              </a:p>
            </p:txBody>
          </p:sp>
        </mc:Choice>
        <mc:Fallback xmlns="">
          <p:sp>
            <p:nvSpPr>
              <p:cNvPr id="34" name="Flowchart: Predefined Process 33"/>
              <p:cNvSpPr>
                <a:spLocks noRot="1" noChangeAspect="1" noMove="1" noResize="1" noEditPoints="1" noAdjustHandles="1" noChangeArrowheads="1" noChangeShapeType="1" noTextEdit="1"/>
              </p:cNvSpPr>
              <p:nvPr/>
            </p:nvSpPr>
            <p:spPr>
              <a:xfrm>
                <a:off x="3352800" y="4029173"/>
                <a:ext cx="2286000" cy="609600"/>
              </a:xfrm>
              <a:prstGeom prst="flowChartPredefinedProcess">
                <a:avLst/>
              </a:prstGeom>
              <a:blipFill rotWithShape="1">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2" name="Flowchart: Predefined Process 31"/>
              <p:cNvSpPr/>
              <p:nvPr/>
            </p:nvSpPr>
            <p:spPr>
              <a:xfrm>
                <a:off x="6172200" y="2399336"/>
                <a:ext cx="2286000" cy="609600"/>
              </a:xfrm>
              <a:prstGeom prst="flowChartPredefinedProcess">
                <a:avLst/>
              </a:prstGeom>
            </p:spPr>
            <p:style>
              <a:lnRef idx="1">
                <a:schemeClr val="accent1"/>
              </a:lnRef>
              <a:fillRef idx="2">
                <a:schemeClr val="accent1"/>
              </a:fillRef>
              <a:effectRef idx="1">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GB" sz="2000" b="0" i="1" smtClean="0">
                          <a:latin typeface="Cambria Math"/>
                          <a:ea typeface="Cambria Math"/>
                        </a:rPr>
                        <m:t>𝑛</m:t>
                      </m:r>
                      <m:r>
                        <a:rPr lang="en-GB" sz="2000" b="0" i="1" smtClean="0">
                          <a:latin typeface="Cambria Math"/>
                          <a:ea typeface="Cambria Math"/>
                        </a:rPr>
                        <m:t>=</m:t>
                      </m:r>
                      <m:sSup>
                        <m:sSupPr>
                          <m:ctrlPr>
                            <a:rPr lang="en-GB" sz="2000" b="0" i="1" smtClean="0">
                              <a:latin typeface="Cambria Math" panose="02040503050406030204" pitchFamily="18" charset="0"/>
                              <a:ea typeface="Cambria Math"/>
                            </a:rPr>
                          </m:ctrlPr>
                        </m:sSupPr>
                        <m:e>
                          <m:r>
                            <a:rPr lang="en-GB" sz="2000" b="0" i="1" smtClean="0">
                              <a:latin typeface="Cambria Math"/>
                              <a:ea typeface="Cambria Math"/>
                            </a:rPr>
                            <m:t>15.528</m:t>
                          </m:r>
                        </m:e>
                        <m:sup>
                          <m:r>
                            <a:rPr lang="en-GB" sz="2000" b="0" i="1" smtClean="0">
                              <a:latin typeface="Cambria Math"/>
                              <a:ea typeface="Cambria Math"/>
                            </a:rPr>
                            <m:t>2</m:t>
                          </m:r>
                        </m:sup>
                      </m:sSup>
                    </m:oMath>
                  </m:oMathPara>
                </a14:m>
                <a:endParaRPr lang="en-GB" sz="2000" dirty="0"/>
              </a:p>
            </p:txBody>
          </p:sp>
        </mc:Choice>
        <mc:Fallback xmlns="">
          <p:sp>
            <p:nvSpPr>
              <p:cNvPr id="32" name="Flowchart: Predefined Process 31"/>
              <p:cNvSpPr>
                <a:spLocks noRot="1" noChangeAspect="1" noMove="1" noResize="1" noEditPoints="1" noAdjustHandles="1" noChangeArrowheads="1" noChangeShapeType="1" noTextEdit="1"/>
              </p:cNvSpPr>
              <p:nvPr/>
            </p:nvSpPr>
            <p:spPr>
              <a:xfrm>
                <a:off x="6172200" y="2399336"/>
                <a:ext cx="2286000" cy="609600"/>
              </a:xfrm>
              <a:prstGeom prst="flowChartPredefinedProcess">
                <a:avLst/>
              </a:prstGeom>
              <a:blipFill rotWithShape="1">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 name="Flowchart: Predefined Process 19"/>
              <p:cNvSpPr/>
              <p:nvPr/>
            </p:nvSpPr>
            <p:spPr>
              <a:xfrm>
                <a:off x="6172200" y="3214254"/>
                <a:ext cx="2286000" cy="609600"/>
              </a:xfrm>
              <a:prstGeom prst="flowChartPredefinedProcess">
                <a:avLst/>
              </a:prstGeom>
            </p:spPr>
            <p:style>
              <a:lnRef idx="1">
                <a:schemeClr val="accent1"/>
              </a:lnRef>
              <a:fillRef idx="2">
                <a:schemeClr val="accent1"/>
              </a:fillRef>
              <a:effectRef idx="1">
                <a:schemeClr val="accent1"/>
              </a:effectRef>
              <a:fontRef idx="minor">
                <a:schemeClr val="dk1"/>
              </a:fontRef>
            </p:style>
            <p:txBody>
              <a:bodyPr rtlCol="0" anchor="ctr"/>
              <a:lstStyle/>
              <a:p>
                <a:pPr algn="ctr"/>
                <a14:m>
                  <m:oMath xmlns:m="http://schemas.openxmlformats.org/officeDocument/2006/math">
                    <m:r>
                      <a:rPr lang="en-GB" sz="2400" b="0" i="1" smtClean="0">
                        <a:latin typeface="Cambria Math"/>
                      </a:rPr>
                      <m:t>𝑛</m:t>
                    </m:r>
                  </m:oMath>
                </a14:m>
                <a:r>
                  <a:rPr lang="en-GB" sz="2400" dirty="0"/>
                  <a:t> = 241.12</a:t>
                </a:r>
              </a:p>
              <a:p>
                <a:pPr algn="ctr"/>
                <a:r>
                  <a:rPr lang="en-GB" sz="1400" dirty="0"/>
                  <a:t>Number of samples</a:t>
                </a:r>
              </a:p>
            </p:txBody>
          </p:sp>
        </mc:Choice>
        <mc:Fallback xmlns="">
          <p:sp>
            <p:nvSpPr>
              <p:cNvPr id="20" name="Flowchart: Predefined Process 19"/>
              <p:cNvSpPr>
                <a:spLocks noRot="1" noChangeAspect="1" noMove="1" noResize="1" noEditPoints="1" noAdjustHandles="1" noChangeArrowheads="1" noChangeShapeType="1" noTextEdit="1"/>
              </p:cNvSpPr>
              <p:nvPr/>
            </p:nvSpPr>
            <p:spPr>
              <a:xfrm>
                <a:off x="6172200" y="3214254"/>
                <a:ext cx="2286000" cy="609600"/>
              </a:xfrm>
              <a:prstGeom prst="flowChartPredefinedProcess">
                <a:avLst/>
              </a:prstGeom>
              <a:blipFill rotWithShape="1">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5" name="Flowchart: Predefined Process 34"/>
              <p:cNvSpPr/>
              <p:nvPr/>
            </p:nvSpPr>
            <p:spPr>
              <a:xfrm>
                <a:off x="6172200" y="4029173"/>
                <a:ext cx="2286000" cy="609600"/>
              </a:xfrm>
              <a:prstGeom prst="flowChartPredefinedProcess">
                <a:avLst/>
              </a:prstGeom>
            </p:spPr>
            <p:style>
              <a:lnRef idx="1">
                <a:schemeClr val="accent1"/>
              </a:lnRef>
              <a:fillRef idx="2">
                <a:schemeClr val="accent1"/>
              </a:fillRef>
              <a:effectRef idx="1">
                <a:schemeClr val="accent1"/>
              </a:effectRef>
              <a:fontRef idx="minor">
                <a:schemeClr val="dk1"/>
              </a:fontRef>
            </p:style>
            <p:txBody>
              <a:bodyPr rtlCol="0" anchor="ctr"/>
              <a:lstStyle/>
              <a:p>
                <a:pPr algn="ctr"/>
                <a14:m>
                  <m:oMath xmlns:m="http://schemas.openxmlformats.org/officeDocument/2006/math">
                    <m:r>
                      <a:rPr lang="en-GB" sz="2400" b="1" i="1" smtClean="0">
                        <a:latin typeface="Cambria Math"/>
                      </a:rPr>
                      <m:t>𝒏</m:t>
                    </m:r>
                  </m:oMath>
                </a14:m>
                <a:r>
                  <a:rPr lang="en-GB" sz="2400" b="1" dirty="0"/>
                  <a:t> = 242</a:t>
                </a:r>
              </a:p>
              <a:p>
                <a:pPr algn="ctr"/>
                <a:r>
                  <a:rPr lang="en-GB" sz="1400" dirty="0"/>
                  <a:t>Number of samples</a:t>
                </a:r>
              </a:p>
            </p:txBody>
          </p:sp>
        </mc:Choice>
        <mc:Fallback xmlns="">
          <p:sp>
            <p:nvSpPr>
              <p:cNvPr id="35" name="Flowchart: Predefined Process 34"/>
              <p:cNvSpPr>
                <a:spLocks noRot="1" noChangeAspect="1" noMove="1" noResize="1" noEditPoints="1" noAdjustHandles="1" noChangeArrowheads="1" noChangeShapeType="1" noTextEdit="1"/>
              </p:cNvSpPr>
              <p:nvPr/>
            </p:nvSpPr>
            <p:spPr>
              <a:xfrm>
                <a:off x="6172200" y="4029173"/>
                <a:ext cx="2286000" cy="609600"/>
              </a:xfrm>
              <a:prstGeom prst="flowChartPredefinedProcess">
                <a:avLst/>
              </a:prstGeom>
              <a:blipFill rotWithShape="1">
                <a:blip r:embed="rId12"/>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552501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5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5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500"/>
                                        <p:tgtEl>
                                          <p:spTgt spid="1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4"/>
                                        </p:tgtEl>
                                        <p:attrNameLst>
                                          <p:attrName>style.visibility</p:attrName>
                                        </p:attrNameLst>
                                      </p:cBhvr>
                                      <p:to>
                                        <p:strVal val="visible"/>
                                      </p:to>
                                    </p:set>
                                    <p:animEffect transition="in" filter="fade">
                                      <p:cBhvr>
                                        <p:cTn id="37" dur="500"/>
                                        <p:tgtEl>
                                          <p:spTgt spid="3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2"/>
                                        </p:tgtEl>
                                        <p:attrNameLst>
                                          <p:attrName>style.visibility</p:attrName>
                                        </p:attrNameLst>
                                      </p:cBhvr>
                                      <p:to>
                                        <p:strVal val="visible"/>
                                      </p:to>
                                    </p:set>
                                    <p:animEffect transition="in" filter="fade">
                                      <p:cBhvr>
                                        <p:cTn id="42" dur="500"/>
                                        <p:tgtEl>
                                          <p:spTgt spid="3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500"/>
                                        <p:tgtEl>
                                          <p:spTgt spid="20"/>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5"/>
                                        </p:tgtEl>
                                        <p:attrNameLst>
                                          <p:attrName>style.visibility</p:attrName>
                                        </p:attrNameLst>
                                      </p:cBhvr>
                                      <p:to>
                                        <p:strVal val="visible"/>
                                      </p:to>
                                    </p:set>
                                    <p:animEffect transition="in" filter="fade">
                                      <p:cBhvr>
                                        <p:cTn id="52"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22" grpId="0" animBg="1"/>
      <p:bldP spid="23" grpId="0" animBg="1"/>
      <p:bldP spid="24" grpId="0" animBg="1"/>
      <p:bldP spid="10" grpId="0" animBg="1"/>
      <p:bldP spid="17" grpId="0" animBg="1"/>
      <p:bldP spid="34" grpId="0" animBg="1"/>
      <p:bldP spid="32" grpId="0" animBg="1"/>
      <p:bldP spid="20" grpId="0" animBg="1"/>
      <p:bldP spid="35"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C86545-0827-44B0-A0D9-5D1F2D948E9C}"/>
              </a:ext>
            </a:extLst>
          </p:cNvPr>
          <p:cNvSpPr>
            <a:spLocks noGrp="1"/>
          </p:cNvSpPr>
          <p:nvPr>
            <p:ph type="title"/>
          </p:nvPr>
        </p:nvSpPr>
        <p:spPr/>
        <p:txBody>
          <a:bodyPr/>
          <a:lstStyle/>
          <a:p>
            <a:r>
              <a:rPr lang="en-US" dirty="0"/>
              <a:t>Exercise Problem 3</a:t>
            </a:r>
          </a:p>
        </p:txBody>
      </p:sp>
      <p:sp>
        <p:nvSpPr>
          <p:cNvPr id="4" name="TextBox 3">
            <a:extLst>
              <a:ext uri="{FF2B5EF4-FFF2-40B4-BE49-F238E27FC236}">
                <a16:creationId xmlns:a16="http://schemas.microsoft.com/office/drawing/2014/main" id="{8DDC6970-FB48-4219-85FC-D4CE2BCCACF7}"/>
              </a:ext>
            </a:extLst>
          </p:cNvPr>
          <p:cNvSpPr txBox="1"/>
          <p:nvPr/>
        </p:nvSpPr>
        <p:spPr>
          <a:xfrm>
            <a:off x="304800" y="838200"/>
            <a:ext cx="8229600" cy="1477328"/>
          </a:xfrm>
          <a:prstGeom prst="rect">
            <a:avLst/>
          </a:prstGeom>
          <a:noFill/>
        </p:spPr>
        <p:txBody>
          <a:bodyPr wrap="square">
            <a:spAutoFit/>
          </a:bodyPr>
          <a:lstStyle/>
          <a:p>
            <a:r>
              <a:rPr lang="en-GB" altLang="en-US" sz="1800" dirty="0"/>
              <a:t>A </a:t>
            </a:r>
            <a:r>
              <a:rPr lang="en-GB" altLang="en-US" sz="1800" b="1" dirty="0"/>
              <a:t>school</a:t>
            </a:r>
            <a:r>
              <a:rPr lang="en-GB" altLang="en-US" sz="1800" dirty="0"/>
              <a:t> is studying the final year student’s IQ to try to gauge their level </a:t>
            </a:r>
            <a:r>
              <a:rPr lang="en-GB" altLang="en-US" dirty="0"/>
              <a:t>of intellectual capability</a:t>
            </a:r>
            <a:r>
              <a:rPr lang="en-GB" altLang="en-US" sz="1800" dirty="0"/>
              <a:t>. It </a:t>
            </a:r>
            <a:r>
              <a:rPr lang="en-GB" altLang="en-US" sz="1800" b="1" dirty="0"/>
              <a:t>takes a sample of 135 students</a:t>
            </a:r>
            <a:r>
              <a:rPr lang="en-GB" altLang="en-US" sz="1800" dirty="0"/>
              <a:t>, and finds that the </a:t>
            </a:r>
            <a:r>
              <a:rPr lang="en-GB" altLang="en-US" sz="1800" b="1" dirty="0"/>
              <a:t>average IQ</a:t>
            </a:r>
            <a:r>
              <a:rPr lang="en-GB" altLang="en-US" sz="1800" dirty="0"/>
              <a:t> </a:t>
            </a:r>
            <a:r>
              <a:rPr lang="en-GB" altLang="en-US" sz="1800" b="1" dirty="0"/>
              <a:t>is 103.457 </a:t>
            </a:r>
            <a:r>
              <a:rPr lang="en-GB" altLang="en-US" sz="1800" dirty="0"/>
              <a:t>and the </a:t>
            </a:r>
            <a:r>
              <a:rPr lang="en-GB" altLang="en-US" sz="1800" b="1" dirty="0" err="1"/>
              <a:t>s.d</a:t>
            </a:r>
            <a:r>
              <a:rPr lang="en-GB" altLang="en-US" sz="1800" b="1" dirty="0"/>
              <a:t> </a:t>
            </a:r>
            <a:r>
              <a:rPr lang="en-GB" altLang="en-US" sz="1800" dirty="0"/>
              <a:t>of the sample </a:t>
            </a:r>
            <a:r>
              <a:rPr lang="en-GB" altLang="en-US" sz="1800" b="1" dirty="0"/>
              <a:t>is 7.323</a:t>
            </a:r>
            <a:r>
              <a:rPr lang="en-GB" altLang="en-US" sz="1800" dirty="0"/>
              <a:t>. </a:t>
            </a:r>
          </a:p>
          <a:p>
            <a:endParaRPr lang="en-GB" altLang="en-US" sz="1800" dirty="0"/>
          </a:p>
          <a:p>
            <a:r>
              <a:rPr lang="en-GB" altLang="en-US" sz="1800" b="1" dirty="0"/>
              <a:t>What is </a:t>
            </a:r>
            <a:r>
              <a:rPr lang="en-GB" altLang="en-US" sz="1800" dirty="0"/>
              <a:t>the </a:t>
            </a:r>
            <a:r>
              <a:rPr lang="en-GB" altLang="en-US" sz="1800" b="1" dirty="0"/>
              <a:t>99% confidence interval </a:t>
            </a:r>
            <a:r>
              <a:rPr lang="en-GB" altLang="en-US" sz="1800" dirty="0"/>
              <a:t>for the population mean?</a:t>
            </a:r>
            <a:endParaRPr lang="en-US" altLang="en-US" sz="1800" dirty="0"/>
          </a:p>
        </p:txBody>
      </p:sp>
      <p:grpSp>
        <p:nvGrpSpPr>
          <p:cNvPr id="5" name="Group 4">
            <a:extLst>
              <a:ext uri="{FF2B5EF4-FFF2-40B4-BE49-F238E27FC236}">
                <a16:creationId xmlns:a16="http://schemas.microsoft.com/office/drawing/2014/main" id="{9B662304-258E-4D28-97E8-11B2E24A406D}"/>
              </a:ext>
            </a:extLst>
          </p:cNvPr>
          <p:cNvGrpSpPr/>
          <p:nvPr/>
        </p:nvGrpSpPr>
        <p:grpSpPr>
          <a:xfrm>
            <a:off x="3822022" y="2841342"/>
            <a:ext cx="4098802" cy="844060"/>
            <a:chOff x="4114800" y="3429000"/>
            <a:chExt cx="4098802" cy="844060"/>
          </a:xfrm>
        </p:grpSpPr>
        <p:pic>
          <p:nvPicPr>
            <p:cNvPr id="6" name="Picture 10" descr="http://www.reflectiveresolutions.com/2014/wp-content/uploads/2015/03/BellCurve.png">
              <a:extLst>
                <a:ext uri="{FF2B5EF4-FFF2-40B4-BE49-F238E27FC236}">
                  <a16:creationId xmlns:a16="http://schemas.microsoft.com/office/drawing/2014/main" id="{008992B2-0A16-4B18-BF9D-B1672343C4B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17023" y="3429000"/>
              <a:ext cx="3896579" cy="834971"/>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491F6F3F-5678-44B5-9B63-E800BB4177D0}"/>
                </a:ext>
              </a:extLst>
            </p:cNvPr>
            <p:cNvSpPr/>
            <p:nvPr/>
          </p:nvSpPr>
          <p:spPr>
            <a:xfrm>
              <a:off x="4114800" y="3429000"/>
              <a:ext cx="457200" cy="8440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F4D6CF52-0598-40FF-B94C-BB9C1BCB05CB}"/>
                  </a:ext>
                </a:extLst>
              </p:cNvPr>
              <p:cNvSpPr/>
              <p:nvPr/>
            </p:nvSpPr>
            <p:spPr>
              <a:xfrm>
                <a:off x="685800" y="2814512"/>
                <a:ext cx="2133600" cy="155128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GB" sz="1600" b="1" i="0" dirty="0">
                    <a:latin typeface="+mj-lt"/>
                    <a:ea typeface="Cambria Math"/>
                  </a:rPr>
                  <a:t>Calculate STEM:</a:t>
                </a:r>
                <a:endParaRPr lang="en-GB" sz="1600" b="1" i="1" dirty="0">
                  <a:latin typeface="Cambria Math"/>
                  <a:ea typeface="Cambria Math"/>
                </a:endParaRPr>
              </a:p>
              <a:p>
                <a:pPr algn="ctr"/>
                <a14:m>
                  <m:oMathPara xmlns:m="http://schemas.openxmlformats.org/officeDocument/2006/math">
                    <m:oMathParaPr>
                      <m:jc m:val="center"/>
                    </m:oMathParaPr>
                    <m:oMath xmlns:m="http://schemas.openxmlformats.org/officeDocument/2006/math">
                      <m:sSub>
                        <m:sSubPr>
                          <m:ctrlPr>
                            <a:rPr lang="en-GB" sz="2400" i="1">
                              <a:latin typeface="Cambria Math" panose="02040503050406030204" pitchFamily="18" charset="0"/>
                              <a:ea typeface="Cambria Math"/>
                            </a:rPr>
                          </m:ctrlPr>
                        </m:sSubPr>
                        <m:e>
                          <m:r>
                            <a:rPr lang="en-GB" sz="2400" i="1">
                              <a:latin typeface="Cambria Math"/>
                              <a:ea typeface="Cambria Math"/>
                            </a:rPr>
                            <m:t>𝜎</m:t>
                          </m:r>
                        </m:e>
                        <m:sub>
                          <m:acc>
                            <m:accPr>
                              <m:chr m:val="̅"/>
                              <m:ctrlPr>
                                <a:rPr lang="en-GB" sz="2400" i="1">
                                  <a:latin typeface="Cambria Math" panose="02040503050406030204" pitchFamily="18" charset="0"/>
                                  <a:ea typeface="Cambria Math"/>
                                </a:rPr>
                              </m:ctrlPr>
                            </m:accPr>
                            <m:e>
                              <m:r>
                                <a:rPr lang="en-GB" sz="2400" i="1">
                                  <a:latin typeface="Cambria Math"/>
                                  <a:ea typeface="Cambria Math"/>
                                </a:rPr>
                                <m:t>𝑥</m:t>
                              </m:r>
                            </m:e>
                          </m:acc>
                        </m:sub>
                      </m:sSub>
                      <m:r>
                        <a:rPr lang="en-GB" b="0" i="1" smtClean="0">
                          <a:latin typeface="Cambria Math"/>
                          <a:ea typeface="Cambria Math"/>
                        </a:rPr>
                        <m:t>=</m:t>
                      </m:r>
                      <m:f>
                        <m:fPr>
                          <m:ctrlPr>
                            <a:rPr lang="en-GB" i="1">
                              <a:latin typeface="Cambria Math" panose="02040503050406030204" pitchFamily="18" charset="0"/>
                              <a:ea typeface="Cambria Math"/>
                            </a:rPr>
                          </m:ctrlPr>
                        </m:fPr>
                        <m:num>
                          <m:r>
                            <a:rPr lang="en-GB" b="0" i="1" smtClean="0">
                              <a:latin typeface="Cambria Math"/>
                              <a:ea typeface="Cambria Math"/>
                            </a:rPr>
                            <m:t>𝑠</m:t>
                          </m:r>
                        </m:num>
                        <m:den>
                          <m:rad>
                            <m:radPr>
                              <m:degHide m:val="on"/>
                              <m:ctrlPr>
                                <a:rPr lang="en-GB" i="1">
                                  <a:latin typeface="Cambria Math" panose="02040503050406030204" pitchFamily="18" charset="0"/>
                                  <a:ea typeface="Cambria Math"/>
                                </a:rPr>
                              </m:ctrlPr>
                            </m:radPr>
                            <m:deg/>
                            <m:e>
                              <m:r>
                                <a:rPr lang="en-GB" b="0" i="1" smtClean="0">
                                  <a:latin typeface="Cambria Math"/>
                                  <a:ea typeface="Cambria Math"/>
                                </a:rPr>
                                <m:t>𝑛</m:t>
                              </m:r>
                            </m:e>
                          </m:rad>
                        </m:den>
                      </m:f>
                    </m:oMath>
                  </m:oMathPara>
                </a14:m>
                <a:endParaRPr lang="en-GB" sz="2400" dirty="0"/>
              </a:p>
              <a:p>
                <a14:m>
                  <m:oMath xmlns:m="http://schemas.openxmlformats.org/officeDocument/2006/math">
                    <m:r>
                      <a:rPr lang="en-GB" sz="1200" b="0" i="1" smtClean="0">
                        <a:latin typeface="Cambria Math"/>
                        <a:ea typeface="Cambria Math"/>
                      </a:rPr>
                      <m:t>𝑠</m:t>
                    </m:r>
                    <m:r>
                      <a:rPr lang="en-GB" sz="1200" i="1">
                        <a:latin typeface="Cambria Math"/>
                        <a:ea typeface="Cambria Math"/>
                      </a:rPr>
                      <m:t> </m:t>
                    </m:r>
                  </m:oMath>
                </a14:m>
                <a:r>
                  <a:rPr lang="en-US" altLang="en-US" sz="1200" dirty="0"/>
                  <a:t>= sample standard deviation</a:t>
                </a:r>
              </a:p>
              <a:p>
                <a14:m>
                  <m:oMath xmlns:m="http://schemas.openxmlformats.org/officeDocument/2006/math">
                    <m:r>
                      <a:rPr lang="en-US" altLang="en-US" sz="1200" i="1" dirty="0" smtClean="0">
                        <a:latin typeface="Cambria Math"/>
                      </a:rPr>
                      <m:t>𝑛</m:t>
                    </m:r>
                  </m:oMath>
                </a14:m>
                <a:r>
                  <a:rPr lang="en-US" altLang="en-US" sz="1200" dirty="0"/>
                  <a:t> = number in sample</a:t>
                </a:r>
                <a:endParaRPr lang="en-GB" sz="1200" dirty="0"/>
              </a:p>
            </p:txBody>
          </p:sp>
        </mc:Choice>
        <mc:Fallback xmlns="">
          <p:sp>
            <p:nvSpPr>
              <p:cNvPr id="8" name="Rectangle 7">
                <a:extLst>
                  <a:ext uri="{FF2B5EF4-FFF2-40B4-BE49-F238E27FC236}">
                    <a16:creationId xmlns:a16="http://schemas.microsoft.com/office/drawing/2014/main" id="{F4D6CF52-0598-40FF-B94C-BB9C1BCB05CB}"/>
                  </a:ext>
                </a:extLst>
              </p:cNvPr>
              <p:cNvSpPr>
                <a:spLocks noRot="1" noChangeAspect="1" noMove="1" noResize="1" noEditPoints="1" noAdjustHandles="1" noChangeArrowheads="1" noChangeShapeType="1" noTextEdit="1"/>
              </p:cNvSpPr>
              <p:nvPr/>
            </p:nvSpPr>
            <p:spPr>
              <a:xfrm>
                <a:off x="685800" y="2814512"/>
                <a:ext cx="2133600" cy="155128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6D0FAA22-87E3-48F4-89C1-0DAF899098EB}"/>
                  </a:ext>
                </a:extLst>
              </p:cNvPr>
              <p:cNvSpPr/>
              <p:nvPr/>
            </p:nvSpPr>
            <p:spPr>
              <a:xfrm>
                <a:off x="685800" y="2819400"/>
                <a:ext cx="2133600" cy="155128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GB" sz="1600" b="1" i="0" dirty="0">
                    <a:latin typeface="+mj-lt"/>
                    <a:ea typeface="Cambria Math"/>
                  </a:rPr>
                  <a:t>Calculate STEM:</a:t>
                </a:r>
                <a:endParaRPr lang="en-GB" sz="1600" b="1" i="1" dirty="0">
                  <a:latin typeface="Cambria Math"/>
                  <a:ea typeface="Cambria Math"/>
                </a:endParaRPr>
              </a:p>
              <a:p>
                <a:pPr algn="ctr"/>
                <a14:m>
                  <m:oMathPara xmlns:m="http://schemas.openxmlformats.org/officeDocument/2006/math">
                    <m:oMathParaPr>
                      <m:jc m:val="center"/>
                    </m:oMathParaPr>
                    <m:oMath xmlns:m="http://schemas.openxmlformats.org/officeDocument/2006/math">
                      <m:sSub>
                        <m:sSubPr>
                          <m:ctrlPr>
                            <a:rPr lang="en-GB" sz="2400" i="1">
                              <a:latin typeface="Cambria Math" panose="02040503050406030204" pitchFamily="18" charset="0"/>
                              <a:ea typeface="Cambria Math"/>
                            </a:rPr>
                          </m:ctrlPr>
                        </m:sSubPr>
                        <m:e>
                          <m:r>
                            <a:rPr lang="en-GB" sz="2400" i="1">
                              <a:latin typeface="Cambria Math"/>
                              <a:ea typeface="Cambria Math"/>
                            </a:rPr>
                            <m:t>𝜎</m:t>
                          </m:r>
                        </m:e>
                        <m:sub>
                          <m:acc>
                            <m:accPr>
                              <m:chr m:val="̅"/>
                              <m:ctrlPr>
                                <a:rPr lang="en-GB" sz="2400" i="1">
                                  <a:latin typeface="Cambria Math" panose="02040503050406030204" pitchFamily="18" charset="0"/>
                                  <a:ea typeface="Cambria Math"/>
                                </a:rPr>
                              </m:ctrlPr>
                            </m:accPr>
                            <m:e>
                              <m:r>
                                <a:rPr lang="en-GB" sz="2400" i="1">
                                  <a:latin typeface="Cambria Math"/>
                                  <a:ea typeface="Cambria Math"/>
                                </a:rPr>
                                <m:t>𝑥</m:t>
                              </m:r>
                            </m:e>
                          </m:acc>
                        </m:sub>
                      </m:sSub>
                      <m:r>
                        <a:rPr lang="en-GB" b="0" i="1" smtClean="0">
                          <a:latin typeface="Cambria Math"/>
                          <a:ea typeface="Cambria Math"/>
                        </a:rPr>
                        <m:t>=</m:t>
                      </m:r>
                      <m:f>
                        <m:fPr>
                          <m:ctrlPr>
                            <a:rPr lang="en-GB" i="1">
                              <a:latin typeface="Cambria Math" panose="02040503050406030204" pitchFamily="18" charset="0"/>
                              <a:ea typeface="Cambria Math"/>
                            </a:rPr>
                          </m:ctrlPr>
                        </m:fPr>
                        <m:num>
                          <m:r>
                            <m:rPr>
                              <m:nor/>
                            </m:rPr>
                            <a:rPr lang="en-GB" altLang="en-US" b="1" dirty="0"/>
                            <m:t>7.323</m:t>
                          </m:r>
                        </m:num>
                        <m:den>
                          <m:rad>
                            <m:radPr>
                              <m:degHide m:val="on"/>
                              <m:ctrlPr>
                                <a:rPr lang="en-GB" i="1">
                                  <a:latin typeface="Cambria Math" panose="02040503050406030204" pitchFamily="18" charset="0"/>
                                  <a:ea typeface="Cambria Math"/>
                                </a:rPr>
                              </m:ctrlPr>
                            </m:radPr>
                            <m:deg/>
                            <m:e>
                              <m:r>
                                <a:rPr lang="en-US" b="0" i="1" smtClean="0">
                                  <a:latin typeface="Cambria Math" panose="02040503050406030204" pitchFamily="18" charset="0"/>
                                  <a:ea typeface="Cambria Math"/>
                                </a:rPr>
                                <m:t>135</m:t>
                              </m:r>
                            </m:e>
                          </m:rad>
                        </m:den>
                      </m:f>
                    </m:oMath>
                  </m:oMathPara>
                </a14:m>
                <a:endParaRPr lang="en-GB" sz="2400" dirty="0"/>
              </a:p>
              <a:p>
                <a14:m>
                  <m:oMath xmlns:m="http://schemas.openxmlformats.org/officeDocument/2006/math">
                    <m:r>
                      <a:rPr lang="en-GB" sz="1200" b="0" i="1" smtClean="0">
                        <a:latin typeface="Cambria Math"/>
                        <a:ea typeface="Cambria Math"/>
                      </a:rPr>
                      <m:t>𝑠</m:t>
                    </m:r>
                    <m:r>
                      <a:rPr lang="en-GB" sz="1200" i="1">
                        <a:latin typeface="Cambria Math"/>
                        <a:ea typeface="Cambria Math"/>
                      </a:rPr>
                      <m:t> </m:t>
                    </m:r>
                  </m:oMath>
                </a14:m>
                <a:r>
                  <a:rPr lang="en-US" altLang="en-US" sz="1200" dirty="0"/>
                  <a:t>= sample standard deviation</a:t>
                </a:r>
              </a:p>
              <a:p>
                <a14:m>
                  <m:oMath xmlns:m="http://schemas.openxmlformats.org/officeDocument/2006/math">
                    <m:r>
                      <a:rPr lang="en-US" altLang="en-US" sz="1200" i="1" dirty="0" smtClean="0">
                        <a:latin typeface="Cambria Math"/>
                      </a:rPr>
                      <m:t>𝑛</m:t>
                    </m:r>
                  </m:oMath>
                </a14:m>
                <a:r>
                  <a:rPr lang="en-US" altLang="en-US" sz="1200" dirty="0"/>
                  <a:t> = number in sample</a:t>
                </a:r>
                <a:endParaRPr lang="en-GB" sz="1200" dirty="0"/>
              </a:p>
            </p:txBody>
          </p:sp>
        </mc:Choice>
        <mc:Fallback xmlns="">
          <p:sp>
            <p:nvSpPr>
              <p:cNvPr id="9" name="Rectangle 8">
                <a:extLst>
                  <a:ext uri="{FF2B5EF4-FFF2-40B4-BE49-F238E27FC236}">
                    <a16:creationId xmlns:a16="http://schemas.microsoft.com/office/drawing/2014/main" id="{6D0FAA22-87E3-48F4-89C1-0DAF899098EB}"/>
                  </a:ext>
                </a:extLst>
              </p:cNvPr>
              <p:cNvSpPr>
                <a:spLocks noRot="1" noChangeAspect="1" noMove="1" noResize="1" noEditPoints="1" noAdjustHandles="1" noChangeArrowheads="1" noChangeShapeType="1" noTextEdit="1"/>
              </p:cNvSpPr>
              <p:nvPr/>
            </p:nvSpPr>
            <p:spPr>
              <a:xfrm>
                <a:off x="685800" y="2819400"/>
                <a:ext cx="2133600" cy="1551280"/>
              </a:xfrm>
              <a:prstGeom prst="rect">
                <a:avLst/>
              </a:prstGeom>
              <a:blipFill>
                <a:blip r:embed="rId4"/>
                <a:stretch>
                  <a:fillRect/>
                </a:stretch>
              </a:blipFill>
            </p:spPr>
            <p:txBody>
              <a:bodyPr/>
              <a:lstStyle/>
              <a:p>
                <a:r>
                  <a:rPr lang="en-US">
                    <a:noFill/>
                  </a:rPr>
                  <a:t> </a:t>
                </a:r>
              </a:p>
            </p:txBody>
          </p:sp>
        </mc:Fallback>
      </mc:AlternateContent>
      <p:sp>
        <p:nvSpPr>
          <p:cNvPr id="10" name="Rectangle 9">
            <a:extLst>
              <a:ext uri="{FF2B5EF4-FFF2-40B4-BE49-F238E27FC236}">
                <a16:creationId xmlns:a16="http://schemas.microsoft.com/office/drawing/2014/main" id="{C5D0252E-9361-4E1C-A9C6-7CA3EDB085AE}"/>
              </a:ext>
            </a:extLst>
          </p:cNvPr>
          <p:cNvSpPr/>
          <p:nvPr/>
        </p:nvSpPr>
        <p:spPr>
          <a:xfrm>
            <a:off x="4100556" y="3244334"/>
            <a:ext cx="300082" cy="369332"/>
          </a:xfrm>
          <a:prstGeom prst="rect">
            <a:avLst/>
          </a:prstGeom>
        </p:spPr>
        <p:txBody>
          <a:bodyPr wrap="none">
            <a:spAutoFit/>
          </a:bodyPr>
          <a:lstStyle/>
          <a:p>
            <a:r>
              <a:rPr lang="en-GB" dirty="0"/>
              <a:t>=</a:t>
            </a:r>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1C98B538-8A6B-4C03-956F-D6C9BD3FA937}"/>
                  </a:ext>
                </a:extLst>
              </p:cNvPr>
              <p:cNvSpPr/>
              <p:nvPr/>
            </p:nvSpPr>
            <p:spPr>
              <a:xfrm>
                <a:off x="2461181" y="3338661"/>
                <a:ext cx="1143000" cy="374408"/>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14:m>
                  <m:oMathPara xmlns:m="http://schemas.openxmlformats.org/officeDocument/2006/math">
                    <m:oMathParaPr>
                      <m:jc m:val="center"/>
                    </m:oMathParaPr>
                    <m:oMath xmlns:m="http://schemas.openxmlformats.org/officeDocument/2006/math">
                      <m:r>
                        <m:rPr>
                          <m:nor/>
                        </m:rPr>
                        <a:rPr lang="en-GB" sz="2000" b="0" i="0" dirty="0" smtClean="0"/>
                        <m:t>= </m:t>
                      </m:r>
                      <m:r>
                        <m:rPr>
                          <m:nor/>
                        </m:rPr>
                        <a:rPr lang="en-US" sz="2000" b="0" i="0" dirty="0" smtClean="0"/>
                        <m:t>0.6302</m:t>
                      </m:r>
                    </m:oMath>
                  </m:oMathPara>
                </a14:m>
                <a:endParaRPr lang="en-GB" sz="2800" dirty="0"/>
              </a:p>
            </p:txBody>
          </p:sp>
        </mc:Choice>
        <mc:Fallback xmlns="">
          <p:sp>
            <p:nvSpPr>
              <p:cNvPr id="11" name="Rectangle 10">
                <a:extLst>
                  <a:ext uri="{FF2B5EF4-FFF2-40B4-BE49-F238E27FC236}">
                    <a16:creationId xmlns:a16="http://schemas.microsoft.com/office/drawing/2014/main" id="{1C98B538-8A6B-4C03-956F-D6C9BD3FA937}"/>
                  </a:ext>
                </a:extLst>
              </p:cNvPr>
              <p:cNvSpPr>
                <a:spLocks noRot="1" noChangeAspect="1" noMove="1" noResize="1" noEditPoints="1" noAdjustHandles="1" noChangeArrowheads="1" noChangeShapeType="1" noTextEdit="1"/>
              </p:cNvSpPr>
              <p:nvPr/>
            </p:nvSpPr>
            <p:spPr>
              <a:xfrm>
                <a:off x="2461181" y="3338661"/>
                <a:ext cx="1143000" cy="374408"/>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ular Callout 30">
                <a:extLst>
                  <a:ext uri="{FF2B5EF4-FFF2-40B4-BE49-F238E27FC236}">
                    <a16:creationId xmlns:a16="http://schemas.microsoft.com/office/drawing/2014/main" id="{E73DD6CA-5A5F-4A55-B8C2-56C6DF2F9105}"/>
                  </a:ext>
                </a:extLst>
              </p:cNvPr>
              <p:cNvSpPr/>
              <p:nvPr/>
            </p:nvSpPr>
            <p:spPr>
              <a:xfrm>
                <a:off x="3581400" y="3975585"/>
                <a:ext cx="1726234" cy="444015"/>
              </a:xfrm>
              <a:prstGeom prst="wedgeRectCallout">
                <a:avLst>
                  <a:gd name="adj1" fmla="val 42404"/>
                  <a:gd name="adj2" fmla="val -106451"/>
                </a:avLst>
              </a:prstGeom>
              <a:ln>
                <a:solidFill>
                  <a:schemeClr val="bg1">
                    <a:lumMod val="6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acc>
                        <m:accPr>
                          <m:chr m:val="̅"/>
                          <m:ctrlPr>
                            <a:rPr lang="en-GB" sz="1400" i="1">
                              <a:latin typeface="Cambria Math" panose="02040503050406030204" pitchFamily="18" charset="0"/>
                              <a:ea typeface="Cambria Math"/>
                            </a:rPr>
                          </m:ctrlPr>
                        </m:accPr>
                        <m:e>
                          <m:r>
                            <a:rPr lang="en-GB" sz="1400" i="1">
                              <a:latin typeface="Cambria Math"/>
                              <a:ea typeface="Cambria Math"/>
                            </a:rPr>
                            <m:t>𝑥</m:t>
                          </m:r>
                        </m:e>
                      </m:acc>
                      <m:r>
                        <a:rPr lang="en-GB" sz="1400" i="1">
                          <a:latin typeface="Cambria Math"/>
                          <a:ea typeface="Cambria Math"/>
                        </a:rPr>
                        <m:t> </m:t>
                      </m:r>
                      <m:r>
                        <a:rPr lang="en-GB" sz="1400" b="0" i="1" smtClean="0">
                          <a:latin typeface="Cambria Math"/>
                        </a:rPr>
                        <m:t>−</m:t>
                      </m:r>
                      <m:sSub>
                        <m:sSubPr>
                          <m:ctrlPr>
                            <a:rPr lang="en-GB" sz="1400" i="1">
                              <a:latin typeface="Cambria Math" panose="02040503050406030204" pitchFamily="18" charset="0"/>
                              <a:ea typeface="Cambria Math"/>
                            </a:rPr>
                          </m:ctrlPr>
                        </m:sSubPr>
                        <m:e>
                          <m:r>
                            <a:rPr lang="en-GB" sz="1400" i="1">
                              <a:latin typeface="Cambria Math"/>
                              <a:ea typeface="Cambria Math"/>
                            </a:rPr>
                            <m:t>𝜎</m:t>
                          </m:r>
                        </m:e>
                        <m:sub>
                          <m:acc>
                            <m:accPr>
                              <m:chr m:val="̅"/>
                              <m:ctrlPr>
                                <a:rPr lang="en-GB" sz="1400" i="1">
                                  <a:latin typeface="Cambria Math" panose="02040503050406030204" pitchFamily="18" charset="0"/>
                                  <a:ea typeface="Cambria Math"/>
                                </a:rPr>
                              </m:ctrlPr>
                            </m:accPr>
                            <m:e>
                              <m:r>
                                <a:rPr lang="en-GB" sz="1400" i="1">
                                  <a:latin typeface="Cambria Math"/>
                                  <a:ea typeface="Cambria Math"/>
                                </a:rPr>
                                <m:t>𝑥</m:t>
                              </m:r>
                            </m:e>
                          </m:acc>
                        </m:sub>
                      </m:sSub>
                      <m:sSub>
                        <m:sSubPr>
                          <m:ctrlPr>
                            <a:rPr lang="en-GB" sz="1400" i="1">
                              <a:latin typeface="Cambria Math" panose="02040503050406030204" pitchFamily="18" charset="0"/>
                            </a:rPr>
                          </m:ctrlPr>
                        </m:sSubPr>
                        <m:e>
                          <m:r>
                            <a:rPr lang="en-GB" sz="1400" i="1">
                              <a:latin typeface="Cambria Math"/>
                            </a:rPr>
                            <m:t>𝑍</m:t>
                          </m:r>
                        </m:e>
                        <m:sub>
                          <m:r>
                            <a:rPr lang="en-GB" sz="1400" i="1">
                              <a:latin typeface="Cambria Math"/>
                            </a:rPr>
                            <m:t>𝑐𝑟𝑖𝑡</m:t>
                          </m:r>
                        </m:sub>
                      </m:sSub>
                    </m:oMath>
                  </m:oMathPara>
                </a14:m>
                <a:endParaRPr lang="en-GB" sz="1400" b="1" dirty="0"/>
              </a:p>
            </p:txBody>
          </p:sp>
        </mc:Choice>
        <mc:Fallback xmlns="">
          <p:sp>
            <p:nvSpPr>
              <p:cNvPr id="12" name="Rectangular Callout 30">
                <a:extLst>
                  <a:ext uri="{FF2B5EF4-FFF2-40B4-BE49-F238E27FC236}">
                    <a16:creationId xmlns:a16="http://schemas.microsoft.com/office/drawing/2014/main" id="{E73DD6CA-5A5F-4A55-B8C2-56C6DF2F9105}"/>
                  </a:ext>
                </a:extLst>
              </p:cNvPr>
              <p:cNvSpPr>
                <a:spLocks noRot="1" noChangeAspect="1" noMove="1" noResize="1" noEditPoints="1" noAdjustHandles="1" noChangeArrowheads="1" noChangeShapeType="1" noTextEdit="1"/>
              </p:cNvSpPr>
              <p:nvPr/>
            </p:nvSpPr>
            <p:spPr>
              <a:xfrm>
                <a:off x="3581400" y="3975585"/>
                <a:ext cx="1726234" cy="444015"/>
              </a:xfrm>
              <a:prstGeom prst="wedgeRectCallout">
                <a:avLst>
                  <a:gd name="adj1" fmla="val 42404"/>
                  <a:gd name="adj2" fmla="val -106451"/>
                </a:avLst>
              </a:prstGeom>
              <a:blipFill>
                <a:blip r:embed="rId6"/>
                <a:stretch>
                  <a:fillRect/>
                </a:stretch>
              </a:blipFill>
              <a:ln>
                <a:solidFill>
                  <a:schemeClr val="bg1">
                    <a:lumMod val="65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ular Callout 31">
                <a:extLst>
                  <a:ext uri="{FF2B5EF4-FFF2-40B4-BE49-F238E27FC236}">
                    <a16:creationId xmlns:a16="http://schemas.microsoft.com/office/drawing/2014/main" id="{E93540E2-ABFF-46B3-8E92-3A6F513AFFC3}"/>
                  </a:ext>
                </a:extLst>
              </p:cNvPr>
              <p:cNvSpPr/>
              <p:nvPr/>
            </p:nvSpPr>
            <p:spPr>
              <a:xfrm>
                <a:off x="6400800" y="3975585"/>
                <a:ext cx="1726234" cy="444015"/>
              </a:xfrm>
              <a:prstGeom prst="wedgeRectCallout">
                <a:avLst>
                  <a:gd name="adj1" fmla="val -37052"/>
                  <a:gd name="adj2" fmla="val -100510"/>
                </a:avLst>
              </a:prstGeom>
              <a:ln>
                <a:solidFill>
                  <a:schemeClr val="bg1">
                    <a:lumMod val="65000"/>
                  </a:schemeClr>
                </a:solidFill>
              </a:ln>
            </p:spPr>
            <p:style>
              <a:lnRef idx="1">
                <a:schemeClr val="dk1"/>
              </a:lnRef>
              <a:fillRef idx="2">
                <a:schemeClr val="dk1"/>
              </a:fillRef>
              <a:effectRef idx="1">
                <a:schemeClr val="dk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acc>
                        <m:accPr>
                          <m:chr m:val="̅"/>
                          <m:ctrlPr>
                            <a:rPr lang="en-GB" sz="1400" i="1">
                              <a:latin typeface="Cambria Math" panose="02040503050406030204" pitchFamily="18" charset="0"/>
                              <a:ea typeface="Cambria Math"/>
                            </a:rPr>
                          </m:ctrlPr>
                        </m:accPr>
                        <m:e>
                          <m:r>
                            <a:rPr lang="en-GB" sz="1400" i="1">
                              <a:latin typeface="Cambria Math"/>
                              <a:ea typeface="Cambria Math"/>
                            </a:rPr>
                            <m:t>𝑥</m:t>
                          </m:r>
                        </m:e>
                      </m:acc>
                      <m:r>
                        <a:rPr lang="en-GB" sz="1400" b="0" i="1" smtClean="0">
                          <a:latin typeface="Cambria Math"/>
                        </a:rPr>
                        <m:t>+</m:t>
                      </m:r>
                      <m:sSub>
                        <m:sSubPr>
                          <m:ctrlPr>
                            <a:rPr lang="en-GB" sz="1400" i="1">
                              <a:latin typeface="Cambria Math" panose="02040503050406030204" pitchFamily="18" charset="0"/>
                              <a:ea typeface="Cambria Math"/>
                            </a:rPr>
                          </m:ctrlPr>
                        </m:sSubPr>
                        <m:e>
                          <m:r>
                            <a:rPr lang="en-GB" sz="1400" i="1">
                              <a:latin typeface="Cambria Math"/>
                              <a:ea typeface="Cambria Math"/>
                            </a:rPr>
                            <m:t>𝜎</m:t>
                          </m:r>
                        </m:e>
                        <m:sub>
                          <m:acc>
                            <m:accPr>
                              <m:chr m:val="̅"/>
                              <m:ctrlPr>
                                <a:rPr lang="en-GB" sz="1400" i="1">
                                  <a:latin typeface="Cambria Math" panose="02040503050406030204" pitchFamily="18" charset="0"/>
                                  <a:ea typeface="Cambria Math"/>
                                </a:rPr>
                              </m:ctrlPr>
                            </m:accPr>
                            <m:e>
                              <m:r>
                                <a:rPr lang="en-GB" sz="1400" i="1">
                                  <a:latin typeface="Cambria Math"/>
                                  <a:ea typeface="Cambria Math"/>
                                </a:rPr>
                                <m:t>𝑥</m:t>
                              </m:r>
                            </m:e>
                          </m:acc>
                        </m:sub>
                      </m:sSub>
                      <m:sSub>
                        <m:sSubPr>
                          <m:ctrlPr>
                            <a:rPr lang="en-GB" sz="1400" i="1">
                              <a:latin typeface="Cambria Math" panose="02040503050406030204" pitchFamily="18" charset="0"/>
                            </a:rPr>
                          </m:ctrlPr>
                        </m:sSubPr>
                        <m:e>
                          <m:r>
                            <a:rPr lang="en-GB" sz="1400" i="1">
                              <a:latin typeface="Cambria Math"/>
                            </a:rPr>
                            <m:t>𝑍</m:t>
                          </m:r>
                        </m:e>
                        <m:sub>
                          <m:r>
                            <a:rPr lang="en-GB" sz="1400" i="1">
                              <a:latin typeface="Cambria Math"/>
                            </a:rPr>
                            <m:t>𝑐𝑟𝑖𝑡</m:t>
                          </m:r>
                        </m:sub>
                      </m:sSub>
                    </m:oMath>
                  </m:oMathPara>
                </a14:m>
                <a:endParaRPr lang="en-GB" sz="1400" b="1" dirty="0"/>
              </a:p>
            </p:txBody>
          </p:sp>
        </mc:Choice>
        <mc:Fallback xmlns="">
          <p:sp>
            <p:nvSpPr>
              <p:cNvPr id="13" name="Rectangular Callout 31">
                <a:extLst>
                  <a:ext uri="{FF2B5EF4-FFF2-40B4-BE49-F238E27FC236}">
                    <a16:creationId xmlns:a16="http://schemas.microsoft.com/office/drawing/2014/main" id="{E93540E2-ABFF-46B3-8E92-3A6F513AFFC3}"/>
                  </a:ext>
                </a:extLst>
              </p:cNvPr>
              <p:cNvSpPr>
                <a:spLocks noRot="1" noChangeAspect="1" noMove="1" noResize="1" noEditPoints="1" noAdjustHandles="1" noChangeArrowheads="1" noChangeShapeType="1" noTextEdit="1"/>
              </p:cNvSpPr>
              <p:nvPr/>
            </p:nvSpPr>
            <p:spPr>
              <a:xfrm>
                <a:off x="6400800" y="3975585"/>
                <a:ext cx="1726234" cy="444015"/>
              </a:xfrm>
              <a:prstGeom prst="wedgeRectCallout">
                <a:avLst>
                  <a:gd name="adj1" fmla="val -37052"/>
                  <a:gd name="adj2" fmla="val -100510"/>
                </a:avLst>
              </a:prstGeom>
              <a:blipFill>
                <a:blip r:embed="rId7"/>
                <a:stretch>
                  <a:fillRect/>
                </a:stretch>
              </a:blipFill>
              <a:ln>
                <a:solidFill>
                  <a:schemeClr val="bg1">
                    <a:lumMod val="65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29C21D7E-1524-4535-A3F7-8F546947B9D2}"/>
                  </a:ext>
                </a:extLst>
              </p:cNvPr>
              <p:cNvSpPr/>
              <p:nvPr/>
            </p:nvSpPr>
            <p:spPr>
              <a:xfrm>
                <a:off x="3531566" y="4343400"/>
                <a:ext cx="1726234" cy="444015"/>
              </a:xfrm>
              <a:prstGeom prst="rect">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GB" sz="1200" b="0" i="1" smtClean="0">
                          <a:latin typeface="Cambria Math"/>
                        </a:rPr>
                        <m:t>1</m:t>
                      </m:r>
                      <m:r>
                        <a:rPr lang="en-US" sz="1200" b="0" i="1" smtClean="0">
                          <a:latin typeface="Cambria Math" panose="02040503050406030204" pitchFamily="18" charset="0"/>
                        </a:rPr>
                        <m:t>03</m:t>
                      </m:r>
                      <m:r>
                        <a:rPr lang="en-GB" sz="1200" b="0" i="1" smtClean="0">
                          <a:latin typeface="Cambria Math"/>
                        </a:rPr>
                        <m:t>.</m:t>
                      </m:r>
                      <m:r>
                        <a:rPr lang="en-US" sz="1200" b="0" i="1" smtClean="0">
                          <a:latin typeface="Cambria Math" panose="02040503050406030204" pitchFamily="18" charset="0"/>
                        </a:rPr>
                        <m:t>45</m:t>
                      </m:r>
                      <m:r>
                        <a:rPr lang="en-GB" sz="1200" b="0" i="1" smtClean="0">
                          <a:latin typeface="Cambria Math"/>
                        </a:rPr>
                        <m:t>7−</m:t>
                      </m:r>
                      <m:r>
                        <a:rPr lang="en-GB" sz="1200" i="1">
                          <a:latin typeface="Cambria Math"/>
                          <a:ea typeface="Cambria Math"/>
                        </a:rPr>
                        <m:t>(.</m:t>
                      </m:r>
                      <m:r>
                        <a:rPr lang="en-US" sz="1200" b="0" i="1" smtClean="0">
                          <a:latin typeface="Cambria Math" panose="02040503050406030204" pitchFamily="18" charset="0"/>
                          <a:ea typeface="Cambria Math"/>
                        </a:rPr>
                        <m:t>6302</m:t>
                      </m:r>
                      <m:r>
                        <a:rPr lang="en-GB" sz="1200" i="1">
                          <a:latin typeface="Cambria Math"/>
                        </a:rPr>
                        <m:t>)</m:t>
                      </m:r>
                      <m:r>
                        <a:rPr lang="en-GB" sz="1200" b="0" i="1" smtClean="0">
                          <a:latin typeface="Cambria Math"/>
                        </a:rPr>
                        <m:t>(</m:t>
                      </m:r>
                      <m:r>
                        <a:rPr lang="en-US" sz="1200" b="0" i="1" smtClean="0">
                          <a:latin typeface="Cambria Math" panose="02040503050406030204" pitchFamily="18" charset="0"/>
                        </a:rPr>
                        <m:t>2.576</m:t>
                      </m:r>
                      <m:r>
                        <a:rPr lang="en-GB" sz="1200" b="0" i="1" smtClean="0">
                          <a:latin typeface="Cambria Math"/>
                        </a:rPr>
                        <m:t>)</m:t>
                      </m:r>
                    </m:oMath>
                  </m:oMathPara>
                </a14:m>
                <a:endParaRPr lang="en-GB" sz="1200" b="1" dirty="0"/>
              </a:p>
            </p:txBody>
          </p:sp>
        </mc:Choice>
        <mc:Fallback xmlns="">
          <p:sp>
            <p:nvSpPr>
              <p:cNvPr id="14" name="Rectangle 13">
                <a:extLst>
                  <a:ext uri="{FF2B5EF4-FFF2-40B4-BE49-F238E27FC236}">
                    <a16:creationId xmlns:a16="http://schemas.microsoft.com/office/drawing/2014/main" id="{29C21D7E-1524-4535-A3F7-8F546947B9D2}"/>
                  </a:ext>
                </a:extLst>
              </p:cNvPr>
              <p:cNvSpPr>
                <a:spLocks noRot="1" noChangeAspect="1" noMove="1" noResize="1" noEditPoints="1" noAdjustHandles="1" noChangeArrowheads="1" noChangeShapeType="1" noTextEdit="1"/>
              </p:cNvSpPr>
              <p:nvPr/>
            </p:nvSpPr>
            <p:spPr>
              <a:xfrm>
                <a:off x="3531566" y="4343400"/>
                <a:ext cx="1726234" cy="444015"/>
              </a:xfrm>
              <a:prstGeom prst="rect">
                <a:avLst/>
              </a:prstGeom>
              <a:blipFill>
                <a:blip r:embed="rId8"/>
                <a:stretch>
                  <a:fillRect/>
                </a:stretch>
              </a:blip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44DD7662-B51A-4632-8F39-7683F8738C08}"/>
                  </a:ext>
                </a:extLst>
              </p:cNvPr>
              <p:cNvSpPr/>
              <p:nvPr/>
            </p:nvSpPr>
            <p:spPr>
              <a:xfrm>
                <a:off x="6477000" y="4343400"/>
                <a:ext cx="1726234" cy="444015"/>
              </a:xfrm>
              <a:prstGeom prst="rect">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103.457</m:t>
                      </m:r>
                      <m:r>
                        <a:rPr lang="en-GB" sz="1200" b="0" i="1" smtClean="0">
                          <a:latin typeface="Cambria Math"/>
                        </a:rPr>
                        <m:t>+</m:t>
                      </m:r>
                      <m:r>
                        <a:rPr lang="en-GB" sz="1200" i="1">
                          <a:latin typeface="Cambria Math"/>
                          <a:ea typeface="Cambria Math"/>
                        </a:rPr>
                        <m:t>(.</m:t>
                      </m:r>
                      <m:r>
                        <a:rPr lang="en-US" sz="1200" i="1">
                          <a:latin typeface="Cambria Math" panose="02040503050406030204" pitchFamily="18" charset="0"/>
                          <a:ea typeface="Cambria Math"/>
                        </a:rPr>
                        <m:t>6302</m:t>
                      </m:r>
                      <m:r>
                        <a:rPr lang="en-GB" sz="1200" i="1">
                          <a:latin typeface="Cambria Math"/>
                        </a:rPr>
                        <m:t>)(</m:t>
                      </m:r>
                      <m:r>
                        <a:rPr lang="en-US" sz="1200" i="1">
                          <a:latin typeface="Cambria Math" panose="02040503050406030204" pitchFamily="18" charset="0"/>
                        </a:rPr>
                        <m:t>2.576</m:t>
                      </m:r>
                      <m:r>
                        <a:rPr lang="en-GB" sz="1200" i="1">
                          <a:latin typeface="Cambria Math"/>
                        </a:rPr>
                        <m:t>)</m:t>
                      </m:r>
                    </m:oMath>
                  </m:oMathPara>
                </a14:m>
                <a:endParaRPr lang="en-GB" sz="1400" b="1" dirty="0"/>
              </a:p>
            </p:txBody>
          </p:sp>
        </mc:Choice>
        <mc:Fallback xmlns="">
          <p:sp>
            <p:nvSpPr>
              <p:cNvPr id="15" name="Rectangle 14">
                <a:extLst>
                  <a:ext uri="{FF2B5EF4-FFF2-40B4-BE49-F238E27FC236}">
                    <a16:creationId xmlns:a16="http://schemas.microsoft.com/office/drawing/2014/main" id="{44DD7662-B51A-4632-8F39-7683F8738C08}"/>
                  </a:ext>
                </a:extLst>
              </p:cNvPr>
              <p:cNvSpPr>
                <a:spLocks noRot="1" noChangeAspect="1" noMove="1" noResize="1" noEditPoints="1" noAdjustHandles="1" noChangeArrowheads="1" noChangeShapeType="1" noTextEdit="1"/>
              </p:cNvSpPr>
              <p:nvPr/>
            </p:nvSpPr>
            <p:spPr>
              <a:xfrm>
                <a:off x="6477000" y="4343400"/>
                <a:ext cx="1726234" cy="444015"/>
              </a:xfrm>
              <a:prstGeom prst="rect">
                <a:avLst/>
              </a:prstGeom>
              <a:blipFill>
                <a:blip r:embed="rId9"/>
                <a:stretch>
                  <a:fillRect/>
                </a:stretch>
              </a:blipFill>
              <a:ln/>
            </p:spPr>
            <p:txBody>
              <a:bodyPr/>
              <a:lstStyle/>
              <a:p>
                <a:r>
                  <a:rPr lang="en-GB">
                    <a:noFill/>
                  </a:rPr>
                  <a:t> </a:t>
                </a:r>
              </a:p>
            </p:txBody>
          </p:sp>
        </mc:Fallback>
      </mc:AlternateContent>
      <p:sp>
        <p:nvSpPr>
          <p:cNvPr id="16" name="Rectangle 15">
            <a:extLst>
              <a:ext uri="{FF2B5EF4-FFF2-40B4-BE49-F238E27FC236}">
                <a16:creationId xmlns:a16="http://schemas.microsoft.com/office/drawing/2014/main" id="{345F8288-9F7C-4BF9-A261-539B3320F168}"/>
              </a:ext>
            </a:extLst>
          </p:cNvPr>
          <p:cNvSpPr/>
          <p:nvPr/>
        </p:nvSpPr>
        <p:spPr>
          <a:xfrm>
            <a:off x="3416105" y="4716608"/>
            <a:ext cx="1726234" cy="444015"/>
          </a:xfrm>
          <a:prstGeom prst="rect">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r>
              <a:rPr lang="en-GB" dirty="0"/>
              <a:t>101.83</a:t>
            </a:r>
          </a:p>
        </p:txBody>
      </p:sp>
      <p:sp>
        <p:nvSpPr>
          <p:cNvPr id="17" name="Rectangle 16">
            <a:extLst>
              <a:ext uri="{FF2B5EF4-FFF2-40B4-BE49-F238E27FC236}">
                <a16:creationId xmlns:a16="http://schemas.microsoft.com/office/drawing/2014/main" id="{FEAAAEA6-EBE4-4CF5-B8E7-8BFA59F2EA06}"/>
              </a:ext>
            </a:extLst>
          </p:cNvPr>
          <p:cNvSpPr/>
          <p:nvPr/>
        </p:nvSpPr>
        <p:spPr>
          <a:xfrm>
            <a:off x="6623334" y="4723189"/>
            <a:ext cx="1726234" cy="444015"/>
          </a:xfrm>
          <a:prstGeom prst="rect">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r>
              <a:rPr lang="en-GB" dirty="0"/>
              <a:t>105.08</a:t>
            </a:r>
          </a:p>
        </p:txBody>
      </p:sp>
      <p:grpSp>
        <p:nvGrpSpPr>
          <p:cNvPr id="18" name="Group 17">
            <a:extLst>
              <a:ext uri="{FF2B5EF4-FFF2-40B4-BE49-F238E27FC236}">
                <a16:creationId xmlns:a16="http://schemas.microsoft.com/office/drawing/2014/main" id="{68E04D76-788C-4027-BB9A-D3F661AA9F2F}"/>
              </a:ext>
            </a:extLst>
          </p:cNvPr>
          <p:cNvGrpSpPr/>
          <p:nvPr/>
        </p:nvGrpSpPr>
        <p:grpSpPr>
          <a:xfrm>
            <a:off x="5272365" y="3343373"/>
            <a:ext cx="1285124" cy="314227"/>
            <a:chOff x="5272365" y="3343373"/>
            <a:chExt cx="1285124" cy="314227"/>
          </a:xfrm>
        </p:grpSpPr>
        <p:sp>
          <p:nvSpPr>
            <p:cNvPr id="19" name="Rectangle 18">
              <a:extLst>
                <a:ext uri="{FF2B5EF4-FFF2-40B4-BE49-F238E27FC236}">
                  <a16:creationId xmlns:a16="http://schemas.microsoft.com/office/drawing/2014/main" id="{C3511C61-B88A-475A-BDA3-DAB153C1414C}"/>
                </a:ext>
              </a:extLst>
            </p:cNvPr>
            <p:cNvSpPr/>
            <p:nvPr/>
          </p:nvSpPr>
          <p:spPr>
            <a:xfrm>
              <a:off x="5962454" y="3349823"/>
              <a:ext cx="595035" cy="307777"/>
            </a:xfrm>
            <a:prstGeom prst="rect">
              <a:avLst/>
            </a:prstGeom>
          </p:spPr>
          <p:txBody>
            <a:bodyPr wrap="none">
              <a:spAutoFit/>
            </a:bodyPr>
            <a:lstStyle/>
            <a:p>
              <a:pPr algn="r" fontAlgn="b"/>
              <a:r>
                <a:rPr lang="en-GB" sz="1400" dirty="0"/>
                <a:t>1.623</a:t>
              </a:r>
              <a:endParaRPr lang="en-GB" sz="1400" dirty="0">
                <a:solidFill>
                  <a:srgbClr val="000000"/>
                </a:solidFill>
                <a:latin typeface="Arial"/>
              </a:endParaRPr>
            </a:p>
          </p:txBody>
        </p:sp>
        <p:sp>
          <p:nvSpPr>
            <p:cNvPr id="20" name="Rectangle 19">
              <a:extLst>
                <a:ext uri="{FF2B5EF4-FFF2-40B4-BE49-F238E27FC236}">
                  <a16:creationId xmlns:a16="http://schemas.microsoft.com/office/drawing/2014/main" id="{1A9375CF-80DA-4A8C-A775-1E010B218B65}"/>
                </a:ext>
              </a:extLst>
            </p:cNvPr>
            <p:cNvSpPr/>
            <p:nvPr/>
          </p:nvSpPr>
          <p:spPr>
            <a:xfrm>
              <a:off x="5272365" y="3343373"/>
              <a:ext cx="595035" cy="307777"/>
            </a:xfrm>
            <a:prstGeom prst="rect">
              <a:avLst/>
            </a:prstGeom>
          </p:spPr>
          <p:txBody>
            <a:bodyPr wrap="none">
              <a:spAutoFit/>
            </a:bodyPr>
            <a:lstStyle/>
            <a:p>
              <a:pPr algn="r" fontAlgn="b"/>
              <a:r>
                <a:rPr lang="en-GB" sz="1400" dirty="0"/>
                <a:t>1.623</a:t>
              </a:r>
              <a:endParaRPr lang="en-GB" sz="1400" dirty="0">
                <a:solidFill>
                  <a:srgbClr val="000000"/>
                </a:solidFill>
                <a:latin typeface="Arial"/>
              </a:endParaRPr>
            </a:p>
          </p:txBody>
        </p:sp>
      </p:grpSp>
      <p:grpSp>
        <p:nvGrpSpPr>
          <p:cNvPr id="21" name="Group 20">
            <a:extLst>
              <a:ext uri="{FF2B5EF4-FFF2-40B4-BE49-F238E27FC236}">
                <a16:creationId xmlns:a16="http://schemas.microsoft.com/office/drawing/2014/main" id="{F06368CB-2897-42C3-8042-572D476A47CD}"/>
              </a:ext>
            </a:extLst>
          </p:cNvPr>
          <p:cNvGrpSpPr/>
          <p:nvPr/>
        </p:nvGrpSpPr>
        <p:grpSpPr>
          <a:xfrm>
            <a:off x="4097347" y="2858926"/>
            <a:ext cx="4217376" cy="1084384"/>
            <a:chOff x="3402624" y="3429000"/>
            <a:chExt cx="4217376" cy="1084384"/>
          </a:xfrm>
        </p:grpSpPr>
        <p:grpSp>
          <p:nvGrpSpPr>
            <p:cNvPr id="22" name="Group 21">
              <a:extLst>
                <a:ext uri="{FF2B5EF4-FFF2-40B4-BE49-F238E27FC236}">
                  <a16:creationId xmlns:a16="http://schemas.microsoft.com/office/drawing/2014/main" id="{FBACB49D-8348-460C-9196-7A0BA67C47DC}"/>
                </a:ext>
              </a:extLst>
            </p:cNvPr>
            <p:cNvGrpSpPr/>
            <p:nvPr/>
          </p:nvGrpSpPr>
          <p:grpSpPr>
            <a:xfrm>
              <a:off x="3402624" y="4059116"/>
              <a:ext cx="4217376" cy="190500"/>
              <a:chOff x="3402624" y="4059116"/>
              <a:chExt cx="4217376" cy="190500"/>
            </a:xfrm>
          </p:grpSpPr>
          <p:sp>
            <p:nvSpPr>
              <p:cNvPr id="26" name="Rectangle 25">
                <a:extLst>
                  <a:ext uri="{FF2B5EF4-FFF2-40B4-BE49-F238E27FC236}">
                    <a16:creationId xmlns:a16="http://schemas.microsoft.com/office/drawing/2014/main" id="{B1B186DF-8087-4929-A460-C5D57632E01D}"/>
                  </a:ext>
                </a:extLst>
              </p:cNvPr>
              <p:cNvSpPr/>
              <p:nvPr/>
            </p:nvSpPr>
            <p:spPr>
              <a:xfrm>
                <a:off x="3405162" y="4167554"/>
                <a:ext cx="4214838" cy="762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GB">
                  <a:solidFill>
                    <a:schemeClr val="accent3">
                      <a:lumMod val="75000"/>
                    </a:schemeClr>
                  </a:solidFill>
                </a:endParaRPr>
              </a:p>
            </p:txBody>
          </p:sp>
          <p:cxnSp>
            <p:nvCxnSpPr>
              <p:cNvPr id="27" name="Straight Connector 26">
                <a:extLst>
                  <a:ext uri="{FF2B5EF4-FFF2-40B4-BE49-F238E27FC236}">
                    <a16:creationId xmlns:a16="http://schemas.microsoft.com/office/drawing/2014/main" id="{71C7D8BD-6311-45C3-BD10-52617EC55293}"/>
                  </a:ext>
                </a:extLst>
              </p:cNvPr>
              <p:cNvCxnSpPr/>
              <p:nvPr/>
            </p:nvCxnSpPr>
            <p:spPr>
              <a:xfrm>
                <a:off x="3402624" y="4059116"/>
                <a:ext cx="0" cy="190500"/>
              </a:xfrm>
              <a:prstGeom prst="line">
                <a:avLst/>
              </a:prstGeom>
              <a:ln>
                <a:solidFill>
                  <a:schemeClr val="accent3"/>
                </a:solidFill>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33E8652F-3C9A-411D-B465-B175428426CD}"/>
                  </a:ext>
                </a:extLst>
              </p:cNvPr>
              <p:cNvCxnSpPr/>
              <p:nvPr/>
            </p:nvCxnSpPr>
            <p:spPr>
              <a:xfrm>
                <a:off x="7620000" y="4059116"/>
                <a:ext cx="0" cy="190500"/>
              </a:xfrm>
              <a:prstGeom prst="line">
                <a:avLst/>
              </a:prstGeom>
              <a:ln>
                <a:solidFill>
                  <a:schemeClr val="accent3"/>
                </a:solidFill>
              </a:ln>
            </p:spPr>
            <p:style>
              <a:lnRef idx="1">
                <a:schemeClr val="dk1"/>
              </a:lnRef>
              <a:fillRef idx="0">
                <a:schemeClr val="dk1"/>
              </a:fillRef>
              <a:effectRef idx="0">
                <a:schemeClr val="dk1"/>
              </a:effectRef>
              <a:fontRef idx="minor">
                <a:schemeClr val="tx1"/>
              </a:fontRef>
            </p:style>
          </p:cxnSp>
        </p:grpSp>
        <p:grpSp>
          <p:nvGrpSpPr>
            <p:cNvPr id="23" name="Group 22">
              <a:extLst>
                <a:ext uri="{FF2B5EF4-FFF2-40B4-BE49-F238E27FC236}">
                  <a16:creationId xmlns:a16="http://schemas.microsoft.com/office/drawing/2014/main" id="{B5075DA1-2D63-4258-A15E-6AA416067882}"/>
                </a:ext>
              </a:extLst>
            </p:cNvPr>
            <p:cNvGrpSpPr/>
            <p:nvPr/>
          </p:nvGrpSpPr>
          <p:grpSpPr>
            <a:xfrm>
              <a:off x="5082578" y="3429000"/>
              <a:ext cx="326371" cy="1084384"/>
              <a:chOff x="5082578" y="3429000"/>
              <a:chExt cx="326371" cy="1084384"/>
            </a:xfrm>
          </p:grpSpPr>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1ACD4082-B9CF-44E2-B511-3E3475A068A6}"/>
                      </a:ext>
                    </a:extLst>
                  </p:cNvPr>
                  <p:cNvSpPr txBox="1"/>
                  <p:nvPr/>
                </p:nvSpPr>
                <p:spPr>
                  <a:xfrm>
                    <a:off x="5082578" y="4205607"/>
                    <a:ext cx="326371" cy="307777"/>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acc>
                            <m:accPr>
                              <m:chr m:val="̅"/>
                              <m:ctrlPr>
                                <a:rPr lang="en-GB" sz="1400" i="1">
                                  <a:latin typeface="Cambria Math" panose="02040503050406030204" pitchFamily="18" charset="0"/>
                                  <a:ea typeface="Cambria Math"/>
                                </a:rPr>
                              </m:ctrlPr>
                            </m:accPr>
                            <m:e>
                              <m:r>
                                <a:rPr lang="en-GB" sz="1400" i="1">
                                  <a:latin typeface="Cambria Math"/>
                                  <a:ea typeface="Cambria Math"/>
                                </a:rPr>
                                <m:t>𝑥</m:t>
                              </m:r>
                            </m:e>
                          </m:acc>
                        </m:oMath>
                      </m:oMathPara>
                    </a14:m>
                    <a:endParaRPr lang="en-GB" sz="1400" b="1" dirty="0"/>
                  </a:p>
                </p:txBody>
              </p:sp>
            </mc:Choice>
            <mc:Fallback xmlns="">
              <p:sp>
                <p:nvSpPr>
                  <p:cNvPr id="11" name="TextBox 10"/>
                  <p:cNvSpPr txBox="1">
                    <a:spLocks noRot="1" noChangeAspect="1" noMove="1" noResize="1" noEditPoints="1" noAdjustHandles="1" noChangeArrowheads="1" noChangeShapeType="1" noTextEdit="1"/>
                  </p:cNvSpPr>
                  <p:nvPr/>
                </p:nvSpPr>
                <p:spPr>
                  <a:xfrm>
                    <a:off x="5082578" y="4205607"/>
                    <a:ext cx="326371" cy="307777"/>
                  </a:xfrm>
                  <a:prstGeom prst="rect">
                    <a:avLst/>
                  </a:prstGeom>
                  <a:blipFill rotWithShape="1">
                    <a:blip r:embed="rId11"/>
                    <a:stretch>
                      <a:fillRect r="-1887"/>
                    </a:stretch>
                  </a:blipFill>
                </p:spPr>
                <p:txBody>
                  <a:bodyPr/>
                  <a:lstStyle/>
                  <a:p>
                    <a:r>
                      <a:rPr lang="en-GB">
                        <a:noFill/>
                      </a:rPr>
                      <a:t> </a:t>
                    </a:r>
                  </a:p>
                </p:txBody>
              </p:sp>
            </mc:Fallback>
          </mc:AlternateContent>
          <p:cxnSp>
            <p:nvCxnSpPr>
              <p:cNvPr id="25" name="Straight Connector 24">
                <a:extLst>
                  <a:ext uri="{FF2B5EF4-FFF2-40B4-BE49-F238E27FC236}">
                    <a16:creationId xmlns:a16="http://schemas.microsoft.com/office/drawing/2014/main" id="{CCEC9758-4DE8-440F-8EC8-6993CA730177}"/>
                  </a:ext>
                </a:extLst>
              </p:cNvPr>
              <p:cNvCxnSpPr/>
              <p:nvPr/>
            </p:nvCxnSpPr>
            <p:spPr>
              <a:xfrm flipV="1">
                <a:off x="5202427" y="3429000"/>
                <a:ext cx="0" cy="820616"/>
              </a:xfrm>
              <a:prstGeom prst="line">
                <a:avLst/>
              </a:prstGeom>
            </p:spPr>
            <p:style>
              <a:lnRef idx="2">
                <a:schemeClr val="dk1"/>
              </a:lnRef>
              <a:fillRef idx="0">
                <a:schemeClr val="dk1"/>
              </a:fillRef>
              <a:effectRef idx="1">
                <a:schemeClr val="dk1"/>
              </a:effectRef>
              <a:fontRef idx="minor">
                <a:schemeClr val="tx1"/>
              </a:fontRef>
            </p:style>
          </p:cxnSp>
        </p:grpSp>
      </p:grpSp>
      <p:grpSp>
        <p:nvGrpSpPr>
          <p:cNvPr id="29" name="Group 28">
            <a:extLst>
              <a:ext uri="{FF2B5EF4-FFF2-40B4-BE49-F238E27FC236}">
                <a16:creationId xmlns:a16="http://schemas.microsoft.com/office/drawing/2014/main" id="{9669DBC9-F507-4819-8703-7936DFC9298E}"/>
              </a:ext>
            </a:extLst>
          </p:cNvPr>
          <p:cNvGrpSpPr/>
          <p:nvPr/>
        </p:nvGrpSpPr>
        <p:grpSpPr>
          <a:xfrm>
            <a:off x="5184830" y="3200401"/>
            <a:ext cx="1439008" cy="461557"/>
            <a:chOff x="5181600" y="3962400"/>
            <a:chExt cx="1439008" cy="461557"/>
          </a:xfrm>
        </p:grpSpPr>
        <p:grpSp>
          <p:nvGrpSpPr>
            <p:cNvPr id="30" name="Group 29">
              <a:extLst>
                <a:ext uri="{FF2B5EF4-FFF2-40B4-BE49-F238E27FC236}">
                  <a16:creationId xmlns:a16="http://schemas.microsoft.com/office/drawing/2014/main" id="{B3EE56FA-9B53-48B3-8B88-957B0123594E}"/>
                </a:ext>
              </a:extLst>
            </p:cNvPr>
            <p:cNvGrpSpPr/>
            <p:nvPr/>
          </p:nvGrpSpPr>
          <p:grpSpPr>
            <a:xfrm>
              <a:off x="5181600" y="3962400"/>
              <a:ext cx="1439008" cy="461557"/>
              <a:chOff x="5181600" y="3751384"/>
              <a:chExt cx="1439008" cy="824973"/>
            </a:xfrm>
          </p:grpSpPr>
          <p:cxnSp>
            <p:nvCxnSpPr>
              <p:cNvPr id="32" name="Straight Connector 31">
                <a:extLst>
                  <a:ext uri="{FF2B5EF4-FFF2-40B4-BE49-F238E27FC236}">
                    <a16:creationId xmlns:a16="http://schemas.microsoft.com/office/drawing/2014/main" id="{B9137090-1C49-421A-8D0F-2DBF5E20DAFA}"/>
                  </a:ext>
                </a:extLst>
              </p:cNvPr>
              <p:cNvCxnSpPr/>
              <p:nvPr/>
            </p:nvCxnSpPr>
            <p:spPr>
              <a:xfrm flipV="1">
                <a:off x="5181600" y="3755741"/>
                <a:ext cx="0" cy="820616"/>
              </a:xfrm>
              <a:prstGeom prst="line">
                <a:avLst/>
              </a:prstGeom>
              <a:ln>
                <a:solidFill>
                  <a:schemeClr val="bg1">
                    <a:lumMod val="65000"/>
                  </a:schemeClr>
                </a:solidFill>
              </a:ln>
            </p:spPr>
            <p:style>
              <a:lnRef idx="2">
                <a:schemeClr val="accent4"/>
              </a:lnRef>
              <a:fillRef idx="0">
                <a:schemeClr val="accent4"/>
              </a:fillRef>
              <a:effectRef idx="1">
                <a:schemeClr val="accent4"/>
              </a:effectRef>
              <a:fontRef idx="minor">
                <a:schemeClr val="tx1"/>
              </a:fontRef>
            </p:style>
          </p:cxnSp>
          <p:cxnSp>
            <p:nvCxnSpPr>
              <p:cNvPr id="33" name="Straight Connector 32">
                <a:extLst>
                  <a:ext uri="{FF2B5EF4-FFF2-40B4-BE49-F238E27FC236}">
                    <a16:creationId xmlns:a16="http://schemas.microsoft.com/office/drawing/2014/main" id="{E9ED53C1-56DE-49B7-87DA-447797812FCD}"/>
                  </a:ext>
                </a:extLst>
              </p:cNvPr>
              <p:cNvCxnSpPr/>
              <p:nvPr/>
            </p:nvCxnSpPr>
            <p:spPr>
              <a:xfrm flipV="1">
                <a:off x="6620608" y="3751384"/>
                <a:ext cx="0" cy="820616"/>
              </a:xfrm>
              <a:prstGeom prst="line">
                <a:avLst/>
              </a:prstGeom>
              <a:ln>
                <a:solidFill>
                  <a:schemeClr val="bg1">
                    <a:lumMod val="65000"/>
                  </a:schemeClr>
                </a:solidFill>
              </a:ln>
            </p:spPr>
            <p:style>
              <a:lnRef idx="2">
                <a:schemeClr val="accent4"/>
              </a:lnRef>
              <a:fillRef idx="0">
                <a:schemeClr val="accent4"/>
              </a:fillRef>
              <a:effectRef idx="1">
                <a:schemeClr val="accent4"/>
              </a:effectRef>
              <a:fontRef idx="minor">
                <a:schemeClr val="tx1"/>
              </a:fontRef>
            </p:style>
          </p:cxnSp>
        </p:grpSp>
        <p:cxnSp>
          <p:nvCxnSpPr>
            <p:cNvPr id="31" name="Straight Arrow Connector 30">
              <a:extLst>
                <a:ext uri="{FF2B5EF4-FFF2-40B4-BE49-F238E27FC236}">
                  <a16:creationId xmlns:a16="http://schemas.microsoft.com/office/drawing/2014/main" id="{BF90E26D-3138-4E38-B624-B86155B0B98C}"/>
                </a:ext>
              </a:extLst>
            </p:cNvPr>
            <p:cNvCxnSpPr/>
            <p:nvPr/>
          </p:nvCxnSpPr>
          <p:spPr>
            <a:xfrm>
              <a:off x="5181600" y="4112362"/>
              <a:ext cx="1438504" cy="2438"/>
            </a:xfrm>
            <a:prstGeom prst="straightConnector1">
              <a:avLst/>
            </a:prstGeom>
            <a:ln w="12700">
              <a:solidFill>
                <a:schemeClr val="bg1">
                  <a:lumMod val="65000"/>
                </a:schemeClr>
              </a:solidFill>
              <a:headEnd type="arrow"/>
              <a:tailEnd type="arrow"/>
            </a:ln>
          </p:spPr>
          <p:style>
            <a:lnRef idx="2">
              <a:schemeClr val="accent1"/>
            </a:lnRef>
            <a:fillRef idx="0">
              <a:schemeClr val="accent1"/>
            </a:fillRef>
            <a:effectRef idx="1">
              <a:schemeClr val="accent1"/>
            </a:effectRef>
            <a:fontRef idx="minor">
              <a:schemeClr val="tx1"/>
            </a:fontRef>
          </p:style>
        </p:cxnSp>
      </p:grpSp>
      <p:pic>
        <p:nvPicPr>
          <p:cNvPr id="34" name="Picture 33">
            <a:extLst>
              <a:ext uri="{FF2B5EF4-FFF2-40B4-BE49-F238E27FC236}">
                <a16:creationId xmlns:a16="http://schemas.microsoft.com/office/drawing/2014/main" id="{8AD50AF9-1176-4575-BDB6-3447928E6BB4}"/>
              </a:ext>
            </a:extLst>
          </p:cNvPr>
          <p:cNvPicPr>
            <a:picLocks noChangeAspect="1"/>
          </p:cNvPicPr>
          <p:nvPr/>
        </p:nvPicPr>
        <p:blipFill>
          <a:blip r:embed="rId12"/>
          <a:stretch>
            <a:fillRect/>
          </a:stretch>
        </p:blipFill>
        <p:spPr>
          <a:xfrm>
            <a:off x="452104" y="5155230"/>
            <a:ext cx="3657600" cy="1375421"/>
          </a:xfrm>
          <a:prstGeom prst="rect">
            <a:avLst/>
          </a:prstGeom>
        </p:spPr>
      </p:pic>
    </p:spTree>
    <p:extLst>
      <p:ext uri="{BB962C8B-B14F-4D97-AF65-F5344CB8AC3E}">
        <p14:creationId xmlns:p14="http://schemas.microsoft.com/office/powerpoint/2010/main" val="2082354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500"/>
                                        <p:tgtEl>
                                          <p:spTgt spid="13"/>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500"/>
                                        <p:tgtEl>
                                          <p:spTgt spid="15"/>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500"/>
                                        <p:tgtEl>
                                          <p:spTgt spid="16"/>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500"/>
                                        <p:tgtEl>
                                          <p:spTgt spid="17"/>
                                        </p:tgtEl>
                                      </p:cBhvr>
                                    </p:animEffect>
                                  </p:childTnLst>
                                </p:cTn>
                              </p:par>
                              <p:par>
                                <p:cTn id="37" presetID="10" presetClass="entr" presetSubtype="0"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2" grpId="0" animBg="1"/>
      <p:bldP spid="13" grpId="0" animBg="1"/>
      <p:bldP spid="14" grpId="0" animBg="1"/>
      <p:bldP spid="15" grpId="0" animBg="1"/>
      <p:bldP spid="16" grpId="0" animBg="1"/>
      <p:bldP spid="17"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3" name="Rectangle 3"/>
          <p:cNvSpPr>
            <a:spLocks noChangeArrowheads="1"/>
          </p:cNvSpPr>
          <p:nvPr/>
        </p:nvSpPr>
        <p:spPr bwMode="auto">
          <a:xfrm>
            <a:off x="285750" y="823277"/>
            <a:ext cx="7791450" cy="1005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marL="342900" indent="-342900">
              <a:spcBef>
                <a:spcPct val="20000"/>
              </a:spcBef>
              <a:buChar char="•"/>
              <a:defRPr sz="3200">
                <a:solidFill>
                  <a:schemeClr val="tx1"/>
                </a:solidFill>
                <a:latin typeface="Times New Roman" pitchFamily="18" charset="0"/>
              </a:defRPr>
            </a:lvl1pPr>
            <a:lvl2pPr marL="742950" indent="-285750">
              <a:spcBef>
                <a:spcPct val="20000"/>
              </a:spcBef>
              <a:buChar char="–"/>
              <a:defRPr sz="2800">
                <a:solidFill>
                  <a:schemeClr val="tx1"/>
                </a:solidFill>
                <a:latin typeface="Times New Roman" pitchFamily="18" charset="0"/>
              </a:defRPr>
            </a:lvl2pPr>
            <a:lvl3pPr marL="1143000" indent="-228600">
              <a:spcBef>
                <a:spcPct val="20000"/>
              </a:spcBef>
              <a:buChar char="•"/>
              <a:defRPr sz="2400">
                <a:solidFill>
                  <a:schemeClr val="tx1"/>
                </a:solidFill>
                <a:latin typeface="Times New Roman" pitchFamily="18" charset="0"/>
              </a:defRPr>
            </a:lvl3pPr>
            <a:lvl4pPr marL="1600200" indent="-228600">
              <a:spcBef>
                <a:spcPct val="20000"/>
              </a:spcBef>
              <a:buChar char="–"/>
              <a:defRPr sz="2000">
                <a:solidFill>
                  <a:schemeClr val="tx1"/>
                </a:solidFill>
                <a:latin typeface="Times New Roman" pitchFamily="18" charset="0"/>
              </a:defRPr>
            </a:lvl4pPr>
            <a:lvl5pPr marL="2057400" indent="-228600">
              <a:spcBef>
                <a:spcPct val="20000"/>
              </a:spcBef>
              <a:buChar char="»"/>
              <a:defRPr sz="2000">
                <a:solidFill>
                  <a:schemeClr val="tx1"/>
                </a:solidFill>
                <a:latin typeface="Times New Roman" pitchFamily="18" charset="0"/>
              </a:defRPr>
            </a:lvl5pPr>
            <a:lvl6pPr marL="2514600" indent="-228600" eaLnBrk="0" fontAlgn="base" hangingPunct="0">
              <a:spcBef>
                <a:spcPct val="20000"/>
              </a:spcBef>
              <a:spcAft>
                <a:spcPct val="0"/>
              </a:spcAft>
              <a:buChar char="»"/>
              <a:defRPr sz="2000">
                <a:solidFill>
                  <a:schemeClr val="tx1"/>
                </a:solidFill>
                <a:latin typeface="Times New Roman" pitchFamily="18" charset="0"/>
              </a:defRPr>
            </a:lvl6pPr>
            <a:lvl7pPr marL="2971800" indent="-228600" eaLnBrk="0" fontAlgn="base" hangingPunct="0">
              <a:spcBef>
                <a:spcPct val="20000"/>
              </a:spcBef>
              <a:spcAft>
                <a:spcPct val="0"/>
              </a:spcAft>
              <a:buChar char="»"/>
              <a:defRPr sz="2000">
                <a:solidFill>
                  <a:schemeClr val="tx1"/>
                </a:solidFill>
                <a:latin typeface="Times New Roman" pitchFamily="18" charset="0"/>
              </a:defRPr>
            </a:lvl7pPr>
            <a:lvl8pPr marL="3429000" indent="-228600" eaLnBrk="0" fontAlgn="base" hangingPunct="0">
              <a:spcBef>
                <a:spcPct val="20000"/>
              </a:spcBef>
              <a:spcAft>
                <a:spcPct val="0"/>
              </a:spcAft>
              <a:buChar char="»"/>
              <a:defRPr sz="2000">
                <a:solidFill>
                  <a:schemeClr val="tx1"/>
                </a:solidFill>
                <a:latin typeface="Times New Roman" pitchFamily="18" charset="0"/>
              </a:defRPr>
            </a:lvl8pPr>
            <a:lvl9pPr marL="3886200" indent="-228600" eaLnBrk="0" fontAlgn="base" hangingPunct="0">
              <a:spcBef>
                <a:spcPct val="20000"/>
              </a:spcBef>
              <a:spcAft>
                <a:spcPct val="0"/>
              </a:spcAft>
              <a:buChar char="»"/>
              <a:defRPr sz="2000">
                <a:solidFill>
                  <a:schemeClr val="tx1"/>
                </a:solidFill>
                <a:latin typeface="Times New Roman" pitchFamily="18" charset="0"/>
              </a:defRPr>
            </a:lvl9pPr>
          </a:lstStyle>
          <a:p>
            <a:pPr marL="0" indent="0">
              <a:buClr>
                <a:srgbClr val="333399"/>
              </a:buClr>
              <a:buSzPct val="150000"/>
              <a:buNone/>
            </a:pPr>
            <a:r>
              <a:rPr lang="en-US" altLang="en-US" sz="2000" dirty="0">
                <a:latin typeface="+mn-lt"/>
              </a:rPr>
              <a:t>What happens when population is finite? (not assumed infinity!)</a:t>
            </a:r>
          </a:p>
        </p:txBody>
      </p:sp>
      <p:sp>
        <p:nvSpPr>
          <p:cNvPr id="2" name="Title 1"/>
          <p:cNvSpPr>
            <a:spLocks noGrp="1"/>
          </p:cNvSpPr>
          <p:nvPr>
            <p:ph type="title"/>
          </p:nvPr>
        </p:nvSpPr>
        <p:spPr/>
        <p:txBody>
          <a:bodyPr/>
          <a:lstStyle/>
          <a:p>
            <a:r>
              <a:rPr lang="en-GB" dirty="0"/>
              <a:t>Finite population!</a:t>
            </a:r>
          </a:p>
        </p:txBody>
      </p:sp>
      <p:sp>
        <p:nvSpPr>
          <p:cNvPr id="3" name="Rectangle 2"/>
          <p:cNvSpPr/>
          <p:nvPr/>
        </p:nvSpPr>
        <p:spPr>
          <a:xfrm>
            <a:off x="289320" y="1295400"/>
            <a:ext cx="8016480" cy="707886"/>
          </a:xfrm>
          <a:prstGeom prst="rect">
            <a:avLst/>
          </a:prstGeom>
        </p:spPr>
        <p:txBody>
          <a:bodyPr wrap="square">
            <a:spAutoFit/>
          </a:bodyPr>
          <a:lstStyle/>
          <a:p>
            <a:pPr>
              <a:buClr>
                <a:srgbClr val="333399"/>
              </a:buClr>
              <a:buSzPct val="150000"/>
            </a:pPr>
            <a:r>
              <a:rPr lang="en-US" altLang="en-US" sz="2000" dirty="0"/>
              <a:t>In such a case, our estimates from the sample are </a:t>
            </a:r>
            <a:r>
              <a:rPr lang="en-US" altLang="en-US" sz="2000" b="1" u="sng" dirty="0"/>
              <a:t>more accurate </a:t>
            </a:r>
            <a:r>
              <a:rPr lang="en-US" altLang="en-US" sz="2000" dirty="0"/>
              <a:t>than the conventional STEP and STEM calculations.</a:t>
            </a:r>
            <a:endParaRPr lang="en-US" altLang="en-US" sz="2000" dirty="0">
              <a:solidFill>
                <a:srgbClr val="333399"/>
              </a:solidFill>
            </a:endParaRPr>
          </a:p>
        </p:txBody>
      </p:sp>
      <mc:AlternateContent xmlns:mc="http://schemas.openxmlformats.org/markup-compatibility/2006" xmlns:a14="http://schemas.microsoft.com/office/drawing/2010/main">
        <mc:Choice Requires="a14">
          <p:sp>
            <p:nvSpPr>
              <p:cNvPr id="13" name="Rectangle 12"/>
              <p:cNvSpPr/>
              <p:nvPr/>
            </p:nvSpPr>
            <p:spPr>
              <a:xfrm>
                <a:off x="1219200" y="3706520"/>
                <a:ext cx="2743200" cy="155128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GB" sz="1400" b="1" i="0" dirty="0">
                    <a:latin typeface="+mj-lt"/>
                    <a:ea typeface="Cambria Math"/>
                  </a:rPr>
                  <a:t>Adjusted STEM:</a:t>
                </a:r>
                <a:endParaRPr lang="en-GB" sz="1400" b="1" i="1" dirty="0">
                  <a:latin typeface="Cambria Math"/>
                  <a:ea typeface="Cambria Math"/>
                </a:endParaRPr>
              </a:p>
              <a:p>
                <a:pPr algn="ctr"/>
                <a14:m>
                  <m:oMathPara xmlns:m="http://schemas.openxmlformats.org/officeDocument/2006/math">
                    <m:oMathParaPr>
                      <m:jc m:val="center"/>
                    </m:oMathParaPr>
                    <m:oMath xmlns:m="http://schemas.openxmlformats.org/officeDocument/2006/math">
                      <m:sSub>
                        <m:sSubPr>
                          <m:ctrlPr>
                            <a:rPr lang="en-GB" sz="2000" i="1">
                              <a:latin typeface="Cambria Math" panose="02040503050406030204" pitchFamily="18" charset="0"/>
                              <a:ea typeface="Cambria Math"/>
                            </a:rPr>
                          </m:ctrlPr>
                        </m:sSubPr>
                        <m:e>
                          <m:r>
                            <a:rPr lang="en-GB" sz="2000" i="1">
                              <a:latin typeface="Cambria Math"/>
                              <a:ea typeface="Cambria Math"/>
                            </a:rPr>
                            <m:t>𝜎</m:t>
                          </m:r>
                        </m:e>
                        <m:sub>
                          <m:acc>
                            <m:accPr>
                              <m:chr m:val="̅"/>
                              <m:ctrlPr>
                                <a:rPr lang="en-GB" sz="2000" i="1">
                                  <a:latin typeface="Cambria Math" panose="02040503050406030204" pitchFamily="18" charset="0"/>
                                  <a:ea typeface="Cambria Math"/>
                                </a:rPr>
                              </m:ctrlPr>
                            </m:accPr>
                            <m:e>
                              <m:r>
                                <a:rPr lang="en-GB" sz="2000" i="1">
                                  <a:latin typeface="Cambria Math"/>
                                  <a:ea typeface="Cambria Math"/>
                                </a:rPr>
                                <m:t>𝑥</m:t>
                              </m:r>
                            </m:e>
                          </m:acc>
                        </m:sub>
                      </m:sSub>
                      <m:r>
                        <a:rPr lang="en-GB" sz="1600" b="0" i="1" smtClean="0">
                          <a:latin typeface="Cambria Math"/>
                          <a:ea typeface="Cambria Math"/>
                        </a:rPr>
                        <m:t>=</m:t>
                      </m:r>
                      <m:f>
                        <m:fPr>
                          <m:ctrlPr>
                            <a:rPr lang="en-GB" sz="1600" i="1">
                              <a:latin typeface="Cambria Math" panose="02040503050406030204" pitchFamily="18" charset="0"/>
                              <a:ea typeface="Cambria Math"/>
                            </a:rPr>
                          </m:ctrlPr>
                        </m:fPr>
                        <m:num>
                          <m:r>
                            <a:rPr lang="en-GB" sz="1600" b="0" i="1" smtClean="0">
                              <a:latin typeface="Cambria Math"/>
                              <a:ea typeface="Cambria Math"/>
                            </a:rPr>
                            <m:t>𝑠</m:t>
                          </m:r>
                        </m:num>
                        <m:den>
                          <m:rad>
                            <m:radPr>
                              <m:degHide m:val="on"/>
                              <m:ctrlPr>
                                <a:rPr lang="en-GB" sz="1600" i="1">
                                  <a:latin typeface="Cambria Math" panose="02040503050406030204" pitchFamily="18" charset="0"/>
                                  <a:ea typeface="Cambria Math"/>
                                </a:rPr>
                              </m:ctrlPr>
                            </m:radPr>
                            <m:deg/>
                            <m:e>
                              <m:r>
                                <a:rPr lang="en-GB" sz="1600" b="0" i="1" smtClean="0">
                                  <a:latin typeface="Cambria Math"/>
                                  <a:ea typeface="Cambria Math"/>
                                </a:rPr>
                                <m:t>𝑛</m:t>
                              </m:r>
                            </m:e>
                          </m:rad>
                        </m:den>
                      </m:f>
                      <m:r>
                        <a:rPr lang="en-GB" sz="1600" i="1" smtClean="0">
                          <a:latin typeface="Cambria Math"/>
                          <a:ea typeface="Cambria Math"/>
                        </a:rPr>
                        <m:t>×</m:t>
                      </m:r>
                      <m:rad>
                        <m:radPr>
                          <m:degHide m:val="on"/>
                          <m:ctrlPr>
                            <a:rPr lang="en-GB" sz="1600" i="1" smtClean="0">
                              <a:latin typeface="Cambria Math" panose="02040503050406030204" pitchFamily="18" charset="0"/>
                              <a:ea typeface="Cambria Math"/>
                            </a:rPr>
                          </m:ctrlPr>
                        </m:radPr>
                        <m:deg/>
                        <m:e>
                          <m:f>
                            <m:fPr>
                              <m:ctrlPr>
                                <a:rPr lang="en-GB" sz="1600" i="1" smtClean="0">
                                  <a:latin typeface="Cambria Math" panose="02040503050406030204" pitchFamily="18" charset="0"/>
                                  <a:ea typeface="Cambria Math"/>
                                </a:rPr>
                              </m:ctrlPr>
                            </m:fPr>
                            <m:num>
                              <m:r>
                                <a:rPr lang="en-GB" sz="1600" b="0" i="1" smtClean="0">
                                  <a:latin typeface="Cambria Math"/>
                                  <a:ea typeface="Cambria Math"/>
                                </a:rPr>
                                <m:t>𝑁</m:t>
                              </m:r>
                              <m:r>
                                <a:rPr lang="en-GB" sz="1600" b="0" i="1" smtClean="0">
                                  <a:latin typeface="Cambria Math"/>
                                  <a:ea typeface="Cambria Math"/>
                                </a:rPr>
                                <m:t>−</m:t>
                              </m:r>
                              <m:r>
                                <a:rPr lang="en-GB" sz="1600" b="0" i="1" smtClean="0">
                                  <a:latin typeface="Cambria Math"/>
                                  <a:ea typeface="Cambria Math"/>
                                </a:rPr>
                                <m:t>𝑛</m:t>
                              </m:r>
                            </m:num>
                            <m:den>
                              <m:r>
                                <a:rPr lang="en-GB" sz="1600" b="0" i="1" smtClean="0">
                                  <a:latin typeface="Cambria Math"/>
                                  <a:ea typeface="Cambria Math"/>
                                </a:rPr>
                                <m:t>𝑁</m:t>
                              </m:r>
                              <m:r>
                                <a:rPr lang="en-GB" sz="1600" b="0" i="1" smtClean="0">
                                  <a:latin typeface="Cambria Math"/>
                                  <a:ea typeface="Cambria Math"/>
                                </a:rPr>
                                <m:t>−1</m:t>
                              </m:r>
                            </m:den>
                          </m:f>
                        </m:e>
                      </m:rad>
                    </m:oMath>
                  </m:oMathPara>
                </a14:m>
                <a:endParaRPr lang="en-GB" sz="2000" dirty="0"/>
              </a:p>
              <a:p>
                <a14:m>
                  <m:oMath xmlns:m="http://schemas.openxmlformats.org/officeDocument/2006/math">
                    <m:r>
                      <a:rPr lang="en-GB" sz="1100" b="0" i="1" smtClean="0">
                        <a:latin typeface="Cambria Math"/>
                        <a:ea typeface="Cambria Math"/>
                      </a:rPr>
                      <m:t>𝑠</m:t>
                    </m:r>
                    <m:r>
                      <a:rPr lang="en-GB" sz="1100" i="1">
                        <a:latin typeface="Cambria Math"/>
                        <a:ea typeface="Cambria Math"/>
                      </a:rPr>
                      <m:t> </m:t>
                    </m:r>
                  </m:oMath>
                </a14:m>
                <a:r>
                  <a:rPr lang="en-US" altLang="en-US" sz="1100" dirty="0"/>
                  <a:t>= sample standard deviation</a:t>
                </a:r>
              </a:p>
              <a:p>
                <a14:m>
                  <m:oMath xmlns:m="http://schemas.openxmlformats.org/officeDocument/2006/math">
                    <m:r>
                      <a:rPr lang="en-US" altLang="en-US" sz="1100" i="1" dirty="0" smtClean="0">
                        <a:latin typeface="Cambria Math"/>
                      </a:rPr>
                      <m:t>𝑛</m:t>
                    </m:r>
                  </m:oMath>
                </a14:m>
                <a:r>
                  <a:rPr lang="en-US" altLang="en-US" sz="1100" dirty="0"/>
                  <a:t> = number in sample</a:t>
                </a:r>
              </a:p>
              <a:p>
                <a:r>
                  <a:rPr lang="en-US" altLang="en-US" sz="1100" dirty="0"/>
                  <a:t>N = population count</a:t>
                </a:r>
                <a:endParaRPr lang="en-GB" sz="1100" dirty="0"/>
              </a:p>
            </p:txBody>
          </p:sp>
        </mc:Choice>
        <mc:Fallback xmlns="">
          <p:sp>
            <p:nvSpPr>
              <p:cNvPr id="13" name="Rectangle 12"/>
              <p:cNvSpPr>
                <a:spLocks noRot="1" noChangeAspect="1" noMove="1" noResize="1" noEditPoints="1" noAdjustHandles="1" noChangeArrowheads="1" noChangeShapeType="1" noTextEdit="1"/>
              </p:cNvSpPr>
              <p:nvPr/>
            </p:nvSpPr>
            <p:spPr>
              <a:xfrm>
                <a:off x="1219200" y="3706520"/>
                <a:ext cx="2743200" cy="1551280"/>
              </a:xfrm>
              <a:prstGeom prst="rect">
                <a:avLst/>
              </a:prstGeom>
              <a:blipFill rotWithShape="1">
                <a:blip r:embed="rId3"/>
                <a:stretch>
                  <a:fillRect/>
                </a:stretch>
              </a:blipFill>
            </p:spPr>
            <p:txBody>
              <a:bodyPr/>
              <a:lstStyle/>
              <a:p>
                <a:r>
                  <a:rPr lang="en-GB">
                    <a:noFill/>
                  </a:rPr>
                  <a:t> </a:t>
                </a:r>
              </a:p>
            </p:txBody>
          </p:sp>
        </mc:Fallback>
      </mc:AlternateContent>
      <p:grpSp>
        <p:nvGrpSpPr>
          <p:cNvPr id="6" name="Group 5"/>
          <p:cNvGrpSpPr/>
          <p:nvPr/>
        </p:nvGrpSpPr>
        <p:grpSpPr>
          <a:xfrm>
            <a:off x="289321" y="2137301"/>
            <a:ext cx="7711679" cy="1150337"/>
            <a:chOff x="289321" y="2438400"/>
            <a:chExt cx="7711679" cy="1150337"/>
          </a:xfrm>
        </p:grpSpPr>
        <mc:AlternateContent xmlns:mc="http://schemas.openxmlformats.org/markup-compatibility/2006" xmlns:a14="http://schemas.microsoft.com/office/drawing/2010/main">
          <mc:Choice Requires="a14">
            <p:sp>
              <p:nvSpPr>
                <p:cNvPr id="5" name="Rectangle 4"/>
                <p:cNvSpPr/>
                <p:nvPr/>
              </p:nvSpPr>
              <p:spPr>
                <a:xfrm>
                  <a:off x="4495800" y="2768897"/>
                  <a:ext cx="909352" cy="81984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ad>
                          <m:radPr>
                            <m:degHide m:val="on"/>
                            <m:ctrlPr>
                              <a:rPr lang="en-GB" sz="1600" i="1" smtClean="0">
                                <a:latin typeface="Cambria Math" panose="02040503050406030204" pitchFamily="18" charset="0"/>
                                <a:ea typeface="Cambria Math"/>
                              </a:rPr>
                            </m:ctrlPr>
                          </m:radPr>
                          <m:deg/>
                          <m:e>
                            <m:f>
                              <m:fPr>
                                <m:ctrlPr>
                                  <a:rPr lang="en-GB" sz="1600" i="1">
                                    <a:latin typeface="Cambria Math" panose="02040503050406030204" pitchFamily="18" charset="0"/>
                                    <a:ea typeface="Cambria Math"/>
                                  </a:rPr>
                                </m:ctrlPr>
                              </m:fPr>
                              <m:num>
                                <m:r>
                                  <a:rPr lang="en-GB" sz="1600" i="1">
                                    <a:latin typeface="Cambria Math"/>
                                    <a:ea typeface="Cambria Math"/>
                                  </a:rPr>
                                  <m:t>𝑁</m:t>
                                </m:r>
                                <m:r>
                                  <a:rPr lang="en-GB" sz="1600" i="1">
                                    <a:latin typeface="Cambria Math"/>
                                    <a:ea typeface="Cambria Math"/>
                                  </a:rPr>
                                  <m:t>−</m:t>
                                </m:r>
                                <m:r>
                                  <a:rPr lang="en-GB" sz="1600" i="1">
                                    <a:latin typeface="Cambria Math"/>
                                    <a:ea typeface="Cambria Math"/>
                                  </a:rPr>
                                  <m:t>𝑛</m:t>
                                </m:r>
                              </m:num>
                              <m:den>
                                <m:r>
                                  <a:rPr lang="en-GB" sz="1600" b="0" i="1" smtClean="0">
                                    <a:latin typeface="Cambria Math"/>
                                    <a:ea typeface="Cambria Math"/>
                                  </a:rPr>
                                  <m:t>𝑁</m:t>
                                </m:r>
                                <m:r>
                                  <a:rPr lang="en-GB" sz="1600" i="1">
                                    <a:latin typeface="Cambria Math"/>
                                    <a:ea typeface="Cambria Math"/>
                                  </a:rPr>
                                  <m:t>−1</m:t>
                                </m:r>
                              </m:den>
                            </m:f>
                          </m:e>
                        </m:rad>
                      </m:oMath>
                    </m:oMathPara>
                  </a14:m>
                  <a:endParaRPr lang="en-GB" sz="1600" dirty="0"/>
                </a:p>
              </p:txBody>
            </p:sp>
          </mc:Choice>
          <mc:Fallback xmlns="">
            <p:sp>
              <p:nvSpPr>
                <p:cNvPr id="5" name="Rectangle 4"/>
                <p:cNvSpPr>
                  <a:spLocks noRot="1" noChangeAspect="1" noMove="1" noResize="1" noEditPoints="1" noAdjustHandles="1" noChangeArrowheads="1" noChangeShapeType="1" noTextEdit="1"/>
                </p:cNvSpPr>
                <p:nvPr/>
              </p:nvSpPr>
              <p:spPr>
                <a:xfrm>
                  <a:off x="4495800" y="2768897"/>
                  <a:ext cx="909352" cy="819840"/>
                </a:xfrm>
                <a:prstGeom prst="rect">
                  <a:avLst/>
                </a:prstGeom>
                <a:blipFill rotWithShape="1">
                  <a:blip r:embed="rId4"/>
                  <a:stretch>
                    <a:fillRect/>
                  </a:stretch>
                </a:blipFill>
              </p:spPr>
              <p:txBody>
                <a:bodyPr/>
                <a:lstStyle/>
                <a:p>
                  <a:r>
                    <a:rPr lang="en-GB">
                      <a:noFill/>
                    </a:rPr>
                    <a:t> </a:t>
                  </a:r>
                </a:p>
              </p:txBody>
            </p:sp>
          </mc:Fallback>
        </mc:AlternateContent>
        <p:sp>
          <p:nvSpPr>
            <p:cNvPr id="15" name="Rectangle 14"/>
            <p:cNvSpPr/>
            <p:nvPr/>
          </p:nvSpPr>
          <p:spPr>
            <a:xfrm>
              <a:off x="289321" y="2438400"/>
              <a:ext cx="7711679" cy="707886"/>
            </a:xfrm>
            <a:prstGeom prst="rect">
              <a:avLst/>
            </a:prstGeom>
          </p:spPr>
          <p:txBody>
            <a:bodyPr wrap="square">
              <a:spAutoFit/>
            </a:bodyPr>
            <a:lstStyle/>
            <a:p>
              <a:pPr>
                <a:buClr>
                  <a:srgbClr val="333399"/>
                </a:buClr>
                <a:buSzPct val="150000"/>
              </a:pPr>
              <a:r>
                <a:rPr lang="en-US" altLang="en-US" sz="2000" dirty="0"/>
                <a:t>The values of STEP and STEM should be adjusted by multiplying with the </a:t>
              </a:r>
              <a:r>
                <a:rPr lang="en-US" altLang="en-US" sz="2000" dirty="0">
                  <a:solidFill>
                    <a:srgbClr val="333399"/>
                  </a:solidFill>
                </a:rPr>
                <a:t>finite population correction (</a:t>
              </a:r>
              <a:r>
                <a:rPr lang="en-US" altLang="en-US" sz="2000" dirty="0" err="1">
                  <a:solidFill>
                    <a:srgbClr val="333399"/>
                  </a:solidFill>
                </a:rPr>
                <a:t>fpc</a:t>
              </a:r>
              <a:r>
                <a:rPr lang="en-US" altLang="en-US" sz="2000" dirty="0">
                  <a:solidFill>
                    <a:srgbClr val="333399"/>
                  </a:solidFill>
                </a:rPr>
                <a:t>) factor:</a:t>
              </a:r>
            </a:p>
          </p:txBody>
        </p:sp>
      </p:grpSp>
      <mc:AlternateContent xmlns:mc="http://schemas.openxmlformats.org/markup-compatibility/2006" xmlns:a14="http://schemas.microsoft.com/office/drawing/2010/main">
        <mc:Choice Requires="a14">
          <p:sp>
            <p:nvSpPr>
              <p:cNvPr id="17" name="Rectangle 16"/>
              <p:cNvSpPr/>
              <p:nvPr/>
            </p:nvSpPr>
            <p:spPr>
              <a:xfrm>
                <a:off x="4419600" y="3706520"/>
                <a:ext cx="3352800" cy="155128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GB" sz="1400" b="1" i="0" dirty="0">
                    <a:latin typeface="+mj-lt"/>
                    <a:ea typeface="Cambria Math"/>
                  </a:rPr>
                  <a:t>Adjusted STEP:</a:t>
                </a:r>
                <a:endParaRPr lang="en-GB" sz="1400" b="1" i="1" dirty="0">
                  <a:latin typeface="Cambria Math"/>
                  <a:ea typeface="Cambria Math"/>
                </a:endParaRPr>
              </a:p>
              <a:p>
                <a:pPr algn="ctr"/>
                <a14:m>
                  <m:oMathPara xmlns:m="http://schemas.openxmlformats.org/officeDocument/2006/math">
                    <m:oMathParaPr>
                      <m:jc m:val="center"/>
                    </m:oMathParaPr>
                    <m:oMath xmlns:m="http://schemas.openxmlformats.org/officeDocument/2006/math">
                      <m:sSub>
                        <m:sSubPr>
                          <m:ctrlPr>
                            <a:rPr lang="en-GB" sz="2000" i="1">
                              <a:latin typeface="Cambria Math" panose="02040503050406030204" pitchFamily="18" charset="0"/>
                              <a:ea typeface="Cambria Math"/>
                            </a:rPr>
                          </m:ctrlPr>
                        </m:sSubPr>
                        <m:e>
                          <m:r>
                            <a:rPr lang="en-GB" sz="2000" i="1">
                              <a:latin typeface="Cambria Math"/>
                              <a:ea typeface="Cambria Math"/>
                            </a:rPr>
                            <m:t>𝜎</m:t>
                          </m:r>
                        </m:e>
                        <m:sub>
                          <m:r>
                            <a:rPr lang="en-GB" sz="2000" b="0" i="1" smtClean="0">
                              <a:latin typeface="Cambria Math" panose="02040503050406030204" pitchFamily="18" charset="0"/>
                              <a:ea typeface="Cambria Math"/>
                            </a:rPr>
                            <m:t>𝑝</m:t>
                          </m:r>
                        </m:sub>
                      </m:sSub>
                      <m:r>
                        <a:rPr lang="en-GB" sz="1600" b="0" i="1" smtClean="0">
                          <a:latin typeface="Cambria Math"/>
                          <a:ea typeface="Cambria Math"/>
                        </a:rPr>
                        <m:t>=</m:t>
                      </m:r>
                      <m:rad>
                        <m:radPr>
                          <m:degHide m:val="on"/>
                          <m:ctrlPr>
                            <a:rPr lang="en-GB" sz="1600" i="1">
                              <a:latin typeface="Cambria Math" panose="02040503050406030204" pitchFamily="18" charset="0"/>
                              <a:ea typeface="Cambria Math"/>
                            </a:rPr>
                          </m:ctrlPr>
                        </m:radPr>
                        <m:deg/>
                        <m:e>
                          <m:f>
                            <m:fPr>
                              <m:ctrlPr>
                                <a:rPr lang="en-GB" sz="1600" i="1">
                                  <a:latin typeface="Cambria Math" panose="02040503050406030204" pitchFamily="18" charset="0"/>
                                  <a:ea typeface="Cambria Math"/>
                                </a:rPr>
                              </m:ctrlPr>
                            </m:fPr>
                            <m:num>
                              <m:r>
                                <a:rPr lang="en-GB" sz="1600" i="1">
                                  <a:latin typeface="Cambria Math"/>
                                  <a:ea typeface="Cambria Math"/>
                                </a:rPr>
                                <m:t>𝑝</m:t>
                              </m:r>
                              <m:d>
                                <m:dPr>
                                  <m:ctrlPr>
                                    <a:rPr lang="en-GB" sz="1600" i="1">
                                      <a:latin typeface="Cambria Math" panose="02040503050406030204" pitchFamily="18" charset="0"/>
                                      <a:ea typeface="Cambria Math"/>
                                    </a:rPr>
                                  </m:ctrlPr>
                                </m:dPr>
                                <m:e>
                                  <m:r>
                                    <a:rPr lang="en-GB" sz="1600" i="1">
                                      <a:latin typeface="Cambria Math"/>
                                      <a:ea typeface="Cambria Math"/>
                                    </a:rPr>
                                    <m:t>1−</m:t>
                                  </m:r>
                                  <m:r>
                                    <a:rPr lang="en-GB" sz="1600" i="1">
                                      <a:latin typeface="Cambria Math"/>
                                      <a:ea typeface="Cambria Math"/>
                                    </a:rPr>
                                    <m:t>𝑝</m:t>
                                  </m:r>
                                </m:e>
                              </m:d>
                            </m:num>
                            <m:den>
                              <m:r>
                                <a:rPr lang="en-GB" sz="1600" i="1">
                                  <a:latin typeface="Cambria Math"/>
                                  <a:ea typeface="Cambria Math"/>
                                </a:rPr>
                                <m:t>𝑛</m:t>
                              </m:r>
                            </m:den>
                          </m:f>
                        </m:e>
                      </m:rad>
                      <m:r>
                        <a:rPr lang="en-GB" sz="1600" i="1" smtClean="0">
                          <a:latin typeface="Cambria Math"/>
                          <a:ea typeface="Cambria Math"/>
                        </a:rPr>
                        <m:t>×</m:t>
                      </m:r>
                      <m:rad>
                        <m:radPr>
                          <m:degHide m:val="on"/>
                          <m:ctrlPr>
                            <a:rPr lang="en-GB" sz="1600" i="1" smtClean="0">
                              <a:latin typeface="Cambria Math" panose="02040503050406030204" pitchFamily="18" charset="0"/>
                              <a:ea typeface="Cambria Math"/>
                            </a:rPr>
                          </m:ctrlPr>
                        </m:radPr>
                        <m:deg/>
                        <m:e>
                          <m:f>
                            <m:fPr>
                              <m:ctrlPr>
                                <a:rPr lang="en-GB" sz="1600" i="1" smtClean="0">
                                  <a:latin typeface="Cambria Math" panose="02040503050406030204" pitchFamily="18" charset="0"/>
                                  <a:ea typeface="Cambria Math"/>
                                </a:rPr>
                              </m:ctrlPr>
                            </m:fPr>
                            <m:num>
                              <m:r>
                                <a:rPr lang="en-GB" sz="1600" b="0" i="1" smtClean="0">
                                  <a:latin typeface="Cambria Math"/>
                                  <a:ea typeface="Cambria Math"/>
                                </a:rPr>
                                <m:t>𝑁</m:t>
                              </m:r>
                              <m:r>
                                <a:rPr lang="en-GB" sz="1600" b="0" i="1" smtClean="0">
                                  <a:latin typeface="Cambria Math"/>
                                  <a:ea typeface="Cambria Math"/>
                                </a:rPr>
                                <m:t>−</m:t>
                              </m:r>
                              <m:r>
                                <a:rPr lang="en-GB" sz="1600" b="0" i="1" smtClean="0">
                                  <a:latin typeface="Cambria Math"/>
                                  <a:ea typeface="Cambria Math"/>
                                </a:rPr>
                                <m:t>𝑛</m:t>
                              </m:r>
                            </m:num>
                            <m:den>
                              <m:r>
                                <a:rPr lang="en-GB" sz="1600" b="0" i="1" smtClean="0">
                                  <a:latin typeface="Cambria Math"/>
                                  <a:ea typeface="Cambria Math"/>
                                </a:rPr>
                                <m:t>𝑁</m:t>
                              </m:r>
                              <m:r>
                                <a:rPr lang="en-GB" sz="1600" b="0" i="1" smtClean="0">
                                  <a:latin typeface="Cambria Math"/>
                                  <a:ea typeface="Cambria Math"/>
                                </a:rPr>
                                <m:t>−1</m:t>
                              </m:r>
                            </m:den>
                          </m:f>
                        </m:e>
                      </m:rad>
                    </m:oMath>
                  </m:oMathPara>
                </a14:m>
                <a:endParaRPr lang="en-GB" sz="2000" dirty="0"/>
              </a:p>
              <a:p>
                <a14:m>
                  <m:oMath xmlns:m="http://schemas.openxmlformats.org/officeDocument/2006/math">
                    <m:r>
                      <a:rPr lang="en-GB" sz="1100" b="0" i="1" smtClean="0">
                        <a:latin typeface="Cambria Math" panose="02040503050406030204" pitchFamily="18" charset="0"/>
                        <a:ea typeface="Cambria Math"/>
                      </a:rPr>
                      <m:t>𝑝</m:t>
                    </m:r>
                    <m:r>
                      <a:rPr lang="en-GB" sz="1100" i="1">
                        <a:latin typeface="Cambria Math"/>
                        <a:ea typeface="Cambria Math"/>
                      </a:rPr>
                      <m:t> </m:t>
                    </m:r>
                  </m:oMath>
                </a14:m>
                <a:r>
                  <a:rPr lang="en-US" altLang="en-US" sz="1100" dirty="0"/>
                  <a:t>= sample proportion</a:t>
                </a:r>
              </a:p>
              <a:p>
                <a14:m>
                  <m:oMath xmlns:m="http://schemas.openxmlformats.org/officeDocument/2006/math">
                    <m:r>
                      <a:rPr lang="en-US" altLang="en-US" sz="1100" i="1" dirty="0" smtClean="0">
                        <a:latin typeface="Cambria Math"/>
                      </a:rPr>
                      <m:t>𝑛</m:t>
                    </m:r>
                  </m:oMath>
                </a14:m>
                <a:r>
                  <a:rPr lang="en-US" altLang="en-US" sz="1100" dirty="0"/>
                  <a:t> = number in sample</a:t>
                </a:r>
              </a:p>
              <a:p>
                <a:r>
                  <a:rPr lang="en-US" altLang="en-US" sz="1100" dirty="0"/>
                  <a:t>N = population count</a:t>
                </a:r>
                <a:endParaRPr lang="en-GB" sz="1100" dirty="0"/>
              </a:p>
            </p:txBody>
          </p:sp>
        </mc:Choice>
        <mc:Fallback xmlns="">
          <p:sp>
            <p:nvSpPr>
              <p:cNvPr id="17" name="Rectangle 16"/>
              <p:cNvSpPr>
                <a:spLocks noRot="1" noChangeAspect="1" noMove="1" noResize="1" noEditPoints="1" noAdjustHandles="1" noChangeArrowheads="1" noChangeShapeType="1" noTextEdit="1"/>
              </p:cNvSpPr>
              <p:nvPr/>
            </p:nvSpPr>
            <p:spPr>
              <a:xfrm>
                <a:off x="4419600" y="3706520"/>
                <a:ext cx="3352800" cy="1551280"/>
              </a:xfrm>
              <a:prstGeom prst="rect">
                <a:avLst/>
              </a:prstGeom>
              <a:blipFill>
                <a:blip r:embed="rId5"/>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3502262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3" grpId="0" animBg="1"/>
      <p:bldP spid="17"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Reading…</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112837"/>
                <a:ext cx="8229600" cy="4525963"/>
              </a:xfrm>
            </p:spPr>
            <p:txBody>
              <a:bodyPr>
                <a:normAutofit/>
              </a:bodyPr>
              <a:lstStyle/>
              <a:p>
                <a:pPr marL="0" indent="0">
                  <a:buNone/>
                </a:pPr>
                <a:r>
                  <a:rPr lang="en-GB" dirty="0"/>
                  <a:t>Berenson et al. (2015)</a:t>
                </a:r>
              </a:p>
              <a:p>
                <a:pPr marL="0" indent="0">
                  <a:buNone/>
                </a:pPr>
                <a:r>
                  <a:rPr lang="en-GB" sz="1800" dirty="0"/>
                  <a:t>Chapter 7</a:t>
                </a:r>
              </a:p>
              <a:p>
                <a:pPr marL="400050" lvl="1" indent="0">
                  <a:buNone/>
                </a:pPr>
                <a:r>
                  <a:rPr lang="en-GB" sz="1400" dirty="0"/>
                  <a:t>Types of Sampling Method</a:t>
                </a:r>
              </a:p>
              <a:p>
                <a:pPr marL="400050" lvl="1" indent="0">
                  <a:buNone/>
                </a:pPr>
                <a:r>
                  <a:rPr lang="en-GB" sz="1400" dirty="0"/>
                  <a:t>Evaluating Survey Worthiness</a:t>
                </a:r>
              </a:p>
              <a:p>
                <a:pPr marL="400050" lvl="1" indent="0">
                  <a:buNone/>
                </a:pPr>
                <a:r>
                  <a:rPr lang="en-GB" sz="1400" dirty="0"/>
                  <a:t>Sampling Distributions</a:t>
                </a:r>
              </a:p>
              <a:p>
                <a:pPr marL="400050" lvl="1" indent="0">
                  <a:buNone/>
                </a:pPr>
                <a:endParaRPr lang="en-GB" sz="1400" dirty="0"/>
              </a:p>
              <a:p>
                <a:pPr marL="0" indent="0">
                  <a:buNone/>
                </a:pPr>
                <a:r>
                  <a:rPr lang="en-GB" sz="1800" dirty="0"/>
                  <a:t>Chapter 8, Sections 8.1-8.4 &amp; 8.6</a:t>
                </a:r>
              </a:p>
              <a:p>
                <a:pPr marL="400050" lvl="1" indent="0">
                  <a:buNone/>
                </a:pPr>
                <a:r>
                  <a:rPr lang="en-GB" sz="1400" dirty="0"/>
                  <a:t>Confidence Interval Estimation for the Mean (</a:t>
                </a:r>
                <a14:m>
                  <m:oMath xmlns:m="http://schemas.openxmlformats.org/officeDocument/2006/math">
                    <m:r>
                      <a:rPr lang="en-GB" sz="1400" i="1">
                        <a:latin typeface="Cambria Math"/>
                        <a:ea typeface="Cambria Math"/>
                      </a:rPr>
                      <m:t>𝜎</m:t>
                    </m:r>
                  </m:oMath>
                </a14:m>
                <a:r>
                  <a:rPr lang="en-US" sz="1400" dirty="0"/>
                  <a:t> known)</a:t>
                </a:r>
              </a:p>
              <a:p>
                <a:pPr marL="400050" lvl="1" indent="0">
                  <a:buNone/>
                </a:pPr>
                <a:r>
                  <a:rPr lang="en-GB" sz="1400" dirty="0"/>
                  <a:t>Confidence Interval Estimation for the Mean (</a:t>
                </a:r>
                <a14:m>
                  <m:oMath xmlns:m="http://schemas.openxmlformats.org/officeDocument/2006/math">
                    <m:r>
                      <a:rPr lang="en-GB" sz="1400" i="1">
                        <a:latin typeface="Cambria Math"/>
                        <a:ea typeface="Cambria Math"/>
                      </a:rPr>
                      <m:t>𝜎</m:t>
                    </m:r>
                  </m:oMath>
                </a14:m>
                <a:r>
                  <a:rPr lang="en-US" sz="1400" dirty="0"/>
                  <a:t> unknown)</a:t>
                </a:r>
              </a:p>
              <a:p>
                <a:pPr marL="400050" lvl="1" indent="0">
                  <a:buNone/>
                </a:pPr>
                <a:r>
                  <a:rPr lang="en-GB" sz="1400" dirty="0"/>
                  <a:t>Confidence Interval Estimation for the Proportion</a:t>
                </a:r>
                <a:endParaRPr lang="en-US" sz="1400" dirty="0"/>
              </a:p>
              <a:p>
                <a:pPr marL="400050" lvl="1" indent="0">
                  <a:buNone/>
                </a:pPr>
                <a:r>
                  <a:rPr lang="en-GB" sz="1400" dirty="0"/>
                  <a:t>Determining Sample Size</a:t>
                </a:r>
              </a:p>
              <a:p>
                <a:pPr marL="400050" lvl="1" indent="0">
                  <a:buNone/>
                </a:pPr>
                <a:r>
                  <a:rPr lang="en-GB" sz="1400" dirty="0"/>
                  <a:t>Confidence Interval Estimation and Ethical Issues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112837"/>
                <a:ext cx="8229600" cy="4525963"/>
              </a:xfrm>
              <a:blipFill>
                <a:blip r:embed="rId3"/>
                <a:stretch>
                  <a:fillRect l="-1852" t="-1752"/>
                </a:stretch>
              </a:blipFill>
            </p:spPr>
            <p:txBody>
              <a:bodyPr/>
              <a:lstStyle/>
              <a:p>
                <a:r>
                  <a:rPr lang="en-GB">
                    <a:noFill/>
                  </a:rPr>
                  <a:t> </a:t>
                </a:r>
              </a:p>
            </p:txBody>
          </p:sp>
        </mc:Fallback>
      </mc:AlternateContent>
      <p:pic>
        <p:nvPicPr>
          <p:cNvPr id="4" name="Content Placeholder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79476" y="1600200"/>
            <a:ext cx="2953263" cy="37639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361501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8" name="Straight Arrow Connector 127"/>
          <p:cNvCxnSpPr>
            <a:stCxn id="124" idx="1"/>
            <a:endCxn id="108" idx="2"/>
          </p:cNvCxnSpPr>
          <p:nvPr/>
        </p:nvCxnSpPr>
        <p:spPr>
          <a:xfrm>
            <a:off x="533400" y="2688209"/>
            <a:ext cx="5890947" cy="3172"/>
          </a:xfrm>
          <a:prstGeom prst="straightConnector1">
            <a:avLst/>
          </a:prstGeom>
          <a:ln w="17780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43" name="Straight Arrow Connector 142"/>
          <p:cNvCxnSpPr>
            <a:stCxn id="124" idx="1"/>
            <a:endCxn id="108" idx="2"/>
          </p:cNvCxnSpPr>
          <p:nvPr/>
        </p:nvCxnSpPr>
        <p:spPr>
          <a:xfrm>
            <a:off x="533400" y="2688209"/>
            <a:ext cx="5890947" cy="3172"/>
          </a:xfrm>
          <a:prstGeom prst="straightConnector1">
            <a:avLst/>
          </a:prstGeom>
          <a:ln w="9525" cap="flat" cmpd="sng" algn="ctr">
            <a:solidFill>
              <a:schemeClr val="bg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99" name="Rounded Rectangle 64"/>
          <p:cNvSpPr/>
          <p:nvPr/>
        </p:nvSpPr>
        <p:spPr>
          <a:xfrm>
            <a:off x="1066800" y="1295400"/>
            <a:ext cx="7010400" cy="4676775"/>
          </a:xfrm>
          <a:prstGeom prst="roundRect">
            <a:avLst/>
          </a:prstGeom>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sp>
        <p:nvSpPr>
          <p:cNvPr id="124" name="Pentagon 41"/>
          <p:cNvSpPr/>
          <p:nvPr/>
        </p:nvSpPr>
        <p:spPr>
          <a:xfrm>
            <a:off x="533400" y="2557018"/>
            <a:ext cx="122819" cy="262382"/>
          </a:xfrm>
          <a:prstGeom prst="rect">
            <a:avLst/>
          </a:prstGeom>
          <a:solidFill>
            <a:schemeClr val="tx1">
              <a:lumMod val="50000"/>
              <a:lumOff val="50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sz="2000" b="1" dirty="0"/>
          </a:p>
        </p:txBody>
      </p:sp>
      <p:cxnSp>
        <p:nvCxnSpPr>
          <p:cNvPr id="135" name="Elbow Connector 73"/>
          <p:cNvCxnSpPr>
            <a:stCxn id="122" idx="0"/>
            <a:endCxn id="110" idx="6"/>
          </p:cNvCxnSpPr>
          <p:nvPr/>
        </p:nvCxnSpPr>
        <p:spPr>
          <a:xfrm rot="16200000" flipV="1">
            <a:off x="4670377" y="2285111"/>
            <a:ext cx="716160" cy="5438768"/>
          </a:xfrm>
          <a:prstGeom prst="bentConnector2">
            <a:avLst/>
          </a:prstGeom>
          <a:ln w="177800"/>
        </p:spPr>
        <p:style>
          <a:lnRef idx="1">
            <a:schemeClr val="dk1"/>
          </a:lnRef>
          <a:fillRef idx="0">
            <a:schemeClr val="dk1"/>
          </a:fillRef>
          <a:effectRef idx="0">
            <a:schemeClr val="dk1"/>
          </a:effectRef>
          <a:fontRef idx="minor">
            <a:schemeClr val="tx1"/>
          </a:fontRef>
        </p:style>
      </p:cxnSp>
      <p:sp>
        <p:nvSpPr>
          <p:cNvPr id="101" name="Rectangle 100"/>
          <p:cNvSpPr/>
          <p:nvPr/>
        </p:nvSpPr>
        <p:spPr>
          <a:xfrm>
            <a:off x="2651263" y="2025045"/>
            <a:ext cx="1001621" cy="307777"/>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Probability</a:t>
            </a:r>
            <a:endParaRPr lang="en-GB" sz="1400" dirty="0"/>
          </a:p>
        </p:txBody>
      </p:sp>
      <p:sp>
        <p:nvSpPr>
          <p:cNvPr id="103" name="Rectangle 102"/>
          <p:cNvSpPr/>
          <p:nvPr/>
        </p:nvSpPr>
        <p:spPr>
          <a:xfrm>
            <a:off x="1474886" y="1799422"/>
            <a:ext cx="1020664" cy="523220"/>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Descriptive</a:t>
            </a:r>
          </a:p>
          <a:p>
            <a:pPr algn="ctr"/>
            <a:r>
              <a:rPr lang="en-GB" sz="1400" b="1" dirty="0"/>
              <a:t>Statistics</a:t>
            </a:r>
            <a:endParaRPr lang="en-GB" sz="1400" dirty="0"/>
          </a:p>
        </p:txBody>
      </p:sp>
      <p:sp>
        <p:nvSpPr>
          <p:cNvPr id="105" name="Rectangle 104"/>
          <p:cNvSpPr/>
          <p:nvPr/>
        </p:nvSpPr>
        <p:spPr>
          <a:xfrm>
            <a:off x="3808597" y="1799422"/>
            <a:ext cx="1149289" cy="523220"/>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Probability</a:t>
            </a:r>
          </a:p>
          <a:p>
            <a:pPr algn="ctr"/>
            <a:r>
              <a:rPr lang="en-GB" sz="1400" b="1" dirty="0"/>
              <a:t>Distributions</a:t>
            </a:r>
            <a:endParaRPr lang="en-GB" sz="1400" dirty="0"/>
          </a:p>
        </p:txBody>
      </p:sp>
      <p:sp>
        <p:nvSpPr>
          <p:cNvPr id="107" name="Rectangle 106"/>
          <p:cNvSpPr/>
          <p:nvPr/>
        </p:nvSpPr>
        <p:spPr>
          <a:xfrm>
            <a:off x="6275649" y="1799422"/>
            <a:ext cx="1013418" cy="523220"/>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Hypothesis</a:t>
            </a:r>
          </a:p>
          <a:p>
            <a:pPr algn="ctr"/>
            <a:r>
              <a:rPr lang="en-GB" sz="1400" b="1" dirty="0"/>
              <a:t>Testing 1</a:t>
            </a:r>
            <a:endParaRPr lang="en-GB" sz="1400" dirty="0"/>
          </a:p>
        </p:txBody>
      </p:sp>
      <p:sp>
        <p:nvSpPr>
          <p:cNvPr id="109" name="Rectangle 108"/>
          <p:cNvSpPr/>
          <p:nvPr/>
        </p:nvSpPr>
        <p:spPr>
          <a:xfrm>
            <a:off x="2594245" y="5039380"/>
            <a:ext cx="1113318" cy="523220"/>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Testing</a:t>
            </a:r>
          </a:p>
          <a:p>
            <a:pPr algn="ctr"/>
            <a:r>
              <a:rPr lang="en-GB" sz="1400" b="1" dirty="0"/>
              <a:t>Relationship</a:t>
            </a:r>
            <a:endParaRPr lang="en-GB" sz="1400" dirty="0"/>
          </a:p>
        </p:txBody>
      </p:sp>
      <p:sp>
        <p:nvSpPr>
          <p:cNvPr id="111" name="Rectangle 110"/>
          <p:cNvSpPr/>
          <p:nvPr/>
        </p:nvSpPr>
        <p:spPr>
          <a:xfrm>
            <a:off x="3886201" y="5054798"/>
            <a:ext cx="991169" cy="307777"/>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Regression</a:t>
            </a:r>
            <a:endParaRPr lang="en-GB" sz="1400" dirty="0"/>
          </a:p>
        </p:txBody>
      </p:sp>
      <p:sp>
        <p:nvSpPr>
          <p:cNvPr id="113" name="Rectangle 112"/>
          <p:cNvSpPr/>
          <p:nvPr/>
        </p:nvSpPr>
        <p:spPr>
          <a:xfrm>
            <a:off x="6334125" y="5085080"/>
            <a:ext cx="904875" cy="523220"/>
          </a:xfrm>
          <a:prstGeom prst="rect">
            <a:avLst/>
          </a:prstGeom>
          <a:effectLst>
            <a:outerShdw blurRad="50800" dist="38100" dir="18900000" algn="bl" rotWithShape="0">
              <a:prstClr val="black">
                <a:alpha val="40000"/>
              </a:prstClr>
            </a:outerShdw>
          </a:effectLst>
        </p:spPr>
        <p:txBody>
          <a:bodyPr wrap="square">
            <a:spAutoFit/>
          </a:bodyPr>
          <a:lstStyle/>
          <a:p>
            <a:pPr algn="ctr"/>
            <a:r>
              <a:rPr lang="en-GB" sz="1400" b="1" dirty="0"/>
              <a:t>Factor</a:t>
            </a:r>
          </a:p>
          <a:p>
            <a:pPr algn="ctr"/>
            <a:r>
              <a:rPr lang="en-GB" sz="1400" b="1" dirty="0"/>
              <a:t>Analysis</a:t>
            </a:r>
          </a:p>
        </p:txBody>
      </p:sp>
      <p:sp>
        <p:nvSpPr>
          <p:cNvPr id="115" name="Rectangle 114"/>
          <p:cNvSpPr/>
          <p:nvPr/>
        </p:nvSpPr>
        <p:spPr>
          <a:xfrm>
            <a:off x="5225248" y="1981200"/>
            <a:ext cx="870752" cy="307777"/>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Sampling</a:t>
            </a:r>
          </a:p>
        </p:txBody>
      </p:sp>
      <p:sp>
        <p:nvSpPr>
          <p:cNvPr id="122" name="Oval 121"/>
          <p:cNvSpPr/>
          <p:nvPr/>
        </p:nvSpPr>
        <p:spPr>
          <a:xfrm>
            <a:off x="7385891" y="5362575"/>
            <a:ext cx="723900" cy="695325"/>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sz="1100" dirty="0"/>
              <a:t>Week</a:t>
            </a:r>
          </a:p>
          <a:p>
            <a:pPr algn="ctr"/>
            <a:r>
              <a:rPr lang="en-GB" sz="2000" b="1" dirty="0"/>
              <a:t>11</a:t>
            </a:r>
          </a:p>
        </p:txBody>
      </p:sp>
      <p:sp>
        <p:nvSpPr>
          <p:cNvPr id="123" name="Rectangle 122"/>
          <p:cNvSpPr/>
          <p:nvPr/>
        </p:nvSpPr>
        <p:spPr>
          <a:xfrm>
            <a:off x="7342281" y="6106180"/>
            <a:ext cx="811119" cy="307777"/>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Revision</a:t>
            </a:r>
          </a:p>
        </p:txBody>
      </p:sp>
      <p:sp>
        <p:nvSpPr>
          <p:cNvPr id="126" name="Rectangle 125"/>
          <p:cNvSpPr/>
          <p:nvPr/>
        </p:nvSpPr>
        <p:spPr>
          <a:xfrm>
            <a:off x="5134855" y="5090072"/>
            <a:ext cx="1045478" cy="523220"/>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Conditional</a:t>
            </a:r>
          </a:p>
          <a:p>
            <a:pPr algn="ctr"/>
            <a:r>
              <a:rPr lang="en-GB" sz="1400" b="1" dirty="0"/>
              <a:t>Probability</a:t>
            </a:r>
            <a:endParaRPr lang="en-GB" sz="1400" dirty="0"/>
          </a:p>
        </p:txBody>
      </p:sp>
      <p:cxnSp>
        <p:nvCxnSpPr>
          <p:cNvPr id="127" name="Elbow Connector 46"/>
          <p:cNvCxnSpPr>
            <a:stCxn id="110" idx="2"/>
            <a:endCxn id="108" idx="6"/>
          </p:cNvCxnSpPr>
          <p:nvPr/>
        </p:nvCxnSpPr>
        <p:spPr>
          <a:xfrm rot="10800000" flipH="1">
            <a:off x="1585173" y="2691381"/>
            <a:ext cx="5563074" cy="1955034"/>
          </a:xfrm>
          <a:prstGeom prst="bentConnector5">
            <a:avLst>
              <a:gd name="adj1" fmla="val -4109"/>
              <a:gd name="adj2" fmla="val 50000"/>
              <a:gd name="adj3" fmla="val 104109"/>
            </a:avLst>
          </a:prstGeom>
          <a:ln w="177800"/>
        </p:spPr>
        <p:style>
          <a:lnRef idx="1">
            <a:schemeClr val="dk1"/>
          </a:lnRef>
          <a:fillRef idx="0">
            <a:schemeClr val="dk1"/>
          </a:fillRef>
          <a:effectRef idx="0">
            <a:schemeClr val="dk1"/>
          </a:effectRef>
          <a:fontRef idx="minor">
            <a:schemeClr val="tx1"/>
          </a:fontRef>
        </p:style>
      </p:cxnSp>
      <p:sp>
        <p:nvSpPr>
          <p:cNvPr id="136" name="Title 1"/>
          <p:cNvSpPr>
            <a:spLocks noGrp="1"/>
          </p:cNvSpPr>
          <p:nvPr>
            <p:ph type="title"/>
          </p:nvPr>
        </p:nvSpPr>
        <p:spPr>
          <a:xfrm>
            <a:off x="304800" y="76200"/>
            <a:ext cx="8229600" cy="869277"/>
          </a:xfrm>
        </p:spPr>
        <p:txBody>
          <a:bodyPr/>
          <a:lstStyle/>
          <a:p>
            <a:r>
              <a:rPr lang="en-GB" dirty="0"/>
              <a:t>Module Overview</a:t>
            </a:r>
          </a:p>
        </p:txBody>
      </p:sp>
      <p:sp>
        <p:nvSpPr>
          <p:cNvPr id="137" name="Rectangle 136"/>
          <p:cNvSpPr/>
          <p:nvPr/>
        </p:nvSpPr>
        <p:spPr>
          <a:xfrm>
            <a:off x="1447800" y="5029200"/>
            <a:ext cx="1013419" cy="523220"/>
          </a:xfrm>
          <a:prstGeom prst="rect">
            <a:avLst/>
          </a:prstGeom>
          <a:effectLst>
            <a:outerShdw blurRad="50800" dist="38100" dir="18900000" algn="bl" rotWithShape="0">
              <a:prstClr val="black">
                <a:alpha val="40000"/>
              </a:prstClr>
            </a:outerShdw>
          </a:effectLst>
        </p:spPr>
        <p:txBody>
          <a:bodyPr wrap="none">
            <a:spAutoFit/>
          </a:bodyPr>
          <a:lstStyle/>
          <a:p>
            <a:pPr algn="ctr"/>
            <a:r>
              <a:rPr lang="en-GB" sz="1400" b="1" dirty="0"/>
              <a:t>Hypothesis</a:t>
            </a:r>
          </a:p>
          <a:p>
            <a:pPr algn="ctr"/>
            <a:r>
              <a:rPr lang="en-GB" sz="1400" b="1" dirty="0"/>
              <a:t>Testing 2</a:t>
            </a:r>
          </a:p>
        </p:txBody>
      </p:sp>
      <p:cxnSp>
        <p:nvCxnSpPr>
          <p:cNvPr id="142" name="Elbow Connector 73"/>
          <p:cNvCxnSpPr>
            <a:stCxn id="122" idx="0"/>
            <a:endCxn id="110" idx="6"/>
          </p:cNvCxnSpPr>
          <p:nvPr/>
        </p:nvCxnSpPr>
        <p:spPr>
          <a:xfrm rot="16200000" flipV="1">
            <a:off x="4670377" y="2285111"/>
            <a:ext cx="716160" cy="5438768"/>
          </a:xfrm>
          <a:prstGeom prst="bentConnector2">
            <a:avLst/>
          </a:prstGeom>
          <a:ln w="9525" cap="flat" cmpd="sng" algn="ctr">
            <a:solidFill>
              <a:schemeClr val="bg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44" name="Elbow Connector 46"/>
          <p:cNvCxnSpPr>
            <a:stCxn id="110" idx="2"/>
            <a:endCxn id="108" idx="6"/>
          </p:cNvCxnSpPr>
          <p:nvPr/>
        </p:nvCxnSpPr>
        <p:spPr>
          <a:xfrm rot="10800000" flipH="1">
            <a:off x="1585173" y="2691381"/>
            <a:ext cx="5563074" cy="1955034"/>
          </a:xfrm>
          <a:prstGeom prst="bentConnector5">
            <a:avLst>
              <a:gd name="adj1" fmla="val -4109"/>
              <a:gd name="adj2" fmla="val 50000"/>
              <a:gd name="adj3" fmla="val 104109"/>
            </a:avLst>
          </a:prstGeom>
          <a:ln w="9525" cap="flat" cmpd="sng" algn="ctr">
            <a:solidFill>
              <a:schemeClr val="bg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10" name="Oval 109"/>
          <p:cNvSpPr/>
          <p:nvPr/>
        </p:nvSpPr>
        <p:spPr>
          <a:xfrm>
            <a:off x="1585173" y="4298752"/>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6</a:t>
            </a:r>
          </a:p>
        </p:txBody>
      </p:sp>
      <p:sp>
        <p:nvSpPr>
          <p:cNvPr id="112" name="Oval 111"/>
          <p:cNvSpPr/>
          <p:nvPr/>
        </p:nvSpPr>
        <p:spPr>
          <a:xfrm>
            <a:off x="2767095" y="4298752"/>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7</a:t>
            </a:r>
          </a:p>
        </p:txBody>
      </p:sp>
      <p:sp>
        <p:nvSpPr>
          <p:cNvPr id="114" name="Oval 113"/>
          <p:cNvSpPr/>
          <p:nvPr/>
        </p:nvSpPr>
        <p:spPr>
          <a:xfrm>
            <a:off x="4006152" y="4298752"/>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8</a:t>
            </a:r>
          </a:p>
        </p:txBody>
      </p:sp>
      <p:sp>
        <p:nvSpPr>
          <p:cNvPr id="116" name="Oval 115"/>
          <p:cNvSpPr/>
          <p:nvPr/>
        </p:nvSpPr>
        <p:spPr>
          <a:xfrm>
            <a:off x="6424348" y="4298752"/>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10</a:t>
            </a:r>
          </a:p>
        </p:txBody>
      </p:sp>
      <p:sp>
        <p:nvSpPr>
          <p:cNvPr id="125" name="Oval 124"/>
          <p:cNvSpPr/>
          <p:nvPr/>
        </p:nvSpPr>
        <p:spPr>
          <a:xfrm>
            <a:off x="5304166" y="4298752"/>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9</a:t>
            </a:r>
          </a:p>
        </p:txBody>
      </p:sp>
      <p:sp>
        <p:nvSpPr>
          <p:cNvPr id="100" name="Oval 99"/>
          <p:cNvSpPr/>
          <p:nvPr/>
        </p:nvSpPr>
        <p:spPr>
          <a:xfrm>
            <a:off x="2790125" y="2345979"/>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2</a:t>
            </a:r>
          </a:p>
        </p:txBody>
      </p:sp>
      <p:sp>
        <p:nvSpPr>
          <p:cNvPr id="104" name="Oval 103"/>
          <p:cNvSpPr/>
          <p:nvPr/>
        </p:nvSpPr>
        <p:spPr>
          <a:xfrm>
            <a:off x="4019643" y="2345979"/>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3</a:t>
            </a:r>
          </a:p>
        </p:txBody>
      </p:sp>
      <p:sp>
        <p:nvSpPr>
          <p:cNvPr id="106" name="Oval 105"/>
          <p:cNvSpPr/>
          <p:nvPr/>
        </p:nvSpPr>
        <p:spPr>
          <a:xfrm>
            <a:off x="5255214" y="2343718"/>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4</a:t>
            </a:r>
          </a:p>
        </p:txBody>
      </p:sp>
      <p:sp>
        <p:nvSpPr>
          <p:cNvPr id="108" name="Oval 107"/>
          <p:cNvSpPr/>
          <p:nvPr/>
        </p:nvSpPr>
        <p:spPr>
          <a:xfrm>
            <a:off x="6424347" y="2343718"/>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5</a:t>
            </a:r>
          </a:p>
        </p:txBody>
      </p:sp>
      <p:sp>
        <p:nvSpPr>
          <p:cNvPr id="138" name="Oval 137"/>
          <p:cNvSpPr/>
          <p:nvPr/>
        </p:nvSpPr>
        <p:spPr>
          <a:xfrm>
            <a:off x="1600200" y="2352675"/>
            <a:ext cx="723900" cy="695325"/>
          </a:xfrm>
          <a:prstGeom prst="ellipse">
            <a:avLst/>
          </a:prstGeom>
          <a:effectLst>
            <a:outerShdw blurRad="76200" dir="18900000" sy="23000" kx="-1200000" algn="bl" rotWithShape="0">
              <a:prstClr val="black">
                <a:alpha val="2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r>
              <a:rPr lang="en-GB" sz="1100" dirty="0"/>
              <a:t>Week</a:t>
            </a:r>
          </a:p>
          <a:p>
            <a:pPr algn="ctr"/>
            <a:r>
              <a:rPr lang="en-GB" sz="2000" b="1" dirty="0"/>
              <a:t>1</a:t>
            </a:r>
          </a:p>
        </p:txBody>
      </p:sp>
      <p:cxnSp>
        <p:nvCxnSpPr>
          <p:cNvPr id="181" name="Straight Arrow Connector 180"/>
          <p:cNvCxnSpPr>
            <a:stCxn id="180" idx="3"/>
            <a:endCxn id="122" idx="6"/>
          </p:cNvCxnSpPr>
          <p:nvPr/>
        </p:nvCxnSpPr>
        <p:spPr>
          <a:xfrm flipH="1">
            <a:off x="8109791" y="5709209"/>
            <a:ext cx="779641" cy="1029"/>
          </a:xfrm>
          <a:prstGeom prst="straightConnector1">
            <a:avLst/>
          </a:prstGeom>
          <a:ln w="17780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82" name="Straight Arrow Connector 181"/>
          <p:cNvCxnSpPr>
            <a:stCxn id="180" idx="3"/>
            <a:endCxn id="122" idx="6"/>
          </p:cNvCxnSpPr>
          <p:nvPr/>
        </p:nvCxnSpPr>
        <p:spPr>
          <a:xfrm flipH="1">
            <a:off x="8109791" y="5709209"/>
            <a:ext cx="779641" cy="1029"/>
          </a:xfrm>
          <a:prstGeom prst="straightConnector1">
            <a:avLst/>
          </a:prstGeom>
          <a:ln w="9525" cap="flat" cmpd="sng" algn="ctr">
            <a:solidFill>
              <a:schemeClr val="bg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80" name="Pentagon 41"/>
          <p:cNvSpPr/>
          <p:nvPr/>
        </p:nvSpPr>
        <p:spPr>
          <a:xfrm>
            <a:off x="8766613" y="5578018"/>
            <a:ext cx="122819" cy="262382"/>
          </a:xfrm>
          <a:prstGeom prst="rect">
            <a:avLst/>
          </a:prstGeom>
          <a:solidFill>
            <a:schemeClr val="tx1">
              <a:lumMod val="50000"/>
              <a:lumOff val="50000"/>
            </a:scheme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sz="2000" b="1" dirty="0"/>
          </a:p>
        </p:txBody>
      </p:sp>
    </p:spTree>
    <p:extLst>
      <p:ext uri="{BB962C8B-B14F-4D97-AF65-F5344CB8AC3E}">
        <p14:creationId xmlns:p14="http://schemas.microsoft.com/office/powerpoint/2010/main" val="329894357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LUBS5586M Week-08 Sampling"/>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324</TotalTime>
  <Words>3022</Words>
  <Application>Microsoft Office PowerPoint</Application>
  <PresentationFormat>On-screen Show (4:3)</PresentationFormat>
  <Paragraphs>474</Paragraphs>
  <Slides>35</Slides>
  <Notes>26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35</vt:i4>
      </vt:variant>
    </vt:vector>
  </HeadingPairs>
  <TitlesOfParts>
    <vt:vector size="42" baseType="lpstr">
      <vt:lpstr>GreekMathSymbols</vt:lpstr>
      <vt:lpstr>Monotype Sorts</vt:lpstr>
      <vt:lpstr>Arial</vt:lpstr>
      <vt:lpstr>Calibri</vt:lpstr>
      <vt:lpstr>Cambria Math</vt:lpstr>
      <vt:lpstr>Times New Roman</vt:lpstr>
      <vt:lpstr>Office Theme</vt:lpstr>
      <vt:lpstr>Module Overview</vt:lpstr>
      <vt:lpstr>Information from Samples</vt:lpstr>
      <vt:lpstr>Information from Samples</vt:lpstr>
      <vt:lpstr>Information from Samples</vt:lpstr>
      <vt:lpstr>Types of sampling</vt:lpstr>
      <vt:lpstr>More on sampling before we stop,  but we will also see that in the dissertation and research methods module</vt:lpstr>
      <vt:lpstr>Procedure for sampling</vt:lpstr>
      <vt:lpstr>Statistical Inference</vt:lpstr>
      <vt:lpstr>Statistical Inference</vt:lpstr>
      <vt:lpstr>Proportions</vt:lpstr>
      <vt:lpstr>Statistical inferences about proportions</vt:lpstr>
      <vt:lpstr>Confidence Interval for proportions</vt:lpstr>
      <vt:lpstr>Confidence Interval for proportions</vt:lpstr>
      <vt:lpstr>Example Problem 1</vt:lpstr>
      <vt:lpstr>Example Problem 1</vt:lpstr>
      <vt:lpstr>Example Problem 1</vt:lpstr>
      <vt:lpstr>Example Problem 1</vt:lpstr>
      <vt:lpstr>Sample size for target confidence level</vt:lpstr>
      <vt:lpstr>Example Problem 2</vt:lpstr>
      <vt:lpstr>Example Problem 2</vt:lpstr>
      <vt:lpstr>Exercise Problem 1</vt:lpstr>
      <vt:lpstr>Exercise Problem 2</vt:lpstr>
      <vt:lpstr>10 Minutes Break</vt:lpstr>
      <vt:lpstr>Means</vt:lpstr>
      <vt:lpstr>But what is the difference between standard error and standard deviation?</vt:lpstr>
      <vt:lpstr>Statistical inferences about means</vt:lpstr>
      <vt:lpstr>Z-Score vs T-Score</vt:lpstr>
      <vt:lpstr>Example Problem 3</vt:lpstr>
      <vt:lpstr>Example Problem 3</vt:lpstr>
      <vt:lpstr>Example Problem 4</vt:lpstr>
      <vt:lpstr>Example Problem 4</vt:lpstr>
      <vt:lpstr>Exercise Problem 3</vt:lpstr>
      <vt:lpstr>Finite population!</vt:lpstr>
      <vt:lpstr>Reading…</vt:lpstr>
      <vt:lpstr>Module Overview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LUBS5586M Week-08 Sampling</dc:title>
  <dc:creator>Sajid Siraj</dc:creator>
  <cp:lastModifiedBy>Peizhi Shi</cp:lastModifiedBy>
  <cp:revision>309</cp:revision>
  <dcterms:created xsi:type="dcterms:W3CDTF">2006-08-16T00:00:00Z</dcterms:created>
  <dcterms:modified xsi:type="dcterms:W3CDTF">2024-10-21T19:41:38Z</dcterms:modified>
</cp:coreProperties>
</file>