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1"/>
  </p:notesMasterIdLst>
  <p:sldIdLst>
    <p:sldId id="279" r:id="rId2"/>
    <p:sldId id="289" r:id="rId3"/>
    <p:sldId id="568" r:id="rId4"/>
    <p:sldId id="295" r:id="rId5"/>
    <p:sldId id="569" r:id="rId6"/>
    <p:sldId id="570" r:id="rId7"/>
    <p:sldId id="296" r:id="rId8"/>
    <p:sldId id="297" r:id="rId9"/>
    <p:sldId id="534" r:id="rId10"/>
    <p:sldId id="536" r:id="rId11"/>
    <p:sldId id="537" r:id="rId12"/>
    <p:sldId id="538" r:id="rId13"/>
    <p:sldId id="539" r:id="rId14"/>
    <p:sldId id="540" r:id="rId15"/>
    <p:sldId id="541" r:id="rId16"/>
    <p:sldId id="551" r:id="rId17"/>
    <p:sldId id="552" r:id="rId18"/>
    <p:sldId id="553" r:id="rId19"/>
    <p:sldId id="554" r:id="rId20"/>
    <p:sldId id="556" r:id="rId21"/>
    <p:sldId id="557" r:id="rId22"/>
    <p:sldId id="558" r:id="rId23"/>
    <p:sldId id="567" r:id="rId24"/>
    <p:sldId id="435" r:id="rId25"/>
    <p:sldId id="438" r:id="rId26"/>
    <p:sldId id="451" r:id="rId27"/>
    <p:sldId id="452" r:id="rId28"/>
    <p:sldId id="455" r:id="rId29"/>
    <p:sldId id="456" r:id="rId30"/>
    <p:sldId id="457" r:id="rId31"/>
    <p:sldId id="458" r:id="rId32"/>
    <p:sldId id="460" r:id="rId33"/>
    <p:sldId id="560" r:id="rId34"/>
    <p:sldId id="561" r:id="rId35"/>
    <p:sldId id="472" r:id="rId36"/>
    <p:sldId id="562" r:id="rId37"/>
    <p:sldId id="463" r:id="rId38"/>
    <p:sldId id="555" r:id="rId39"/>
    <p:sldId id="559" r:id="rId40"/>
    <p:sldId id="549" r:id="rId41"/>
    <p:sldId id="467" r:id="rId42"/>
    <p:sldId id="563" r:id="rId43"/>
    <p:sldId id="564" r:id="rId44"/>
    <p:sldId id="464" r:id="rId45"/>
    <p:sldId id="475" r:id="rId46"/>
    <p:sldId id="396" r:id="rId47"/>
    <p:sldId id="397" r:id="rId48"/>
    <p:sldId id="479" r:id="rId49"/>
    <p:sldId id="509" r:id="rId50"/>
    <p:sldId id="510" r:id="rId51"/>
    <p:sldId id="511" r:id="rId52"/>
    <p:sldId id="512" r:id="rId53"/>
    <p:sldId id="513" r:id="rId54"/>
    <p:sldId id="493" r:id="rId55"/>
    <p:sldId id="565" r:id="rId56"/>
    <p:sldId id="566" r:id="rId57"/>
    <p:sldId id="515" r:id="rId58"/>
    <p:sldId id="528" r:id="rId59"/>
    <p:sldId id="535" r:id="rId60"/>
  </p:sldIdLst>
  <p:sldSz cx="9144000" cy="6858000" type="screen4x3"/>
  <p:notesSz cx="6858000" cy="9144000"/>
  <p:custDataLst>
    <p:tags r:id="rId6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FF"/>
    <a:srgbClr val="F2DCDB"/>
    <a:srgbClr val="F69240"/>
    <a:srgbClr val="EEECE1"/>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9854E3-BAC3-4E63-AED2-93AE051ED25A}" v="22" dt="2022-11-01T10:48:17.3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9693" autoAdjust="0"/>
  </p:normalViewPr>
  <p:slideViewPr>
    <p:cSldViewPr>
      <p:cViewPr varScale="1">
        <p:scale>
          <a:sx n="84" d="100"/>
          <a:sy n="84" d="100"/>
        </p:scale>
        <p:origin x="196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68"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itad Choicharoon" userId="7ebe6862-6727-4d05-970a-71aa57435883" providerId="ADAL" clId="{A69854E3-BAC3-4E63-AED2-93AE051ED25A}"/>
    <pc:docChg chg="undo custSel addSld delSld modSld sldOrd">
      <pc:chgData name="Aritad Choicharoon" userId="7ebe6862-6727-4d05-970a-71aa57435883" providerId="ADAL" clId="{A69854E3-BAC3-4E63-AED2-93AE051ED25A}" dt="2022-11-01T10:48:33.299" v="152" actId="20577"/>
      <pc:docMkLst>
        <pc:docMk/>
      </pc:docMkLst>
      <pc:sldChg chg="modSp mod">
        <pc:chgData name="Aritad Choicharoon" userId="7ebe6862-6727-4d05-970a-71aa57435883" providerId="ADAL" clId="{A69854E3-BAC3-4E63-AED2-93AE051ED25A}" dt="2022-11-01T10:33:27.845" v="12" actId="1076"/>
        <pc:sldMkLst>
          <pc:docMk/>
          <pc:sldMk cId="388627803" sldId="537"/>
        </pc:sldMkLst>
        <pc:spChg chg="mod">
          <ac:chgData name="Aritad Choicharoon" userId="7ebe6862-6727-4d05-970a-71aa57435883" providerId="ADAL" clId="{A69854E3-BAC3-4E63-AED2-93AE051ED25A}" dt="2022-11-01T10:31:40.306" v="2" actId="20577"/>
          <ac:spMkLst>
            <pc:docMk/>
            <pc:sldMk cId="388627803" sldId="537"/>
            <ac:spMk id="3" creationId="{00000000-0000-0000-0000-000000000000}"/>
          </ac:spMkLst>
        </pc:spChg>
        <pc:spChg chg="mod">
          <ac:chgData name="Aritad Choicharoon" userId="7ebe6862-6727-4d05-970a-71aa57435883" providerId="ADAL" clId="{A69854E3-BAC3-4E63-AED2-93AE051ED25A}" dt="2022-11-01T10:33:27.845" v="12" actId="1076"/>
          <ac:spMkLst>
            <pc:docMk/>
            <pc:sldMk cId="388627803" sldId="537"/>
            <ac:spMk id="9" creationId="{00000000-0000-0000-0000-000000000000}"/>
          </ac:spMkLst>
        </pc:spChg>
        <pc:spChg chg="mod">
          <ac:chgData name="Aritad Choicharoon" userId="7ebe6862-6727-4d05-970a-71aa57435883" providerId="ADAL" clId="{A69854E3-BAC3-4E63-AED2-93AE051ED25A}" dt="2022-11-01T10:31:48.194" v="11" actId="20577"/>
          <ac:spMkLst>
            <pc:docMk/>
            <pc:sldMk cId="388627803" sldId="537"/>
            <ac:spMk id="394244" creationId="{00000000-0000-0000-0000-000000000000}"/>
          </ac:spMkLst>
        </pc:spChg>
      </pc:sldChg>
      <pc:sldChg chg="addSp modSp mod modAnim">
        <pc:chgData name="Aritad Choicharoon" userId="7ebe6862-6727-4d05-970a-71aa57435883" providerId="ADAL" clId="{A69854E3-BAC3-4E63-AED2-93AE051ED25A}" dt="2022-11-01T10:47:42.872" v="143" actId="1076"/>
        <pc:sldMkLst>
          <pc:docMk/>
          <pc:sldMk cId="534504802" sldId="542"/>
        </pc:sldMkLst>
        <pc:spChg chg="add mod">
          <ac:chgData name="Aritad Choicharoon" userId="7ebe6862-6727-4d05-970a-71aa57435883" providerId="ADAL" clId="{A69854E3-BAC3-4E63-AED2-93AE051ED25A}" dt="2022-11-01T10:40:36.828" v="116" actId="115"/>
          <ac:spMkLst>
            <pc:docMk/>
            <pc:sldMk cId="534504802" sldId="542"/>
            <ac:spMk id="4" creationId="{846E25EE-475F-F36F-28DA-1D54E53F5977}"/>
          </ac:spMkLst>
        </pc:spChg>
        <pc:spChg chg="mod">
          <ac:chgData name="Aritad Choicharoon" userId="7ebe6862-6727-4d05-970a-71aa57435883" providerId="ADAL" clId="{A69854E3-BAC3-4E63-AED2-93AE051ED25A}" dt="2022-11-01T10:47:42.872" v="143" actId="1076"/>
          <ac:spMkLst>
            <pc:docMk/>
            <pc:sldMk cId="534504802" sldId="542"/>
            <ac:spMk id="9" creationId="{00000000-0000-0000-0000-000000000000}"/>
          </ac:spMkLst>
        </pc:spChg>
        <pc:spChg chg="mod">
          <ac:chgData name="Aritad Choicharoon" userId="7ebe6862-6727-4d05-970a-71aa57435883" providerId="ADAL" clId="{A69854E3-BAC3-4E63-AED2-93AE051ED25A}" dt="2022-11-01T10:44:41.456" v="129" actId="1076"/>
          <ac:spMkLst>
            <pc:docMk/>
            <pc:sldMk cId="534504802" sldId="542"/>
            <ac:spMk id="10" creationId="{00000000-0000-0000-0000-000000000000}"/>
          </ac:spMkLst>
        </pc:spChg>
        <pc:spChg chg="mod">
          <ac:chgData name="Aritad Choicharoon" userId="7ebe6862-6727-4d05-970a-71aa57435883" providerId="ADAL" clId="{A69854E3-BAC3-4E63-AED2-93AE051ED25A}" dt="2022-11-01T10:40:00.489" v="14" actId="1076"/>
          <ac:spMkLst>
            <pc:docMk/>
            <pc:sldMk cId="534504802" sldId="542"/>
            <ac:spMk id="433161" creationId="{00000000-0000-0000-0000-000000000000}"/>
          </ac:spMkLst>
        </pc:spChg>
        <pc:grpChg chg="mod">
          <ac:chgData name="Aritad Choicharoon" userId="7ebe6862-6727-4d05-970a-71aa57435883" providerId="ADAL" clId="{A69854E3-BAC3-4E63-AED2-93AE051ED25A}" dt="2022-11-01T10:44:31.303" v="124" actId="14100"/>
          <ac:grpSpMkLst>
            <pc:docMk/>
            <pc:sldMk cId="534504802" sldId="542"/>
            <ac:grpSpMk id="8" creationId="{00000000-0000-0000-0000-000000000000}"/>
          </ac:grpSpMkLst>
        </pc:grpChg>
        <pc:picChg chg="mod">
          <ac:chgData name="Aritad Choicharoon" userId="7ebe6862-6727-4d05-970a-71aa57435883" providerId="ADAL" clId="{A69854E3-BAC3-4E63-AED2-93AE051ED25A}" dt="2022-11-01T10:40:00.489" v="14" actId="1076"/>
          <ac:picMkLst>
            <pc:docMk/>
            <pc:sldMk cId="534504802" sldId="542"/>
            <ac:picMk id="433157" creationId="{00000000-0000-0000-0000-000000000000}"/>
          </ac:picMkLst>
        </pc:picChg>
        <pc:picChg chg="mod">
          <ac:chgData name="Aritad Choicharoon" userId="7ebe6862-6727-4d05-970a-71aa57435883" providerId="ADAL" clId="{A69854E3-BAC3-4E63-AED2-93AE051ED25A}" dt="2022-11-01T10:40:00.489" v="14" actId="1076"/>
          <ac:picMkLst>
            <pc:docMk/>
            <pc:sldMk cId="534504802" sldId="542"/>
            <ac:picMk id="433158" creationId="{00000000-0000-0000-0000-000000000000}"/>
          </ac:picMkLst>
        </pc:picChg>
      </pc:sldChg>
      <pc:sldChg chg="modSp mod">
        <pc:chgData name="Aritad Choicharoon" userId="7ebe6862-6727-4d05-970a-71aa57435883" providerId="ADAL" clId="{A69854E3-BAC3-4E63-AED2-93AE051ED25A}" dt="2022-11-01T10:48:33.299" v="152" actId="20577"/>
        <pc:sldMkLst>
          <pc:docMk/>
          <pc:sldMk cId="1980004124" sldId="544"/>
        </pc:sldMkLst>
        <pc:spChg chg="mod">
          <ac:chgData name="Aritad Choicharoon" userId="7ebe6862-6727-4d05-970a-71aa57435883" providerId="ADAL" clId="{A69854E3-BAC3-4E63-AED2-93AE051ED25A}" dt="2022-11-01T10:48:33.299" v="152" actId="20577"/>
          <ac:spMkLst>
            <pc:docMk/>
            <pc:sldMk cId="1980004124" sldId="544"/>
            <ac:spMk id="4" creationId="{80352FE2-3864-4E10-8B85-9675F49852C8}"/>
          </ac:spMkLst>
        </pc:spChg>
      </pc:sldChg>
      <pc:sldChg chg="del">
        <pc:chgData name="Aritad Choicharoon" userId="7ebe6862-6727-4d05-970a-71aa57435883" providerId="ADAL" clId="{A69854E3-BAC3-4E63-AED2-93AE051ED25A}" dt="2022-11-01T10:28:14.168" v="0" actId="2696"/>
        <pc:sldMkLst>
          <pc:docMk/>
          <pc:sldMk cId="4287234103" sldId="548"/>
        </pc:sldMkLst>
      </pc:sldChg>
      <pc:sldChg chg="addSp delSp modSp add mod ord delAnim">
        <pc:chgData name="Aritad Choicharoon" userId="7ebe6862-6727-4d05-970a-71aa57435883" providerId="ADAL" clId="{A69854E3-BAC3-4E63-AED2-93AE051ED25A}" dt="2022-11-01T10:48:23.755" v="151" actId="208"/>
        <pc:sldMkLst>
          <pc:docMk/>
          <pc:sldMk cId="2203917341" sldId="550"/>
        </pc:sldMkLst>
        <pc:spChg chg="add mod">
          <ac:chgData name="Aritad Choicharoon" userId="7ebe6862-6727-4d05-970a-71aa57435883" providerId="ADAL" clId="{A69854E3-BAC3-4E63-AED2-93AE051ED25A}" dt="2022-11-01T10:48:16.692" v="148" actId="14100"/>
          <ac:spMkLst>
            <pc:docMk/>
            <pc:sldMk cId="2203917341" sldId="550"/>
            <ac:spMk id="3" creationId="{B9472347-9EE5-3FEC-0E8A-7CD2BB112FA0}"/>
          </ac:spMkLst>
        </pc:spChg>
        <pc:spChg chg="del">
          <ac:chgData name="Aritad Choicharoon" userId="7ebe6862-6727-4d05-970a-71aa57435883" providerId="ADAL" clId="{A69854E3-BAC3-4E63-AED2-93AE051ED25A}" dt="2022-11-01T10:46:57.105" v="138" actId="478"/>
          <ac:spMkLst>
            <pc:docMk/>
            <pc:sldMk cId="2203917341" sldId="550"/>
            <ac:spMk id="4" creationId="{846E25EE-475F-F36F-28DA-1D54E53F5977}"/>
          </ac:spMkLst>
        </pc:spChg>
        <pc:spChg chg="add mod">
          <ac:chgData name="Aritad Choicharoon" userId="7ebe6862-6727-4d05-970a-71aa57435883" providerId="ADAL" clId="{A69854E3-BAC3-4E63-AED2-93AE051ED25A}" dt="2022-11-01T10:48:23.755" v="151" actId="208"/>
          <ac:spMkLst>
            <pc:docMk/>
            <pc:sldMk cId="2203917341" sldId="550"/>
            <ac:spMk id="5" creationId="{DDA3A439-EC3C-F579-9E86-6D6BC59E984B}"/>
          </ac:spMkLst>
        </pc:spChg>
        <pc:spChg chg="del">
          <ac:chgData name="Aritad Choicharoon" userId="7ebe6862-6727-4d05-970a-71aa57435883" providerId="ADAL" clId="{A69854E3-BAC3-4E63-AED2-93AE051ED25A}" dt="2022-11-01T10:46:53.210" v="136" actId="478"/>
          <ac:spMkLst>
            <pc:docMk/>
            <pc:sldMk cId="2203917341" sldId="550"/>
            <ac:spMk id="433161" creationId="{00000000-0000-0000-0000-000000000000}"/>
          </ac:spMkLst>
        </pc:spChg>
        <pc:grpChg chg="del">
          <ac:chgData name="Aritad Choicharoon" userId="7ebe6862-6727-4d05-970a-71aa57435883" providerId="ADAL" clId="{A69854E3-BAC3-4E63-AED2-93AE051ED25A}" dt="2022-11-01T10:47:02.331" v="141" actId="478"/>
          <ac:grpSpMkLst>
            <pc:docMk/>
            <pc:sldMk cId="2203917341" sldId="550"/>
            <ac:grpSpMk id="8" creationId="{00000000-0000-0000-0000-000000000000}"/>
          </ac:grpSpMkLst>
        </pc:grpChg>
        <pc:picChg chg="mod">
          <ac:chgData name="Aritad Choicharoon" userId="7ebe6862-6727-4d05-970a-71aa57435883" providerId="ADAL" clId="{A69854E3-BAC3-4E63-AED2-93AE051ED25A}" dt="2022-11-01T10:46:58.737" v="139" actId="1076"/>
          <ac:picMkLst>
            <pc:docMk/>
            <pc:sldMk cId="2203917341" sldId="550"/>
            <ac:picMk id="433157" creationId="{00000000-0000-0000-0000-000000000000}"/>
          </ac:picMkLst>
        </pc:picChg>
        <pc:picChg chg="mod">
          <ac:chgData name="Aritad Choicharoon" userId="7ebe6862-6727-4d05-970a-71aa57435883" providerId="ADAL" clId="{A69854E3-BAC3-4E63-AED2-93AE051ED25A}" dt="2022-11-01T10:47:00.410" v="140" actId="1076"/>
          <ac:picMkLst>
            <pc:docMk/>
            <pc:sldMk cId="2203917341" sldId="550"/>
            <ac:picMk id="433158"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6BDA18-A924-4623-AFDA-7F89229823E3}" type="datetimeFigureOut">
              <a:rPr lang="en-GB" smtClean="0"/>
              <a:t>04/11/2025</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FB37484-4BD0-4B53-9749-250372656A21}" type="slidenum">
              <a:rPr lang="en-GB" smtClean="0"/>
              <a:t>‹#›</a:t>
            </a:fld>
            <a:endParaRPr lang="en-GB"/>
          </a:p>
        </p:txBody>
      </p:sp>
    </p:spTree>
    <p:extLst>
      <p:ext uri="{BB962C8B-B14F-4D97-AF65-F5344CB8AC3E}">
        <p14:creationId xmlns:p14="http://schemas.microsoft.com/office/powerpoint/2010/main" val="808446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10</a:t>
            </a:fld>
            <a:endParaRPr lang="en-GB"/>
          </a:p>
        </p:txBody>
      </p:sp>
    </p:spTree>
    <p:extLst>
      <p:ext uri="{BB962C8B-B14F-4D97-AF65-F5344CB8AC3E}">
        <p14:creationId xmlns:p14="http://schemas.microsoft.com/office/powerpoint/2010/main" val="34339916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FB37484-4BD0-4B53-9749-250372656A21}" type="slidenum">
              <a:rPr lang="en-GB" smtClean="0"/>
              <a:t>11</a:t>
            </a:fld>
            <a:endParaRPr lang="en-GB"/>
          </a:p>
        </p:txBody>
      </p:sp>
    </p:spTree>
    <p:extLst>
      <p:ext uri="{BB962C8B-B14F-4D97-AF65-F5344CB8AC3E}">
        <p14:creationId xmlns:p14="http://schemas.microsoft.com/office/powerpoint/2010/main" val="17892490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FB37484-4BD0-4B53-9749-250372656A21}" type="slidenum">
              <a:rPr lang="en-GB" smtClean="0"/>
              <a:t>12</a:t>
            </a:fld>
            <a:endParaRPr lang="en-GB"/>
          </a:p>
        </p:txBody>
      </p:sp>
    </p:spTree>
    <p:extLst>
      <p:ext uri="{BB962C8B-B14F-4D97-AF65-F5344CB8AC3E}">
        <p14:creationId xmlns:p14="http://schemas.microsoft.com/office/powerpoint/2010/main" val="6219848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FB37484-4BD0-4B53-9749-250372656A21}" type="slidenum">
              <a:rPr lang="en-GB" smtClean="0"/>
              <a:t>13</a:t>
            </a:fld>
            <a:endParaRPr lang="en-GB"/>
          </a:p>
        </p:txBody>
      </p:sp>
    </p:spTree>
    <p:extLst>
      <p:ext uri="{BB962C8B-B14F-4D97-AF65-F5344CB8AC3E}">
        <p14:creationId xmlns:p14="http://schemas.microsoft.com/office/powerpoint/2010/main" val="34129835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FB37484-4BD0-4B53-9749-250372656A21}" type="slidenum">
              <a:rPr lang="en-GB" smtClean="0"/>
              <a:t>14</a:t>
            </a:fld>
            <a:endParaRPr lang="en-GB"/>
          </a:p>
        </p:txBody>
      </p:sp>
    </p:spTree>
    <p:extLst>
      <p:ext uri="{BB962C8B-B14F-4D97-AF65-F5344CB8AC3E}">
        <p14:creationId xmlns:p14="http://schemas.microsoft.com/office/powerpoint/2010/main" val="36360113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FB37484-4BD0-4B53-9749-250372656A21}" type="slidenum">
              <a:rPr lang="en-GB" smtClean="0"/>
              <a:t>15</a:t>
            </a:fld>
            <a:endParaRPr lang="en-GB"/>
          </a:p>
        </p:txBody>
      </p:sp>
    </p:spTree>
    <p:extLst>
      <p:ext uri="{BB962C8B-B14F-4D97-AF65-F5344CB8AC3E}">
        <p14:creationId xmlns:p14="http://schemas.microsoft.com/office/powerpoint/2010/main" val="14788195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Rectangle 2"/>
          <p:cNvSpPr>
            <a:spLocks noGrp="1" noRot="1" noChangeAspect="1" noChangeArrowheads="1" noTextEdit="1"/>
          </p:cNvSpPr>
          <p:nvPr>
            <p:ph type="sldImg"/>
          </p:nvPr>
        </p:nvSpPr>
        <p:spPr>
          <a:ln/>
        </p:spPr>
      </p:sp>
      <p:sp>
        <p:nvSpPr>
          <p:cNvPr id="434179" name="Rectangle 3"/>
          <p:cNvSpPr>
            <a:spLocks noGrp="1" noChangeArrowheads="1"/>
          </p:cNvSpPr>
          <p:nvPr>
            <p:ph type="body" idx="1"/>
          </p:nvPr>
        </p:nvSpPr>
        <p:spPr/>
        <p:txBody>
          <a:bodyPr/>
          <a:lstStyle/>
          <a:p>
            <a:r>
              <a:rPr lang="en-GB" altLang="en-US"/>
              <a:t>Levines!!</a:t>
            </a:r>
            <a:endParaRPr lang="en-US" altLang="en-US"/>
          </a:p>
        </p:txBody>
      </p:sp>
    </p:spTree>
    <p:extLst>
      <p:ext uri="{BB962C8B-B14F-4D97-AF65-F5344CB8AC3E}">
        <p14:creationId xmlns:p14="http://schemas.microsoft.com/office/powerpoint/2010/main" val="31981310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Rectangle 2"/>
          <p:cNvSpPr>
            <a:spLocks noGrp="1" noRot="1" noChangeAspect="1" noChangeArrowheads="1" noTextEdit="1"/>
          </p:cNvSpPr>
          <p:nvPr>
            <p:ph type="sldImg"/>
          </p:nvPr>
        </p:nvSpPr>
        <p:spPr>
          <a:ln/>
        </p:spPr>
      </p:sp>
      <p:sp>
        <p:nvSpPr>
          <p:cNvPr id="434179" name="Rectangle 3"/>
          <p:cNvSpPr>
            <a:spLocks noGrp="1" noChangeArrowheads="1"/>
          </p:cNvSpPr>
          <p:nvPr>
            <p:ph type="body" idx="1"/>
          </p:nvPr>
        </p:nvSpPr>
        <p:spPr/>
        <p:txBody>
          <a:bodyPr/>
          <a:lstStyle/>
          <a:p>
            <a:r>
              <a:rPr lang="en-GB" altLang="en-US"/>
              <a:t>Levines!!</a:t>
            </a:r>
            <a:endParaRPr lang="en-US" altLang="en-US"/>
          </a:p>
        </p:txBody>
      </p:sp>
    </p:spTree>
    <p:extLst>
      <p:ext uri="{BB962C8B-B14F-4D97-AF65-F5344CB8AC3E}">
        <p14:creationId xmlns:p14="http://schemas.microsoft.com/office/powerpoint/2010/main" val="15997732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Rectangle 2"/>
          <p:cNvSpPr>
            <a:spLocks noGrp="1" noRot="1" noChangeAspect="1" noChangeArrowheads="1" noTextEdit="1"/>
          </p:cNvSpPr>
          <p:nvPr>
            <p:ph type="sldImg"/>
          </p:nvPr>
        </p:nvSpPr>
        <p:spPr>
          <a:ln/>
        </p:spPr>
      </p:sp>
      <p:sp>
        <p:nvSpPr>
          <p:cNvPr id="434179" name="Rectangle 3"/>
          <p:cNvSpPr>
            <a:spLocks noGrp="1" noChangeArrowheads="1"/>
          </p:cNvSpPr>
          <p:nvPr>
            <p:ph type="body" idx="1"/>
          </p:nvPr>
        </p:nvSpPr>
        <p:spPr/>
        <p:txBody>
          <a:bodyPr/>
          <a:lstStyle/>
          <a:p>
            <a:r>
              <a:rPr lang="en-GB" altLang="en-US"/>
              <a:t>Levines!!</a:t>
            </a:r>
            <a:endParaRPr lang="en-US" altLang="en-US"/>
          </a:p>
        </p:txBody>
      </p:sp>
    </p:spTree>
    <p:extLst>
      <p:ext uri="{BB962C8B-B14F-4D97-AF65-F5344CB8AC3E}">
        <p14:creationId xmlns:p14="http://schemas.microsoft.com/office/powerpoint/2010/main" val="19535193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Rectangle 2"/>
          <p:cNvSpPr>
            <a:spLocks noGrp="1" noRot="1" noChangeAspect="1" noChangeArrowheads="1" noTextEdit="1"/>
          </p:cNvSpPr>
          <p:nvPr>
            <p:ph type="sldImg"/>
          </p:nvPr>
        </p:nvSpPr>
        <p:spPr>
          <a:ln/>
        </p:spPr>
      </p:sp>
      <p:sp>
        <p:nvSpPr>
          <p:cNvPr id="434179" name="Rectangle 3"/>
          <p:cNvSpPr>
            <a:spLocks noGrp="1" noChangeArrowheads="1"/>
          </p:cNvSpPr>
          <p:nvPr>
            <p:ph type="body" idx="1"/>
          </p:nvPr>
        </p:nvSpPr>
        <p:spPr/>
        <p:txBody>
          <a:bodyPr/>
          <a:lstStyle/>
          <a:p>
            <a:r>
              <a:rPr lang="en-GB" altLang="en-US"/>
              <a:t>Levines!!</a:t>
            </a:r>
            <a:endParaRPr lang="en-US" altLang="en-US"/>
          </a:p>
        </p:txBody>
      </p:sp>
    </p:spTree>
    <p:extLst>
      <p:ext uri="{BB962C8B-B14F-4D97-AF65-F5344CB8AC3E}">
        <p14:creationId xmlns:p14="http://schemas.microsoft.com/office/powerpoint/2010/main" val="34983401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Rectangle 2"/>
          <p:cNvSpPr>
            <a:spLocks noGrp="1" noRot="1" noChangeAspect="1" noChangeArrowheads="1" noTextEdit="1"/>
          </p:cNvSpPr>
          <p:nvPr>
            <p:ph type="sldImg"/>
          </p:nvPr>
        </p:nvSpPr>
        <p:spPr>
          <a:ln/>
        </p:spPr>
      </p:sp>
      <p:sp>
        <p:nvSpPr>
          <p:cNvPr id="434179" name="Rectangle 3"/>
          <p:cNvSpPr>
            <a:spLocks noGrp="1" noChangeArrowheads="1"/>
          </p:cNvSpPr>
          <p:nvPr>
            <p:ph type="body" idx="1"/>
          </p:nvPr>
        </p:nvSpPr>
        <p:spPr/>
        <p:txBody>
          <a:bodyPr/>
          <a:lstStyle/>
          <a:p>
            <a:r>
              <a:rPr lang="en-GB" altLang="en-US"/>
              <a:t>Levines!!</a:t>
            </a:r>
            <a:endParaRPr lang="en-US" altLang="en-US"/>
          </a:p>
        </p:txBody>
      </p:sp>
    </p:spTree>
    <p:extLst>
      <p:ext uri="{BB962C8B-B14F-4D97-AF65-F5344CB8AC3E}">
        <p14:creationId xmlns:p14="http://schemas.microsoft.com/office/powerpoint/2010/main" val="35137779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Rectangle 2"/>
          <p:cNvSpPr>
            <a:spLocks noGrp="1" noRot="1" noChangeAspect="1" noChangeArrowheads="1" noTextEdit="1"/>
          </p:cNvSpPr>
          <p:nvPr>
            <p:ph type="sldImg"/>
          </p:nvPr>
        </p:nvSpPr>
        <p:spPr>
          <a:ln/>
        </p:spPr>
      </p:sp>
      <p:sp>
        <p:nvSpPr>
          <p:cNvPr id="434179" name="Rectangle 3"/>
          <p:cNvSpPr>
            <a:spLocks noGrp="1" noChangeArrowheads="1"/>
          </p:cNvSpPr>
          <p:nvPr>
            <p:ph type="body" idx="1"/>
          </p:nvPr>
        </p:nvSpPr>
        <p:spPr/>
        <p:txBody>
          <a:bodyPr/>
          <a:lstStyle/>
          <a:p>
            <a:r>
              <a:rPr lang="en-GB" altLang="en-US"/>
              <a:t>Levines!!</a:t>
            </a:r>
            <a:endParaRPr lang="en-US" altLang="en-US"/>
          </a:p>
        </p:txBody>
      </p:sp>
    </p:spTree>
    <p:extLst>
      <p:ext uri="{BB962C8B-B14F-4D97-AF65-F5344CB8AC3E}">
        <p14:creationId xmlns:p14="http://schemas.microsoft.com/office/powerpoint/2010/main" val="11594830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Rectangle 2"/>
          <p:cNvSpPr>
            <a:spLocks noGrp="1" noRot="1" noChangeAspect="1" noChangeArrowheads="1" noTextEdit="1"/>
          </p:cNvSpPr>
          <p:nvPr>
            <p:ph type="sldImg"/>
          </p:nvPr>
        </p:nvSpPr>
        <p:spPr>
          <a:ln/>
        </p:spPr>
      </p:sp>
      <p:sp>
        <p:nvSpPr>
          <p:cNvPr id="434179" name="Rectangle 3"/>
          <p:cNvSpPr>
            <a:spLocks noGrp="1" noChangeArrowheads="1"/>
          </p:cNvSpPr>
          <p:nvPr>
            <p:ph type="body" idx="1"/>
          </p:nvPr>
        </p:nvSpPr>
        <p:spPr/>
        <p:txBody>
          <a:bodyPr/>
          <a:lstStyle/>
          <a:p>
            <a:r>
              <a:rPr lang="en-GB" altLang="en-US"/>
              <a:t>Levines!!</a:t>
            </a:r>
            <a:endParaRPr lang="en-US" altLang="en-US"/>
          </a:p>
        </p:txBody>
      </p:sp>
    </p:spTree>
    <p:extLst>
      <p:ext uri="{BB962C8B-B14F-4D97-AF65-F5344CB8AC3E}">
        <p14:creationId xmlns:p14="http://schemas.microsoft.com/office/powerpoint/2010/main" val="463095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Rectangle 2"/>
          <p:cNvSpPr>
            <a:spLocks noGrp="1" noRot="1" noChangeAspect="1" noChangeArrowheads="1" noTextEdit="1"/>
          </p:cNvSpPr>
          <p:nvPr>
            <p:ph type="sldImg"/>
          </p:nvPr>
        </p:nvSpPr>
        <p:spPr>
          <a:ln/>
        </p:spPr>
      </p:sp>
      <p:sp>
        <p:nvSpPr>
          <p:cNvPr id="434179" name="Rectangle 3"/>
          <p:cNvSpPr>
            <a:spLocks noGrp="1" noChangeArrowheads="1"/>
          </p:cNvSpPr>
          <p:nvPr>
            <p:ph type="body" idx="1"/>
          </p:nvPr>
        </p:nvSpPr>
        <p:spPr/>
        <p:txBody>
          <a:bodyPr/>
          <a:lstStyle/>
          <a:p>
            <a:r>
              <a:rPr lang="en-GB" altLang="en-US"/>
              <a:t>Levines!!</a:t>
            </a:r>
            <a:endParaRPr lang="en-US" altLang="en-US"/>
          </a:p>
        </p:txBody>
      </p:sp>
    </p:spTree>
    <p:extLst>
      <p:ext uri="{BB962C8B-B14F-4D97-AF65-F5344CB8AC3E}">
        <p14:creationId xmlns:p14="http://schemas.microsoft.com/office/powerpoint/2010/main" val="20606316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24</a:t>
            </a:fld>
            <a:endParaRPr lang="en-GB"/>
          </a:p>
        </p:txBody>
      </p:sp>
    </p:spTree>
    <p:extLst>
      <p:ext uri="{BB962C8B-B14F-4D97-AF65-F5344CB8AC3E}">
        <p14:creationId xmlns:p14="http://schemas.microsoft.com/office/powerpoint/2010/main" val="26138527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Rectangle 2"/>
          <p:cNvSpPr>
            <a:spLocks noGrp="1" noRot="1" noChangeAspect="1" noChangeArrowheads="1" noTextEdit="1"/>
          </p:cNvSpPr>
          <p:nvPr>
            <p:ph type="sldImg"/>
          </p:nvPr>
        </p:nvSpPr>
        <p:spPr>
          <a:xfrm>
            <a:off x="1292225" y="796925"/>
            <a:ext cx="4273550" cy="3205163"/>
          </a:xfrm>
          <a:ln/>
        </p:spPr>
      </p:sp>
      <p:sp>
        <p:nvSpPr>
          <p:cNvPr id="404483" name="Rectangle 3"/>
          <p:cNvSpPr>
            <a:spLocks noGrp="1" noChangeArrowheads="1"/>
          </p:cNvSpPr>
          <p:nvPr>
            <p:ph type="body" idx="1"/>
          </p:nvPr>
        </p:nvSpPr>
        <p:spPr>
          <a:xfrm>
            <a:off x="914183" y="4347531"/>
            <a:ext cx="5029635" cy="3848874"/>
          </a:xfrm>
        </p:spPr>
        <p:txBody>
          <a:bodyPr/>
          <a:lstStyle/>
          <a:p>
            <a:endParaRPr lang="en-GB"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Rectangle 2"/>
          <p:cNvSpPr>
            <a:spLocks noGrp="1" noRot="1" noChangeAspect="1" noChangeArrowheads="1" noTextEdit="1"/>
          </p:cNvSpPr>
          <p:nvPr>
            <p:ph type="sldImg"/>
          </p:nvPr>
        </p:nvSpPr>
        <p:spPr>
          <a:xfrm>
            <a:off x="1292225" y="796925"/>
            <a:ext cx="4273550" cy="3205163"/>
          </a:xfrm>
          <a:ln/>
        </p:spPr>
      </p:sp>
      <p:sp>
        <p:nvSpPr>
          <p:cNvPr id="404483" name="Rectangle 3"/>
          <p:cNvSpPr>
            <a:spLocks noGrp="1" noChangeArrowheads="1"/>
          </p:cNvSpPr>
          <p:nvPr>
            <p:ph type="body" idx="1"/>
          </p:nvPr>
        </p:nvSpPr>
        <p:spPr>
          <a:xfrm>
            <a:off x="914183" y="4347531"/>
            <a:ext cx="5029635" cy="3848874"/>
          </a:xfrm>
        </p:spPr>
        <p:txBody>
          <a:bodyPr/>
          <a:lstStyle/>
          <a:p>
            <a:r>
              <a:rPr lang="en-GB" altLang="en-US" dirty="0"/>
              <a:t>Could compare, for</a:t>
            </a:r>
          </a:p>
          <a:p>
            <a:endParaRPr lang="en-GB"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Rectangle 2"/>
          <p:cNvSpPr>
            <a:spLocks noGrp="1" noRot="1" noChangeAspect="1" noChangeArrowheads="1" noTextEdit="1"/>
          </p:cNvSpPr>
          <p:nvPr>
            <p:ph type="sldImg"/>
          </p:nvPr>
        </p:nvSpPr>
        <p:spPr>
          <a:xfrm>
            <a:off x="1292225" y="796925"/>
            <a:ext cx="4273550" cy="3205163"/>
          </a:xfrm>
          <a:ln/>
        </p:spPr>
      </p:sp>
      <p:sp>
        <p:nvSpPr>
          <p:cNvPr id="404483" name="Rectangle 3"/>
          <p:cNvSpPr>
            <a:spLocks noGrp="1" noChangeArrowheads="1"/>
          </p:cNvSpPr>
          <p:nvPr>
            <p:ph type="body" idx="1"/>
          </p:nvPr>
        </p:nvSpPr>
        <p:spPr>
          <a:xfrm>
            <a:off x="914183" y="4347531"/>
            <a:ext cx="5029635" cy="3848874"/>
          </a:xfrm>
        </p:spPr>
        <p:txBody>
          <a:bodyPr/>
          <a:lstStyle/>
          <a:p>
            <a:endParaRPr lang="en-GB"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Rectangle 2"/>
          <p:cNvSpPr>
            <a:spLocks noGrp="1" noRot="1" noChangeAspect="1" noChangeArrowheads="1" noTextEdit="1"/>
          </p:cNvSpPr>
          <p:nvPr>
            <p:ph type="sldImg"/>
          </p:nvPr>
        </p:nvSpPr>
        <p:spPr>
          <a:xfrm>
            <a:off x="1292225" y="796925"/>
            <a:ext cx="4273550" cy="3205163"/>
          </a:xfrm>
          <a:ln/>
        </p:spPr>
      </p:sp>
      <p:sp>
        <p:nvSpPr>
          <p:cNvPr id="404483" name="Rectangle 3"/>
          <p:cNvSpPr>
            <a:spLocks noGrp="1" noChangeArrowheads="1"/>
          </p:cNvSpPr>
          <p:nvPr>
            <p:ph type="body" idx="1"/>
          </p:nvPr>
        </p:nvSpPr>
        <p:spPr>
          <a:xfrm>
            <a:off x="914183" y="4347531"/>
            <a:ext cx="5029635" cy="3848874"/>
          </a:xfrm>
        </p:spPr>
        <p:txBody>
          <a:bodyPr/>
          <a:lstStyle/>
          <a:p>
            <a:endParaRPr lang="en-GB"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Rectangle 2"/>
          <p:cNvSpPr>
            <a:spLocks noGrp="1" noRot="1" noChangeAspect="1" noChangeArrowheads="1" noTextEdit="1"/>
          </p:cNvSpPr>
          <p:nvPr>
            <p:ph type="sldImg"/>
          </p:nvPr>
        </p:nvSpPr>
        <p:spPr>
          <a:xfrm>
            <a:off x="1292225" y="796925"/>
            <a:ext cx="4273550" cy="3205163"/>
          </a:xfrm>
          <a:ln/>
        </p:spPr>
      </p:sp>
      <p:sp>
        <p:nvSpPr>
          <p:cNvPr id="404483" name="Rectangle 3"/>
          <p:cNvSpPr>
            <a:spLocks noGrp="1" noChangeArrowheads="1"/>
          </p:cNvSpPr>
          <p:nvPr>
            <p:ph type="body" idx="1"/>
          </p:nvPr>
        </p:nvSpPr>
        <p:spPr>
          <a:xfrm>
            <a:off x="914183" y="4347531"/>
            <a:ext cx="5029635" cy="3848874"/>
          </a:xfrm>
        </p:spPr>
        <p:txBody>
          <a:bodyPr/>
          <a:lstStyle/>
          <a:p>
            <a:endParaRPr lang="en-GB"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Rectangle 2"/>
          <p:cNvSpPr>
            <a:spLocks noGrp="1" noRot="1" noChangeAspect="1" noChangeArrowheads="1" noTextEdit="1"/>
          </p:cNvSpPr>
          <p:nvPr>
            <p:ph type="sldImg"/>
          </p:nvPr>
        </p:nvSpPr>
        <p:spPr>
          <a:xfrm>
            <a:off x="1292225" y="796925"/>
            <a:ext cx="4273550" cy="3205163"/>
          </a:xfrm>
          <a:ln/>
        </p:spPr>
      </p:sp>
      <p:sp>
        <p:nvSpPr>
          <p:cNvPr id="404483" name="Rectangle 3"/>
          <p:cNvSpPr>
            <a:spLocks noGrp="1" noChangeArrowheads="1"/>
          </p:cNvSpPr>
          <p:nvPr>
            <p:ph type="body" idx="1"/>
          </p:nvPr>
        </p:nvSpPr>
        <p:spPr>
          <a:xfrm>
            <a:off x="914183" y="4347531"/>
            <a:ext cx="5029635" cy="3848874"/>
          </a:xfrm>
        </p:spPr>
        <p:txBody>
          <a:bodyPr/>
          <a:lstStyle/>
          <a:p>
            <a:endParaRPr lang="en-GB"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Rectangle 2"/>
          <p:cNvSpPr>
            <a:spLocks noGrp="1" noRot="1" noChangeAspect="1" noChangeArrowheads="1" noTextEdit="1"/>
          </p:cNvSpPr>
          <p:nvPr>
            <p:ph type="sldImg"/>
          </p:nvPr>
        </p:nvSpPr>
        <p:spPr>
          <a:xfrm>
            <a:off x="1292225" y="796925"/>
            <a:ext cx="4273550" cy="3205163"/>
          </a:xfrm>
          <a:ln/>
        </p:spPr>
      </p:sp>
      <p:sp>
        <p:nvSpPr>
          <p:cNvPr id="404483" name="Rectangle 3"/>
          <p:cNvSpPr>
            <a:spLocks noGrp="1" noChangeArrowheads="1"/>
          </p:cNvSpPr>
          <p:nvPr>
            <p:ph type="body" idx="1"/>
          </p:nvPr>
        </p:nvSpPr>
        <p:spPr>
          <a:xfrm>
            <a:off x="914183" y="4347531"/>
            <a:ext cx="5029635" cy="3848874"/>
          </a:xfrm>
        </p:spPr>
        <p:txBody>
          <a:bodyPr/>
          <a:lstStyle/>
          <a:p>
            <a:endParaRPr lang="en-GB"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Rectangle 2"/>
          <p:cNvSpPr>
            <a:spLocks noGrp="1" noRot="1" noChangeAspect="1" noChangeArrowheads="1" noTextEdit="1"/>
          </p:cNvSpPr>
          <p:nvPr>
            <p:ph type="sldImg"/>
          </p:nvPr>
        </p:nvSpPr>
        <p:spPr>
          <a:xfrm>
            <a:off x="1292225" y="796925"/>
            <a:ext cx="4273550" cy="3205163"/>
          </a:xfrm>
          <a:ln/>
        </p:spPr>
      </p:sp>
      <p:sp>
        <p:nvSpPr>
          <p:cNvPr id="404483" name="Rectangle 3"/>
          <p:cNvSpPr>
            <a:spLocks noGrp="1" noChangeArrowheads="1"/>
          </p:cNvSpPr>
          <p:nvPr>
            <p:ph type="body" idx="1"/>
          </p:nvPr>
        </p:nvSpPr>
        <p:spPr>
          <a:xfrm>
            <a:off x="914183" y="4347531"/>
            <a:ext cx="5029635" cy="3848874"/>
          </a:xfrm>
        </p:spPr>
        <p:txBody>
          <a:bodyPr/>
          <a:lstStyle/>
          <a:p>
            <a:endParaRPr lang="en-GB"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Rectangle 2"/>
          <p:cNvSpPr>
            <a:spLocks noGrp="1" noRot="1" noChangeAspect="1" noChangeArrowheads="1" noTextEdit="1"/>
          </p:cNvSpPr>
          <p:nvPr>
            <p:ph type="sldImg"/>
          </p:nvPr>
        </p:nvSpPr>
        <p:spPr>
          <a:xfrm>
            <a:off x="1292225" y="796925"/>
            <a:ext cx="4273550" cy="3205163"/>
          </a:xfrm>
          <a:ln/>
        </p:spPr>
      </p:sp>
      <p:sp>
        <p:nvSpPr>
          <p:cNvPr id="404483" name="Rectangle 3"/>
          <p:cNvSpPr>
            <a:spLocks noGrp="1" noChangeArrowheads="1"/>
          </p:cNvSpPr>
          <p:nvPr>
            <p:ph type="body" idx="1"/>
          </p:nvPr>
        </p:nvSpPr>
        <p:spPr>
          <a:xfrm>
            <a:off x="914183" y="4347531"/>
            <a:ext cx="5029635" cy="3848874"/>
          </a:xfrm>
        </p:spPr>
        <p:txBody>
          <a:bodyPr/>
          <a:lstStyle/>
          <a:p>
            <a:endParaRPr lang="en-GB" altLang="en-US" dirty="0"/>
          </a:p>
        </p:txBody>
      </p:sp>
    </p:spTree>
    <p:extLst>
      <p:ext uri="{BB962C8B-B14F-4D97-AF65-F5344CB8AC3E}">
        <p14:creationId xmlns:p14="http://schemas.microsoft.com/office/powerpoint/2010/main" val="15841001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Rectangle 2"/>
          <p:cNvSpPr>
            <a:spLocks noGrp="1" noRot="1" noChangeAspect="1" noChangeArrowheads="1" noTextEdit="1"/>
          </p:cNvSpPr>
          <p:nvPr>
            <p:ph type="sldImg"/>
          </p:nvPr>
        </p:nvSpPr>
        <p:spPr>
          <a:xfrm>
            <a:off x="1292225" y="796925"/>
            <a:ext cx="4273550" cy="3205163"/>
          </a:xfrm>
          <a:ln/>
        </p:spPr>
      </p:sp>
      <p:sp>
        <p:nvSpPr>
          <p:cNvPr id="404483" name="Rectangle 3"/>
          <p:cNvSpPr>
            <a:spLocks noGrp="1" noChangeArrowheads="1"/>
          </p:cNvSpPr>
          <p:nvPr>
            <p:ph type="body" idx="1"/>
          </p:nvPr>
        </p:nvSpPr>
        <p:spPr>
          <a:xfrm>
            <a:off x="914183" y="4347531"/>
            <a:ext cx="5029635" cy="3848874"/>
          </a:xfrm>
        </p:spPr>
        <p:txBody>
          <a:bodyPr/>
          <a:lstStyle/>
          <a:p>
            <a:endParaRPr lang="en-GB" altLang="en-US" dirty="0"/>
          </a:p>
        </p:txBody>
      </p:sp>
    </p:spTree>
    <p:extLst>
      <p:ext uri="{BB962C8B-B14F-4D97-AF65-F5344CB8AC3E}">
        <p14:creationId xmlns:p14="http://schemas.microsoft.com/office/powerpoint/2010/main" val="26975220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Rectangle 2"/>
          <p:cNvSpPr>
            <a:spLocks noGrp="1" noRot="1" noChangeAspect="1" noChangeArrowheads="1" noTextEdit="1"/>
          </p:cNvSpPr>
          <p:nvPr>
            <p:ph type="sldImg"/>
          </p:nvPr>
        </p:nvSpPr>
        <p:spPr>
          <a:xfrm>
            <a:off x="1292225" y="796925"/>
            <a:ext cx="4273550" cy="3205163"/>
          </a:xfrm>
          <a:ln/>
        </p:spPr>
      </p:sp>
      <p:sp>
        <p:nvSpPr>
          <p:cNvPr id="404483" name="Rectangle 3"/>
          <p:cNvSpPr>
            <a:spLocks noGrp="1" noChangeArrowheads="1"/>
          </p:cNvSpPr>
          <p:nvPr>
            <p:ph type="body" idx="1"/>
          </p:nvPr>
        </p:nvSpPr>
        <p:spPr>
          <a:xfrm>
            <a:off x="914183" y="4347531"/>
            <a:ext cx="5029635" cy="3848874"/>
          </a:xfrm>
        </p:spPr>
        <p:txBody>
          <a:bodyPr/>
          <a:lstStyle/>
          <a:p>
            <a:endParaRPr lang="en-GB"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Rectangle 2"/>
          <p:cNvSpPr>
            <a:spLocks noGrp="1" noRot="1" noChangeAspect="1" noChangeArrowheads="1" noTextEdit="1"/>
          </p:cNvSpPr>
          <p:nvPr>
            <p:ph type="sldImg"/>
          </p:nvPr>
        </p:nvSpPr>
        <p:spPr>
          <a:xfrm>
            <a:off x="1292225" y="796925"/>
            <a:ext cx="4273550" cy="3205163"/>
          </a:xfrm>
          <a:ln/>
        </p:spPr>
      </p:sp>
      <p:sp>
        <p:nvSpPr>
          <p:cNvPr id="404483" name="Rectangle 3"/>
          <p:cNvSpPr>
            <a:spLocks noGrp="1" noChangeArrowheads="1"/>
          </p:cNvSpPr>
          <p:nvPr>
            <p:ph type="body" idx="1"/>
          </p:nvPr>
        </p:nvSpPr>
        <p:spPr>
          <a:xfrm>
            <a:off x="914183" y="4347531"/>
            <a:ext cx="5029635" cy="3848874"/>
          </a:xfrm>
        </p:spPr>
        <p:txBody>
          <a:bodyPr/>
          <a:lstStyle/>
          <a:p>
            <a:endParaRPr lang="en-GB" altLang="en-US" dirty="0"/>
          </a:p>
        </p:txBody>
      </p:sp>
    </p:spTree>
    <p:extLst>
      <p:ext uri="{BB962C8B-B14F-4D97-AF65-F5344CB8AC3E}">
        <p14:creationId xmlns:p14="http://schemas.microsoft.com/office/powerpoint/2010/main" val="38261018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Rectangle 2"/>
          <p:cNvSpPr>
            <a:spLocks noGrp="1" noRot="1" noChangeAspect="1" noChangeArrowheads="1" noTextEdit="1"/>
          </p:cNvSpPr>
          <p:nvPr>
            <p:ph type="sldImg"/>
          </p:nvPr>
        </p:nvSpPr>
        <p:spPr>
          <a:xfrm>
            <a:off x="1292225" y="796925"/>
            <a:ext cx="4273550" cy="3205163"/>
          </a:xfrm>
          <a:ln/>
        </p:spPr>
      </p:sp>
      <p:sp>
        <p:nvSpPr>
          <p:cNvPr id="404483" name="Rectangle 3"/>
          <p:cNvSpPr>
            <a:spLocks noGrp="1" noChangeArrowheads="1"/>
          </p:cNvSpPr>
          <p:nvPr>
            <p:ph type="body" idx="1"/>
          </p:nvPr>
        </p:nvSpPr>
        <p:spPr>
          <a:xfrm>
            <a:off x="914183" y="4347531"/>
            <a:ext cx="5029635" cy="3848874"/>
          </a:xfrm>
        </p:spPr>
        <p:txBody>
          <a:bodyPr/>
          <a:lstStyle/>
          <a:p>
            <a:endParaRPr lang="en-GB"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Rectangle 2"/>
          <p:cNvSpPr>
            <a:spLocks noGrp="1" noRot="1" noChangeAspect="1" noChangeArrowheads="1" noTextEdit="1"/>
          </p:cNvSpPr>
          <p:nvPr>
            <p:ph type="sldImg"/>
          </p:nvPr>
        </p:nvSpPr>
        <p:spPr>
          <a:xfrm>
            <a:off x="1292225" y="796925"/>
            <a:ext cx="4273550" cy="3205163"/>
          </a:xfrm>
          <a:ln/>
        </p:spPr>
      </p:sp>
      <p:sp>
        <p:nvSpPr>
          <p:cNvPr id="404483" name="Rectangle 3"/>
          <p:cNvSpPr>
            <a:spLocks noGrp="1" noChangeArrowheads="1"/>
          </p:cNvSpPr>
          <p:nvPr>
            <p:ph type="body" idx="1"/>
          </p:nvPr>
        </p:nvSpPr>
        <p:spPr>
          <a:xfrm>
            <a:off x="914183" y="4347531"/>
            <a:ext cx="5029635" cy="3848874"/>
          </a:xfrm>
        </p:spPr>
        <p:txBody>
          <a:bodyPr/>
          <a:lstStyle/>
          <a:p>
            <a:endParaRPr lang="en-GB" altLang="en-US" dirty="0"/>
          </a:p>
        </p:txBody>
      </p:sp>
    </p:spTree>
    <p:extLst>
      <p:ext uri="{BB962C8B-B14F-4D97-AF65-F5344CB8AC3E}">
        <p14:creationId xmlns:p14="http://schemas.microsoft.com/office/powerpoint/2010/main" val="26414370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Rectangle 2"/>
          <p:cNvSpPr>
            <a:spLocks noGrp="1" noRot="1" noChangeAspect="1" noChangeArrowheads="1" noTextEdit="1"/>
          </p:cNvSpPr>
          <p:nvPr>
            <p:ph type="sldImg"/>
          </p:nvPr>
        </p:nvSpPr>
        <p:spPr>
          <a:xfrm>
            <a:off x="1292225" y="796925"/>
            <a:ext cx="4273550" cy="3205163"/>
          </a:xfrm>
          <a:ln/>
        </p:spPr>
      </p:sp>
      <p:sp>
        <p:nvSpPr>
          <p:cNvPr id="404483" name="Rectangle 3"/>
          <p:cNvSpPr>
            <a:spLocks noGrp="1" noChangeArrowheads="1"/>
          </p:cNvSpPr>
          <p:nvPr>
            <p:ph type="body" idx="1"/>
          </p:nvPr>
        </p:nvSpPr>
        <p:spPr>
          <a:xfrm>
            <a:off x="914183" y="4347531"/>
            <a:ext cx="5029635" cy="3848874"/>
          </a:xfrm>
        </p:spPr>
        <p:txBody>
          <a:bodyPr/>
          <a:lstStyle/>
          <a:p>
            <a:endParaRPr lang="en-GB" altLang="en-US" dirty="0"/>
          </a:p>
        </p:txBody>
      </p:sp>
    </p:spTree>
    <p:extLst>
      <p:ext uri="{BB962C8B-B14F-4D97-AF65-F5344CB8AC3E}">
        <p14:creationId xmlns:p14="http://schemas.microsoft.com/office/powerpoint/2010/main" val="14605290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FB37484-4BD0-4B53-9749-250372656A21}" type="slidenum">
              <a:rPr lang="en-GB" smtClean="0"/>
              <a:t>41</a:t>
            </a:fld>
            <a:endParaRPr lang="en-GB"/>
          </a:p>
        </p:txBody>
      </p:sp>
    </p:spTree>
    <p:extLst>
      <p:ext uri="{BB962C8B-B14F-4D97-AF65-F5344CB8AC3E}">
        <p14:creationId xmlns:p14="http://schemas.microsoft.com/office/powerpoint/2010/main" val="301944605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FB37484-4BD0-4B53-9749-250372656A21}" type="slidenum">
              <a:rPr lang="en-GB" smtClean="0"/>
              <a:t>42</a:t>
            </a:fld>
            <a:endParaRPr lang="en-GB"/>
          </a:p>
        </p:txBody>
      </p:sp>
    </p:spTree>
    <p:extLst>
      <p:ext uri="{BB962C8B-B14F-4D97-AF65-F5344CB8AC3E}">
        <p14:creationId xmlns:p14="http://schemas.microsoft.com/office/powerpoint/2010/main" val="22659725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FB37484-4BD0-4B53-9749-250372656A21}" type="slidenum">
              <a:rPr lang="en-GB" smtClean="0"/>
              <a:t>43</a:t>
            </a:fld>
            <a:endParaRPr lang="en-GB"/>
          </a:p>
        </p:txBody>
      </p:sp>
    </p:spTree>
    <p:extLst>
      <p:ext uri="{BB962C8B-B14F-4D97-AF65-F5344CB8AC3E}">
        <p14:creationId xmlns:p14="http://schemas.microsoft.com/office/powerpoint/2010/main" val="4231303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44</a:t>
            </a:fld>
            <a:endParaRPr lang="en-GB"/>
          </a:p>
        </p:txBody>
      </p:sp>
    </p:spTree>
    <p:extLst>
      <p:ext uri="{BB962C8B-B14F-4D97-AF65-F5344CB8AC3E}">
        <p14:creationId xmlns:p14="http://schemas.microsoft.com/office/powerpoint/2010/main" val="35878339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2"/>
          <p:cNvSpPr>
            <a:spLocks noGrp="1" noRot="1" noChangeAspect="1" noChangeArrowheads="1" noTextEdit="1"/>
          </p:cNvSpPr>
          <p:nvPr>
            <p:ph type="sldImg"/>
          </p:nvPr>
        </p:nvSpPr>
        <p:spPr>
          <a:xfrm>
            <a:off x="1292225" y="796925"/>
            <a:ext cx="4273550" cy="3205163"/>
          </a:xfrm>
          <a:ln/>
        </p:spPr>
      </p:sp>
      <p:sp>
        <p:nvSpPr>
          <p:cNvPr id="307203" name="Rectangle 3"/>
          <p:cNvSpPr>
            <a:spLocks noGrp="1" noChangeArrowheads="1"/>
          </p:cNvSpPr>
          <p:nvPr>
            <p:ph type="body" idx="1"/>
          </p:nvPr>
        </p:nvSpPr>
        <p:spPr>
          <a:xfrm>
            <a:off x="913991" y="4347195"/>
            <a:ext cx="5030018" cy="3849359"/>
          </a:xfrm>
        </p:spPr>
        <p:txBody>
          <a:bodyPr/>
          <a:lstStyle/>
          <a:p>
            <a:endParaRPr lang="en-US"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46</a:t>
            </a:fld>
            <a:endParaRPr lang="en-GB"/>
          </a:p>
        </p:txBody>
      </p:sp>
    </p:spTree>
    <p:extLst>
      <p:ext uri="{BB962C8B-B14F-4D97-AF65-F5344CB8AC3E}">
        <p14:creationId xmlns:p14="http://schemas.microsoft.com/office/powerpoint/2010/main" val="146072614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Rectangle 2"/>
          <p:cNvSpPr>
            <a:spLocks noGrp="1" noRot="1" noChangeAspect="1" noChangeArrowheads="1" noTextEdit="1"/>
          </p:cNvSpPr>
          <p:nvPr>
            <p:ph type="sldImg"/>
          </p:nvPr>
        </p:nvSpPr>
        <p:spPr>
          <a:ln/>
        </p:spPr>
      </p:sp>
      <p:sp>
        <p:nvSpPr>
          <p:cNvPr id="358403" name="Rectangle 3"/>
          <p:cNvSpPr>
            <a:spLocks noGrp="1" noChangeArrowheads="1"/>
          </p:cNvSpPr>
          <p:nvPr>
            <p:ph type="body" idx="1"/>
          </p:nvPr>
        </p:nvSpPr>
        <p:spPr/>
        <p:txBody>
          <a:bodyPr/>
          <a:lstStyle/>
          <a:p>
            <a:r>
              <a:rPr lang="en-GB" altLang="en-US"/>
              <a:t>It might seem that it would be easier just to use non-parametric statistics all the time, but it’s not that easy. </a:t>
            </a:r>
          </a:p>
          <a:p>
            <a:endParaRPr lang="en-GB" altLang="en-US"/>
          </a:p>
          <a:p>
            <a:r>
              <a:rPr lang="en-GB" altLang="en-US"/>
              <a:t>The above being said, there are non-parametric equivalents to things like t-tests and correlation coefficients, although we won’t cover them here.</a:t>
            </a:r>
            <a:endParaRPr lang="en-US" altLang="en-US"/>
          </a:p>
        </p:txBody>
      </p:sp>
    </p:spTree>
    <p:extLst>
      <p:ext uri="{BB962C8B-B14F-4D97-AF65-F5344CB8AC3E}">
        <p14:creationId xmlns:p14="http://schemas.microsoft.com/office/powerpoint/2010/main" val="139778619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2"/>
          <p:cNvSpPr>
            <a:spLocks noGrp="1" noRot="1" noChangeAspect="1" noChangeArrowheads="1" noTextEdit="1"/>
          </p:cNvSpPr>
          <p:nvPr>
            <p:ph type="sldImg"/>
          </p:nvPr>
        </p:nvSpPr>
        <p:spPr>
          <a:xfrm>
            <a:off x="1292225" y="796925"/>
            <a:ext cx="4273550" cy="3205163"/>
          </a:xfrm>
          <a:ln/>
        </p:spPr>
      </p:sp>
      <p:sp>
        <p:nvSpPr>
          <p:cNvPr id="309251" name="Rectangle 3"/>
          <p:cNvSpPr>
            <a:spLocks noGrp="1" noChangeArrowheads="1"/>
          </p:cNvSpPr>
          <p:nvPr>
            <p:ph type="body" idx="1"/>
          </p:nvPr>
        </p:nvSpPr>
        <p:spPr>
          <a:xfrm>
            <a:off x="913991" y="4347195"/>
            <a:ext cx="5030018" cy="3849359"/>
          </a:xfrm>
        </p:spPr>
        <p:txBody>
          <a:bodyPr/>
          <a:lstStyle/>
          <a:p>
            <a:endParaRPr lang="en-US" alt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2"/>
          <p:cNvSpPr>
            <a:spLocks noGrp="1" noRot="1" noChangeAspect="1" noChangeArrowheads="1" noTextEdit="1"/>
          </p:cNvSpPr>
          <p:nvPr>
            <p:ph type="sldImg"/>
          </p:nvPr>
        </p:nvSpPr>
        <p:spPr>
          <a:xfrm>
            <a:off x="1292225" y="796925"/>
            <a:ext cx="4273550" cy="3205163"/>
          </a:xfrm>
          <a:ln/>
        </p:spPr>
      </p:sp>
      <p:sp>
        <p:nvSpPr>
          <p:cNvPr id="309251" name="Rectangle 3"/>
          <p:cNvSpPr>
            <a:spLocks noGrp="1" noChangeArrowheads="1"/>
          </p:cNvSpPr>
          <p:nvPr>
            <p:ph type="body" idx="1"/>
          </p:nvPr>
        </p:nvSpPr>
        <p:spPr>
          <a:xfrm>
            <a:off x="913991" y="4347195"/>
            <a:ext cx="5030018" cy="3849359"/>
          </a:xfrm>
        </p:spPr>
        <p:txBody>
          <a:bodyPr/>
          <a:lstStyle/>
          <a:p>
            <a:endParaRPr lang="en-US" alt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2"/>
          <p:cNvSpPr>
            <a:spLocks noGrp="1" noRot="1" noChangeAspect="1" noChangeArrowheads="1" noTextEdit="1"/>
          </p:cNvSpPr>
          <p:nvPr>
            <p:ph type="sldImg"/>
          </p:nvPr>
        </p:nvSpPr>
        <p:spPr>
          <a:xfrm>
            <a:off x="1292225" y="796925"/>
            <a:ext cx="4273550" cy="3205163"/>
          </a:xfrm>
          <a:ln/>
        </p:spPr>
      </p:sp>
      <p:sp>
        <p:nvSpPr>
          <p:cNvPr id="309251" name="Rectangle 3"/>
          <p:cNvSpPr>
            <a:spLocks noGrp="1" noChangeArrowheads="1"/>
          </p:cNvSpPr>
          <p:nvPr>
            <p:ph type="body" idx="1"/>
          </p:nvPr>
        </p:nvSpPr>
        <p:spPr>
          <a:xfrm>
            <a:off x="913991" y="4347195"/>
            <a:ext cx="5030018" cy="3849359"/>
          </a:xfrm>
        </p:spPr>
        <p:txBody>
          <a:bodyPr/>
          <a:lstStyle/>
          <a:p>
            <a:endParaRPr lang="en-US" alt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2"/>
          <p:cNvSpPr>
            <a:spLocks noGrp="1" noRot="1" noChangeAspect="1" noChangeArrowheads="1" noTextEdit="1"/>
          </p:cNvSpPr>
          <p:nvPr>
            <p:ph type="sldImg"/>
          </p:nvPr>
        </p:nvSpPr>
        <p:spPr>
          <a:xfrm>
            <a:off x="1292225" y="796925"/>
            <a:ext cx="4273550" cy="3205163"/>
          </a:xfrm>
          <a:ln/>
        </p:spPr>
      </p:sp>
      <p:sp>
        <p:nvSpPr>
          <p:cNvPr id="309251" name="Rectangle 3"/>
          <p:cNvSpPr>
            <a:spLocks noGrp="1" noChangeArrowheads="1"/>
          </p:cNvSpPr>
          <p:nvPr>
            <p:ph type="body" idx="1"/>
          </p:nvPr>
        </p:nvSpPr>
        <p:spPr>
          <a:xfrm>
            <a:off x="913991" y="4347195"/>
            <a:ext cx="5030018" cy="3849359"/>
          </a:xfrm>
        </p:spPr>
        <p:txBody>
          <a:bodyPr/>
          <a:lstStyle/>
          <a:p>
            <a:endParaRPr lang="en-US" alt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2"/>
          <p:cNvSpPr>
            <a:spLocks noGrp="1" noRot="1" noChangeAspect="1" noChangeArrowheads="1" noTextEdit="1"/>
          </p:cNvSpPr>
          <p:nvPr>
            <p:ph type="sldImg"/>
          </p:nvPr>
        </p:nvSpPr>
        <p:spPr>
          <a:xfrm>
            <a:off x="1292225" y="796925"/>
            <a:ext cx="4273550" cy="3205163"/>
          </a:xfrm>
          <a:ln/>
        </p:spPr>
      </p:sp>
      <p:sp>
        <p:nvSpPr>
          <p:cNvPr id="309251" name="Rectangle 3"/>
          <p:cNvSpPr>
            <a:spLocks noGrp="1" noChangeArrowheads="1"/>
          </p:cNvSpPr>
          <p:nvPr>
            <p:ph type="body" idx="1"/>
          </p:nvPr>
        </p:nvSpPr>
        <p:spPr>
          <a:xfrm>
            <a:off x="913991" y="4347195"/>
            <a:ext cx="5030018" cy="3849359"/>
          </a:xfrm>
        </p:spPr>
        <p:txBody>
          <a:bodyPr/>
          <a:lstStyle/>
          <a:p>
            <a:endParaRPr lang="en-US" alt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2"/>
          <p:cNvSpPr>
            <a:spLocks noGrp="1" noRot="1" noChangeAspect="1" noChangeArrowheads="1" noTextEdit="1"/>
          </p:cNvSpPr>
          <p:nvPr>
            <p:ph type="sldImg"/>
          </p:nvPr>
        </p:nvSpPr>
        <p:spPr>
          <a:xfrm>
            <a:off x="1292225" y="796925"/>
            <a:ext cx="4273550" cy="3205163"/>
          </a:xfrm>
          <a:ln/>
        </p:spPr>
      </p:sp>
      <p:sp>
        <p:nvSpPr>
          <p:cNvPr id="309251" name="Rectangle 3"/>
          <p:cNvSpPr>
            <a:spLocks noGrp="1" noChangeArrowheads="1"/>
          </p:cNvSpPr>
          <p:nvPr>
            <p:ph type="body" idx="1"/>
          </p:nvPr>
        </p:nvSpPr>
        <p:spPr>
          <a:xfrm>
            <a:off x="913991" y="4347195"/>
            <a:ext cx="5030018" cy="3849359"/>
          </a:xfrm>
        </p:spPr>
        <p:txBody>
          <a:bodyPr/>
          <a:lstStyle/>
          <a:p>
            <a:endParaRPr lang="en-US" alt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FB37484-4BD0-4B53-9749-250372656A21}" type="slidenum">
              <a:rPr lang="en-GB" smtClean="0"/>
              <a:t>54</a:t>
            </a:fld>
            <a:endParaRPr lang="en-GB"/>
          </a:p>
        </p:txBody>
      </p:sp>
    </p:spTree>
    <p:extLst>
      <p:ext uri="{BB962C8B-B14F-4D97-AF65-F5344CB8AC3E}">
        <p14:creationId xmlns:p14="http://schemas.microsoft.com/office/powerpoint/2010/main" val="73016525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FB37484-4BD0-4B53-9749-250372656A21}" type="slidenum">
              <a:rPr lang="en-GB" smtClean="0"/>
              <a:t>55</a:t>
            </a:fld>
            <a:endParaRPr lang="en-GB"/>
          </a:p>
        </p:txBody>
      </p:sp>
    </p:spTree>
    <p:extLst>
      <p:ext uri="{BB962C8B-B14F-4D97-AF65-F5344CB8AC3E}">
        <p14:creationId xmlns:p14="http://schemas.microsoft.com/office/powerpoint/2010/main" val="242065559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FB37484-4BD0-4B53-9749-250372656A21}" type="slidenum">
              <a:rPr lang="en-GB" smtClean="0"/>
              <a:t>56</a:t>
            </a:fld>
            <a:endParaRPr lang="en-GB"/>
          </a:p>
        </p:txBody>
      </p:sp>
    </p:spTree>
    <p:extLst>
      <p:ext uri="{BB962C8B-B14F-4D97-AF65-F5344CB8AC3E}">
        <p14:creationId xmlns:p14="http://schemas.microsoft.com/office/powerpoint/2010/main" val="99734226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57</a:t>
            </a:fld>
            <a:endParaRPr lang="en-GB"/>
          </a:p>
        </p:txBody>
      </p:sp>
    </p:spTree>
    <p:extLst>
      <p:ext uri="{BB962C8B-B14F-4D97-AF65-F5344CB8AC3E}">
        <p14:creationId xmlns:p14="http://schemas.microsoft.com/office/powerpoint/2010/main" val="358783398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58</a:t>
            </a:fld>
            <a:endParaRPr lang="en-GB"/>
          </a:p>
        </p:txBody>
      </p:sp>
    </p:spTree>
    <p:extLst>
      <p:ext uri="{BB962C8B-B14F-4D97-AF65-F5344CB8AC3E}">
        <p14:creationId xmlns:p14="http://schemas.microsoft.com/office/powerpoint/2010/main" val="5253327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8229600" cy="1143000"/>
          </a:xfrm>
        </p:spPr>
        <p:txBody>
          <a:bodyPr/>
          <a:lstStyle>
            <a:lvl1pPr algn="l">
              <a:defRPr/>
            </a:lvl1p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 cropped imag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8463C-608D-13B5-1D2F-79AF21D7231E}"/>
              </a:ext>
            </a:extLst>
          </p:cNvPr>
          <p:cNvSpPr>
            <a:spLocks noGrp="1"/>
          </p:cNvSpPr>
          <p:nvPr>
            <p:ph type="ctrTitle" hasCustomPrompt="1"/>
          </p:nvPr>
        </p:nvSpPr>
        <p:spPr>
          <a:xfrm>
            <a:off x="326232" y="1600200"/>
            <a:ext cx="4398169" cy="3035298"/>
          </a:xfrm>
        </p:spPr>
        <p:txBody>
          <a:bodyPr anchor="b">
            <a:noAutofit/>
          </a:bodyPr>
          <a:lstStyle>
            <a:lvl1pPr algn="l">
              <a:lnSpc>
                <a:spcPct val="95000"/>
              </a:lnSpc>
              <a:defRPr sz="3300"/>
            </a:lvl1pPr>
          </a:lstStyle>
          <a:p>
            <a:r>
              <a:rPr lang="en-GB"/>
              <a:t>Add the class title here</a:t>
            </a:r>
          </a:p>
        </p:txBody>
      </p:sp>
      <p:sp>
        <p:nvSpPr>
          <p:cNvPr id="3" name="Subtitle 2">
            <a:extLst>
              <a:ext uri="{FF2B5EF4-FFF2-40B4-BE49-F238E27FC236}">
                <a16:creationId xmlns:a16="http://schemas.microsoft.com/office/drawing/2014/main" id="{564946EB-A0AB-A529-4A80-84180658CB1A}"/>
              </a:ext>
            </a:extLst>
          </p:cNvPr>
          <p:cNvSpPr>
            <a:spLocks noGrp="1"/>
          </p:cNvSpPr>
          <p:nvPr>
            <p:ph type="subTitle" idx="1" hasCustomPrompt="1"/>
          </p:nvPr>
        </p:nvSpPr>
        <p:spPr>
          <a:xfrm>
            <a:off x="326232" y="5257801"/>
            <a:ext cx="4398169" cy="714829"/>
          </a:xfrm>
        </p:spPr>
        <p:txBody>
          <a:bodyPr>
            <a:noAutofit/>
          </a:bodyPr>
          <a:lstStyle>
            <a:lvl1pPr marL="0" indent="0" algn="l">
              <a:buNone/>
              <a:defRPr sz="1200" b="1"/>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Add your name here</a:t>
            </a:r>
          </a:p>
          <a:p>
            <a:r>
              <a:rPr lang="en-GB"/>
              <a:t>Add the module code here</a:t>
            </a:r>
          </a:p>
        </p:txBody>
      </p:sp>
      <p:sp>
        <p:nvSpPr>
          <p:cNvPr id="19" name="Picture Placeholder 18">
            <a:extLst>
              <a:ext uri="{FF2B5EF4-FFF2-40B4-BE49-F238E27FC236}">
                <a16:creationId xmlns:a16="http://schemas.microsoft.com/office/drawing/2014/main" id="{11738E2F-CBAE-3B37-7538-8103A37B65B2}"/>
              </a:ext>
            </a:extLst>
          </p:cNvPr>
          <p:cNvSpPr>
            <a:spLocks noGrp="1"/>
          </p:cNvSpPr>
          <p:nvPr>
            <p:ph type="pic" sz="quarter" idx="13"/>
          </p:nvPr>
        </p:nvSpPr>
        <p:spPr>
          <a:xfrm>
            <a:off x="5060155" y="0"/>
            <a:ext cx="4083845" cy="6858000"/>
          </a:xfrm>
          <a:custGeom>
            <a:avLst/>
            <a:gdLst>
              <a:gd name="connsiteX0" fmla="*/ 845572 w 5445126"/>
              <a:gd name="connsiteY0" fmla="*/ 0 h 6858000"/>
              <a:gd name="connsiteX1" fmla="*/ 5445126 w 5445126"/>
              <a:gd name="connsiteY1" fmla="*/ 0 h 6858000"/>
              <a:gd name="connsiteX2" fmla="*/ 5445126 w 5445126"/>
              <a:gd name="connsiteY2" fmla="*/ 6858000 h 6858000"/>
              <a:gd name="connsiteX3" fmla="*/ 806416 w 5445126"/>
              <a:gd name="connsiteY3" fmla="*/ 6858000 h 6858000"/>
              <a:gd name="connsiteX4" fmla="*/ 722120 w 5445126"/>
              <a:gd name="connsiteY4" fmla="*/ 6693952 h 6858000"/>
              <a:gd name="connsiteX5" fmla="*/ 0 w 5445126"/>
              <a:gd name="connsiteY5" fmla="*/ 3467100 h 6858000"/>
              <a:gd name="connsiteX6" fmla="*/ 722120 w 5445126"/>
              <a:gd name="connsiteY6" fmla="*/ 24024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45126" h="6858000">
                <a:moveTo>
                  <a:pt x="845572" y="0"/>
                </a:moveTo>
                <a:lnTo>
                  <a:pt x="5445126" y="0"/>
                </a:lnTo>
                <a:lnTo>
                  <a:pt x="5445126" y="6858000"/>
                </a:lnTo>
                <a:lnTo>
                  <a:pt x="806416" y="6858000"/>
                </a:lnTo>
                <a:lnTo>
                  <a:pt x="722120" y="6693952"/>
                </a:lnTo>
                <a:cubicBezTo>
                  <a:pt x="263881" y="5753053"/>
                  <a:pt x="0" y="4648524"/>
                  <a:pt x="0" y="3467100"/>
                </a:cubicBezTo>
                <a:cubicBezTo>
                  <a:pt x="0" y="2285677"/>
                  <a:pt x="263881" y="1181147"/>
                  <a:pt x="722120" y="240248"/>
                </a:cubicBezTo>
                <a:close/>
              </a:path>
            </a:pathLst>
          </a:custGeom>
        </p:spPr>
        <p:txBody>
          <a:bodyPr wrap="square" anchor="t">
            <a:noAutofit/>
          </a:bodyPr>
          <a:lstStyle>
            <a:lvl1pPr marL="0" indent="0" algn="l">
              <a:buFont typeface="+mj-lt"/>
              <a:buNone/>
              <a:defRPr sz="1050" i="1"/>
            </a:lvl1pPr>
          </a:lstStyle>
          <a:p>
            <a:endParaRPr lang="en-GB"/>
          </a:p>
          <a:p>
            <a:endParaRPr lang="en-GB"/>
          </a:p>
          <a:p>
            <a:r>
              <a:rPr lang="en-GB"/>
              <a:t>Insert an image into this border by pressing the icon below. You’ll be able to choose an image from your own device or search Microsoft’s bank of online and stock images. The resulting image will be cropped in line with the LUBS visual identity.</a:t>
            </a:r>
          </a:p>
        </p:txBody>
      </p:sp>
      <p:sp>
        <p:nvSpPr>
          <p:cNvPr id="9" name="Rule">
            <a:extLst>
              <a:ext uri="{FF2B5EF4-FFF2-40B4-BE49-F238E27FC236}">
                <a16:creationId xmlns:a16="http://schemas.microsoft.com/office/drawing/2014/main" id="{1AA8658B-489D-937F-E54E-8F8370640434}"/>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355995" y="4996988"/>
            <a:ext cx="284561" cy="9571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pic>
        <p:nvPicPr>
          <p:cNvPr id="11" name="Business School wordmark">
            <a:extLst>
              <a:ext uri="{FF2B5EF4-FFF2-40B4-BE49-F238E27FC236}">
                <a16:creationId xmlns:a16="http://schemas.microsoft.com/office/drawing/2014/main" id="{15B8D312-1B6D-671B-7A71-D91E3145B95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6233" y="419101"/>
            <a:ext cx="933449" cy="937958"/>
          </a:xfrm>
          <a:prstGeom prst="rect">
            <a:avLst/>
          </a:prstGeom>
        </p:spPr>
      </p:pic>
      <p:pic>
        <p:nvPicPr>
          <p:cNvPr id="13" name="Triple Accreditation Logo">
            <a:extLst>
              <a:ext uri="{FF2B5EF4-FFF2-40B4-BE49-F238E27FC236}">
                <a16:creationId xmlns:a16="http://schemas.microsoft.com/office/drawing/2014/main" id="{809C6E06-F71D-709E-3534-DD95061EC31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4" cstate="print">
            <a:extLst>
              <a:ext uri="{28A0092B-C50C-407E-A947-70E740481C1C}">
                <a14:useLocalDpi xmlns:a14="http://schemas.microsoft.com/office/drawing/2010/main"/>
              </a:ext>
            </a:extLst>
          </a:blip>
          <a:stretch>
            <a:fillRect/>
          </a:stretch>
        </p:blipFill>
        <p:spPr>
          <a:xfrm>
            <a:off x="326572" y="6108447"/>
            <a:ext cx="2051957" cy="355244"/>
          </a:xfrm>
          <a:prstGeom prst="rect">
            <a:avLst/>
          </a:prstGeom>
        </p:spPr>
      </p:pic>
    </p:spTree>
    <p:extLst>
      <p:ext uri="{BB962C8B-B14F-4D97-AF65-F5344CB8AC3E}">
        <p14:creationId xmlns:p14="http://schemas.microsoft.com/office/powerpoint/2010/main" val="1763299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Content &amp;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86BA5-ACCD-78BC-DF0C-B41A599640DB}"/>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70C1A502-743F-F12A-0681-5C64290E1F3F}"/>
              </a:ext>
            </a:extLst>
          </p:cNvPr>
          <p:cNvSpPr>
            <a:spLocks noGrp="1"/>
          </p:cNvSpPr>
          <p:nvPr>
            <p:ph idx="1"/>
          </p:nvPr>
        </p:nvSpPr>
        <p:spPr>
          <a:xfrm>
            <a:off x="335756" y="1477283"/>
            <a:ext cx="3762716" cy="4415517"/>
          </a:xfrm>
        </p:spPr>
        <p:txBody>
          <a:bodyPr>
            <a:normAutofit/>
          </a:bodyPr>
          <a:lstStyle>
            <a:lvl1pPr marL="0" indent="0">
              <a:lnSpc>
                <a:spcPct val="98000"/>
              </a:lnSpc>
              <a:buNone/>
              <a:defRPr sz="1200">
                <a:latin typeface="Georgia" panose="02040502050405020303" pitchFamily="18" charset="0"/>
              </a:defRPr>
            </a:lvl1pPr>
            <a:lvl2pPr marL="135731" indent="-135731">
              <a:lnSpc>
                <a:spcPct val="98000"/>
              </a:lnSpc>
              <a:defRPr sz="1200">
                <a:latin typeface="Georgia" panose="02040502050405020303" pitchFamily="18" charset="0"/>
              </a:defRPr>
            </a:lvl2pPr>
            <a:lvl3pPr marL="269081" indent="-133350">
              <a:lnSpc>
                <a:spcPct val="98000"/>
              </a:lnSpc>
              <a:defRPr sz="1200">
                <a:latin typeface="Georgia" panose="02040502050405020303" pitchFamily="18" charset="0"/>
              </a:defRPr>
            </a:lvl3pPr>
            <a:lvl4pPr marL="404813" indent="-135731">
              <a:lnSpc>
                <a:spcPct val="98000"/>
              </a:lnSpc>
              <a:defRPr sz="1200">
                <a:latin typeface="Georgia" panose="02040502050405020303" pitchFamily="18" charset="0"/>
              </a:defRPr>
            </a:lvl4pPr>
            <a:lvl5pPr marL="538163" indent="-133350">
              <a:lnSpc>
                <a:spcPct val="98000"/>
              </a:lnSpc>
              <a:tabLst/>
              <a:defRPr sz="1200">
                <a:latin typeface="Georgia" panose="02040502050405020303" pitchFamily="18"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4266DE9A-93DF-EBDE-4E30-66F6FE91DE84}"/>
              </a:ext>
            </a:extLst>
          </p:cNvPr>
          <p:cNvSpPr>
            <a:spLocks noGrp="1"/>
          </p:cNvSpPr>
          <p:nvPr>
            <p:ph type="dt" sz="half" idx="10"/>
          </p:nvPr>
        </p:nvSpPr>
        <p:spPr/>
        <p:txBody>
          <a:bodyPr/>
          <a:lstStyle/>
          <a:p>
            <a:fld id="{1FB90C74-8ABF-4022-9A3F-6BE74D63C285}" type="datetime1">
              <a:rPr lang="en-GB" smtClean="0"/>
              <a:t>04/11/2025</a:t>
            </a:fld>
            <a:endParaRPr lang="en-GB"/>
          </a:p>
        </p:txBody>
      </p:sp>
      <p:sp>
        <p:nvSpPr>
          <p:cNvPr id="5" name="Footer Placeholder 4">
            <a:extLst>
              <a:ext uri="{FF2B5EF4-FFF2-40B4-BE49-F238E27FC236}">
                <a16:creationId xmlns:a16="http://schemas.microsoft.com/office/drawing/2014/main" id="{2902B8C3-A8D1-A2E0-78F1-586746B4AB7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3CB66AF-962C-362C-6D69-1B22304F8B7A}"/>
              </a:ext>
            </a:extLst>
          </p:cNvPr>
          <p:cNvSpPr>
            <a:spLocks noGrp="1"/>
          </p:cNvSpPr>
          <p:nvPr>
            <p:ph type="sldNum" sz="quarter" idx="12"/>
          </p:nvPr>
        </p:nvSpPr>
        <p:spPr/>
        <p:txBody>
          <a:bodyPr/>
          <a:lstStyle/>
          <a:p>
            <a:fld id="{C60B6CEB-00FD-4EF2-810E-E0CF7536FD01}" type="slidenum">
              <a:rPr lang="en-GB" smtClean="0"/>
              <a:t>‹#›</a:t>
            </a:fld>
            <a:endParaRPr lang="en-GB"/>
          </a:p>
        </p:txBody>
      </p:sp>
      <p:sp>
        <p:nvSpPr>
          <p:cNvPr id="10" name="Picture Placeholder 9">
            <a:extLst>
              <a:ext uri="{FF2B5EF4-FFF2-40B4-BE49-F238E27FC236}">
                <a16:creationId xmlns:a16="http://schemas.microsoft.com/office/drawing/2014/main" id="{D37A36D0-B350-51AD-0278-1534AD3DCA99}"/>
              </a:ext>
            </a:extLst>
          </p:cNvPr>
          <p:cNvSpPr>
            <a:spLocks noGrp="1"/>
          </p:cNvSpPr>
          <p:nvPr>
            <p:ph type="pic" sz="quarter" idx="13"/>
          </p:nvPr>
        </p:nvSpPr>
        <p:spPr>
          <a:xfrm>
            <a:off x="5045528" y="1494974"/>
            <a:ext cx="3771899" cy="3991426"/>
          </a:xfrm>
        </p:spPr>
        <p:txBody>
          <a:bodyPr/>
          <a:lstStyle/>
          <a:p>
            <a:r>
              <a:rPr lang="en-GB"/>
              <a:t>Click icon to add picture</a:t>
            </a:r>
          </a:p>
        </p:txBody>
      </p:sp>
    </p:spTree>
    <p:extLst>
      <p:ext uri="{BB962C8B-B14F-4D97-AF65-F5344CB8AC3E}">
        <p14:creationId xmlns:p14="http://schemas.microsoft.com/office/powerpoint/2010/main" val="3763210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6250"/>
            <a:ext cx="8229600" cy="114300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492875"/>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11/4/25</a:t>
            </a:fld>
            <a:endParaRPr lang="en-US"/>
          </a:p>
        </p:txBody>
      </p:sp>
      <p:sp>
        <p:nvSpPr>
          <p:cNvPr id="5" name="Footer Placeholder 4"/>
          <p:cNvSpPr>
            <a:spLocks noGrp="1"/>
          </p:cNvSpPr>
          <p:nvPr>
            <p:ph type="ftr" sz="quarter" idx="3"/>
          </p:nvPr>
        </p:nvSpPr>
        <p:spPr>
          <a:xfrm>
            <a:off x="3124200" y="6492875"/>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492875"/>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spcBef>
          <a:spcPct val="0"/>
        </a:spcBef>
        <a:buNone/>
        <a:defRPr sz="3600" b="1"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2.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13.xml"/><Relationship Id="rId1" Type="http://schemas.openxmlformats.org/officeDocument/2006/relationships/tags" Target="../tags/tag4.xml"/><Relationship Id="rId4" Type="http://schemas.openxmlformats.org/officeDocument/2006/relationships/hyperlink" Target="https://www.khanacademy.org/math/statistics-probability"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14.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3.png"/><Relationship Id="rId7" Type="http://schemas.openxmlformats.org/officeDocument/2006/relationships/image" Target="../media/image58.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1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53.png"/><Relationship Id="rId7" Type="http://schemas.openxmlformats.org/officeDocument/2006/relationships/image" Target="../media/image50.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11.png"/><Relationship Id="rId9" Type="http://schemas.openxmlformats.org/officeDocument/2006/relationships/image" Target="../media/image1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7.w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40.png"/><Relationship Id="rId5" Type="http://schemas.openxmlformats.org/officeDocument/2006/relationships/image" Target="../media/image30.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76.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7.png"/><Relationship Id="rId7" Type="http://schemas.openxmlformats.org/officeDocument/2006/relationships/image" Target="../media/image71.png"/><Relationship Id="rId2" Type="http://schemas.openxmlformats.org/officeDocument/2006/relationships/notesSlide" Target="../notesSlides/notesSlide21.xml"/><Relationship Id="rId1" Type="http://schemas.openxmlformats.org/officeDocument/2006/relationships/slideLayout" Target="../slideLayouts/slideLayout6.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31.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image" Target="../media/image67.png"/><Relationship Id="rId7" Type="http://schemas.openxmlformats.org/officeDocument/2006/relationships/image" Target="../media/image51.png"/><Relationship Id="rId2" Type="http://schemas.openxmlformats.org/officeDocument/2006/relationships/notesSlide" Target="../notesSlides/notesSlide22.xml"/><Relationship Id="rId1" Type="http://schemas.openxmlformats.org/officeDocument/2006/relationships/slideLayout" Target="../slideLayouts/slideLayout6.xml"/><Relationship Id="rId6" Type="http://schemas.openxmlformats.org/officeDocument/2006/relationships/image" Target="../media/image70.png"/><Relationship Id="rId5" Type="http://schemas.openxmlformats.org/officeDocument/2006/relationships/image" Target="../media/image69.png"/><Relationship Id="rId10" Type="http://schemas.openxmlformats.org/officeDocument/2006/relationships/image" Target="../media/image62.png"/><Relationship Id="rId4" Type="http://schemas.openxmlformats.org/officeDocument/2006/relationships/image" Target="../media/image68.png"/><Relationship Id="rId9" Type="http://schemas.openxmlformats.org/officeDocument/2006/relationships/image" Target="../media/image75.png"/></Relationships>
</file>

<file path=ppt/slides/_rels/slide32.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67.png"/><Relationship Id="rId7" Type="http://schemas.openxmlformats.org/officeDocument/2006/relationships/image" Target="../media/image77.png"/><Relationship Id="rId2" Type="http://schemas.openxmlformats.org/officeDocument/2006/relationships/notesSlide" Target="../notesSlides/notesSlide23.xml"/><Relationship Id="rId1" Type="http://schemas.openxmlformats.org/officeDocument/2006/relationships/slideLayout" Target="../slideLayouts/slideLayout6.xml"/><Relationship Id="rId6" Type="http://schemas.openxmlformats.org/officeDocument/2006/relationships/image" Target="../media/image70.png"/><Relationship Id="rId5" Type="http://schemas.openxmlformats.org/officeDocument/2006/relationships/image" Target="../media/image69.png"/><Relationship Id="rId10" Type="http://schemas.openxmlformats.org/officeDocument/2006/relationships/image" Target="../media/image80.png"/><Relationship Id="rId4" Type="http://schemas.openxmlformats.org/officeDocument/2006/relationships/image" Target="../media/image68.png"/><Relationship Id="rId9" Type="http://schemas.openxmlformats.org/officeDocument/2006/relationships/image" Target="../media/image79.png"/></Relationships>
</file>

<file path=ppt/slides/_rels/slide33.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67.png"/><Relationship Id="rId7" Type="http://schemas.openxmlformats.org/officeDocument/2006/relationships/image" Target="../media/image77.png"/><Relationship Id="rId2" Type="http://schemas.openxmlformats.org/officeDocument/2006/relationships/notesSlide" Target="../notesSlides/notesSlide24.xml"/><Relationship Id="rId1" Type="http://schemas.openxmlformats.org/officeDocument/2006/relationships/slideLayout" Target="../slideLayouts/slideLayout6.xml"/><Relationship Id="rId6" Type="http://schemas.openxmlformats.org/officeDocument/2006/relationships/image" Target="../media/image70.png"/><Relationship Id="rId5" Type="http://schemas.openxmlformats.org/officeDocument/2006/relationships/image" Target="../media/image69.png"/><Relationship Id="rId10" Type="http://schemas.openxmlformats.org/officeDocument/2006/relationships/image" Target="../media/image80.png"/><Relationship Id="rId4" Type="http://schemas.openxmlformats.org/officeDocument/2006/relationships/image" Target="../media/image68.png"/><Relationship Id="rId9" Type="http://schemas.openxmlformats.org/officeDocument/2006/relationships/image" Target="../media/image79.png"/></Relationships>
</file>

<file path=ppt/slides/_rels/slide34.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67.png"/><Relationship Id="rId7" Type="http://schemas.openxmlformats.org/officeDocument/2006/relationships/image" Target="../media/image77.png"/><Relationship Id="rId2" Type="http://schemas.openxmlformats.org/officeDocument/2006/relationships/notesSlide" Target="../notesSlides/notesSlide25.xml"/><Relationship Id="rId1" Type="http://schemas.openxmlformats.org/officeDocument/2006/relationships/slideLayout" Target="../slideLayouts/slideLayout6.xml"/><Relationship Id="rId6" Type="http://schemas.openxmlformats.org/officeDocument/2006/relationships/image" Target="../media/image70.png"/><Relationship Id="rId5" Type="http://schemas.openxmlformats.org/officeDocument/2006/relationships/image" Target="../media/image69.png"/><Relationship Id="rId10" Type="http://schemas.openxmlformats.org/officeDocument/2006/relationships/image" Target="../media/image80.png"/><Relationship Id="rId4" Type="http://schemas.openxmlformats.org/officeDocument/2006/relationships/image" Target="../media/image68.png"/><Relationship Id="rId9" Type="http://schemas.openxmlformats.org/officeDocument/2006/relationships/image" Target="../media/image79.png"/></Relationships>
</file>

<file path=ppt/slides/_rels/slide35.xml.rels><?xml version="1.0" encoding="UTF-8" standalone="yes"?>
<Relationships xmlns="http://schemas.openxmlformats.org/package/2006/relationships"><Relationship Id="rId8" Type="http://schemas.openxmlformats.org/officeDocument/2006/relationships/image" Target="../media/image73.png"/><Relationship Id="rId2" Type="http://schemas.openxmlformats.org/officeDocument/2006/relationships/notesSlide" Target="../notesSlides/notesSlide26.xml"/><Relationship Id="rId1" Type="http://schemas.openxmlformats.org/officeDocument/2006/relationships/slideLayout" Target="../slideLayouts/slideLayout6.xml"/><Relationship Id="rId11" Type="http://schemas.openxmlformats.org/officeDocument/2006/relationships/image" Target="../media/image16.png"/><Relationship Id="rId10" Type="http://schemas.openxmlformats.org/officeDocument/2006/relationships/image" Target="../media/image18.png"/><Relationship Id="rId9" Type="http://schemas.openxmlformats.org/officeDocument/2006/relationships/image" Target="../media/image81.png"/></Relationships>
</file>

<file path=ppt/slides/_rels/slide36.xml.rels><?xml version="1.0" encoding="UTF-8" standalone="yes"?>
<Relationships xmlns="http://schemas.openxmlformats.org/package/2006/relationships"><Relationship Id="rId8" Type="http://schemas.openxmlformats.org/officeDocument/2006/relationships/image" Target="../media/image73.png"/><Relationship Id="rId12"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6.xml"/><Relationship Id="rId11" Type="http://schemas.openxmlformats.org/officeDocument/2006/relationships/image" Target="../media/image19.png"/><Relationship Id="rId10" Type="http://schemas.openxmlformats.org/officeDocument/2006/relationships/image" Target="../media/image18.png"/><Relationship Id="rId9" Type="http://schemas.openxmlformats.org/officeDocument/2006/relationships/image" Target="../media/image81.png"/></Relationships>
</file>

<file path=ppt/slides/_rels/slide37.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image" Target="../media/image21.png"/><Relationship Id="rId7" Type="http://schemas.openxmlformats.org/officeDocument/2006/relationships/image" Target="../media/image88.png"/><Relationship Id="rId2" Type="http://schemas.openxmlformats.org/officeDocument/2006/relationships/notesSlide" Target="../notesSlides/notesSlide28.xml"/><Relationship Id="rId1" Type="http://schemas.openxmlformats.org/officeDocument/2006/relationships/slideLayout" Target="../slideLayouts/slideLayout6.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22.png"/></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3.png"/><Relationship Id="rId7" Type="http://schemas.openxmlformats.org/officeDocument/2006/relationships/image" Target="../media/image89.png"/><Relationship Id="rId2" Type="http://schemas.openxmlformats.org/officeDocument/2006/relationships/notesSlide" Target="../notesSlides/notesSlide30.xml"/><Relationship Id="rId1" Type="http://schemas.openxmlformats.org/officeDocument/2006/relationships/slideLayout" Target="../slideLayouts/slideLayout6.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png"/><Relationship Id="rId9" Type="http://schemas.openxmlformats.org/officeDocument/2006/relationships/image" Target="../media/image2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3.xml"/><Relationship Id="rId1" Type="http://schemas.openxmlformats.org/officeDocument/2006/relationships/slideLayout" Target="../slideLayouts/slideLayout6.xml"/><Relationship Id="rId5" Type="http://schemas.openxmlformats.org/officeDocument/2006/relationships/image" Target="../media/image28.png"/><Relationship Id="rId4" Type="http://schemas.openxmlformats.org/officeDocument/2006/relationships/image" Target="../media/image27.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39.xml"/><Relationship Id="rId1" Type="http://schemas.openxmlformats.org/officeDocument/2006/relationships/slideLayout" Target="../slideLayouts/slideLayout6.xml"/><Relationship Id="rId4" Type="http://schemas.openxmlformats.org/officeDocument/2006/relationships/image" Target="../media/image150.png"/></Relationships>
</file>

<file path=ppt/slides/_rels/slide50.xml.rels><?xml version="1.0" encoding="UTF-8" standalone="yes"?>
<Relationships xmlns="http://schemas.openxmlformats.org/package/2006/relationships"><Relationship Id="rId8" Type="http://schemas.openxmlformats.org/officeDocument/2006/relationships/image" Target="../media/image190.png"/><Relationship Id="rId3" Type="http://schemas.openxmlformats.org/officeDocument/2006/relationships/image" Target="../media/image140.png"/><Relationship Id="rId7" Type="http://schemas.openxmlformats.org/officeDocument/2006/relationships/image" Target="../media/image180.png"/><Relationship Id="rId2" Type="http://schemas.openxmlformats.org/officeDocument/2006/relationships/notesSlide" Target="../notesSlides/notesSlide40.xml"/><Relationship Id="rId1" Type="http://schemas.openxmlformats.org/officeDocument/2006/relationships/slideLayout" Target="../slideLayouts/slideLayout6.xml"/><Relationship Id="rId6" Type="http://schemas.openxmlformats.org/officeDocument/2006/relationships/image" Target="../media/image150.png"/><Relationship Id="rId5" Type="http://schemas.openxmlformats.org/officeDocument/2006/relationships/image" Target="../media/image170.png"/><Relationship Id="rId4" Type="http://schemas.openxmlformats.org/officeDocument/2006/relationships/image" Target="../media/image160.png"/></Relationships>
</file>

<file path=ppt/slides/_rels/slide51.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41.xml"/><Relationship Id="rId1" Type="http://schemas.openxmlformats.org/officeDocument/2006/relationships/slideLayout" Target="../slideLayouts/slideLayout6.xml"/><Relationship Id="rId5" Type="http://schemas.openxmlformats.org/officeDocument/2006/relationships/image" Target="../media/image220.png"/><Relationship Id="rId4" Type="http://schemas.openxmlformats.org/officeDocument/2006/relationships/image" Target="../media/image210.png"/></Relationships>
</file>

<file path=ppt/slides/_rels/slide52.xml.rels><?xml version="1.0" encoding="UTF-8" standalone="yes"?>
<Relationships xmlns="http://schemas.openxmlformats.org/package/2006/relationships"><Relationship Id="rId3" Type="http://schemas.openxmlformats.org/officeDocument/2006/relationships/image" Target="../media/image200.png"/><Relationship Id="rId7" Type="http://schemas.openxmlformats.org/officeDocument/2006/relationships/image" Target="../media/image240.png"/><Relationship Id="rId2" Type="http://schemas.openxmlformats.org/officeDocument/2006/relationships/notesSlide" Target="../notesSlides/notesSlide42.xml"/><Relationship Id="rId1" Type="http://schemas.openxmlformats.org/officeDocument/2006/relationships/slideLayout" Target="../slideLayouts/slideLayout6.xml"/><Relationship Id="rId6" Type="http://schemas.openxmlformats.org/officeDocument/2006/relationships/image" Target="../media/image230.png"/><Relationship Id="rId5" Type="http://schemas.openxmlformats.org/officeDocument/2006/relationships/image" Target="../media/image220.png"/><Relationship Id="rId4" Type="http://schemas.openxmlformats.org/officeDocument/2006/relationships/image" Target="../media/image210.png"/></Relationships>
</file>

<file path=ppt/slides/_rels/slide53.xml.rels><?xml version="1.0" encoding="UTF-8" standalone="yes"?>
<Relationships xmlns="http://schemas.openxmlformats.org/package/2006/relationships"><Relationship Id="rId8" Type="http://schemas.openxmlformats.org/officeDocument/2006/relationships/image" Target="../media/image250.png"/><Relationship Id="rId3" Type="http://schemas.openxmlformats.org/officeDocument/2006/relationships/image" Target="../media/image200.png"/><Relationship Id="rId7" Type="http://schemas.openxmlformats.org/officeDocument/2006/relationships/image" Target="../media/image240.png"/><Relationship Id="rId2" Type="http://schemas.openxmlformats.org/officeDocument/2006/relationships/notesSlide" Target="../notesSlides/notesSlide43.xml"/><Relationship Id="rId1" Type="http://schemas.openxmlformats.org/officeDocument/2006/relationships/slideLayout" Target="../slideLayouts/slideLayout6.xml"/><Relationship Id="rId6" Type="http://schemas.openxmlformats.org/officeDocument/2006/relationships/image" Target="../media/image230.png"/><Relationship Id="rId5" Type="http://schemas.openxmlformats.org/officeDocument/2006/relationships/image" Target="../media/image220.png"/><Relationship Id="rId4" Type="http://schemas.openxmlformats.org/officeDocument/2006/relationships/image" Target="../media/image210.png"/></Relationships>
</file>

<file path=ppt/slides/_rels/slide5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4.xml"/><Relationship Id="rId1" Type="http://schemas.openxmlformats.org/officeDocument/2006/relationships/slideLayout" Target="../slideLayouts/slideLayout6.xml"/><Relationship Id="rId4" Type="http://schemas.openxmlformats.org/officeDocument/2006/relationships/image" Target="../media/image31.png"/></Relationships>
</file>

<file path=ppt/slides/_rels/slide55.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notesSlide" Target="../notesSlides/notesSlide45.xml"/><Relationship Id="rId1" Type="http://schemas.openxmlformats.org/officeDocument/2006/relationships/slideLayout" Target="../slideLayouts/slideLayout6.xml"/><Relationship Id="rId4" Type="http://schemas.openxmlformats.org/officeDocument/2006/relationships/image" Target="../media/image28.wmf"/></Relationships>
</file>

<file path=ppt/slides/_rels/slide56.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notesSlide" Target="../notesSlides/notesSlide46.xml"/><Relationship Id="rId1" Type="http://schemas.openxmlformats.org/officeDocument/2006/relationships/slideLayout" Target="../slideLayouts/slideLayout6.xml"/><Relationship Id="rId5" Type="http://schemas.openxmlformats.org/officeDocument/2006/relationships/image" Target="../media/image310.png"/><Relationship Id="rId4" Type="http://schemas.openxmlformats.org/officeDocument/2006/relationships/image" Target="../media/image28.wmf"/></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60BC2-625C-E6AB-8E36-514123B48755}"/>
              </a:ext>
            </a:extLst>
          </p:cNvPr>
          <p:cNvSpPr>
            <a:spLocks noGrp="1"/>
          </p:cNvSpPr>
          <p:nvPr>
            <p:ph type="ctrTitle"/>
          </p:nvPr>
        </p:nvSpPr>
        <p:spPr/>
        <p:txBody>
          <a:bodyPr/>
          <a:lstStyle/>
          <a:p>
            <a:r>
              <a:rPr lang="en-US" dirty="0"/>
              <a:t>Feedback from your mid-module reviews</a:t>
            </a:r>
          </a:p>
        </p:txBody>
      </p:sp>
      <p:pic>
        <p:nvPicPr>
          <p:cNvPr id="19" name="Picture Placeholder 18" descr="A hand holding a speech bubble&#10;&#10;Description automatically generated">
            <a:extLst>
              <a:ext uri="{FF2B5EF4-FFF2-40B4-BE49-F238E27FC236}">
                <a16:creationId xmlns:a16="http://schemas.microsoft.com/office/drawing/2014/main" id="{65CC0B98-108E-34CA-433F-FC735A88D448}"/>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14484" r="6118"/>
          <a:stretch/>
        </p:blipFill>
        <p:spPr>
          <a:xfrm>
            <a:off x="5060155" y="857250"/>
            <a:ext cx="4083845" cy="5143500"/>
          </a:xfrm>
        </p:spPr>
      </p:pic>
    </p:spTree>
    <p:custDataLst>
      <p:tags r:id="rId1"/>
    </p:custDataLst>
    <p:extLst>
      <p:ext uri="{BB962C8B-B14F-4D97-AF65-F5344CB8AC3E}">
        <p14:creationId xmlns:p14="http://schemas.microsoft.com/office/powerpoint/2010/main" val="3620139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D6F9D-951C-284C-6546-4439C81ABEB1}"/>
              </a:ext>
            </a:extLst>
          </p:cNvPr>
          <p:cNvSpPr>
            <a:spLocks noGrp="1"/>
          </p:cNvSpPr>
          <p:nvPr>
            <p:ph type="title"/>
          </p:nvPr>
        </p:nvSpPr>
        <p:spPr/>
        <p:txBody>
          <a:bodyPr/>
          <a:lstStyle/>
          <a:p>
            <a:r>
              <a:rPr lang="en-US" b="1" dirty="0"/>
              <a:t>Your feedback makes the difference</a:t>
            </a:r>
          </a:p>
        </p:txBody>
      </p:sp>
      <p:pic>
        <p:nvPicPr>
          <p:cNvPr id="14" name="Picture 13" descr="A hand holding a speech bubble&#10;&#10;Description automatically generated">
            <a:extLst>
              <a:ext uri="{FF2B5EF4-FFF2-40B4-BE49-F238E27FC236}">
                <a16:creationId xmlns:a16="http://schemas.microsoft.com/office/drawing/2014/main" id="{E6D8BB17-1E03-2F69-D4EB-20880276ADF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51019" y="939455"/>
            <a:ext cx="799977" cy="799977"/>
          </a:xfrm>
          <a:prstGeom prst="ellipse">
            <a:avLst/>
          </a:prstGeom>
        </p:spPr>
      </p:pic>
      <p:sp>
        <p:nvSpPr>
          <p:cNvPr id="5" name="Speech Bubble: Rectangle with Corners Rounded 4">
            <a:extLst>
              <a:ext uri="{FF2B5EF4-FFF2-40B4-BE49-F238E27FC236}">
                <a16:creationId xmlns:a16="http://schemas.microsoft.com/office/drawing/2014/main" id="{DC849FA6-A264-0D54-ADEE-E8305A4F199B}"/>
              </a:ext>
            </a:extLst>
          </p:cNvPr>
          <p:cNvSpPr/>
          <p:nvPr/>
        </p:nvSpPr>
        <p:spPr>
          <a:xfrm>
            <a:off x="335756" y="1790265"/>
            <a:ext cx="2758708" cy="733784"/>
          </a:xfrm>
          <a:prstGeom prst="wedgeRoundRectCallout">
            <a:avLst>
              <a:gd name="adj1" fmla="val -35452"/>
              <a:gd name="adj2" fmla="val 62500"/>
              <a:gd name="adj3" fmla="val 16667"/>
            </a:avLst>
          </a:prstGeom>
          <a:solidFill>
            <a:schemeClr val="accent6">
              <a:lumMod val="20000"/>
              <a:lumOff val="80000"/>
            </a:schemeClr>
          </a:solidFill>
          <a:ln w="19050">
            <a:solidFill>
              <a:schemeClr val="accent6">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GB" sz="1350" dirty="0">
                <a:solidFill>
                  <a:schemeClr val="tx1"/>
                </a:solidFill>
              </a:rPr>
              <a:t>Provide additional examples and questions (7/40)</a:t>
            </a:r>
          </a:p>
        </p:txBody>
      </p:sp>
      <p:sp>
        <p:nvSpPr>
          <p:cNvPr id="13" name="Rectangle: Rounded Corners 12">
            <a:extLst>
              <a:ext uri="{FF2B5EF4-FFF2-40B4-BE49-F238E27FC236}">
                <a16:creationId xmlns:a16="http://schemas.microsoft.com/office/drawing/2014/main" id="{8BB7831D-9FC8-A8D4-DFB7-E6E1C587C257}"/>
              </a:ext>
            </a:extLst>
          </p:cNvPr>
          <p:cNvSpPr/>
          <p:nvPr/>
        </p:nvSpPr>
        <p:spPr>
          <a:xfrm>
            <a:off x="3355875" y="1793140"/>
            <a:ext cx="5444579" cy="733784"/>
          </a:xfrm>
          <a:prstGeom prst="roundRect">
            <a:avLst/>
          </a:prstGeom>
          <a:solidFill>
            <a:schemeClr val="accent6">
              <a:lumMod val="20000"/>
              <a:lumOff val="80000"/>
            </a:schemeClr>
          </a:solidFill>
          <a:ln w="38100">
            <a:solidFill>
              <a:schemeClr val="accent6">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214313" indent="-214313">
              <a:buFont typeface="Arial" panose="020B0604020202020204" pitchFamily="34" charset="0"/>
              <a:buChar char="•"/>
            </a:pPr>
            <a:r>
              <a:rPr lang="en-GB" sz="1350" dirty="0">
                <a:solidFill>
                  <a:schemeClr val="tx1"/>
                </a:solidFill>
              </a:rPr>
              <a:t>I have included more examples and questions in the lecture </a:t>
            </a:r>
          </a:p>
          <a:p>
            <a:pPr marL="214313" indent="-214313">
              <a:buFont typeface="Arial" panose="020B0604020202020204" pitchFamily="34" charset="0"/>
              <a:buChar char="•"/>
            </a:pPr>
            <a:r>
              <a:rPr lang="en-GB" sz="1350" dirty="0">
                <a:solidFill>
                  <a:schemeClr val="tx1"/>
                </a:solidFill>
              </a:rPr>
              <a:t>Additional examples and questions can be found in the book</a:t>
            </a:r>
          </a:p>
          <a:p>
            <a:pPr marL="214313" indent="-214313">
              <a:buFont typeface="Arial" panose="020B0604020202020204" pitchFamily="34" charset="0"/>
              <a:buChar char="•"/>
            </a:pPr>
            <a:r>
              <a:rPr lang="en-GB" sz="1350" dirty="0">
                <a:solidFill>
                  <a:schemeClr val="tx1"/>
                </a:solidFill>
              </a:rPr>
              <a:t>A bank of mock questions will be provided in Week 10 for revision</a:t>
            </a:r>
          </a:p>
        </p:txBody>
      </p:sp>
      <p:sp>
        <p:nvSpPr>
          <p:cNvPr id="17" name="Speech Bubble: Rectangle with Corners Rounded 16">
            <a:extLst>
              <a:ext uri="{FF2B5EF4-FFF2-40B4-BE49-F238E27FC236}">
                <a16:creationId xmlns:a16="http://schemas.microsoft.com/office/drawing/2014/main" id="{20F6CC7E-8DE3-BB79-A174-BB04E4FC9E1A}"/>
              </a:ext>
            </a:extLst>
          </p:cNvPr>
          <p:cNvSpPr/>
          <p:nvPr/>
        </p:nvSpPr>
        <p:spPr>
          <a:xfrm>
            <a:off x="335756" y="2871221"/>
            <a:ext cx="2758708" cy="766862"/>
          </a:xfrm>
          <a:prstGeom prst="wedgeRoundRectCallout">
            <a:avLst>
              <a:gd name="adj1" fmla="val 36519"/>
              <a:gd name="adj2" fmla="val 69663"/>
              <a:gd name="adj3" fmla="val 16667"/>
            </a:avLst>
          </a:prstGeom>
          <a:solidFill>
            <a:schemeClr val="accent6">
              <a:lumMod val="20000"/>
              <a:lumOff val="80000"/>
            </a:schemeClr>
          </a:solidFill>
          <a:ln w="19050">
            <a:solidFill>
              <a:schemeClr val="accent6">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GB" sz="1350" dirty="0">
                <a:solidFill>
                  <a:schemeClr val="tx1"/>
                </a:solidFill>
              </a:rPr>
              <a:t>The pace of the lecture is fast (5/40)</a:t>
            </a:r>
          </a:p>
        </p:txBody>
      </p:sp>
      <p:sp>
        <p:nvSpPr>
          <p:cNvPr id="18" name="Rectangle: Rounded Corners 17">
            <a:extLst>
              <a:ext uri="{FF2B5EF4-FFF2-40B4-BE49-F238E27FC236}">
                <a16:creationId xmlns:a16="http://schemas.microsoft.com/office/drawing/2014/main" id="{DA2DD7D1-E8AF-46DE-2656-A40B6165E788}"/>
              </a:ext>
            </a:extLst>
          </p:cNvPr>
          <p:cNvSpPr/>
          <p:nvPr/>
        </p:nvSpPr>
        <p:spPr>
          <a:xfrm>
            <a:off x="3343975" y="2870625"/>
            <a:ext cx="5444579" cy="815942"/>
          </a:xfrm>
          <a:prstGeom prst="roundRect">
            <a:avLst/>
          </a:prstGeom>
          <a:solidFill>
            <a:schemeClr val="accent6">
              <a:lumMod val="20000"/>
              <a:lumOff val="80000"/>
            </a:schemeClr>
          </a:solidFill>
          <a:ln w="38100">
            <a:solidFill>
              <a:schemeClr val="accent6">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214313" indent="-214313">
              <a:buFont typeface="Arial" panose="020B0604020202020204" pitchFamily="34" charset="0"/>
              <a:buChar char="•"/>
            </a:pPr>
            <a:r>
              <a:rPr lang="en-GB" sz="1350" dirty="0">
                <a:solidFill>
                  <a:schemeClr val="tx1"/>
                </a:solidFill>
              </a:rPr>
              <a:t>I will try my best to slow down</a:t>
            </a:r>
          </a:p>
          <a:p>
            <a:pPr marL="214313" indent="-214313">
              <a:buFont typeface="Arial" panose="020B0604020202020204" pitchFamily="34" charset="0"/>
              <a:buChar char="•"/>
            </a:pPr>
            <a:r>
              <a:rPr lang="en-GB" sz="1350" dirty="0">
                <a:solidFill>
                  <a:schemeClr val="tx1"/>
                </a:solidFill>
              </a:rPr>
              <a:t>Please ask me to repeat if anything is unclear</a:t>
            </a:r>
          </a:p>
          <a:p>
            <a:pPr marL="214313" indent="-214313">
              <a:buFont typeface="Arial" panose="020B0604020202020204" pitchFamily="34" charset="0"/>
              <a:buChar char="•"/>
            </a:pPr>
            <a:r>
              <a:rPr lang="en-GB" sz="1350" dirty="0">
                <a:solidFill>
                  <a:schemeClr val="tx1"/>
                </a:solidFill>
              </a:rPr>
              <a:t>You can rewatch lectures on Minerva with subtitles at 0.5x speed</a:t>
            </a:r>
          </a:p>
        </p:txBody>
      </p:sp>
      <p:sp>
        <p:nvSpPr>
          <p:cNvPr id="23" name="Speech Bubble: Rectangle with Corners Rounded 22">
            <a:extLst>
              <a:ext uri="{FF2B5EF4-FFF2-40B4-BE49-F238E27FC236}">
                <a16:creationId xmlns:a16="http://schemas.microsoft.com/office/drawing/2014/main" id="{AB337BA5-3695-1C3C-6E90-AE89DDA2B1E3}"/>
              </a:ext>
            </a:extLst>
          </p:cNvPr>
          <p:cNvSpPr/>
          <p:nvPr/>
        </p:nvSpPr>
        <p:spPr>
          <a:xfrm>
            <a:off x="335756" y="4086322"/>
            <a:ext cx="2758708" cy="815942"/>
          </a:xfrm>
          <a:prstGeom prst="wedgeRoundRectCallout">
            <a:avLst>
              <a:gd name="adj1" fmla="val -35452"/>
              <a:gd name="adj2" fmla="val 62500"/>
              <a:gd name="adj3" fmla="val 16667"/>
            </a:avLst>
          </a:prstGeom>
          <a:solidFill>
            <a:schemeClr val="accent6">
              <a:lumMod val="20000"/>
              <a:lumOff val="80000"/>
            </a:schemeClr>
          </a:solidFill>
          <a:ln w="19050">
            <a:solidFill>
              <a:schemeClr val="accent6">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GB" sz="1350" dirty="0">
                <a:solidFill>
                  <a:schemeClr val="tx1"/>
                </a:solidFill>
              </a:rPr>
              <a:t>Please consider using a microphone (3/40)</a:t>
            </a:r>
          </a:p>
        </p:txBody>
      </p:sp>
      <p:sp>
        <p:nvSpPr>
          <p:cNvPr id="24" name="Rectangle: Rounded Corners 23">
            <a:extLst>
              <a:ext uri="{FF2B5EF4-FFF2-40B4-BE49-F238E27FC236}">
                <a16:creationId xmlns:a16="http://schemas.microsoft.com/office/drawing/2014/main" id="{B59E021D-D977-7537-1C2A-C5F17B51746A}"/>
              </a:ext>
            </a:extLst>
          </p:cNvPr>
          <p:cNvSpPr/>
          <p:nvPr/>
        </p:nvSpPr>
        <p:spPr>
          <a:xfrm>
            <a:off x="3355875" y="4089197"/>
            <a:ext cx="5444579" cy="815942"/>
          </a:xfrm>
          <a:prstGeom prst="roundRect">
            <a:avLst/>
          </a:prstGeom>
          <a:solidFill>
            <a:schemeClr val="accent6">
              <a:lumMod val="20000"/>
              <a:lumOff val="80000"/>
            </a:schemeClr>
          </a:solidFill>
          <a:ln w="38100">
            <a:solidFill>
              <a:schemeClr val="accent6">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214313" indent="-214313">
              <a:buFont typeface="Arial" panose="020B0604020202020204" pitchFamily="34" charset="0"/>
              <a:buChar char="•"/>
            </a:pPr>
            <a:r>
              <a:rPr lang="en-GB" sz="1350" dirty="0">
                <a:solidFill>
                  <a:schemeClr val="tx1"/>
                </a:solidFill>
              </a:rPr>
              <a:t>I will do this 😊 </a:t>
            </a:r>
          </a:p>
        </p:txBody>
      </p:sp>
    </p:spTree>
    <p:custDataLst>
      <p:tags r:id="rId1"/>
    </p:custDataLst>
    <p:extLst>
      <p:ext uri="{BB962C8B-B14F-4D97-AF65-F5344CB8AC3E}">
        <p14:creationId xmlns:p14="http://schemas.microsoft.com/office/powerpoint/2010/main" val="939209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500"/>
                                        <p:tgtEl>
                                          <p:spTgt spid="2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3" grpId="0" animBg="1"/>
      <p:bldP spid="17" grpId="0" animBg="1"/>
      <p:bldP spid="18" grpId="0" animBg="1"/>
      <p:bldP spid="23" grpId="0" animBg="1"/>
      <p:bldP spid="2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0C4DF-F8F4-B18D-2D16-B5F135362C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E86860-7995-21E7-2168-559FF7FF9FCD}"/>
              </a:ext>
            </a:extLst>
          </p:cNvPr>
          <p:cNvSpPr>
            <a:spLocks noGrp="1"/>
          </p:cNvSpPr>
          <p:nvPr>
            <p:ph type="title"/>
          </p:nvPr>
        </p:nvSpPr>
        <p:spPr/>
        <p:txBody>
          <a:bodyPr/>
          <a:lstStyle/>
          <a:p>
            <a:r>
              <a:rPr lang="en-US" b="1" dirty="0"/>
              <a:t>Your feedback makes the difference</a:t>
            </a:r>
          </a:p>
        </p:txBody>
      </p:sp>
      <p:pic>
        <p:nvPicPr>
          <p:cNvPr id="14" name="Picture 13" descr="A hand holding a speech bubble&#10;&#10;Description automatically generated">
            <a:extLst>
              <a:ext uri="{FF2B5EF4-FFF2-40B4-BE49-F238E27FC236}">
                <a16:creationId xmlns:a16="http://schemas.microsoft.com/office/drawing/2014/main" id="{658E9761-1036-174D-E4A8-4B25DBCFF9B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51019" y="939455"/>
            <a:ext cx="799977" cy="799977"/>
          </a:xfrm>
          <a:prstGeom prst="ellipse">
            <a:avLst/>
          </a:prstGeom>
        </p:spPr>
      </p:pic>
      <p:sp>
        <p:nvSpPr>
          <p:cNvPr id="5" name="Speech Bubble: Rectangle with Corners Rounded 4">
            <a:extLst>
              <a:ext uri="{FF2B5EF4-FFF2-40B4-BE49-F238E27FC236}">
                <a16:creationId xmlns:a16="http://schemas.microsoft.com/office/drawing/2014/main" id="{4A33774D-6C7B-B05A-AFEA-7AE224531FA3}"/>
              </a:ext>
            </a:extLst>
          </p:cNvPr>
          <p:cNvSpPr/>
          <p:nvPr/>
        </p:nvSpPr>
        <p:spPr>
          <a:xfrm>
            <a:off x="335756" y="1790265"/>
            <a:ext cx="2758708" cy="733784"/>
          </a:xfrm>
          <a:prstGeom prst="wedgeRoundRectCallout">
            <a:avLst>
              <a:gd name="adj1" fmla="val -35452"/>
              <a:gd name="adj2" fmla="val 62500"/>
              <a:gd name="adj3" fmla="val 16667"/>
            </a:avLst>
          </a:prstGeom>
          <a:solidFill>
            <a:schemeClr val="accent6">
              <a:lumMod val="20000"/>
              <a:lumOff val="80000"/>
            </a:schemeClr>
          </a:solidFill>
          <a:ln w="19050">
            <a:solidFill>
              <a:schemeClr val="accent6">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GB" sz="1350" dirty="0">
                <a:solidFill>
                  <a:schemeClr val="tx1"/>
                </a:solidFill>
              </a:rPr>
              <a:t>Give a real example of the main concept (3/40)</a:t>
            </a:r>
          </a:p>
        </p:txBody>
      </p:sp>
      <p:sp>
        <p:nvSpPr>
          <p:cNvPr id="13" name="Rectangle: Rounded Corners 12">
            <a:extLst>
              <a:ext uri="{FF2B5EF4-FFF2-40B4-BE49-F238E27FC236}">
                <a16:creationId xmlns:a16="http://schemas.microsoft.com/office/drawing/2014/main" id="{92AA1D5D-FBDC-8D46-4D30-2A8B0CAE9970}"/>
              </a:ext>
            </a:extLst>
          </p:cNvPr>
          <p:cNvSpPr/>
          <p:nvPr/>
        </p:nvSpPr>
        <p:spPr>
          <a:xfrm>
            <a:off x="3355875" y="1793140"/>
            <a:ext cx="5444579" cy="733784"/>
          </a:xfrm>
          <a:prstGeom prst="roundRect">
            <a:avLst/>
          </a:prstGeom>
          <a:solidFill>
            <a:schemeClr val="accent6">
              <a:lumMod val="20000"/>
              <a:lumOff val="80000"/>
            </a:schemeClr>
          </a:solidFill>
          <a:ln w="38100">
            <a:solidFill>
              <a:schemeClr val="accent6">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214313" indent="-214313">
              <a:buFont typeface="Arial" panose="020B0604020202020204" pitchFamily="34" charset="0"/>
              <a:buChar char="•"/>
            </a:pPr>
            <a:r>
              <a:rPr lang="en-GB" sz="1350" dirty="0">
                <a:solidFill>
                  <a:schemeClr val="tx1"/>
                </a:solidFill>
              </a:rPr>
              <a:t>I will explain why we need to learn the topic, its outcomes, and its real-world applications</a:t>
            </a:r>
          </a:p>
        </p:txBody>
      </p:sp>
      <p:sp>
        <p:nvSpPr>
          <p:cNvPr id="17" name="Speech Bubble: Rectangle with Corners Rounded 16">
            <a:extLst>
              <a:ext uri="{FF2B5EF4-FFF2-40B4-BE49-F238E27FC236}">
                <a16:creationId xmlns:a16="http://schemas.microsoft.com/office/drawing/2014/main" id="{95DD5629-D8D8-9E2B-9840-D387BE3EA650}"/>
              </a:ext>
            </a:extLst>
          </p:cNvPr>
          <p:cNvSpPr/>
          <p:nvPr/>
        </p:nvSpPr>
        <p:spPr>
          <a:xfrm>
            <a:off x="335756" y="2871221"/>
            <a:ext cx="2758708" cy="766862"/>
          </a:xfrm>
          <a:prstGeom prst="wedgeRoundRectCallout">
            <a:avLst>
              <a:gd name="adj1" fmla="val 36519"/>
              <a:gd name="adj2" fmla="val 69663"/>
              <a:gd name="adj3" fmla="val 16667"/>
            </a:avLst>
          </a:prstGeom>
          <a:solidFill>
            <a:schemeClr val="accent6">
              <a:lumMod val="20000"/>
              <a:lumOff val="80000"/>
            </a:schemeClr>
          </a:solidFill>
          <a:ln w="19050">
            <a:solidFill>
              <a:schemeClr val="accent6">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GB" sz="1350" dirty="0">
                <a:solidFill>
                  <a:schemeClr val="tx1"/>
                </a:solidFill>
              </a:rPr>
              <a:t>More online and offline resources, and reading tasks (2/40)</a:t>
            </a:r>
          </a:p>
        </p:txBody>
      </p:sp>
      <p:sp>
        <p:nvSpPr>
          <p:cNvPr id="18" name="Rectangle: Rounded Corners 17">
            <a:extLst>
              <a:ext uri="{FF2B5EF4-FFF2-40B4-BE49-F238E27FC236}">
                <a16:creationId xmlns:a16="http://schemas.microsoft.com/office/drawing/2014/main" id="{9F180B09-CFCE-E912-454C-B6432D813FD7}"/>
              </a:ext>
            </a:extLst>
          </p:cNvPr>
          <p:cNvSpPr/>
          <p:nvPr/>
        </p:nvSpPr>
        <p:spPr>
          <a:xfrm>
            <a:off x="3343975" y="2870625"/>
            <a:ext cx="5444579" cy="815942"/>
          </a:xfrm>
          <a:prstGeom prst="roundRect">
            <a:avLst/>
          </a:prstGeom>
          <a:solidFill>
            <a:schemeClr val="accent6">
              <a:lumMod val="20000"/>
              <a:lumOff val="80000"/>
            </a:schemeClr>
          </a:solidFill>
          <a:ln w="38100">
            <a:solidFill>
              <a:schemeClr val="accent6">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214313" indent="-214313">
              <a:buFont typeface="Arial" panose="020B0604020202020204" pitchFamily="34" charset="0"/>
              <a:buChar char="•"/>
            </a:pPr>
            <a:r>
              <a:rPr lang="en-GB" sz="1350" dirty="0">
                <a:solidFill>
                  <a:schemeClr val="tx1"/>
                </a:solidFill>
                <a:hlinkClick r:id="rId4"/>
              </a:rPr>
              <a:t>Khan Academy – Statistics and Probability</a:t>
            </a:r>
            <a:endParaRPr lang="en-GB" sz="1350" dirty="0">
              <a:solidFill>
                <a:schemeClr val="tx1"/>
              </a:solidFill>
            </a:endParaRPr>
          </a:p>
        </p:txBody>
      </p:sp>
      <p:sp>
        <p:nvSpPr>
          <p:cNvPr id="23" name="Speech Bubble: Rectangle with Corners Rounded 22">
            <a:extLst>
              <a:ext uri="{FF2B5EF4-FFF2-40B4-BE49-F238E27FC236}">
                <a16:creationId xmlns:a16="http://schemas.microsoft.com/office/drawing/2014/main" id="{8C4C3A75-2E1D-6BCB-B2B1-439EB772BF7D}"/>
              </a:ext>
            </a:extLst>
          </p:cNvPr>
          <p:cNvSpPr/>
          <p:nvPr/>
        </p:nvSpPr>
        <p:spPr>
          <a:xfrm>
            <a:off x="335756" y="4086322"/>
            <a:ext cx="2758708" cy="815942"/>
          </a:xfrm>
          <a:prstGeom prst="wedgeRoundRectCallout">
            <a:avLst>
              <a:gd name="adj1" fmla="val -35452"/>
              <a:gd name="adj2" fmla="val 62500"/>
              <a:gd name="adj3" fmla="val 16667"/>
            </a:avLst>
          </a:prstGeom>
          <a:solidFill>
            <a:schemeClr val="accent6">
              <a:lumMod val="20000"/>
              <a:lumOff val="80000"/>
            </a:schemeClr>
          </a:solidFill>
          <a:ln w="19050">
            <a:solidFill>
              <a:schemeClr val="accent6">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GB" sz="1350" dirty="0">
                <a:solidFill>
                  <a:schemeClr val="tx1"/>
                </a:solidFill>
              </a:rPr>
              <a:t>Doubts regarding when to use each formula (2/40)</a:t>
            </a:r>
          </a:p>
        </p:txBody>
      </p:sp>
      <p:sp>
        <p:nvSpPr>
          <p:cNvPr id="24" name="Rectangle: Rounded Corners 23">
            <a:extLst>
              <a:ext uri="{FF2B5EF4-FFF2-40B4-BE49-F238E27FC236}">
                <a16:creationId xmlns:a16="http://schemas.microsoft.com/office/drawing/2014/main" id="{B2CEE6BC-026C-7EDB-C7E6-BF5252D88E1F}"/>
              </a:ext>
            </a:extLst>
          </p:cNvPr>
          <p:cNvSpPr/>
          <p:nvPr/>
        </p:nvSpPr>
        <p:spPr>
          <a:xfrm>
            <a:off x="3355875" y="4089197"/>
            <a:ext cx="5444579" cy="815942"/>
          </a:xfrm>
          <a:prstGeom prst="roundRect">
            <a:avLst/>
          </a:prstGeom>
          <a:solidFill>
            <a:schemeClr val="accent6">
              <a:lumMod val="20000"/>
              <a:lumOff val="80000"/>
            </a:schemeClr>
          </a:solidFill>
          <a:ln w="38100">
            <a:solidFill>
              <a:schemeClr val="accent6">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214313" indent="-214313">
              <a:buFont typeface="Arial" panose="020B0604020202020204" pitchFamily="34" charset="0"/>
              <a:buChar char="•"/>
            </a:pPr>
            <a:r>
              <a:rPr lang="en-GB" sz="1350" dirty="0">
                <a:solidFill>
                  <a:schemeClr val="tx1"/>
                </a:solidFill>
              </a:rPr>
              <a:t>I will spend more time on key formulas</a:t>
            </a:r>
          </a:p>
          <a:p>
            <a:pPr marL="214313" indent="-214313">
              <a:buFont typeface="Arial" panose="020B0604020202020204" pitchFamily="34" charset="0"/>
              <a:buChar char="•"/>
            </a:pPr>
            <a:r>
              <a:rPr lang="en-GB" sz="1350" dirty="0">
                <a:solidFill>
                  <a:schemeClr val="tx1"/>
                </a:solidFill>
              </a:rPr>
              <a:t>If you still have doubts, please feel free to contact me</a:t>
            </a:r>
          </a:p>
        </p:txBody>
      </p:sp>
    </p:spTree>
    <p:custDataLst>
      <p:tags r:id="rId1"/>
    </p:custDataLst>
    <p:extLst>
      <p:ext uri="{BB962C8B-B14F-4D97-AF65-F5344CB8AC3E}">
        <p14:creationId xmlns:p14="http://schemas.microsoft.com/office/powerpoint/2010/main" val="1589799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500"/>
                                        <p:tgtEl>
                                          <p:spTgt spid="2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3" grpId="0" animBg="1"/>
      <p:bldP spid="17" grpId="0" animBg="1"/>
      <p:bldP spid="18" grpId="0" animBg="1"/>
      <p:bldP spid="23" grpId="0" animBg="1"/>
      <p:bldP spid="2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D6F9D-951C-284C-6546-4439C81ABEB1}"/>
              </a:ext>
            </a:extLst>
          </p:cNvPr>
          <p:cNvSpPr>
            <a:spLocks noGrp="1"/>
          </p:cNvSpPr>
          <p:nvPr>
            <p:ph type="title"/>
          </p:nvPr>
        </p:nvSpPr>
        <p:spPr/>
        <p:txBody>
          <a:bodyPr/>
          <a:lstStyle/>
          <a:p>
            <a:r>
              <a:rPr lang="en-US" b="1" dirty="0"/>
              <a:t>Your feedback makes the difference</a:t>
            </a:r>
          </a:p>
        </p:txBody>
      </p:sp>
      <p:pic>
        <p:nvPicPr>
          <p:cNvPr id="14" name="Picture 13" descr="A hand holding a speech bubble&#10;&#10;Description automatically generated">
            <a:extLst>
              <a:ext uri="{FF2B5EF4-FFF2-40B4-BE49-F238E27FC236}">
                <a16:creationId xmlns:a16="http://schemas.microsoft.com/office/drawing/2014/main" id="{E6D8BB17-1E03-2F69-D4EB-20880276ADF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51019" y="939455"/>
            <a:ext cx="799977" cy="799977"/>
          </a:xfrm>
          <a:prstGeom prst="ellipse">
            <a:avLst/>
          </a:prstGeom>
        </p:spPr>
      </p:pic>
      <p:sp>
        <p:nvSpPr>
          <p:cNvPr id="5" name="Speech Bubble: Rectangle with Corners Rounded 4">
            <a:extLst>
              <a:ext uri="{FF2B5EF4-FFF2-40B4-BE49-F238E27FC236}">
                <a16:creationId xmlns:a16="http://schemas.microsoft.com/office/drawing/2014/main" id="{DC849FA6-A264-0D54-ADEE-E8305A4F199B}"/>
              </a:ext>
            </a:extLst>
          </p:cNvPr>
          <p:cNvSpPr/>
          <p:nvPr/>
        </p:nvSpPr>
        <p:spPr>
          <a:xfrm>
            <a:off x="335756" y="1790265"/>
            <a:ext cx="2758708" cy="733784"/>
          </a:xfrm>
          <a:prstGeom prst="wedgeRoundRectCallout">
            <a:avLst>
              <a:gd name="adj1" fmla="val -35452"/>
              <a:gd name="adj2" fmla="val 62500"/>
              <a:gd name="adj3" fmla="val 16667"/>
            </a:avLst>
          </a:prstGeom>
          <a:solidFill>
            <a:schemeClr val="accent6">
              <a:lumMod val="20000"/>
              <a:lumOff val="80000"/>
            </a:schemeClr>
          </a:solidFill>
          <a:ln w="19050">
            <a:solidFill>
              <a:schemeClr val="accent6">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GB" sz="1350" dirty="0">
                <a:solidFill>
                  <a:schemeClr val="tx1"/>
                </a:solidFill>
              </a:rPr>
              <a:t>Give brief summaries after each section and practice (2/40)</a:t>
            </a:r>
          </a:p>
        </p:txBody>
      </p:sp>
      <p:sp>
        <p:nvSpPr>
          <p:cNvPr id="13" name="Rectangle: Rounded Corners 12">
            <a:extLst>
              <a:ext uri="{FF2B5EF4-FFF2-40B4-BE49-F238E27FC236}">
                <a16:creationId xmlns:a16="http://schemas.microsoft.com/office/drawing/2014/main" id="{8BB7831D-9FC8-A8D4-DFB7-E6E1C587C257}"/>
              </a:ext>
            </a:extLst>
          </p:cNvPr>
          <p:cNvSpPr/>
          <p:nvPr/>
        </p:nvSpPr>
        <p:spPr>
          <a:xfrm>
            <a:off x="3355875" y="1793140"/>
            <a:ext cx="5444579" cy="733784"/>
          </a:xfrm>
          <a:prstGeom prst="roundRect">
            <a:avLst/>
          </a:prstGeom>
          <a:solidFill>
            <a:schemeClr val="accent6">
              <a:lumMod val="20000"/>
              <a:lumOff val="80000"/>
            </a:schemeClr>
          </a:solidFill>
          <a:ln w="38100">
            <a:solidFill>
              <a:schemeClr val="accent6">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214313" indent="-214313">
              <a:buFont typeface="Arial" panose="020B0604020202020204" pitchFamily="34" charset="0"/>
              <a:buChar char="•"/>
            </a:pPr>
            <a:r>
              <a:rPr lang="en-GB" sz="1350" dirty="0">
                <a:solidFill>
                  <a:schemeClr val="tx1"/>
                </a:solidFill>
              </a:rPr>
              <a:t>I will do this 😊 </a:t>
            </a:r>
          </a:p>
        </p:txBody>
      </p:sp>
      <p:sp>
        <p:nvSpPr>
          <p:cNvPr id="17" name="Speech Bubble: Rectangle with Corners Rounded 16">
            <a:extLst>
              <a:ext uri="{FF2B5EF4-FFF2-40B4-BE49-F238E27FC236}">
                <a16:creationId xmlns:a16="http://schemas.microsoft.com/office/drawing/2014/main" id="{20F6CC7E-8DE3-BB79-A174-BB04E4FC9E1A}"/>
              </a:ext>
            </a:extLst>
          </p:cNvPr>
          <p:cNvSpPr/>
          <p:nvPr/>
        </p:nvSpPr>
        <p:spPr>
          <a:xfrm>
            <a:off x="335756" y="2871221"/>
            <a:ext cx="2758708" cy="766862"/>
          </a:xfrm>
          <a:prstGeom prst="wedgeRoundRectCallout">
            <a:avLst>
              <a:gd name="adj1" fmla="val 36519"/>
              <a:gd name="adj2" fmla="val 69663"/>
              <a:gd name="adj3" fmla="val 16667"/>
            </a:avLst>
          </a:prstGeom>
          <a:solidFill>
            <a:schemeClr val="accent6">
              <a:lumMod val="20000"/>
              <a:lumOff val="80000"/>
            </a:schemeClr>
          </a:solidFill>
          <a:ln w="19050">
            <a:solidFill>
              <a:schemeClr val="accent6">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GB" sz="1350" dirty="0">
                <a:solidFill>
                  <a:schemeClr val="tx1"/>
                </a:solidFill>
              </a:rPr>
              <a:t>More seminars or longer seminars (1/40)</a:t>
            </a:r>
          </a:p>
        </p:txBody>
      </p:sp>
      <p:sp>
        <p:nvSpPr>
          <p:cNvPr id="18" name="Rectangle: Rounded Corners 17">
            <a:extLst>
              <a:ext uri="{FF2B5EF4-FFF2-40B4-BE49-F238E27FC236}">
                <a16:creationId xmlns:a16="http://schemas.microsoft.com/office/drawing/2014/main" id="{DA2DD7D1-E8AF-46DE-2656-A40B6165E788}"/>
              </a:ext>
            </a:extLst>
          </p:cNvPr>
          <p:cNvSpPr/>
          <p:nvPr/>
        </p:nvSpPr>
        <p:spPr>
          <a:xfrm>
            <a:off x="3343975" y="2870624"/>
            <a:ext cx="5444579" cy="1625176"/>
          </a:xfrm>
          <a:prstGeom prst="roundRect">
            <a:avLst/>
          </a:prstGeom>
          <a:solidFill>
            <a:schemeClr val="accent6">
              <a:lumMod val="20000"/>
              <a:lumOff val="80000"/>
            </a:schemeClr>
          </a:solidFill>
          <a:ln w="38100">
            <a:solidFill>
              <a:schemeClr val="accent6">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214313" indent="-214313">
              <a:buFont typeface="Arial" panose="020B0604020202020204" pitchFamily="34" charset="0"/>
              <a:buChar char="•"/>
            </a:pPr>
            <a:r>
              <a:rPr lang="en-GB" sz="1350" dirty="0">
                <a:solidFill>
                  <a:schemeClr val="tx1"/>
                </a:solidFill>
              </a:rPr>
              <a:t>Unfortunately, the number and length of seminars are fixed in the timetable, so we can’t extend them officially. However, you’re very welcome to study with your classmates outside class. </a:t>
            </a:r>
          </a:p>
          <a:p>
            <a:pPr marL="214313" indent="-214313">
              <a:buFont typeface="Arial" panose="020B0604020202020204" pitchFamily="34" charset="0"/>
              <a:buChar char="•"/>
            </a:pPr>
            <a:r>
              <a:rPr lang="en-GB" sz="1350" dirty="0">
                <a:solidFill>
                  <a:schemeClr val="tx1"/>
                </a:solidFill>
              </a:rPr>
              <a:t>If you have any questions, please feel free to contact me. I’ll be very happy to help.</a:t>
            </a:r>
          </a:p>
        </p:txBody>
      </p:sp>
      <p:sp>
        <p:nvSpPr>
          <p:cNvPr id="23" name="Speech Bubble: Rectangle with Corners Rounded 22">
            <a:extLst>
              <a:ext uri="{FF2B5EF4-FFF2-40B4-BE49-F238E27FC236}">
                <a16:creationId xmlns:a16="http://schemas.microsoft.com/office/drawing/2014/main" id="{AB337BA5-3695-1C3C-6E90-AE89DDA2B1E3}"/>
              </a:ext>
            </a:extLst>
          </p:cNvPr>
          <p:cNvSpPr/>
          <p:nvPr/>
        </p:nvSpPr>
        <p:spPr>
          <a:xfrm>
            <a:off x="335756" y="4879536"/>
            <a:ext cx="2758708" cy="815942"/>
          </a:xfrm>
          <a:prstGeom prst="wedgeRoundRectCallout">
            <a:avLst>
              <a:gd name="adj1" fmla="val -35452"/>
              <a:gd name="adj2" fmla="val 62500"/>
              <a:gd name="adj3" fmla="val 16667"/>
            </a:avLst>
          </a:prstGeom>
          <a:solidFill>
            <a:schemeClr val="accent6">
              <a:lumMod val="20000"/>
              <a:lumOff val="80000"/>
            </a:schemeClr>
          </a:solidFill>
          <a:ln w="19050">
            <a:solidFill>
              <a:schemeClr val="accent6">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GB" sz="1350" dirty="0">
                <a:solidFill>
                  <a:schemeClr val="tx1"/>
                </a:solidFill>
              </a:rPr>
              <a:t>Repeat other students’ questions (1/40)</a:t>
            </a:r>
          </a:p>
        </p:txBody>
      </p:sp>
      <p:sp>
        <p:nvSpPr>
          <p:cNvPr id="24" name="Rectangle: Rounded Corners 23">
            <a:extLst>
              <a:ext uri="{FF2B5EF4-FFF2-40B4-BE49-F238E27FC236}">
                <a16:creationId xmlns:a16="http://schemas.microsoft.com/office/drawing/2014/main" id="{B59E021D-D977-7537-1C2A-C5F17B51746A}"/>
              </a:ext>
            </a:extLst>
          </p:cNvPr>
          <p:cNvSpPr/>
          <p:nvPr/>
        </p:nvSpPr>
        <p:spPr>
          <a:xfrm>
            <a:off x="3343974" y="4879536"/>
            <a:ext cx="5444579" cy="815942"/>
          </a:xfrm>
          <a:prstGeom prst="roundRect">
            <a:avLst/>
          </a:prstGeom>
          <a:solidFill>
            <a:schemeClr val="accent6">
              <a:lumMod val="20000"/>
              <a:lumOff val="80000"/>
            </a:schemeClr>
          </a:solidFill>
          <a:ln w="38100">
            <a:solidFill>
              <a:schemeClr val="accent6">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214313" indent="-214313">
              <a:buFont typeface="Arial" panose="020B0604020202020204" pitchFamily="34" charset="0"/>
              <a:buChar char="•"/>
            </a:pPr>
            <a:r>
              <a:rPr lang="en-GB" sz="1350" dirty="0">
                <a:solidFill>
                  <a:schemeClr val="tx1"/>
                </a:solidFill>
              </a:rPr>
              <a:t>I will do this 😊 </a:t>
            </a:r>
          </a:p>
        </p:txBody>
      </p:sp>
    </p:spTree>
    <p:custDataLst>
      <p:tags r:id="rId1"/>
    </p:custDataLst>
    <p:extLst>
      <p:ext uri="{BB962C8B-B14F-4D97-AF65-F5344CB8AC3E}">
        <p14:creationId xmlns:p14="http://schemas.microsoft.com/office/powerpoint/2010/main" val="490204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500"/>
                                        <p:tgtEl>
                                          <p:spTgt spid="2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3" grpId="0" animBg="1"/>
      <p:bldP spid="17" grpId="0" animBg="1"/>
      <p:bldP spid="18" grpId="0" animBg="1"/>
      <p:bldP spid="23" grpId="0" animBg="1"/>
      <p:bldP spid="2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4B8D3-A70A-5438-0F18-006EA87B49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1D53E8-4826-AA65-3FAA-796CB1033AFF}"/>
              </a:ext>
            </a:extLst>
          </p:cNvPr>
          <p:cNvSpPr>
            <a:spLocks noGrp="1"/>
          </p:cNvSpPr>
          <p:nvPr>
            <p:ph type="title"/>
          </p:nvPr>
        </p:nvSpPr>
        <p:spPr/>
        <p:txBody>
          <a:bodyPr/>
          <a:lstStyle/>
          <a:p>
            <a:r>
              <a:rPr lang="en-US" b="1" dirty="0"/>
              <a:t>Your feedback makes the difference</a:t>
            </a:r>
          </a:p>
        </p:txBody>
      </p:sp>
      <p:pic>
        <p:nvPicPr>
          <p:cNvPr id="14" name="Picture 13" descr="A hand holding a speech bubble&#10;&#10;Description automatically generated">
            <a:extLst>
              <a:ext uri="{FF2B5EF4-FFF2-40B4-BE49-F238E27FC236}">
                <a16:creationId xmlns:a16="http://schemas.microsoft.com/office/drawing/2014/main" id="{BAF05F28-1DD1-55A7-436E-097B63364FF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51019" y="939455"/>
            <a:ext cx="799977" cy="799977"/>
          </a:xfrm>
          <a:prstGeom prst="ellipse">
            <a:avLst/>
          </a:prstGeom>
        </p:spPr>
      </p:pic>
      <p:sp>
        <p:nvSpPr>
          <p:cNvPr id="5" name="Speech Bubble: Rectangle with Corners Rounded 4">
            <a:extLst>
              <a:ext uri="{FF2B5EF4-FFF2-40B4-BE49-F238E27FC236}">
                <a16:creationId xmlns:a16="http://schemas.microsoft.com/office/drawing/2014/main" id="{F889BC47-0C15-98F7-CE49-C86A84A79548}"/>
              </a:ext>
            </a:extLst>
          </p:cNvPr>
          <p:cNvSpPr/>
          <p:nvPr/>
        </p:nvSpPr>
        <p:spPr>
          <a:xfrm>
            <a:off x="335756" y="1790265"/>
            <a:ext cx="2758708" cy="900964"/>
          </a:xfrm>
          <a:prstGeom prst="wedgeRoundRectCallout">
            <a:avLst>
              <a:gd name="adj1" fmla="val -35452"/>
              <a:gd name="adj2" fmla="val 62500"/>
              <a:gd name="adj3" fmla="val 16667"/>
            </a:avLst>
          </a:prstGeom>
          <a:solidFill>
            <a:schemeClr val="accent6">
              <a:lumMod val="20000"/>
              <a:lumOff val="80000"/>
            </a:schemeClr>
          </a:solidFill>
          <a:ln w="19050">
            <a:solidFill>
              <a:schemeClr val="accent6">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GB" sz="1350" dirty="0">
                <a:solidFill>
                  <a:schemeClr val="tx1"/>
                </a:solidFill>
              </a:rPr>
              <a:t>Add graded assignments (1/40)</a:t>
            </a:r>
          </a:p>
        </p:txBody>
      </p:sp>
      <p:sp>
        <p:nvSpPr>
          <p:cNvPr id="13" name="Rectangle: Rounded Corners 12">
            <a:extLst>
              <a:ext uri="{FF2B5EF4-FFF2-40B4-BE49-F238E27FC236}">
                <a16:creationId xmlns:a16="http://schemas.microsoft.com/office/drawing/2014/main" id="{823A9AD8-2B24-6EC3-A9C4-099E4786C3C6}"/>
              </a:ext>
            </a:extLst>
          </p:cNvPr>
          <p:cNvSpPr/>
          <p:nvPr/>
        </p:nvSpPr>
        <p:spPr>
          <a:xfrm>
            <a:off x="3355875" y="1793139"/>
            <a:ext cx="5444579" cy="900964"/>
          </a:xfrm>
          <a:prstGeom prst="roundRect">
            <a:avLst/>
          </a:prstGeom>
          <a:solidFill>
            <a:schemeClr val="accent6">
              <a:lumMod val="20000"/>
              <a:lumOff val="80000"/>
            </a:schemeClr>
          </a:solidFill>
          <a:ln w="38100">
            <a:solidFill>
              <a:schemeClr val="accent6">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214313" indent="-214313">
              <a:buFont typeface="Arial" panose="020B0604020202020204" pitchFamily="34" charset="0"/>
              <a:buChar char="•"/>
            </a:pPr>
            <a:r>
              <a:rPr lang="en-GB" sz="1350" dirty="0">
                <a:solidFill>
                  <a:schemeClr val="tx1"/>
                </a:solidFill>
              </a:rPr>
              <a:t>The assessment format for this module has been set for this academic year, so we are sorry that we cannot add graded assignments this time.</a:t>
            </a:r>
          </a:p>
          <a:p>
            <a:pPr marL="214313" indent="-214313">
              <a:buFont typeface="Arial" panose="020B0604020202020204" pitchFamily="34" charset="0"/>
              <a:buChar char="•"/>
            </a:pPr>
            <a:r>
              <a:rPr lang="en-GB" sz="1350" dirty="0">
                <a:solidFill>
                  <a:schemeClr val="tx1"/>
                </a:solidFill>
              </a:rPr>
              <a:t>A bank of mock test questions will be provided in Week 10 for revision</a:t>
            </a:r>
          </a:p>
        </p:txBody>
      </p:sp>
      <p:sp>
        <p:nvSpPr>
          <p:cNvPr id="17" name="Speech Bubble: Rectangle with Corners Rounded 16">
            <a:extLst>
              <a:ext uri="{FF2B5EF4-FFF2-40B4-BE49-F238E27FC236}">
                <a16:creationId xmlns:a16="http://schemas.microsoft.com/office/drawing/2014/main" id="{0A80E88A-8748-5FD4-8DFB-13982FCB03A7}"/>
              </a:ext>
            </a:extLst>
          </p:cNvPr>
          <p:cNvSpPr/>
          <p:nvPr/>
        </p:nvSpPr>
        <p:spPr>
          <a:xfrm>
            <a:off x="335756" y="3254285"/>
            <a:ext cx="2758708" cy="766862"/>
          </a:xfrm>
          <a:prstGeom prst="wedgeRoundRectCallout">
            <a:avLst>
              <a:gd name="adj1" fmla="val 36519"/>
              <a:gd name="adj2" fmla="val 69663"/>
              <a:gd name="adj3" fmla="val 16667"/>
            </a:avLst>
          </a:prstGeom>
          <a:solidFill>
            <a:schemeClr val="accent6">
              <a:lumMod val="20000"/>
              <a:lumOff val="80000"/>
            </a:schemeClr>
          </a:solidFill>
          <a:ln w="19050">
            <a:solidFill>
              <a:schemeClr val="accent6">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GB" sz="1350" dirty="0">
                <a:solidFill>
                  <a:schemeClr val="tx1"/>
                </a:solidFill>
              </a:rPr>
              <a:t>Pause longer for questions (1/40)</a:t>
            </a:r>
          </a:p>
        </p:txBody>
      </p:sp>
      <p:sp>
        <p:nvSpPr>
          <p:cNvPr id="18" name="Rectangle: Rounded Corners 17">
            <a:extLst>
              <a:ext uri="{FF2B5EF4-FFF2-40B4-BE49-F238E27FC236}">
                <a16:creationId xmlns:a16="http://schemas.microsoft.com/office/drawing/2014/main" id="{BC21650C-888E-4AD3-AA78-747C50EE6D89}"/>
              </a:ext>
            </a:extLst>
          </p:cNvPr>
          <p:cNvSpPr/>
          <p:nvPr/>
        </p:nvSpPr>
        <p:spPr>
          <a:xfrm>
            <a:off x="3327248" y="3254285"/>
            <a:ext cx="5444579" cy="815942"/>
          </a:xfrm>
          <a:prstGeom prst="roundRect">
            <a:avLst/>
          </a:prstGeom>
          <a:solidFill>
            <a:schemeClr val="accent6">
              <a:lumMod val="20000"/>
              <a:lumOff val="80000"/>
            </a:schemeClr>
          </a:solidFill>
          <a:ln w="38100">
            <a:solidFill>
              <a:schemeClr val="accent6">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214313" indent="-214313">
              <a:buFont typeface="Arial" panose="020B0604020202020204" pitchFamily="34" charset="0"/>
              <a:buChar char="•"/>
            </a:pPr>
            <a:r>
              <a:rPr lang="en-GB" sz="1350" dirty="0">
                <a:solidFill>
                  <a:schemeClr val="tx1"/>
                </a:solidFill>
              </a:rPr>
              <a:t>I will do this 😊 </a:t>
            </a:r>
          </a:p>
        </p:txBody>
      </p:sp>
      <p:sp>
        <p:nvSpPr>
          <p:cNvPr id="23" name="Speech Bubble: Rectangle with Corners Rounded 22">
            <a:extLst>
              <a:ext uri="{FF2B5EF4-FFF2-40B4-BE49-F238E27FC236}">
                <a16:creationId xmlns:a16="http://schemas.microsoft.com/office/drawing/2014/main" id="{E1AB0D6A-C340-434C-472A-FCCED4E911C9}"/>
              </a:ext>
            </a:extLst>
          </p:cNvPr>
          <p:cNvSpPr/>
          <p:nvPr/>
        </p:nvSpPr>
        <p:spPr>
          <a:xfrm>
            <a:off x="335756" y="4626222"/>
            <a:ext cx="2758708" cy="815942"/>
          </a:xfrm>
          <a:prstGeom prst="wedgeRoundRectCallout">
            <a:avLst>
              <a:gd name="adj1" fmla="val -35452"/>
              <a:gd name="adj2" fmla="val 62500"/>
              <a:gd name="adj3" fmla="val 16667"/>
            </a:avLst>
          </a:prstGeom>
          <a:solidFill>
            <a:schemeClr val="accent6">
              <a:lumMod val="20000"/>
              <a:lumOff val="80000"/>
            </a:schemeClr>
          </a:solidFill>
          <a:ln w="19050">
            <a:solidFill>
              <a:schemeClr val="accent6">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GB" sz="1350" dirty="0">
                <a:solidFill>
                  <a:schemeClr val="tx1"/>
                </a:solidFill>
              </a:rPr>
              <a:t>Would appreciate whiteboard explanations (1/40)</a:t>
            </a:r>
          </a:p>
        </p:txBody>
      </p:sp>
      <p:sp>
        <p:nvSpPr>
          <p:cNvPr id="24" name="Rectangle: Rounded Corners 23">
            <a:extLst>
              <a:ext uri="{FF2B5EF4-FFF2-40B4-BE49-F238E27FC236}">
                <a16:creationId xmlns:a16="http://schemas.microsoft.com/office/drawing/2014/main" id="{D2E357D9-51B8-42B1-EFAB-45778236FDD6}"/>
              </a:ext>
            </a:extLst>
          </p:cNvPr>
          <p:cNvSpPr/>
          <p:nvPr/>
        </p:nvSpPr>
        <p:spPr>
          <a:xfrm>
            <a:off x="3333185" y="4626222"/>
            <a:ext cx="5444579" cy="1288745"/>
          </a:xfrm>
          <a:prstGeom prst="roundRect">
            <a:avLst/>
          </a:prstGeom>
          <a:solidFill>
            <a:schemeClr val="accent6">
              <a:lumMod val="20000"/>
              <a:lumOff val="80000"/>
            </a:schemeClr>
          </a:solidFill>
          <a:ln w="38100">
            <a:solidFill>
              <a:schemeClr val="accent6">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214313" indent="-214313">
              <a:buFont typeface="Arial" panose="020B0604020202020204" pitchFamily="34" charset="0"/>
              <a:buChar char="•"/>
            </a:pPr>
            <a:r>
              <a:rPr lang="en-GB" sz="1350" dirty="0">
                <a:solidFill>
                  <a:schemeClr val="tx1"/>
                </a:solidFill>
              </a:rPr>
              <a:t>During the lecture, I’ll use the pen tool on the slides to explain key concepts clearly. </a:t>
            </a:r>
          </a:p>
          <a:p>
            <a:pPr marL="214313" indent="-214313">
              <a:buFont typeface="Arial" panose="020B0604020202020204" pitchFamily="34" charset="0"/>
              <a:buChar char="•"/>
            </a:pPr>
            <a:r>
              <a:rPr lang="en-GB" sz="1350" dirty="0">
                <a:solidFill>
                  <a:schemeClr val="tx1"/>
                </a:solidFill>
              </a:rPr>
              <a:t>I can also use the whiteboard to go through things in more detail with you after the lecture if you’d like.</a:t>
            </a:r>
          </a:p>
        </p:txBody>
      </p:sp>
    </p:spTree>
    <p:custDataLst>
      <p:tags r:id="rId1"/>
    </p:custDataLst>
    <p:extLst>
      <p:ext uri="{BB962C8B-B14F-4D97-AF65-F5344CB8AC3E}">
        <p14:creationId xmlns:p14="http://schemas.microsoft.com/office/powerpoint/2010/main" val="831977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500"/>
                                        <p:tgtEl>
                                          <p:spTgt spid="2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3" grpId="0" animBg="1"/>
      <p:bldP spid="17" grpId="0" animBg="1"/>
      <p:bldP spid="18" grpId="0" animBg="1"/>
      <p:bldP spid="23" grpId="0" animBg="1"/>
      <p:bldP spid="2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AA8F7-4E1C-EBD8-5634-A73656E8C2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8EEB05-B07B-8D86-3EF4-28A6693FE79B}"/>
              </a:ext>
            </a:extLst>
          </p:cNvPr>
          <p:cNvSpPr>
            <a:spLocks noGrp="1"/>
          </p:cNvSpPr>
          <p:nvPr>
            <p:ph type="title"/>
          </p:nvPr>
        </p:nvSpPr>
        <p:spPr/>
        <p:txBody>
          <a:bodyPr/>
          <a:lstStyle/>
          <a:p>
            <a:r>
              <a:rPr lang="en-US" b="1" dirty="0"/>
              <a:t>Your feedback makes the difference</a:t>
            </a:r>
          </a:p>
        </p:txBody>
      </p:sp>
      <p:pic>
        <p:nvPicPr>
          <p:cNvPr id="14" name="Picture 13" descr="A hand holding a speech bubble&#10;&#10;Description automatically generated">
            <a:extLst>
              <a:ext uri="{FF2B5EF4-FFF2-40B4-BE49-F238E27FC236}">
                <a16:creationId xmlns:a16="http://schemas.microsoft.com/office/drawing/2014/main" id="{95AAA390-102D-C443-87C3-B59F110FA95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51019" y="939455"/>
            <a:ext cx="799977" cy="799977"/>
          </a:xfrm>
          <a:prstGeom prst="ellipse">
            <a:avLst/>
          </a:prstGeom>
        </p:spPr>
      </p:pic>
      <p:sp>
        <p:nvSpPr>
          <p:cNvPr id="5" name="Speech Bubble: Rectangle with Corners Rounded 4">
            <a:extLst>
              <a:ext uri="{FF2B5EF4-FFF2-40B4-BE49-F238E27FC236}">
                <a16:creationId xmlns:a16="http://schemas.microsoft.com/office/drawing/2014/main" id="{6AEB5C7F-63B4-FAB4-AB8D-EF804DD170AD}"/>
              </a:ext>
            </a:extLst>
          </p:cNvPr>
          <p:cNvSpPr/>
          <p:nvPr/>
        </p:nvSpPr>
        <p:spPr>
          <a:xfrm>
            <a:off x="335756" y="1790264"/>
            <a:ext cx="2758708" cy="1791136"/>
          </a:xfrm>
          <a:prstGeom prst="wedgeRoundRectCallout">
            <a:avLst>
              <a:gd name="adj1" fmla="val -35452"/>
              <a:gd name="adj2" fmla="val 62500"/>
              <a:gd name="adj3" fmla="val 16667"/>
            </a:avLst>
          </a:prstGeom>
          <a:solidFill>
            <a:schemeClr val="accent6">
              <a:lumMod val="20000"/>
              <a:lumOff val="80000"/>
            </a:schemeClr>
          </a:solidFill>
          <a:ln w="19050">
            <a:solidFill>
              <a:schemeClr val="accent6">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GB" sz="1350" dirty="0">
                <a:solidFill>
                  <a:schemeClr val="tx1"/>
                </a:solidFill>
              </a:rPr>
              <a:t>Could future seminar sessions adopt a different teaching method? We could do the exercises at home first, and then you could give the explanations during the seminar (1/40)</a:t>
            </a:r>
          </a:p>
        </p:txBody>
      </p:sp>
      <p:sp>
        <p:nvSpPr>
          <p:cNvPr id="13" name="Rectangle: Rounded Corners 12">
            <a:extLst>
              <a:ext uri="{FF2B5EF4-FFF2-40B4-BE49-F238E27FC236}">
                <a16:creationId xmlns:a16="http://schemas.microsoft.com/office/drawing/2014/main" id="{EC022B7C-AB83-7628-6AB1-AAEB4D4C1A74}"/>
              </a:ext>
            </a:extLst>
          </p:cNvPr>
          <p:cNvSpPr/>
          <p:nvPr/>
        </p:nvSpPr>
        <p:spPr>
          <a:xfrm>
            <a:off x="3355875" y="1793138"/>
            <a:ext cx="5444579" cy="1788261"/>
          </a:xfrm>
          <a:prstGeom prst="roundRect">
            <a:avLst/>
          </a:prstGeom>
          <a:solidFill>
            <a:schemeClr val="accent6">
              <a:lumMod val="20000"/>
              <a:lumOff val="80000"/>
            </a:schemeClr>
          </a:solidFill>
          <a:ln w="38100">
            <a:solidFill>
              <a:schemeClr val="accent6">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214313" indent="-214313">
              <a:buFont typeface="Arial" panose="020B0604020202020204" pitchFamily="34" charset="0"/>
              <a:buChar char="•"/>
            </a:pPr>
            <a:r>
              <a:rPr lang="en-GB" sz="1350" dirty="0">
                <a:solidFill>
                  <a:schemeClr val="tx1"/>
                </a:solidFill>
              </a:rPr>
              <a:t>Asking students to complete all the exercises before the seminar might be a bit overwhelming for many students, as there’s only one day between the lecture and seminar. </a:t>
            </a:r>
          </a:p>
          <a:p>
            <a:pPr marL="214313" indent="-214313">
              <a:buFont typeface="Arial" panose="020B0604020202020204" pitchFamily="34" charset="0"/>
              <a:buChar char="•"/>
            </a:pPr>
            <a:r>
              <a:rPr lang="en-GB" sz="1350" dirty="0">
                <a:solidFill>
                  <a:schemeClr val="tx1"/>
                </a:solidFill>
              </a:rPr>
              <a:t>However, if you’d like more explanations or guidance on the exercises, please feel free to reach out to me—I’ll be happy to help.</a:t>
            </a:r>
          </a:p>
        </p:txBody>
      </p:sp>
      <p:sp>
        <p:nvSpPr>
          <p:cNvPr id="17" name="Speech Bubble: Rectangle with Corners Rounded 16">
            <a:extLst>
              <a:ext uri="{FF2B5EF4-FFF2-40B4-BE49-F238E27FC236}">
                <a16:creationId xmlns:a16="http://schemas.microsoft.com/office/drawing/2014/main" id="{86356105-039A-CA24-836D-D63411F514BE}"/>
              </a:ext>
            </a:extLst>
          </p:cNvPr>
          <p:cNvSpPr/>
          <p:nvPr/>
        </p:nvSpPr>
        <p:spPr>
          <a:xfrm>
            <a:off x="335756" y="4322368"/>
            <a:ext cx="2758708" cy="1316431"/>
          </a:xfrm>
          <a:prstGeom prst="wedgeRoundRectCallout">
            <a:avLst>
              <a:gd name="adj1" fmla="val 36519"/>
              <a:gd name="adj2" fmla="val 69663"/>
              <a:gd name="adj3" fmla="val 16667"/>
            </a:avLst>
          </a:prstGeom>
          <a:solidFill>
            <a:schemeClr val="accent6">
              <a:lumMod val="20000"/>
              <a:lumOff val="80000"/>
            </a:schemeClr>
          </a:solidFill>
          <a:ln w="19050">
            <a:solidFill>
              <a:schemeClr val="accent6">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GB" sz="1350" dirty="0">
                <a:solidFill>
                  <a:schemeClr val="tx1"/>
                </a:solidFill>
              </a:rPr>
              <a:t>Use tools like Excel to explore the application of each module in more depth (1/40)</a:t>
            </a:r>
          </a:p>
        </p:txBody>
      </p:sp>
      <p:sp>
        <p:nvSpPr>
          <p:cNvPr id="18" name="Rectangle: Rounded Corners 17">
            <a:extLst>
              <a:ext uri="{FF2B5EF4-FFF2-40B4-BE49-F238E27FC236}">
                <a16:creationId xmlns:a16="http://schemas.microsoft.com/office/drawing/2014/main" id="{3D49E5B3-1BB4-D244-F7F6-1A81B2CBF75F}"/>
              </a:ext>
            </a:extLst>
          </p:cNvPr>
          <p:cNvSpPr/>
          <p:nvPr/>
        </p:nvSpPr>
        <p:spPr>
          <a:xfrm>
            <a:off x="3355874" y="4322368"/>
            <a:ext cx="5444579" cy="1316431"/>
          </a:xfrm>
          <a:prstGeom prst="roundRect">
            <a:avLst/>
          </a:prstGeom>
          <a:solidFill>
            <a:schemeClr val="accent6">
              <a:lumMod val="20000"/>
              <a:lumOff val="80000"/>
            </a:schemeClr>
          </a:solidFill>
          <a:ln w="38100">
            <a:solidFill>
              <a:schemeClr val="accent6">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214313" indent="-214313">
              <a:buFont typeface="Arial" panose="020B0604020202020204" pitchFamily="34" charset="0"/>
              <a:buChar char="•"/>
            </a:pPr>
            <a:r>
              <a:rPr lang="en-GB" sz="1350" dirty="0">
                <a:solidFill>
                  <a:schemeClr val="tx1"/>
                </a:solidFill>
              </a:rPr>
              <a:t>The use of Excel for quantitative analysis will be briefly covered in the seminar in Week 7. </a:t>
            </a:r>
          </a:p>
          <a:p>
            <a:pPr marL="214313" indent="-214313">
              <a:buFont typeface="Arial" panose="020B0604020202020204" pitchFamily="34" charset="0"/>
              <a:buChar char="•"/>
            </a:pPr>
            <a:r>
              <a:rPr lang="en-GB" sz="1350" dirty="0">
                <a:solidFill>
                  <a:schemeClr val="tx1"/>
                </a:solidFill>
              </a:rPr>
              <a:t>The use of SPSS will be covered in the seminars in Weeks 6, 8, and 10. </a:t>
            </a:r>
          </a:p>
          <a:p>
            <a:pPr marL="214313" indent="-214313">
              <a:buFont typeface="Arial" panose="020B0604020202020204" pitchFamily="34" charset="0"/>
              <a:buChar char="•"/>
            </a:pPr>
            <a:r>
              <a:rPr lang="en-GB" sz="1350" dirty="0">
                <a:solidFill>
                  <a:schemeClr val="tx1"/>
                </a:solidFill>
              </a:rPr>
              <a:t>More examples of using Excel will be covered in LUBS5308M. </a:t>
            </a:r>
          </a:p>
        </p:txBody>
      </p:sp>
    </p:spTree>
    <p:custDataLst>
      <p:tags r:id="rId1"/>
    </p:custDataLst>
    <p:extLst>
      <p:ext uri="{BB962C8B-B14F-4D97-AF65-F5344CB8AC3E}">
        <p14:creationId xmlns:p14="http://schemas.microsoft.com/office/powerpoint/2010/main" val="3845182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3" grpId="0" animBg="1"/>
      <p:bldP spid="17" grpId="0" animBg="1"/>
      <p:bldP spid="1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D6F9D-951C-284C-6546-4439C81ABEB1}"/>
              </a:ext>
            </a:extLst>
          </p:cNvPr>
          <p:cNvSpPr>
            <a:spLocks noGrp="1"/>
          </p:cNvSpPr>
          <p:nvPr>
            <p:ph type="title"/>
          </p:nvPr>
        </p:nvSpPr>
        <p:spPr/>
        <p:txBody>
          <a:bodyPr/>
          <a:lstStyle/>
          <a:p>
            <a:r>
              <a:rPr lang="en-US" b="1" dirty="0"/>
              <a:t>Your feedback makes the difference</a:t>
            </a:r>
          </a:p>
        </p:txBody>
      </p:sp>
      <p:pic>
        <p:nvPicPr>
          <p:cNvPr id="14" name="Picture 13" descr="A hand holding a speech bubble&#10;&#10;Description automatically generated">
            <a:extLst>
              <a:ext uri="{FF2B5EF4-FFF2-40B4-BE49-F238E27FC236}">
                <a16:creationId xmlns:a16="http://schemas.microsoft.com/office/drawing/2014/main" id="{E6D8BB17-1E03-2F69-D4EB-20880276ADF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51019" y="939455"/>
            <a:ext cx="799977" cy="799977"/>
          </a:xfrm>
          <a:prstGeom prst="ellipse">
            <a:avLst/>
          </a:prstGeom>
        </p:spPr>
      </p:pic>
      <p:sp>
        <p:nvSpPr>
          <p:cNvPr id="5" name="Speech Bubble: Rectangle with Corners Rounded 4">
            <a:extLst>
              <a:ext uri="{FF2B5EF4-FFF2-40B4-BE49-F238E27FC236}">
                <a16:creationId xmlns:a16="http://schemas.microsoft.com/office/drawing/2014/main" id="{DC849FA6-A264-0D54-ADEE-E8305A4F199B}"/>
              </a:ext>
            </a:extLst>
          </p:cNvPr>
          <p:cNvSpPr/>
          <p:nvPr/>
        </p:nvSpPr>
        <p:spPr>
          <a:xfrm>
            <a:off x="335756" y="1790265"/>
            <a:ext cx="2758708" cy="733784"/>
          </a:xfrm>
          <a:prstGeom prst="wedgeRoundRectCallout">
            <a:avLst>
              <a:gd name="adj1" fmla="val -35452"/>
              <a:gd name="adj2" fmla="val 62500"/>
              <a:gd name="adj3" fmla="val 16667"/>
            </a:avLst>
          </a:prstGeom>
          <a:solidFill>
            <a:schemeClr val="accent6">
              <a:lumMod val="20000"/>
              <a:lumOff val="80000"/>
            </a:schemeClr>
          </a:solidFill>
          <a:ln w="19050">
            <a:solidFill>
              <a:schemeClr val="accent6">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GB" sz="1350" dirty="0">
                <a:solidFill>
                  <a:schemeClr val="tx1"/>
                </a:solidFill>
              </a:rPr>
              <a:t>If you are struggling with this module, …</a:t>
            </a:r>
          </a:p>
        </p:txBody>
      </p:sp>
      <p:sp>
        <p:nvSpPr>
          <p:cNvPr id="13" name="Rectangle: Rounded Corners 12">
            <a:extLst>
              <a:ext uri="{FF2B5EF4-FFF2-40B4-BE49-F238E27FC236}">
                <a16:creationId xmlns:a16="http://schemas.microsoft.com/office/drawing/2014/main" id="{8BB7831D-9FC8-A8D4-DFB7-E6E1C587C257}"/>
              </a:ext>
            </a:extLst>
          </p:cNvPr>
          <p:cNvSpPr/>
          <p:nvPr/>
        </p:nvSpPr>
        <p:spPr>
          <a:xfrm>
            <a:off x="3355875" y="1793139"/>
            <a:ext cx="5444579" cy="2245461"/>
          </a:xfrm>
          <a:prstGeom prst="roundRect">
            <a:avLst/>
          </a:prstGeom>
          <a:solidFill>
            <a:schemeClr val="accent6">
              <a:lumMod val="20000"/>
              <a:lumOff val="80000"/>
            </a:schemeClr>
          </a:solidFill>
          <a:ln w="38100">
            <a:solidFill>
              <a:schemeClr val="accent6">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214313" indent="-214313">
              <a:buFont typeface="Arial" panose="020B0604020202020204" pitchFamily="34" charset="0"/>
              <a:buChar char="•"/>
            </a:pPr>
            <a:r>
              <a:rPr lang="en-GB" sz="1350" dirty="0">
                <a:solidFill>
                  <a:schemeClr val="tx1"/>
                </a:solidFill>
              </a:rPr>
              <a:t>Please reach out after class or during the seminar </a:t>
            </a:r>
          </a:p>
          <a:p>
            <a:pPr marL="214313" indent="-214313">
              <a:buFont typeface="Arial" panose="020B0604020202020204" pitchFamily="34" charset="0"/>
              <a:buChar char="•"/>
            </a:pPr>
            <a:r>
              <a:rPr lang="en-GB" sz="1350" dirty="0">
                <a:solidFill>
                  <a:schemeClr val="tx1"/>
                </a:solidFill>
              </a:rPr>
              <a:t>Please send me an email if you have any questions</a:t>
            </a:r>
          </a:p>
          <a:p>
            <a:pPr marL="214313" indent="-214313">
              <a:buFont typeface="Arial" panose="020B0604020202020204" pitchFamily="34" charset="0"/>
              <a:buChar char="•"/>
            </a:pPr>
            <a:r>
              <a:rPr lang="en-GB" sz="1350" dirty="0">
                <a:solidFill>
                  <a:schemeClr val="tx1"/>
                </a:solidFill>
              </a:rPr>
              <a:t>Please send me a MS Teams message if you have any questions</a:t>
            </a:r>
          </a:p>
          <a:p>
            <a:pPr marL="214313" indent="-214313">
              <a:buFont typeface="Arial" panose="020B0604020202020204" pitchFamily="34" charset="0"/>
              <a:buChar char="•"/>
            </a:pPr>
            <a:r>
              <a:rPr lang="en-GB" sz="1350" b="1" dirty="0">
                <a:solidFill>
                  <a:srgbClr val="FF0000"/>
                </a:solidFill>
              </a:rPr>
              <a:t>Please come to the seminar to do the exercises</a:t>
            </a:r>
          </a:p>
          <a:p>
            <a:pPr marL="214313" indent="-214313">
              <a:buFont typeface="Arial" panose="020B0604020202020204" pitchFamily="34" charset="0"/>
              <a:buChar char="•"/>
            </a:pPr>
            <a:r>
              <a:rPr lang="en-GB" sz="1350" dirty="0">
                <a:solidFill>
                  <a:schemeClr val="tx1"/>
                </a:solidFill>
              </a:rPr>
              <a:t>Send me an email to book a meeting with me </a:t>
            </a:r>
          </a:p>
          <a:p>
            <a:pPr marL="557213" lvl="1" indent="-214313">
              <a:buFont typeface="Courier New" panose="02070309020205020404" pitchFamily="49" charset="0"/>
              <a:buChar char="o"/>
            </a:pPr>
            <a:r>
              <a:rPr lang="en-GB" sz="1350" dirty="0">
                <a:solidFill>
                  <a:schemeClr val="tx1"/>
                </a:solidFill>
              </a:rPr>
              <a:t>Monday: available all day</a:t>
            </a:r>
          </a:p>
          <a:p>
            <a:pPr marL="557213" lvl="1" indent="-214313">
              <a:buFont typeface="Courier New" panose="02070309020205020404" pitchFamily="49" charset="0"/>
              <a:buChar char="o"/>
            </a:pPr>
            <a:r>
              <a:rPr lang="en-GB" sz="1350" dirty="0">
                <a:solidFill>
                  <a:schemeClr val="tx1"/>
                </a:solidFill>
              </a:rPr>
              <a:t>Tuesday: available all day</a:t>
            </a:r>
          </a:p>
          <a:p>
            <a:pPr marL="557213" lvl="1" indent="-214313">
              <a:buFont typeface="Courier New" panose="02070309020205020404" pitchFamily="49" charset="0"/>
              <a:buChar char="o"/>
            </a:pPr>
            <a:r>
              <a:rPr lang="en-GB" sz="1350" dirty="0">
                <a:solidFill>
                  <a:schemeClr val="tx1"/>
                </a:solidFill>
              </a:rPr>
              <a:t>Wednesday: available after our class</a:t>
            </a:r>
          </a:p>
          <a:p>
            <a:pPr marL="557213" lvl="1" indent="-214313">
              <a:buFont typeface="Courier New" panose="02070309020205020404" pitchFamily="49" charset="0"/>
              <a:buChar char="o"/>
            </a:pPr>
            <a:r>
              <a:rPr lang="en-GB" sz="1350" dirty="0">
                <a:solidFill>
                  <a:schemeClr val="tx1"/>
                </a:solidFill>
              </a:rPr>
              <a:t>Thursday: available all day</a:t>
            </a:r>
          </a:p>
        </p:txBody>
      </p:sp>
      <p:sp>
        <p:nvSpPr>
          <p:cNvPr id="4" name="Speech Bubble: Rectangle with Corners Rounded 3">
            <a:extLst>
              <a:ext uri="{FF2B5EF4-FFF2-40B4-BE49-F238E27FC236}">
                <a16:creationId xmlns:a16="http://schemas.microsoft.com/office/drawing/2014/main" id="{4AE482B9-A43F-D05E-B5FA-DB8FB8F0C3DF}"/>
              </a:ext>
            </a:extLst>
          </p:cNvPr>
          <p:cNvSpPr/>
          <p:nvPr/>
        </p:nvSpPr>
        <p:spPr>
          <a:xfrm>
            <a:off x="335756" y="4693764"/>
            <a:ext cx="2758708" cy="564036"/>
          </a:xfrm>
          <a:prstGeom prst="wedgeRoundRectCallout">
            <a:avLst>
              <a:gd name="adj1" fmla="val 36519"/>
              <a:gd name="adj2" fmla="val 69663"/>
              <a:gd name="adj3" fmla="val 16667"/>
            </a:avLst>
          </a:prstGeom>
          <a:solidFill>
            <a:schemeClr val="accent6">
              <a:lumMod val="20000"/>
              <a:lumOff val="80000"/>
            </a:schemeClr>
          </a:solidFill>
          <a:ln w="19050">
            <a:solidFill>
              <a:schemeClr val="accent6">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GB" sz="1350" dirty="0">
                <a:solidFill>
                  <a:schemeClr val="tx1"/>
                </a:solidFill>
              </a:rPr>
              <a:t>If you want to come to classes prepared, …</a:t>
            </a:r>
          </a:p>
        </p:txBody>
      </p:sp>
      <p:sp>
        <p:nvSpPr>
          <p:cNvPr id="6" name="Rectangle: Rounded Corners 5">
            <a:extLst>
              <a:ext uri="{FF2B5EF4-FFF2-40B4-BE49-F238E27FC236}">
                <a16:creationId xmlns:a16="http://schemas.microsoft.com/office/drawing/2014/main" id="{8D0DCFC1-5485-2714-CC0B-EEB8C18AA3B6}"/>
              </a:ext>
            </a:extLst>
          </p:cNvPr>
          <p:cNvSpPr/>
          <p:nvPr/>
        </p:nvSpPr>
        <p:spPr>
          <a:xfrm>
            <a:off x="3343975" y="4693168"/>
            <a:ext cx="5444579" cy="561161"/>
          </a:xfrm>
          <a:prstGeom prst="roundRect">
            <a:avLst/>
          </a:prstGeom>
          <a:solidFill>
            <a:schemeClr val="accent6">
              <a:lumMod val="20000"/>
              <a:lumOff val="80000"/>
            </a:schemeClr>
          </a:solidFill>
          <a:ln w="38100">
            <a:solidFill>
              <a:schemeClr val="accent6">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214313" indent="-214313">
              <a:buFont typeface="Arial" panose="020B0604020202020204" pitchFamily="34" charset="0"/>
              <a:buChar char="•"/>
            </a:pPr>
            <a:r>
              <a:rPr lang="en-GB" sz="1350" dirty="0">
                <a:solidFill>
                  <a:schemeClr val="tx1"/>
                </a:solidFill>
              </a:rPr>
              <a:t>I will update Minerva on Monday</a:t>
            </a:r>
          </a:p>
        </p:txBody>
      </p:sp>
    </p:spTree>
    <p:custDataLst>
      <p:tags r:id="rId1"/>
    </p:custDataLst>
    <p:extLst>
      <p:ext uri="{BB962C8B-B14F-4D97-AF65-F5344CB8AC3E}">
        <p14:creationId xmlns:p14="http://schemas.microsoft.com/office/powerpoint/2010/main" val="3737778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3" grpId="0" animBg="1"/>
      <p:bldP spid="4" grpId="0" animBg="1"/>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D6F9D-951C-284C-6546-4439C81ABEB1}"/>
              </a:ext>
            </a:extLst>
          </p:cNvPr>
          <p:cNvSpPr>
            <a:spLocks noGrp="1"/>
          </p:cNvSpPr>
          <p:nvPr>
            <p:ph type="title"/>
          </p:nvPr>
        </p:nvSpPr>
        <p:spPr/>
        <p:txBody>
          <a:bodyPr/>
          <a:lstStyle/>
          <a:p>
            <a:r>
              <a:rPr lang="en-US" b="1" dirty="0"/>
              <a:t>Your feedback makes the difference</a:t>
            </a:r>
          </a:p>
        </p:txBody>
      </p:sp>
      <p:pic>
        <p:nvPicPr>
          <p:cNvPr id="14" name="Picture 13" descr="A hand holding a speech bubble&#10;&#10;Description automatically generated">
            <a:extLst>
              <a:ext uri="{FF2B5EF4-FFF2-40B4-BE49-F238E27FC236}">
                <a16:creationId xmlns:a16="http://schemas.microsoft.com/office/drawing/2014/main" id="{E6D8BB17-1E03-2F69-D4EB-20880276ADF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51019" y="939455"/>
            <a:ext cx="799977" cy="799977"/>
          </a:xfrm>
          <a:prstGeom prst="ellipse">
            <a:avLst/>
          </a:prstGeom>
        </p:spPr>
      </p:pic>
      <p:sp>
        <p:nvSpPr>
          <p:cNvPr id="5" name="Speech Bubble: Rectangle with Corners Rounded 4">
            <a:extLst>
              <a:ext uri="{FF2B5EF4-FFF2-40B4-BE49-F238E27FC236}">
                <a16:creationId xmlns:a16="http://schemas.microsoft.com/office/drawing/2014/main" id="{DC849FA6-A264-0D54-ADEE-E8305A4F199B}"/>
              </a:ext>
            </a:extLst>
          </p:cNvPr>
          <p:cNvSpPr/>
          <p:nvPr/>
        </p:nvSpPr>
        <p:spPr>
          <a:xfrm>
            <a:off x="335756" y="1790265"/>
            <a:ext cx="2758708" cy="733783"/>
          </a:xfrm>
          <a:prstGeom prst="wedgeRoundRectCallout">
            <a:avLst>
              <a:gd name="adj1" fmla="val -35452"/>
              <a:gd name="adj2" fmla="val 62500"/>
              <a:gd name="adj3" fmla="val 16667"/>
            </a:avLst>
          </a:prstGeom>
          <a:solidFill>
            <a:schemeClr val="accent6">
              <a:lumMod val="20000"/>
              <a:lumOff val="80000"/>
            </a:schemeClr>
          </a:solidFill>
          <a:ln w="19050">
            <a:solidFill>
              <a:schemeClr val="accent6">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GB" sz="1350" dirty="0">
                <a:solidFill>
                  <a:schemeClr val="tx1"/>
                </a:solidFill>
              </a:rPr>
              <a:t>How you are going to be assessed?</a:t>
            </a:r>
          </a:p>
        </p:txBody>
      </p:sp>
      <p:sp>
        <p:nvSpPr>
          <p:cNvPr id="13" name="Rectangle: Rounded Corners 12">
            <a:extLst>
              <a:ext uri="{FF2B5EF4-FFF2-40B4-BE49-F238E27FC236}">
                <a16:creationId xmlns:a16="http://schemas.microsoft.com/office/drawing/2014/main" id="{8BB7831D-9FC8-A8D4-DFB7-E6E1C587C257}"/>
              </a:ext>
            </a:extLst>
          </p:cNvPr>
          <p:cNvSpPr/>
          <p:nvPr/>
        </p:nvSpPr>
        <p:spPr>
          <a:xfrm>
            <a:off x="3355875" y="1793140"/>
            <a:ext cx="5444579" cy="733784"/>
          </a:xfrm>
          <a:prstGeom prst="roundRect">
            <a:avLst/>
          </a:prstGeom>
          <a:solidFill>
            <a:schemeClr val="accent6">
              <a:lumMod val="20000"/>
              <a:lumOff val="80000"/>
            </a:schemeClr>
          </a:solidFill>
          <a:ln w="38100">
            <a:solidFill>
              <a:schemeClr val="accent6">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214313" indent="-214313">
              <a:buFont typeface="Arial" panose="020B0604020202020204" pitchFamily="34" charset="0"/>
              <a:buChar char="•"/>
            </a:pPr>
            <a:r>
              <a:rPr lang="en-GB" sz="1350" b="1" dirty="0">
                <a:solidFill>
                  <a:srgbClr val="FF0000"/>
                </a:solidFill>
              </a:rPr>
              <a:t>60 questions in 2 hours</a:t>
            </a:r>
          </a:p>
          <a:p>
            <a:pPr marL="214313" indent="-214313">
              <a:buFont typeface="Arial" panose="020B0604020202020204" pitchFamily="34" charset="0"/>
              <a:buChar char="•"/>
            </a:pPr>
            <a:r>
              <a:rPr lang="en-GB" sz="1350" dirty="0">
                <a:solidFill>
                  <a:schemeClr val="tx1"/>
                </a:solidFill>
              </a:rPr>
              <a:t>Formula sheet and lookup tables will be provided</a:t>
            </a:r>
          </a:p>
          <a:p>
            <a:pPr marL="214313" indent="-214313">
              <a:buFont typeface="Arial" panose="020B0604020202020204" pitchFamily="34" charset="0"/>
              <a:buChar char="•"/>
            </a:pPr>
            <a:r>
              <a:rPr lang="en-GB" sz="1350" dirty="0">
                <a:solidFill>
                  <a:schemeClr val="tx1"/>
                </a:solidFill>
              </a:rPr>
              <a:t>Please bring a calculator</a:t>
            </a:r>
          </a:p>
        </p:txBody>
      </p:sp>
      <p:sp>
        <p:nvSpPr>
          <p:cNvPr id="17" name="Speech Bubble: Rectangle with Corners Rounded 16">
            <a:extLst>
              <a:ext uri="{FF2B5EF4-FFF2-40B4-BE49-F238E27FC236}">
                <a16:creationId xmlns:a16="http://schemas.microsoft.com/office/drawing/2014/main" id="{20F6CC7E-8DE3-BB79-A174-BB04E4FC9E1A}"/>
              </a:ext>
            </a:extLst>
          </p:cNvPr>
          <p:cNvSpPr/>
          <p:nvPr/>
        </p:nvSpPr>
        <p:spPr>
          <a:xfrm>
            <a:off x="335756" y="4800600"/>
            <a:ext cx="2758708" cy="762000"/>
          </a:xfrm>
          <a:prstGeom prst="wedgeRoundRectCallout">
            <a:avLst>
              <a:gd name="adj1" fmla="val 36519"/>
              <a:gd name="adj2" fmla="val 69663"/>
              <a:gd name="adj3" fmla="val 16667"/>
            </a:avLst>
          </a:prstGeom>
          <a:solidFill>
            <a:schemeClr val="accent6">
              <a:lumMod val="20000"/>
              <a:lumOff val="80000"/>
            </a:schemeClr>
          </a:solidFill>
          <a:ln w="19050">
            <a:solidFill>
              <a:schemeClr val="accent6">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GB" sz="1350" b="1" dirty="0">
                <a:solidFill>
                  <a:schemeClr val="tx1"/>
                </a:solidFill>
              </a:rPr>
              <a:t>Tips for passing the exam</a:t>
            </a:r>
          </a:p>
        </p:txBody>
      </p:sp>
      <p:sp>
        <p:nvSpPr>
          <p:cNvPr id="18" name="Rectangle: Rounded Corners 17">
            <a:extLst>
              <a:ext uri="{FF2B5EF4-FFF2-40B4-BE49-F238E27FC236}">
                <a16:creationId xmlns:a16="http://schemas.microsoft.com/office/drawing/2014/main" id="{DA2DD7D1-E8AF-46DE-2656-A40B6165E788}"/>
              </a:ext>
            </a:extLst>
          </p:cNvPr>
          <p:cNvSpPr/>
          <p:nvPr/>
        </p:nvSpPr>
        <p:spPr>
          <a:xfrm>
            <a:off x="3343975" y="4800004"/>
            <a:ext cx="5444579" cy="838796"/>
          </a:xfrm>
          <a:prstGeom prst="roundRect">
            <a:avLst/>
          </a:prstGeom>
          <a:solidFill>
            <a:schemeClr val="accent6">
              <a:lumMod val="20000"/>
              <a:lumOff val="80000"/>
            </a:schemeClr>
          </a:solidFill>
          <a:ln w="38100">
            <a:solidFill>
              <a:schemeClr val="accent6">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214313" indent="-214313">
              <a:buFont typeface="Arial" panose="020B0604020202020204" pitchFamily="34" charset="0"/>
              <a:buChar char="•"/>
            </a:pPr>
            <a:r>
              <a:rPr lang="en-GB" sz="1350" b="1" dirty="0">
                <a:solidFill>
                  <a:srgbClr val="FF0000"/>
                </a:solidFill>
              </a:rPr>
              <a:t>Please come to the seminar to do the exercises. Simply listening to the lecture is not enough. 19%–25% of students in previous years failed this module.</a:t>
            </a:r>
          </a:p>
        </p:txBody>
      </p:sp>
      <p:sp>
        <p:nvSpPr>
          <p:cNvPr id="23" name="Speech Bubble: Rectangle with Corners Rounded 22">
            <a:extLst>
              <a:ext uri="{FF2B5EF4-FFF2-40B4-BE49-F238E27FC236}">
                <a16:creationId xmlns:a16="http://schemas.microsoft.com/office/drawing/2014/main" id="{AB337BA5-3695-1C3C-6E90-AE89DDA2B1E3}"/>
              </a:ext>
            </a:extLst>
          </p:cNvPr>
          <p:cNvSpPr/>
          <p:nvPr/>
        </p:nvSpPr>
        <p:spPr>
          <a:xfrm>
            <a:off x="335756" y="3015097"/>
            <a:ext cx="2758708" cy="1192762"/>
          </a:xfrm>
          <a:prstGeom prst="wedgeRoundRectCallout">
            <a:avLst>
              <a:gd name="adj1" fmla="val -35452"/>
              <a:gd name="adj2" fmla="val 62500"/>
              <a:gd name="adj3" fmla="val 16667"/>
            </a:avLst>
          </a:prstGeom>
          <a:solidFill>
            <a:schemeClr val="accent6">
              <a:lumMod val="20000"/>
              <a:lumOff val="80000"/>
            </a:schemeClr>
          </a:solidFill>
          <a:ln w="19050">
            <a:solidFill>
              <a:schemeClr val="accent6">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GB" sz="1350" dirty="0">
                <a:solidFill>
                  <a:schemeClr val="tx1"/>
                </a:solidFill>
              </a:rPr>
              <a:t>If you need help understanding this module or would like get feedback on the learning, …</a:t>
            </a:r>
          </a:p>
        </p:txBody>
      </p:sp>
      <p:sp>
        <p:nvSpPr>
          <p:cNvPr id="24" name="Rectangle: Rounded Corners 23">
            <a:extLst>
              <a:ext uri="{FF2B5EF4-FFF2-40B4-BE49-F238E27FC236}">
                <a16:creationId xmlns:a16="http://schemas.microsoft.com/office/drawing/2014/main" id="{B59E021D-D977-7537-1C2A-C5F17B51746A}"/>
              </a:ext>
            </a:extLst>
          </p:cNvPr>
          <p:cNvSpPr/>
          <p:nvPr/>
        </p:nvSpPr>
        <p:spPr>
          <a:xfrm>
            <a:off x="3355875" y="3017972"/>
            <a:ext cx="5444579" cy="1192762"/>
          </a:xfrm>
          <a:prstGeom prst="roundRect">
            <a:avLst/>
          </a:prstGeom>
          <a:solidFill>
            <a:schemeClr val="accent6">
              <a:lumMod val="20000"/>
              <a:lumOff val="80000"/>
            </a:schemeClr>
          </a:solidFill>
          <a:ln w="38100">
            <a:solidFill>
              <a:schemeClr val="accent6">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214313" indent="-214313">
              <a:buFont typeface="Arial" panose="020B0604020202020204" pitchFamily="34" charset="0"/>
              <a:buChar char="•"/>
            </a:pPr>
            <a:r>
              <a:rPr lang="en-GB" sz="1350" dirty="0">
                <a:solidFill>
                  <a:schemeClr val="tx1"/>
                </a:solidFill>
              </a:rPr>
              <a:t>Please feel free to reach out to me</a:t>
            </a:r>
          </a:p>
          <a:p>
            <a:pPr marL="214313" indent="-214313">
              <a:buFont typeface="Arial" panose="020B0604020202020204" pitchFamily="34" charset="0"/>
              <a:buChar char="•"/>
            </a:pPr>
            <a:r>
              <a:rPr lang="en-GB" sz="1350" dirty="0">
                <a:solidFill>
                  <a:schemeClr val="tx1"/>
                </a:solidFill>
              </a:rPr>
              <a:t>Please send me an email or Teams message if you have any questions </a:t>
            </a:r>
          </a:p>
          <a:p>
            <a:pPr marL="214313" indent="-214313">
              <a:buFont typeface="Arial" panose="020B0604020202020204" pitchFamily="34" charset="0"/>
              <a:buChar char="•"/>
            </a:pPr>
            <a:r>
              <a:rPr lang="en-GB" sz="1350" dirty="0">
                <a:solidFill>
                  <a:schemeClr val="tx1"/>
                </a:solidFill>
              </a:rPr>
              <a:t>Please send me an email to book a meeting with me </a:t>
            </a:r>
          </a:p>
          <a:p>
            <a:pPr marL="214313" indent="-214313">
              <a:buFont typeface="Arial" panose="020B0604020202020204" pitchFamily="34" charset="0"/>
              <a:buChar char="•"/>
            </a:pPr>
            <a:r>
              <a:rPr lang="en-GB" sz="1350" dirty="0">
                <a:solidFill>
                  <a:schemeClr val="tx1"/>
                </a:solidFill>
              </a:rPr>
              <a:t>You can rewatch the lectures on Minerva</a:t>
            </a:r>
          </a:p>
        </p:txBody>
      </p:sp>
    </p:spTree>
    <p:custDataLst>
      <p:tags r:id="rId1"/>
    </p:custDataLst>
    <p:extLst>
      <p:ext uri="{BB962C8B-B14F-4D97-AF65-F5344CB8AC3E}">
        <p14:creationId xmlns:p14="http://schemas.microsoft.com/office/powerpoint/2010/main" val="3315486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500"/>
                                        <p:tgtEl>
                                          <p:spTgt spid="2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3" grpId="0" animBg="1"/>
      <p:bldP spid="17" grpId="0" animBg="1"/>
      <p:bldP spid="18" grpId="0" animBg="1"/>
      <p:bldP spid="23" grpId="0" animBg="1"/>
      <p:bldP spid="2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8" name="Straight Arrow Connector 127"/>
          <p:cNvCxnSpPr>
            <a:stCxn id="124" idx="1"/>
            <a:endCxn id="108" idx="2"/>
          </p:cNvCxnSpPr>
          <p:nvPr/>
        </p:nvCxnSpPr>
        <p:spPr>
          <a:xfrm>
            <a:off x="533400" y="2688209"/>
            <a:ext cx="5890947" cy="3172"/>
          </a:xfrm>
          <a:prstGeom prst="straightConnector1">
            <a:avLst/>
          </a:prstGeom>
          <a:ln w="17780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3" name="Straight Arrow Connector 142"/>
          <p:cNvCxnSpPr>
            <a:stCxn id="124" idx="1"/>
            <a:endCxn id="108" idx="2"/>
          </p:cNvCxnSpPr>
          <p:nvPr/>
        </p:nvCxnSpPr>
        <p:spPr>
          <a:xfrm>
            <a:off x="533400" y="2688209"/>
            <a:ext cx="5890947" cy="3172"/>
          </a:xfrm>
          <a:prstGeom prst="straightConnector1">
            <a:avLst/>
          </a:prstGeom>
          <a:ln w="9525"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99" name="Rounded Rectangle 64"/>
          <p:cNvSpPr/>
          <p:nvPr/>
        </p:nvSpPr>
        <p:spPr>
          <a:xfrm>
            <a:off x="1066800" y="1295400"/>
            <a:ext cx="7010400" cy="4676775"/>
          </a:xfrm>
          <a:prstGeom prst="roundRect">
            <a:avLst/>
          </a:prstGeom>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124" name="Pentagon 41"/>
          <p:cNvSpPr/>
          <p:nvPr/>
        </p:nvSpPr>
        <p:spPr>
          <a:xfrm>
            <a:off x="533400" y="2557018"/>
            <a:ext cx="122819" cy="262382"/>
          </a:xfrm>
          <a:prstGeom prst="rect">
            <a:avLst/>
          </a:prstGeom>
          <a:solidFill>
            <a:schemeClr val="tx1">
              <a:lumMod val="50000"/>
              <a:lumOff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sz="2000" b="1" dirty="0"/>
          </a:p>
        </p:txBody>
      </p:sp>
      <p:cxnSp>
        <p:nvCxnSpPr>
          <p:cNvPr id="135" name="Elbow Connector 73"/>
          <p:cNvCxnSpPr>
            <a:stCxn id="122" idx="0"/>
            <a:endCxn id="110" idx="6"/>
          </p:cNvCxnSpPr>
          <p:nvPr/>
        </p:nvCxnSpPr>
        <p:spPr>
          <a:xfrm rot="16200000" flipV="1">
            <a:off x="4670377" y="2285111"/>
            <a:ext cx="716160" cy="5438768"/>
          </a:xfrm>
          <a:prstGeom prst="bentConnector2">
            <a:avLst/>
          </a:prstGeom>
          <a:ln w="177800"/>
        </p:spPr>
        <p:style>
          <a:lnRef idx="1">
            <a:schemeClr val="dk1"/>
          </a:lnRef>
          <a:fillRef idx="0">
            <a:schemeClr val="dk1"/>
          </a:fillRef>
          <a:effectRef idx="0">
            <a:schemeClr val="dk1"/>
          </a:effectRef>
          <a:fontRef idx="minor">
            <a:schemeClr val="tx1"/>
          </a:fontRef>
        </p:style>
      </p:cxnSp>
      <p:sp>
        <p:nvSpPr>
          <p:cNvPr id="101" name="Rectangle 100"/>
          <p:cNvSpPr/>
          <p:nvPr/>
        </p:nvSpPr>
        <p:spPr>
          <a:xfrm>
            <a:off x="2651263" y="2025045"/>
            <a:ext cx="1001621" cy="307777"/>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Probability</a:t>
            </a:r>
            <a:endParaRPr lang="en-GB" sz="1400" dirty="0"/>
          </a:p>
        </p:txBody>
      </p:sp>
      <p:sp>
        <p:nvSpPr>
          <p:cNvPr id="103" name="Rectangle 102"/>
          <p:cNvSpPr/>
          <p:nvPr/>
        </p:nvSpPr>
        <p:spPr>
          <a:xfrm>
            <a:off x="1474886" y="1799422"/>
            <a:ext cx="1020664"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Descriptive</a:t>
            </a:r>
          </a:p>
          <a:p>
            <a:pPr algn="ctr"/>
            <a:r>
              <a:rPr lang="en-GB" sz="1400" b="1" dirty="0"/>
              <a:t>Statistics</a:t>
            </a:r>
            <a:endParaRPr lang="en-GB" sz="1400" dirty="0"/>
          </a:p>
        </p:txBody>
      </p:sp>
      <p:sp>
        <p:nvSpPr>
          <p:cNvPr id="105" name="Rectangle 104"/>
          <p:cNvSpPr/>
          <p:nvPr/>
        </p:nvSpPr>
        <p:spPr>
          <a:xfrm>
            <a:off x="3808597" y="1799422"/>
            <a:ext cx="1149289"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Probability</a:t>
            </a:r>
          </a:p>
          <a:p>
            <a:pPr algn="ctr"/>
            <a:r>
              <a:rPr lang="en-GB" sz="1400" b="1" dirty="0"/>
              <a:t>Distributions</a:t>
            </a:r>
            <a:endParaRPr lang="en-GB" sz="1400" dirty="0"/>
          </a:p>
        </p:txBody>
      </p:sp>
      <p:sp>
        <p:nvSpPr>
          <p:cNvPr id="107" name="Rectangle 106"/>
          <p:cNvSpPr/>
          <p:nvPr/>
        </p:nvSpPr>
        <p:spPr>
          <a:xfrm>
            <a:off x="6275649" y="1799422"/>
            <a:ext cx="1013418"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Hypothesis</a:t>
            </a:r>
          </a:p>
          <a:p>
            <a:pPr algn="ctr"/>
            <a:r>
              <a:rPr lang="en-GB" sz="1400" b="1" dirty="0"/>
              <a:t>Testing 1</a:t>
            </a:r>
            <a:endParaRPr lang="en-GB" sz="1400" dirty="0"/>
          </a:p>
        </p:txBody>
      </p:sp>
      <p:sp>
        <p:nvSpPr>
          <p:cNvPr id="109" name="Rectangle 108"/>
          <p:cNvSpPr/>
          <p:nvPr/>
        </p:nvSpPr>
        <p:spPr>
          <a:xfrm>
            <a:off x="2594245" y="5039380"/>
            <a:ext cx="1113318"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Testing</a:t>
            </a:r>
          </a:p>
          <a:p>
            <a:pPr algn="ctr"/>
            <a:r>
              <a:rPr lang="en-GB" sz="1400" b="1" dirty="0"/>
              <a:t>Relationship</a:t>
            </a:r>
            <a:endParaRPr lang="en-GB" sz="1400" dirty="0"/>
          </a:p>
        </p:txBody>
      </p:sp>
      <p:sp>
        <p:nvSpPr>
          <p:cNvPr id="111" name="Rectangle 110"/>
          <p:cNvSpPr/>
          <p:nvPr/>
        </p:nvSpPr>
        <p:spPr>
          <a:xfrm>
            <a:off x="3886201" y="5054798"/>
            <a:ext cx="991169" cy="307777"/>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Regression</a:t>
            </a:r>
            <a:endParaRPr lang="en-GB" sz="1400" dirty="0"/>
          </a:p>
        </p:txBody>
      </p:sp>
      <p:sp>
        <p:nvSpPr>
          <p:cNvPr id="113" name="Rectangle 112"/>
          <p:cNvSpPr/>
          <p:nvPr/>
        </p:nvSpPr>
        <p:spPr>
          <a:xfrm>
            <a:off x="6334125" y="5085080"/>
            <a:ext cx="904875" cy="523220"/>
          </a:xfrm>
          <a:prstGeom prst="rect">
            <a:avLst/>
          </a:prstGeom>
          <a:effectLst>
            <a:outerShdw blurRad="50800" dist="38100" dir="18900000" algn="bl" rotWithShape="0">
              <a:prstClr val="black">
                <a:alpha val="40000"/>
              </a:prstClr>
            </a:outerShdw>
          </a:effectLst>
        </p:spPr>
        <p:txBody>
          <a:bodyPr wrap="square">
            <a:spAutoFit/>
          </a:bodyPr>
          <a:lstStyle/>
          <a:p>
            <a:pPr algn="ctr"/>
            <a:r>
              <a:rPr lang="en-GB" sz="1400" b="1" dirty="0"/>
              <a:t>Factor</a:t>
            </a:r>
          </a:p>
          <a:p>
            <a:pPr algn="ctr"/>
            <a:r>
              <a:rPr lang="en-GB" sz="1400" b="1" dirty="0"/>
              <a:t>Analysis</a:t>
            </a:r>
          </a:p>
        </p:txBody>
      </p:sp>
      <p:sp>
        <p:nvSpPr>
          <p:cNvPr id="115" name="Rectangle 114"/>
          <p:cNvSpPr/>
          <p:nvPr/>
        </p:nvSpPr>
        <p:spPr>
          <a:xfrm>
            <a:off x="5225248" y="1981200"/>
            <a:ext cx="870752" cy="307777"/>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Sampling</a:t>
            </a:r>
          </a:p>
        </p:txBody>
      </p:sp>
      <p:sp>
        <p:nvSpPr>
          <p:cNvPr id="122" name="Oval 121"/>
          <p:cNvSpPr/>
          <p:nvPr/>
        </p:nvSpPr>
        <p:spPr>
          <a:xfrm>
            <a:off x="7385891" y="5362575"/>
            <a:ext cx="723900" cy="69532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100" dirty="0"/>
              <a:t>Week</a:t>
            </a:r>
          </a:p>
          <a:p>
            <a:pPr algn="ctr"/>
            <a:r>
              <a:rPr lang="en-GB" sz="2000" b="1" dirty="0"/>
              <a:t>11</a:t>
            </a:r>
          </a:p>
        </p:txBody>
      </p:sp>
      <p:sp>
        <p:nvSpPr>
          <p:cNvPr id="123" name="Rectangle 122"/>
          <p:cNvSpPr/>
          <p:nvPr/>
        </p:nvSpPr>
        <p:spPr>
          <a:xfrm>
            <a:off x="7342281" y="6106180"/>
            <a:ext cx="811119" cy="307777"/>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Revision</a:t>
            </a:r>
          </a:p>
        </p:txBody>
      </p:sp>
      <p:sp>
        <p:nvSpPr>
          <p:cNvPr id="126" name="Rectangle 125"/>
          <p:cNvSpPr/>
          <p:nvPr/>
        </p:nvSpPr>
        <p:spPr>
          <a:xfrm>
            <a:off x="5134855" y="5090072"/>
            <a:ext cx="1045478"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Conditional</a:t>
            </a:r>
          </a:p>
          <a:p>
            <a:pPr algn="ctr"/>
            <a:r>
              <a:rPr lang="en-GB" sz="1400" b="1" dirty="0"/>
              <a:t>Probability</a:t>
            </a:r>
            <a:endParaRPr lang="en-GB" sz="1400" dirty="0"/>
          </a:p>
        </p:txBody>
      </p:sp>
      <p:cxnSp>
        <p:nvCxnSpPr>
          <p:cNvPr id="127" name="Elbow Connector 46"/>
          <p:cNvCxnSpPr>
            <a:stCxn id="110" idx="2"/>
            <a:endCxn id="108" idx="6"/>
          </p:cNvCxnSpPr>
          <p:nvPr/>
        </p:nvCxnSpPr>
        <p:spPr>
          <a:xfrm rot="10800000" flipH="1">
            <a:off x="1585173" y="2691381"/>
            <a:ext cx="5563074" cy="1955034"/>
          </a:xfrm>
          <a:prstGeom prst="bentConnector5">
            <a:avLst>
              <a:gd name="adj1" fmla="val -4109"/>
              <a:gd name="adj2" fmla="val 50000"/>
              <a:gd name="adj3" fmla="val 104109"/>
            </a:avLst>
          </a:prstGeom>
          <a:ln w="177800"/>
        </p:spPr>
        <p:style>
          <a:lnRef idx="1">
            <a:schemeClr val="dk1"/>
          </a:lnRef>
          <a:fillRef idx="0">
            <a:schemeClr val="dk1"/>
          </a:fillRef>
          <a:effectRef idx="0">
            <a:schemeClr val="dk1"/>
          </a:effectRef>
          <a:fontRef idx="minor">
            <a:schemeClr val="tx1"/>
          </a:fontRef>
        </p:style>
      </p:cxnSp>
      <p:sp>
        <p:nvSpPr>
          <p:cNvPr id="136" name="Title 1"/>
          <p:cNvSpPr>
            <a:spLocks noGrp="1"/>
          </p:cNvSpPr>
          <p:nvPr>
            <p:ph type="title"/>
          </p:nvPr>
        </p:nvSpPr>
        <p:spPr>
          <a:xfrm>
            <a:off x="304800" y="76200"/>
            <a:ext cx="8229600" cy="869277"/>
          </a:xfrm>
        </p:spPr>
        <p:txBody>
          <a:bodyPr/>
          <a:lstStyle/>
          <a:p>
            <a:r>
              <a:rPr lang="en-GB" dirty="0"/>
              <a:t>Module Overview</a:t>
            </a:r>
          </a:p>
        </p:txBody>
      </p:sp>
      <p:sp>
        <p:nvSpPr>
          <p:cNvPr id="137" name="Rectangle 136"/>
          <p:cNvSpPr/>
          <p:nvPr/>
        </p:nvSpPr>
        <p:spPr>
          <a:xfrm>
            <a:off x="1447800" y="5029200"/>
            <a:ext cx="1013419"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Hypothesis</a:t>
            </a:r>
          </a:p>
          <a:p>
            <a:pPr algn="ctr"/>
            <a:r>
              <a:rPr lang="en-GB" sz="1400" b="1" dirty="0"/>
              <a:t>Testing 2</a:t>
            </a:r>
          </a:p>
        </p:txBody>
      </p:sp>
      <p:cxnSp>
        <p:nvCxnSpPr>
          <p:cNvPr id="142" name="Elbow Connector 73"/>
          <p:cNvCxnSpPr>
            <a:stCxn id="122" idx="0"/>
            <a:endCxn id="110" idx="6"/>
          </p:cNvCxnSpPr>
          <p:nvPr/>
        </p:nvCxnSpPr>
        <p:spPr>
          <a:xfrm rot="16200000" flipV="1">
            <a:off x="4670377" y="2285111"/>
            <a:ext cx="716160" cy="5438768"/>
          </a:xfrm>
          <a:prstGeom prst="bentConnector2">
            <a:avLst/>
          </a:prstGeom>
          <a:ln w="9525"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4" name="Elbow Connector 46"/>
          <p:cNvCxnSpPr>
            <a:stCxn id="110" idx="2"/>
            <a:endCxn id="108" idx="6"/>
          </p:cNvCxnSpPr>
          <p:nvPr/>
        </p:nvCxnSpPr>
        <p:spPr>
          <a:xfrm rot="10800000" flipH="1">
            <a:off x="1585173" y="2691381"/>
            <a:ext cx="5563074" cy="1955034"/>
          </a:xfrm>
          <a:prstGeom prst="bentConnector5">
            <a:avLst>
              <a:gd name="adj1" fmla="val -4109"/>
              <a:gd name="adj2" fmla="val 50000"/>
              <a:gd name="adj3" fmla="val 104109"/>
            </a:avLst>
          </a:prstGeom>
          <a:ln w="9525"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10" name="Oval 109"/>
          <p:cNvSpPr/>
          <p:nvPr/>
        </p:nvSpPr>
        <p:spPr>
          <a:xfrm>
            <a:off x="1585173" y="4298752"/>
            <a:ext cx="723900" cy="695325"/>
          </a:xfrm>
          <a:prstGeom prst="ellipse">
            <a:avLst/>
          </a:prstGeom>
          <a:solidFill>
            <a:srgbClr val="FFFF00"/>
          </a:solidFill>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6</a:t>
            </a:r>
          </a:p>
        </p:txBody>
      </p:sp>
      <p:sp>
        <p:nvSpPr>
          <p:cNvPr id="112" name="Oval 111"/>
          <p:cNvSpPr/>
          <p:nvPr/>
        </p:nvSpPr>
        <p:spPr>
          <a:xfrm>
            <a:off x="2767095"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7</a:t>
            </a:r>
          </a:p>
        </p:txBody>
      </p:sp>
      <p:sp>
        <p:nvSpPr>
          <p:cNvPr id="114" name="Oval 113"/>
          <p:cNvSpPr/>
          <p:nvPr/>
        </p:nvSpPr>
        <p:spPr>
          <a:xfrm>
            <a:off x="4006152"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8</a:t>
            </a:r>
          </a:p>
        </p:txBody>
      </p:sp>
      <p:sp>
        <p:nvSpPr>
          <p:cNvPr id="116" name="Oval 115"/>
          <p:cNvSpPr/>
          <p:nvPr/>
        </p:nvSpPr>
        <p:spPr>
          <a:xfrm>
            <a:off x="6424348"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10</a:t>
            </a:r>
          </a:p>
        </p:txBody>
      </p:sp>
      <p:sp>
        <p:nvSpPr>
          <p:cNvPr id="125" name="Oval 124"/>
          <p:cNvSpPr/>
          <p:nvPr/>
        </p:nvSpPr>
        <p:spPr>
          <a:xfrm>
            <a:off x="5304166"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9</a:t>
            </a:r>
          </a:p>
        </p:txBody>
      </p:sp>
      <p:sp>
        <p:nvSpPr>
          <p:cNvPr id="100" name="Oval 99"/>
          <p:cNvSpPr/>
          <p:nvPr/>
        </p:nvSpPr>
        <p:spPr>
          <a:xfrm>
            <a:off x="2790125" y="2345979"/>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2</a:t>
            </a:r>
          </a:p>
        </p:txBody>
      </p:sp>
      <p:sp>
        <p:nvSpPr>
          <p:cNvPr id="104" name="Oval 103"/>
          <p:cNvSpPr/>
          <p:nvPr/>
        </p:nvSpPr>
        <p:spPr>
          <a:xfrm>
            <a:off x="4019643" y="2345979"/>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3</a:t>
            </a:r>
          </a:p>
        </p:txBody>
      </p:sp>
      <p:sp>
        <p:nvSpPr>
          <p:cNvPr id="106" name="Oval 105"/>
          <p:cNvSpPr/>
          <p:nvPr/>
        </p:nvSpPr>
        <p:spPr>
          <a:xfrm>
            <a:off x="5255214" y="2343718"/>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4</a:t>
            </a:r>
          </a:p>
        </p:txBody>
      </p:sp>
      <p:sp>
        <p:nvSpPr>
          <p:cNvPr id="108" name="Oval 107"/>
          <p:cNvSpPr/>
          <p:nvPr/>
        </p:nvSpPr>
        <p:spPr>
          <a:xfrm>
            <a:off x="6424347" y="2343718"/>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5</a:t>
            </a:r>
          </a:p>
        </p:txBody>
      </p:sp>
      <p:sp>
        <p:nvSpPr>
          <p:cNvPr id="138" name="Oval 137"/>
          <p:cNvSpPr/>
          <p:nvPr/>
        </p:nvSpPr>
        <p:spPr>
          <a:xfrm>
            <a:off x="1600200" y="2352675"/>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1</a:t>
            </a:r>
          </a:p>
        </p:txBody>
      </p:sp>
      <p:cxnSp>
        <p:nvCxnSpPr>
          <p:cNvPr id="181" name="Straight Arrow Connector 180"/>
          <p:cNvCxnSpPr>
            <a:stCxn id="180" idx="3"/>
            <a:endCxn id="122" idx="6"/>
          </p:cNvCxnSpPr>
          <p:nvPr/>
        </p:nvCxnSpPr>
        <p:spPr>
          <a:xfrm flipH="1">
            <a:off x="8109791" y="5709209"/>
            <a:ext cx="779641" cy="1029"/>
          </a:xfrm>
          <a:prstGeom prst="straightConnector1">
            <a:avLst/>
          </a:prstGeom>
          <a:ln w="17780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82" name="Straight Arrow Connector 181"/>
          <p:cNvCxnSpPr>
            <a:stCxn id="180" idx="3"/>
            <a:endCxn id="122" idx="6"/>
          </p:cNvCxnSpPr>
          <p:nvPr/>
        </p:nvCxnSpPr>
        <p:spPr>
          <a:xfrm flipH="1">
            <a:off x="8109791" y="5709209"/>
            <a:ext cx="779641" cy="1029"/>
          </a:xfrm>
          <a:prstGeom prst="straightConnector1">
            <a:avLst/>
          </a:prstGeom>
          <a:ln w="9525"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80" name="Pentagon 41"/>
          <p:cNvSpPr/>
          <p:nvPr/>
        </p:nvSpPr>
        <p:spPr>
          <a:xfrm>
            <a:off x="8766613" y="5578018"/>
            <a:ext cx="122819" cy="262382"/>
          </a:xfrm>
          <a:prstGeom prst="rect">
            <a:avLst/>
          </a:prstGeom>
          <a:solidFill>
            <a:schemeClr val="tx1">
              <a:lumMod val="50000"/>
              <a:lumOff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sz="2000" b="1" dirty="0"/>
          </a:p>
        </p:txBody>
      </p:sp>
    </p:spTree>
    <p:extLst>
      <p:ext uri="{BB962C8B-B14F-4D97-AF65-F5344CB8AC3E}">
        <p14:creationId xmlns:p14="http://schemas.microsoft.com/office/powerpoint/2010/main" val="28070400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HYPOTHESIS TESTING</a:t>
            </a:r>
          </a:p>
        </p:txBody>
      </p:sp>
      <p:graphicFrame>
        <p:nvGraphicFramePr>
          <p:cNvPr id="7" name="Table 6"/>
          <p:cNvGraphicFramePr>
            <a:graphicFrameLocks noGrp="1"/>
          </p:cNvGraphicFramePr>
          <p:nvPr/>
        </p:nvGraphicFramePr>
        <p:xfrm>
          <a:off x="419912" y="1086256"/>
          <a:ext cx="7657287" cy="3684270"/>
        </p:xfrm>
        <a:graphic>
          <a:graphicData uri="http://schemas.openxmlformats.org/drawingml/2006/table">
            <a:tbl>
              <a:tblPr firstRow="1" firstCol="1">
                <a:tableStyleId>{8EC20E35-A176-4012-BC5E-935CFFF8708E}</a:tableStyleId>
              </a:tblPr>
              <a:tblGrid>
                <a:gridCol w="2552429">
                  <a:extLst>
                    <a:ext uri="{9D8B030D-6E8A-4147-A177-3AD203B41FA5}">
                      <a16:colId xmlns:a16="http://schemas.microsoft.com/office/drawing/2014/main" val="20000"/>
                    </a:ext>
                  </a:extLst>
                </a:gridCol>
                <a:gridCol w="2552429">
                  <a:extLst>
                    <a:ext uri="{9D8B030D-6E8A-4147-A177-3AD203B41FA5}">
                      <a16:colId xmlns:a16="http://schemas.microsoft.com/office/drawing/2014/main" val="20001"/>
                    </a:ext>
                  </a:extLst>
                </a:gridCol>
                <a:gridCol w="2552429">
                  <a:extLst>
                    <a:ext uri="{9D8B030D-6E8A-4147-A177-3AD203B41FA5}">
                      <a16:colId xmlns:a16="http://schemas.microsoft.com/office/drawing/2014/main" val="20002"/>
                    </a:ext>
                  </a:extLst>
                </a:gridCol>
              </a:tblGrid>
              <a:tr h="381000">
                <a:tc>
                  <a:txBody>
                    <a:bodyPr/>
                    <a:lstStyle/>
                    <a:p>
                      <a:pPr algn="ctr"/>
                      <a:endParaRPr lang="en-GB" dirty="0"/>
                    </a:p>
                  </a:txBody>
                  <a:tcPr anchor="ctr"/>
                </a:tc>
                <a:tc>
                  <a:txBody>
                    <a:bodyPr/>
                    <a:lstStyle/>
                    <a:p>
                      <a:pPr algn="ctr"/>
                      <a:r>
                        <a:rPr lang="en-GB" dirty="0"/>
                        <a:t>Categorical</a:t>
                      </a:r>
                    </a:p>
                  </a:txBody>
                  <a:tcPr anchor="ctr"/>
                </a:tc>
                <a:tc>
                  <a:txBody>
                    <a:bodyPr/>
                    <a:lstStyle/>
                    <a:p>
                      <a:pPr algn="ctr"/>
                      <a:r>
                        <a:rPr lang="en-GB" dirty="0"/>
                        <a:t>Scalar</a:t>
                      </a:r>
                    </a:p>
                  </a:txBody>
                  <a:tcPr anchor="ctr"/>
                </a:tc>
                <a:extLst>
                  <a:ext uri="{0D108BD9-81ED-4DB2-BD59-A6C34878D82A}">
                    <a16:rowId xmlns:a16="http://schemas.microsoft.com/office/drawing/2014/main" val="10000"/>
                  </a:ext>
                </a:extLst>
              </a:tr>
              <a:tr h="1047750">
                <a:tc>
                  <a:txBody>
                    <a:bodyPr/>
                    <a:lstStyle/>
                    <a:p>
                      <a:pPr algn="ctr"/>
                      <a:r>
                        <a:rPr lang="en-GB" b="0" dirty="0"/>
                        <a:t>Inference for </a:t>
                      </a:r>
                    </a:p>
                    <a:p>
                      <a:pPr algn="ctr"/>
                      <a:r>
                        <a:rPr lang="en-GB" sz="2400" dirty="0"/>
                        <a:t>One</a:t>
                      </a:r>
                      <a:r>
                        <a:rPr lang="en-GB" sz="2400" baseline="0" dirty="0"/>
                        <a:t> group</a:t>
                      </a:r>
                      <a:endParaRPr lang="en-GB" sz="2400" dirty="0"/>
                    </a:p>
                  </a:txBody>
                  <a:tcPr anchor="ctr"/>
                </a:tc>
                <a:tc>
                  <a:txBody>
                    <a:bodyPr/>
                    <a:lstStyle/>
                    <a:p>
                      <a:pPr algn="ctr"/>
                      <a:r>
                        <a:rPr lang="en-GB" sz="3200" b="1" dirty="0">
                          <a:solidFill>
                            <a:schemeClr val="bg1">
                              <a:lumMod val="85000"/>
                            </a:schemeClr>
                          </a:solidFill>
                        </a:rPr>
                        <a:t>Z Test</a:t>
                      </a:r>
                    </a:p>
                    <a:p>
                      <a:pPr algn="ctr"/>
                      <a:r>
                        <a:rPr lang="en-GB" sz="1800" dirty="0">
                          <a:solidFill>
                            <a:schemeClr val="bg1">
                              <a:lumMod val="85000"/>
                            </a:schemeClr>
                          </a:solidFill>
                        </a:rPr>
                        <a:t>for proportion</a:t>
                      </a:r>
                    </a:p>
                  </a:txBody>
                  <a:tcPr anchor="ctr"/>
                </a:tc>
                <a:tc>
                  <a:txBody>
                    <a:bodyPr/>
                    <a:lstStyle/>
                    <a:p>
                      <a:pPr algn="ctr"/>
                      <a:r>
                        <a:rPr lang="en-GB" sz="3200" b="1" dirty="0">
                          <a:solidFill>
                            <a:schemeClr val="bg1">
                              <a:lumMod val="85000"/>
                            </a:schemeClr>
                          </a:solidFill>
                        </a:rPr>
                        <a:t>t Test</a:t>
                      </a:r>
                    </a:p>
                    <a:p>
                      <a:pPr algn="ctr"/>
                      <a:r>
                        <a:rPr lang="en-GB" sz="1800" dirty="0">
                          <a:solidFill>
                            <a:schemeClr val="bg1">
                              <a:lumMod val="85000"/>
                            </a:schemeClr>
                          </a:solidFill>
                        </a:rPr>
                        <a:t>for mean</a:t>
                      </a:r>
                      <a:endParaRPr lang="en-GB" sz="2000" dirty="0">
                        <a:solidFill>
                          <a:schemeClr val="bg1">
                            <a:lumMod val="85000"/>
                          </a:schemeClr>
                        </a:solidFill>
                      </a:endParaRPr>
                    </a:p>
                  </a:txBody>
                  <a:tcPr anchor="ctr"/>
                </a:tc>
                <a:extLst>
                  <a:ext uri="{0D108BD9-81ED-4DB2-BD59-A6C34878D82A}">
                    <a16:rowId xmlns:a16="http://schemas.microsoft.com/office/drawing/2014/main" val="10001"/>
                  </a:ext>
                </a:extLst>
              </a:tr>
              <a:tr h="1127760">
                <a:tc>
                  <a:txBody>
                    <a:bodyPr/>
                    <a:lstStyle/>
                    <a:p>
                      <a:pPr algn="ctr"/>
                      <a:r>
                        <a:rPr lang="en-GB" b="0" dirty="0"/>
                        <a:t>Comparing</a:t>
                      </a:r>
                    </a:p>
                    <a:p>
                      <a:pPr algn="ctr"/>
                      <a:r>
                        <a:rPr lang="en-GB" sz="2400" dirty="0"/>
                        <a:t>Two groups</a:t>
                      </a:r>
                    </a:p>
                  </a:txBody>
                  <a:tcPr anchor="ctr"/>
                </a:tc>
                <a:tc>
                  <a:txBody>
                    <a:bodyPr/>
                    <a:lstStyle/>
                    <a:p>
                      <a:pPr algn="ctr"/>
                      <a:r>
                        <a:rPr lang="en-GB" sz="3200" b="1" dirty="0"/>
                        <a:t>Z Test</a:t>
                      </a:r>
                    </a:p>
                    <a:p>
                      <a:pPr algn="ctr"/>
                      <a:r>
                        <a:rPr lang="en-GB" sz="1800" dirty="0">
                          <a:solidFill>
                            <a:schemeClr val="tx1">
                              <a:lumMod val="65000"/>
                              <a:lumOff val="35000"/>
                            </a:schemeClr>
                          </a:solidFill>
                        </a:rPr>
                        <a:t>for difference in</a:t>
                      </a:r>
                    </a:p>
                    <a:p>
                      <a:pPr algn="ctr"/>
                      <a:r>
                        <a:rPr lang="en-GB" sz="1800" dirty="0">
                          <a:solidFill>
                            <a:schemeClr val="tx1">
                              <a:lumMod val="65000"/>
                              <a:lumOff val="35000"/>
                            </a:schemeClr>
                          </a:solidFill>
                        </a:rPr>
                        <a:t>two proportions</a:t>
                      </a:r>
                    </a:p>
                  </a:txBody>
                  <a:tcPr anchor="ctr">
                    <a:solidFill>
                      <a:schemeClr val="bg1">
                        <a:lumMod val="85000"/>
                      </a:schemeClr>
                    </a:solidFill>
                  </a:tcPr>
                </a:tc>
                <a:tc>
                  <a:txBody>
                    <a:bodyPr/>
                    <a:lstStyle/>
                    <a:p>
                      <a:pPr algn="ctr"/>
                      <a:r>
                        <a:rPr lang="en-GB" sz="3200" b="1" dirty="0"/>
                        <a:t>t Test</a:t>
                      </a:r>
                    </a:p>
                    <a:p>
                      <a:pPr algn="ctr"/>
                      <a:r>
                        <a:rPr lang="en-GB" sz="1800" dirty="0">
                          <a:solidFill>
                            <a:schemeClr val="tx1">
                              <a:lumMod val="65000"/>
                              <a:lumOff val="35000"/>
                            </a:schemeClr>
                          </a:solidFill>
                        </a:rPr>
                        <a:t>for difference in</a:t>
                      </a:r>
                    </a:p>
                    <a:p>
                      <a:pPr algn="ctr"/>
                      <a:r>
                        <a:rPr lang="en-GB" sz="1800" dirty="0">
                          <a:solidFill>
                            <a:schemeClr val="tx1">
                              <a:lumMod val="65000"/>
                              <a:lumOff val="35000"/>
                            </a:schemeClr>
                          </a:solidFill>
                        </a:rPr>
                        <a:t>two means</a:t>
                      </a:r>
                    </a:p>
                  </a:txBody>
                  <a:tcPr anchor="ctr">
                    <a:solidFill>
                      <a:schemeClr val="bg1">
                        <a:lumMod val="85000"/>
                      </a:schemeClr>
                    </a:solidFill>
                  </a:tcPr>
                </a:tc>
                <a:extLst>
                  <a:ext uri="{0D108BD9-81ED-4DB2-BD59-A6C34878D82A}">
                    <a16:rowId xmlns:a16="http://schemas.microsoft.com/office/drawing/2014/main" val="10002"/>
                  </a:ext>
                </a:extLst>
              </a:tr>
              <a:tr h="1127760">
                <a:tc>
                  <a:txBody>
                    <a:bodyPr/>
                    <a:lstStyle/>
                    <a:p>
                      <a:pPr algn="ctr"/>
                      <a:r>
                        <a:rPr lang="en-GB" b="0" dirty="0"/>
                        <a:t>Comparing</a:t>
                      </a:r>
                    </a:p>
                    <a:p>
                      <a:pPr algn="ctr"/>
                      <a:r>
                        <a:rPr lang="en-GB" sz="2400" b="1" dirty="0"/>
                        <a:t>Many groups</a:t>
                      </a:r>
                    </a:p>
                  </a:txBody>
                  <a:tcPr anchor="ctr"/>
                </a:tc>
                <a:tc>
                  <a:txBody>
                    <a:bodyPr/>
                    <a:lstStyle/>
                    <a:p>
                      <a:pPr algn="ctr"/>
                      <a:r>
                        <a:rPr lang="el-GR" sz="3200" b="1" dirty="0"/>
                        <a:t>χ</a:t>
                      </a:r>
                      <a:r>
                        <a:rPr lang="en-GB" sz="3200" b="1" baseline="30000" dirty="0"/>
                        <a:t>2</a:t>
                      </a:r>
                    </a:p>
                    <a:p>
                      <a:pPr algn="ctr"/>
                      <a:r>
                        <a:rPr lang="en-GB" sz="1800" dirty="0">
                          <a:solidFill>
                            <a:schemeClr val="tx1">
                              <a:lumMod val="65000"/>
                              <a:lumOff val="35000"/>
                            </a:schemeClr>
                          </a:solidFill>
                        </a:rPr>
                        <a:t>for difference among several proportions</a:t>
                      </a:r>
                      <a:endParaRPr lang="en-GB" sz="1800" baseline="30000" dirty="0"/>
                    </a:p>
                  </a:txBody>
                  <a:tcPr anchor="ctr"/>
                </a:tc>
                <a:tc>
                  <a:txBody>
                    <a:bodyPr/>
                    <a:lstStyle/>
                    <a:p>
                      <a:pPr algn="ctr"/>
                      <a:r>
                        <a:rPr lang="en-GB" sz="3200" b="1" dirty="0"/>
                        <a:t>ANOVA</a:t>
                      </a:r>
                    </a:p>
                    <a:p>
                      <a:pPr algn="ctr"/>
                      <a:r>
                        <a:rPr lang="en-GB" sz="1800" dirty="0">
                          <a:solidFill>
                            <a:schemeClr val="tx1">
                              <a:lumMod val="65000"/>
                              <a:lumOff val="35000"/>
                            </a:schemeClr>
                          </a:solidFill>
                        </a:rPr>
                        <a:t>for comparing </a:t>
                      </a:r>
                    </a:p>
                    <a:p>
                      <a:pPr algn="ctr"/>
                      <a:r>
                        <a:rPr lang="en-GB" sz="1800" dirty="0">
                          <a:solidFill>
                            <a:schemeClr val="tx1">
                              <a:lumMod val="65000"/>
                              <a:lumOff val="35000"/>
                            </a:schemeClr>
                          </a:solidFill>
                        </a:rPr>
                        <a:t>several means</a:t>
                      </a:r>
                    </a:p>
                  </a:txBody>
                  <a:tcPr anchor="ctr"/>
                </a:tc>
                <a:extLst>
                  <a:ext uri="{0D108BD9-81ED-4DB2-BD59-A6C34878D82A}">
                    <a16:rowId xmlns:a16="http://schemas.microsoft.com/office/drawing/2014/main" val="10003"/>
                  </a:ext>
                </a:extLst>
              </a:tr>
            </a:tbl>
          </a:graphicData>
        </a:graphic>
      </p:graphicFrame>
      <p:sp>
        <p:nvSpPr>
          <p:cNvPr id="8" name="TextBox 7"/>
          <p:cNvSpPr txBox="1"/>
          <p:nvPr/>
        </p:nvSpPr>
        <p:spPr>
          <a:xfrm>
            <a:off x="2957657" y="4724400"/>
            <a:ext cx="5119543" cy="338554"/>
          </a:xfrm>
          <a:prstGeom prst="rect">
            <a:avLst/>
          </a:prstGeom>
          <a:noFill/>
        </p:spPr>
        <p:txBody>
          <a:bodyPr wrap="none" rtlCol="0">
            <a:spAutoFit/>
          </a:bodyPr>
          <a:lstStyle/>
          <a:p>
            <a:r>
              <a:rPr lang="en-GB" sz="1600" dirty="0">
                <a:solidFill>
                  <a:schemeClr val="tx1">
                    <a:lumMod val="65000"/>
                    <a:lumOff val="35000"/>
                  </a:schemeClr>
                </a:solidFill>
              </a:rPr>
              <a:t>N.B.  This is only a subset of numerous statistical techniques</a:t>
            </a:r>
          </a:p>
        </p:txBody>
      </p:sp>
      <p:sp>
        <p:nvSpPr>
          <p:cNvPr id="9" name="Rounded Rectangle 8"/>
          <p:cNvSpPr/>
          <p:nvPr/>
        </p:nvSpPr>
        <p:spPr>
          <a:xfrm>
            <a:off x="3190672" y="1580744"/>
            <a:ext cx="2133600" cy="838200"/>
          </a:xfrm>
          <a:prstGeom prst="roundRect">
            <a:avLst/>
          </a:prstGeom>
          <a:noFill/>
          <a:ln w="762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ounded Rectangle 5"/>
          <p:cNvSpPr/>
          <p:nvPr/>
        </p:nvSpPr>
        <p:spPr>
          <a:xfrm>
            <a:off x="5715000" y="1580744"/>
            <a:ext cx="2133600" cy="838200"/>
          </a:xfrm>
          <a:prstGeom prst="roundRect">
            <a:avLst/>
          </a:prstGeom>
          <a:noFill/>
          <a:ln w="762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ounded Rectangle 10"/>
          <p:cNvSpPr/>
          <p:nvPr/>
        </p:nvSpPr>
        <p:spPr>
          <a:xfrm>
            <a:off x="5715000" y="2590800"/>
            <a:ext cx="2133600" cy="990600"/>
          </a:xfrm>
          <a:prstGeom prst="roundRect">
            <a:avLst/>
          </a:prstGeom>
          <a:noFill/>
          <a:ln w="762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031085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3" name="Text Box 3"/>
          <p:cNvSpPr txBox="1">
            <a:spLocks noChangeArrowheads="1"/>
          </p:cNvSpPr>
          <p:nvPr/>
        </p:nvSpPr>
        <p:spPr bwMode="auto">
          <a:xfrm>
            <a:off x="0" y="6503120"/>
            <a:ext cx="24597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1600" dirty="0">
                <a:solidFill>
                  <a:srgbClr val="333399"/>
                </a:solidFill>
              </a:rPr>
              <a:t>Scenario taken from Morris</a:t>
            </a:r>
            <a:endParaRPr lang="en-GB" altLang="en-US" sz="1600" dirty="0"/>
          </a:p>
        </p:txBody>
      </p:sp>
      <p:sp>
        <p:nvSpPr>
          <p:cNvPr id="394244" name="Text Box 4"/>
          <p:cNvSpPr txBox="1">
            <a:spLocks noChangeArrowheads="1"/>
          </p:cNvSpPr>
          <p:nvPr/>
        </p:nvSpPr>
        <p:spPr bwMode="auto">
          <a:xfrm>
            <a:off x="304800" y="838200"/>
            <a:ext cx="68580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2000" dirty="0"/>
              <a:t>We have data on wages of two samples of workers, both from large populations:-</a:t>
            </a:r>
          </a:p>
        </p:txBody>
      </p:sp>
      <p:graphicFrame>
        <p:nvGraphicFramePr>
          <p:cNvPr id="2" name="Table 1"/>
          <p:cNvGraphicFramePr>
            <a:graphicFrameLocks noGrp="1"/>
          </p:cNvGraphicFramePr>
          <p:nvPr>
            <p:extLst>
              <p:ext uri="{D42A27DB-BD31-4B8C-83A1-F6EECF244321}">
                <p14:modId xmlns:p14="http://schemas.microsoft.com/office/powerpoint/2010/main" val="1340130920"/>
              </p:ext>
            </p:extLst>
          </p:nvPr>
        </p:nvGraphicFramePr>
        <p:xfrm>
          <a:off x="838200" y="1905000"/>
          <a:ext cx="7427532" cy="1188720"/>
        </p:xfrm>
        <a:graphic>
          <a:graphicData uri="http://schemas.openxmlformats.org/drawingml/2006/table">
            <a:tbl>
              <a:tblPr firstRow="1" firstCol="1" bandRow="1">
                <a:tableStyleId>{5C22544A-7EE6-4342-B048-85BDC9FD1C3A}</a:tableStyleId>
              </a:tblPr>
              <a:tblGrid>
                <a:gridCol w="2438400">
                  <a:extLst>
                    <a:ext uri="{9D8B030D-6E8A-4147-A177-3AD203B41FA5}">
                      <a16:colId xmlns:a16="http://schemas.microsoft.com/office/drawing/2014/main" val="20000"/>
                    </a:ext>
                  </a:extLst>
                </a:gridCol>
                <a:gridCol w="1663044">
                  <a:extLst>
                    <a:ext uri="{9D8B030D-6E8A-4147-A177-3AD203B41FA5}">
                      <a16:colId xmlns:a16="http://schemas.microsoft.com/office/drawing/2014/main" val="20001"/>
                    </a:ext>
                  </a:extLst>
                </a:gridCol>
                <a:gridCol w="1663044">
                  <a:extLst>
                    <a:ext uri="{9D8B030D-6E8A-4147-A177-3AD203B41FA5}">
                      <a16:colId xmlns:a16="http://schemas.microsoft.com/office/drawing/2014/main" val="20002"/>
                    </a:ext>
                  </a:extLst>
                </a:gridCol>
                <a:gridCol w="1663044">
                  <a:extLst>
                    <a:ext uri="{9D8B030D-6E8A-4147-A177-3AD203B41FA5}">
                      <a16:colId xmlns:a16="http://schemas.microsoft.com/office/drawing/2014/main" val="20003"/>
                    </a:ext>
                  </a:extLst>
                </a:gridCol>
              </a:tblGrid>
              <a:tr h="396240">
                <a:tc>
                  <a:txBody>
                    <a:bodyPr/>
                    <a:lstStyle/>
                    <a:p>
                      <a:endParaRPr lang="en-GB" sz="2000" dirty="0"/>
                    </a:p>
                  </a:txBody>
                  <a:tcPr/>
                </a:tc>
                <a:tc>
                  <a:txBody>
                    <a:bodyPr/>
                    <a:lstStyle/>
                    <a:p>
                      <a:pPr algn="ctr"/>
                      <a:r>
                        <a:rPr lang="en-GB" sz="2000" dirty="0"/>
                        <a:t>Mean</a:t>
                      </a:r>
                    </a:p>
                  </a:txBody>
                  <a:tcPr/>
                </a:tc>
                <a:tc>
                  <a:txBody>
                    <a:bodyPr/>
                    <a:lstStyle/>
                    <a:p>
                      <a:pPr algn="ctr"/>
                      <a:r>
                        <a:rPr lang="en-GB" sz="2000" dirty="0"/>
                        <a:t>SD</a:t>
                      </a:r>
                    </a:p>
                  </a:txBody>
                  <a:tcPr/>
                </a:tc>
                <a:tc>
                  <a:txBody>
                    <a:bodyPr/>
                    <a:lstStyle/>
                    <a:p>
                      <a:pPr algn="ctr"/>
                      <a:r>
                        <a:rPr lang="en-GB" sz="2000" dirty="0"/>
                        <a:t>N</a:t>
                      </a:r>
                    </a:p>
                  </a:txBody>
                  <a:tcPr/>
                </a:tc>
                <a:extLst>
                  <a:ext uri="{0D108BD9-81ED-4DB2-BD59-A6C34878D82A}">
                    <a16:rowId xmlns:a16="http://schemas.microsoft.com/office/drawing/2014/main" val="10000"/>
                  </a:ext>
                </a:extLst>
              </a:tr>
              <a:tr h="396240">
                <a:tc>
                  <a:txBody>
                    <a:bodyPr/>
                    <a:lstStyle/>
                    <a:p>
                      <a:pPr marL="0" indent="0" algn="l">
                        <a:buAutoNum type="arabicPeriod"/>
                      </a:pPr>
                      <a:r>
                        <a:rPr lang="en-GB" sz="2000" dirty="0"/>
                        <a:t> Production</a:t>
                      </a:r>
                    </a:p>
                  </a:txBody>
                  <a:tcPr/>
                </a:tc>
                <a:tc>
                  <a:txBody>
                    <a:bodyPr/>
                    <a:lstStyle/>
                    <a:p>
                      <a:pPr algn="ctr"/>
                      <a:r>
                        <a:rPr lang="en-GB" sz="2000" dirty="0"/>
                        <a:t>£120</a:t>
                      </a:r>
                    </a:p>
                  </a:txBody>
                  <a:tcPr/>
                </a:tc>
                <a:tc>
                  <a:txBody>
                    <a:bodyPr/>
                    <a:lstStyle/>
                    <a:p>
                      <a:pPr algn="ctr"/>
                      <a:r>
                        <a:rPr lang="en-GB" sz="2000" dirty="0"/>
                        <a:t>£10</a:t>
                      </a:r>
                    </a:p>
                  </a:txBody>
                  <a:tcPr/>
                </a:tc>
                <a:tc>
                  <a:txBody>
                    <a:bodyPr/>
                    <a:lstStyle/>
                    <a:p>
                      <a:pPr algn="ctr"/>
                      <a:r>
                        <a:rPr lang="en-GB" sz="2000" dirty="0"/>
                        <a:t>30</a:t>
                      </a:r>
                    </a:p>
                  </a:txBody>
                  <a:tcPr/>
                </a:tc>
                <a:extLst>
                  <a:ext uri="{0D108BD9-81ED-4DB2-BD59-A6C34878D82A}">
                    <a16:rowId xmlns:a16="http://schemas.microsoft.com/office/drawing/2014/main" val="10001"/>
                  </a:ext>
                </a:extLst>
              </a:tr>
              <a:tr h="396240">
                <a:tc>
                  <a:txBody>
                    <a:bodyPr/>
                    <a:lstStyle/>
                    <a:p>
                      <a:pPr algn="l"/>
                      <a:r>
                        <a:rPr lang="en-GB" sz="2000" dirty="0"/>
                        <a:t>2. Maintenance</a:t>
                      </a:r>
                    </a:p>
                  </a:txBody>
                  <a:tcPr/>
                </a:tc>
                <a:tc>
                  <a:txBody>
                    <a:bodyPr/>
                    <a:lstStyle/>
                    <a:p>
                      <a:pPr algn="ctr"/>
                      <a:r>
                        <a:rPr lang="en-GB" sz="2000" dirty="0"/>
                        <a:t>£130</a:t>
                      </a:r>
                    </a:p>
                  </a:txBody>
                  <a:tcPr/>
                </a:tc>
                <a:tc>
                  <a:txBody>
                    <a:bodyPr/>
                    <a:lstStyle/>
                    <a:p>
                      <a:pPr algn="ctr"/>
                      <a:r>
                        <a:rPr lang="en-GB" sz="2000" dirty="0"/>
                        <a:t>£12</a:t>
                      </a:r>
                    </a:p>
                  </a:txBody>
                  <a:tcPr/>
                </a:tc>
                <a:tc>
                  <a:txBody>
                    <a:bodyPr/>
                    <a:lstStyle/>
                    <a:p>
                      <a:pPr algn="ctr"/>
                      <a:r>
                        <a:rPr lang="en-GB" sz="2000" dirty="0"/>
                        <a:t>50</a:t>
                      </a:r>
                    </a:p>
                  </a:txBody>
                  <a:tcPr/>
                </a:tc>
                <a:extLst>
                  <a:ext uri="{0D108BD9-81ED-4DB2-BD59-A6C34878D82A}">
                    <a16:rowId xmlns:a16="http://schemas.microsoft.com/office/drawing/2014/main" val="10002"/>
                  </a:ext>
                </a:extLst>
              </a:tr>
            </a:tbl>
          </a:graphicData>
        </a:graphic>
      </p:graphicFrame>
      <p:sp>
        <p:nvSpPr>
          <p:cNvPr id="3" name="Title 2"/>
          <p:cNvSpPr>
            <a:spLocks noGrp="1"/>
          </p:cNvSpPr>
          <p:nvPr>
            <p:ph type="title"/>
          </p:nvPr>
        </p:nvSpPr>
        <p:spPr/>
        <p:txBody>
          <a:bodyPr/>
          <a:lstStyle/>
          <a:p>
            <a:r>
              <a:rPr lang="en-GB" dirty="0"/>
              <a:t>Comparing two means</a:t>
            </a:r>
          </a:p>
        </p:txBody>
      </p:sp>
      <mc:AlternateContent xmlns:mc="http://schemas.openxmlformats.org/markup-compatibility/2006" xmlns:a14="http://schemas.microsoft.com/office/drawing/2010/main">
        <mc:Choice Requires="a14">
          <p:sp>
            <p:nvSpPr>
              <p:cNvPr id="9" name="Text Box 2"/>
              <p:cNvSpPr txBox="1">
                <a:spLocks noChangeArrowheads="1"/>
              </p:cNvSpPr>
              <p:nvPr/>
            </p:nvSpPr>
            <p:spPr bwMode="auto">
              <a:xfrm>
                <a:off x="381000" y="3657600"/>
                <a:ext cx="7620000" cy="1015663"/>
              </a:xfrm>
              <a:prstGeom prst="rect">
                <a:avLst/>
              </a:prstGeom>
              <a:noFill/>
              <a:ln>
                <a:noFill/>
              </a:ln>
              <a:effectLst/>
              <a:extLst>
                <a:ext uri="{909E8E84-426E-40DD-AFC4-6F175D3DCCD1}">
                  <a14:hiddenFill>
                    <a:solidFill>
                      <a:schemeClr val="accent1"/>
                    </a:solidFill>
                  </a14:hiddenFill>
                </a:ext>
                <a:ext uri="{91240B29-F687-4F45-9708-019B960494DF}">
                  <a14:hiddenLine w="12700">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r>
                  <a:rPr lang="en-GB" altLang="en-US" sz="2000" dirty="0">
                    <a:solidFill>
                      <a:schemeClr val="tx1"/>
                    </a:solidFill>
                  </a:rPr>
                  <a:t>Significance Level Required: 5%, i.e. </a:t>
                </a:r>
                <a14:m>
                  <m:oMath xmlns:m="http://schemas.openxmlformats.org/officeDocument/2006/math">
                    <m:r>
                      <a:rPr lang="en-GB" altLang="en-US" sz="2000" b="0" i="1" dirty="0" smtClean="0">
                        <a:solidFill>
                          <a:schemeClr val="tx1"/>
                        </a:solidFill>
                        <a:latin typeface="Cambria Math"/>
                        <a:sym typeface="Symbol" pitchFamily="18" charset="2"/>
                      </a:rPr>
                      <m:t>=</m:t>
                    </m:r>
                    <m:r>
                      <a:rPr lang="en-GB" altLang="en-US" sz="2000" b="0" i="1" dirty="0">
                        <a:solidFill>
                          <a:schemeClr val="tx1"/>
                        </a:solidFill>
                        <a:latin typeface="Cambria Math"/>
                        <a:sym typeface="Symbol" pitchFamily="18" charset="2"/>
                      </a:rPr>
                      <m:t>0.05</m:t>
                    </m:r>
                  </m:oMath>
                </a14:m>
                <a:endParaRPr lang="en-GB" altLang="en-US" sz="2000" dirty="0">
                  <a:solidFill>
                    <a:schemeClr val="tx1"/>
                  </a:solidFill>
                  <a:sym typeface="Symbol" pitchFamily="18" charset="2"/>
                </a:endParaRPr>
              </a:p>
              <a:p>
                <a:endParaRPr lang="en-GB" altLang="en-US" sz="2000" dirty="0">
                  <a:sym typeface="Symbol" pitchFamily="18" charset="2"/>
                </a:endParaRPr>
              </a:p>
              <a:p>
                <a:r>
                  <a:rPr lang="en-GB" altLang="en-US" sz="2000" dirty="0">
                    <a:sym typeface="Symbol" pitchFamily="18" charset="2"/>
                  </a:rPr>
                  <a:t>Question: Are the mean values significantly different from each other?</a:t>
                </a:r>
              </a:p>
            </p:txBody>
          </p:sp>
        </mc:Choice>
        <mc:Fallback xmlns="">
          <p:sp>
            <p:nvSpPr>
              <p:cNvPr id="9" name="Text Box 2"/>
              <p:cNvSpPr txBox="1">
                <a:spLocks noRot="1" noChangeAspect="1" noMove="1" noResize="1" noEditPoints="1" noAdjustHandles="1" noChangeArrowheads="1" noChangeShapeType="1" noTextEdit="1"/>
              </p:cNvSpPr>
              <p:nvPr/>
            </p:nvSpPr>
            <p:spPr bwMode="auto">
              <a:xfrm>
                <a:off x="381000" y="3657600"/>
                <a:ext cx="7620000" cy="1015663"/>
              </a:xfrm>
              <a:prstGeom prst="rect">
                <a:avLst/>
              </a:prstGeom>
              <a:blipFill>
                <a:blip r:embed="rId3"/>
                <a:stretch>
                  <a:fillRect l="-880" t="-2994" b="-958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noFill/>
                  </a:rPr>
                  <a:t> </a:t>
                </a:r>
              </a:p>
            </p:txBody>
          </p:sp>
        </mc:Fallback>
      </mc:AlternateContent>
    </p:spTree>
    <p:extLst>
      <p:ext uri="{BB962C8B-B14F-4D97-AF65-F5344CB8AC3E}">
        <p14:creationId xmlns:p14="http://schemas.microsoft.com/office/powerpoint/2010/main" val="3886278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a:t>Comparing two means</a:t>
            </a:r>
          </a:p>
        </p:txBody>
      </p:sp>
      <mc:AlternateContent xmlns:mc="http://schemas.openxmlformats.org/markup-compatibility/2006" xmlns:a14="http://schemas.microsoft.com/office/drawing/2010/main">
        <mc:Choice Requires="a14">
          <p:graphicFrame>
            <p:nvGraphicFramePr>
              <p:cNvPr id="7" name="Table 6"/>
              <p:cNvGraphicFramePr>
                <a:graphicFrameLocks noGrp="1"/>
              </p:cNvGraphicFramePr>
              <p:nvPr/>
            </p:nvGraphicFramePr>
            <p:xfrm>
              <a:off x="5715000" y="22328"/>
              <a:ext cx="3408966" cy="944880"/>
            </p:xfrm>
            <a:graphic>
              <a:graphicData uri="http://schemas.openxmlformats.org/drawingml/2006/table">
                <a:tbl>
                  <a:tblPr firstRow="1" firstCol="1" bandRow="1">
                    <a:tableStyleId>{5C22544A-7EE6-4342-B048-85BDC9FD1C3A}</a:tableStyleId>
                  </a:tblPr>
                  <a:tblGrid>
                    <a:gridCol w="1629972">
                      <a:extLst>
                        <a:ext uri="{9D8B030D-6E8A-4147-A177-3AD203B41FA5}">
                          <a16:colId xmlns:a16="http://schemas.microsoft.com/office/drawing/2014/main" val="20000"/>
                        </a:ext>
                      </a:extLst>
                    </a:gridCol>
                    <a:gridCol w="686304">
                      <a:extLst>
                        <a:ext uri="{9D8B030D-6E8A-4147-A177-3AD203B41FA5}">
                          <a16:colId xmlns:a16="http://schemas.microsoft.com/office/drawing/2014/main" val="20001"/>
                        </a:ext>
                      </a:extLst>
                    </a:gridCol>
                    <a:gridCol w="499692">
                      <a:extLst>
                        <a:ext uri="{9D8B030D-6E8A-4147-A177-3AD203B41FA5}">
                          <a16:colId xmlns:a16="http://schemas.microsoft.com/office/drawing/2014/main" val="20002"/>
                        </a:ext>
                      </a:extLst>
                    </a:gridCol>
                    <a:gridCol w="592998">
                      <a:extLst>
                        <a:ext uri="{9D8B030D-6E8A-4147-A177-3AD203B41FA5}">
                          <a16:colId xmlns:a16="http://schemas.microsoft.com/office/drawing/2014/main" val="20003"/>
                        </a:ext>
                      </a:extLst>
                    </a:gridCol>
                  </a:tblGrid>
                  <a:tr h="335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lang="en-GB" altLang="en-US" sz="1600" b="1" i="1" smtClean="0">
                                        <a:latin typeface="Cambria Math" panose="02040503050406030204" pitchFamily="18" charset="0"/>
                                      </a:rPr>
                                    </m:ctrlPr>
                                  </m:sSubPr>
                                  <m:e>
                                    <m:r>
                                      <a:rPr lang="en-GB" altLang="en-US" sz="1600" b="1" i="1">
                                        <a:latin typeface="Cambria Math"/>
                                      </a:rPr>
                                      <m:t>𝑯</m:t>
                                    </m:r>
                                  </m:e>
                                  <m:sub>
                                    <m:r>
                                      <a:rPr lang="en-GB" altLang="en-US" sz="1600" b="1" i="1">
                                        <a:latin typeface="Cambria Math"/>
                                      </a:rPr>
                                      <m:t>𝟎</m:t>
                                    </m:r>
                                  </m:sub>
                                </m:sSub>
                                <m:r>
                                  <a:rPr lang="en-GB" altLang="en-US" sz="1600" b="1" i="1">
                                    <a:latin typeface="Cambria Math"/>
                                  </a:rPr>
                                  <m:t>:</m:t>
                                </m:r>
                                <m:sSub>
                                  <m:sSubPr>
                                    <m:ctrlPr>
                                      <a:rPr lang="en-GB" altLang="en-US" sz="1600" b="1" i="1">
                                        <a:latin typeface="Cambria Math" panose="02040503050406030204" pitchFamily="18" charset="0"/>
                                      </a:rPr>
                                    </m:ctrlPr>
                                  </m:sSubPr>
                                  <m:e>
                                    <m:r>
                                      <a:rPr lang="en-GB" altLang="en-US" sz="1600" b="1" i="1">
                                        <a:latin typeface="Cambria Math"/>
                                        <a:ea typeface="Cambria Math"/>
                                      </a:rPr>
                                      <m:t>𝝁</m:t>
                                    </m:r>
                                  </m:e>
                                  <m:sub>
                                    <m:r>
                                      <a:rPr lang="en-GB" altLang="en-US" sz="1600" b="1" i="1">
                                        <a:latin typeface="Cambria Math"/>
                                      </a:rPr>
                                      <m:t>𝟏</m:t>
                                    </m:r>
                                  </m:sub>
                                </m:sSub>
                                <m:r>
                                  <a:rPr lang="en-GB" altLang="en-US" sz="1600" b="1" i="1">
                                    <a:latin typeface="Cambria Math"/>
                                  </a:rPr>
                                  <m:t>=</m:t>
                                </m:r>
                                <m:sSub>
                                  <m:sSubPr>
                                    <m:ctrlPr>
                                      <a:rPr lang="en-GB" altLang="en-US" sz="1600" b="1" i="1">
                                        <a:latin typeface="Cambria Math" panose="02040503050406030204" pitchFamily="18" charset="0"/>
                                      </a:rPr>
                                    </m:ctrlPr>
                                  </m:sSubPr>
                                  <m:e>
                                    <m:r>
                                      <a:rPr lang="en-GB" altLang="en-US" sz="1600" b="1" i="1">
                                        <a:latin typeface="Cambria Math"/>
                                        <a:ea typeface="Cambria Math"/>
                                      </a:rPr>
                                      <m:t>𝝁</m:t>
                                    </m:r>
                                  </m:e>
                                  <m:sub>
                                    <m:r>
                                      <a:rPr lang="en-GB" altLang="en-US" sz="1600" b="1" i="1">
                                        <a:latin typeface="Cambria Math"/>
                                        <a:ea typeface="Cambria Math"/>
                                      </a:rPr>
                                      <m:t>𝟐</m:t>
                                    </m:r>
                                  </m:sub>
                                </m:sSub>
                              </m:oMath>
                            </m:oMathPara>
                          </a14:m>
                          <a:endParaRPr lang="en-GB" sz="1600" b="1" dirty="0"/>
                        </a:p>
                      </a:txBody>
                      <a:tcPr anchor="ctr"/>
                    </a:tc>
                    <a:tc>
                      <a:txBody>
                        <a:bodyPr/>
                        <a:lstStyle/>
                        <a:p>
                          <a:pPr algn="ctr"/>
                          <a:r>
                            <a:rPr lang="en-GB" sz="1400" dirty="0"/>
                            <a:t>Mean</a:t>
                          </a:r>
                        </a:p>
                      </a:txBody>
                      <a:tcPr anchor="ctr"/>
                    </a:tc>
                    <a:tc>
                      <a:txBody>
                        <a:bodyPr/>
                        <a:lstStyle/>
                        <a:p>
                          <a:pPr algn="ctr"/>
                          <a:r>
                            <a:rPr lang="en-GB" sz="1400" dirty="0"/>
                            <a:t>SD</a:t>
                          </a:r>
                        </a:p>
                      </a:txBody>
                      <a:tcPr anchor="ctr"/>
                    </a:tc>
                    <a:tc>
                      <a:txBody>
                        <a:bodyPr/>
                        <a:lstStyle/>
                        <a:p>
                          <a:pPr algn="ctr"/>
                          <a:r>
                            <a:rPr lang="en-GB" sz="1400" dirty="0"/>
                            <a:t>N</a:t>
                          </a:r>
                        </a:p>
                      </a:txBody>
                      <a:tcPr anchor="ctr"/>
                    </a:tc>
                    <a:extLst>
                      <a:ext uri="{0D108BD9-81ED-4DB2-BD59-A6C34878D82A}">
                        <a16:rowId xmlns:a16="http://schemas.microsoft.com/office/drawing/2014/main" val="10000"/>
                      </a:ext>
                    </a:extLst>
                  </a:tr>
                  <a:tr h="304800">
                    <a:tc>
                      <a:txBody>
                        <a:bodyPr/>
                        <a:lstStyle/>
                        <a:p>
                          <a:pPr marL="0" indent="0" algn="l">
                            <a:buAutoNum type="arabicPeriod"/>
                          </a:pPr>
                          <a:r>
                            <a:rPr lang="en-GB" sz="1400" dirty="0"/>
                            <a:t> Production</a:t>
                          </a:r>
                        </a:p>
                      </a:txBody>
                      <a:tcPr/>
                    </a:tc>
                    <a:tc>
                      <a:txBody>
                        <a:bodyPr/>
                        <a:lstStyle/>
                        <a:p>
                          <a:pPr algn="ctr"/>
                          <a:r>
                            <a:rPr lang="en-GB" sz="1400" b="1" dirty="0"/>
                            <a:t>£120</a:t>
                          </a:r>
                        </a:p>
                      </a:txBody>
                      <a:tcPr/>
                    </a:tc>
                    <a:tc>
                      <a:txBody>
                        <a:bodyPr/>
                        <a:lstStyle/>
                        <a:p>
                          <a:pPr algn="ctr"/>
                          <a:r>
                            <a:rPr lang="en-GB" sz="1400" b="1" dirty="0"/>
                            <a:t>£10</a:t>
                          </a:r>
                        </a:p>
                      </a:txBody>
                      <a:tcPr/>
                    </a:tc>
                    <a:tc>
                      <a:txBody>
                        <a:bodyPr/>
                        <a:lstStyle/>
                        <a:p>
                          <a:pPr algn="ctr"/>
                          <a:r>
                            <a:rPr lang="en-GB" sz="1400" b="1" dirty="0"/>
                            <a:t>30</a:t>
                          </a:r>
                        </a:p>
                      </a:txBody>
                      <a:tcPr/>
                    </a:tc>
                    <a:extLst>
                      <a:ext uri="{0D108BD9-81ED-4DB2-BD59-A6C34878D82A}">
                        <a16:rowId xmlns:a16="http://schemas.microsoft.com/office/drawing/2014/main" val="10001"/>
                      </a:ext>
                    </a:extLst>
                  </a:tr>
                  <a:tr h="304800">
                    <a:tc>
                      <a:txBody>
                        <a:bodyPr/>
                        <a:lstStyle/>
                        <a:p>
                          <a:pPr algn="l"/>
                          <a:r>
                            <a:rPr lang="en-GB" sz="1400" dirty="0"/>
                            <a:t>2. Maintenance</a:t>
                          </a:r>
                        </a:p>
                      </a:txBody>
                      <a:tcPr/>
                    </a:tc>
                    <a:tc>
                      <a:txBody>
                        <a:bodyPr/>
                        <a:lstStyle/>
                        <a:p>
                          <a:pPr algn="ctr"/>
                          <a:r>
                            <a:rPr lang="en-GB" sz="1400" b="1" dirty="0"/>
                            <a:t>£130</a:t>
                          </a:r>
                        </a:p>
                      </a:txBody>
                      <a:tcPr/>
                    </a:tc>
                    <a:tc>
                      <a:txBody>
                        <a:bodyPr/>
                        <a:lstStyle/>
                        <a:p>
                          <a:pPr algn="ctr"/>
                          <a:r>
                            <a:rPr lang="en-GB" sz="1400" b="1" dirty="0"/>
                            <a:t>£12</a:t>
                          </a:r>
                        </a:p>
                      </a:txBody>
                      <a:tcPr/>
                    </a:tc>
                    <a:tc>
                      <a:txBody>
                        <a:bodyPr/>
                        <a:lstStyle/>
                        <a:p>
                          <a:pPr algn="ctr"/>
                          <a:r>
                            <a:rPr lang="en-GB" sz="1400" b="1" dirty="0"/>
                            <a:t>50</a:t>
                          </a:r>
                        </a:p>
                      </a:txBody>
                      <a:tcPr/>
                    </a:tc>
                    <a:extLst>
                      <a:ext uri="{0D108BD9-81ED-4DB2-BD59-A6C34878D82A}">
                        <a16:rowId xmlns:a16="http://schemas.microsoft.com/office/drawing/2014/main" val="10002"/>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3509546086"/>
                  </p:ext>
                </p:extLst>
              </p:nvPr>
            </p:nvGraphicFramePr>
            <p:xfrm>
              <a:off x="5715000" y="22328"/>
              <a:ext cx="3408966" cy="944880"/>
            </p:xfrm>
            <a:graphic>
              <a:graphicData uri="http://schemas.openxmlformats.org/drawingml/2006/table">
                <a:tbl>
                  <a:tblPr firstRow="1" firstCol="1" bandRow="1">
                    <a:tableStyleId>{5C22544A-7EE6-4342-B048-85BDC9FD1C3A}</a:tableStyleId>
                  </a:tblPr>
                  <a:tblGrid>
                    <a:gridCol w="1629972"/>
                    <a:gridCol w="686304"/>
                    <a:gridCol w="499692"/>
                    <a:gridCol w="592998"/>
                  </a:tblGrid>
                  <a:tr h="335280">
                    <a:tc>
                      <a:txBody>
                        <a:bodyPr/>
                        <a:lstStyle/>
                        <a:p>
                          <a:endParaRPr lang="en-US"/>
                        </a:p>
                      </a:txBody>
                      <a:tcPr anchor="ctr">
                        <a:blipFill rotWithShape="1">
                          <a:blip r:embed="rId3"/>
                          <a:stretch>
                            <a:fillRect l="-375" t="-1818" r="-109363" b="-200000"/>
                          </a:stretch>
                        </a:blipFill>
                      </a:tcPr>
                    </a:tc>
                    <a:tc>
                      <a:txBody>
                        <a:bodyPr/>
                        <a:lstStyle/>
                        <a:p>
                          <a:pPr algn="ctr"/>
                          <a:r>
                            <a:rPr lang="en-GB" sz="1400" dirty="0" smtClean="0"/>
                            <a:t>Mean</a:t>
                          </a:r>
                          <a:endParaRPr lang="en-GB" sz="1400" dirty="0"/>
                        </a:p>
                      </a:txBody>
                      <a:tcPr anchor="ctr"/>
                    </a:tc>
                    <a:tc>
                      <a:txBody>
                        <a:bodyPr/>
                        <a:lstStyle/>
                        <a:p>
                          <a:pPr algn="ctr"/>
                          <a:r>
                            <a:rPr lang="en-GB" sz="1400" dirty="0" smtClean="0"/>
                            <a:t>SD</a:t>
                          </a:r>
                          <a:endParaRPr lang="en-GB" sz="1400" dirty="0"/>
                        </a:p>
                      </a:txBody>
                      <a:tcPr anchor="ctr"/>
                    </a:tc>
                    <a:tc>
                      <a:txBody>
                        <a:bodyPr/>
                        <a:lstStyle/>
                        <a:p>
                          <a:pPr algn="ctr"/>
                          <a:r>
                            <a:rPr lang="en-GB" sz="1400" dirty="0" smtClean="0"/>
                            <a:t>N</a:t>
                          </a:r>
                          <a:endParaRPr lang="en-GB" sz="1400" dirty="0"/>
                        </a:p>
                      </a:txBody>
                      <a:tcPr anchor="ctr"/>
                    </a:tc>
                  </a:tr>
                  <a:tr h="304800">
                    <a:tc>
                      <a:txBody>
                        <a:bodyPr/>
                        <a:lstStyle/>
                        <a:p>
                          <a:pPr marL="0" indent="0" algn="l">
                            <a:buAutoNum type="arabicPeriod"/>
                          </a:pPr>
                          <a:r>
                            <a:rPr lang="en-GB" sz="1400" dirty="0" smtClean="0"/>
                            <a:t> Production</a:t>
                          </a:r>
                          <a:endParaRPr lang="en-GB" sz="1400" dirty="0"/>
                        </a:p>
                      </a:txBody>
                      <a:tcPr/>
                    </a:tc>
                    <a:tc>
                      <a:txBody>
                        <a:bodyPr/>
                        <a:lstStyle/>
                        <a:p>
                          <a:pPr algn="ctr"/>
                          <a:r>
                            <a:rPr lang="en-GB" sz="1400" b="1" dirty="0" smtClean="0"/>
                            <a:t>£120</a:t>
                          </a:r>
                          <a:endParaRPr lang="en-GB" sz="1400" b="1" dirty="0"/>
                        </a:p>
                      </a:txBody>
                      <a:tcPr/>
                    </a:tc>
                    <a:tc>
                      <a:txBody>
                        <a:bodyPr/>
                        <a:lstStyle/>
                        <a:p>
                          <a:pPr algn="ctr"/>
                          <a:r>
                            <a:rPr lang="en-GB" sz="1400" b="1" dirty="0" smtClean="0"/>
                            <a:t>£10</a:t>
                          </a:r>
                          <a:endParaRPr lang="en-GB" sz="1400" b="1" dirty="0"/>
                        </a:p>
                      </a:txBody>
                      <a:tcPr/>
                    </a:tc>
                    <a:tc>
                      <a:txBody>
                        <a:bodyPr/>
                        <a:lstStyle/>
                        <a:p>
                          <a:pPr algn="ctr"/>
                          <a:r>
                            <a:rPr lang="en-GB" sz="1400" b="1" dirty="0" smtClean="0"/>
                            <a:t>30</a:t>
                          </a:r>
                          <a:endParaRPr lang="en-GB" sz="1400" b="1" dirty="0"/>
                        </a:p>
                      </a:txBody>
                      <a:tcPr/>
                    </a:tc>
                  </a:tr>
                  <a:tr h="304800">
                    <a:tc>
                      <a:txBody>
                        <a:bodyPr/>
                        <a:lstStyle/>
                        <a:p>
                          <a:pPr algn="l"/>
                          <a:r>
                            <a:rPr lang="en-GB" sz="1400" dirty="0" smtClean="0"/>
                            <a:t>2. Maintenance</a:t>
                          </a:r>
                          <a:endParaRPr lang="en-GB" sz="1400" dirty="0"/>
                        </a:p>
                      </a:txBody>
                      <a:tcPr/>
                    </a:tc>
                    <a:tc>
                      <a:txBody>
                        <a:bodyPr/>
                        <a:lstStyle/>
                        <a:p>
                          <a:pPr algn="ctr"/>
                          <a:r>
                            <a:rPr lang="en-GB" sz="1400" b="1" dirty="0" smtClean="0"/>
                            <a:t>£130</a:t>
                          </a:r>
                          <a:endParaRPr lang="en-GB" sz="1400" b="1" dirty="0"/>
                        </a:p>
                      </a:txBody>
                      <a:tcPr/>
                    </a:tc>
                    <a:tc>
                      <a:txBody>
                        <a:bodyPr/>
                        <a:lstStyle/>
                        <a:p>
                          <a:pPr algn="ctr"/>
                          <a:r>
                            <a:rPr lang="en-GB" sz="1400" b="1" dirty="0" smtClean="0"/>
                            <a:t>£12</a:t>
                          </a:r>
                          <a:endParaRPr lang="en-GB" sz="1400" b="1" dirty="0"/>
                        </a:p>
                      </a:txBody>
                      <a:tcPr/>
                    </a:tc>
                    <a:tc>
                      <a:txBody>
                        <a:bodyPr/>
                        <a:lstStyle/>
                        <a:p>
                          <a:pPr algn="ctr"/>
                          <a:r>
                            <a:rPr lang="en-GB" sz="1400" b="1" dirty="0" smtClean="0"/>
                            <a:t>50</a:t>
                          </a:r>
                          <a:endParaRPr lang="en-GB" sz="1400" b="1" dirty="0"/>
                        </a:p>
                      </a:txBody>
                      <a:tcPr/>
                    </a:tc>
                  </a:tr>
                </a:tbl>
              </a:graphicData>
            </a:graphic>
          </p:graphicFrame>
        </mc:Fallback>
      </mc:AlternateContent>
      <mc:AlternateContent xmlns:mc="http://schemas.openxmlformats.org/markup-compatibility/2006" xmlns:a14="http://schemas.microsoft.com/office/drawing/2010/main">
        <mc:Choice Requires="a14">
          <p:sp>
            <p:nvSpPr>
              <p:cNvPr id="13" name="TextBox 12"/>
              <p:cNvSpPr txBox="1"/>
              <p:nvPr/>
            </p:nvSpPr>
            <p:spPr>
              <a:xfrm>
                <a:off x="1447800" y="4188938"/>
                <a:ext cx="4267200" cy="1394741"/>
              </a:xfrm>
              <a:prstGeom prst="wedgeRectCallout">
                <a:avLst>
                  <a:gd name="adj1" fmla="val 7446"/>
                  <a:gd name="adj2" fmla="val 43351"/>
                </a:avLst>
              </a:prstGeom>
              <a:solidFill>
                <a:schemeClr val="accent1">
                  <a:lumMod val="20000"/>
                  <a:lumOff val="80000"/>
                </a:schemeClr>
              </a:solid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3600" b="0" i="1" smtClean="0">
                          <a:latin typeface="Cambria Math"/>
                          <a:ea typeface="Cambria Math"/>
                        </a:rPr>
                        <m:t>𝑍</m:t>
                      </m:r>
                      <m:r>
                        <a:rPr lang="en-GB" sz="3600" b="0" i="1" smtClean="0">
                          <a:latin typeface="Cambria Math"/>
                          <a:ea typeface="Cambria Math"/>
                        </a:rPr>
                        <m:t>=</m:t>
                      </m:r>
                      <m:f>
                        <m:fPr>
                          <m:ctrlPr>
                            <a:rPr lang="en-GB" sz="3600" i="1">
                              <a:latin typeface="Cambria Math" panose="02040503050406030204" pitchFamily="18" charset="0"/>
                              <a:ea typeface="Cambria Math"/>
                            </a:rPr>
                          </m:ctrlPr>
                        </m:fPr>
                        <m:num>
                          <m:acc>
                            <m:accPr>
                              <m:chr m:val="̅"/>
                              <m:ctrlPr>
                                <a:rPr lang="en-GB" sz="3600" i="1">
                                  <a:latin typeface="Cambria Math" panose="02040503050406030204" pitchFamily="18" charset="0"/>
                                  <a:ea typeface="Cambria Math"/>
                                </a:rPr>
                              </m:ctrlPr>
                            </m:accPr>
                            <m:e>
                              <m:r>
                                <a:rPr lang="en-GB" sz="3600" i="1">
                                  <a:latin typeface="Cambria Math"/>
                                  <a:ea typeface="Cambria Math"/>
                                </a:rPr>
                                <m:t>𝑥</m:t>
                              </m:r>
                            </m:e>
                          </m:acc>
                          <m:r>
                            <a:rPr lang="en-GB" sz="3600" i="1">
                              <a:latin typeface="Cambria Math"/>
                              <a:ea typeface="Cambria Math"/>
                            </a:rPr>
                            <m:t>−</m:t>
                          </m:r>
                          <m:r>
                            <a:rPr lang="en-GB" sz="3600" i="1">
                              <a:latin typeface="Cambria Math"/>
                              <a:ea typeface="Cambria Math"/>
                            </a:rPr>
                            <m:t>𝜇</m:t>
                          </m:r>
                        </m:num>
                        <m:den>
                          <m:box>
                            <m:boxPr>
                              <m:ctrlPr>
                                <a:rPr lang="en-GB" sz="3600" i="1" smtClean="0">
                                  <a:latin typeface="Cambria Math" panose="02040503050406030204" pitchFamily="18" charset="0"/>
                                  <a:ea typeface="Cambria Math"/>
                                </a:rPr>
                              </m:ctrlPr>
                            </m:boxPr>
                            <m:e>
                              <m:argPr>
                                <m:argSz m:val="-1"/>
                              </m:argPr>
                              <m:f>
                                <m:fPr>
                                  <m:ctrlPr>
                                    <a:rPr lang="en-GB" sz="3600" i="1">
                                      <a:latin typeface="Cambria Math" panose="02040503050406030204" pitchFamily="18" charset="0"/>
                                      <a:ea typeface="Cambria Math"/>
                                    </a:rPr>
                                  </m:ctrlPr>
                                </m:fPr>
                                <m:num>
                                  <m:r>
                                    <a:rPr lang="en-GB" sz="3600" b="0" i="1">
                                      <a:latin typeface="Cambria Math"/>
                                      <a:ea typeface="Cambria Math"/>
                                    </a:rPr>
                                    <m:t>𝜎</m:t>
                                  </m:r>
                                </m:num>
                                <m:den>
                                  <m:rad>
                                    <m:radPr>
                                      <m:degHide m:val="on"/>
                                      <m:ctrlPr>
                                        <a:rPr lang="en-GB" sz="3600" i="1">
                                          <a:latin typeface="Cambria Math" panose="02040503050406030204" pitchFamily="18" charset="0"/>
                                          <a:ea typeface="Cambria Math"/>
                                        </a:rPr>
                                      </m:ctrlPr>
                                    </m:radPr>
                                    <m:deg/>
                                    <m:e>
                                      <m:r>
                                        <a:rPr lang="en-GB" sz="3600" b="0" i="1">
                                          <a:latin typeface="Cambria Math"/>
                                          <a:ea typeface="Cambria Math"/>
                                        </a:rPr>
                                        <m:t>𝑛</m:t>
                                      </m:r>
                                    </m:e>
                                  </m:rad>
                                </m:den>
                              </m:f>
                            </m:e>
                          </m:box>
                        </m:den>
                      </m:f>
                    </m:oMath>
                  </m:oMathPara>
                </a14:m>
                <a:endParaRPr lang="en-GB" sz="3600" dirty="0">
                  <a:solidFill>
                    <a:schemeClr val="tx1"/>
                  </a:solidFill>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1447800" y="4188938"/>
                <a:ext cx="4267200" cy="1394741"/>
              </a:xfrm>
              <a:prstGeom prst="wedgeRectCallout">
                <a:avLst>
                  <a:gd name="adj1" fmla="val 7446"/>
                  <a:gd name="adj2" fmla="val 43351"/>
                </a:avLst>
              </a:prstGeom>
              <a:blipFill>
                <a:blip r:embed="rId4"/>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1447800" y="4188938"/>
                <a:ext cx="4267200" cy="1394741"/>
              </a:xfrm>
              <a:prstGeom prst="wedgeRectCallout">
                <a:avLst>
                  <a:gd name="adj1" fmla="val 7446"/>
                  <a:gd name="adj2" fmla="val 43351"/>
                </a:avLst>
              </a:prstGeom>
              <a:solidFill>
                <a:schemeClr val="accent1">
                  <a:lumMod val="20000"/>
                  <a:lumOff val="80000"/>
                </a:schemeClr>
              </a:solid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3600" b="0" i="1" smtClean="0">
                          <a:latin typeface="Cambria Math"/>
                          <a:ea typeface="Cambria Math"/>
                        </a:rPr>
                        <m:t>𝑡</m:t>
                      </m:r>
                      <m:r>
                        <a:rPr lang="en-GB" sz="3600" b="0" i="1" smtClean="0">
                          <a:latin typeface="Cambria Math"/>
                          <a:ea typeface="Cambria Math"/>
                        </a:rPr>
                        <m:t>=</m:t>
                      </m:r>
                      <m:f>
                        <m:fPr>
                          <m:ctrlPr>
                            <a:rPr lang="en-GB" sz="3600" i="1">
                              <a:latin typeface="Cambria Math" panose="02040503050406030204" pitchFamily="18" charset="0"/>
                              <a:ea typeface="Cambria Math"/>
                            </a:rPr>
                          </m:ctrlPr>
                        </m:fPr>
                        <m:num>
                          <m:acc>
                            <m:accPr>
                              <m:chr m:val="̅"/>
                              <m:ctrlPr>
                                <a:rPr lang="en-GB" sz="3600" i="1">
                                  <a:latin typeface="Cambria Math" panose="02040503050406030204" pitchFamily="18" charset="0"/>
                                  <a:ea typeface="Cambria Math"/>
                                </a:rPr>
                              </m:ctrlPr>
                            </m:accPr>
                            <m:e>
                              <m:r>
                                <a:rPr lang="en-GB" sz="3600" i="1">
                                  <a:latin typeface="Cambria Math"/>
                                  <a:ea typeface="Cambria Math"/>
                                </a:rPr>
                                <m:t>𝑥</m:t>
                              </m:r>
                            </m:e>
                          </m:acc>
                          <m:r>
                            <a:rPr lang="en-GB" sz="3600" i="1">
                              <a:latin typeface="Cambria Math"/>
                              <a:ea typeface="Cambria Math"/>
                            </a:rPr>
                            <m:t>−</m:t>
                          </m:r>
                          <m:r>
                            <a:rPr lang="en-GB" sz="3600" i="1">
                              <a:latin typeface="Cambria Math"/>
                              <a:ea typeface="Cambria Math"/>
                            </a:rPr>
                            <m:t>𝜇</m:t>
                          </m:r>
                        </m:num>
                        <m:den>
                          <m:box>
                            <m:boxPr>
                              <m:ctrlPr>
                                <a:rPr lang="en-GB" sz="3600" i="1" smtClean="0">
                                  <a:latin typeface="Cambria Math" panose="02040503050406030204" pitchFamily="18" charset="0"/>
                                  <a:ea typeface="Cambria Math"/>
                                </a:rPr>
                              </m:ctrlPr>
                            </m:boxPr>
                            <m:e>
                              <m:argPr>
                                <m:argSz m:val="-1"/>
                              </m:argPr>
                              <m:f>
                                <m:fPr>
                                  <m:ctrlPr>
                                    <a:rPr lang="en-GB" sz="3600" i="1">
                                      <a:latin typeface="Cambria Math" panose="02040503050406030204" pitchFamily="18" charset="0"/>
                                      <a:ea typeface="Cambria Math"/>
                                    </a:rPr>
                                  </m:ctrlPr>
                                </m:fPr>
                                <m:num>
                                  <m:r>
                                    <a:rPr lang="en-GB" sz="3600" b="0" i="1" smtClean="0">
                                      <a:latin typeface="Cambria Math"/>
                                      <a:ea typeface="Cambria Math"/>
                                    </a:rPr>
                                    <m:t>𝑠</m:t>
                                  </m:r>
                                </m:num>
                                <m:den>
                                  <m:rad>
                                    <m:radPr>
                                      <m:degHide m:val="on"/>
                                      <m:ctrlPr>
                                        <a:rPr lang="en-GB" sz="3600" i="1">
                                          <a:latin typeface="Cambria Math" panose="02040503050406030204" pitchFamily="18" charset="0"/>
                                          <a:ea typeface="Cambria Math"/>
                                        </a:rPr>
                                      </m:ctrlPr>
                                    </m:radPr>
                                    <m:deg/>
                                    <m:e>
                                      <m:r>
                                        <a:rPr lang="en-GB" sz="3600" b="0" i="1">
                                          <a:latin typeface="Cambria Math"/>
                                          <a:ea typeface="Cambria Math"/>
                                        </a:rPr>
                                        <m:t>𝑛</m:t>
                                      </m:r>
                                    </m:e>
                                  </m:rad>
                                </m:den>
                              </m:f>
                            </m:e>
                          </m:box>
                        </m:den>
                      </m:f>
                    </m:oMath>
                  </m:oMathPara>
                </a14:m>
                <a:endParaRPr lang="en-GB" sz="3600" dirty="0">
                  <a:solidFill>
                    <a:schemeClr val="tx1"/>
                  </a:solidFill>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1447800" y="4188938"/>
                <a:ext cx="4267200" cy="1394741"/>
              </a:xfrm>
              <a:prstGeom prst="wedgeRectCallout">
                <a:avLst>
                  <a:gd name="adj1" fmla="val 7446"/>
                  <a:gd name="adj2" fmla="val 43351"/>
                </a:avLst>
              </a:prstGeom>
              <a:blipFill>
                <a:blip r:embed="rId5"/>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1447800" y="4188938"/>
                <a:ext cx="5334000" cy="1406219"/>
              </a:xfrm>
              <a:prstGeom prst="wedgeRectCallout">
                <a:avLst>
                  <a:gd name="adj1" fmla="val 7446"/>
                  <a:gd name="adj2" fmla="val 43351"/>
                </a:avLst>
              </a:prstGeom>
              <a:solidFill>
                <a:schemeClr val="accent2">
                  <a:lumMod val="20000"/>
                  <a:lumOff val="80000"/>
                </a:schemeClr>
              </a:solid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3200" b="0" i="1" smtClean="0">
                          <a:latin typeface="Cambria Math"/>
                          <a:ea typeface="Cambria Math"/>
                        </a:rPr>
                        <m:t>𝑡</m:t>
                      </m:r>
                      <m:r>
                        <a:rPr lang="en-GB" sz="3200" b="0" i="1" smtClean="0">
                          <a:latin typeface="Cambria Math"/>
                          <a:ea typeface="Cambria Math"/>
                        </a:rPr>
                        <m:t>=</m:t>
                      </m:r>
                      <m:f>
                        <m:fPr>
                          <m:ctrlPr>
                            <a:rPr lang="en-GB" sz="3200" i="1">
                              <a:latin typeface="Cambria Math" panose="02040503050406030204" pitchFamily="18" charset="0"/>
                              <a:ea typeface="Cambria Math"/>
                            </a:rPr>
                          </m:ctrlPr>
                        </m:fPr>
                        <m:num>
                          <m:d>
                            <m:dPr>
                              <m:ctrlPr>
                                <a:rPr lang="en-GB" sz="3200" i="1" smtClean="0">
                                  <a:latin typeface="Cambria Math" panose="02040503050406030204" pitchFamily="18" charset="0"/>
                                  <a:ea typeface="Cambria Math"/>
                                </a:rPr>
                              </m:ctrlPr>
                            </m:dPr>
                            <m:e>
                              <m:sSub>
                                <m:sSubPr>
                                  <m:ctrlPr>
                                    <a:rPr lang="en-GB" sz="3200" i="1">
                                      <a:latin typeface="Cambria Math" panose="02040503050406030204" pitchFamily="18" charset="0"/>
                                      <a:ea typeface="Cambria Math"/>
                                    </a:rPr>
                                  </m:ctrlPr>
                                </m:sSubPr>
                                <m:e>
                                  <m:acc>
                                    <m:accPr>
                                      <m:chr m:val="̅"/>
                                      <m:ctrlPr>
                                        <a:rPr lang="en-GB" sz="3200" i="1">
                                          <a:latin typeface="Cambria Math" panose="02040503050406030204" pitchFamily="18" charset="0"/>
                                          <a:ea typeface="Cambria Math"/>
                                        </a:rPr>
                                      </m:ctrlPr>
                                    </m:accPr>
                                    <m:e>
                                      <m:r>
                                        <a:rPr lang="en-GB" sz="3200" i="1">
                                          <a:latin typeface="Cambria Math"/>
                                          <a:ea typeface="Cambria Math"/>
                                        </a:rPr>
                                        <m:t>𝑥</m:t>
                                      </m:r>
                                    </m:e>
                                  </m:acc>
                                </m:e>
                                <m:sub>
                                  <m:r>
                                    <a:rPr lang="en-GB" sz="3200" i="1">
                                      <a:latin typeface="Cambria Math"/>
                                      <a:ea typeface="Cambria Math"/>
                                    </a:rPr>
                                    <m:t>1</m:t>
                                  </m:r>
                                </m:sub>
                              </m:sSub>
                              <m:r>
                                <a:rPr lang="en-GB" sz="3200" i="1">
                                  <a:latin typeface="Cambria Math"/>
                                  <a:ea typeface="Cambria Math"/>
                                </a:rPr>
                                <m:t>−</m:t>
                              </m:r>
                              <m:sSub>
                                <m:sSubPr>
                                  <m:ctrlPr>
                                    <a:rPr lang="en-GB" sz="3200" i="1">
                                      <a:latin typeface="Cambria Math" panose="02040503050406030204" pitchFamily="18" charset="0"/>
                                      <a:ea typeface="Cambria Math"/>
                                    </a:rPr>
                                  </m:ctrlPr>
                                </m:sSubPr>
                                <m:e>
                                  <m:acc>
                                    <m:accPr>
                                      <m:chr m:val="̅"/>
                                      <m:ctrlPr>
                                        <a:rPr lang="en-GB" sz="3200" i="1">
                                          <a:latin typeface="Cambria Math" panose="02040503050406030204" pitchFamily="18" charset="0"/>
                                          <a:ea typeface="Cambria Math"/>
                                        </a:rPr>
                                      </m:ctrlPr>
                                    </m:accPr>
                                    <m:e>
                                      <m:r>
                                        <a:rPr lang="en-GB" sz="3200" i="1">
                                          <a:latin typeface="Cambria Math"/>
                                          <a:ea typeface="Cambria Math"/>
                                        </a:rPr>
                                        <m:t>𝑥</m:t>
                                      </m:r>
                                    </m:e>
                                  </m:acc>
                                </m:e>
                                <m:sub>
                                  <m:r>
                                    <a:rPr lang="en-GB" sz="3200" i="1">
                                      <a:latin typeface="Cambria Math"/>
                                      <a:ea typeface="Cambria Math"/>
                                    </a:rPr>
                                    <m:t>2</m:t>
                                  </m:r>
                                </m:sub>
                              </m:sSub>
                            </m:e>
                          </m:d>
                          <m:r>
                            <a:rPr lang="en-GB" sz="3200" i="1">
                              <a:latin typeface="Cambria Math"/>
                              <a:ea typeface="Cambria Math"/>
                            </a:rPr>
                            <m:t>−</m:t>
                          </m:r>
                          <m:d>
                            <m:dPr>
                              <m:ctrlPr>
                                <a:rPr lang="en-GB" sz="3200" i="1">
                                  <a:latin typeface="Cambria Math" panose="02040503050406030204" pitchFamily="18" charset="0"/>
                                  <a:ea typeface="Cambria Math"/>
                                </a:rPr>
                              </m:ctrlPr>
                            </m:dPr>
                            <m:e>
                              <m:sSub>
                                <m:sSubPr>
                                  <m:ctrlPr>
                                    <a:rPr lang="en-GB" sz="3200" i="1">
                                      <a:latin typeface="Cambria Math" panose="02040503050406030204" pitchFamily="18" charset="0"/>
                                      <a:ea typeface="Cambria Math"/>
                                    </a:rPr>
                                  </m:ctrlPr>
                                </m:sSubPr>
                                <m:e>
                                  <m:r>
                                    <a:rPr lang="en-GB" sz="3200" i="1" smtClean="0">
                                      <a:latin typeface="Cambria Math"/>
                                      <a:ea typeface="Cambria Math"/>
                                    </a:rPr>
                                    <m:t>𝜇</m:t>
                                  </m:r>
                                </m:e>
                                <m:sub>
                                  <m:r>
                                    <a:rPr lang="en-GB" sz="3200" i="1">
                                      <a:latin typeface="Cambria Math"/>
                                      <a:ea typeface="Cambria Math"/>
                                    </a:rPr>
                                    <m:t>1</m:t>
                                  </m:r>
                                </m:sub>
                              </m:sSub>
                              <m:r>
                                <a:rPr lang="en-GB" sz="3200" i="1">
                                  <a:latin typeface="Cambria Math"/>
                                  <a:ea typeface="Cambria Math"/>
                                </a:rPr>
                                <m:t>−</m:t>
                              </m:r>
                              <m:sSub>
                                <m:sSubPr>
                                  <m:ctrlPr>
                                    <a:rPr lang="en-GB" sz="3200" i="1">
                                      <a:latin typeface="Cambria Math" panose="02040503050406030204" pitchFamily="18" charset="0"/>
                                      <a:ea typeface="Cambria Math"/>
                                    </a:rPr>
                                  </m:ctrlPr>
                                </m:sSubPr>
                                <m:e>
                                  <m:r>
                                    <a:rPr lang="en-GB" sz="3200" i="1">
                                      <a:latin typeface="Cambria Math"/>
                                      <a:ea typeface="Cambria Math"/>
                                    </a:rPr>
                                    <m:t>𝜇</m:t>
                                  </m:r>
                                </m:e>
                                <m:sub>
                                  <m:r>
                                    <a:rPr lang="en-GB" sz="3200" i="1">
                                      <a:latin typeface="Cambria Math"/>
                                      <a:ea typeface="Cambria Math"/>
                                    </a:rPr>
                                    <m:t>2</m:t>
                                  </m:r>
                                </m:sub>
                              </m:sSub>
                            </m:e>
                          </m:d>
                        </m:num>
                        <m:den>
                          <m:box>
                            <m:boxPr>
                              <m:ctrlPr>
                                <a:rPr lang="en-GB" sz="3200" i="1" smtClean="0">
                                  <a:latin typeface="Cambria Math" panose="02040503050406030204" pitchFamily="18" charset="0"/>
                                  <a:ea typeface="Cambria Math"/>
                                </a:rPr>
                              </m:ctrlPr>
                            </m:boxPr>
                            <m:e>
                              <m:argPr>
                                <m:argSz m:val="-1"/>
                              </m:argPr>
                              <m:sSub>
                                <m:sSubPr>
                                  <m:ctrlPr>
                                    <a:rPr lang="en-GB" sz="3200" i="1" smtClean="0">
                                      <a:latin typeface="Cambria Math" panose="02040503050406030204" pitchFamily="18" charset="0"/>
                                      <a:ea typeface="Cambria Math"/>
                                    </a:rPr>
                                  </m:ctrlPr>
                                </m:sSubPr>
                                <m:e>
                                  <m:r>
                                    <a:rPr lang="en-GB" sz="3200" b="0" i="1" smtClean="0">
                                      <a:latin typeface="Cambria Math"/>
                                      <a:ea typeface="Cambria Math"/>
                                    </a:rPr>
                                    <m:t>𝑠</m:t>
                                  </m:r>
                                </m:e>
                                <m:sub>
                                  <m:r>
                                    <a:rPr lang="en-GB" sz="3200" b="0" i="1" smtClean="0">
                                      <a:latin typeface="Cambria Math"/>
                                      <a:ea typeface="Cambria Math"/>
                                    </a:rPr>
                                    <m:t>𝑝</m:t>
                                  </m:r>
                                </m:sub>
                              </m:sSub>
                              <m:rad>
                                <m:radPr>
                                  <m:degHide m:val="on"/>
                                  <m:ctrlPr>
                                    <a:rPr lang="en-GB" sz="3200" i="1" smtClean="0">
                                      <a:latin typeface="Cambria Math" panose="02040503050406030204" pitchFamily="18" charset="0"/>
                                      <a:ea typeface="Cambria Math"/>
                                    </a:rPr>
                                  </m:ctrlPr>
                                </m:radPr>
                                <m:deg/>
                                <m:e>
                                  <m:f>
                                    <m:fPr>
                                      <m:ctrlPr>
                                        <a:rPr lang="en-GB" altLang="en-US" sz="3200" i="1">
                                          <a:latin typeface="Cambria Math" panose="02040503050406030204" pitchFamily="18" charset="0"/>
                                        </a:rPr>
                                      </m:ctrlPr>
                                    </m:fPr>
                                    <m:num>
                                      <m:r>
                                        <a:rPr lang="en-GB" altLang="en-US" sz="3200" b="0" i="1">
                                          <a:latin typeface="Cambria Math"/>
                                        </a:rPr>
                                        <m:t>1</m:t>
                                      </m:r>
                                    </m:num>
                                    <m:den>
                                      <m:sSub>
                                        <m:sSubPr>
                                          <m:ctrlPr>
                                            <a:rPr lang="en-GB" altLang="en-US" sz="3200" i="1">
                                              <a:latin typeface="Cambria Math" panose="02040503050406030204" pitchFamily="18" charset="0"/>
                                            </a:rPr>
                                          </m:ctrlPr>
                                        </m:sSubPr>
                                        <m:e>
                                          <m:r>
                                            <a:rPr lang="en-GB" altLang="en-US" sz="3200" b="0" i="1">
                                              <a:latin typeface="Cambria Math"/>
                                            </a:rPr>
                                            <m:t>𝑛</m:t>
                                          </m:r>
                                        </m:e>
                                        <m:sub>
                                          <m:r>
                                            <a:rPr lang="en-GB" altLang="en-US" sz="3200" b="0" i="1">
                                              <a:latin typeface="Cambria Math"/>
                                            </a:rPr>
                                            <m:t>1</m:t>
                                          </m:r>
                                        </m:sub>
                                      </m:sSub>
                                    </m:den>
                                  </m:f>
                                  <m:r>
                                    <a:rPr lang="en-GB" altLang="en-US" sz="3200" b="0" i="1">
                                      <a:latin typeface="Cambria Math"/>
                                    </a:rPr>
                                    <m:t>+</m:t>
                                  </m:r>
                                  <m:f>
                                    <m:fPr>
                                      <m:ctrlPr>
                                        <a:rPr lang="en-GB" altLang="en-US" sz="3200" i="1">
                                          <a:latin typeface="Cambria Math" panose="02040503050406030204" pitchFamily="18" charset="0"/>
                                        </a:rPr>
                                      </m:ctrlPr>
                                    </m:fPr>
                                    <m:num>
                                      <m:r>
                                        <a:rPr lang="en-GB" altLang="en-US" sz="3200" b="0" i="1">
                                          <a:latin typeface="Cambria Math"/>
                                        </a:rPr>
                                        <m:t>1</m:t>
                                      </m:r>
                                    </m:num>
                                    <m:den>
                                      <m:sSub>
                                        <m:sSubPr>
                                          <m:ctrlPr>
                                            <a:rPr lang="en-GB" altLang="en-US" sz="3200" i="1">
                                              <a:latin typeface="Cambria Math" panose="02040503050406030204" pitchFamily="18" charset="0"/>
                                            </a:rPr>
                                          </m:ctrlPr>
                                        </m:sSubPr>
                                        <m:e>
                                          <m:r>
                                            <a:rPr lang="en-GB" altLang="en-US" sz="3200" b="0" i="1">
                                              <a:latin typeface="Cambria Math"/>
                                            </a:rPr>
                                            <m:t>𝑛</m:t>
                                          </m:r>
                                        </m:e>
                                        <m:sub>
                                          <m:r>
                                            <a:rPr lang="en-GB" altLang="en-US" sz="3200" b="0" i="1">
                                              <a:latin typeface="Cambria Math"/>
                                            </a:rPr>
                                            <m:t>2</m:t>
                                          </m:r>
                                        </m:sub>
                                      </m:sSub>
                                    </m:den>
                                  </m:f>
                                </m:e>
                              </m:rad>
                            </m:e>
                          </m:box>
                        </m:den>
                      </m:f>
                    </m:oMath>
                  </m:oMathPara>
                </a14:m>
                <a:endParaRPr lang="en-GB" sz="3200" dirty="0">
                  <a:solidFill>
                    <a:schemeClr val="tx1"/>
                  </a:solidFill>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1447800" y="4188938"/>
                <a:ext cx="5334000" cy="1406219"/>
              </a:xfrm>
              <a:prstGeom prst="wedgeRectCallout">
                <a:avLst>
                  <a:gd name="adj1" fmla="val 7446"/>
                  <a:gd name="adj2" fmla="val 43351"/>
                </a:avLst>
              </a:prstGeom>
              <a:blipFill>
                <a:blip r:embed="rId6"/>
                <a:stretch>
                  <a:fillRect/>
                </a:stretch>
              </a:blipFill>
              <a:ln>
                <a:noFill/>
              </a:ln>
            </p:spPr>
            <p:txBody>
              <a:bodyPr/>
              <a:lstStyle/>
              <a:p>
                <a:r>
                  <a:rPr lang="en-GB">
                    <a:noFill/>
                  </a:rPr>
                  <a:t> </a:t>
                </a:r>
              </a:p>
            </p:txBody>
          </p:sp>
        </mc:Fallback>
      </mc:AlternateContent>
      <p:grpSp>
        <p:nvGrpSpPr>
          <p:cNvPr id="12" name="Group 11"/>
          <p:cNvGrpSpPr/>
          <p:nvPr/>
        </p:nvGrpSpPr>
        <p:grpSpPr>
          <a:xfrm>
            <a:off x="3657600" y="4754237"/>
            <a:ext cx="3877262" cy="1113163"/>
            <a:chOff x="3657600" y="2927499"/>
            <a:chExt cx="3877262" cy="1113163"/>
          </a:xfrm>
        </p:grpSpPr>
        <p:sp>
          <p:nvSpPr>
            <p:cNvPr id="16" name="Rectangular Callout 15"/>
            <p:cNvSpPr/>
            <p:nvPr/>
          </p:nvSpPr>
          <p:spPr>
            <a:xfrm>
              <a:off x="6290932" y="3517442"/>
              <a:ext cx="1243930" cy="523220"/>
            </a:xfrm>
            <a:prstGeom prst="wedgeRectCallout">
              <a:avLst>
                <a:gd name="adj1" fmla="val -110583"/>
                <a:gd name="adj2" fmla="val -53331"/>
              </a:avLst>
            </a:prstGeom>
            <a:ln>
              <a:prstDash val="sysDash"/>
            </a:ln>
          </p:spPr>
          <p:style>
            <a:lnRef idx="2">
              <a:schemeClr val="accent5"/>
            </a:lnRef>
            <a:fillRef idx="1">
              <a:schemeClr val="lt1"/>
            </a:fillRef>
            <a:effectRef idx="0">
              <a:schemeClr val="accent5"/>
            </a:effectRef>
            <a:fontRef idx="minor">
              <a:schemeClr val="dk1"/>
            </a:fontRef>
          </p:style>
          <p:txBody>
            <a:bodyPr wrap="none">
              <a:spAutoFit/>
            </a:bodyPr>
            <a:lstStyle/>
            <a:p>
              <a:r>
                <a:rPr lang="en-GB" altLang="en-US" sz="2800" b="1" dirty="0"/>
                <a:t>STEDM</a:t>
              </a:r>
              <a:endParaRPr lang="en-GB" sz="2800" dirty="0"/>
            </a:p>
          </p:txBody>
        </p:sp>
        <p:sp>
          <p:nvSpPr>
            <p:cNvPr id="11" name="Oval 10"/>
            <p:cNvSpPr/>
            <p:nvPr/>
          </p:nvSpPr>
          <p:spPr>
            <a:xfrm>
              <a:off x="3657600" y="2927499"/>
              <a:ext cx="1905000" cy="872819"/>
            </a:xfrm>
            <a:prstGeom prst="ellipse">
              <a:avLst/>
            </a:prstGeom>
            <a:noFill/>
            <a:ln>
              <a:prstDash val="sysDash"/>
            </a:ln>
          </p:spPr>
          <p:style>
            <a:lnRef idx="2">
              <a:schemeClr val="accent5"/>
            </a:lnRef>
            <a:fillRef idx="1">
              <a:schemeClr val="lt1"/>
            </a:fillRef>
            <a:effectRef idx="0">
              <a:schemeClr val="accent5"/>
            </a:effectRef>
            <a:fontRef idx="minor">
              <a:schemeClr val="dk1"/>
            </a:fontRef>
          </p:style>
          <p:txBody>
            <a:bodyPr rtlCol="0" anchor="ctr"/>
            <a:lstStyle/>
            <a:p>
              <a:pPr algn="ctr"/>
              <a:endParaRPr lang="en-GB"/>
            </a:p>
          </p:txBody>
        </p:sp>
      </p:grpSp>
      <p:sp>
        <p:nvSpPr>
          <p:cNvPr id="19" name="Rectangle 18"/>
          <p:cNvSpPr/>
          <p:nvPr/>
        </p:nvSpPr>
        <p:spPr>
          <a:xfrm>
            <a:off x="308344" y="2741138"/>
            <a:ext cx="8378456" cy="1323439"/>
          </a:xfrm>
          <a:prstGeom prst="rect">
            <a:avLst/>
          </a:prstGeom>
        </p:spPr>
        <p:txBody>
          <a:bodyPr wrap="square">
            <a:spAutoFit/>
          </a:bodyPr>
          <a:lstStyle/>
          <a:p>
            <a:r>
              <a:rPr lang="en-GB" altLang="en-US" sz="2000" b="1" dirty="0">
                <a:solidFill>
                  <a:srgbClr val="333399"/>
                </a:solidFill>
              </a:rPr>
              <a:t>Step 2. Test Statistic:</a:t>
            </a:r>
          </a:p>
          <a:p>
            <a:r>
              <a:rPr lang="en-GB" altLang="en-US" sz="2000" dirty="0"/>
              <a:t>The number of standard errors by which the </a:t>
            </a:r>
            <a:r>
              <a:rPr lang="en-GB" altLang="en-US" sz="2000" b="1" dirty="0"/>
              <a:t>difference of sample mean </a:t>
            </a:r>
            <a:r>
              <a:rPr lang="en-GB" altLang="en-US" sz="2000" dirty="0"/>
              <a:t>differs from </a:t>
            </a:r>
            <a:r>
              <a:rPr lang="en-GB" altLang="en-US" sz="2000" b="1" dirty="0"/>
              <a:t>difference in population mean</a:t>
            </a:r>
            <a:r>
              <a:rPr lang="en-GB" altLang="en-US" sz="2000" dirty="0"/>
              <a:t> known as </a:t>
            </a:r>
            <a:r>
              <a:rPr lang="en-GB" altLang="en-US" sz="2000" b="1" dirty="0">
                <a:solidFill>
                  <a:srgbClr val="333399"/>
                </a:solidFill>
              </a:rPr>
              <a:t>standard error of difference in sample means </a:t>
            </a:r>
            <a:r>
              <a:rPr lang="en-GB" altLang="en-US" sz="2000" dirty="0">
                <a:solidFill>
                  <a:srgbClr val="333399"/>
                </a:solidFill>
              </a:rPr>
              <a:t>(STEDM)</a:t>
            </a:r>
          </a:p>
        </p:txBody>
      </p:sp>
      <mc:AlternateContent xmlns:mc="http://schemas.openxmlformats.org/markup-compatibility/2006" xmlns:a14="http://schemas.microsoft.com/office/drawing/2010/main">
        <mc:Choice Requires="a14">
          <p:sp>
            <p:nvSpPr>
              <p:cNvPr id="2" name="Text Box 2">
                <a:extLst>
                  <a:ext uri="{FF2B5EF4-FFF2-40B4-BE49-F238E27FC236}">
                    <a16:creationId xmlns:a16="http://schemas.microsoft.com/office/drawing/2014/main" id="{7F2C8302-4DB5-95E9-07BB-C39F8B852527}"/>
                  </a:ext>
                </a:extLst>
              </p:cNvPr>
              <p:cNvSpPr txBox="1">
                <a:spLocks noChangeArrowheads="1"/>
              </p:cNvSpPr>
              <p:nvPr/>
            </p:nvSpPr>
            <p:spPr bwMode="auto">
              <a:xfrm>
                <a:off x="381000" y="1208782"/>
                <a:ext cx="7924800" cy="1077218"/>
              </a:xfrm>
              <a:prstGeom prst="rect">
                <a:avLst/>
              </a:prstGeom>
              <a:noFill/>
              <a:ln>
                <a:noFill/>
              </a:ln>
              <a:effectLst/>
              <a:extLst>
                <a:ext uri="{909E8E84-426E-40DD-AFC4-6F175D3DCCD1}">
                  <a14:hiddenFill>
                    <a:solidFill>
                      <a:schemeClr val="accent1"/>
                    </a:solidFill>
                  </a14:hiddenFill>
                </a:ext>
                <a:ext uri="{91240B29-F687-4F45-9708-019B960494DF}">
                  <a14:hiddenLine w="12700">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r>
                  <a:rPr lang="en-GB" altLang="en-US" sz="2000" b="1" dirty="0">
                    <a:solidFill>
                      <a:srgbClr val="333399"/>
                    </a:solidFill>
                  </a:rPr>
                  <a:t>Step 1. Null Hypothesis: </a:t>
                </a:r>
              </a:p>
              <a:p>
                <a:r>
                  <a:rPr lang="en-GB" altLang="en-US" sz="2000" dirty="0"/>
                  <a:t>The wages of people in the two areas are the same (i.e. the difference is 0)</a:t>
                </a:r>
                <a:endParaRPr lang="en-GB" altLang="en-US" sz="2400" i="1" dirty="0"/>
              </a:p>
              <a:p>
                <a:pPr/>
                <a14:m>
                  <m:oMathPara xmlns:m="http://schemas.openxmlformats.org/officeDocument/2006/math">
                    <m:oMathParaPr>
                      <m:jc m:val="centerGroup"/>
                    </m:oMathParaPr>
                    <m:oMath xmlns:m="http://schemas.openxmlformats.org/officeDocument/2006/math">
                      <m:sSub>
                        <m:sSubPr>
                          <m:ctrlPr>
                            <a:rPr lang="en-GB" altLang="en-US" sz="2400" i="1" smtClean="0">
                              <a:latin typeface="Cambria Math" panose="02040503050406030204" pitchFamily="18" charset="0"/>
                            </a:rPr>
                          </m:ctrlPr>
                        </m:sSubPr>
                        <m:e>
                          <m:r>
                            <a:rPr lang="en-GB" altLang="en-US" sz="2400" b="0" i="1" smtClean="0">
                              <a:latin typeface="Cambria Math"/>
                            </a:rPr>
                            <m:t>𝐻</m:t>
                          </m:r>
                        </m:e>
                        <m:sub>
                          <m:r>
                            <a:rPr lang="en-GB" altLang="en-US" sz="2400" b="0" i="1" smtClean="0">
                              <a:latin typeface="Cambria Math"/>
                            </a:rPr>
                            <m:t>0</m:t>
                          </m:r>
                        </m:sub>
                      </m:sSub>
                      <m:r>
                        <a:rPr lang="en-GB" altLang="en-US" sz="2400" b="0" i="1" smtClean="0">
                          <a:latin typeface="Cambria Math"/>
                        </a:rPr>
                        <m:t>:</m:t>
                      </m:r>
                      <m:sSub>
                        <m:sSubPr>
                          <m:ctrlPr>
                            <a:rPr lang="en-GB" altLang="en-US" sz="2400" i="1" smtClean="0">
                              <a:latin typeface="Cambria Math" panose="02040503050406030204" pitchFamily="18" charset="0"/>
                            </a:rPr>
                          </m:ctrlPr>
                        </m:sSubPr>
                        <m:e>
                          <m:r>
                            <a:rPr lang="en-GB" altLang="en-US" sz="2400" i="1" smtClean="0">
                              <a:latin typeface="Cambria Math"/>
                              <a:ea typeface="Cambria Math"/>
                            </a:rPr>
                            <m:t>𝜇</m:t>
                          </m:r>
                        </m:e>
                        <m:sub>
                          <m:r>
                            <a:rPr lang="en-GB" altLang="en-US" sz="2400" b="0" i="1" smtClean="0">
                              <a:latin typeface="Cambria Math"/>
                            </a:rPr>
                            <m:t>1</m:t>
                          </m:r>
                        </m:sub>
                      </m:sSub>
                      <m:r>
                        <a:rPr lang="en-GB" altLang="en-US" sz="2400" b="0" i="1" smtClean="0">
                          <a:latin typeface="Cambria Math"/>
                        </a:rPr>
                        <m:t>−</m:t>
                      </m:r>
                      <m:sSub>
                        <m:sSubPr>
                          <m:ctrlPr>
                            <a:rPr lang="en-GB" altLang="en-US" sz="2400" i="1">
                              <a:latin typeface="Cambria Math" panose="02040503050406030204" pitchFamily="18" charset="0"/>
                            </a:rPr>
                          </m:ctrlPr>
                        </m:sSubPr>
                        <m:e>
                          <m:r>
                            <a:rPr lang="en-GB" altLang="en-US" sz="2400" i="1">
                              <a:latin typeface="Cambria Math"/>
                              <a:ea typeface="Cambria Math"/>
                            </a:rPr>
                            <m:t>𝜇</m:t>
                          </m:r>
                        </m:e>
                        <m:sub>
                          <m:r>
                            <a:rPr lang="en-GB" altLang="en-US" sz="2400" b="0" i="1" smtClean="0">
                              <a:latin typeface="Cambria Math"/>
                              <a:ea typeface="Cambria Math"/>
                            </a:rPr>
                            <m:t>2</m:t>
                          </m:r>
                        </m:sub>
                      </m:sSub>
                      <m:r>
                        <a:rPr lang="en-GB" altLang="en-US" sz="2400" b="0" i="1" smtClean="0">
                          <a:latin typeface="Cambria Math"/>
                        </a:rPr>
                        <m:t>=0</m:t>
                      </m:r>
                    </m:oMath>
                  </m:oMathPara>
                </a14:m>
                <a:endParaRPr lang="en-GB" altLang="en-US" sz="2400" dirty="0"/>
              </a:p>
            </p:txBody>
          </p:sp>
        </mc:Choice>
        <mc:Fallback xmlns="">
          <p:sp>
            <p:nvSpPr>
              <p:cNvPr id="2" name="Text Box 2">
                <a:extLst>
                  <a:ext uri="{FF2B5EF4-FFF2-40B4-BE49-F238E27FC236}">
                    <a16:creationId xmlns:a16="http://schemas.microsoft.com/office/drawing/2014/main" id="{7F2C8302-4DB5-95E9-07BB-C39F8B852527}"/>
                  </a:ext>
                </a:extLst>
              </p:cNvPr>
              <p:cNvSpPr txBox="1">
                <a:spLocks noRot="1" noChangeAspect="1" noMove="1" noResize="1" noEditPoints="1" noAdjustHandles="1" noChangeArrowheads="1" noChangeShapeType="1" noTextEdit="1"/>
              </p:cNvSpPr>
              <p:nvPr/>
            </p:nvSpPr>
            <p:spPr bwMode="auto">
              <a:xfrm>
                <a:off x="381000" y="1208782"/>
                <a:ext cx="7924800" cy="1077218"/>
              </a:xfrm>
              <a:prstGeom prst="rect">
                <a:avLst/>
              </a:prstGeom>
              <a:blipFill>
                <a:blip r:embed="rId7"/>
                <a:stretch>
                  <a:fillRect l="-846" t="-2825" r="-77" b="-282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noFill/>
                  </a:rPr>
                  <a:t> </a:t>
                </a:r>
              </a:p>
            </p:txBody>
          </p:sp>
        </mc:Fallback>
      </mc:AlternateContent>
    </p:spTree>
    <p:extLst>
      <p:ext uri="{BB962C8B-B14F-4D97-AF65-F5344CB8AC3E}">
        <p14:creationId xmlns:p14="http://schemas.microsoft.com/office/powerpoint/2010/main" val="2626929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9" grpId="0"/>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a:t>Comparing two means</a:t>
            </a:r>
          </a:p>
        </p:txBody>
      </p:sp>
      <mc:AlternateContent xmlns:mc="http://schemas.openxmlformats.org/markup-compatibility/2006" xmlns:a14="http://schemas.microsoft.com/office/drawing/2010/main">
        <mc:Choice Requires="a14">
          <p:graphicFrame>
            <p:nvGraphicFramePr>
              <p:cNvPr id="7" name="Table 6"/>
              <p:cNvGraphicFramePr>
                <a:graphicFrameLocks noGrp="1"/>
              </p:cNvGraphicFramePr>
              <p:nvPr/>
            </p:nvGraphicFramePr>
            <p:xfrm>
              <a:off x="5715000" y="22328"/>
              <a:ext cx="3408966" cy="944880"/>
            </p:xfrm>
            <a:graphic>
              <a:graphicData uri="http://schemas.openxmlformats.org/drawingml/2006/table">
                <a:tbl>
                  <a:tblPr firstRow="1" firstCol="1" bandRow="1">
                    <a:tableStyleId>{5C22544A-7EE6-4342-B048-85BDC9FD1C3A}</a:tableStyleId>
                  </a:tblPr>
                  <a:tblGrid>
                    <a:gridCol w="1629972">
                      <a:extLst>
                        <a:ext uri="{9D8B030D-6E8A-4147-A177-3AD203B41FA5}">
                          <a16:colId xmlns:a16="http://schemas.microsoft.com/office/drawing/2014/main" val="20000"/>
                        </a:ext>
                      </a:extLst>
                    </a:gridCol>
                    <a:gridCol w="686304">
                      <a:extLst>
                        <a:ext uri="{9D8B030D-6E8A-4147-A177-3AD203B41FA5}">
                          <a16:colId xmlns:a16="http://schemas.microsoft.com/office/drawing/2014/main" val="20001"/>
                        </a:ext>
                      </a:extLst>
                    </a:gridCol>
                    <a:gridCol w="499692">
                      <a:extLst>
                        <a:ext uri="{9D8B030D-6E8A-4147-A177-3AD203B41FA5}">
                          <a16:colId xmlns:a16="http://schemas.microsoft.com/office/drawing/2014/main" val="20002"/>
                        </a:ext>
                      </a:extLst>
                    </a:gridCol>
                    <a:gridCol w="592998">
                      <a:extLst>
                        <a:ext uri="{9D8B030D-6E8A-4147-A177-3AD203B41FA5}">
                          <a16:colId xmlns:a16="http://schemas.microsoft.com/office/drawing/2014/main" val="20003"/>
                        </a:ext>
                      </a:extLst>
                    </a:gridCol>
                  </a:tblGrid>
                  <a:tr h="335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lang="en-GB" altLang="en-US" sz="1600" b="1" i="1" smtClean="0">
                                        <a:latin typeface="Cambria Math" panose="02040503050406030204" pitchFamily="18" charset="0"/>
                                      </a:rPr>
                                    </m:ctrlPr>
                                  </m:sSubPr>
                                  <m:e>
                                    <m:r>
                                      <a:rPr lang="en-GB" altLang="en-US" sz="1600" b="1" i="1">
                                        <a:latin typeface="Cambria Math"/>
                                      </a:rPr>
                                      <m:t>𝑯</m:t>
                                    </m:r>
                                  </m:e>
                                  <m:sub>
                                    <m:r>
                                      <a:rPr lang="en-GB" altLang="en-US" sz="1600" b="1" i="1">
                                        <a:latin typeface="Cambria Math"/>
                                      </a:rPr>
                                      <m:t>𝟎</m:t>
                                    </m:r>
                                  </m:sub>
                                </m:sSub>
                                <m:r>
                                  <a:rPr lang="en-GB" altLang="en-US" sz="1600" b="1" i="1">
                                    <a:latin typeface="Cambria Math"/>
                                  </a:rPr>
                                  <m:t>:</m:t>
                                </m:r>
                                <m:sSub>
                                  <m:sSubPr>
                                    <m:ctrlPr>
                                      <a:rPr lang="en-GB" altLang="en-US" sz="1600" b="1" i="1">
                                        <a:latin typeface="Cambria Math" panose="02040503050406030204" pitchFamily="18" charset="0"/>
                                      </a:rPr>
                                    </m:ctrlPr>
                                  </m:sSubPr>
                                  <m:e>
                                    <m:r>
                                      <a:rPr lang="en-GB" altLang="en-US" sz="1600" b="1" i="1">
                                        <a:latin typeface="Cambria Math"/>
                                        <a:ea typeface="Cambria Math"/>
                                      </a:rPr>
                                      <m:t>𝝁</m:t>
                                    </m:r>
                                  </m:e>
                                  <m:sub>
                                    <m:r>
                                      <a:rPr lang="en-GB" altLang="en-US" sz="1600" b="1" i="1">
                                        <a:latin typeface="Cambria Math"/>
                                      </a:rPr>
                                      <m:t>𝟏</m:t>
                                    </m:r>
                                  </m:sub>
                                </m:sSub>
                                <m:r>
                                  <a:rPr lang="en-GB" altLang="en-US" sz="1600" b="1" i="1">
                                    <a:latin typeface="Cambria Math"/>
                                  </a:rPr>
                                  <m:t>=</m:t>
                                </m:r>
                                <m:sSub>
                                  <m:sSubPr>
                                    <m:ctrlPr>
                                      <a:rPr lang="en-GB" altLang="en-US" sz="1600" b="1" i="1">
                                        <a:latin typeface="Cambria Math" panose="02040503050406030204" pitchFamily="18" charset="0"/>
                                      </a:rPr>
                                    </m:ctrlPr>
                                  </m:sSubPr>
                                  <m:e>
                                    <m:r>
                                      <a:rPr lang="en-GB" altLang="en-US" sz="1600" b="1" i="1">
                                        <a:latin typeface="Cambria Math"/>
                                        <a:ea typeface="Cambria Math"/>
                                      </a:rPr>
                                      <m:t>𝝁</m:t>
                                    </m:r>
                                  </m:e>
                                  <m:sub>
                                    <m:r>
                                      <a:rPr lang="en-GB" altLang="en-US" sz="1600" b="1" i="1">
                                        <a:latin typeface="Cambria Math"/>
                                        <a:ea typeface="Cambria Math"/>
                                      </a:rPr>
                                      <m:t>𝟐</m:t>
                                    </m:r>
                                  </m:sub>
                                </m:sSub>
                              </m:oMath>
                            </m:oMathPara>
                          </a14:m>
                          <a:endParaRPr lang="en-GB" sz="1600" b="1" dirty="0"/>
                        </a:p>
                      </a:txBody>
                      <a:tcPr anchor="ctr"/>
                    </a:tc>
                    <a:tc>
                      <a:txBody>
                        <a:bodyPr/>
                        <a:lstStyle/>
                        <a:p>
                          <a:pPr algn="ctr"/>
                          <a:r>
                            <a:rPr lang="en-GB" sz="1400" dirty="0"/>
                            <a:t>Mean</a:t>
                          </a:r>
                        </a:p>
                      </a:txBody>
                      <a:tcPr anchor="ctr"/>
                    </a:tc>
                    <a:tc>
                      <a:txBody>
                        <a:bodyPr/>
                        <a:lstStyle/>
                        <a:p>
                          <a:pPr algn="ctr"/>
                          <a:r>
                            <a:rPr lang="en-GB" sz="1400" dirty="0"/>
                            <a:t>SD</a:t>
                          </a:r>
                        </a:p>
                      </a:txBody>
                      <a:tcPr anchor="ctr"/>
                    </a:tc>
                    <a:tc>
                      <a:txBody>
                        <a:bodyPr/>
                        <a:lstStyle/>
                        <a:p>
                          <a:pPr algn="ctr"/>
                          <a:r>
                            <a:rPr lang="en-GB" sz="1400" dirty="0"/>
                            <a:t>N</a:t>
                          </a:r>
                        </a:p>
                      </a:txBody>
                      <a:tcPr anchor="ctr"/>
                    </a:tc>
                    <a:extLst>
                      <a:ext uri="{0D108BD9-81ED-4DB2-BD59-A6C34878D82A}">
                        <a16:rowId xmlns:a16="http://schemas.microsoft.com/office/drawing/2014/main" val="10000"/>
                      </a:ext>
                    </a:extLst>
                  </a:tr>
                  <a:tr h="304800">
                    <a:tc>
                      <a:txBody>
                        <a:bodyPr/>
                        <a:lstStyle/>
                        <a:p>
                          <a:pPr marL="0" indent="0" algn="l">
                            <a:buAutoNum type="arabicPeriod"/>
                          </a:pPr>
                          <a:r>
                            <a:rPr lang="en-GB" sz="1400" dirty="0"/>
                            <a:t> Production</a:t>
                          </a:r>
                        </a:p>
                      </a:txBody>
                      <a:tcPr/>
                    </a:tc>
                    <a:tc>
                      <a:txBody>
                        <a:bodyPr/>
                        <a:lstStyle/>
                        <a:p>
                          <a:pPr algn="ctr"/>
                          <a:r>
                            <a:rPr lang="en-GB" sz="1400" b="1" dirty="0"/>
                            <a:t>£120</a:t>
                          </a:r>
                        </a:p>
                      </a:txBody>
                      <a:tcPr/>
                    </a:tc>
                    <a:tc>
                      <a:txBody>
                        <a:bodyPr/>
                        <a:lstStyle/>
                        <a:p>
                          <a:pPr algn="ctr"/>
                          <a:r>
                            <a:rPr lang="en-GB" sz="1400" b="1" dirty="0"/>
                            <a:t>£10</a:t>
                          </a:r>
                        </a:p>
                      </a:txBody>
                      <a:tcPr/>
                    </a:tc>
                    <a:tc>
                      <a:txBody>
                        <a:bodyPr/>
                        <a:lstStyle/>
                        <a:p>
                          <a:pPr algn="ctr"/>
                          <a:r>
                            <a:rPr lang="en-GB" sz="1400" b="1" dirty="0"/>
                            <a:t>30</a:t>
                          </a:r>
                        </a:p>
                      </a:txBody>
                      <a:tcPr/>
                    </a:tc>
                    <a:extLst>
                      <a:ext uri="{0D108BD9-81ED-4DB2-BD59-A6C34878D82A}">
                        <a16:rowId xmlns:a16="http://schemas.microsoft.com/office/drawing/2014/main" val="10001"/>
                      </a:ext>
                    </a:extLst>
                  </a:tr>
                  <a:tr h="304800">
                    <a:tc>
                      <a:txBody>
                        <a:bodyPr/>
                        <a:lstStyle/>
                        <a:p>
                          <a:pPr algn="l"/>
                          <a:r>
                            <a:rPr lang="en-GB" sz="1400" dirty="0"/>
                            <a:t>2. Maintenance</a:t>
                          </a:r>
                        </a:p>
                      </a:txBody>
                      <a:tcPr/>
                    </a:tc>
                    <a:tc>
                      <a:txBody>
                        <a:bodyPr/>
                        <a:lstStyle/>
                        <a:p>
                          <a:pPr algn="ctr"/>
                          <a:r>
                            <a:rPr lang="en-GB" sz="1400" b="1" dirty="0"/>
                            <a:t>£130</a:t>
                          </a:r>
                        </a:p>
                      </a:txBody>
                      <a:tcPr/>
                    </a:tc>
                    <a:tc>
                      <a:txBody>
                        <a:bodyPr/>
                        <a:lstStyle/>
                        <a:p>
                          <a:pPr algn="ctr"/>
                          <a:r>
                            <a:rPr lang="en-GB" sz="1400" b="1" dirty="0"/>
                            <a:t>£12</a:t>
                          </a:r>
                        </a:p>
                      </a:txBody>
                      <a:tcPr/>
                    </a:tc>
                    <a:tc>
                      <a:txBody>
                        <a:bodyPr/>
                        <a:lstStyle/>
                        <a:p>
                          <a:pPr algn="ctr"/>
                          <a:r>
                            <a:rPr lang="en-GB" sz="1400" b="1" dirty="0"/>
                            <a:t>50</a:t>
                          </a:r>
                        </a:p>
                      </a:txBody>
                      <a:tcPr/>
                    </a:tc>
                    <a:extLst>
                      <a:ext uri="{0D108BD9-81ED-4DB2-BD59-A6C34878D82A}">
                        <a16:rowId xmlns:a16="http://schemas.microsoft.com/office/drawing/2014/main" val="10002"/>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3535112612"/>
                  </p:ext>
                </p:extLst>
              </p:nvPr>
            </p:nvGraphicFramePr>
            <p:xfrm>
              <a:off x="5715000" y="22328"/>
              <a:ext cx="3408966" cy="944880"/>
            </p:xfrm>
            <a:graphic>
              <a:graphicData uri="http://schemas.openxmlformats.org/drawingml/2006/table">
                <a:tbl>
                  <a:tblPr firstRow="1" firstCol="1" bandRow="1">
                    <a:tableStyleId>{5C22544A-7EE6-4342-B048-85BDC9FD1C3A}</a:tableStyleId>
                  </a:tblPr>
                  <a:tblGrid>
                    <a:gridCol w="1629972"/>
                    <a:gridCol w="686304"/>
                    <a:gridCol w="499692"/>
                    <a:gridCol w="592998"/>
                  </a:tblGrid>
                  <a:tr h="335280">
                    <a:tc>
                      <a:txBody>
                        <a:bodyPr/>
                        <a:lstStyle/>
                        <a:p>
                          <a:endParaRPr lang="en-US"/>
                        </a:p>
                      </a:txBody>
                      <a:tcPr anchor="ctr">
                        <a:blipFill rotWithShape="1">
                          <a:blip r:embed="rId3"/>
                          <a:stretch>
                            <a:fillRect l="-375" t="-1818" r="-109363" b="-200000"/>
                          </a:stretch>
                        </a:blipFill>
                      </a:tcPr>
                    </a:tc>
                    <a:tc>
                      <a:txBody>
                        <a:bodyPr/>
                        <a:lstStyle/>
                        <a:p>
                          <a:pPr algn="ctr"/>
                          <a:r>
                            <a:rPr lang="en-GB" sz="1400" dirty="0" smtClean="0"/>
                            <a:t>Mean</a:t>
                          </a:r>
                          <a:endParaRPr lang="en-GB" sz="1400" dirty="0"/>
                        </a:p>
                      </a:txBody>
                      <a:tcPr anchor="ctr"/>
                    </a:tc>
                    <a:tc>
                      <a:txBody>
                        <a:bodyPr/>
                        <a:lstStyle/>
                        <a:p>
                          <a:pPr algn="ctr"/>
                          <a:r>
                            <a:rPr lang="en-GB" sz="1400" dirty="0" smtClean="0"/>
                            <a:t>SD</a:t>
                          </a:r>
                          <a:endParaRPr lang="en-GB" sz="1400" dirty="0"/>
                        </a:p>
                      </a:txBody>
                      <a:tcPr anchor="ctr"/>
                    </a:tc>
                    <a:tc>
                      <a:txBody>
                        <a:bodyPr/>
                        <a:lstStyle/>
                        <a:p>
                          <a:pPr algn="ctr"/>
                          <a:r>
                            <a:rPr lang="en-GB" sz="1400" dirty="0" smtClean="0"/>
                            <a:t>N</a:t>
                          </a:r>
                          <a:endParaRPr lang="en-GB" sz="1400" dirty="0"/>
                        </a:p>
                      </a:txBody>
                      <a:tcPr anchor="ctr"/>
                    </a:tc>
                  </a:tr>
                  <a:tr h="304800">
                    <a:tc>
                      <a:txBody>
                        <a:bodyPr/>
                        <a:lstStyle/>
                        <a:p>
                          <a:pPr marL="0" indent="0" algn="l">
                            <a:buAutoNum type="arabicPeriod"/>
                          </a:pPr>
                          <a:r>
                            <a:rPr lang="en-GB" sz="1400" dirty="0" smtClean="0"/>
                            <a:t> Production</a:t>
                          </a:r>
                          <a:endParaRPr lang="en-GB" sz="1400" dirty="0"/>
                        </a:p>
                      </a:txBody>
                      <a:tcPr/>
                    </a:tc>
                    <a:tc>
                      <a:txBody>
                        <a:bodyPr/>
                        <a:lstStyle/>
                        <a:p>
                          <a:pPr algn="ctr"/>
                          <a:r>
                            <a:rPr lang="en-GB" sz="1400" b="1" dirty="0" smtClean="0"/>
                            <a:t>£120</a:t>
                          </a:r>
                          <a:endParaRPr lang="en-GB" sz="1400" b="1" dirty="0"/>
                        </a:p>
                      </a:txBody>
                      <a:tcPr/>
                    </a:tc>
                    <a:tc>
                      <a:txBody>
                        <a:bodyPr/>
                        <a:lstStyle/>
                        <a:p>
                          <a:pPr algn="ctr"/>
                          <a:r>
                            <a:rPr lang="en-GB" sz="1400" b="1" dirty="0" smtClean="0"/>
                            <a:t>£10</a:t>
                          </a:r>
                          <a:endParaRPr lang="en-GB" sz="1400" b="1" dirty="0"/>
                        </a:p>
                      </a:txBody>
                      <a:tcPr/>
                    </a:tc>
                    <a:tc>
                      <a:txBody>
                        <a:bodyPr/>
                        <a:lstStyle/>
                        <a:p>
                          <a:pPr algn="ctr"/>
                          <a:r>
                            <a:rPr lang="en-GB" sz="1400" b="1" dirty="0" smtClean="0"/>
                            <a:t>30</a:t>
                          </a:r>
                          <a:endParaRPr lang="en-GB" sz="1400" b="1" dirty="0"/>
                        </a:p>
                      </a:txBody>
                      <a:tcPr/>
                    </a:tc>
                  </a:tr>
                  <a:tr h="304800">
                    <a:tc>
                      <a:txBody>
                        <a:bodyPr/>
                        <a:lstStyle/>
                        <a:p>
                          <a:pPr algn="l"/>
                          <a:r>
                            <a:rPr lang="en-GB" sz="1400" dirty="0" smtClean="0"/>
                            <a:t>2. Maintenance</a:t>
                          </a:r>
                          <a:endParaRPr lang="en-GB" sz="1400" dirty="0"/>
                        </a:p>
                      </a:txBody>
                      <a:tcPr/>
                    </a:tc>
                    <a:tc>
                      <a:txBody>
                        <a:bodyPr/>
                        <a:lstStyle/>
                        <a:p>
                          <a:pPr algn="ctr"/>
                          <a:r>
                            <a:rPr lang="en-GB" sz="1400" b="1" dirty="0" smtClean="0"/>
                            <a:t>£130</a:t>
                          </a:r>
                          <a:endParaRPr lang="en-GB" sz="1400" b="1" dirty="0"/>
                        </a:p>
                      </a:txBody>
                      <a:tcPr/>
                    </a:tc>
                    <a:tc>
                      <a:txBody>
                        <a:bodyPr/>
                        <a:lstStyle/>
                        <a:p>
                          <a:pPr algn="ctr"/>
                          <a:r>
                            <a:rPr lang="en-GB" sz="1400" b="1" dirty="0" smtClean="0"/>
                            <a:t>£12</a:t>
                          </a:r>
                          <a:endParaRPr lang="en-GB" sz="1400" b="1" dirty="0"/>
                        </a:p>
                      </a:txBody>
                      <a:tcPr/>
                    </a:tc>
                    <a:tc>
                      <a:txBody>
                        <a:bodyPr/>
                        <a:lstStyle/>
                        <a:p>
                          <a:pPr algn="ctr"/>
                          <a:r>
                            <a:rPr lang="en-GB" sz="1400" b="1" dirty="0" smtClean="0"/>
                            <a:t>50</a:t>
                          </a:r>
                          <a:endParaRPr lang="en-GB" sz="1400" b="1" dirty="0"/>
                        </a:p>
                      </a:txBody>
                      <a:tcPr/>
                    </a:tc>
                  </a:tr>
                </a:tbl>
              </a:graphicData>
            </a:graphic>
          </p:graphicFrame>
        </mc:Fallback>
      </mc:AlternateContent>
      <mc:AlternateContent xmlns:mc="http://schemas.openxmlformats.org/markup-compatibility/2006" xmlns:a14="http://schemas.microsoft.com/office/drawing/2010/main">
        <mc:Choice Requires="a14">
          <p:sp>
            <p:nvSpPr>
              <p:cNvPr id="13" name="TextBox 12"/>
              <p:cNvSpPr txBox="1"/>
              <p:nvPr/>
            </p:nvSpPr>
            <p:spPr>
              <a:xfrm>
                <a:off x="1447800" y="2362200"/>
                <a:ext cx="4267200" cy="1394741"/>
              </a:xfrm>
              <a:prstGeom prst="wedgeRectCallout">
                <a:avLst>
                  <a:gd name="adj1" fmla="val 7446"/>
                  <a:gd name="adj2" fmla="val 43351"/>
                </a:avLst>
              </a:prstGeom>
              <a:solidFill>
                <a:schemeClr val="accent1">
                  <a:lumMod val="20000"/>
                  <a:lumOff val="80000"/>
                </a:schemeClr>
              </a:solid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3600" b="0" i="1" smtClean="0">
                          <a:latin typeface="Cambria Math"/>
                          <a:ea typeface="Cambria Math"/>
                        </a:rPr>
                        <m:t>𝑍</m:t>
                      </m:r>
                      <m:r>
                        <a:rPr lang="en-GB" sz="3600" b="0" i="1" smtClean="0">
                          <a:latin typeface="Cambria Math"/>
                          <a:ea typeface="Cambria Math"/>
                        </a:rPr>
                        <m:t>=</m:t>
                      </m:r>
                      <m:f>
                        <m:fPr>
                          <m:ctrlPr>
                            <a:rPr lang="en-GB" sz="3600" i="1">
                              <a:latin typeface="Cambria Math" panose="02040503050406030204" pitchFamily="18" charset="0"/>
                              <a:ea typeface="Cambria Math"/>
                            </a:rPr>
                          </m:ctrlPr>
                        </m:fPr>
                        <m:num>
                          <m:acc>
                            <m:accPr>
                              <m:chr m:val="̅"/>
                              <m:ctrlPr>
                                <a:rPr lang="en-GB" sz="3600" i="1">
                                  <a:latin typeface="Cambria Math" panose="02040503050406030204" pitchFamily="18" charset="0"/>
                                  <a:ea typeface="Cambria Math"/>
                                </a:rPr>
                              </m:ctrlPr>
                            </m:accPr>
                            <m:e>
                              <m:r>
                                <a:rPr lang="en-GB" sz="3600" i="1">
                                  <a:latin typeface="Cambria Math"/>
                                  <a:ea typeface="Cambria Math"/>
                                </a:rPr>
                                <m:t>𝑥</m:t>
                              </m:r>
                            </m:e>
                          </m:acc>
                          <m:r>
                            <a:rPr lang="en-GB" sz="3600" i="1">
                              <a:latin typeface="Cambria Math"/>
                              <a:ea typeface="Cambria Math"/>
                            </a:rPr>
                            <m:t>−</m:t>
                          </m:r>
                          <m:r>
                            <a:rPr lang="en-GB" sz="3600" i="1">
                              <a:latin typeface="Cambria Math"/>
                              <a:ea typeface="Cambria Math"/>
                            </a:rPr>
                            <m:t>𝜇</m:t>
                          </m:r>
                        </m:num>
                        <m:den>
                          <m:box>
                            <m:boxPr>
                              <m:ctrlPr>
                                <a:rPr lang="en-GB" sz="3600" i="1" smtClean="0">
                                  <a:latin typeface="Cambria Math" panose="02040503050406030204" pitchFamily="18" charset="0"/>
                                  <a:ea typeface="Cambria Math"/>
                                </a:rPr>
                              </m:ctrlPr>
                            </m:boxPr>
                            <m:e>
                              <m:argPr>
                                <m:argSz m:val="-1"/>
                              </m:argPr>
                              <m:f>
                                <m:fPr>
                                  <m:ctrlPr>
                                    <a:rPr lang="en-GB" sz="3600" i="1">
                                      <a:latin typeface="Cambria Math" panose="02040503050406030204" pitchFamily="18" charset="0"/>
                                      <a:ea typeface="Cambria Math"/>
                                    </a:rPr>
                                  </m:ctrlPr>
                                </m:fPr>
                                <m:num>
                                  <m:r>
                                    <a:rPr lang="en-GB" sz="3600" b="0" i="1">
                                      <a:latin typeface="Cambria Math"/>
                                      <a:ea typeface="Cambria Math"/>
                                    </a:rPr>
                                    <m:t>𝜎</m:t>
                                  </m:r>
                                </m:num>
                                <m:den>
                                  <m:rad>
                                    <m:radPr>
                                      <m:degHide m:val="on"/>
                                      <m:ctrlPr>
                                        <a:rPr lang="en-GB" sz="3600" i="1">
                                          <a:latin typeface="Cambria Math" panose="02040503050406030204" pitchFamily="18" charset="0"/>
                                          <a:ea typeface="Cambria Math"/>
                                        </a:rPr>
                                      </m:ctrlPr>
                                    </m:radPr>
                                    <m:deg/>
                                    <m:e>
                                      <m:r>
                                        <a:rPr lang="en-GB" sz="3600" b="0" i="1">
                                          <a:latin typeface="Cambria Math"/>
                                          <a:ea typeface="Cambria Math"/>
                                        </a:rPr>
                                        <m:t>𝑛</m:t>
                                      </m:r>
                                    </m:e>
                                  </m:rad>
                                </m:den>
                              </m:f>
                            </m:e>
                          </m:box>
                        </m:den>
                      </m:f>
                    </m:oMath>
                  </m:oMathPara>
                </a14:m>
                <a:endParaRPr lang="en-GB" sz="3600" dirty="0">
                  <a:solidFill>
                    <a:schemeClr val="tx1"/>
                  </a:solidFill>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1447800" y="2362200"/>
                <a:ext cx="4267200" cy="1394741"/>
              </a:xfrm>
              <a:prstGeom prst="wedgeRectCallout">
                <a:avLst>
                  <a:gd name="adj1" fmla="val 7446"/>
                  <a:gd name="adj2" fmla="val 43351"/>
                </a:avLst>
              </a:prstGeom>
              <a:blipFill rotWithShape="1">
                <a:blip r:embed="rId4"/>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1447800" y="2362200"/>
                <a:ext cx="4267200" cy="1394741"/>
              </a:xfrm>
              <a:prstGeom prst="wedgeRectCallout">
                <a:avLst>
                  <a:gd name="adj1" fmla="val 7446"/>
                  <a:gd name="adj2" fmla="val 43351"/>
                </a:avLst>
              </a:prstGeom>
              <a:solidFill>
                <a:schemeClr val="accent1">
                  <a:lumMod val="20000"/>
                  <a:lumOff val="80000"/>
                </a:schemeClr>
              </a:solid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3600" b="0" i="1" smtClean="0">
                          <a:latin typeface="Cambria Math"/>
                          <a:ea typeface="Cambria Math"/>
                        </a:rPr>
                        <m:t>𝑡</m:t>
                      </m:r>
                      <m:r>
                        <a:rPr lang="en-GB" sz="3600" b="0" i="1" smtClean="0">
                          <a:latin typeface="Cambria Math"/>
                          <a:ea typeface="Cambria Math"/>
                        </a:rPr>
                        <m:t>=</m:t>
                      </m:r>
                      <m:f>
                        <m:fPr>
                          <m:ctrlPr>
                            <a:rPr lang="en-GB" sz="3600" i="1">
                              <a:latin typeface="Cambria Math" panose="02040503050406030204" pitchFamily="18" charset="0"/>
                              <a:ea typeface="Cambria Math"/>
                            </a:rPr>
                          </m:ctrlPr>
                        </m:fPr>
                        <m:num>
                          <m:acc>
                            <m:accPr>
                              <m:chr m:val="̅"/>
                              <m:ctrlPr>
                                <a:rPr lang="en-GB" sz="3600" i="1">
                                  <a:latin typeface="Cambria Math" panose="02040503050406030204" pitchFamily="18" charset="0"/>
                                  <a:ea typeface="Cambria Math"/>
                                </a:rPr>
                              </m:ctrlPr>
                            </m:accPr>
                            <m:e>
                              <m:r>
                                <a:rPr lang="en-GB" sz="3600" i="1">
                                  <a:latin typeface="Cambria Math"/>
                                  <a:ea typeface="Cambria Math"/>
                                </a:rPr>
                                <m:t>𝑥</m:t>
                              </m:r>
                            </m:e>
                          </m:acc>
                          <m:r>
                            <a:rPr lang="en-GB" sz="3600" i="1">
                              <a:latin typeface="Cambria Math"/>
                              <a:ea typeface="Cambria Math"/>
                            </a:rPr>
                            <m:t>−</m:t>
                          </m:r>
                          <m:r>
                            <a:rPr lang="en-GB" sz="3600" i="1">
                              <a:latin typeface="Cambria Math"/>
                              <a:ea typeface="Cambria Math"/>
                            </a:rPr>
                            <m:t>𝜇</m:t>
                          </m:r>
                        </m:num>
                        <m:den>
                          <m:box>
                            <m:boxPr>
                              <m:ctrlPr>
                                <a:rPr lang="en-GB" sz="3600" i="1" smtClean="0">
                                  <a:latin typeface="Cambria Math" panose="02040503050406030204" pitchFamily="18" charset="0"/>
                                  <a:ea typeface="Cambria Math"/>
                                </a:rPr>
                              </m:ctrlPr>
                            </m:boxPr>
                            <m:e>
                              <m:argPr>
                                <m:argSz m:val="-1"/>
                              </m:argPr>
                              <m:f>
                                <m:fPr>
                                  <m:ctrlPr>
                                    <a:rPr lang="en-GB" sz="3600" i="1">
                                      <a:latin typeface="Cambria Math" panose="02040503050406030204" pitchFamily="18" charset="0"/>
                                      <a:ea typeface="Cambria Math"/>
                                    </a:rPr>
                                  </m:ctrlPr>
                                </m:fPr>
                                <m:num>
                                  <m:r>
                                    <a:rPr lang="en-GB" sz="3600" b="0" i="1" smtClean="0">
                                      <a:latin typeface="Cambria Math"/>
                                      <a:ea typeface="Cambria Math"/>
                                    </a:rPr>
                                    <m:t>𝑠</m:t>
                                  </m:r>
                                </m:num>
                                <m:den>
                                  <m:rad>
                                    <m:radPr>
                                      <m:degHide m:val="on"/>
                                      <m:ctrlPr>
                                        <a:rPr lang="en-GB" sz="3600" i="1">
                                          <a:latin typeface="Cambria Math" panose="02040503050406030204" pitchFamily="18" charset="0"/>
                                          <a:ea typeface="Cambria Math"/>
                                        </a:rPr>
                                      </m:ctrlPr>
                                    </m:radPr>
                                    <m:deg/>
                                    <m:e>
                                      <m:r>
                                        <a:rPr lang="en-GB" sz="3600" b="0" i="1">
                                          <a:latin typeface="Cambria Math"/>
                                          <a:ea typeface="Cambria Math"/>
                                        </a:rPr>
                                        <m:t>𝑛</m:t>
                                      </m:r>
                                    </m:e>
                                  </m:rad>
                                </m:den>
                              </m:f>
                            </m:e>
                          </m:box>
                        </m:den>
                      </m:f>
                    </m:oMath>
                  </m:oMathPara>
                </a14:m>
                <a:endParaRPr lang="en-GB" sz="3600" dirty="0">
                  <a:solidFill>
                    <a:schemeClr val="tx1"/>
                  </a:solidFill>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1447800" y="2362200"/>
                <a:ext cx="4267200" cy="1394741"/>
              </a:xfrm>
              <a:prstGeom prst="wedgeRectCallout">
                <a:avLst>
                  <a:gd name="adj1" fmla="val 7446"/>
                  <a:gd name="adj2" fmla="val 43351"/>
                </a:avLst>
              </a:prstGeom>
              <a:blipFill rotWithShape="1">
                <a:blip r:embed="rId5"/>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1447800" y="2362200"/>
                <a:ext cx="5334000" cy="1406219"/>
              </a:xfrm>
              <a:prstGeom prst="wedgeRectCallout">
                <a:avLst>
                  <a:gd name="adj1" fmla="val 7446"/>
                  <a:gd name="adj2" fmla="val 43351"/>
                </a:avLst>
              </a:prstGeom>
              <a:solidFill>
                <a:schemeClr val="accent2">
                  <a:lumMod val="20000"/>
                  <a:lumOff val="80000"/>
                </a:schemeClr>
              </a:solid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3200" b="0" i="1" smtClean="0">
                          <a:latin typeface="Cambria Math"/>
                          <a:ea typeface="Cambria Math"/>
                        </a:rPr>
                        <m:t>𝑡</m:t>
                      </m:r>
                      <m:r>
                        <a:rPr lang="en-GB" sz="3200" b="0" i="1" smtClean="0">
                          <a:latin typeface="Cambria Math"/>
                          <a:ea typeface="Cambria Math"/>
                        </a:rPr>
                        <m:t>=</m:t>
                      </m:r>
                      <m:f>
                        <m:fPr>
                          <m:ctrlPr>
                            <a:rPr lang="en-GB" sz="3200" i="1">
                              <a:latin typeface="Cambria Math" panose="02040503050406030204" pitchFamily="18" charset="0"/>
                              <a:ea typeface="Cambria Math"/>
                            </a:rPr>
                          </m:ctrlPr>
                        </m:fPr>
                        <m:num>
                          <m:d>
                            <m:dPr>
                              <m:ctrlPr>
                                <a:rPr lang="en-GB" sz="3200" i="1" smtClean="0">
                                  <a:latin typeface="Cambria Math" panose="02040503050406030204" pitchFamily="18" charset="0"/>
                                  <a:ea typeface="Cambria Math"/>
                                </a:rPr>
                              </m:ctrlPr>
                            </m:dPr>
                            <m:e>
                              <m:sSub>
                                <m:sSubPr>
                                  <m:ctrlPr>
                                    <a:rPr lang="en-GB" sz="3200" i="1">
                                      <a:latin typeface="Cambria Math" panose="02040503050406030204" pitchFamily="18" charset="0"/>
                                      <a:ea typeface="Cambria Math"/>
                                    </a:rPr>
                                  </m:ctrlPr>
                                </m:sSubPr>
                                <m:e>
                                  <m:acc>
                                    <m:accPr>
                                      <m:chr m:val="̅"/>
                                      <m:ctrlPr>
                                        <a:rPr lang="en-GB" sz="3200" i="1">
                                          <a:latin typeface="Cambria Math" panose="02040503050406030204" pitchFamily="18" charset="0"/>
                                          <a:ea typeface="Cambria Math"/>
                                        </a:rPr>
                                      </m:ctrlPr>
                                    </m:accPr>
                                    <m:e>
                                      <m:r>
                                        <a:rPr lang="en-GB" sz="3200" i="1">
                                          <a:latin typeface="Cambria Math"/>
                                          <a:ea typeface="Cambria Math"/>
                                        </a:rPr>
                                        <m:t>𝑥</m:t>
                                      </m:r>
                                    </m:e>
                                  </m:acc>
                                </m:e>
                                <m:sub>
                                  <m:r>
                                    <a:rPr lang="en-GB" sz="3200" i="1">
                                      <a:latin typeface="Cambria Math"/>
                                      <a:ea typeface="Cambria Math"/>
                                    </a:rPr>
                                    <m:t>1</m:t>
                                  </m:r>
                                </m:sub>
                              </m:sSub>
                              <m:r>
                                <a:rPr lang="en-GB" sz="3200" i="1">
                                  <a:latin typeface="Cambria Math"/>
                                  <a:ea typeface="Cambria Math"/>
                                </a:rPr>
                                <m:t>−</m:t>
                              </m:r>
                              <m:sSub>
                                <m:sSubPr>
                                  <m:ctrlPr>
                                    <a:rPr lang="en-GB" sz="3200" i="1">
                                      <a:latin typeface="Cambria Math" panose="02040503050406030204" pitchFamily="18" charset="0"/>
                                      <a:ea typeface="Cambria Math"/>
                                    </a:rPr>
                                  </m:ctrlPr>
                                </m:sSubPr>
                                <m:e>
                                  <m:acc>
                                    <m:accPr>
                                      <m:chr m:val="̅"/>
                                      <m:ctrlPr>
                                        <a:rPr lang="en-GB" sz="3200" i="1">
                                          <a:latin typeface="Cambria Math" panose="02040503050406030204" pitchFamily="18" charset="0"/>
                                          <a:ea typeface="Cambria Math"/>
                                        </a:rPr>
                                      </m:ctrlPr>
                                    </m:accPr>
                                    <m:e>
                                      <m:r>
                                        <a:rPr lang="en-GB" sz="3200" i="1">
                                          <a:latin typeface="Cambria Math"/>
                                          <a:ea typeface="Cambria Math"/>
                                        </a:rPr>
                                        <m:t>𝑥</m:t>
                                      </m:r>
                                    </m:e>
                                  </m:acc>
                                </m:e>
                                <m:sub>
                                  <m:r>
                                    <a:rPr lang="en-GB" sz="3200" i="1">
                                      <a:latin typeface="Cambria Math"/>
                                      <a:ea typeface="Cambria Math"/>
                                    </a:rPr>
                                    <m:t>2</m:t>
                                  </m:r>
                                </m:sub>
                              </m:sSub>
                            </m:e>
                          </m:d>
                          <m:r>
                            <a:rPr lang="en-GB" sz="3200" i="1">
                              <a:latin typeface="Cambria Math"/>
                              <a:ea typeface="Cambria Math"/>
                            </a:rPr>
                            <m:t>−</m:t>
                          </m:r>
                          <m:d>
                            <m:dPr>
                              <m:ctrlPr>
                                <a:rPr lang="en-GB" sz="3200" i="1">
                                  <a:latin typeface="Cambria Math" panose="02040503050406030204" pitchFamily="18" charset="0"/>
                                  <a:ea typeface="Cambria Math"/>
                                </a:rPr>
                              </m:ctrlPr>
                            </m:dPr>
                            <m:e>
                              <m:sSub>
                                <m:sSubPr>
                                  <m:ctrlPr>
                                    <a:rPr lang="en-GB" sz="3200" i="1">
                                      <a:latin typeface="Cambria Math" panose="02040503050406030204" pitchFamily="18" charset="0"/>
                                      <a:ea typeface="Cambria Math"/>
                                    </a:rPr>
                                  </m:ctrlPr>
                                </m:sSubPr>
                                <m:e>
                                  <m:r>
                                    <a:rPr lang="en-GB" sz="3200" i="1" smtClean="0">
                                      <a:latin typeface="Cambria Math"/>
                                      <a:ea typeface="Cambria Math"/>
                                    </a:rPr>
                                    <m:t>𝜇</m:t>
                                  </m:r>
                                </m:e>
                                <m:sub>
                                  <m:r>
                                    <a:rPr lang="en-GB" sz="3200" i="1">
                                      <a:latin typeface="Cambria Math"/>
                                      <a:ea typeface="Cambria Math"/>
                                    </a:rPr>
                                    <m:t>1</m:t>
                                  </m:r>
                                </m:sub>
                              </m:sSub>
                              <m:r>
                                <a:rPr lang="en-GB" sz="3200" i="1">
                                  <a:latin typeface="Cambria Math"/>
                                  <a:ea typeface="Cambria Math"/>
                                </a:rPr>
                                <m:t>−</m:t>
                              </m:r>
                              <m:sSub>
                                <m:sSubPr>
                                  <m:ctrlPr>
                                    <a:rPr lang="en-GB" sz="3200" i="1">
                                      <a:latin typeface="Cambria Math" panose="02040503050406030204" pitchFamily="18" charset="0"/>
                                      <a:ea typeface="Cambria Math"/>
                                    </a:rPr>
                                  </m:ctrlPr>
                                </m:sSubPr>
                                <m:e>
                                  <m:r>
                                    <a:rPr lang="en-GB" sz="3200" i="1">
                                      <a:latin typeface="Cambria Math"/>
                                      <a:ea typeface="Cambria Math"/>
                                    </a:rPr>
                                    <m:t>𝜇</m:t>
                                  </m:r>
                                </m:e>
                                <m:sub>
                                  <m:r>
                                    <a:rPr lang="en-GB" sz="3200" i="1">
                                      <a:latin typeface="Cambria Math"/>
                                      <a:ea typeface="Cambria Math"/>
                                    </a:rPr>
                                    <m:t>2</m:t>
                                  </m:r>
                                </m:sub>
                              </m:sSub>
                            </m:e>
                          </m:d>
                        </m:num>
                        <m:den>
                          <m:box>
                            <m:boxPr>
                              <m:ctrlPr>
                                <a:rPr lang="en-GB" sz="3200" i="1" smtClean="0">
                                  <a:latin typeface="Cambria Math" panose="02040503050406030204" pitchFamily="18" charset="0"/>
                                  <a:ea typeface="Cambria Math"/>
                                </a:rPr>
                              </m:ctrlPr>
                            </m:boxPr>
                            <m:e>
                              <m:argPr>
                                <m:argSz m:val="-1"/>
                              </m:argPr>
                              <m:sSub>
                                <m:sSubPr>
                                  <m:ctrlPr>
                                    <a:rPr lang="en-GB" sz="3200" i="1" smtClean="0">
                                      <a:latin typeface="Cambria Math" panose="02040503050406030204" pitchFamily="18" charset="0"/>
                                      <a:ea typeface="Cambria Math"/>
                                    </a:rPr>
                                  </m:ctrlPr>
                                </m:sSubPr>
                                <m:e>
                                  <m:r>
                                    <a:rPr lang="en-GB" sz="3200" b="0" i="1" smtClean="0">
                                      <a:latin typeface="Cambria Math"/>
                                      <a:ea typeface="Cambria Math"/>
                                    </a:rPr>
                                    <m:t>𝑠</m:t>
                                  </m:r>
                                </m:e>
                                <m:sub>
                                  <m:r>
                                    <a:rPr lang="en-GB" sz="3200" b="0" i="1" smtClean="0">
                                      <a:latin typeface="Cambria Math"/>
                                      <a:ea typeface="Cambria Math"/>
                                    </a:rPr>
                                    <m:t>𝑝</m:t>
                                  </m:r>
                                </m:sub>
                              </m:sSub>
                              <m:rad>
                                <m:radPr>
                                  <m:degHide m:val="on"/>
                                  <m:ctrlPr>
                                    <a:rPr lang="en-GB" sz="3200" i="1" smtClean="0">
                                      <a:latin typeface="Cambria Math" panose="02040503050406030204" pitchFamily="18" charset="0"/>
                                      <a:ea typeface="Cambria Math"/>
                                    </a:rPr>
                                  </m:ctrlPr>
                                </m:radPr>
                                <m:deg/>
                                <m:e>
                                  <m:f>
                                    <m:fPr>
                                      <m:ctrlPr>
                                        <a:rPr lang="en-GB" altLang="en-US" sz="3200" i="1">
                                          <a:latin typeface="Cambria Math" panose="02040503050406030204" pitchFamily="18" charset="0"/>
                                        </a:rPr>
                                      </m:ctrlPr>
                                    </m:fPr>
                                    <m:num>
                                      <m:r>
                                        <a:rPr lang="en-GB" altLang="en-US" sz="3200" b="0" i="1">
                                          <a:latin typeface="Cambria Math"/>
                                        </a:rPr>
                                        <m:t>1</m:t>
                                      </m:r>
                                    </m:num>
                                    <m:den>
                                      <m:sSub>
                                        <m:sSubPr>
                                          <m:ctrlPr>
                                            <a:rPr lang="en-GB" altLang="en-US" sz="3200" i="1">
                                              <a:latin typeface="Cambria Math" panose="02040503050406030204" pitchFamily="18" charset="0"/>
                                            </a:rPr>
                                          </m:ctrlPr>
                                        </m:sSubPr>
                                        <m:e>
                                          <m:r>
                                            <a:rPr lang="en-GB" altLang="en-US" sz="3200" b="0" i="1">
                                              <a:latin typeface="Cambria Math"/>
                                            </a:rPr>
                                            <m:t>𝑛</m:t>
                                          </m:r>
                                        </m:e>
                                        <m:sub>
                                          <m:r>
                                            <a:rPr lang="en-GB" altLang="en-US" sz="3200" b="0" i="1">
                                              <a:latin typeface="Cambria Math"/>
                                            </a:rPr>
                                            <m:t>1</m:t>
                                          </m:r>
                                        </m:sub>
                                      </m:sSub>
                                    </m:den>
                                  </m:f>
                                  <m:r>
                                    <a:rPr lang="en-GB" altLang="en-US" sz="3200" b="0" i="1">
                                      <a:latin typeface="Cambria Math"/>
                                    </a:rPr>
                                    <m:t>+</m:t>
                                  </m:r>
                                  <m:f>
                                    <m:fPr>
                                      <m:ctrlPr>
                                        <a:rPr lang="en-GB" altLang="en-US" sz="3200" i="1">
                                          <a:latin typeface="Cambria Math" panose="02040503050406030204" pitchFamily="18" charset="0"/>
                                        </a:rPr>
                                      </m:ctrlPr>
                                    </m:fPr>
                                    <m:num>
                                      <m:r>
                                        <a:rPr lang="en-GB" altLang="en-US" sz="3200" b="0" i="1">
                                          <a:latin typeface="Cambria Math"/>
                                        </a:rPr>
                                        <m:t>1</m:t>
                                      </m:r>
                                    </m:num>
                                    <m:den>
                                      <m:sSub>
                                        <m:sSubPr>
                                          <m:ctrlPr>
                                            <a:rPr lang="en-GB" altLang="en-US" sz="3200" i="1">
                                              <a:latin typeface="Cambria Math" panose="02040503050406030204" pitchFamily="18" charset="0"/>
                                            </a:rPr>
                                          </m:ctrlPr>
                                        </m:sSubPr>
                                        <m:e>
                                          <m:r>
                                            <a:rPr lang="en-GB" altLang="en-US" sz="3200" b="0" i="1">
                                              <a:latin typeface="Cambria Math"/>
                                            </a:rPr>
                                            <m:t>𝑛</m:t>
                                          </m:r>
                                        </m:e>
                                        <m:sub>
                                          <m:r>
                                            <a:rPr lang="en-GB" altLang="en-US" sz="3200" b="0" i="1">
                                              <a:latin typeface="Cambria Math"/>
                                            </a:rPr>
                                            <m:t>2</m:t>
                                          </m:r>
                                        </m:sub>
                                      </m:sSub>
                                    </m:den>
                                  </m:f>
                                </m:e>
                              </m:rad>
                            </m:e>
                          </m:box>
                        </m:den>
                      </m:f>
                    </m:oMath>
                  </m:oMathPara>
                </a14:m>
                <a:endParaRPr lang="en-GB" sz="3200" dirty="0">
                  <a:solidFill>
                    <a:schemeClr val="tx1"/>
                  </a:solidFill>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1447800" y="2362200"/>
                <a:ext cx="5334000" cy="1406219"/>
              </a:xfrm>
              <a:prstGeom prst="wedgeRectCallout">
                <a:avLst>
                  <a:gd name="adj1" fmla="val 7446"/>
                  <a:gd name="adj2" fmla="val 43351"/>
                </a:avLst>
              </a:prstGeom>
              <a:blipFill rotWithShape="1">
                <a:blip r:embed="rId6"/>
                <a:stretch>
                  <a:fillRect/>
                </a:stretch>
              </a:blipFill>
              <a:ln>
                <a:noFill/>
              </a:ln>
            </p:spPr>
            <p:txBody>
              <a:bodyPr/>
              <a:lstStyle/>
              <a:p>
                <a:r>
                  <a:rPr lang="en-GB">
                    <a:noFill/>
                  </a:rPr>
                  <a:t> </a:t>
                </a:r>
              </a:p>
            </p:txBody>
          </p:sp>
        </mc:Fallback>
      </mc:AlternateContent>
      <p:sp>
        <p:nvSpPr>
          <p:cNvPr id="12" name="Rectangle 11"/>
          <p:cNvSpPr/>
          <p:nvPr/>
        </p:nvSpPr>
        <p:spPr>
          <a:xfrm>
            <a:off x="304800" y="4705290"/>
            <a:ext cx="7928344" cy="400110"/>
          </a:xfrm>
          <a:prstGeom prst="rect">
            <a:avLst/>
          </a:prstGeom>
        </p:spPr>
        <p:txBody>
          <a:bodyPr wrap="square">
            <a:spAutoFit/>
          </a:bodyPr>
          <a:lstStyle/>
          <a:p>
            <a:r>
              <a:rPr lang="en-GB" altLang="en-US" sz="2000" dirty="0"/>
              <a:t>Assuming that the </a:t>
            </a:r>
            <a:r>
              <a:rPr lang="en-GB" altLang="en-US" sz="2000" b="1" dirty="0"/>
              <a:t>sampling distribution is normal </a:t>
            </a:r>
            <a:r>
              <a:rPr lang="en-GB" altLang="en-US" sz="2000" dirty="0"/>
              <a:t>for both samples</a:t>
            </a:r>
            <a:endParaRPr lang="en-GB" altLang="en-US" sz="3200" dirty="0">
              <a:sym typeface="GreekMathSymbols" pitchFamily="34" charset="2"/>
            </a:endParaRPr>
          </a:p>
        </p:txBody>
      </p:sp>
      <p:grpSp>
        <p:nvGrpSpPr>
          <p:cNvPr id="16" name="Group 15"/>
          <p:cNvGrpSpPr/>
          <p:nvPr/>
        </p:nvGrpSpPr>
        <p:grpSpPr>
          <a:xfrm>
            <a:off x="3657600" y="2927499"/>
            <a:ext cx="3886200" cy="1111101"/>
            <a:chOff x="3657600" y="2927499"/>
            <a:chExt cx="3886200" cy="1111101"/>
          </a:xfrm>
        </p:grpSpPr>
        <p:sp>
          <p:nvSpPr>
            <p:cNvPr id="17" name="Rectangular Callout 16"/>
            <p:cNvSpPr/>
            <p:nvPr/>
          </p:nvSpPr>
          <p:spPr>
            <a:xfrm>
              <a:off x="6299870" y="3515380"/>
              <a:ext cx="1243930" cy="523220"/>
            </a:xfrm>
            <a:prstGeom prst="wedgeRectCallout">
              <a:avLst>
                <a:gd name="adj1" fmla="val -110583"/>
                <a:gd name="adj2" fmla="val -53331"/>
              </a:avLst>
            </a:prstGeom>
            <a:ln>
              <a:prstDash val="sysDash"/>
            </a:ln>
          </p:spPr>
          <p:style>
            <a:lnRef idx="2">
              <a:schemeClr val="accent5"/>
            </a:lnRef>
            <a:fillRef idx="1">
              <a:schemeClr val="lt1"/>
            </a:fillRef>
            <a:effectRef idx="0">
              <a:schemeClr val="accent5"/>
            </a:effectRef>
            <a:fontRef idx="minor">
              <a:schemeClr val="dk1"/>
            </a:fontRef>
          </p:style>
          <p:txBody>
            <a:bodyPr wrap="none">
              <a:spAutoFit/>
            </a:bodyPr>
            <a:lstStyle/>
            <a:p>
              <a:r>
                <a:rPr lang="en-GB" altLang="en-US" sz="2800" b="1" dirty="0"/>
                <a:t>STEDM</a:t>
              </a:r>
              <a:endParaRPr lang="en-GB" sz="2800" dirty="0"/>
            </a:p>
          </p:txBody>
        </p:sp>
        <p:sp>
          <p:nvSpPr>
            <p:cNvPr id="18" name="Oval 17"/>
            <p:cNvSpPr/>
            <p:nvPr/>
          </p:nvSpPr>
          <p:spPr>
            <a:xfrm>
              <a:off x="3657600" y="2927499"/>
              <a:ext cx="1905000" cy="872819"/>
            </a:xfrm>
            <a:prstGeom prst="ellipse">
              <a:avLst/>
            </a:prstGeom>
            <a:noFill/>
            <a:ln>
              <a:prstDash val="sysDash"/>
            </a:ln>
          </p:spPr>
          <p:style>
            <a:lnRef idx="2">
              <a:schemeClr val="accent5"/>
            </a:lnRef>
            <a:fillRef idx="1">
              <a:schemeClr val="lt1"/>
            </a:fillRef>
            <a:effectRef idx="0">
              <a:schemeClr val="accent5"/>
            </a:effectRef>
            <a:fontRef idx="minor">
              <a:schemeClr val="dk1"/>
            </a:fontRef>
          </p:style>
          <p:txBody>
            <a:bodyPr rtlCol="0" anchor="ctr"/>
            <a:lstStyle/>
            <a:p>
              <a:pPr algn="ctr"/>
              <a:endParaRPr lang="en-GB"/>
            </a:p>
          </p:txBody>
        </p:sp>
      </p:grpSp>
      <p:grpSp>
        <p:nvGrpSpPr>
          <p:cNvPr id="5" name="Group 4"/>
          <p:cNvGrpSpPr/>
          <p:nvPr/>
        </p:nvGrpSpPr>
        <p:grpSpPr>
          <a:xfrm>
            <a:off x="685800" y="3189767"/>
            <a:ext cx="3439633" cy="1426930"/>
            <a:chOff x="685800" y="3189767"/>
            <a:chExt cx="3439633" cy="1426930"/>
          </a:xfrm>
        </p:grpSpPr>
        <mc:AlternateContent xmlns:mc="http://schemas.openxmlformats.org/markup-compatibility/2006" xmlns:a14="http://schemas.microsoft.com/office/drawing/2010/main">
          <mc:Choice Requires="a14">
            <p:sp>
              <p:nvSpPr>
                <p:cNvPr id="2" name="Rectangular Callout 1"/>
                <p:cNvSpPr/>
                <p:nvPr/>
              </p:nvSpPr>
              <p:spPr>
                <a:xfrm>
                  <a:off x="685800" y="3429000"/>
                  <a:ext cx="2343847" cy="1187697"/>
                </a:xfrm>
                <a:prstGeom prst="wedgeRectCallout">
                  <a:avLst>
                    <a:gd name="adj1" fmla="val 75012"/>
                    <a:gd name="adj2" fmla="val -42379"/>
                  </a:avLst>
                </a:prstGeom>
                <a:solidFill>
                  <a:schemeClr val="accent3">
                    <a:lumMod val="20000"/>
                    <a:lumOff val="80000"/>
                  </a:schemeClr>
                </a:solidFill>
                <a:ln>
                  <a:solidFill>
                    <a:schemeClr val="accent3">
                      <a:lumMod val="75000"/>
                    </a:schemeClr>
                  </a:solidFill>
                  <a:prstDash val="sysDash"/>
                </a:ln>
              </p:spPr>
              <p:style>
                <a:lnRef idx="2">
                  <a:schemeClr val="accent4"/>
                </a:lnRef>
                <a:fillRef idx="1">
                  <a:schemeClr val="lt1"/>
                </a:fillRef>
                <a:effectRef idx="0">
                  <a:schemeClr val="accent4"/>
                </a:effectRef>
                <a:fontRef idx="minor">
                  <a:schemeClr val="dk1"/>
                </a:fontRef>
              </p:style>
              <p:txBody>
                <a:bodyPr wrap="none">
                  <a:spAutoFit/>
                </a:bodyPr>
                <a:lstStyle/>
                <a:p>
                  <a:r>
                    <a:rPr lang="en-GB" b="1" dirty="0">
                      <a:ea typeface="Cambria Math"/>
                    </a:rPr>
                    <a:t>Pooled SD</a:t>
                  </a:r>
                </a:p>
                <a:p>
                  <a:pPr/>
                  <a14:m>
                    <m:oMathPara xmlns:m="http://schemas.openxmlformats.org/officeDocument/2006/math">
                      <m:oMathParaPr>
                        <m:jc m:val="centerGroup"/>
                      </m:oMathParaPr>
                      <m:oMath xmlns:m="http://schemas.openxmlformats.org/officeDocument/2006/math">
                        <m:sSub>
                          <m:sSubPr>
                            <m:ctrlPr>
                              <a:rPr lang="en-GB" b="1" i="1" smtClean="0">
                                <a:latin typeface="Cambria Math" panose="02040503050406030204" pitchFamily="18" charset="0"/>
                                <a:ea typeface="Cambria Math"/>
                              </a:rPr>
                            </m:ctrlPr>
                          </m:sSubPr>
                          <m:e>
                            <m:r>
                              <a:rPr lang="en-GB" b="1" i="1">
                                <a:latin typeface="Cambria Math"/>
                                <a:ea typeface="Cambria Math"/>
                              </a:rPr>
                              <m:t>𝒔</m:t>
                            </m:r>
                          </m:e>
                          <m:sub>
                            <m:r>
                              <a:rPr lang="en-GB" b="1" i="1">
                                <a:latin typeface="Cambria Math"/>
                                <a:ea typeface="Cambria Math"/>
                              </a:rPr>
                              <m:t>𝒑</m:t>
                            </m:r>
                          </m:sub>
                        </m:sSub>
                        <m:r>
                          <a:rPr lang="en-GB" b="1" i="1" smtClean="0">
                            <a:latin typeface="Cambria Math"/>
                            <a:ea typeface="Cambria Math"/>
                          </a:rPr>
                          <m:t>=</m:t>
                        </m:r>
                        <m:rad>
                          <m:radPr>
                            <m:degHide m:val="on"/>
                            <m:ctrlPr>
                              <a:rPr lang="en-GB" b="1" i="1">
                                <a:latin typeface="Cambria Math" panose="02040503050406030204" pitchFamily="18" charset="0"/>
                                <a:ea typeface="Cambria Math"/>
                              </a:rPr>
                            </m:ctrlPr>
                          </m:radPr>
                          <m:deg/>
                          <m:e>
                            <m:f>
                              <m:fPr>
                                <m:ctrlPr>
                                  <a:rPr lang="en-GB" altLang="en-US" b="1" i="1">
                                    <a:latin typeface="Cambria Math" panose="02040503050406030204" pitchFamily="18" charset="0"/>
                                  </a:rPr>
                                </m:ctrlPr>
                              </m:fPr>
                              <m:num>
                                <m:sSub>
                                  <m:sSubPr>
                                    <m:ctrlPr>
                                      <a:rPr lang="en-GB" altLang="en-US" b="1" i="1">
                                        <a:latin typeface="Cambria Math" panose="02040503050406030204" pitchFamily="18" charset="0"/>
                                      </a:rPr>
                                    </m:ctrlPr>
                                  </m:sSubPr>
                                  <m:e>
                                    <m:r>
                                      <a:rPr lang="en-GB" altLang="en-US" b="1" i="1">
                                        <a:latin typeface="Cambria Math"/>
                                      </a:rPr>
                                      <m:t>𝒏</m:t>
                                    </m:r>
                                  </m:e>
                                  <m:sub>
                                    <m:r>
                                      <a:rPr lang="en-GB" altLang="en-US" b="1" i="1">
                                        <a:latin typeface="Cambria Math"/>
                                      </a:rPr>
                                      <m:t>𝟏</m:t>
                                    </m:r>
                                  </m:sub>
                                </m:sSub>
                                <m:sSubSup>
                                  <m:sSubSupPr>
                                    <m:ctrlPr>
                                      <a:rPr lang="en-GB" altLang="en-US" b="1" i="1" smtClean="0">
                                        <a:latin typeface="Cambria Math" panose="02040503050406030204" pitchFamily="18" charset="0"/>
                                      </a:rPr>
                                    </m:ctrlPr>
                                  </m:sSubSupPr>
                                  <m:e>
                                    <m:r>
                                      <a:rPr lang="en-GB" altLang="en-US" b="1" i="1" smtClean="0">
                                        <a:latin typeface="Cambria Math"/>
                                      </a:rPr>
                                      <m:t>𝒔</m:t>
                                    </m:r>
                                  </m:e>
                                  <m:sub>
                                    <m:r>
                                      <a:rPr lang="en-GB" altLang="en-US" b="1" i="1" smtClean="0">
                                        <a:latin typeface="Cambria Math"/>
                                      </a:rPr>
                                      <m:t>𝟏</m:t>
                                    </m:r>
                                  </m:sub>
                                  <m:sup>
                                    <m:r>
                                      <a:rPr lang="en-GB" altLang="en-US" b="1" i="1" smtClean="0">
                                        <a:latin typeface="Cambria Math"/>
                                      </a:rPr>
                                      <m:t>𝟐</m:t>
                                    </m:r>
                                  </m:sup>
                                </m:sSubSup>
                                <m:r>
                                  <a:rPr lang="en-GB" altLang="en-US" b="1" i="1">
                                    <a:latin typeface="Cambria Math"/>
                                  </a:rPr>
                                  <m:t>+</m:t>
                                </m:r>
                                <m:sSub>
                                  <m:sSubPr>
                                    <m:ctrlPr>
                                      <a:rPr lang="en-GB" altLang="en-US" b="1" i="1">
                                        <a:latin typeface="Cambria Math" panose="02040503050406030204" pitchFamily="18" charset="0"/>
                                      </a:rPr>
                                    </m:ctrlPr>
                                  </m:sSubPr>
                                  <m:e>
                                    <m:r>
                                      <a:rPr lang="en-GB" altLang="en-US" b="1" i="1">
                                        <a:latin typeface="Cambria Math"/>
                                      </a:rPr>
                                      <m:t>𝒏</m:t>
                                    </m:r>
                                  </m:e>
                                  <m:sub>
                                    <m:r>
                                      <a:rPr lang="en-GB" altLang="en-US" b="1" i="1">
                                        <a:latin typeface="Cambria Math"/>
                                      </a:rPr>
                                      <m:t>𝟐</m:t>
                                    </m:r>
                                  </m:sub>
                                </m:sSub>
                                <m:sSubSup>
                                  <m:sSubSupPr>
                                    <m:ctrlPr>
                                      <a:rPr lang="en-GB" altLang="en-US" b="1" i="1">
                                        <a:latin typeface="Cambria Math" panose="02040503050406030204" pitchFamily="18" charset="0"/>
                                      </a:rPr>
                                    </m:ctrlPr>
                                  </m:sSubSupPr>
                                  <m:e>
                                    <m:r>
                                      <a:rPr lang="en-GB" altLang="en-US" b="1" i="1">
                                        <a:latin typeface="Cambria Math"/>
                                      </a:rPr>
                                      <m:t>𝒔</m:t>
                                    </m:r>
                                  </m:e>
                                  <m:sub>
                                    <m:r>
                                      <a:rPr lang="en-GB" altLang="en-US" b="1" i="1" smtClean="0">
                                        <a:latin typeface="Cambria Math"/>
                                      </a:rPr>
                                      <m:t>𝟐</m:t>
                                    </m:r>
                                  </m:sub>
                                  <m:sup>
                                    <m:r>
                                      <a:rPr lang="en-GB" altLang="en-US" b="1" i="1">
                                        <a:latin typeface="Cambria Math"/>
                                      </a:rPr>
                                      <m:t>𝟐</m:t>
                                    </m:r>
                                  </m:sup>
                                </m:sSubSup>
                              </m:num>
                              <m:den>
                                <m:sSub>
                                  <m:sSubPr>
                                    <m:ctrlPr>
                                      <a:rPr lang="en-GB" altLang="en-US" b="1" i="1">
                                        <a:latin typeface="Cambria Math" panose="02040503050406030204" pitchFamily="18" charset="0"/>
                                      </a:rPr>
                                    </m:ctrlPr>
                                  </m:sSubPr>
                                  <m:e>
                                    <m:r>
                                      <a:rPr lang="en-GB" altLang="en-US" b="1" i="1">
                                        <a:latin typeface="Cambria Math"/>
                                      </a:rPr>
                                      <m:t>𝒏</m:t>
                                    </m:r>
                                  </m:e>
                                  <m:sub>
                                    <m:r>
                                      <a:rPr lang="en-GB" altLang="en-US" b="1" i="1">
                                        <a:latin typeface="Cambria Math"/>
                                      </a:rPr>
                                      <m:t>𝟏</m:t>
                                    </m:r>
                                  </m:sub>
                                </m:sSub>
                                <m:r>
                                  <a:rPr lang="en-GB" altLang="en-US" b="1" i="1" smtClean="0">
                                    <a:latin typeface="Cambria Math"/>
                                  </a:rPr>
                                  <m:t>+</m:t>
                                </m:r>
                                <m:sSub>
                                  <m:sSubPr>
                                    <m:ctrlPr>
                                      <a:rPr lang="en-GB" altLang="en-US" b="1" i="1">
                                        <a:latin typeface="Cambria Math" panose="02040503050406030204" pitchFamily="18" charset="0"/>
                                      </a:rPr>
                                    </m:ctrlPr>
                                  </m:sSubPr>
                                  <m:e>
                                    <m:r>
                                      <a:rPr lang="en-GB" altLang="en-US" b="1" i="1">
                                        <a:latin typeface="Cambria Math"/>
                                      </a:rPr>
                                      <m:t>𝒏</m:t>
                                    </m:r>
                                  </m:e>
                                  <m:sub>
                                    <m:r>
                                      <a:rPr lang="en-GB" altLang="en-US" b="1" i="1">
                                        <a:latin typeface="Cambria Math"/>
                                      </a:rPr>
                                      <m:t>𝟐</m:t>
                                    </m:r>
                                  </m:sub>
                                </m:sSub>
                              </m:den>
                            </m:f>
                          </m:e>
                        </m:rad>
                      </m:oMath>
                    </m:oMathPara>
                  </a14:m>
                  <a:endParaRPr lang="en-GB" b="1" dirty="0"/>
                </a:p>
              </p:txBody>
            </p:sp>
          </mc:Choice>
          <mc:Fallback xmlns="">
            <p:sp>
              <p:nvSpPr>
                <p:cNvPr id="2" name="Rectangular Callout 1"/>
                <p:cNvSpPr>
                  <a:spLocks noRot="1" noChangeAspect="1" noMove="1" noResize="1" noEditPoints="1" noAdjustHandles="1" noChangeArrowheads="1" noChangeShapeType="1" noTextEdit="1"/>
                </p:cNvSpPr>
                <p:nvPr/>
              </p:nvSpPr>
              <p:spPr>
                <a:xfrm>
                  <a:off x="685800" y="3429000"/>
                  <a:ext cx="2343847" cy="1187697"/>
                </a:xfrm>
                <a:prstGeom prst="wedgeRectCallout">
                  <a:avLst>
                    <a:gd name="adj1" fmla="val 75012"/>
                    <a:gd name="adj2" fmla="val -42379"/>
                  </a:avLst>
                </a:prstGeom>
                <a:blipFill rotWithShape="1">
                  <a:blip r:embed="rId7"/>
                  <a:stretch>
                    <a:fillRect l="-1443" t="-1515"/>
                  </a:stretch>
                </a:blipFill>
                <a:ln>
                  <a:solidFill>
                    <a:schemeClr val="accent3">
                      <a:lumMod val="75000"/>
                    </a:schemeClr>
                  </a:solidFill>
                  <a:prstDash val="sysDash"/>
                </a:ln>
              </p:spPr>
              <p:txBody>
                <a:bodyPr/>
                <a:lstStyle/>
                <a:p>
                  <a:r>
                    <a:rPr lang="en-GB">
                      <a:noFill/>
                    </a:rPr>
                    <a:t> </a:t>
                  </a:r>
                </a:p>
              </p:txBody>
            </p:sp>
          </mc:Fallback>
        </mc:AlternateContent>
        <p:sp>
          <p:nvSpPr>
            <p:cNvPr id="19" name="Oval 18"/>
            <p:cNvSpPr/>
            <p:nvPr/>
          </p:nvSpPr>
          <p:spPr>
            <a:xfrm>
              <a:off x="3592033" y="3189767"/>
              <a:ext cx="533400" cy="516310"/>
            </a:xfrm>
            <a:prstGeom prst="ellipse">
              <a:avLst/>
            </a:prstGeom>
            <a:noFill/>
            <a:ln>
              <a:solidFill>
                <a:schemeClr val="accent3">
                  <a:lumMod val="75000"/>
                </a:schemeClr>
              </a:solidFill>
              <a:prstDash val="sysDash"/>
            </a:ln>
          </p:spPr>
          <p:style>
            <a:lnRef idx="2">
              <a:schemeClr val="accent5"/>
            </a:lnRef>
            <a:fillRef idx="1">
              <a:schemeClr val="lt1"/>
            </a:fillRef>
            <a:effectRef idx="0">
              <a:schemeClr val="accent5"/>
            </a:effectRef>
            <a:fontRef idx="minor">
              <a:schemeClr val="dk1"/>
            </a:fontRef>
          </p:style>
          <p:txBody>
            <a:bodyPr rtlCol="0" anchor="ctr"/>
            <a:lstStyle/>
            <a:p>
              <a:pPr algn="ctr"/>
              <a:endParaRPr lang="en-GB"/>
            </a:p>
          </p:txBody>
        </p:sp>
      </p:grpSp>
      <p:sp>
        <p:nvSpPr>
          <p:cNvPr id="20" name="Rectangle 19"/>
          <p:cNvSpPr/>
          <p:nvPr/>
        </p:nvSpPr>
        <p:spPr>
          <a:xfrm>
            <a:off x="308344" y="914400"/>
            <a:ext cx="8530856" cy="1323439"/>
          </a:xfrm>
          <a:prstGeom prst="rect">
            <a:avLst/>
          </a:prstGeom>
        </p:spPr>
        <p:txBody>
          <a:bodyPr wrap="square">
            <a:spAutoFit/>
          </a:bodyPr>
          <a:lstStyle/>
          <a:p>
            <a:r>
              <a:rPr lang="en-GB" altLang="en-US" sz="2000" b="1" dirty="0">
                <a:solidFill>
                  <a:srgbClr val="333399"/>
                </a:solidFill>
              </a:rPr>
              <a:t>Step 2. Test Statistic:</a:t>
            </a:r>
          </a:p>
          <a:p>
            <a:r>
              <a:rPr lang="en-GB" altLang="en-US" sz="2000" dirty="0"/>
              <a:t>The number of standard errors by which the </a:t>
            </a:r>
            <a:r>
              <a:rPr lang="en-GB" altLang="en-US" sz="2000" b="1" dirty="0"/>
              <a:t>difference of sample mean </a:t>
            </a:r>
            <a:r>
              <a:rPr lang="en-GB" altLang="en-US" sz="2000" dirty="0"/>
              <a:t>differs from </a:t>
            </a:r>
            <a:r>
              <a:rPr lang="en-GB" altLang="en-US" sz="2000" b="1" dirty="0"/>
              <a:t>difference in population mean</a:t>
            </a:r>
            <a:r>
              <a:rPr lang="en-GB" altLang="en-US" sz="2000" dirty="0"/>
              <a:t> known as </a:t>
            </a:r>
            <a:r>
              <a:rPr lang="en-GB" altLang="en-US" sz="2000" b="1" dirty="0">
                <a:solidFill>
                  <a:srgbClr val="333399"/>
                </a:solidFill>
              </a:rPr>
              <a:t>standard error of difference in sample means </a:t>
            </a:r>
            <a:r>
              <a:rPr lang="en-GB" altLang="en-US" sz="2000" dirty="0">
                <a:solidFill>
                  <a:srgbClr val="333399"/>
                </a:solidFill>
              </a:rPr>
              <a:t>(STEDM)</a:t>
            </a:r>
          </a:p>
        </p:txBody>
      </p:sp>
    </p:spTree>
    <p:extLst>
      <p:ext uri="{BB962C8B-B14F-4D97-AF65-F5344CB8AC3E}">
        <p14:creationId xmlns:p14="http://schemas.microsoft.com/office/powerpoint/2010/main" val="426675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a:t>Comparing two means</a:t>
            </a:r>
          </a:p>
        </p:txBody>
      </p:sp>
      <mc:AlternateContent xmlns:mc="http://schemas.openxmlformats.org/markup-compatibility/2006" xmlns:a14="http://schemas.microsoft.com/office/drawing/2010/main">
        <mc:Choice Requires="a14">
          <p:graphicFrame>
            <p:nvGraphicFramePr>
              <p:cNvPr id="7" name="Table 6"/>
              <p:cNvGraphicFramePr>
                <a:graphicFrameLocks noGrp="1"/>
              </p:cNvGraphicFramePr>
              <p:nvPr/>
            </p:nvGraphicFramePr>
            <p:xfrm>
              <a:off x="5715000" y="22328"/>
              <a:ext cx="3408966" cy="944880"/>
            </p:xfrm>
            <a:graphic>
              <a:graphicData uri="http://schemas.openxmlformats.org/drawingml/2006/table">
                <a:tbl>
                  <a:tblPr firstRow="1" firstCol="1" bandRow="1">
                    <a:tableStyleId>{5C22544A-7EE6-4342-B048-85BDC9FD1C3A}</a:tableStyleId>
                  </a:tblPr>
                  <a:tblGrid>
                    <a:gridCol w="1629972">
                      <a:extLst>
                        <a:ext uri="{9D8B030D-6E8A-4147-A177-3AD203B41FA5}">
                          <a16:colId xmlns:a16="http://schemas.microsoft.com/office/drawing/2014/main" val="20000"/>
                        </a:ext>
                      </a:extLst>
                    </a:gridCol>
                    <a:gridCol w="686304">
                      <a:extLst>
                        <a:ext uri="{9D8B030D-6E8A-4147-A177-3AD203B41FA5}">
                          <a16:colId xmlns:a16="http://schemas.microsoft.com/office/drawing/2014/main" val="20001"/>
                        </a:ext>
                      </a:extLst>
                    </a:gridCol>
                    <a:gridCol w="499692">
                      <a:extLst>
                        <a:ext uri="{9D8B030D-6E8A-4147-A177-3AD203B41FA5}">
                          <a16:colId xmlns:a16="http://schemas.microsoft.com/office/drawing/2014/main" val="20002"/>
                        </a:ext>
                      </a:extLst>
                    </a:gridCol>
                    <a:gridCol w="592998">
                      <a:extLst>
                        <a:ext uri="{9D8B030D-6E8A-4147-A177-3AD203B41FA5}">
                          <a16:colId xmlns:a16="http://schemas.microsoft.com/office/drawing/2014/main" val="20003"/>
                        </a:ext>
                      </a:extLst>
                    </a:gridCol>
                  </a:tblGrid>
                  <a:tr h="335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lang="en-GB" altLang="en-US" sz="1600" b="1" i="1" smtClean="0">
                                        <a:latin typeface="Cambria Math" panose="02040503050406030204" pitchFamily="18" charset="0"/>
                                      </a:rPr>
                                    </m:ctrlPr>
                                  </m:sSubPr>
                                  <m:e>
                                    <m:r>
                                      <a:rPr lang="en-GB" altLang="en-US" sz="1600" b="1" i="1">
                                        <a:latin typeface="Cambria Math"/>
                                      </a:rPr>
                                      <m:t>𝑯</m:t>
                                    </m:r>
                                  </m:e>
                                  <m:sub>
                                    <m:r>
                                      <a:rPr lang="en-GB" altLang="en-US" sz="1600" b="1" i="1">
                                        <a:latin typeface="Cambria Math"/>
                                      </a:rPr>
                                      <m:t>𝟎</m:t>
                                    </m:r>
                                  </m:sub>
                                </m:sSub>
                                <m:r>
                                  <a:rPr lang="en-GB" altLang="en-US" sz="1600" b="1" i="1">
                                    <a:latin typeface="Cambria Math"/>
                                  </a:rPr>
                                  <m:t>:</m:t>
                                </m:r>
                                <m:sSub>
                                  <m:sSubPr>
                                    <m:ctrlPr>
                                      <a:rPr lang="en-GB" altLang="en-US" sz="1600" b="1" i="1">
                                        <a:latin typeface="Cambria Math" panose="02040503050406030204" pitchFamily="18" charset="0"/>
                                      </a:rPr>
                                    </m:ctrlPr>
                                  </m:sSubPr>
                                  <m:e>
                                    <m:r>
                                      <a:rPr lang="en-GB" altLang="en-US" sz="1600" b="1" i="1">
                                        <a:latin typeface="Cambria Math"/>
                                        <a:ea typeface="Cambria Math"/>
                                      </a:rPr>
                                      <m:t>𝝁</m:t>
                                    </m:r>
                                  </m:e>
                                  <m:sub>
                                    <m:r>
                                      <a:rPr lang="en-GB" altLang="en-US" sz="1600" b="1" i="1">
                                        <a:latin typeface="Cambria Math"/>
                                      </a:rPr>
                                      <m:t>𝟏</m:t>
                                    </m:r>
                                  </m:sub>
                                </m:sSub>
                                <m:r>
                                  <a:rPr lang="en-GB" altLang="en-US" sz="1600" b="1" i="1">
                                    <a:latin typeface="Cambria Math"/>
                                  </a:rPr>
                                  <m:t>=</m:t>
                                </m:r>
                                <m:sSub>
                                  <m:sSubPr>
                                    <m:ctrlPr>
                                      <a:rPr lang="en-GB" altLang="en-US" sz="1600" b="1" i="1">
                                        <a:latin typeface="Cambria Math" panose="02040503050406030204" pitchFamily="18" charset="0"/>
                                      </a:rPr>
                                    </m:ctrlPr>
                                  </m:sSubPr>
                                  <m:e>
                                    <m:r>
                                      <a:rPr lang="en-GB" altLang="en-US" sz="1600" b="1" i="1">
                                        <a:latin typeface="Cambria Math"/>
                                        <a:ea typeface="Cambria Math"/>
                                      </a:rPr>
                                      <m:t>𝝁</m:t>
                                    </m:r>
                                  </m:e>
                                  <m:sub>
                                    <m:r>
                                      <a:rPr lang="en-GB" altLang="en-US" sz="1600" b="1" i="1">
                                        <a:latin typeface="Cambria Math"/>
                                        <a:ea typeface="Cambria Math"/>
                                      </a:rPr>
                                      <m:t>𝟐</m:t>
                                    </m:r>
                                  </m:sub>
                                </m:sSub>
                              </m:oMath>
                            </m:oMathPara>
                          </a14:m>
                          <a:endParaRPr lang="en-GB" sz="1600" b="1" dirty="0"/>
                        </a:p>
                      </a:txBody>
                      <a:tcPr anchor="ctr"/>
                    </a:tc>
                    <a:tc>
                      <a:txBody>
                        <a:bodyPr/>
                        <a:lstStyle/>
                        <a:p>
                          <a:pPr algn="ctr"/>
                          <a:r>
                            <a:rPr lang="en-GB" sz="1400" dirty="0"/>
                            <a:t>Mean</a:t>
                          </a:r>
                        </a:p>
                      </a:txBody>
                      <a:tcPr anchor="ctr"/>
                    </a:tc>
                    <a:tc>
                      <a:txBody>
                        <a:bodyPr/>
                        <a:lstStyle/>
                        <a:p>
                          <a:pPr algn="ctr"/>
                          <a:r>
                            <a:rPr lang="en-GB" sz="1400" dirty="0"/>
                            <a:t>SD</a:t>
                          </a:r>
                        </a:p>
                      </a:txBody>
                      <a:tcPr anchor="ctr"/>
                    </a:tc>
                    <a:tc>
                      <a:txBody>
                        <a:bodyPr/>
                        <a:lstStyle/>
                        <a:p>
                          <a:pPr algn="ctr"/>
                          <a:r>
                            <a:rPr lang="en-GB" sz="1400" dirty="0"/>
                            <a:t>N</a:t>
                          </a:r>
                        </a:p>
                      </a:txBody>
                      <a:tcPr anchor="ctr"/>
                    </a:tc>
                    <a:extLst>
                      <a:ext uri="{0D108BD9-81ED-4DB2-BD59-A6C34878D82A}">
                        <a16:rowId xmlns:a16="http://schemas.microsoft.com/office/drawing/2014/main" val="10000"/>
                      </a:ext>
                    </a:extLst>
                  </a:tr>
                  <a:tr h="304800">
                    <a:tc>
                      <a:txBody>
                        <a:bodyPr/>
                        <a:lstStyle/>
                        <a:p>
                          <a:pPr marL="0" indent="0" algn="l">
                            <a:buAutoNum type="arabicPeriod"/>
                          </a:pPr>
                          <a:r>
                            <a:rPr lang="en-GB" sz="1400" dirty="0"/>
                            <a:t> Production</a:t>
                          </a:r>
                        </a:p>
                      </a:txBody>
                      <a:tcPr/>
                    </a:tc>
                    <a:tc>
                      <a:txBody>
                        <a:bodyPr/>
                        <a:lstStyle/>
                        <a:p>
                          <a:pPr algn="ctr"/>
                          <a:r>
                            <a:rPr lang="en-GB" sz="1400" b="1" dirty="0"/>
                            <a:t>£120</a:t>
                          </a:r>
                        </a:p>
                      </a:txBody>
                      <a:tcPr/>
                    </a:tc>
                    <a:tc>
                      <a:txBody>
                        <a:bodyPr/>
                        <a:lstStyle/>
                        <a:p>
                          <a:pPr algn="ctr"/>
                          <a:r>
                            <a:rPr lang="en-GB" sz="1400" b="1" dirty="0"/>
                            <a:t>£10</a:t>
                          </a:r>
                        </a:p>
                      </a:txBody>
                      <a:tcPr/>
                    </a:tc>
                    <a:tc>
                      <a:txBody>
                        <a:bodyPr/>
                        <a:lstStyle/>
                        <a:p>
                          <a:pPr algn="ctr"/>
                          <a:r>
                            <a:rPr lang="en-GB" sz="1400" b="1" dirty="0"/>
                            <a:t>30</a:t>
                          </a:r>
                        </a:p>
                      </a:txBody>
                      <a:tcPr/>
                    </a:tc>
                    <a:extLst>
                      <a:ext uri="{0D108BD9-81ED-4DB2-BD59-A6C34878D82A}">
                        <a16:rowId xmlns:a16="http://schemas.microsoft.com/office/drawing/2014/main" val="10001"/>
                      </a:ext>
                    </a:extLst>
                  </a:tr>
                  <a:tr h="304800">
                    <a:tc>
                      <a:txBody>
                        <a:bodyPr/>
                        <a:lstStyle/>
                        <a:p>
                          <a:pPr algn="l"/>
                          <a:r>
                            <a:rPr lang="en-GB" sz="1400" dirty="0"/>
                            <a:t>2. Maintenance</a:t>
                          </a:r>
                        </a:p>
                      </a:txBody>
                      <a:tcPr/>
                    </a:tc>
                    <a:tc>
                      <a:txBody>
                        <a:bodyPr/>
                        <a:lstStyle/>
                        <a:p>
                          <a:pPr algn="ctr"/>
                          <a:r>
                            <a:rPr lang="en-GB" sz="1400" b="1" dirty="0"/>
                            <a:t>£130</a:t>
                          </a:r>
                        </a:p>
                      </a:txBody>
                      <a:tcPr/>
                    </a:tc>
                    <a:tc>
                      <a:txBody>
                        <a:bodyPr/>
                        <a:lstStyle/>
                        <a:p>
                          <a:pPr algn="ctr"/>
                          <a:r>
                            <a:rPr lang="en-GB" sz="1400" b="1" dirty="0"/>
                            <a:t>£12</a:t>
                          </a:r>
                        </a:p>
                      </a:txBody>
                      <a:tcPr/>
                    </a:tc>
                    <a:tc>
                      <a:txBody>
                        <a:bodyPr/>
                        <a:lstStyle/>
                        <a:p>
                          <a:pPr algn="ctr"/>
                          <a:r>
                            <a:rPr lang="en-GB" sz="1400" b="1" dirty="0"/>
                            <a:t>50</a:t>
                          </a:r>
                        </a:p>
                      </a:txBody>
                      <a:tcPr/>
                    </a:tc>
                    <a:extLst>
                      <a:ext uri="{0D108BD9-81ED-4DB2-BD59-A6C34878D82A}">
                        <a16:rowId xmlns:a16="http://schemas.microsoft.com/office/drawing/2014/main" val="10002"/>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1295468936"/>
                  </p:ext>
                </p:extLst>
              </p:nvPr>
            </p:nvGraphicFramePr>
            <p:xfrm>
              <a:off x="5715000" y="22328"/>
              <a:ext cx="3408966" cy="944880"/>
            </p:xfrm>
            <a:graphic>
              <a:graphicData uri="http://schemas.openxmlformats.org/drawingml/2006/table">
                <a:tbl>
                  <a:tblPr firstRow="1" firstCol="1" bandRow="1">
                    <a:tableStyleId>{5C22544A-7EE6-4342-B048-85BDC9FD1C3A}</a:tableStyleId>
                  </a:tblPr>
                  <a:tblGrid>
                    <a:gridCol w="1629972"/>
                    <a:gridCol w="686304"/>
                    <a:gridCol w="499692"/>
                    <a:gridCol w="592998"/>
                  </a:tblGrid>
                  <a:tr h="335280">
                    <a:tc>
                      <a:txBody>
                        <a:bodyPr/>
                        <a:lstStyle/>
                        <a:p>
                          <a:endParaRPr lang="en-US"/>
                        </a:p>
                      </a:txBody>
                      <a:tcPr anchor="ctr">
                        <a:blipFill rotWithShape="1">
                          <a:blip r:embed="rId3"/>
                          <a:stretch>
                            <a:fillRect l="-375" t="-1818" r="-109363" b="-200000"/>
                          </a:stretch>
                        </a:blipFill>
                      </a:tcPr>
                    </a:tc>
                    <a:tc>
                      <a:txBody>
                        <a:bodyPr/>
                        <a:lstStyle/>
                        <a:p>
                          <a:pPr algn="ctr"/>
                          <a:r>
                            <a:rPr lang="en-GB" sz="1400" dirty="0" smtClean="0"/>
                            <a:t>Mean</a:t>
                          </a:r>
                          <a:endParaRPr lang="en-GB" sz="1400" dirty="0"/>
                        </a:p>
                      </a:txBody>
                      <a:tcPr anchor="ctr"/>
                    </a:tc>
                    <a:tc>
                      <a:txBody>
                        <a:bodyPr/>
                        <a:lstStyle/>
                        <a:p>
                          <a:pPr algn="ctr"/>
                          <a:r>
                            <a:rPr lang="en-GB" sz="1400" dirty="0" smtClean="0"/>
                            <a:t>SD</a:t>
                          </a:r>
                          <a:endParaRPr lang="en-GB" sz="1400" dirty="0"/>
                        </a:p>
                      </a:txBody>
                      <a:tcPr anchor="ctr"/>
                    </a:tc>
                    <a:tc>
                      <a:txBody>
                        <a:bodyPr/>
                        <a:lstStyle/>
                        <a:p>
                          <a:pPr algn="ctr"/>
                          <a:r>
                            <a:rPr lang="en-GB" sz="1400" dirty="0" smtClean="0"/>
                            <a:t>N</a:t>
                          </a:r>
                          <a:endParaRPr lang="en-GB" sz="1400" dirty="0"/>
                        </a:p>
                      </a:txBody>
                      <a:tcPr anchor="ctr"/>
                    </a:tc>
                  </a:tr>
                  <a:tr h="304800">
                    <a:tc>
                      <a:txBody>
                        <a:bodyPr/>
                        <a:lstStyle/>
                        <a:p>
                          <a:pPr marL="0" indent="0" algn="l">
                            <a:buAutoNum type="arabicPeriod"/>
                          </a:pPr>
                          <a:r>
                            <a:rPr lang="en-GB" sz="1400" dirty="0" smtClean="0"/>
                            <a:t> Production</a:t>
                          </a:r>
                          <a:endParaRPr lang="en-GB" sz="1400" dirty="0"/>
                        </a:p>
                      </a:txBody>
                      <a:tcPr/>
                    </a:tc>
                    <a:tc>
                      <a:txBody>
                        <a:bodyPr/>
                        <a:lstStyle/>
                        <a:p>
                          <a:pPr algn="ctr"/>
                          <a:r>
                            <a:rPr lang="en-GB" sz="1400" b="1" dirty="0" smtClean="0"/>
                            <a:t>£120</a:t>
                          </a:r>
                          <a:endParaRPr lang="en-GB" sz="1400" b="1" dirty="0"/>
                        </a:p>
                      </a:txBody>
                      <a:tcPr/>
                    </a:tc>
                    <a:tc>
                      <a:txBody>
                        <a:bodyPr/>
                        <a:lstStyle/>
                        <a:p>
                          <a:pPr algn="ctr"/>
                          <a:r>
                            <a:rPr lang="en-GB" sz="1400" b="1" dirty="0" smtClean="0"/>
                            <a:t>£10</a:t>
                          </a:r>
                          <a:endParaRPr lang="en-GB" sz="1400" b="1" dirty="0"/>
                        </a:p>
                      </a:txBody>
                      <a:tcPr/>
                    </a:tc>
                    <a:tc>
                      <a:txBody>
                        <a:bodyPr/>
                        <a:lstStyle/>
                        <a:p>
                          <a:pPr algn="ctr"/>
                          <a:r>
                            <a:rPr lang="en-GB" sz="1400" b="1" dirty="0" smtClean="0"/>
                            <a:t>30</a:t>
                          </a:r>
                          <a:endParaRPr lang="en-GB" sz="1400" b="1" dirty="0"/>
                        </a:p>
                      </a:txBody>
                      <a:tcPr/>
                    </a:tc>
                  </a:tr>
                  <a:tr h="304800">
                    <a:tc>
                      <a:txBody>
                        <a:bodyPr/>
                        <a:lstStyle/>
                        <a:p>
                          <a:pPr algn="l"/>
                          <a:r>
                            <a:rPr lang="en-GB" sz="1400" dirty="0" smtClean="0"/>
                            <a:t>2. Maintenance</a:t>
                          </a:r>
                          <a:endParaRPr lang="en-GB" sz="1400" dirty="0"/>
                        </a:p>
                      </a:txBody>
                      <a:tcPr/>
                    </a:tc>
                    <a:tc>
                      <a:txBody>
                        <a:bodyPr/>
                        <a:lstStyle/>
                        <a:p>
                          <a:pPr algn="ctr"/>
                          <a:r>
                            <a:rPr lang="en-GB" sz="1400" b="1" dirty="0" smtClean="0"/>
                            <a:t>£130</a:t>
                          </a:r>
                          <a:endParaRPr lang="en-GB" sz="1400" b="1" dirty="0"/>
                        </a:p>
                      </a:txBody>
                      <a:tcPr/>
                    </a:tc>
                    <a:tc>
                      <a:txBody>
                        <a:bodyPr/>
                        <a:lstStyle/>
                        <a:p>
                          <a:pPr algn="ctr"/>
                          <a:r>
                            <a:rPr lang="en-GB" sz="1400" b="1" dirty="0" smtClean="0"/>
                            <a:t>£12</a:t>
                          </a:r>
                          <a:endParaRPr lang="en-GB" sz="1400" b="1" dirty="0"/>
                        </a:p>
                      </a:txBody>
                      <a:tcPr/>
                    </a:tc>
                    <a:tc>
                      <a:txBody>
                        <a:bodyPr/>
                        <a:lstStyle/>
                        <a:p>
                          <a:pPr algn="ctr"/>
                          <a:r>
                            <a:rPr lang="en-GB" sz="1400" b="1" dirty="0" smtClean="0"/>
                            <a:t>50</a:t>
                          </a:r>
                          <a:endParaRPr lang="en-GB" sz="1400" b="1" dirty="0"/>
                        </a:p>
                      </a:txBody>
                      <a:tcPr/>
                    </a:tc>
                  </a:tr>
                </a:tbl>
              </a:graphicData>
            </a:graphic>
          </p:graphicFrame>
        </mc:Fallback>
      </mc:AlternateContent>
      <mc:AlternateContent xmlns:mc="http://schemas.openxmlformats.org/markup-compatibility/2006" xmlns:a14="http://schemas.microsoft.com/office/drawing/2010/main">
        <mc:Choice Requires="a14">
          <p:sp>
            <p:nvSpPr>
              <p:cNvPr id="13" name="TextBox 12"/>
              <p:cNvSpPr txBox="1"/>
              <p:nvPr/>
            </p:nvSpPr>
            <p:spPr>
              <a:xfrm>
                <a:off x="1447800" y="2362200"/>
                <a:ext cx="4267200" cy="1394741"/>
              </a:xfrm>
              <a:prstGeom prst="wedgeRectCallout">
                <a:avLst>
                  <a:gd name="adj1" fmla="val 7446"/>
                  <a:gd name="adj2" fmla="val 43351"/>
                </a:avLst>
              </a:prstGeom>
              <a:solidFill>
                <a:schemeClr val="accent1">
                  <a:lumMod val="20000"/>
                  <a:lumOff val="80000"/>
                </a:schemeClr>
              </a:solid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3600" b="0" i="1" smtClean="0">
                          <a:latin typeface="Cambria Math"/>
                          <a:ea typeface="Cambria Math"/>
                        </a:rPr>
                        <m:t>𝑍</m:t>
                      </m:r>
                      <m:r>
                        <a:rPr lang="en-GB" sz="3600" b="0" i="1" smtClean="0">
                          <a:latin typeface="Cambria Math"/>
                          <a:ea typeface="Cambria Math"/>
                        </a:rPr>
                        <m:t>=</m:t>
                      </m:r>
                      <m:f>
                        <m:fPr>
                          <m:ctrlPr>
                            <a:rPr lang="en-GB" sz="3600" i="1">
                              <a:latin typeface="Cambria Math" panose="02040503050406030204" pitchFamily="18" charset="0"/>
                              <a:ea typeface="Cambria Math"/>
                            </a:rPr>
                          </m:ctrlPr>
                        </m:fPr>
                        <m:num>
                          <m:acc>
                            <m:accPr>
                              <m:chr m:val="̅"/>
                              <m:ctrlPr>
                                <a:rPr lang="en-GB" sz="3600" i="1">
                                  <a:latin typeface="Cambria Math" panose="02040503050406030204" pitchFamily="18" charset="0"/>
                                  <a:ea typeface="Cambria Math"/>
                                </a:rPr>
                              </m:ctrlPr>
                            </m:accPr>
                            <m:e>
                              <m:r>
                                <a:rPr lang="en-GB" sz="3600" i="1">
                                  <a:latin typeface="Cambria Math"/>
                                  <a:ea typeface="Cambria Math"/>
                                </a:rPr>
                                <m:t>𝑥</m:t>
                              </m:r>
                            </m:e>
                          </m:acc>
                          <m:r>
                            <a:rPr lang="en-GB" sz="3600" i="1">
                              <a:latin typeface="Cambria Math"/>
                              <a:ea typeface="Cambria Math"/>
                            </a:rPr>
                            <m:t>−</m:t>
                          </m:r>
                          <m:r>
                            <a:rPr lang="en-GB" sz="3600" i="1">
                              <a:latin typeface="Cambria Math"/>
                              <a:ea typeface="Cambria Math"/>
                            </a:rPr>
                            <m:t>𝜇</m:t>
                          </m:r>
                        </m:num>
                        <m:den>
                          <m:box>
                            <m:boxPr>
                              <m:ctrlPr>
                                <a:rPr lang="en-GB" sz="3600" i="1" smtClean="0">
                                  <a:latin typeface="Cambria Math" panose="02040503050406030204" pitchFamily="18" charset="0"/>
                                  <a:ea typeface="Cambria Math"/>
                                </a:rPr>
                              </m:ctrlPr>
                            </m:boxPr>
                            <m:e>
                              <m:argPr>
                                <m:argSz m:val="-1"/>
                              </m:argPr>
                              <m:f>
                                <m:fPr>
                                  <m:ctrlPr>
                                    <a:rPr lang="en-GB" sz="3600" i="1">
                                      <a:latin typeface="Cambria Math" panose="02040503050406030204" pitchFamily="18" charset="0"/>
                                      <a:ea typeface="Cambria Math"/>
                                    </a:rPr>
                                  </m:ctrlPr>
                                </m:fPr>
                                <m:num>
                                  <m:r>
                                    <a:rPr lang="en-GB" sz="3600" b="0" i="1">
                                      <a:latin typeface="Cambria Math"/>
                                      <a:ea typeface="Cambria Math"/>
                                    </a:rPr>
                                    <m:t>𝜎</m:t>
                                  </m:r>
                                </m:num>
                                <m:den>
                                  <m:rad>
                                    <m:radPr>
                                      <m:degHide m:val="on"/>
                                      <m:ctrlPr>
                                        <a:rPr lang="en-GB" sz="3600" i="1">
                                          <a:latin typeface="Cambria Math" panose="02040503050406030204" pitchFamily="18" charset="0"/>
                                          <a:ea typeface="Cambria Math"/>
                                        </a:rPr>
                                      </m:ctrlPr>
                                    </m:radPr>
                                    <m:deg/>
                                    <m:e>
                                      <m:r>
                                        <a:rPr lang="en-GB" sz="3600" b="0" i="1">
                                          <a:latin typeface="Cambria Math"/>
                                          <a:ea typeface="Cambria Math"/>
                                        </a:rPr>
                                        <m:t>𝑛</m:t>
                                      </m:r>
                                    </m:e>
                                  </m:rad>
                                </m:den>
                              </m:f>
                            </m:e>
                          </m:box>
                        </m:den>
                      </m:f>
                    </m:oMath>
                  </m:oMathPara>
                </a14:m>
                <a:endParaRPr lang="en-GB" sz="3600" dirty="0">
                  <a:solidFill>
                    <a:schemeClr val="tx1"/>
                  </a:solidFill>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1447800" y="2362200"/>
                <a:ext cx="4267200" cy="1394741"/>
              </a:xfrm>
              <a:prstGeom prst="wedgeRectCallout">
                <a:avLst>
                  <a:gd name="adj1" fmla="val 7446"/>
                  <a:gd name="adj2" fmla="val 43351"/>
                </a:avLst>
              </a:prstGeom>
              <a:blipFill rotWithShape="1">
                <a:blip r:embed="rId4"/>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1447800" y="2362200"/>
                <a:ext cx="4267200" cy="1394741"/>
              </a:xfrm>
              <a:prstGeom prst="wedgeRectCallout">
                <a:avLst>
                  <a:gd name="adj1" fmla="val 7446"/>
                  <a:gd name="adj2" fmla="val 43351"/>
                </a:avLst>
              </a:prstGeom>
              <a:solidFill>
                <a:schemeClr val="accent1">
                  <a:lumMod val="20000"/>
                  <a:lumOff val="80000"/>
                </a:schemeClr>
              </a:solid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3600" b="0" i="1" smtClean="0">
                          <a:latin typeface="Cambria Math"/>
                          <a:ea typeface="Cambria Math"/>
                        </a:rPr>
                        <m:t>𝑡</m:t>
                      </m:r>
                      <m:r>
                        <a:rPr lang="en-GB" sz="3600" b="0" i="1" smtClean="0">
                          <a:latin typeface="Cambria Math"/>
                          <a:ea typeface="Cambria Math"/>
                        </a:rPr>
                        <m:t>=</m:t>
                      </m:r>
                      <m:f>
                        <m:fPr>
                          <m:ctrlPr>
                            <a:rPr lang="en-GB" sz="3600" i="1">
                              <a:latin typeface="Cambria Math" panose="02040503050406030204" pitchFamily="18" charset="0"/>
                              <a:ea typeface="Cambria Math"/>
                            </a:rPr>
                          </m:ctrlPr>
                        </m:fPr>
                        <m:num>
                          <m:acc>
                            <m:accPr>
                              <m:chr m:val="̅"/>
                              <m:ctrlPr>
                                <a:rPr lang="en-GB" sz="3600" i="1">
                                  <a:latin typeface="Cambria Math" panose="02040503050406030204" pitchFamily="18" charset="0"/>
                                  <a:ea typeface="Cambria Math"/>
                                </a:rPr>
                              </m:ctrlPr>
                            </m:accPr>
                            <m:e>
                              <m:r>
                                <a:rPr lang="en-GB" sz="3600" i="1">
                                  <a:latin typeface="Cambria Math"/>
                                  <a:ea typeface="Cambria Math"/>
                                </a:rPr>
                                <m:t>𝑥</m:t>
                              </m:r>
                            </m:e>
                          </m:acc>
                          <m:r>
                            <a:rPr lang="en-GB" sz="3600" i="1">
                              <a:latin typeface="Cambria Math"/>
                              <a:ea typeface="Cambria Math"/>
                            </a:rPr>
                            <m:t>−</m:t>
                          </m:r>
                          <m:r>
                            <a:rPr lang="en-GB" sz="3600" i="1">
                              <a:latin typeface="Cambria Math"/>
                              <a:ea typeface="Cambria Math"/>
                            </a:rPr>
                            <m:t>𝜇</m:t>
                          </m:r>
                        </m:num>
                        <m:den>
                          <m:box>
                            <m:boxPr>
                              <m:ctrlPr>
                                <a:rPr lang="en-GB" sz="3600" i="1" smtClean="0">
                                  <a:latin typeface="Cambria Math" panose="02040503050406030204" pitchFamily="18" charset="0"/>
                                  <a:ea typeface="Cambria Math"/>
                                </a:rPr>
                              </m:ctrlPr>
                            </m:boxPr>
                            <m:e>
                              <m:argPr>
                                <m:argSz m:val="-1"/>
                              </m:argPr>
                              <m:f>
                                <m:fPr>
                                  <m:ctrlPr>
                                    <a:rPr lang="en-GB" sz="3600" i="1">
                                      <a:latin typeface="Cambria Math" panose="02040503050406030204" pitchFamily="18" charset="0"/>
                                      <a:ea typeface="Cambria Math"/>
                                    </a:rPr>
                                  </m:ctrlPr>
                                </m:fPr>
                                <m:num>
                                  <m:r>
                                    <a:rPr lang="en-GB" sz="3600" b="0" i="1" smtClean="0">
                                      <a:latin typeface="Cambria Math"/>
                                      <a:ea typeface="Cambria Math"/>
                                    </a:rPr>
                                    <m:t>𝑠</m:t>
                                  </m:r>
                                </m:num>
                                <m:den>
                                  <m:rad>
                                    <m:radPr>
                                      <m:degHide m:val="on"/>
                                      <m:ctrlPr>
                                        <a:rPr lang="en-GB" sz="3600" i="1">
                                          <a:latin typeface="Cambria Math" panose="02040503050406030204" pitchFamily="18" charset="0"/>
                                          <a:ea typeface="Cambria Math"/>
                                        </a:rPr>
                                      </m:ctrlPr>
                                    </m:radPr>
                                    <m:deg/>
                                    <m:e>
                                      <m:r>
                                        <a:rPr lang="en-GB" sz="3600" b="0" i="1">
                                          <a:latin typeface="Cambria Math"/>
                                          <a:ea typeface="Cambria Math"/>
                                        </a:rPr>
                                        <m:t>𝑛</m:t>
                                      </m:r>
                                    </m:e>
                                  </m:rad>
                                </m:den>
                              </m:f>
                            </m:e>
                          </m:box>
                        </m:den>
                      </m:f>
                    </m:oMath>
                  </m:oMathPara>
                </a14:m>
                <a:endParaRPr lang="en-GB" sz="3600" dirty="0">
                  <a:solidFill>
                    <a:schemeClr val="tx1"/>
                  </a:solidFill>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1447800" y="2362200"/>
                <a:ext cx="4267200" cy="1394741"/>
              </a:xfrm>
              <a:prstGeom prst="wedgeRectCallout">
                <a:avLst>
                  <a:gd name="adj1" fmla="val 7446"/>
                  <a:gd name="adj2" fmla="val 43351"/>
                </a:avLst>
              </a:prstGeom>
              <a:blipFill rotWithShape="1">
                <a:blip r:embed="rId5"/>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1447800" y="2362200"/>
                <a:ext cx="5334000" cy="1406219"/>
              </a:xfrm>
              <a:prstGeom prst="wedgeRectCallout">
                <a:avLst>
                  <a:gd name="adj1" fmla="val 7446"/>
                  <a:gd name="adj2" fmla="val 43351"/>
                </a:avLst>
              </a:prstGeom>
              <a:solidFill>
                <a:schemeClr val="accent2">
                  <a:lumMod val="20000"/>
                  <a:lumOff val="80000"/>
                </a:schemeClr>
              </a:solid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3200" b="0" i="1" smtClean="0">
                          <a:latin typeface="Cambria Math"/>
                          <a:ea typeface="Cambria Math"/>
                        </a:rPr>
                        <m:t>𝑡</m:t>
                      </m:r>
                      <m:r>
                        <a:rPr lang="en-GB" sz="3200" b="0" i="1" smtClean="0">
                          <a:latin typeface="Cambria Math"/>
                          <a:ea typeface="Cambria Math"/>
                        </a:rPr>
                        <m:t>=</m:t>
                      </m:r>
                      <m:f>
                        <m:fPr>
                          <m:ctrlPr>
                            <a:rPr lang="en-GB" sz="3200" i="1">
                              <a:latin typeface="Cambria Math" panose="02040503050406030204" pitchFamily="18" charset="0"/>
                              <a:ea typeface="Cambria Math"/>
                            </a:rPr>
                          </m:ctrlPr>
                        </m:fPr>
                        <m:num>
                          <m:d>
                            <m:dPr>
                              <m:ctrlPr>
                                <a:rPr lang="en-GB" sz="3200" i="1" smtClean="0">
                                  <a:latin typeface="Cambria Math" panose="02040503050406030204" pitchFamily="18" charset="0"/>
                                  <a:ea typeface="Cambria Math"/>
                                </a:rPr>
                              </m:ctrlPr>
                            </m:dPr>
                            <m:e>
                              <m:sSub>
                                <m:sSubPr>
                                  <m:ctrlPr>
                                    <a:rPr lang="en-GB" sz="3200" i="1">
                                      <a:latin typeface="Cambria Math" panose="02040503050406030204" pitchFamily="18" charset="0"/>
                                      <a:ea typeface="Cambria Math"/>
                                    </a:rPr>
                                  </m:ctrlPr>
                                </m:sSubPr>
                                <m:e>
                                  <m:acc>
                                    <m:accPr>
                                      <m:chr m:val="̅"/>
                                      <m:ctrlPr>
                                        <a:rPr lang="en-GB" sz="3200" i="1">
                                          <a:latin typeface="Cambria Math" panose="02040503050406030204" pitchFamily="18" charset="0"/>
                                          <a:ea typeface="Cambria Math"/>
                                        </a:rPr>
                                      </m:ctrlPr>
                                    </m:accPr>
                                    <m:e>
                                      <m:r>
                                        <a:rPr lang="en-GB" sz="3200" i="1">
                                          <a:latin typeface="Cambria Math"/>
                                          <a:ea typeface="Cambria Math"/>
                                        </a:rPr>
                                        <m:t>𝑥</m:t>
                                      </m:r>
                                    </m:e>
                                  </m:acc>
                                </m:e>
                                <m:sub>
                                  <m:r>
                                    <a:rPr lang="en-GB" sz="3200" i="1">
                                      <a:latin typeface="Cambria Math"/>
                                      <a:ea typeface="Cambria Math"/>
                                    </a:rPr>
                                    <m:t>1</m:t>
                                  </m:r>
                                </m:sub>
                              </m:sSub>
                              <m:r>
                                <a:rPr lang="en-GB" sz="3200" i="1">
                                  <a:latin typeface="Cambria Math"/>
                                  <a:ea typeface="Cambria Math"/>
                                </a:rPr>
                                <m:t>−</m:t>
                              </m:r>
                              <m:sSub>
                                <m:sSubPr>
                                  <m:ctrlPr>
                                    <a:rPr lang="en-GB" sz="3200" i="1">
                                      <a:latin typeface="Cambria Math" panose="02040503050406030204" pitchFamily="18" charset="0"/>
                                      <a:ea typeface="Cambria Math"/>
                                    </a:rPr>
                                  </m:ctrlPr>
                                </m:sSubPr>
                                <m:e>
                                  <m:acc>
                                    <m:accPr>
                                      <m:chr m:val="̅"/>
                                      <m:ctrlPr>
                                        <a:rPr lang="en-GB" sz="3200" i="1">
                                          <a:latin typeface="Cambria Math" panose="02040503050406030204" pitchFamily="18" charset="0"/>
                                          <a:ea typeface="Cambria Math"/>
                                        </a:rPr>
                                      </m:ctrlPr>
                                    </m:accPr>
                                    <m:e>
                                      <m:r>
                                        <a:rPr lang="en-GB" sz="3200" i="1">
                                          <a:latin typeface="Cambria Math"/>
                                          <a:ea typeface="Cambria Math"/>
                                        </a:rPr>
                                        <m:t>𝑥</m:t>
                                      </m:r>
                                    </m:e>
                                  </m:acc>
                                </m:e>
                                <m:sub>
                                  <m:r>
                                    <a:rPr lang="en-GB" sz="3200" i="1">
                                      <a:latin typeface="Cambria Math"/>
                                      <a:ea typeface="Cambria Math"/>
                                    </a:rPr>
                                    <m:t>2</m:t>
                                  </m:r>
                                </m:sub>
                              </m:sSub>
                            </m:e>
                          </m:d>
                          <m:r>
                            <a:rPr lang="en-GB" sz="3200" i="1">
                              <a:latin typeface="Cambria Math"/>
                              <a:ea typeface="Cambria Math"/>
                            </a:rPr>
                            <m:t>−</m:t>
                          </m:r>
                          <m:d>
                            <m:dPr>
                              <m:ctrlPr>
                                <a:rPr lang="en-GB" sz="3200" i="1">
                                  <a:latin typeface="Cambria Math" panose="02040503050406030204" pitchFamily="18" charset="0"/>
                                  <a:ea typeface="Cambria Math"/>
                                </a:rPr>
                              </m:ctrlPr>
                            </m:dPr>
                            <m:e>
                              <m:sSub>
                                <m:sSubPr>
                                  <m:ctrlPr>
                                    <a:rPr lang="en-GB" sz="3200" i="1">
                                      <a:latin typeface="Cambria Math" panose="02040503050406030204" pitchFamily="18" charset="0"/>
                                      <a:ea typeface="Cambria Math"/>
                                    </a:rPr>
                                  </m:ctrlPr>
                                </m:sSubPr>
                                <m:e>
                                  <m:r>
                                    <a:rPr lang="en-GB" sz="3200" i="1" smtClean="0">
                                      <a:latin typeface="Cambria Math"/>
                                      <a:ea typeface="Cambria Math"/>
                                    </a:rPr>
                                    <m:t>𝜇</m:t>
                                  </m:r>
                                </m:e>
                                <m:sub>
                                  <m:r>
                                    <a:rPr lang="en-GB" sz="3200" i="1">
                                      <a:latin typeface="Cambria Math"/>
                                      <a:ea typeface="Cambria Math"/>
                                    </a:rPr>
                                    <m:t>1</m:t>
                                  </m:r>
                                </m:sub>
                              </m:sSub>
                              <m:r>
                                <a:rPr lang="en-GB" sz="3200" i="1">
                                  <a:latin typeface="Cambria Math"/>
                                  <a:ea typeface="Cambria Math"/>
                                </a:rPr>
                                <m:t>−</m:t>
                              </m:r>
                              <m:sSub>
                                <m:sSubPr>
                                  <m:ctrlPr>
                                    <a:rPr lang="en-GB" sz="3200" i="1">
                                      <a:latin typeface="Cambria Math" panose="02040503050406030204" pitchFamily="18" charset="0"/>
                                      <a:ea typeface="Cambria Math"/>
                                    </a:rPr>
                                  </m:ctrlPr>
                                </m:sSubPr>
                                <m:e>
                                  <m:r>
                                    <a:rPr lang="en-GB" sz="3200" i="1">
                                      <a:latin typeface="Cambria Math"/>
                                      <a:ea typeface="Cambria Math"/>
                                    </a:rPr>
                                    <m:t>𝜇</m:t>
                                  </m:r>
                                </m:e>
                                <m:sub>
                                  <m:r>
                                    <a:rPr lang="en-GB" sz="3200" i="1">
                                      <a:latin typeface="Cambria Math"/>
                                      <a:ea typeface="Cambria Math"/>
                                    </a:rPr>
                                    <m:t>2</m:t>
                                  </m:r>
                                </m:sub>
                              </m:sSub>
                            </m:e>
                          </m:d>
                        </m:num>
                        <m:den>
                          <m:box>
                            <m:boxPr>
                              <m:ctrlPr>
                                <a:rPr lang="en-GB" sz="3200" i="1" smtClean="0">
                                  <a:latin typeface="Cambria Math" panose="02040503050406030204" pitchFamily="18" charset="0"/>
                                  <a:ea typeface="Cambria Math"/>
                                </a:rPr>
                              </m:ctrlPr>
                            </m:boxPr>
                            <m:e>
                              <m:argPr>
                                <m:argSz m:val="-1"/>
                              </m:argPr>
                              <m:sSub>
                                <m:sSubPr>
                                  <m:ctrlPr>
                                    <a:rPr lang="en-GB" sz="3200" i="1" smtClean="0">
                                      <a:latin typeface="Cambria Math" panose="02040503050406030204" pitchFamily="18" charset="0"/>
                                      <a:ea typeface="Cambria Math"/>
                                    </a:rPr>
                                  </m:ctrlPr>
                                </m:sSubPr>
                                <m:e>
                                  <m:r>
                                    <a:rPr lang="en-GB" sz="3200" b="0" i="1" smtClean="0">
                                      <a:latin typeface="Cambria Math"/>
                                      <a:ea typeface="Cambria Math"/>
                                    </a:rPr>
                                    <m:t>𝑠</m:t>
                                  </m:r>
                                </m:e>
                                <m:sub>
                                  <m:r>
                                    <a:rPr lang="en-GB" sz="3200" b="0" i="1" smtClean="0">
                                      <a:latin typeface="Cambria Math"/>
                                      <a:ea typeface="Cambria Math"/>
                                    </a:rPr>
                                    <m:t>𝑝</m:t>
                                  </m:r>
                                </m:sub>
                              </m:sSub>
                              <m:rad>
                                <m:radPr>
                                  <m:degHide m:val="on"/>
                                  <m:ctrlPr>
                                    <a:rPr lang="en-GB" sz="3200" i="1" smtClean="0">
                                      <a:latin typeface="Cambria Math" panose="02040503050406030204" pitchFamily="18" charset="0"/>
                                      <a:ea typeface="Cambria Math"/>
                                    </a:rPr>
                                  </m:ctrlPr>
                                </m:radPr>
                                <m:deg/>
                                <m:e>
                                  <m:f>
                                    <m:fPr>
                                      <m:ctrlPr>
                                        <a:rPr lang="en-GB" altLang="en-US" sz="3200" i="1">
                                          <a:latin typeface="Cambria Math" panose="02040503050406030204" pitchFamily="18" charset="0"/>
                                        </a:rPr>
                                      </m:ctrlPr>
                                    </m:fPr>
                                    <m:num>
                                      <m:r>
                                        <a:rPr lang="en-GB" altLang="en-US" sz="3200" b="0" i="1">
                                          <a:latin typeface="Cambria Math"/>
                                        </a:rPr>
                                        <m:t>1</m:t>
                                      </m:r>
                                    </m:num>
                                    <m:den>
                                      <m:sSub>
                                        <m:sSubPr>
                                          <m:ctrlPr>
                                            <a:rPr lang="en-GB" altLang="en-US" sz="3200" i="1">
                                              <a:latin typeface="Cambria Math" panose="02040503050406030204" pitchFamily="18" charset="0"/>
                                            </a:rPr>
                                          </m:ctrlPr>
                                        </m:sSubPr>
                                        <m:e>
                                          <m:r>
                                            <a:rPr lang="en-GB" altLang="en-US" sz="3200" b="0" i="1">
                                              <a:latin typeface="Cambria Math"/>
                                            </a:rPr>
                                            <m:t>𝑛</m:t>
                                          </m:r>
                                        </m:e>
                                        <m:sub>
                                          <m:r>
                                            <a:rPr lang="en-GB" altLang="en-US" sz="3200" b="0" i="1">
                                              <a:latin typeface="Cambria Math"/>
                                            </a:rPr>
                                            <m:t>1</m:t>
                                          </m:r>
                                        </m:sub>
                                      </m:sSub>
                                    </m:den>
                                  </m:f>
                                  <m:r>
                                    <a:rPr lang="en-GB" altLang="en-US" sz="3200" b="0" i="1">
                                      <a:latin typeface="Cambria Math"/>
                                    </a:rPr>
                                    <m:t>+</m:t>
                                  </m:r>
                                  <m:f>
                                    <m:fPr>
                                      <m:ctrlPr>
                                        <a:rPr lang="en-GB" altLang="en-US" sz="3200" i="1">
                                          <a:latin typeface="Cambria Math" panose="02040503050406030204" pitchFamily="18" charset="0"/>
                                        </a:rPr>
                                      </m:ctrlPr>
                                    </m:fPr>
                                    <m:num>
                                      <m:r>
                                        <a:rPr lang="en-GB" altLang="en-US" sz="3200" b="0" i="1">
                                          <a:latin typeface="Cambria Math"/>
                                        </a:rPr>
                                        <m:t>1</m:t>
                                      </m:r>
                                    </m:num>
                                    <m:den>
                                      <m:sSub>
                                        <m:sSubPr>
                                          <m:ctrlPr>
                                            <a:rPr lang="en-GB" altLang="en-US" sz="3200" i="1">
                                              <a:latin typeface="Cambria Math" panose="02040503050406030204" pitchFamily="18" charset="0"/>
                                            </a:rPr>
                                          </m:ctrlPr>
                                        </m:sSubPr>
                                        <m:e>
                                          <m:r>
                                            <a:rPr lang="en-GB" altLang="en-US" sz="3200" b="0" i="1">
                                              <a:latin typeface="Cambria Math"/>
                                            </a:rPr>
                                            <m:t>𝑛</m:t>
                                          </m:r>
                                        </m:e>
                                        <m:sub>
                                          <m:r>
                                            <a:rPr lang="en-GB" altLang="en-US" sz="3200" b="0" i="1">
                                              <a:latin typeface="Cambria Math"/>
                                            </a:rPr>
                                            <m:t>2</m:t>
                                          </m:r>
                                        </m:sub>
                                      </m:sSub>
                                    </m:den>
                                  </m:f>
                                </m:e>
                              </m:rad>
                            </m:e>
                          </m:box>
                        </m:den>
                      </m:f>
                    </m:oMath>
                  </m:oMathPara>
                </a14:m>
                <a:endParaRPr lang="en-GB" sz="3200" dirty="0">
                  <a:solidFill>
                    <a:schemeClr val="tx1"/>
                  </a:solidFill>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1447800" y="2362200"/>
                <a:ext cx="5334000" cy="1406219"/>
              </a:xfrm>
              <a:prstGeom prst="wedgeRectCallout">
                <a:avLst>
                  <a:gd name="adj1" fmla="val 7446"/>
                  <a:gd name="adj2" fmla="val 43351"/>
                </a:avLst>
              </a:prstGeom>
              <a:blipFill rotWithShape="1">
                <a:blip r:embed="rId6"/>
                <a:stretch>
                  <a:fillRect/>
                </a:stretch>
              </a:blipFill>
              <a:ln>
                <a:noFill/>
              </a:ln>
            </p:spPr>
            <p:txBody>
              <a:bodyPr/>
              <a:lstStyle/>
              <a:p>
                <a:r>
                  <a:rPr lang="en-GB">
                    <a:noFill/>
                  </a:rPr>
                  <a:t> </a:t>
                </a:r>
              </a:p>
            </p:txBody>
          </p:sp>
        </mc:Fallback>
      </mc:AlternateContent>
      <p:sp>
        <p:nvSpPr>
          <p:cNvPr id="11" name="Rectangle 10"/>
          <p:cNvSpPr/>
          <p:nvPr/>
        </p:nvSpPr>
        <p:spPr>
          <a:xfrm>
            <a:off x="308344" y="914400"/>
            <a:ext cx="8530856" cy="1323439"/>
          </a:xfrm>
          <a:prstGeom prst="rect">
            <a:avLst/>
          </a:prstGeom>
        </p:spPr>
        <p:txBody>
          <a:bodyPr wrap="square">
            <a:spAutoFit/>
          </a:bodyPr>
          <a:lstStyle/>
          <a:p>
            <a:r>
              <a:rPr lang="en-GB" altLang="en-US" sz="2000" b="1" dirty="0">
                <a:solidFill>
                  <a:srgbClr val="333399"/>
                </a:solidFill>
              </a:rPr>
              <a:t>Step 2. Test Statistic:</a:t>
            </a:r>
          </a:p>
          <a:p>
            <a:r>
              <a:rPr lang="en-GB" altLang="en-US" sz="2000" dirty="0"/>
              <a:t>The number of standard errors by which the </a:t>
            </a:r>
            <a:r>
              <a:rPr lang="en-GB" altLang="en-US" sz="2000" b="1" dirty="0"/>
              <a:t>difference of sample mean </a:t>
            </a:r>
            <a:r>
              <a:rPr lang="en-GB" altLang="en-US" sz="2000" dirty="0"/>
              <a:t>differs from </a:t>
            </a:r>
            <a:r>
              <a:rPr lang="en-GB" altLang="en-US" sz="2000" b="1" dirty="0"/>
              <a:t>difference in population mean</a:t>
            </a:r>
            <a:r>
              <a:rPr lang="en-GB" altLang="en-US" sz="2000" dirty="0"/>
              <a:t> known as </a:t>
            </a:r>
            <a:r>
              <a:rPr lang="en-GB" altLang="en-US" sz="2000" b="1" dirty="0">
                <a:solidFill>
                  <a:srgbClr val="333399"/>
                </a:solidFill>
              </a:rPr>
              <a:t>standard error of difference in sample means </a:t>
            </a:r>
            <a:r>
              <a:rPr lang="en-GB" altLang="en-US" sz="2000" dirty="0">
                <a:solidFill>
                  <a:srgbClr val="333399"/>
                </a:solidFill>
              </a:rPr>
              <a:t>(STEDM)</a:t>
            </a:r>
          </a:p>
        </p:txBody>
      </p:sp>
      <p:sp>
        <p:nvSpPr>
          <p:cNvPr id="12" name="Rectangle 11"/>
          <p:cNvSpPr/>
          <p:nvPr/>
        </p:nvSpPr>
        <p:spPr>
          <a:xfrm>
            <a:off x="304800" y="4705290"/>
            <a:ext cx="7928344" cy="1015663"/>
          </a:xfrm>
          <a:prstGeom prst="rect">
            <a:avLst/>
          </a:prstGeom>
        </p:spPr>
        <p:txBody>
          <a:bodyPr wrap="square">
            <a:spAutoFit/>
          </a:bodyPr>
          <a:lstStyle/>
          <a:p>
            <a:r>
              <a:rPr lang="en-GB" altLang="en-US" sz="2000" dirty="0"/>
              <a:t>Assuming that the </a:t>
            </a:r>
            <a:r>
              <a:rPr lang="en-GB" altLang="en-US" sz="2000" b="1" dirty="0"/>
              <a:t>sampling distribution is normal </a:t>
            </a:r>
            <a:r>
              <a:rPr lang="en-GB" altLang="en-US" sz="2000" dirty="0"/>
              <a:t>for both samples</a:t>
            </a:r>
          </a:p>
          <a:p>
            <a:endParaRPr lang="en-GB" altLang="en-US" sz="2000" dirty="0">
              <a:sym typeface="GreekMathSymbols" pitchFamily="34" charset="2"/>
            </a:endParaRPr>
          </a:p>
          <a:p>
            <a:r>
              <a:rPr lang="en-GB" altLang="en-US" sz="2000" dirty="0">
                <a:sym typeface="GreekMathSymbols" pitchFamily="34" charset="2"/>
              </a:rPr>
              <a:t>Assuming </a:t>
            </a:r>
            <a:r>
              <a:rPr lang="en-GB" altLang="en-US" sz="2000" b="1" dirty="0">
                <a:sym typeface="GreekMathSymbols" pitchFamily="34" charset="2"/>
              </a:rPr>
              <a:t>equal variances </a:t>
            </a:r>
            <a:r>
              <a:rPr lang="en-GB" altLang="en-US" sz="2000" dirty="0">
                <a:sym typeface="GreekMathSymbols" pitchFamily="34" charset="2"/>
              </a:rPr>
              <a:t>between both populations</a:t>
            </a:r>
            <a:endParaRPr lang="en-GB" altLang="en-US" sz="3200" dirty="0">
              <a:sym typeface="GreekMathSymbols" pitchFamily="34" charset="2"/>
            </a:endParaRPr>
          </a:p>
        </p:txBody>
      </p:sp>
      <p:grpSp>
        <p:nvGrpSpPr>
          <p:cNvPr id="20" name="Group 19"/>
          <p:cNvGrpSpPr/>
          <p:nvPr/>
        </p:nvGrpSpPr>
        <p:grpSpPr>
          <a:xfrm>
            <a:off x="3657600" y="2927499"/>
            <a:ext cx="4953000" cy="1473741"/>
            <a:chOff x="3657600" y="2927499"/>
            <a:chExt cx="4953000" cy="1473741"/>
          </a:xfrm>
        </p:grpSpPr>
        <mc:AlternateContent xmlns:mc="http://schemas.openxmlformats.org/markup-compatibility/2006" xmlns:a14="http://schemas.microsoft.com/office/drawing/2010/main">
          <mc:Choice Requires="a14">
            <p:sp>
              <p:nvSpPr>
                <p:cNvPr id="21" name="Rectangular Callout 20"/>
                <p:cNvSpPr/>
                <p:nvPr/>
              </p:nvSpPr>
              <p:spPr>
                <a:xfrm>
                  <a:off x="5867400" y="3581400"/>
                  <a:ext cx="2743200" cy="819840"/>
                </a:xfrm>
                <a:prstGeom prst="wedgeRectCallout">
                  <a:avLst>
                    <a:gd name="adj1" fmla="val -64459"/>
                    <a:gd name="adj2" fmla="val -52034"/>
                  </a:avLst>
                </a:prstGeom>
                <a:ln>
                  <a:prstDash val="sysDash"/>
                </a:ln>
              </p:spPr>
              <p:style>
                <a:lnRef idx="2">
                  <a:schemeClr val="accent5"/>
                </a:lnRef>
                <a:fillRef idx="1">
                  <a:schemeClr val="lt1"/>
                </a:fillRef>
                <a:effectRef idx="0">
                  <a:schemeClr val="accent5"/>
                </a:effectRef>
                <a:fontRef idx="minor">
                  <a:schemeClr val="dk1"/>
                </a:fontRef>
              </p:style>
              <p:txBody>
                <a:bodyPr wrap="square">
                  <a:spAutoFit/>
                </a:bodyPr>
                <a:lstStyle/>
                <a:p>
                  <a:pPr/>
                  <a14:m>
                    <m:oMathPara xmlns:m="http://schemas.openxmlformats.org/officeDocument/2006/math">
                      <m:oMathParaPr>
                        <m:jc m:val="centerGroup"/>
                      </m:oMathParaPr>
                      <m:oMath xmlns:m="http://schemas.openxmlformats.org/officeDocument/2006/math">
                        <m:r>
                          <a:rPr lang="en-GB" sz="1600" b="1" i="1" smtClean="0">
                            <a:latin typeface="Cambria Math"/>
                            <a:ea typeface="Cambria Math"/>
                          </a:rPr>
                          <m:t>𝟏𝟏</m:t>
                        </m:r>
                        <m:r>
                          <a:rPr lang="en-GB" sz="1600" b="1" i="1" smtClean="0">
                            <a:latin typeface="Cambria Math"/>
                            <a:ea typeface="Cambria Math"/>
                          </a:rPr>
                          <m:t>.</m:t>
                        </m:r>
                        <m:r>
                          <a:rPr lang="en-GB" sz="1600" b="1" i="1" smtClean="0">
                            <a:latin typeface="Cambria Math"/>
                            <a:ea typeface="Cambria Math"/>
                          </a:rPr>
                          <m:t>𝟐𝟗</m:t>
                        </m:r>
                        <m:r>
                          <a:rPr lang="en-GB" altLang="en-US" sz="1600" b="1" i="1">
                            <a:latin typeface="Cambria Math"/>
                            <a:ea typeface="Cambria Math"/>
                          </a:rPr>
                          <m:t>×</m:t>
                        </m:r>
                        <m:rad>
                          <m:radPr>
                            <m:degHide m:val="on"/>
                            <m:ctrlPr>
                              <a:rPr lang="en-GB" sz="1600" b="1" i="1" smtClean="0">
                                <a:latin typeface="Cambria Math" panose="02040503050406030204" pitchFamily="18" charset="0"/>
                                <a:ea typeface="Cambria Math"/>
                              </a:rPr>
                            </m:ctrlPr>
                          </m:radPr>
                          <m:deg/>
                          <m:e>
                            <m:f>
                              <m:fPr>
                                <m:ctrlPr>
                                  <a:rPr lang="en-GB" altLang="en-US" sz="1600" b="1" i="1">
                                    <a:latin typeface="Cambria Math" panose="02040503050406030204" pitchFamily="18" charset="0"/>
                                  </a:rPr>
                                </m:ctrlPr>
                              </m:fPr>
                              <m:num>
                                <m:r>
                                  <a:rPr lang="en-GB" altLang="en-US" sz="1600" b="1" i="1">
                                    <a:latin typeface="Cambria Math"/>
                                  </a:rPr>
                                  <m:t>𝟑𝟎</m:t>
                                </m:r>
                                <m:r>
                                  <a:rPr lang="en-GB" altLang="en-US" sz="1600" b="1" i="1" smtClean="0">
                                    <a:latin typeface="Cambria Math"/>
                                  </a:rPr>
                                  <m:t>+</m:t>
                                </m:r>
                                <m:r>
                                  <a:rPr lang="en-GB" altLang="en-US" sz="1600" b="1" i="1" smtClean="0">
                                    <a:latin typeface="Cambria Math"/>
                                  </a:rPr>
                                  <m:t>𝟓𝟎</m:t>
                                </m:r>
                              </m:num>
                              <m:den>
                                <m:r>
                                  <a:rPr lang="en-GB" altLang="en-US" sz="1600" b="1" i="1">
                                    <a:latin typeface="Cambria Math"/>
                                  </a:rPr>
                                  <m:t>𝟑𝟎</m:t>
                                </m:r>
                                <m:r>
                                  <a:rPr lang="en-GB" altLang="en-US" sz="1600" b="1" i="1">
                                    <a:latin typeface="Cambria Math"/>
                                    <a:ea typeface="Cambria Math"/>
                                  </a:rPr>
                                  <m:t>×</m:t>
                                </m:r>
                                <m:r>
                                  <a:rPr lang="en-GB" altLang="en-US" sz="1600" b="1" i="1">
                                    <a:latin typeface="Cambria Math"/>
                                  </a:rPr>
                                  <m:t>𝟓𝟎</m:t>
                                </m:r>
                              </m:den>
                            </m:f>
                          </m:e>
                        </m:rad>
                        <m:r>
                          <a:rPr lang="en-GB" altLang="en-US" sz="1600" b="1" i="1">
                            <a:latin typeface="Cambria Math"/>
                          </a:rPr>
                          <m:t>=</m:t>
                        </m:r>
                        <m:r>
                          <a:rPr lang="en-GB" altLang="en-US" sz="1600" b="1" i="1" smtClean="0">
                            <a:latin typeface="Cambria Math"/>
                          </a:rPr>
                          <m:t>𝟐</m:t>
                        </m:r>
                        <m:r>
                          <a:rPr lang="en-GB" altLang="en-US" sz="1600" b="1" i="1" smtClean="0">
                            <a:latin typeface="Cambria Math"/>
                          </a:rPr>
                          <m:t>.</m:t>
                        </m:r>
                        <m:r>
                          <a:rPr lang="en-GB" altLang="en-US" sz="1600" b="1" i="1" smtClean="0">
                            <a:latin typeface="Cambria Math"/>
                          </a:rPr>
                          <m:t>𝟔𝟎</m:t>
                        </m:r>
                      </m:oMath>
                    </m:oMathPara>
                  </a14:m>
                  <a:endParaRPr lang="en-GB" sz="1600" dirty="0"/>
                </a:p>
              </p:txBody>
            </p:sp>
          </mc:Choice>
          <mc:Fallback xmlns="">
            <p:sp>
              <p:nvSpPr>
                <p:cNvPr id="21" name="Rectangular Callout 20"/>
                <p:cNvSpPr>
                  <a:spLocks noRot="1" noChangeAspect="1" noMove="1" noResize="1" noEditPoints="1" noAdjustHandles="1" noChangeArrowheads="1" noChangeShapeType="1" noTextEdit="1"/>
                </p:cNvSpPr>
                <p:nvPr/>
              </p:nvSpPr>
              <p:spPr>
                <a:xfrm>
                  <a:off x="5867400" y="3581400"/>
                  <a:ext cx="2743200" cy="819840"/>
                </a:xfrm>
                <a:prstGeom prst="wedgeRectCallout">
                  <a:avLst>
                    <a:gd name="adj1" fmla="val -64459"/>
                    <a:gd name="adj2" fmla="val -52034"/>
                  </a:avLst>
                </a:prstGeom>
                <a:blipFill rotWithShape="1">
                  <a:blip r:embed="rId7"/>
                  <a:stretch>
                    <a:fillRect/>
                  </a:stretch>
                </a:blipFill>
                <a:ln>
                  <a:prstDash val="sysDash"/>
                </a:ln>
              </p:spPr>
              <p:txBody>
                <a:bodyPr/>
                <a:lstStyle/>
                <a:p>
                  <a:r>
                    <a:rPr lang="en-GB">
                      <a:noFill/>
                    </a:rPr>
                    <a:t> </a:t>
                  </a:r>
                </a:p>
              </p:txBody>
            </p:sp>
          </mc:Fallback>
        </mc:AlternateContent>
        <p:sp>
          <p:nvSpPr>
            <p:cNvPr id="22" name="Oval 21"/>
            <p:cNvSpPr/>
            <p:nvPr/>
          </p:nvSpPr>
          <p:spPr>
            <a:xfrm>
              <a:off x="3657600" y="2927499"/>
              <a:ext cx="1905000" cy="872819"/>
            </a:xfrm>
            <a:prstGeom prst="ellipse">
              <a:avLst/>
            </a:prstGeom>
            <a:noFill/>
            <a:ln>
              <a:prstDash val="sysDash"/>
            </a:ln>
          </p:spPr>
          <p:style>
            <a:lnRef idx="2">
              <a:schemeClr val="accent5"/>
            </a:lnRef>
            <a:fillRef idx="1">
              <a:schemeClr val="lt1"/>
            </a:fillRef>
            <a:effectRef idx="0">
              <a:schemeClr val="accent5"/>
            </a:effectRef>
            <a:fontRef idx="minor">
              <a:schemeClr val="dk1"/>
            </a:fontRef>
          </p:style>
          <p:txBody>
            <a:bodyPr rtlCol="0" anchor="ctr"/>
            <a:lstStyle/>
            <a:p>
              <a:pPr algn="ctr"/>
              <a:endParaRPr lang="en-GB"/>
            </a:p>
          </p:txBody>
        </p:sp>
      </p:grpSp>
      <p:grpSp>
        <p:nvGrpSpPr>
          <p:cNvPr id="23" name="Group 22"/>
          <p:cNvGrpSpPr/>
          <p:nvPr/>
        </p:nvGrpSpPr>
        <p:grpSpPr>
          <a:xfrm>
            <a:off x="533400" y="3189767"/>
            <a:ext cx="3592033" cy="1275863"/>
            <a:chOff x="533400" y="3189767"/>
            <a:chExt cx="3592033" cy="1275863"/>
          </a:xfrm>
        </p:grpSpPr>
        <mc:AlternateContent xmlns:mc="http://schemas.openxmlformats.org/markup-compatibility/2006" xmlns:a14="http://schemas.microsoft.com/office/drawing/2010/main">
          <mc:Choice Requires="a14">
            <p:sp>
              <p:nvSpPr>
                <p:cNvPr id="24" name="Rectangular Callout 23"/>
                <p:cNvSpPr/>
                <p:nvPr/>
              </p:nvSpPr>
              <p:spPr>
                <a:xfrm>
                  <a:off x="533400" y="3429000"/>
                  <a:ext cx="2743199" cy="1036630"/>
                </a:xfrm>
                <a:prstGeom prst="wedgeRectCallout">
                  <a:avLst>
                    <a:gd name="adj1" fmla="val 63384"/>
                    <a:gd name="adj2" fmla="val -37251"/>
                  </a:avLst>
                </a:prstGeom>
                <a:solidFill>
                  <a:schemeClr val="accent3">
                    <a:lumMod val="20000"/>
                    <a:lumOff val="80000"/>
                  </a:schemeClr>
                </a:solidFill>
                <a:ln>
                  <a:solidFill>
                    <a:schemeClr val="accent3">
                      <a:lumMod val="75000"/>
                    </a:schemeClr>
                  </a:solidFill>
                  <a:prstDash val="sysDash"/>
                </a:ln>
              </p:spPr>
              <p:style>
                <a:lnRef idx="2">
                  <a:schemeClr val="accent4"/>
                </a:lnRef>
                <a:fillRef idx="1">
                  <a:schemeClr val="lt1"/>
                </a:fillRef>
                <a:effectRef idx="0">
                  <a:schemeClr val="accent4"/>
                </a:effectRef>
                <a:fontRef idx="minor">
                  <a:schemeClr val="dk1"/>
                </a:fontRef>
              </p:style>
              <p:txBody>
                <a:bodyPr wrap="square">
                  <a:spAutoFit/>
                </a:bodyPr>
                <a:lstStyle/>
                <a:p>
                  <a:r>
                    <a:rPr lang="en-GB" sz="2000" b="1" dirty="0">
                      <a:ea typeface="Cambria Math"/>
                    </a:rPr>
                    <a:t>Pooled SD</a:t>
                  </a:r>
                </a:p>
                <a:p>
                  <a:pPr/>
                  <a14:m>
                    <m:oMathPara xmlns:m="http://schemas.openxmlformats.org/officeDocument/2006/math">
                      <m:oMathParaPr>
                        <m:jc m:val="centerGroup"/>
                      </m:oMathParaPr>
                      <m:oMath xmlns:m="http://schemas.openxmlformats.org/officeDocument/2006/math">
                        <m:rad>
                          <m:radPr>
                            <m:degHide m:val="on"/>
                            <m:ctrlPr>
                              <a:rPr lang="en-GB" sz="1400" b="1" i="1">
                                <a:latin typeface="Cambria Math" panose="02040503050406030204" pitchFamily="18" charset="0"/>
                                <a:ea typeface="Cambria Math"/>
                              </a:rPr>
                            </m:ctrlPr>
                          </m:radPr>
                          <m:deg/>
                          <m:e>
                            <m:f>
                              <m:fPr>
                                <m:ctrlPr>
                                  <a:rPr lang="en-GB" altLang="en-US" sz="1400" b="1" i="1">
                                    <a:latin typeface="Cambria Math" panose="02040503050406030204" pitchFamily="18" charset="0"/>
                                  </a:rPr>
                                </m:ctrlPr>
                              </m:fPr>
                              <m:num>
                                <m:r>
                                  <a:rPr lang="en-GB" altLang="en-US" sz="1400" b="1" i="1" smtClean="0">
                                    <a:latin typeface="Cambria Math"/>
                                  </a:rPr>
                                  <m:t>𝟑𝟎</m:t>
                                </m:r>
                                <m:r>
                                  <a:rPr lang="en-GB" altLang="en-US" sz="1400" b="1" i="1" smtClean="0">
                                    <a:latin typeface="Cambria Math"/>
                                    <a:ea typeface="Cambria Math"/>
                                  </a:rPr>
                                  <m:t>×</m:t>
                                </m:r>
                                <m:r>
                                  <a:rPr lang="en-GB" altLang="en-US" sz="1400" b="1" i="1" smtClean="0">
                                    <a:latin typeface="Cambria Math"/>
                                  </a:rPr>
                                  <m:t>𝟏𝟎𝟎</m:t>
                                </m:r>
                                <m:r>
                                  <a:rPr lang="en-GB" altLang="en-US" sz="1400" b="1" i="1">
                                    <a:latin typeface="Cambria Math"/>
                                  </a:rPr>
                                  <m:t>+</m:t>
                                </m:r>
                                <m:r>
                                  <a:rPr lang="en-GB" altLang="en-US" sz="1400" b="1" i="1" smtClean="0">
                                    <a:latin typeface="Cambria Math"/>
                                  </a:rPr>
                                  <m:t>𝟓</m:t>
                                </m:r>
                                <m:r>
                                  <a:rPr lang="en-GB" altLang="en-US" sz="1400" b="1" i="1">
                                    <a:latin typeface="Cambria Math"/>
                                  </a:rPr>
                                  <m:t>𝟎</m:t>
                                </m:r>
                                <m:r>
                                  <a:rPr lang="en-GB" altLang="en-US" sz="1400" b="1" i="1">
                                    <a:latin typeface="Cambria Math"/>
                                    <a:ea typeface="Cambria Math"/>
                                  </a:rPr>
                                  <m:t>×</m:t>
                                </m:r>
                                <m:r>
                                  <a:rPr lang="en-GB" altLang="en-US" sz="1400" b="1" i="1">
                                    <a:latin typeface="Cambria Math"/>
                                  </a:rPr>
                                  <m:t>𝟏</m:t>
                                </m:r>
                                <m:r>
                                  <a:rPr lang="en-GB" altLang="en-US" sz="1400" b="1" i="1" smtClean="0">
                                    <a:latin typeface="Cambria Math"/>
                                  </a:rPr>
                                  <m:t>𝟒𝟒</m:t>
                                </m:r>
                              </m:num>
                              <m:den>
                                <m:r>
                                  <a:rPr lang="en-GB" altLang="en-US" sz="1400" b="1" i="1" smtClean="0">
                                    <a:latin typeface="Cambria Math"/>
                                  </a:rPr>
                                  <m:t>𝟑𝟎</m:t>
                                </m:r>
                                <m:r>
                                  <a:rPr lang="en-GB" altLang="en-US" sz="1400" b="1" i="1" smtClean="0">
                                    <a:latin typeface="Cambria Math"/>
                                  </a:rPr>
                                  <m:t>+</m:t>
                                </m:r>
                                <m:r>
                                  <a:rPr lang="en-GB" altLang="en-US" sz="1400" b="1" i="1" smtClean="0">
                                    <a:latin typeface="Cambria Math"/>
                                  </a:rPr>
                                  <m:t>𝟓𝟎</m:t>
                                </m:r>
                              </m:den>
                            </m:f>
                          </m:e>
                        </m:rad>
                        <m:r>
                          <a:rPr lang="en-GB" altLang="en-US" sz="1400" b="1" i="1" smtClean="0">
                            <a:latin typeface="Cambria Math"/>
                          </a:rPr>
                          <m:t>=</m:t>
                        </m:r>
                        <m:r>
                          <a:rPr lang="en-GB" altLang="en-US" sz="1400" b="1" i="1" smtClean="0">
                            <a:latin typeface="Cambria Math"/>
                          </a:rPr>
                          <m:t>𝟏𝟏</m:t>
                        </m:r>
                        <m:r>
                          <a:rPr lang="en-GB" altLang="en-US" sz="1400" b="1" i="1" smtClean="0">
                            <a:latin typeface="Cambria Math"/>
                          </a:rPr>
                          <m:t>.</m:t>
                        </m:r>
                        <m:r>
                          <a:rPr lang="en-GB" altLang="en-US" sz="1400" b="1" i="1" smtClean="0">
                            <a:latin typeface="Cambria Math"/>
                          </a:rPr>
                          <m:t>𝟐𝟗</m:t>
                        </m:r>
                      </m:oMath>
                    </m:oMathPara>
                  </a14:m>
                  <a:endParaRPr lang="en-GB" sz="2000" b="1" dirty="0"/>
                </a:p>
              </p:txBody>
            </p:sp>
          </mc:Choice>
          <mc:Fallback xmlns="">
            <p:sp>
              <p:nvSpPr>
                <p:cNvPr id="24" name="Rectangular Callout 23"/>
                <p:cNvSpPr>
                  <a:spLocks noRot="1" noChangeAspect="1" noMove="1" noResize="1" noEditPoints="1" noAdjustHandles="1" noChangeArrowheads="1" noChangeShapeType="1" noTextEdit="1"/>
                </p:cNvSpPr>
                <p:nvPr/>
              </p:nvSpPr>
              <p:spPr>
                <a:xfrm>
                  <a:off x="533400" y="3429000"/>
                  <a:ext cx="2743199" cy="1036630"/>
                </a:xfrm>
                <a:prstGeom prst="wedgeRectCallout">
                  <a:avLst>
                    <a:gd name="adj1" fmla="val 63384"/>
                    <a:gd name="adj2" fmla="val -37251"/>
                  </a:avLst>
                </a:prstGeom>
                <a:blipFill rotWithShape="1">
                  <a:blip r:embed="rId8"/>
                  <a:stretch>
                    <a:fillRect l="-1751" t="-1724"/>
                  </a:stretch>
                </a:blipFill>
                <a:ln>
                  <a:solidFill>
                    <a:schemeClr val="accent3">
                      <a:lumMod val="75000"/>
                    </a:schemeClr>
                  </a:solidFill>
                  <a:prstDash val="sysDash"/>
                </a:ln>
              </p:spPr>
              <p:txBody>
                <a:bodyPr/>
                <a:lstStyle/>
                <a:p>
                  <a:r>
                    <a:rPr lang="en-GB">
                      <a:noFill/>
                    </a:rPr>
                    <a:t> </a:t>
                  </a:r>
                </a:p>
              </p:txBody>
            </p:sp>
          </mc:Fallback>
        </mc:AlternateContent>
        <p:sp>
          <p:nvSpPr>
            <p:cNvPr id="25" name="Oval 24"/>
            <p:cNvSpPr/>
            <p:nvPr/>
          </p:nvSpPr>
          <p:spPr>
            <a:xfrm>
              <a:off x="3592033" y="3189767"/>
              <a:ext cx="533400" cy="516310"/>
            </a:xfrm>
            <a:prstGeom prst="ellipse">
              <a:avLst/>
            </a:prstGeom>
            <a:noFill/>
            <a:ln>
              <a:solidFill>
                <a:schemeClr val="accent3">
                  <a:lumMod val="75000"/>
                </a:schemeClr>
              </a:solidFill>
              <a:prstDash val="sysDash"/>
            </a:ln>
          </p:spPr>
          <p:style>
            <a:lnRef idx="2">
              <a:schemeClr val="accent5"/>
            </a:lnRef>
            <a:fillRef idx="1">
              <a:schemeClr val="lt1"/>
            </a:fillRef>
            <a:effectRef idx="0">
              <a:schemeClr val="accent5"/>
            </a:effectRef>
            <a:fontRef idx="minor">
              <a:schemeClr val="dk1"/>
            </a:fontRef>
          </p:style>
          <p:txBody>
            <a:bodyPr rtlCol="0" anchor="ctr"/>
            <a:lstStyle/>
            <a:p>
              <a:pPr algn="ctr"/>
              <a:endParaRPr lang="en-GB"/>
            </a:p>
          </p:txBody>
        </p:sp>
      </p:grpSp>
    </p:spTree>
    <p:extLst>
      <p:ext uri="{BB962C8B-B14F-4D97-AF65-F5344CB8AC3E}">
        <p14:creationId xmlns:p14="http://schemas.microsoft.com/office/powerpoint/2010/main" val="2992228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a:t>Comparing two means</a:t>
            </a:r>
          </a:p>
        </p:txBody>
      </p:sp>
      <mc:AlternateContent xmlns:mc="http://schemas.openxmlformats.org/markup-compatibility/2006" xmlns:a14="http://schemas.microsoft.com/office/drawing/2010/main">
        <mc:Choice Requires="a14">
          <p:graphicFrame>
            <p:nvGraphicFramePr>
              <p:cNvPr id="7" name="Table 6"/>
              <p:cNvGraphicFramePr>
                <a:graphicFrameLocks noGrp="1"/>
              </p:cNvGraphicFramePr>
              <p:nvPr/>
            </p:nvGraphicFramePr>
            <p:xfrm>
              <a:off x="5715000" y="22328"/>
              <a:ext cx="3408966" cy="944880"/>
            </p:xfrm>
            <a:graphic>
              <a:graphicData uri="http://schemas.openxmlformats.org/drawingml/2006/table">
                <a:tbl>
                  <a:tblPr firstRow="1" firstCol="1" bandRow="1">
                    <a:tableStyleId>{5C22544A-7EE6-4342-B048-85BDC9FD1C3A}</a:tableStyleId>
                  </a:tblPr>
                  <a:tblGrid>
                    <a:gridCol w="1629972">
                      <a:extLst>
                        <a:ext uri="{9D8B030D-6E8A-4147-A177-3AD203B41FA5}">
                          <a16:colId xmlns:a16="http://schemas.microsoft.com/office/drawing/2014/main" val="20000"/>
                        </a:ext>
                      </a:extLst>
                    </a:gridCol>
                    <a:gridCol w="686304">
                      <a:extLst>
                        <a:ext uri="{9D8B030D-6E8A-4147-A177-3AD203B41FA5}">
                          <a16:colId xmlns:a16="http://schemas.microsoft.com/office/drawing/2014/main" val="20001"/>
                        </a:ext>
                      </a:extLst>
                    </a:gridCol>
                    <a:gridCol w="499692">
                      <a:extLst>
                        <a:ext uri="{9D8B030D-6E8A-4147-A177-3AD203B41FA5}">
                          <a16:colId xmlns:a16="http://schemas.microsoft.com/office/drawing/2014/main" val="20002"/>
                        </a:ext>
                      </a:extLst>
                    </a:gridCol>
                    <a:gridCol w="592998">
                      <a:extLst>
                        <a:ext uri="{9D8B030D-6E8A-4147-A177-3AD203B41FA5}">
                          <a16:colId xmlns:a16="http://schemas.microsoft.com/office/drawing/2014/main" val="20003"/>
                        </a:ext>
                      </a:extLst>
                    </a:gridCol>
                  </a:tblGrid>
                  <a:tr h="335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lang="en-GB" altLang="en-US" sz="1600" b="1" i="1" smtClean="0">
                                        <a:latin typeface="Cambria Math" panose="02040503050406030204" pitchFamily="18" charset="0"/>
                                      </a:rPr>
                                    </m:ctrlPr>
                                  </m:sSubPr>
                                  <m:e>
                                    <m:r>
                                      <a:rPr lang="en-GB" altLang="en-US" sz="1600" b="1" i="1">
                                        <a:latin typeface="Cambria Math"/>
                                      </a:rPr>
                                      <m:t>𝑯</m:t>
                                    </m:r>
                                  </m:e>
                                  <m:sub>
                                    <m:r>
                                      <a:rPr lang="en-GB" altLang="en-US" sz="1600" b="1" i="1">
                                        <a:latin typeface="Cambria Math"/>
                                      </a:rPr>
                                      <m:t>𝟎</m:t>
                                    </m:r>
                                  </m:sub>
                                </m:sSub>
                                <m:r>
                                  <a:rPr lang="en-GB" altLang="en-US" sz="1600" b="1" i="1">
                                    <a:latin typeface="Cambria Math"/>
                                  </a:rPr>
                                  <m:t>:</m:t>
                                </m:r>
                                <m:sSub>
                                  <m:sSubPr>
                                    <m:ctrlPr>
                                      <a:rPr lang="en-GB" altLang="en-US" sz="1600" b="1" i="1">
                                        <a:latin typeface="Cambria Math" panose="02040503050406030204" pitchFamily="18" charset="0"/>
                                      </a:rPr>
                                    </m:ctrlPr>
                                  </m:sSubPr>
                                  <m:e>
                                    <m:r>
                                      <a:rPr lang="en-GB" altLang="en-US" sz="1600" b="1" i="1">
                                        <a:latin typeface="Cambria Math"/>
                                        <a:ea typeface="Cambria Math"/>
                                      </a:rPr>
                                      <m:t>𝝁</m:t>
                                    </m:r>
                                  </m:e>
                                  <m:sub>
                                    <m:r>
                                      <a:rPr lang="en-GB" altLang="en-US" sz="1600" b="1" i="1">
                                        <a:latin typeface="Cambria Math"/>
                                      </a:rPr>
                                      <m:t>𝟏</m:t>
                                    </m:r>
                                  </m:sub>
                                </m:sSub>
                                <m:r>
                                  <a:rPr lang="en-GB" altLang="en-US" sz="1600" b="1" i="1">
                                    <a:latin typeface="Cambria Math"/>
                                  </a:rPr>
                                  <m:t>=</m:t>
                                </m:r>
                                <m:sSub>
                                  <m:sSubPr>
                                    <m:ctrlPr>
                                      <a:rPr lang="en-GB" altLang="en-US" sz="1600" b="1" i="1">
                                        <a:latin typeface="Cambria Math" panose="02040503050406030204" pitchFamily="18" charset="0"/>
                                      </a:rPr>
                                    </m:ctrlPr>
                                  </m:sSubPr>
                                  <m:e>
                                    <m:r>
                                      <a:rPr lang="en-GB" altLang="en-US" sz="1600" b="1" i="1">
                                        <a:latin typeface="Cambria Math"/>
                                        <a:ea typeface="Cambria Math"/>
                                      </a:rPr>
                                      <m:t>𝝁</m:t>
                                    </m:r>
                                  </m:e>
                                  <m:sub>
                                    <m:r>
                                      <a:rPr lang="en-GB" altLang="en-US" sz="1600" b="1" i="1">
                                        <a:latin typeface="Cambria Math"/>
                                        <a:ea typeface="Cambria Math"/>
                                      </a:rPr>
                                      <m:t>𝟐</m:t>
                                    </m:r>
                                  </m:sub>
                                </m:sSub>
                              </m:oMath>
                            </m:oMathPara>
                          </a14:m>
                          <a:endParaRPr lang="en-GB" sz="1600" b="1" dirty="0"/>
                        </a:p>
                      </a:txBody>
                      <a:tcPr anchor="ctr"/>
                    </a:tc>
                    <a:tc>
                      <a:txBody>
                        <a:bodyPr/>
                        <a:lstStyle/>
                        <a:p>
                          <a:pPr algn="ctr"/>
                          <a:r>
                            <a:rPr lang="en-GB" sz="1400" dirty="0"/>
                            <a:t>Mean</a:t>
                          </a:r>
                        </a:p>
                      </a:txBody>
                      <a:tcPr anchor="ctr"/>
                    </a:tc>
                    <a:tc>
                      <a:txBody>
                        <a:bodyPr/>
                        <a:lstStyle/>
                        <a:p>
                          <a:pPr algn="ctr"/>
                          <a:r>
                            <a:rPr lang="en-GB" sz="1400" dirty="0"/>
                            <a:t>SD</a:t>
                          </a:r>
                        </a:p>
                      </a:txBody>
                      <a:tcPr anchor="ctr"/>
                    </a:tc>
                    <a:tc>
                      <a:txBody>
                        <a:bodyPr/>
                        <a:lstStyle/>
                        <a:p>
                          <a:pPr algn="ctr"/>
                          <a:r>
                            <a:rPr lang="en-GB" sz="1400" dirty="0"/>
                            <a:t>N</a:t>
                          </a:r>
                        </a:p>
                      </a:txBody>
                      <a:tcPr anchor="ctr"/>
                    </a:tc>
                    <a:extLst>
                      <a:ext uri="{0D108BD9-81ED-4DB2-BD59-A6C34878D82A}">
                        <a16:rowId xmlns:a16="http://schemas.microsoft.com/office/drawing/2014/main" val="10000"/>
                      </a:ext>
                    </a:extLst>
                  </a:tr>
                  <a:tr h="304800">
                    <a:tc>
                      <a:txBody>
                        <a:bodyPr/>
                        <a:lstStyle/>
                        <a:p>
                          <a:pPr marL="0" indent="0" algn="l">
                            <a:buAutoNum type="arabicPeriod"/>
                          </a:pPr>
                          <a:r>
                            <a:rPr lang="en-GB" sz="1400" dirty="0"/>
                            <a:t> Production</a:t>
                          </a:r>
                        </a:p>
                      </a:txBody>
                      <a:tcPr/>
                    </a:tc>
                    <a:tc>
                      <a:txBody>
                        <a:bodyPr/>
                        <a:lstStyle/>
                        <a:p>
                          <a:pPr algn="ctr"/>
                          <a:r>
                            <a:rPr lang="en-GB" sz="1400" b="1" dirty="0"/>
                            <a:t>£120</a:t>
                          </a:r>
                        </a:p>
                      </a:txBody>
                      <a:tcPr/>
                    </a:tc>
                    <a:tc>
                      <a:txBody>
                        <a:bodyPr/>
                        <a:lstStyle/>
                        <a:p>
                          <a:pPr algn="ctr"/>
                          <a:r>
                            <a:rPr lang="en-GB" sz="1400" b="1" dirty="0"/>
                            <a:t>£10</a:t>
                          </a:r>
                        </a:p>
                      </a:txBody>
                      <a:tcPr/>
                    </a:tc>
                    <a:tc>
                      <a:txBody>
                        <a:bodyPr/>
                        <a:lstStyle/>
                        <a:p>
                          <a:pPr algn="ctr"/>
                          <a:r>
                            <a:rPr lang="en-GB" sz="1400" b="1" dirty="0"/>
                            <a:t>30</a:t>
                          </a:r>
                        </a:p>
                      </a:txBody>
                      <a:tcPr/>
                    </a:tc>
                    <a:extLst>
                      <a:ext uri="{0D108BD9-81ED-4DB2-BD59-A6C34878D82A}">
                        <a16:rowId xmlns:a16="http://schemas.microsoft.com/office/drawing/2014/main" val="10001"/>
                      </a:ext>
                    </a:extLst>
                  </a:tr>
                  <a:tr h="304800">
                    <a:tc>
                      <a:txBody>
                        <a:bodyPr/>
                        <a:lstStyle/>
                        <a:p>
                          <a:pPr algn="l"/>
                          <a:r>
                            <a:rPr lang="en-GB" sz="1400" dirty="0"/>
                            <a:t>2. Maintenance</a:t>
                          </a:r>
                        </a:p>
                      </a:txBody>
                      <a:tcPr/>
                    </a:tc>
                    <a:tc>
                      <a:txBody>
                        <a:bodyPr/>
                        <a:lstStyle/>
                        <a:p>
                          <a:pPr algn="ctr"/>
                          <a:r>
                            <a:rPr lang="en-GB" sz="1400" b="1" dirty="0"/>
                            <a:t>£130</a:t>
                          </a:r>
                        </a:p>
                      </a:txBody>
                      <a:tcPr/>
                    </a:tc>
                    <a:tc>
                      <a:txBody>
                        <a:bodyPr/>
                        <a:lstStyle/>
                        <a:p>
                          <a:pPr algn="ctr"/>
                          <a:r>
                            <a:rPr lang="en-GB" sz="1400" b="1" dirty="0"/>
                            <a:t>£12</a:t>
                          </a:r>
                        </a:p>
                      </a:txBody>
                      <a:tcPr/>
                    </a:tc>
                    <a:tc>
                      <a:txBody>
                        <a:bodyPr/>
                        <a:lstStyle/>
                        <a:p>
                          <a:pPr algn="ctr"/>
                          <a:r>
                            <a:rPr lang="en-GB" sz="1400" b="1" dirty="0"/>
                            <a:t>50</a:t>
                          </a:r>
                        </a:p>
                      </a:txBody>
                      <a:tcPr/>
                    </a:tc>
                    <a:extLst>
                      <a:ext uri="{0D108BD9-81ED-4DB2-BD59-A6C34878D82A}">
                        <a16:rowId xmlns:a16="http://schemas.microsoft.com/office/drawing/2014/main" val="10002"/>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3606875840"/>
                  </p:ext>
                </p:extLst>
              </p:nvPr>
            </p:nvGraphicFramePr>
            <p:xfrm>
              <a:off x="5715000" y="22328"/>
              <a:ext cx="3408966" cy="944880"/>
            </p:xfrm>
            <a:graphic>
              <a:graphicData uri="http://schemas.openxmlformats.org/drawingml/2006/table">
                <a:tbl>
                  <a:tblPr firstRow="1" firstCol="1" bandRow="1">
                    <a:tableStyleId>{5C22544A-7EE6-4342-B048-85BDC9FD1C3A}</a:tableStyleId>
                  </a:tblPr>
                  <a:tblGrid>
                    <a:gridCol w="1629972"/>
                    <a:gridCol w="686304"/>
                    <a:gridCol w="499692"/>
                    <a:gridCol w="592998"/>
                  </a:tblGrid>
                  <a:tr h="335280">
                    <a:tc>
                      <a:txBody>
                        <a:bodyPr/>
                        <a:lstStyle/>
                        <a:p>
                          <a:endParaRPr lang="en-US"/>
                        </a:p>
                      </a:txBody>
                      <a:tcPr anchor="ctr">
                        <a:blipFill rotWithShape="1">
                          <a:blip r:embed="rId3"/>
                          <a:stretch>
                            <a:fillRect l="-375" t="-1818" r="-109363" b="-200000"/>
                          </a:stretch>
                        </a:blipFill>
                      </a:tcPr>
                    </a:tc>
                    <a:tc>
                      <a:txBody>
                        <a:bodyPr/>
                        <a:lstStyle/>
                        <a:p>
                          <a:pPr algn="ctr"/>
                          <a:r>
                            <a:rPr lang="en-GB" sz="1400" dirty="0" smtClean="0"/>
                            <a:t>Mean</a:t>
                          </a:r>
                          <a:endParaRPr lang="en-GB" sz="1400" dirty="0"/>
                        </a:p>
                      </a:txBody>
                      <a:tcPr anchor="ctr"/>
                    </a:tc>
                    <a:tc>
                      <a:txBody>
                        <a:bodyPr/>
                        <a:lstStyle/>
                        <a:p>
                          <a:pPr algn="ctr"/>
                          <a:r>
                            <a:rPr lang="en-GB" sz="1400" dirty="0" smtClean="0"/>
                            <a:t>SD</a:t>
                          </a:r>
                          <a:endParaRPr lang="en-GB" sz="1400" dirty="0"/>
                        </a:p>
                      </a:txBody>
                      <a:tcPr anchor="ctr"/>
                    </a:tc>
                    <a:tc>
                      <a:txBody>
                        <a:bodyPr/>
                        <a:lstStyle/>
                        <a:p>
                          <a:pPr algn="ctr"/>
                          <a:r>
                            <a:rPr lang="en-GB" sz="1400" dirty="0" smtClean="0"/>
                            <a:t>N</a:t>
                          </a:r>
                          <a:endParaRPr lang="en-GB" sz="1400" dirty="0"/>
                        </a:p>
                      </a:txBody>
                      <a:tcPr anchor="ctr"/>
                    </a:tc>
                  </a:tr>
                  <a:tr h="304800">
                    <a:tc>
                      <a:txBody>
                        <a:bodyPr/>
                        <a:lstStyle/>
                        <a:p>
                          <a:pPr marL="0" indent="0" algn="l">
                            <a:buAutoNum type="arabicPeriod"/>
                          </a:pPr>
                          <a:r>
                            <a:rPr lang="en-GB" sz="1400" dirty="0" smtClean="0"/>
                            <a:t> Production</a:t>
                          </a:r>
                          <a:endParaRPr lang="en-GB" sz="1400" dirty="0"/>
                        </a:p>
                      </a:txBody>
                      <a:tcPr/>
                    </a:tc>
                    <a:tc>
                      <a:txBody>
                        <a:bodyPr/>
                        <a:lstStyle/>
                        <a:p>
                          <a:pPr algn="ctr"/>
                          <a:r>
                            <a:rPr lang="en-GB" sz="1400" b="1" dirty="0" smtClean="0"/>
                            <a:t>£120</a:t>
                          </a:r>
                          <a:endParaRPr lang="en-GB" sz="1400" b="1" dirty="0"/>
                        </a:p>
                      </a:txBody>
                      <a:tcPr/>
                    </a:tc>
                    <a:tc>
                      <a:txBody>
                        <a:bodyPr/>
                        <a:lstStyle/>
                        <a:p>
                          <a:pPr algn="ctr"/>
                          <a:r>
                            <a:rPr lang="en-GB" sz="1400" b="1" dirty="0" smtClean="0"/>
                            <a:t>£10</a:t>
                          </a:r>
                          <a:endParaRPr lang="en-GB" sz="1400" b="1" dirty="0"/>
                        </a:p>
                      </a:txBody>
                      <a:tcPr/>
                    </a:tc>
                    <a:tc>
                      <a:txBody>
                        <a:bodyPr/>
                        <a:lstStyle/>
                        <a:p>
                          <a:pPr algn="ctr"/>
                          <a:r>
                            <a:rPr lang="en-GB" sz="1400" b="1" dirty="0" smtClean="0"/>
                            <a:t>30</a:t>
                          </a:r>
                          <a:endParaRPr lang="en-GB" sz="1400" b="1" dirty="0"/>
                        </a:p>
                      </a:txBody>
                      <a:tcPr/>
                    </a:tc>
                  </a:tr>
                  <a:tr h="304800">
                    <a:tc>
                      <a:txBody>
                        <a:bodyPr/>
                        <a:lstStyle/>
                        <a:p>
                          <a:pPr algn="l"/>
                          <a:r>
                            <a:rPr lang="en-GB" sz="1400" dirty="0" smtClean="0"/>
                            <a:t>2. Maintenance</a:t>
                          </a:r>
                          <a:endParaRPr lang="en-GB" sz="1400" dirty="0"/>
                        </a:p>
                      </a:txBody>
                      <a:tcPr/>
                    </a:tc>
                    <a:tc>
                      <a:txBody>
                        <a:bodyPr/>
                        <a:lstStyle/>
                        <a:p>
                          <a:pPr algn="ctr"/>
                          <a:r>
                            <a:rPr lang="en-GB" sz="1400" b="1" dirty="0" smtClean="0"/>
                            <a:t>£130</a:t>
                          </a:r>
                          <a:endParaRPr lang="en-GB" sz="1400" b="1" dirty="0"/>
                        </a:p>
                      </a:txBody>
                      <a:tcPr/>
                    </a:tc>
                    <a:tc>
                      <a:txBody>
                        <a:bodyPr/>
                        <a:lstStyle/>
                        <a:p>
                          <a:pPr algn="ctr"/>
                          <a:r>
                            <a:rPr lang="en-GB" sz="1400" b="1" dirty="0" smtClean="0"/>
                            <a:t>£12</a:t>
                          </a:r>
                          <a:endParaRPr lang="en-GB" sz="1400" b="1" dirty="0"/>
                        </a:p>
                      </a:txBody>
                      <a:tcPr/>
                    </a:tc>
                    <a:tc>
                      <a:txBody>
                        <a:bodyPr/>
                        <a:lstStyle/>
                        <a:p>
                          <a:pPr algn="ctr"/>
                          <a:r>
                            <a:rPr lang="en-GB" sz="1400" b="1" dirty="0" smtClean="0"/>
                            <a:t>50</a:t>
                          </a:r>
                          <a:endParaRPr lang="en-GB" sz="1400" b="1" dirty="0"/>
                        </a:p>
                      </a:txBody>
                      <a:tcPr/>
                    </a:tc>
                  </a:tr>
                </a:tbl>
              </a:graphicData>
            </a:graphic>
          </p:graphicFrame>
        </mc:Fallback>
      </mc:AlternateContent>
      <mc:AlternateContent xmlns:mc="http://schemas.openxmlformats.org/markup-compatibility/2006" xmlns:a14="http://schemas.microsoft.com/office/drawing/2010/main">
        <mc:Choice Requires="a14">
          <p:sp>
            <p:nvSpPr>
              <p:cNvPr id="15" name="TextBox 14"/>
              <p:cNvSpPr txBox="1"/>
              <p:nvPr/>
            </p:nvSpPr>
            <p:spPr>
              <a:xfrm>
                <a:off x="1828800" y="2602299"/>
                <a:ext cx="4495800" cy="826701"/>
              </a:xfrm>
              <a:prstGeom prst="wedgeRectCallout">
                <a:avLst>
                  <a:gd name="adj1" fmla="val 7446"/>
                  <a:gd name="adj2" fmla="val 43351"/>
                </a:avLst>
              </a:prstGeom>
              <a:solidFill>
                <a:schemeClr val="accent2">
                  <a:lumMod val="20000"/>
                  <a:lumOff val="80000"/>
                </a:schemeClr>
              </a:solidFill>
              <a:ln>
                <a:noFill/>
              </a:ln>
            </p:spPr>
            <p:txBody>
              <a:bodyPr wrap="square" rtlCol="0">
                <a:spAutoFit/>
              </a:bodyPr>
              <a:lstStyle/>
              <a:p>
                <a14:m>
                  <m:oMath xmlns:m="http://schemas.openxmlformats.org/officeDocument/2006/math">
                    <m:r>
                      <a:rPr lang="en-GB" sz="3200" b="0" i="1" smtClean="0">
                        <a:latin typeface="Cambria Math"/>
                        <a:ea typeface="Cambria Math"/>
                      </a:rPr>
                      <m:t>𝑡</m:t>
                    </m:r>
                    <m:r>
                      <a:rPr lang="en-GB" sz="3200" b="0" i="1" smtClean="0">
                        <a:latin typeface="Cambria Math"/>
                        <a:ea typeface="Cambria Math"/>
                      </a:rPr>
                      <m:t>=</m:t>
                    </m:r>
                    <m:f>
                      <m:fPr>
                        <m:ctrlPr>
                          <a:rPr lang="en-GB" sz="3200" i="1">
                            <a:latin typeface="Cambria Math" panose="02040503050406030204" pitchFamily="18" charset="0"/>
                            <a:ea typeface="Cambria Math"/>
                          </a:rPr>
                        </m:ctrlPr>
                      </m:fPr>
                      <m:num>
                        <m:d>
                          <m:dPr>
                            <m:ctrlPr>
                              <a:rPr lang="en-GB" sz="3200" i="1" smtClean="0">
                                <a:latin typeface="Cambria Math" panose="02040503050406030204" pitchFamily="18" charset="0"/>
                                <a:ea typeface="Cambria Math"/>
                              </a:rPr>
                            </m:ctrlPr>
                          </m:dPr>
                          <m:e>
                            <m:r>
                              <a:rPr lang="en-GB" sz="3200" b="0" i="1" smtClean="0">
                                <a:latin typeface="Cambria Math"/>
                                <a:ea typeface="Cambria Math"/>
                              </a:rPr>
                              <m:t>120</m:t>
                            </m:r>
                            <m:r>
                              <a:rPr lang="en-GB" sz="3200" i="1">
                                <a:latin typeface="Cambria Math"/>
                                <a:ea typeface="Cambria Math"/>
                              </a:rPr>
                              <m:t>−</m:t>
                            </m:r>
                            <m:r>
                              <a:rPr lang="en-GB" sz="3200" b="0" i="1" smtClean="0">
                                <a:latin typeface="Cambria Math"/>
                                <a:ea typeface="Cambria Math"/>
                              </a:rPr>
                              <m:t>130</m:t>
                            </m:r>
                          </m:e>
                        </m:d>
                        <m:r>
                          <a:rPr lang="en-GB" sz="3200" i="1">
                            <a:latin typeface="Cambria Math"/>
                            <a:ea typeface="Cambria Math"/>
                          </a:rPr>
                          <m:t>−</m:t>
                        </m:r>
                        <m:d>
                          <m:dPr>
                            <m:ctrlPr>
                              <a:rPr lang="en-GB" sz="3200" i="1">
                                <a:latin typeface="Cambria Math" panose="02040503050406030204" pitchFamily="18" charset="0"/>
                                <a:ea typeface="Cambria Math"/>
                              </a:rPr>
                            </m:ctrlPr>
                          </m:dPr>
                          <m:e>
                            <m:r>
                              <a:rPr lang="en-GB" sz="3200" b="0" i="1" smtClean="0">
                                <a:latin typeface="Cambria Math"/>
                                <a:ea typeface="Cambria Math"/>
                              </a:rPr>
                              <m:t>0</m:t>
                            </m:r>
                          </m:e>
                        </m:d>
                      </m:num>
                      <m:den>
                        <m:r>
                          <a:rPr lang="en-GB" sz="3200" b="0" i="1" smtClean="0">
                            <a:latin typeface="Cambria Math"/>
                            <a:ea typeface="Cambria Math"/>
                          </a:rPr>
                          <m:t>2.60</m:t>
                        </m:r>
                      </m:den>
                    </m:f>
                  </m:oMath>
                </a14:m>
                <a:r>
                  <a:rPr lang="en-GB" sz="3200" dirty="0">
                    <a:solidFill>
                      <a:schemeClr val="tx1"/>
                    </a:solidFill>
                  </a:rPr>
                  <a:t> = -3.85</a:t>
                </a:r>
              </a:p>
            </p:txBody>
          </p:sp>
        </mc:Choice>
        <mc:Fallback xmlns="">
          <p:sp>
            <p:nvSpPr>
              <p:cNvPr id="15" name="TextBox 14"/>
              <p:cNvSpPr txBox="1">
                <a:spLocks noRot="1" noChangeAspect="1" noMove="1" noResize="1" noEditPoints="1" noAdjustHandles="1" noChangeArrowheads="1" noChangeShapeType="1" noTextEdit="1"/>
              </p:cNvSpPr>
              <p:nvPr/>
            </p:nvSpPr>
            <p:spPr>
              <a:xfrm>
                <a:off x="1828800" y="2602299"/>
                <a:ext cx="4495800" cy="826701"/>
              </a:xfrm>
              <a:prstGeom prst="wedgeRectCallout">
                <a:avLst>
                  <a:gd name="adj1" fmla="val 7446"/>
                  <a:gd name="adj2" fmla="val 43351"/>
                </a:avLst>
              </a:prstGeom>
              <a:blipFill>
                <a:blip r:embed="rId4"/>
                <a:stretch>
                  <a:fillRect b="-11029"/>
                </a:stretch>
              </a:blipFill>
              <a:ln>
                <a:noFill/>
              </a:ln>
            </p:spPr>
            <p:txBody>
              <a:bodyPr/>
              <a:lstStyle/>
              <a:p>
                <a:r>
                  <a:rPr lang="en-GB">
                    <a:noFill/>
                  </a:rPr>
                  <a:t> </a:t>
                </a:r>
              </a:p>
            </p:txBody>
          </p:sp>
        </mc:Fallback>
      </mc:AlternateContent>
      <p:sp>
        <p:nvSpPr>
          <p:cNvPr id="11" name="Rectangle 10"/>
          <p:cNvSpPr/>
          <p:nvPr/>
        </p:nvSpPr>
        <p:spPr>
          <a:xfrm>
            <a:off x="308344" y="914400"/>
            <a:ext cx="8683256" cy="1323439"/>
          </a:xfrm>
          <a:prstGeom prst="rect">
            <a:avLst/>
          </a:prstGeom>
        </p:spPr>
        <p:txBody>
          <a:bodyPr wrap="square">
            <a:spAutoFit/>
          </a:bodyPr>
          <a:lstStyle/>
          <a:p>
            <a:r>
              <a:rPr lang="en-GB" altLang="en-US" sz="2000" b="1" dirty="0">
                <a:solidFill>
                  <a:srgbClr val="333399"/>
                </a:solidFill>
              </a:rPr>
              <a:t>Step 2. Test Statistic:</a:t>
            </a:r>
          </a:p>
          <a:p>
            <a:r>
              <a:rPr lang="en-GB" altLang="en-US" sz="2000" dirty="0"/>
              <a:t>The number of standard errors by which the </a:t>
            </a:r>
            <a:r>
              <a:rPr lang="en-GB" altLang="en-US" sz="2000" b="1" dirty="0"/>
              <a:t>difference of sample mean </a:t>
            </a:r>
            <a:r>
              <a:rPr lang="en-GB" altLang="en-US" sz="2000" dirty="0"/>
              <a:t>differs from </a:t>
            </a:r>
            <a:r>
              <a:rPr lang="en-GB" altLang="en-US" sz="2000" b="1" dirty="0"/>
              <a:t>difference in population mean</a:t>
            </a:r>
            <a:r>
              <a:rPr lang="en-GB" altLang="en-US" sz="2000" dirty="0"/>
              <a:t> known as </a:t>
            </a:r>
            <a:r>
              <a:rPr lang="en-GB" altLang="en-US" sz="2000" b="1" dirty="0">
                <a:solidFill>
                  <a:srgbClr val="333399"/>
                </a:solidFill>
              </a:rPr>
              <a:t>standard error of difference in sample means </a:t>
            </a:r>
            <a:r>
              <a:rPr lang="en-GB" altLang="en-US" sz="2000" dirty="0">
                <a:solidFill>
                  <a:srgbClr val="333399"/>
                </a:solidFill>
              </a:rPr>
              <a:t>(STEDM)</a:t>
            </a:r>
          </a:p>
        </p:txBody>
      </p:sp>
      <p:sp>
        <p:nvSpPr>
          <p:cNvPr id="16" name="Text Box 8"/>
          <p:cNvSpPr txBox="1">
            <a:spLocks noChangeArrowheads="1"/>
          </p:cNvSpPr>
          <p:nvPr/>
        </p:nvSpPr>
        <p:spPr bwMode="auto">
          <a:xfrm>
            <a:off x="5701318" y="1913245"/>
            <a:ext cx="3442682" cy="649188"/>
          </a:xfrm>
          <a:prstGeom prst="wedgeEllipseCallout">
            <a:avLst>
              <a:gd name="adj1" fmla="val -36439"/>
              <a:gd name="adj2" fmla="val 114501"/>
            </a:avLst>
          </a:prstGeom>
          <a:ln/>
        </p:spPr>
        <p:style>
          <a:lnRef idx="1">
            <a:schemeClr val="accent1"/>
          </a:lnRef>
          <a:fillRef idx="2">
            <a:schemeClr val="accent1"/>
          </a:fillRef>
          <a:effectRef idx="1">
            <a:schemeClr val="accent1"/>
          </a:effectRef>
          <a:fontRef idx="minor">
            <a:schemeClr val="dk1"/>
          </a:fontRef>
        </p:style>
        <p:txBody>
          <a:bodyPr wrap="none">
            <a:spAutoFit/>
          </a:bodyPr>
          <a:lstStyle/>
          <a:p>
            <a:r>
              <a:rPr lang="en-GB" altLang="en-US" sz="2400" b="1" dirty="0">
                <a:solidFill>
                  <a:srgbClr val="333399"/>
                </a:solidFill>
              </a:rPr>
              <a:t>Is this significant?</a:t>
            </a:r>
            <a:endParaRPr lang="en-US" altLang="en-US" sz="2400" b="1" dirty="0">
              <a:solidFill>
                <a:srgbClr val="333399"/>
              </a:solidFill>
            </a:endParaRPr>
          </a:p>
        </p:txBody>
      </p:sp>
      <mc:AlternateContent xmlns:mc="http://schemas.openxmlformats.org/markup-compatibility/2006" xmlns:a14="http://schemas.microsoft.com/office/drawing/2010/main">
        <mc:Choice Requires="a14">
          <p:sp>
            <p:nvSpPr>
              <p:cNvPr id="4" name="Rectangle 3"/>
              <p:cNvSpPr/>
              <p:nvPr/>
            </p:nvSpPr>
            <p:spPr>
              <a:xfrm>
                <a:off x="0" y="6519446"/>
                <a:ext cx="728084"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sz="1600" b="0" i="1" smtClean="0">
                          <a:solidFill>
                            <a:schemeClr val="bg1">
                              <a:lumMod val="95000"/>
                            </a:schemeClr>
                          </a:solidFill>
                          <a:latin typeface="Cambria Math"/>
                          <a:ea typeface="Cambria Math"/>
                        </a:rPr>
                        <m:t>1.990</m:t>
                      </m:r>
                    </m:oMath>
                  </m:oMathPara>
                </a14:m>
                <a:endParaRPr lang="en-GB" sz="1600" dirty="0">
                  <a:solidFill>
                    <a:schemeClr val="bg1">
                      <a:lumMod val="95000"/>
                    </a:schemeClr>
                  </a:solidFill>
                </a:endParaRPr>
              </a:p>
            </p:txBody>
          </p:sp>
        </mc:Choice>
        <mc:Fallback xmlns="">
          <p:sp>
            <p:nvSpPr>
              <p:cNvPr id="4" name="Rectangle 3"/>
              <p:cNvSpPr>
                <a:spLocks noRot="1" noChangeAspect="1" noMove="1" noResize="1" noEditPoints="1" noAdjustHandles="1" noChangeArrowheads="1" noChangeShapeType="1" noTextEdit="1"/>
              </p:cNvSpPr>
              <p:nvPr/>
            </p:nvSpPr>
            <p:spPr>
              <a:xfrm>
                <a:off x="0" y="6519446"/>
                <a:ext cx="728084" cy="338554"/>
              </a:xfrm>
              <a:prstGeom prst="rect">
                <a:avLst/>
              </a:prstGeom>
              <a:blipFill rotWithShape="1">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42DF65C5-B81E-21CF-9C40-AED6045DE7C0}"/>
                  </a:ext>
                </a:extLst>
              </p:cNvPr>
              <p:cNvSpPr/>
              <p:nvPr/>
            </p:nvSpPr>
            <p:spPr>
              <a:xfrm>
                <a:off x="304800" y="3657600"/>
                <a:ext cx="7924800" cy="1323439"/>
              </a:xfrm>
              <a:prstGeom prst="rect">
                <a:avLst/>
              </a:prstGeom>
            </p:spPr>
            <p:txBody>
              <a:bodyPr wrap="square">
                <a:spAutoFit/>
              </a:bodyPr>
              <a:lstStyle/>
              <a:p>
                <a:r>
                  <a:rPr lang="en-GB" altLang="en-US" sz="2000" b="1" dirty="0">
                    <a:solidFill>
                      <a:srgbClr val="333399"/>
                    </a:solidFill>
                  </a:rPr>
                  <a:t>Step 3. Lookup T-table to find </a:t>
                </a:r>
                <a14:m>
                  <m:oMath xmlns:m="http://schemas.openxmlformats.org/officeDocument/2006/math">
                    <m:sSub>
                      <m:sSubPr>
                        <m:ctrlPr>
                          <a:rPr lang="en-US" altLang="en-US" sz="2000" b="1" i="1" dirty="0">
                            <a:solidFill>
                              <a:srgbClr val="333399"/>
                            </a:solidFill>
                            <a:latin typeface="Cambria Math" panose="02040503050406030204" pitchFamily="18" charset="0"/>
                          </a:rPr>
                        </m:ctrlPr>
                      </m:sSubPr>
                      <m:e>
                        <m:r>
                          <a:rPr lang="en-GB" altLang="en-US" sz="2000" b="1" i="1" dirty="0">
                            <a:solidFill>
                              <a:srgbClr val="333399"/>
                            </a:solidFill>
                            <a:latin typeface="Cambria Math" panose="02040503050406030204" pitchFamily="18" charset="0"/>
                          </a:rPr>
                          <m:t>𝒕</m:t>
                        </m:r>
                      </m:e>
                      <m:sub>
                        <m:r>
                          <a:rPr lang="en-GB" altLang="en-US" sz="2000" b="1" i="1" dirty="0">
                            <a:solidFill>
                              <a:srgbClr val="333399"/>
                            </a:solidFill>
                            <a:latin typeface="Cambria Math" panose="02040503050406030204" pitchFamily="18" charset="0"/>
                          </a:rPr>
                          <m:t>𝒄𝒓𝒊𝒕</m:t>
                        </m:r>
                      </m:sub>
                    </m:sSub>
                  </m:oMath>
                </a14:m>
                <a:r>
                  <a:rPr lang="en-GB" altLang="en-US" sz="2000" b="1" dirty="0">
                    <a:solidFill>
                      <a:srgbClr val="333399"/>
                    </a:solidFill>
                  </a:rPr>
                  <a:t>:</a:t>
                </a:r>
              </a:p>
              <a:p>
                <a:endParaRPr lang="en-GB" altLang="en-US" sz="2000" b="1" dirty="0">
                  <a:solidFill>
                    <a:srgbClr val="333399"/>
                  </a:solidFill>
                </a:endParaRPr>
              </a:p>
              <a:p>
                <a:pPr/>
                <a14:m>
                  <m:oMathPara xmlns:m="http://schemas.openxmlformats.org/officeDocument/2006/math">
                    <m:oMathParaPr>
                      <m:jc m:val="left"/>
                    </m:oMathParaPr>
                    <m:oMath xmlns:m="http://schemas.openxmlformats.org/officeDocument/2006/math">
                      <m:sSub>
                        <m:sSubPr>
                          <m:ctrlPr>
                            <a:rPr lang="en-US" altLang="en-US" sz="2000" b="1" i="1" dirty="0">
                              <a:solidFill>
                                <a:srgbClr val="333399"/>
                              </a:solidFill>
                              <a:latin typeface="Cambria Math" panose="02040503050406030204" pitchFamily="18" charset="0"/>
                            </a:rPr>
                          </m:ctrlPr>
                        </m:sSubPr>
                        <m:e>
                          <m:r>
                            <a:rPr lang="en-GB" altLang="en-US" sz="2000" b="1" i="1" dirty="0">
                              <a:solidFill>
                                <a:srgbClr val="333399"/>
                              </a:solidFill>
                              <a:latin typeface="Cambria Math" panose="02040503050406030204" pitchFamily="18" charset="0"/>
                            </a:rPr>
                            <m:t>𝒅𝒇</m:t>
                          </m:r>
                          <m:r>
                            <a:rPr lang="en-GB" altLang="en-US" sz="2000" b="1" i="1" dirty="0">
                              <a:solidFill>
                                <a:srgbClr val="333399"/>
                              </a:solidFill>
                              <a:latin typeface="Cambria Math" panose="02040503050406030204" pitchFamily="18" charset="0"/>
                            </a:rPr>
                            <m:t>= </m:t>
                          </m:r>
                          <m:r>
                            <a:rPr lang="en-GB" altLang="en-US" sz="2000" b="1" i="1" dirty="0">
                              <a:solidFill>
                                <a:srgbClr val="333399"/>
                              </a:solidFill>
                              <a:latin typeface="Cambria Math"/>
                            </a:rPr>
                            <m:t>𝒏</m:t>
                          </m:r>
                        </m:e>
                        <m:sub>
                          <m:r>
                            <a:rPr lang="en-GB" altLang="en-US" sz="2000" b="1" i="1" dirty="0">
                              <a:solidFill>
                                <a:srgbClr val="333399"/>
                              </a:solidFill>
                              <a:latin typeface="Cambria Math"/>
                            </a:rPr>
                            <m:t>𝟏</m:t>
                          </m:r>
                        </m:sub>
                      </m:sSub>
                      <m:r>
                        <a:rPr lang="en-US" altLang="en-US" sz="2000" b="1" i="1" dirty="0">
                          <a:solidFill>
                            <a:srgbClr val="333399"/>
                          </a:solidFill>
                          <a:latin typeface="Cambria Math"/>
                        </a:rPr>
                        <m:t>+</m:t>
                      </m:r>
                      <m:sSub>
                        <m:sSubPr>
                          <m:ctrlPr>
                            <a:rPr lang="en-US" altLang="en-US" sz="2000" b="1" i="1" dirty="0">
                              <a:solidFill>
                                <a:srgbClr val="333399"/>
                              </a:solidFill>
                              <a:latin typeface="Cambria Math" panose="02040503050406030204" pitchFamily="18" charset="0"/>
                            </a:rPr>
                          </m:ctrlPr>
                        </m:sSubPr>
                        <m:e>
                          <m:r>
                            <a:rPr lang="en-GB" altLang="en-US" sz="2000" b="1" i="1" dirty="0">
                              <a:solidFill>
                                <a:srgbClr val="333399"/>
                              </a:solidFill>
                              <a:latin typeface="Cambria Math"/>
                            </a:rPr>
                            <m:t>𝒏</m:t>
                          </m:r>
                        </m:e>
                        <m:sub>
                          <m:r>
                            <a:rPr lang="en-GB" altLang="en-US" sz="2000" b="1" i="1" dirty="0">
                              <a:solidFill>
                                <a:srgbClr val="333399"/>
                              </a:solidFill>
                              <a:latin typeface="Cambria Math"/>
                            </a:rPr>
                            <m:t>𝟐</m:t>
                          </m:r>
                        </m:sub>
                      </m:sSub>
                      <m:r>
                        <a:rPr lang="en-US" altLang="en-US" sz="2000" b="1" i="1" dirty="0">
                          <a:solidFill>
                            <a:srgbClr val="333399"/>
                          </a:solidFill>
                          <a:latin typeface="Cambria Math"/>
                        </a:rPr>
                        <m:t>−</m:t>
                      </m:r>
                      <m:r>
                        <a:rPr lang="en-US" altLang="en-US" sz="2000" b="1" i="1" dirty="0">
                          <a:solidFill>
                            <a:srgbClr val="333399"/>
                          </a:solidFill>
                          <a:latin typeface="Cambria Math"/>
                        </a:rPr>
                        <m:t>𝟐</m:t>
                      </m:r>
                      <m:r>
                        <a:rPr lang="en-GB" altLang="en-US" sz="2000" b="1" i="0" dirty="0" smtClean="0">
                          <a:solidFill>
                            <a:srgbClr val="333399"/>
                          </a:solidFill>
                          <a:latin typeface="Cambria Math" panose="02040503050406030204" pitchFamily="18" charset="0"/>
                        </a:rPr>
                        <m:t>=</m:t>
                      </m:r>
                      <m:r>
                        <a:rPr lang="en-GB" altLang="en-US" sz="2000" b="1" i="0" dirty="0" smtClean="0">
                          <a:solidFill>
                            <a:srgbClr val="333399"/>
                          </a:solidFill>
                          <a:latin typeface="Cambria Math" panose="02040503050406030204" pitchFamily="18" charset="0"/>
                        </a:rPr>
                        <m:t>𝟑𝟎</m:t>
                      </m:r>
                      <m:r>
                        <a:rPr lang="en-GB" altLang="en-US" sz="2000" b="1" i="0" dirty="0" smtClean="0">
                          <a:solidFill>
                            <a:srgbClr val="333399"/>
                          </a:solidFill>
                          <a:latin typeface="Cambria Math" panose="02040503050406030204" pitchFamily="18" charset="0"/>
                        </a:rPr>
                        <m:t>+</m:t>
                      </m:r>
                      <m:r>
                        <a:rPr lang="en-GB" altLang="en-US" sz="2000" b="1" i="0" dirty="0" smtClean="0">
                          <a:solidFill>
                            <a:srgbClr val="333399"/>
                          </a:solidFill>
                          <a:latin typeface="Cambria Math" panose="02040503050406030204" pitchFamily="18" charset="0"/>
                        </a:rPr>
                        <m:t>𝟓𝟎</m:t>
                      </m:r>
                      <m:r>
                        <a:rPr lang="en-GB" altLang="en-US" sz="2000" b="1" i="0" dirty="0" smtClean="0">
                          <a:solidFill>
                            <a:srgbClr val="333399"/>
                          </a:solidFill>
                          <a:latin typeface="Cambria Math" panose="02040503050406030204" pitchFamily="18" charset="0"/>
                        </a:rPr>
                        <m:t> −</m:t>
                      </m:r>
                      <m:r>
                        <a:rPr lang="en-GB" altLang="en-US" sz="2000" b="1" i="0" dirty="0" smtClean="0">
                          <a:solidFill>
                            <a:srgbClr val="333399"/>
                          </a:solidFill>
                          <a:latin typeface="Cambria Math" panose="02040503050406030204" pitchFamily="18" charset="0"/>
                        </a:rPr>
                        <m:t>𝟐</m:t>
                      </m:r>
                      <m:r>
                        <a:rPr lang="en-GB" altLang="en-US" sz="2000" b="1" i="0" dirty="0" smtClean="0">
                          <a:solidFill>
                            <a:srgbClr val="333399"/>
                          </a:solidFill>
                          <a:latin typeface="Cambria Math" panose="02040503050406030204" pitchFamily="18" charset="0"/>
                        </a:rPr>
                        <m:t>=</m:t>
                      </m:r>
                      <m:r>
                        <a:rPr lang="en-GB" altLang="en-US" sz="2000" b="1" i="0" dirty="0" smtClean="0">
                          <a:solidFill>
                            <a:srgbClr val="333399"/>
                          </a:solidFill>
                          <a:latin typeface="Cambria Math" panose="02040503050406030204" pitchFamily="18" charset="0"/>
                        </a:rPr>
                        <m:t>𝟕𝟖</m:t>
                      </m:r>
                    </m:oMath>
                  </m:oMathPara>
                </a14:m>
                <a:endParaRPr lang="en-GB" altLang="en-US" sz="2000" b="1" dirty="0">
                  <a:solidFill>
                    <a:srgbClr val="333399"/>
                  </a:solidFill>
                </a:endParaRPr>
              </a:p>
              <a:p>
                <a:pPr/>
                <a14:m>
                  <m:oMathPara xmlns:m="http://schemas.openxmlformats.org/officeDocument/2006/math">
                    <m:oMathParaPr>
                      <m:jc m:val="left"/>
                    </m:oMathParaPr>
                    <m:oMath xmlns:m="http://schemas.openxmlformats.org/officeDocument/2006/math">
                      <m:sSub>
                        <m:sSubPr>
                          <m:ctrlPr>
                            <a:rPr lang="en-US" altLang="en-US" sz="2000" b="1" i="1" dirty="0">
                              <a:solidFill>
                                <a:srgbClr val="333399"/>
                              </a:solidFill>
                              <a:latin typeface="Cambria Math" panose="02040503050406030204" pitchFamily="18" charset="0"/>
                            </a:rPr>
                          </m:ctrlPr>
                        </m:sSubPr>
                        <m:e>
                          <m:r>
                            <a:rPr lang="en-GB" altLang="en-US" sz="2000" b="1" i="1" dirty="0">
                              <a:solidFill>
                                <a:srgbClr val="333399"/>
                              </a:solidFill>
                              <a:latin typeface="Cambria Math" panose="02040503050406030204" pitchFamily="18" charset="0"/>
                            </a:rPr>
                            <m:t>𝒕</m:t>
                          </m:r>
                        </m:e>
                        <m:sub>
                          <m:r>
                            <a:rPr lang="en-GB" altLang="en-US" sz="2000" b="1" i="1" dirty="0">
                              <a:solidFill>
                                <a:srgbClr val="333399"/>
                              </a:solidFill>
                              <a:latin typeface="Cambria Math" panose="02040503050406030204" pitchFamily="18" charset="0"/>
                            </a:rPr>
                            <m:t>𝒄𝒓𝒊𝒕</m:t>
                          </m:r>
                        </m:sub>
                      </m:sSub>
                      <m:r>
                        <a:rPr lang="en-GB" altLang="en-US" sz="2000" b="1" i="1" dirty="0">
                          <a:solidFill>
                            <a:srgbClr val="333399"/>
                          </a:solidFill>
                          <a:latin typeface="Cambria Math" panose="02040503050406030204" pitchFamily="18" charset="0"/>
                        </a:rPr>
                        <m:t>≈</m:t>
                      </m:r>
                      <m:r>
                        <a:rPr lang="en-GB" altLang="en-US" sz="2000" b="1" i="1" dirty="0">
                          <a:solidFill>
                            <a:srgbClr val="333399"/>
                          </a:solidFill>
                          <a:latin typeface="Cambria Math" panose="02040503050406030204" pitchFamily="18" charset="0"/>
                        </a:rPr>
                        <m:t>𝟏</m:t>
                      </m:r>
                      <m:r>
                        <a:rPr lang="en-GB" altLang="en-US" sz="2000" b="1" i="1" dirty="0">
                          <a:solidFill>
                            <a:srgbClr val="333399"/>
                          </a:solidFill>
                          <a:latin typeface="Cambria Math" panose="02040503050406030204" pitchFamily="18" charset="0"/>
                        </a:rPr>
                        <m:t>.</m:t>
                      </m:r>
                      <m:r>
                        <a:rPr lang="en-GB" altLang="en-US" sz="2000" b="1" i="1" dirty="0">
                          <a:solidFill>
                            <a:srgbClr val="333399"/>
                          </a:solidFill>
                          <a:latin typeface="Cambria Math" panose="02040503050406030204" pitchFamily="18" charset="0"/>
                        </a:rPr>
                        <m:t>𝟗𝟗𝟎</m:t>
                      </m:r>
                    </m:oMath>
                  </m:oMathPara>
                </a14:m>
                <a:endParaRPr lang="en-GB" altLang="en-US" sz="2000" b="1" dirty="0">
                  <a:solidFill>
                    <a:srgbClr val="333399"/>
                  </a:solidFill>
                </a:endParaRPr>
              </a:p>
            </p:txBody>
          </p:sp>
        </mc:Choice>
        <mc:Fallback xmlns="">
          <p:sp>
            <p:nvSpPr>
              <p:cNvPr id="5" name="Rectangle 4">
                <a:extLst>
                  <a:ext uri="{FF2B5EF4-FFF2-40B4-BE49-F238E27FC236}">
                    <a16:creationId xmlns:a16="http://schemas.microsoft.com/office/drawing/2014/main" id="{42DF65C5-B81E-21CF-9C40-AED6045DE7C0}"/>
                  </a:ext>
                </a:extLst>
              </p:cNvPr>
              <p:cNvSpPr>
                <a:spLocks noRot="1" noChangeAspect="1" noMove="1" noResize="1" noEditPoints="1" noAdjustHandles="1" noChangeArrowheads="1" noChangeShapeType="1" noTextEdit="1"/>
              </p:cNvSpPr>
              <p:nvPr/>
            </p:nvSpPr>
            <p:spPr>
              <a:xfrm>
                <a:off x="304800" y="3657600"/>
                <a:ext cx="7924800" cy="1323439"/>
              </a:xfrm>
              <a:prstGeom prst="rect">
                <a:avLst/>
              </a:prstGeom>
              <a:blipFill>
                <a:blip r:embed="rId8"/>
                <a:stretch>
                  <a:fillRect l="-769" t="-230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C25F688C-A2C4-F555-9DA7-6B957D7C404B}"/>
                  </a:ext>
                </a:extLst>
              </p:cNvPr>
              <p:cNvSpPr/>
              <p:nvPr/>
            </p:nvSpPr>
            <p:spPr>
              <a:xfrm>
                <a:off x="328246" y="5334000"/>
                <a:ext cx="7924800" cy="1015663"/>
              </a:xfrm>
              <a:prstGeom prst="rect">
                <a:avLst/>
              </a:prstGeom>
            </p:spPr>
            <p:txBody>
              <a:bodyPr wrap="square">
                <a:spAutoFit/>
              </a:bodyPr>
              <a:lstStyle/>
              <a:p>
                <a:r>
                  <a:rPr lang="en-GB" altLang="en-US" sz="2000" b="1" dirty="0">
                    <a:solidFill>
                      <a:srgbClr val="333399"/>
                    </a:solidFill>
                  </a:rPr>
                  <a:t>Step 4. Reject or fail to reject null hypothesis:</a:t>
                </a:r>
              </a:p>
              <a:p>
                <a:endParaRPr lang="en-GB" altLang="en-US" sz="2000" b="1" dirty="0">
                  <a:solidFill>
                    <a:srgbClr val="333399"/>
                  </a:solidFill>
                </a:endParaRPr>
              </a:p>
              <a:p>
                <a:r>
                  <a:rPr lang="en-GB" altLang="en-US" sz="2000" b="1" dirty="0">
                    <a:solidFill>
                      <a:srgbClr val="333399"/>
                    </a:solidFill>
                  </a:rPr>
                  <a:t>Reject null hypothesis because </a:t>
                </a:r>
                <a14:m>
                  <m:oMath xmlns:m="http://schemas.openxmlformats.org/officeDocument/2006/math">
                    <m:d>
                      <m:dPr>
                        <m:begChr m:val="|"/>
                        <m:endChr m:val="|"/>
                        <m:ctrlPr>
                          <a:rPr lang="en-GB" altLang="en-US" sz="2000" b="1" i="1" dirty="0" smtClean="0">
                            <a:solidFill>
                              <a:srgbClr val="333399"/>
                            </a:solidFill>
                            <a:latin typeface="Cambria Math" panose="02040503050406030204" pitchFamily="18" charset="0"/>
                          </a:rPr>
                        </m:ctrlPr>
                      </m:dPr>
                      <m:e>
                        <m:r>
                          <a:rPr lang="en-GB" altLang="en-US" sz="2000" b="1" i="1" dirty="0" smtClean="0">
                            <a:solidFill>
                              <a:srgbClr val="333399"/>
                            </a:solidFill>
                            <a:latin typeface="Cambria Math" panose="02040503050406030204" pitchFamily="18" charset="0"/>
                          </a:rPr>
                          <m:t>𝒕</m:t>
                        </m:r>
                      </m:e>
                    </m:d>
                    <m:r>
                      <a:rPr lang="en-GB" altLang="en-US" sz="2000" b="1" i="1" dirty="0" smtClean="0">
                        <a:solidFill>
                          <a:srgbClr val="333399"/>
                        </a:solidFill>
                        <a:latin typeface="Cambria Math" panose="02040503050406030204" pitchFamily="18" charset="0"/>
                      </a:rPr>
                      <m:t>&gt;</m:t>
                    </m:r>
                    <m:sSub>
                      <m:sSubPr>
                        <m:ctrlPr>
                          <a:rPr lang="en-US" altLang="en-US" sz="2000" b="1" i="1" dirty="0">
                            <a:solidFill>
                              <a:srgbClr val="333399"/>
                            </a:solidFill>
                            <a:latin typeface="Cambria Math" panose="02040503050406030204" pitchFamily="18" charset="0"/>
                          </a:rPr>
                        </m:ctrlPr>
                      </m:sSubPr>
                      <m:e>
                        <m:r>
                          <a:rPr lang="en-GB" altLang="en-US" sz="2000" b="1" i="1" dirty="0" smtClean="0">
                            <a:solidFill>
                              <a:srgbClr val="333399"/>
                            </a:solidFill>
                            <a:latin typeface="Cambria Math" panose="02040503050406030204" pitchFamily="18" charset="0"/>
                          </a:rPr>
                          <m:t>𝒕</m:t>
                        </m:r>
                      </m:e>
                      <m:sub>
                        <m:r>
                          <a:rPr lang="en-GB" altLang="en-US" sz="2000" b="1" i="1" dirty="0" smtClean="0">
                            <a:solidFill>
                              <a:srgbClr val="333399"/>
                            </a:solidFill>
                            <a:latin typeface="Cambria Math" panose="02040503050406030204" pitchFamily="18" charset="0"/>
                          </a:rPr>
                          <m:t>𝒄𝒓𝒊𝒕</m:t>
                        </m:r>
                      </m:sub>
                    </m:sSub>
                  </m:oMath>
                </a14:m>
                <a:endParaRPr lang="en-GB" altLang="en-US" sz="2000" dirty="0">
                  <a:solidFill>
                    <a:srgbClr val="333399"/>
                  </a:solidFill>
                </a:endParaRPr>
              </a:p>
            </p:txBody>
          </p:sp>
        </mc:Choice>
        <mc:Fallback xmlns="">
          <p:sp>
            <p:nvSpPr>
              <p:cNvPr id="6" name="Rectangle 5">
                <a:extLst>
                  <a:ext uri="{FF2B5EF4-FFF2-40B4-BE49-F238E27FC236}">
                    <a16:creationId xmlns:a16="http://schemas.microsoft.com/office/drawing/2014/main" id="{C25F688C-A2C4-F555-9DA7-6B957D7C404B}"/>
                  </a:ext>
                </a:extLst>
              </p:cNvPr>
              <p:cNvSpPr>
                <a:spLocks noRot="1" noChangeAspect="1" noMove="1" noResize="1" noEditPoints="1" noAdjustHandles="1" noChangeArrowheads="1" noChangeShapeType="1" noTextEdit="1"/>
              </p:cNvSpPr>
              <p:nvPr/>
            </p:nvSpPr>
            <p:spPr>
              <a:xfrm>
                <a:off x="328246" y="5334000"/>
                <a:ext cx="7924800" cy="1015663"/>
              </a:xfrm>
              <a:prstGeom prst="rect">
                <a:avLst/>
              </a:prstGeom>
              <a:blipFill>
                <a:blip r:embed="rId9"/>
                <a:stretch>
                  <a:fillRect l="-846" t="-2994" b="-9581"/>
                </a:stretch>
              </a:blipFill>
            </p:spPr>
            <p:txBody>
              <a:bodyPr/>
              <a:lstStyle/>
              <a:p>
                <a:r>
                  <a:rPr lang="en-GB">
                    <a:noFill/>
                  </a:rPr>
                  <a:t> </a:t>
                </a:r>
              </a:p>
            </p:txBody>
          </p:sp>
        </mc:Fallback>
      </mc:AlternateContent>
    </p:spTree>
    <p:extLst>
      <p:ext uri="{BB962C8B-B14F-4D97-AF65-F5344CB8AC3E}">
        <p14:creationId xmlns:p14="http://schemas.microsoft.com/office/powerpoint/2010/main" val="524484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5" grpId="0"/>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9" name="Text Box 7"/>
          <p:cNvSpPr txBox="1">
            <a:spLocks noChangeArrowheads="1"/>
          </p:cNvSpPr>
          <p:nvPr/>
        </p:nvSpPr>
        <p:spPr bwMode="auto">
          <a:xfrm>
            <a:off x="158750" y="1501378"/>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GB" altLang="en-US"/>
          </a:p>
        </p:txBody>
      </p:sp>
      <p:sp>
        <p:nvSpPr>
          <p:cNvPr id="2" name="Title 1"/>
          <p:cNvSpPr>
            <a:spLocks noGrp="1"/>
          </p:cNvSpPr>
          <p:nvPr>
            <p:ph type="title"/>
          </p:nvPr>
        </p:nvSpPr>
        <p:spPr>
          <a:xfrm>
            <a:off x="304800" y="76200"/>
            <a:ext cx="8229600" cy="1143000"/>
          </a:xfrm>
        </p:spPr>
        <p:txBody>
          <a:bodyPr/>
          <a:lstStyle/>
          <a:p>
            <a:r>
              <a:rPr lang="en-GB" dirty="0" err="1"/>
              <a:t>Levene’s</a:t>
            </a:r>
            <a:r>
              <a:rPr lang="en-GB" dirty="0"/>
              <a:t> test for equality of variances</a:t>
            </a:r>
          </a:p>
        </p:txBody>
      </p:sp>
      <p:sp>
        <p:nvSpPr>
          <p:cNvPr id="4" name="TextBox 3">
            <a:extLst>
              <a:ext uri="{FF2B5EF4-FFF2-40B4-BE49-F238E27FC236}">
                <a16:creationId xmlns:a16="http://schemas.microsoft.com/office/drawing/2014/main" id="{846E25EE-475F-F36F-28DA-1D54E53F5977}"/>
              </a:ext>
            </a:extLst>
          </p:cNvPr>
          <p:cNvSpPr txBox="1"/>
          <p:nvPr/>
        </p:nvSpPr>
        <p:spPr>
          <a:xfrm>
            <a:off x="381000" y="914400"/>
            <a:ext cx="7732332" cy="923330"/>
          </a:xfrm>
          <a:prstGeom prst="rect">
            <a:avLst/>
          </a:prstGeom>
          <a:noFill/>
        </p:spPr>
        <p:txBody>
          <a:bodyPr wrap="square">
            <a:spAutoFit/>
          </a:bodyPr>
          <a:lstStyle/>
          <a:p>
            <a:r>
              <a:rPr lang="en-US" b="1" u="sng" dirty="0"/>
              <a:t>Remember that assumption about equal variances between both populations?</a:t>
            </a:r>
          </a:p>
          <a:p>
            <a:pPr algn="r"/>
            <a:endParaRPr lang="en-US" b="1" u="sng" dirty="0"/>
          </a:p>
          <a:p>
            <a:pPr algn="r"/>
            <a:r>
              <a:rPr lang="en-US" b="1" u="sng" dirty="0"/>
              <a:t>You can check if that is true!</a:t>
            </a:r>
          </a:p>
        </p:txBody>
      </p:sp>
      <p:sp>
        <p:nvSpPr>
          <p:cNvPr id="3" name="Text Box 8">
            <a:extLst>
              <a:ext uri="{FF2B5EF4-FFF2-40B4-BE49-F238E27FC236}">
                <a16:creationId xmlns:a16="http://schemas.microsoft.com/office/drawing/2014/main" id="{3E28B589-4E42-D3B2-C260-23C90782FD10}"/>
              </a:ext>
            </a:extLst>
          </p:cNvPr>
          <p:cNvSpPr txBox="1">
            <a:spLocks noChangeArrowheads="1"/>
          </p:cNvSpPr>
          <p:nvPr/>
        </p:nvSpPr>
        <p:spPr bwMode="auto">
          <a:xfrm>
            <a:off x="381000" y="2057400"/>
            <a:ext cx="75881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000" dirty="0"/>
              <a:t>Is the highest </a:t>
            </a:r>
            <a:r>
              <a:rPr lang="en-GB" altLang="en-US" sz="2000" b="1" dirty="0"/>
              <a:t>year of school</a:t>
            </a:r>
            <a:r>
              <a:rPr lang="en-GB" altLang="en-US" sz="2000" dirty="0"/>
              <a:t> completed </a:t>
            </a:r>
            <a:r>
              <a:rPr lang="en-GB" altLang="en-US" sz="2000" b="1" dirty="0"/>
              <a:t>different for men and women</a:t>
            </a:r>
            <a:r>
              <a:rPr lang="en-GB" altLang="en-US" sz="2000" dirty="0"/>
              <a:t>?</a:t>
            </a:r>
            <a:endParaRPr lang="en-US" altLang="en-US" sz="2000" dirty="0"/>
          </a:p>
        </p:txBody>
      </p:sp>
      <p:graphicFrame>
        <p:nvGraphicFramePr>
          <p:cNvPr id="7" name="Table 6">
            <a:extLst>
              <a:ext uri="{FF2B5EF4-FFF2-40B4-BE49-F238E27FC236}">
                <a16:creationId xmlns:a16="http://schemas.microsoft.com/office/drawing/2014/main" id="{AC029620-13C1-4C3B-9FD6-D602DFF35A14}"/>
              </a:ext>
            </a:extLst>
          </p:cNvPr>
          <p:cNvGraphicFramePr>
            <a:graphicFrameLocks noGrp="1"/>
          </p:cNvGraphicFramePr>
          <p:nvPr>
            <p:extLst>
              <p:ext uri="{D42A27DB-BD31-4B8C-83A1-F6EECF244321}">
                <p14:modId xmlns:p14="http://schemas.microsoft.com/office/powerpoint/2010/main" val="838424810"/>
              </p:ext>
            </p:extLst>
          </p:nvPr>
        </p:nvGraphicFramePr>
        <p:xfrm>
          <a:off x="457200" y="2697480"/>
          <a:ext cx="7427532" cy="1188720"/>
        </p:xfrm>
        <a:graphic>
          <a:graphicData uri="http://schemas.openxmlformats.org/drawingml/2006/table">
            <a:tbl>
              <a:tblPr firstRow="1" firstCol="1" bandRow="1">
                <a:tableStyleId>{5C22544A-7EE6-4342-B048-85BDC9FD1C3A}</a:tableStyleId>
              </a:tblPr>
              <a:tblGrid>
                <a:gridCol w="2438400">
                  <a:extLst>
                    <a:ext uri="{9D8B030D-6E8A-4147-A177-3AD203B41FA5}">
                      <a16:colId xmlns:a16="http://schemas.microsoft.com/office/drawing/2014/main" val="20000"/>
                    </a:ext>
                  </a:extLst>
                </a:gridCol>
                <a:gridCol w="1663044">
                  <a:extLst>
                    <a:ext uri="{9D8B030D-6E8A-4147-A177-3AD203B41FA5}">
                      <a16:colId xmlns:a16="http://schemas.microsoft.com/office/drawing/2014/main" val="20001"/>
                    </a:ext>
                  </a:extLst>
                </a:gridCol>
                <a:gridCol w="1663044">
                  <a:extLst>
                    <a:ext uri="{9D8B030D-6E8A-4147-A177-3AD203B41FA5}">
                      <a16:colId xmlns:a16="http://schemas.microsoft.com/office/drawing/2014/main" val="20002"/>
                    </a:ext>
                  </a:extLst>
                </a:gridCol>
                <a:gridCol w="1663044">
                  <a:extLst>
                    <a:ext uri="{9D8B030D-6E8A-4147-A177-3AD203B41FA5}">
                      <a16:colId xmlns:a16="http://schemas.microsoft.com/office/drawing/2014/main" val="20003"/>
                    </a:ext>
                  </a:extLst>
                </a:gridCol>
              </a:tblGrid>
              <a:tr h="396240">
                <a:tc>
                  <a:txBody>
                    <a:bodyPr/>
                    <a:lstStyle/>
                    <a:p>
                      <a:endParaRPr lang="en-GB" sz="2000" dirty="0"/>
                    </a:p>
                  </a:txBody>
                  <a:tcPr/>
                </a:tc>
                <a:tc>
                  <a:txBody>
                    <a:bodyPr/>
                    <a:lstStyle/>
                    <a:p>
                      <a:pPr algn="ctr"/>
                      <a:r>
                        <a:rPr lang="en-GB" sz="2000" dirty="0"/>
                        <a:t>Mean</a:t>
                      </a:r>
                    </a:p>
                  </a:txBody>
                  <a:tcPr/>
                </a:tc>
                <a:tc>
                  <a:txBody>
                    <a:bodyPr/>
                    <a:lstStyle/>
                    <a:p>
                      <a:pPr algn="ctr"/>
                      <a:r>
                        <a:rPr lang="en-GB" sz="2000" dirty="0"/>
                        <a:t>SD</a:t>
                      </a:r>
                    </a:p>
                  </a:txBody>
                  <a:tcPr/>
                </a:tc>
                <a:tc>
                  <a:txBody>
                    <a:bodyPr/>
                    <a:lstStyle/>
                    <a:p>
                      <a:pPr algn="ctr"/>
                      <a:r>
                        <a:rPr lang="en-GB" sz="2000" dirty="0"/>
                        <a:t>N</a:t>
                      </a:r>
                    </a:p>
                  </a:txBody>
                  <a:tcPr/>
                </a:tc>
                <a:extLst>
                  <a:ext uri="{0D108BD9-81ED-4DB2-BD59-A6C34878D82A}">
                    <a16:rowId xmlns:a16="http://schemas.microsoft.com/office/drawing/2014/main" val="10000"/>
                  </a:ext>
                </a:extLst>
              </a:tr>
              <a:tr h="396240">
                <a:tc>
                  <a:txBody>
                    <a:bodyPr/>
                    <a:lstStyle/>
                    <a:p>
                      <a:pPr marL="0" indent="0" algn="l">
                        <a:buAutoNum type="arabicPeriod"/>
                      </a:pPr>
                      <a:r>
                        <a:rPr lang="en-GB" sz="2000" dirty="0"/>
                        <a:t> Male</a:t>
                      </a:r>
                    </a:p>
                  </a:txBody>
                  <a:tcPr/>
                </a:tc>
                <a:tc>
                  <a:txBody>
                    <a:bodyPr/>
                    <a:lstStyle/>
                    <a:p>
                      <a:pPr algn="ctr"/>
                      <a:r>
                        <a:rPr lang="en-GB" sz="2000" dirty="0"/>
                        <a:t>13.19</a:t>
                      </a:r>
                    </a:p>
                  </a:txBody>
                  <a:tcPr/>
                </a:tc>
                <a:tc>
                  <a:txBody>
                    <a:bodyPr/>
                    <a:lstStyle/>
                    <a:p>
                      <a:pPr algn="ctr"/>
                      <a:r>
                        <a:rPr lang="en-GB" sz="2000" dirty="0"/>
                        <a:t>3.349</a:t>
                      </a:r>
                    </a:p>
                  </a:txBody>
                  <a:tcPr/>
                </a:tc>
                <a:tc>
                  <a:txBody>
                    <a:bodyPr/>
                    <a:lstStyle/>
                    <a:p>
                      <a:pPr algn="ctr"/>
                      <a:r>
                        <a:rPr lang="en-GB" sz="2000" dirty="0"/>
                        <a:t>639</a:t>
                      </a:r>
                    </a:p>
                  </a:txBody>
                  <a:tcPr/>
                </a:tc>
                <a:extLst>
                  <a:ext uri="{0D108BD9-81ED-4DB2-BD59-A6C34878D82A}">
                    <a16:rowId xmlns:a16="http://schemas.microsoft.com/office/drawing/2014/main" val="10001"/>
                  </a:ext>
                </a:extLst>
              </a:tr>
              <a:tr h="396240">
                <a:tc>
                  <a:txBody>
                    <a:bodyPr/>
                    <a:lstStyle/>
                    <a:p>
                      <a:pPr algn="l"/>
                      <a:r>
                        <a:rPr lang="en-GB" sz="2000" dirty="0"/>
                        <a:t>2. Female</a:t>
                      </a:r>
                    </a:p>
                  </a:txBody>
                  <a:tcPr/>
                </a:tc>
                <a:tc>
                  <a:txBody>
                    <a:bodyPr/>
                    <a:lstStyle/>
                    <a:p>
                      <a:pPr algn="ctr"/>
                      <a:r>
                        <a:rPr lang="en-GB" sz="2000" dirty="0"/>
                        <a:t>12.92</a:t>
                      </a:r>
                    </a:p>
                  </a:txBody>
                  <a:tcPr/>
                </a:tc>
                <a:tc>
                  <a:txBody>
                    <a:bodyPr/>
                    <a:lstStyle/>
                    <a:p>
                      <a:pPr algn="ctr"/>
                      <a:r>
                        <a:rPr lang="en-GB" sz="2000" dirty="0"/>
                        <a:t>2.849</a:t>
                      </a:r>
                    </a:p>
                  </a:txBody>
                  <a:tcPr/>
                </a:tc>
                <a:tc>
                  <a:txBody>
                    <a:bodyPr/>
                    <a:lstStyle/>
                    <a:p>
                      <a:pPr algn="ctr"/>
                      <a:r>
                        <a:rPr lang="en-GB" sz="2000" dirty="0"/>
                        <a:t>857</a:t>
                      </a:r>
                    </a:p>
                  </a:txBody>
                  <a:tcPr/>
                </a:tc>
                <a:extLst>
                  <a:ext uri="{0D108BD9-81ED-4DB2-BD59-A6C34878D82A}">
                    <a16:rowId xmlns:a16="http://schemas.microsoft.com/office/drawing/2014/main" val="10002"/>
                  </a:ext>
                </a:extLst>
              </a:tr>
            </a:tbl>
          </a:graphicData>
        </a:graphic>
      </p:graphicFrame>
      <p:sp>
        <p:nvSpPr>
          <p:cNvPr id="11" name="Title 1">
            <a:extLst>
              <a:ext uri="{FF2B5EF4-FFF2-40B4-BE49-F238E27FC236}">
                <a16:creationId xmlns:a16="http://schemas.microsoft.com/office/drawing/2014/main" id="{E7F55B44-3219-D2C8-5FBC-D9CC30B7287E}"/>
              </a:ext>
            </a:extLst>
          </p:cNvPr>
          <p:cNvSpPr txBox="1">
            <a:spLocks/>
          </p:cNvSpPr>
          <p:nvPr/>
        </p:nvSpPr>
        <p:spPr>
          <a:xfrm>
            <a:off x="381000" y="4400491"/>
            <a:ext cx="8229600" cy="1143000"/>
          </a:xfrm>
          <a:prstGeom prst="rect">
            <a:avLst/>
          </a:prstGeom>
        </p:spPr>
        <p:txBody>
          <a:bodyPr vert="horz" lIns="91440" tIns="45720" rIns="91440" bIns="45720" rtlCol="0" anchor="t">
            <a:normAutofit fontScale="55000" lnSpcReduction="20000"/>
          </a:bodyPr>
          <a:lstStyle>
            <a:lvl1pPr algn="l" defTabSz="914400" rtl="0" eaLnBrk="1" latinLnBrk="0" hangingPunct="1">
              <a:spcBef>
                <a:spcPct val="0"/>
              </a:spcBef>
              <a:buNone/>
              <a:defRPr sz="3600" b="1" kern="1200">
                <a:solidFill>
                  <a:schemeClr val="tx1"/>
                </a:solidFill>
                <a:latin typeface="+mj-lt"/>
                <a:ea typeface="+mj-ea"/>
                <a:cs typeface="+mj-cs"/>
              </a:defRPr>
            </a:lvl1pPr>
          </a:lstStyle>
          <a:p>
            <a:r>
              <a:rPr lang="en-GB" b="0" dirty="0"/>
              <a:t>Step 1.</a:t>
            </a:r>
          </a:p>
          <a:p>
            <a:endParaRPr lang="en-GB" b="0" i="1" dirty="0"/>
          </a:p>
          <a:p>
            <a:r>
              <a:rPr lang="en-GB" b="0" i="1" dirty="0"/>
              <a:t>H</a:t>
            </a:r>
            <a:r>
              <a:rPr lang="en-GB" b="0" baseline="-25000" dirty="0"/>
              <a:t>0</a:t>
            </a:r>
            <a:r>
              <a:rPr lang="en-GB" b="0" dirty="0"/>
              <a:t>: σ</a:t>
            </a:r>
            <a:r>
              <a:rPr lang="en-GB" b="0" baseline="-25000" dirty="0"/>
              <a:t>1</a:t>
            </a:r>
            <a:r>
              <a:rPr lang="en-GB" b="0" baseline="30000" dirty="0"/>
              <a:t>2</a:t>
            </a:r>
            <a:r>
              <a:rPr lang="en-GB" b="0" dirty="0"/>
              <a:t> - σ</a:t>
            </a:r>
            <a:r>
              <a:rPr lang="en-GB" b="0" baseline="-25000" dirty="0"/>
              <a:t>2</a:t>
            </a:r>
            <a:r>
              <a:rPr lang="en-GB" b="0" baseline="30000" dirty="0"/>
              <a:t>2</a:t>
            </a:r>
            <a:r>
              <a:rPr lang="en-GB" b="0" dirty="0"/>
              <a:t> = 0 ("the population variances of group 1 and 2 are equal")</a:t>
            </a:r>
            <a:br>
              <a:rPr lang="en-GB" dirty="0"/>
            </a:br>
            <a:r>
              <a:rPr lang="en-GB" b="0" i="1" dirty="0"/>
              <a:t>H</a:t>
            </a:r>
            <a:r>
              <a:rPr lang="en-GB" b="0" baseline="-25000" dirty="0"/>
              <a:t>1</a:t>
            </a:r>
            <a:r>
              <a:rPr lang="en-GB" b="0" dirty="0"/>
              <a:t>: σ</a:t>
            </a:r>
            <a:r>
              <a:rPr lang="en-GB" b="0" baseline="-25000" dirty="0"/>
              <a:t>1</a:t>
            </a:r>
            <a:r>
              <a:rPr lang="en-GB" b="0" baseline="30000" dirty="0"/>
              <a:t>2</a:t>
            </a:r>
            <a:r>
              <a:rPr lang="en-GB" b="0" dirty="0"/>
              <a:t> - σ</a:t>
            </a:r>
            <a:r>
              <a:rPr lang="en-GB" b="0" baseline="-25000" dirty="0"/>
              <a:t>2</a:t>
            </a:r>
            <a:r>
              <a:rPr lang="en-GB" b="0" baseline="30000" dirty="0"/>
              <a:t>2</a:t>
            </a:r>
            <a:r>
              <a:rPr lang="en-GB" b="0" dirty="0"/>
              <a:t> ≠ 0 ("the population variances of group 1 and 2 are not equal")</a:t>
            </a:r>
            <a:endParaRPr lang="en-GB" dirty="0"/>
          </a:p>
        </p:txBody>
      </p:sp>
    </p:spTree>
    <p:extLst>
      <p:ext uri="{BB962C8B-B14F-4D97-AF65-F5344CB8AC3E}">
        <p14:creationId xmlns:p14="http://schemas.microsoft.com/office/powerpoint/2010/main" val="3343563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P spid="1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9" name="Text Box 7"/>
          <p:cNvSpPr txBox="1">
            <a:spLocks noChangeArrowheads="1"/>
          </p:cNvSpPr>
          <p:nvPr/>
        </p:nvSpPr>
        <p:spPr bwMode="auto">
          <a:xfrm>
            <a:off x="158750" y="1501378"/>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GB" altLang="en-US"/>
          </a:p>
        </p:txBody>
      </p:sp>
      <p:sp>
        <p:nvSpPr>
          <p:cNvPr id="2" name="Title 1"/>
          <p:cNvSpPr>
            <a:spLocks noGrp="1"/>
          </p:cNvSpPr>
          <p:nvPr>
            <p:ph type="title"/>
          </p:nvPr>
        </p:nvSpPr>
        <p:spPr>
          <a:xfrm>
            <a:off x="304800" y="76200"/>
            <a:ext cx="8229600" cy="1143000"/>
          </a:xfrm>
        </p:spPr>
        <p:txBody>
          <a:bodyPr/>
          <a:lstStyle/>
          <a:p>
            <a:r>
              <a:rPr lang="en-GB" dirty="0" err="1"/>
              <a:t>Levene’s</a:t>
            </a:r>
            <a:r>
              <a:rPr lang="en-GB" dirty="0"/>
              <a:t> test for equality of variances</a:t>
            </a:r>
          </a:p>
        </p:txBody>
      </p:sp>
      <p:sp>
        <p:nvSpPr>
          <p:cNvPr id="11" name="Title 1">
            <a:extLst>
              <a:ext uri="{FF2B5EF4-FFF2-40B4-BE49-F238E27FC236}">
                <a16:creationId xmlns:a16="http://schemas.microsoft.com/office/drawing/2014/main" id="{E7F55B44-3219-D2C8-5FBC-D9CC30B7287E}"/>
              </a:ext>
            </a:extLst>
          </p:cNvPr>
          <p:cNvSpPr txBox="1">
            <a:spLocks/>
          </p:cNvSpPr>
          <p:nvPr/>
        </p:nvSpPr>
        <p:spPr>
          <a:xfrm>
            <a:off x="381000" y="838200"/>
            <a:ext cx="8229600" cy="1143000"/>
          </a:xfrm>
          <a:prstGeom prst="rect">
            <a:avLst/>
          </a:prstGeom>
        </p:spPr>
        <p:txBody>
          <a:bodyPr vert="horz" lIns="91440" tIns="45720" rIns="91440" bIns="45720" rtlCol="0" anchor="t">
            <a:normAutofit fontScale="55000" lnSpcReduction="20000"/>
          </a:bodyPr>
          <a:lstStyle>
            <a:lvl1pPr algn="l" defTabSz="914400" rtl="0" eaLnBrk="1" latinLnBrk="0" hangingPunct="1">
              <a:spcBef>
                <a:spcPct val="0"/>
              </a:spcBef>
              <a:buNone/>
              <a:defRPr sz="3600" b="1" kern="1200">
                <a:solidFill>
                  <a:schemeClr val="tx1"/>
                </a:solidFill>
                <a:latin typeface="+mj-lt"/>
                <a:ea typeface="+mj-ea"/>
                <a:cs typeface="+mj-cs"/>
              </a:defRPr>
            </a:lvl1pPr>
          </a:lstStyle>
          <a:p>
            <a:r>
              <a:rPr lang="en-GB" b="0" dirty="0"/>
              <a:t>Step 1.</a:t>
            </a:r>
          </a:p>
          <a:p>
            <a:endParaRPr lang="en-GB" b="0" i="1" dirty="0"/>
          </a:p>
          <a:p>
            <a:r>
              <a:rPr lang="en-GB" b="0" i="1" dirty="0"/>
              <a:t>H</a:t>
            </a:r>
            <a:r>
              <a:rPr lang="en-GB" b="0" baseline="-25000" dirty="0"/>
              <a:t>0</a:t>
            </a:r>
            <a:r>
              <a:rPr lang="en-GB" b="0" dirty="0"/>
              <a:t>: σ</a:t>
            </a:r>
            <a:r>
              <a:rPr lang="en-GB" b="0" baseline="-25000" dirty="0"/>
              <a:t>1</a:t>
            </a:r>
            <a:r>
              <a:rPr lang="en-GB" b="0" baseline="30000" dirty="0"/>
              <a:t>2</a:t>
            </a:r>
            <a:r>
              <a:rPr lang="en-GB" b="0" dirty="0"/>
              <a:t> - σ</a:t>
            </a:r>
            <a:r>
              <a:rPr lang="en-GB" b="0" baseline="-25000" dirty="0"/>
              <a:t>2</a:t>
            </a:r>
            <a:r>
              <a:rPr lang="en-GB" b="0" baseline="30000" dirty="0"/>
              <a:t>2</a:t>
            </a:r>
            <a:r>
              <a:rPr lang="en-GB" b="0" dirty="0"/>
              <a:t> = 0 ("the population variances of group 1 and 2 are equal")</a:t>
            </a:r>
            <a:br>
              <a:rPr lang="en-GB" dirty="0"/>
            </a:br>
            <a:r>
              <a:rPr lang="en-GB" b="0" i="1" dirty="0"/>
              <a:t>H</a:t>
            </a:r>
            <a:r>
              <a:rPr lang="en-GB" b="0" baseline="-25000" dirty="0"/>
              <a:t>1</a:t>
            </a:r>
            <a:r>
              <a:rPr lang="en-GB" b="0" dirty="0"/>
              <a:t>: σ</a:t>
            </a:r>
            <a:r>
              <a:rPr lang="en-GB" b="0" baseline="-25000" dirty="0"/>
              <a:t>1</a:t>
            </a:r>
            <a:r>
              <a:rPr lang="en-GB" b="0" baseline="30000" dirty="0"/>
              <a:t>2</a:t>
            </a:r>
            <a:r>
              <a:rPr lang="en-GB" b="0" dirty="0"/>
              <a:t> - σ</a:t>
            </a:r>
            <a:r>
              <a:rPr lang="en-GB" b="0" baseline="-25000" dirty="0"/>
              <a:t>2</a:t>
            </a:r>
            <a:r>
              <a:rPr lang="en-GB" b="0" baseline="30000" dirty="0"/>
              <a:t>2</a:t>
            </a:r>
            <a:r>
              <a:rPr lang="en-GB" b="0" dirty="0"/>
              <a:t> ≠ 0 ("the population variances of group 1 and 2 are not equal")</a:t>
            </a:r>
            <a:endParaRPr lang="en-GB" dirty="0"/>
          </a:p>
        </p:txBody>
      </p:sp>
      <p:pic>
        <p:nvPicPr>
          <p:cNvPr id="14" name="Picture 5">
            <a:extLst>
              <a:ext uri="{FF2B5EF4-FFF2-40B4-BE49-F238E27FC236}">
                <a16:creationId xmlns:a16="http://schemas.microsoft.com/office/drawing/2014/main" id="{19BD0077-D683-D410-AE92-74F6EDFECE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2687" y="2482565"/>
            <a:ext cx="6121400" cy="1182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6">
            <a:extLst>
              <a:ext uri="{FF2B5EF4-FFF2-40B4-BE49-F238E27FC236}">
                <a16:creationId xmlns:a16="http://schemas.microsoft.com/office/drawing/2014/main" id="{D2AEF6BA-CD33-574E-4B10-FC84586DC2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487" y="3726021"/>
            <a:ext cx="8991600" cy="201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Text Box 9">
            <a:extLst>
              <a:ext uri="{FF2B5EF4-FFF2-40B4-BE49-F238E27FC236}">
                <a16:creationId xmlns:a16="http://schemas.microsoft.com/office/drawing/2014/main" id="{B7ECA35A-0D14-1261-726F-567DBC0293FC}"/>
              </a:ext>
            </a:extLst>
          </p:cNvPr>
          <p:cNvSpPr txBox="1">
            <a:spLocks noChangeArrowheads="1"/>
          </p:cNvSpPr>
          <p:nvPr/>
        </p:nvSpPr>
        <p:spPr bwMode="auto">
          <a:xfrm>
            <a:off x="158750" y="2438400"/>
            <a:ext cx="2743937" cy="1464231"/>
          </a:xfrm>
          <a:prstGeom prst="wedgeRoundRectCallout">
            <a:avLst>
              <a:gd name="adj1" fmla="val 38974"/>
              <a:gd name="adj2" fmla="val 65443"/>
              <a:gd name="adj3" fmla="val 16667"/>
            </a:avLst>
          </a:prstGeom>
          <a:solidFill>
            <a:schemeClr val="accent2">
              <a:lumMod val="20000"/>
              <a:lumOff val="80000"/>
            </a:schemeClr>
          </a:solidFill>
          <a:ln>
            <a:solidFill>
              <a:schemeClr val="accent2">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a:spAutoFit/>
          </a:bodyPr>
          <a:lstStyle/>
          <a:p>
            <a:r>
              <a:rPr lang="en-GB" altLang="en-US" sz="2000" dirty="0" err="1"/>
              <a:t>Levene’s</a:t>
            </a:r>
            <a:r>
              <a:rPr lang="en-GB" altLang="en-US" sz="2000" dirty="0"/>
              <a:t> Test tests the null hypothesis that the </a:t>
            </a:r>
            <a:r>
              <a:rPr lang="en-GB" altLang="en-US" sz="2000" b="1" dirty="0"/>
              <a:t>variances in the two samples</a:t>
            </a:r>
            <a:r>
              <a:rPr lang="en-GB" altLang="en-US" sz="2000" dirty="0"/>
              <a:t> are equal</a:t>
            </a:r>
            <a:endParaRPr lang="en-US" altLang="en-US" sz="2000" dirty="0"/>
          </a:p>
        </p:txBody>
      </p:sp>
      <p:grpSp>
        <p:nvGrpSpPr>
          <p:cNvPr id="17" name="Group 16">
            <a:extLst>
              <a:ext uri="{FF2B5EF4-FFF2-40B4-BE49-F238E27FC236}">
                <a16:creationId xmlns:a16="http://schemas.microsoft.com/office/drawing/2014/main" id="{E41763C8-3FAD-02AE-11BF-054D7853289E}"/>
              </a:ext>
            </a:extLst>
          </p:cNvPr>
          <p:cNvGrpSpPr/>
          <p:nvPr/>
        </p:nvGrpSpPr>
        <p:grpSpPr>
          <a:xfrm>
            <a:off x="533400" y="4952872"/>
            <a:ext cx="7391400" cy="1438811"/>
            <a:chOff x="-381000" y="4407315"/>
            <a:chExt cx="13481463" cy="1114262"/>
          </a:xfrm>
        </p:grpSpPr>
        <p:sp>
          <p:nvSpPr>
            <p:cNvPr id="18" name="Text Box 8">
              <a:extLst>
                <a:ext uri="{FF2B5EF4-FFF2-40B4-BE49-F238E27FC236}">
                  <a16:creationId xmlns:a16="http://schemas.microsoft.com/office/drawing/2014/main" id="{BBFDD8F3-DA95-F61C-5966-53B4FA20C250}"/>
                </a:ext>
              </a:extLst>
            </p:cNvPr>
            <p:cNvSpPr txBox="1">
              <a:spLocks noChangeArrowheads="1"/>
            </p:cNvSpPr>
            <p:nvPr/>
          </p:nvSpPr>
          <p:spPr bwMode="auto">
            <a:xfrm>
              <a:off x="-381000" y="4973367"/>
              <a:ext cx="13481463" cy="548210"/>
            </a:xfrm>
            <a:prstGeom prst="rect">
              <a:avLst/>
            </a:prstGeom>
            <a:noFill/>
            <a:ln>
              <a:noFill/>
            </a:ln>
            <a:effectLst/>
          </p:spPr>
          <p:txBody>
            <a:bodyPr wrap="square">
              <a:spAutoFit/>
            </a:bodyPr>
            <a:lstStyle/>
            <a:p>
              <a:r>
                <a:rPr lang="en-GB" altLang="en-US" sz="2000" dirty="0"/>
                <a:t>Step 2.                           P-value &lt; 0.05</a:t>
              </a:r>
            </a:p>
            <a:p>
              <a:r>
                <a:rPr lang="en-GB" altLang="en-US" sz="2000" dirty="0"/>
                <a:t>We have sufficient evidence that population variances are different</a:t>
              </a:r>
              <a:endParaRPr lang="en-US" altLang="en-US" sz="2000" dirty="0"/>
            </a:p>
          </p:txBody>
        </p:sp>
        <p:sp>
          <p:nvSpPr>
            <p:cNvPr id="19" name="Oval Callout 9">
              <a:extLst>
                <a:ext uri="{FF2B5EF4-FFF2-40B4-BE49-F238E27FC236}">
                  <a16:creationId xmlns:a16="http://schemas.microsoft.com/office/drawing/2014/main" id="{FC69E8CE-9DC5-50D8-662C-AB1F4304E0FB}"/>
                </a:ext>
              </a:extLst>
            </p:cNvPr>
            <p:cNvSpPr/>
            <p:nvPr/>
          </p:nvSpPr>
          <p:spPr>
            <a:xfrm>
              <a:off x="4761414" y="4407315"/>
              <a:ext cx="917133" cy="276276"/>
            </a:xfrm>
            <a:prstGeom prst="wedgeEllipseCallout">
              <a:avLst>
                <a:gd name="adj1" fmla="val -59337"/>
                <a:gd name="adj2" fmla="val 73663"/>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3005927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9" name="Text Box 7"/>
          <p:cNvSpPr txBox="1">
            <a:spLocks noChangeArrowheads="1"/>
          </p:cNvSpPr>
          <p:nvPr/>
        </p:nvSpPr>
        <p:spPr bwMode="auto">
          <a:xfrm>
            <a:off x="158750" y="1501378"/>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GB" altLang="en-US"/>
          </a:p>
        </p:txBody>
      </p:sp>
      <p:sp>
        <p:nvSpPr>
          <p:cNvPr id="2" name="Title 1"/>
          <p:cNvSpPr>
            <a:spLocks noGrp="1"/>
          </p:cNvSpPr>
          <p:nvPr>
            <p:ph type="title"/>
          </p:nvPr>
        </p:nvSpPr>
        <p:spPr>
          <a:xfrm>
            <a:off x="304800" y="76200"/>
            <a:ext cx="8229600" cy="1143000"/>
          </a:xfrm>
        </p:spPr>
        <p:txBody>
          <a:bodyPr/>
          <a:lstStyle/>
          <a:p>
            <a:r>
              <a:rPr lang="en-GB" dirty="0" err="1"/>
              <a:t>Levene’s</a:t>
            </a:r>
            <a:r>
              <a:rPr lang="en-GB" dirty="0"/>
              <a:t> test for equality of variances</a:t>
            </a:r>
          </a:p>
        </p:txBody>
      </p:sp>
      <p:sp>
        <p:nvSpPr>
          <p:cNvPr id="11" name="Title 1">
            <a:extLst>
              <a:ext uri="{FF2B5EF4-FFF2-40B4-BE49-F238E27FC236}">
                <a16:creationId xmlns:a16="http://schemas.microsoft.com/office/drawing/2014/main" id="{E7F55B44-3219-D2C8-5FBC-D9CC30B7287E}"/>
              </a:ext>
            </a:extLst>
          </p:cNvPr>
          <p:cNvSpPr txBox="1">
            <a:spLocks/>
          </p:cNvSpPr>
          <p:nvPr/>
        </p:nvSpPr>
        <p:spPr>
          <a:xfrm>
            <a:off x="381000" y="838200"/>
            <a:ext cx="8229600" cy="1143000"/>
          </a:xfrm>
          <a:prstGeom prst="rect">
            <a:avLst/>
          </a:prstGeom>
        </p:spPr>
        <p:txBody>
          <a:bodyPr vert="horz" lIns="91440" tIns="45720" rIns="91440" bIns="45720" rtlCol="0" anchor="t">
            <a:normAutofit fontScale="55000" lnSpcReduction="20000"/>
          </a:bodyPr>
          <a:lstStyle>
            <a:lvl1pPr algn="l" defTabSz="914400" rtl="0" eaLnBrk="1" latinLnBrk="0" hangingPunct="1">
              <a:spcBef>
                <a:spcPct val="0"/>
              </a:spcBef>
              <a:buNone/>
              <a:defRPr sz="3600" b="1" kern="1200">
                <a:solidFill>
                  <a:schemeClr val="tx1"/>
                </a:solidFill>
                <a:latin typeface="+mj-lt"/>
                <a:ea typeface="+mj-ea"/>
                <a:cs typeface="+mj-cs"/>
              </a:defRPr>
            </a:lvl1pPr>
          </a:lstStyle>
          <a:p>
            <a:r>
              <a:rPr lang="en-GB" b="0" dirty="0"/>
              <a:t>Step 1.</a:t>
            </a:r>
          </a:p>
          <a:p>
            <a:endParaRPr lang="en-GB" b="0" i="1" dirty="0"/>
          </a:p>
          <a:p>
            <a:r>
              <a:rPr lang="en-GB" b="0" i="1" dirty="0"/>
              <a:t>H</a:t>
            </a:r>
            <a:r>
              <a:rPr lang="en-GB" b="0" baseline="-25000" dirty="0"/>
              <a:t>0</a:t>
            </a:r>
            <a:r>
              <a:rPr lang="en-GB" b="0" dirty="0"/>
              <a:t>: σ</a:t>
            </a:r>
            <a:r>
              <a:rPr lang="en-GB" b="0" baseline="-25000" dirty="0"/>
              <a:t>1</a:t>
            </a:r>
            <a:r>
              <a:rPr lang="en-GB" b="0" baseline="30000" dirty="0"/>
              <a:t>2</a:t>
            </a:r>
            <a:r>
              <a:rPr lang="en-GB" b="0" dirty="0"/>
              <a:t> - σ</a:t>
            </a:r>
            <a:r>
              <a:rPr lang="en-GB" b="0" baseline="-25000" dirty="0"/>
              <a:t>2</a:t>
            </a:r>
            <a:r>
              <a:rPr lang="en-GB" b="0" baseline="30000" dirty="0"/>
              <a:t>2</a:t>
            </a:r>
            <a:r>
              <a:rPr lang="en-GB" b="0" dirty="0"/>
              <a:t> = 0 ("the population variances of group 1 and 2 are equal")</a:t>
            </a:r>
            <a:br>
              <a:rPr lang="en-GB" dirty="0"/>
            </a:br>
            <a:r>
              <a:rPr lang="en-GB" b="0" i="1" dirty="0"/>
              <a:t>H</a:t>
            </a:r>
            <a:r>
              <a:rPr lang="en-GB" b="0" baseline="-25000" dirty="0"/>
              <a:t>1</a:t>
            </a:r>
            <a:r>
              <a:rPr lang="en-GB" b="0" dirty="0"/>
              <a:t>: σ</a:t>
            </a:r>
            <a:r>
              <a:rPr lang="en-GB" b="0" baseline="-25000" dirty="0"/>
              <a:t>1</a:t>
            </a:r>
            <a:r>
              <a:rPr lang="en-GB" b="0" baseline="30000" dirty="0"/>
              <a:t>2</a:t>
            </a:r>
            <a:r>
              <a:rPr lang="en-GB" b="0" dirty="0"/>
              <a:t> - σ</a:t>
            </a:r>
            <a:r>
              <a:rPr lang="en-GB" b="0" baseline="-25000" dirty="0"/>
              <a:t>2</a:t>
            </a:r>
            <a:r>
              <a:rPr lang="en-GB" b="0" baseline="30000" dirty="0"/>
              <a:t>2</a:t>
            </a:r>
            <a:r>
              <a:rPr lang="en-GB" b="0" dirty="0"/>
              <a:t> ≠ 0 ("the population variances of group 1 and 2 are not equal")</a:t>
            </a:r>
            <a:endParaRPr lang="en-GB" dirty="0"/>
          </a:p>
        </p:txBody>
      </p:sp>
      <p:sp>
        <p:nvSpPr>
          <p:cNvPr id="18" name="Text Box 8">
            <a:extLst>
              <a:ext uri="{FF2B5EF4-FFF2-40B4-BE49-F238E27FC236}">
                <a16:creationId xmlns:a16="http://schemas.microsoft.com/office/drawing/2014/main" id="{BBFDD8F3-DA95-F61C-5966-53B4FA20C250}"/>
              </a:ext>
            </a:extLst>
          </p:cNvPr>
          <p:cNvSpPr txBox="1">
            <a:spLocks noChangeArrowheads="1"/>
          </p:cNvSpPr>
          <p:nvPr/>
        </p:nvSpPr>
        <p:spPr bwMode="auto">
          <a:xfrm>
            <a:off x="392722" y="2105561"/>
            <a:ext cx="8598878" cy="4708981"/>
          </a:xfrm>
          <a:prstGeom prst="rect">
            <a:avLst/>
          </a:prstGeom>
          <a:noFill/>
          <a:ln>
            <a:noFill/>
          </a:ln>
          <a:effectLst/>
        </p:spPr>
        <p:txBody>
          <a:bodyPr wrap="square">
            <a:spAutoFit/>
          </a:bodyPr>
          <a:lstStyle/>
          <a:p>
            <a:r>
              <a:rPr lang="en-GB" altLang="en-US" sz="2000" dirty="0"/>
              <a:t>Step 2.       </a:t>
            </a:r>
          </a:p>
          <a:p>
            <a:r>
              <a:rPr lang="en-GB" altLang="en-US" sz="2000" dirty="0"/>
              <a:t>                   </a:t>
            </a:r>
          </a:p>
          <a:p>
            <a:r>
              <a:rPr lang="en-GB" altLang="en-US" sz="2000" dirty="0"/>
              <a:t>P-value &lt; 5%</a:t>
            </a:r>
          </a:p>
          <a:p>
            <a:r>
              <a:rPr lang="en-GB" altLang="en-US" sz="2000" dirty="0"/>
              <a:t>We have sufficient evidence that population variances are different.</a:t>
            </a:r>
          </a:p>
          <a:p>
            <a:endParaRPr lang="en-GB" altLang="en-US" sz="2000" dirty="0"/>
          </a:p>
          <a:p>
            <a:r>
              <a:rPr lang="en-GB" altLang="en-US" sz="2000" dirty="0"/>
              <a:t>Note: The output in the Independent Samples Test table includes two rows: Equal variances assumed and Equal variances not assumed. </a:t>
            </a:r>
          </a:p>
          <a:p>
            <a:endParaRPr lang="en-GB" altLang="en-US" sz="2000" dirty="0"/>
          </a:p>
          <a:p>
            <a:r>
              <a:rPr lang="en-GB" altLang="en-US" sz="2000" dirty="0"/>
              <a:t>If </a:t>
            </a:r>
            <a:r>
              <a:rPr lang="en-GB" altLang="en-US" sz="2000" dirty="0" err="1"/>
              <a:t>Levene’s</a:t>
            </a:r>
            <a:r>
              <a:rPr lang="en-GB" altLang="en-US" sz="2000" dirty="0"/>
              <a:t> test indicates that the variances are equal across the two groups (i.e., p-value large), you will rely on the first row of output, Equal variances assumed.</a:t>
            </a:r>
          </a:p>
          <a:p>
            <a:endParaRPr lang="en-GB" altLang="en-US" sz="2000" dirty="0"/>
          </a:p>
          <a:p>
            <a:r>
              <a:rPr lang="en-GB" altLang="en-US" sz="2000" b="1" dirty="0"/>
              <a:t>If </a:t>
            </a:r>
            <a:r>
              <a:rPr lang="en-GB" altLang="en-US" sz="2000" b="1" dirty="0" err="1"/>
              <a:t>Levene’s</a:t>
            </a:r>
            <a:r>
              <a:rPr lang="en-GB" altLang="en-US" sz="2000" b="1" dirty="0"/>
              <a:t> test indicates that the variances are not equal across the two groups (i.e., p-value small), you will need to rely on the second row of output, Equal variances not assumed.</a:t>
            </a:r>
            <a:endParaRPr lang="en-US" altLang="en-US" sz="2000" b="1" dirty="0"/>
          </a:p>
        </p:txBody>
      </p:sp>
    </p:spTree>
    <p:extLst>
      <p:ext uri="{BB962C8B-B14F-4D97-AF65-F5344CB8AC3E}">
        <p14:creationId xmlns:p14="http://schemas.microsoft.com/office/powerpoint/2010/main" val="11941705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9" name="Text Box 7"/>
          <p:cNvSpPr txBox="1">
            <a:spLocks noChangeArrowheads="1"/>
          </p:cNvSpPr>
          <p:nvPr/>
        </p:nvSpPr>
        <p:spPr bwMode="auto">
          <a:xfrm>
            <a:off x="158750" y="1501378"/>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GB" altLang="en-US"/>
          </a:p>
        </p:txBody>
      </p:sp>
      <p:sp>
        <p:nvSpPr>
          <p:cNvPr id="2" name="Title 1"/>
          <p:cNvSpPr>
            <a:spLocks noGrp="1"/>
          </p:cNvSpPr>
          <p:nvPr>
            <p:ph type="title"/>
          </p:nvPr>
        </p:nvSpPr>
        <p:spPr>
          <a:xfrm>
            <a:off x="304800" y="76200"/>
            <a:ext cx="8229600" cy="1143000"/>
          </a:xfrm>
        </p:spPr>
        <p:txBody>
          <a:bodyPr/>
          <a:lstStyle/>
          <a:p>
            <a:r>
              <a:rPr lang="en-GB" altLang="en-US" dirty="0"/>
              <a:t>Comparing two means in SPSS</a:t>
            </a:r>
            <a:endParaRPr lang="en-GB" dirty="0"/>
          </a:p>
        </p:txBody>
      </p:sp>
      <p:sp>
        <p:nvSpPr>
          <p:cNvPr id="11" name="Title 1">
            <a:extLst>
              <a:ext uri="{FF2B5EF4-FFF2-40B4-BE49-F238E27FC236}">
                <a16:creationId xmlns:a16="http://schemas.microsoft.com/office/drawing/2014/main" id="{E7F55B44-3219-D2C8-5FBC-D9CC30B7287E}"/>
              </a:ext>
            </a:extLst>
          </p:cNvPr>
          <p:cNvSpPr txBox="1">
            <a:spLocks/>
          </p:cNvSpPr>
          <p:nvPr/>
        </p:nvSpPr>
        <p:spPr>
          <a:xfrm>
            <a:off x="381000" y="838200"/>
            <a:ext cx="8229600" cy="1143000"/>
          </a:xfrm>
          <a:prstGeom prst="rect">
            <a:avLst/>
          </a:prstGeom>
        </p:spPr>
        <p:txBody>
          <a:bodyPr vert="horz" lIns="91440" tIns="45720" rIns="91440" bIns="45720" rtlCol="0" anchor="t">
            <a:normAutofit fontScale="55000" lnSpcReduction="20000"/>
          </a:bodyPr>
          <a:lstStyle>
            <a:lvl1pPr algn="l" defTabSz="914400" rtl="0" eaLnBrk="1" latinLnBrk="0" hangingPunct="1">
              <a:spcBef>
                <a:spcPct val="0"/>
              </a:spcBef>
              <a:buNone/>
              <a:defRPr sz="3600" b="1" kern="1200">
                <a:solidFill>
                  <a:schemeClr val="tx1"/>
                </a:solidFill>
                <a:latin typeface="+mj-lt"/>
                <a:ea typeface="+mj-ea"/>
                <a:cs typeface="+mj-cs"/>
              </a:defRPr>
            </a:lvl1pPr>
          </a:lstStyle>
          <a:p>
            <a:r>
              <a:rPr lang="en-GB" b="0" dirty="0"/>
              <a:t>Step 1.</a:t>
            </a:r>
          </a:p>
          <a:p>
            <a:endParaRPr lang="en-GB" b="0" i="1" dirty="0"/>
          </a:p>
          <a:p>
            <a:r>
              <a:rPr lang="en-GB" b="0" i="1" dirty="0"/>
              <a:t>H</a:t>
            </a:r>
            <a:r>
              <a:rPr lang="en-GB" b="0" baseline="-25000" dirty="0"/>
              <a:t>0</a:t>
            </a:r>
            <a:r>
              <a:rPr lang="en-GB" b="0" dirty="0"/>
              <a:t>: σ</a:t>
            </a:r>
            <a:r>
              <a:rPr lang="en-GB" b="0" baseline="-25000" dirty="0"/>
              <a:t>1</a:t>
            </a:r>
            <a:r>
              <a:rPr lang="en-GB" b="0" baseline="30000" dirty="0"/>
              <a:t>2</a:t>
            </a:r>
            <a:r>
              <a:rPr lang="en-GB" b="0" dirty="0"/>
              <a:t> - σ</a:t>
            </a:r>
            <a:r>
              <a:rPr lang="en-GB" b="0" baseline="-25000" dirty="0"/>
              <a:t>2</a:t>
            </a:r>
            <a:r>
              <a:rPr lang="en-GB" b="0" baseline="30000" dirty="0"/>
              <a:t>2</a:t>
            </a:r>
            <a:r>
              <a:rPr lang="en-GB" b="0" dirty="0"/>
              <a:t> = 0 ("the population variances of group 1 and 2 are equal")</a:t>
            </a:r>
            <a:br>
              <a:rPr lang="en-GB" dirty="0"/>
            </a:br>
            <a:r>
              <a:rPr lang="en-GB" b="0" i="1" dirty="0"/>
              <a:t>H</a:t>
            </a:r>
            <a:r>
              <a:rPr lang="en-GB" b="0" baseline="-25000" dirty="0"/>
              <a:t>1</a:t>
            </a:r>
            <a:r>
              <a:rPr lang="en-GB" b="0" dirty="0"/>
              <a:t>: σ</a:t>
            </a:r>
            <a:r>
              <a:rPr lang="en-GB" b="0" baseline="-25000" dirty="0"/>
              <a:t>1</a:t>
            </a:r>
            <a:r>
              <a:rPr lang="en-GB" b="0" baseline="30000" dirty="0"/>
              <a:t>2</a:t>
            </a:r>
            <a:r>
              <a:rPr lang="en-GB" b="0" dirty="0"/>
              <a:t> - σ</a:t>
            </a:r>
            <a:r>
              <a:rPr lang="en-GB" b="0" baseline="-25000" dirty="0"/>
              <a:t>2</a:t>
            </a:r>
            <a:r>
              <a:rPr lang="en-GB" b="0" baseline="30000" dirty="0"/>
              <a:t>2</a:t>
            </a:r>
            <a:r>
              <a:rPr lang="en-GB" b="0" dirty="0"/>
              <a:t> ≠ 0 ("the population variances of group 1 and 2 are not equal")</a:t>
            </a:r>
            <a:endParaRPr lang="en-GB" dirty="0"/>
          </a:p>
        </p:txBody>
      </p:sp>
      <p:sp>
        <p:nvSpPr>
          <p:cNvPr id="18" name="Text Box 8">
            <a:extLst>
              <a:ext uri="{FF2B5EF4-FFF2-40B4-BE49-F238E27FC236}">
                <a16:creationId xmlns:a16="http://schemas.microsoft.com/office/drawing/2014/main" id="{BBFDD8F3-DA95-F61C-5966-53B4FA20C250}"/>
              </a:ext>
            </a:extLst>
          </p:cNvPr>
          <p:cNvSpPr txBox="1">
            <a:spLocks noChangeArrowheads="1"/>
          </p:cNvSpPr>
          <p:nvPr/>
        </p:nvSpPr>
        <p:spPr bwMode="auto">
          <a:xfrm>
            <a:off x="392722" y="2105561"/>
            <a:ext cx="8598878" cy="1323439"/>
          </a:xfrm>
          <a:prstGeom prst="rect">
            <a:avLst/>
          </a:prstGeom>
          <a:noFill/>
          <a:ln>
            <a:noFill/>
          </a:ln>
          <a:effectLst/>
        </p:spPr>
        <p:txBody>
          <a:bodyPr wrap="square">
            <a:spAutoFit/>
          </a:bodyPr>
          <a:lstStyle/>
          <a:p>
            <a:r>
              <a:rPr lang="en-GB" altLang="en-US" sz="2000" dirty="0"/>
              <a:t>Step 2.  </a:t>
            </a:r>
          </a:p>
          <a:p>
            <a:r>
              <a:rPr lang="en-GB" altLang="en-US" sz="2000" dirty="0"/>
              <a:t>                  </a:t>
            </a:r>
          </a:p>
          <a:p>
            <a:r>
              <a:rPr lang="en-GB" altLang="en-US" sz="2000" dirty="0"/>
              <a:t>P-value &lt; 0.05</a:t>
            </a:r>
          </a:p>
          <a:p>
            <a:r>
              <a:rPr lang="en-GB" altLang="en-US" sz="2000" dirty="0"/>
              <a:t>We have sufficient evidence that population </a:t>
            </a:r>
            <a:r>
              <a:rPr lang="en-GB" altLang="en-US" sz="2000" b="1" dirty="0"/>
              <a:t>variances</a:t>
            </a:r>
            <a:r>
              <a:rPr lang="en-GB" altLang="en-US" sz="2000" dirty="0"/>
              <a:t> are different.</a:t>
            </a:r>
          </a:p>
        </p:txBody>
      </p:sp>
      <p:pic>
        <p:nvPicPr>
          <p:cNvPr id="3" name="Picture 6">
            <a:extLst>
              <a:ext uri="{FF2B5EF4-FFF2-40B4-BE49-F238E27FC236}">
                <a16:creationId xmlns:a16="http://schemas.microsoft.com/office/drawing/2014/main" id="{4874AFF8-4F44-EB8A-FDC6-6B3E1E4578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3733800"/>
            <a:ext cx="8991600" cy="201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a:extLst>
              <a:ext uri="{FF2B5EF4-FFF2-40B4-BE49-F238E27FC236}">
                <a16:creationId xmlns:a16="http://schemas.microsoft.com/office/drawing/2014/main" id="{4A9B77B3-9A3B-1E51-0E7F-36B00A5F2532}"/>
              </a:ext>
            </a:extLst>
          </p:cNvPr>
          <p:cNvSpPr/>
          <p:nvPr/>
        </p:nvSpPr>
        <p:spPr>
          <a:xfrm>
            <a:off x="3886964" y="5388114"/>
            <a:ext cx="5098774" cy="228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Callout 9">
            <a:extLst>
              <a:ext uri="{FF2B5EF4-FFF2-40B4-BE49-F238E27FC236}">
                <a16:creationId xmlns:a16="http://schemas.microsoft.com/office/drawing/2014/main" id="{6CAD5CA7-DEC9-7916-3808-2B533882A3E5}"/>
              </a:ext>
            </a:extLst>
          </p:cNvPr>
          <p:cNvSpPr/>
          <p:nvPr/>
        </p:nvSpPr>
        <p:spPr>
          <a:xfrm>
            <a:off x="5638800" y="5311914"/>
            <a:ext cx="502831" cy="356746"/>
          </a:xfrm>
          <a:prstGeom prst="wedgeEllipseCallout">
            <a:avLst>
              <a:gd name="adj1" fmla="val -59337"/>
              <a:gd name="adj2" fmla="val 73663"/>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 Box 8">
            <a:extLst>
              <a:ext uri="{FF2B5EF4-FFF2-40B4-BE49-F238E27FC236}">
                <a16:creationId xmlns:a16="http://schemas.microsoft.com/office/drawing/2014/main" id="{22F30247-6C14-B2E9-B2B6-4059C5CCCBE2}"/>
              </a:ext>
            </a:extLst>
          </p:cNvPr>
          <p:cNvSpPr txBox="1">
            <a:spLocks noChangeArrowheads="1"/>
          </p:cNvSpPr>
          <p:nvPr/>
        </p:nvSpPr>
        <p:spPr bwMode="auto">
          <a:xfrm>
            <a:off x="381000" y="5769114"/>
            <a:ext cx="8598878" cy="707886"/>
          </a:xfrm>
          <a:prstGeom prst="rect">
            <a:avLst/>
          </a:prstGeom>
          <a:noFill/>
          <a:ln>
            <a:noFill/>
          </a:ln>
          <a:effectLst/>
        </p:spPr>
        <p:txBody>
          <a:bodyPr wrap="square">
            <a:spAutoFit/>
          </a:bodyPr>
          <a:lstStyle/>
          <a:p>
            <a:r>
              <a:rPr lang="en-GB" altLang="en-US" sz="2000" dirty="0"/>
              <a:t>Step 3.                                                               P-value &gt; 0.05</a:t>
            </a:r>
          </a:p>
          <a:p>
            <a:r>
              <a:rPr lang="en-GB" altLang="en-US" sz="2000" dirty="0"/>
              <a:t>We do not have sufficient evidence that population </a:t>
            </a:r>
            <a:r>
              <a:rPr lang="en-GB" altLang="en-US" sz="2000" b="1" dirty="0"/>
              <a:t>means</a:t>
            </a:r>
            <a:r>
              <a:rPr lang="en-GB" altLang="en-US" sz="2000" dirty="0"/>
              <a:t> are different.</a:t>
            </a:r>
          </a:p>
        </p:txBody>
      </p:sp>
    </p:spTree>
    <p:extLst>
      <p:ext uri="{BB962C8B-B14F-4D97-AF65-F5344CB8AC3E}">
        <p14:creationId xmlns:p14="http://schemas.microsoft.com/office/powerpoint/2010/main" val="2207367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9" name="Text Box 7"/>
          <p:cNvSpPr txBox="1">
            <a:spLocks noChangeArrowheads="1"/>
          </p:cNvSpPr>
          <p:nvPr/>
        </p:nvSpPr>
        <p:spPr bwMode="auto">
          <a:xfrm>
            <a:off x="158750" y="1501378"/>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GB" altLang="en-US"/>
          </a:p>
        </p:txBody>
      </p:sp>
      <p:sp>
        <p:nvSpPr>
          <p:cNvPr id="2" name="Title 1"/>
          <p:cNvSpPr>
            <a:spLocks noGrp="1"/>
          </p:cNvSpPr>
          <p:nvPr>
            <p:ph type="title"/>
          </p:nvPr>
        </p:nvSpPr>
        <p:spPr>
          <a:xfrm>
            <a:off x="304800" y="76200"/>
            <a:ext cx="8229600" cy="1143000"/>
          </a:xfrm>
        </p:spPr>
        <p:txBody>
          <a:bodyPr/>
          <a:lstStyle/>
          <a:p>
            <a:r>
              <a:rPr lang="en-GB" altLang="en-US" dirty="0"/>
              <a:t>Question 1</a:t>
            </a:r>
            <a:endParaRPr lang="en-GB" dirty="0"/>
          </a:p>
        </p:txBody>
      </p:sp>
      <p:pic>
        <p:nvPicPr>
          <p:cNvPr id="13" name="Picture 12">
            <a:extLst>
              <a:ext uri="{FF2B5EF4-FFF2-40B4-BE49-F238E27FC236}">
                <a16:creationId xmlns:a16="http://schemas.microsoft.com/office/drawing/2014/main" id="{F9399794-E60C-13EE-0B70-407E25B9AA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108" y="647700"/>
            <a:ext cx="6447692" cy="3759193"/>
          </a:xfrm>
          <a:prstGeom prst="rect">
            <a:avLst/>
          </a:prstGeom>
        </p:spPr>
      </p:pic>
      <p:sp>
        <p:nvSpPr>
          <p:cNvPr id="14" name="Title 1">
            <a:extLst>
              <a:ext uri="{FF2B5EF4-FFF2-40B4-BE49-F238E27FC236}">
                <a16:creationId xmlns:a16="http://schemas.microsoft.com/office/drawing/2014/main" id="{BA5CC7C3-1813-1546-3874-869ED54CDB52}"/>
              </a:ext>
            </a:extLst>
          </p:cNvPr>
          <p:cNvSpPr txBox="1">
            <a:spLocks/>
          </p:cNvSpPr>
          <p:nvPr/>
        </p:nvSpPr>
        <p:spPr>
          <a:xfrm>
            <a:off x="381000" y="4572000"/>
            <a:ext cx="8077200" cy="1981200"/>
          </a:xfrm>
          <a:prstGeom prst="rect">
            <a:avLst/>
          </a:prstGeom>
        </p:spPr>
        <p:txBody>
          <a:bodyPr vert="horz" lIns="91440" tIns="45720" rIns="91440" bIns="45720" rtlCol="0" anchor="t">
            <a:noAutofit/>
          </a:bodyPr>
          <a:lstStyle>
            <a:lvl1pPr algn="l" defTabSz="914400" rtl="0" eaLnBrk="1" latinLnBrk="0" hangingPunct="1">
              <a:spcBef>
                <a:spcPct val="0"/>
              </a:spcBef>
              <a:buNone/>
              <a:defRPr sz="3600" b="1" kern="1200">
                <a:solidFill>
                  <a:schemeClr val="tx1"/>
                </a:solidFill>
                <a:latin typeface="+mj-lt"/>
                <a:ea typeface="+mj-ea"/>
                <a:cs typeface="+mj-cs"/>
              </a:defRPr>
            </a:lvl1pPr>
          </a:lstStyle>
          <a:p>
            <a:r>
              <a:rPr lang="en-GB" sz="2400" b="0" dirty="0"/>
              <a:t>1) What is the null hypothesis for </a:t>
            </a:r>
            <a:r>
              <a:rPr lang="en-GB" sz="2400" b="0" dirty="0" err="1"/>
              <a:t>Levene’s</a:t>
            </a:r>
            <a:r>
              <a:rPr lang="en-GB" sz="2400" b="0" dirty="0"/>
              <a:t> test?</a:t>
            </a:r>
          </a:p>
          <a:p>
            <a:r>
              <a:rPr lang="en-GB" sz="2400" b="0" dirty="0"/>
              <a:t>2) What is the result of this </a:t>
            </a:r>
            <a:r>
              <a:rPr lang="en-GB" sz="2400" b="0" dirty="0" err="1"/>
              <a:t>Levene’s</a:t>
            </a:r>
            <a:r>
              <a:rPr lang="en-GB" sz="2400" b="0" dirty="0"/>
              <a:t> test?</a:t>
            </a:r>
          </a:p>
          <a:p>
            <a:r>
              <a:rPr lang="en-GB" sz="2400" b="0" dirty="0"/>
              <a:t>3) How do we use </a:t>
            </a:r>
            <a:r>
              <a:rPr lang="en-GB" sz="2400" b="0" dirty="0" err="1"/>
              <a:t>Levene’s</a:t>
            </a:r>
            <a:r>
              <a:rPr lang="en-GB" sz="2400" b="0" dirty="0"/>
              <a:t> test?</a:t>
            </a:r>
          </a:p>
          <a:p>
            <a:r>
              <a:rPr lang="en-GB" sz="2400" b="0" dirty="0"/>
              <a:t>4) What is the null hypothesis for this test?</a:t>
            </a:r>
          </a:p>
          <a:p>
            <a:r>
              <a:rPr lang="en-GB" sz="2400" b="0" dirty="0"/>
              <a:t>5) What is the result of the test?</a:t>
            </a:r>
          </a:p>
          <a:p>
            <a:endParaRPr lang="en-GB" sz="2000" b="0" dirty="0"/>
          </a:p>
        </p:txBody>
      </p:sp>
    </p:spTree>
    <p:extLst>
      <p:ext uri="{BB962C8B-B14F-4D97-AF65-F5344CB8AC3E}">
        <p14:creationId xmlns:p14="http://schemas.microsoft.com/office/powerpoint/2010/main" val="1098861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9" name="Text Box 7"/>
          <p:cNvSpPr txBox="1">
            <a:spLocks noChangeArrowheads="1"/>
          </p:cNvSpPr>
          <p:nvPr/>
        </p:nvSpPr>
        <p:spPr bwMode="auto">
          <a:xfrm>
            <a:off x="158750" y="1501378"/>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GB" altLang="en-US"/>
          </a:p>
        </p:txBody>
      </p:sp>
      <p:sp>
        <p:nvSpPr>
          <p:cNvPr id="2" name="Title 1"/>
          <p:cNvSpPr>
            <a:spLocks noGrp="1"/>
          </p:cNvSpPr>
          <p:nvPr>
            <p:ph type="title"/>
          </p:nvPr>
        </p:nvSpPr>
        <p:spPr>
          <a:xfrm>
            <a:off x="304800" y="76200"/>
            <a:ext cx="8229600" cy="1143000"/>
          </a:xfrm>
        </p:spPr>
        <p:txBody>
          <a:bodyPr/>
          <a:lstStyle/>
          <a:p>
            <a:r>
              <a:rPr lang="en-GB" altLang="en-US" dirty="0"/>
              <a:t>Question 1</a:t>
            </a:r>
            <a:endParaRPr lang="en-GB" dirty="0"/>
          </a:p>
        </p:txBody>
      </p:sp>
      <p:pic>
        <p:nvPicPr>
          <p:cNvPr id="13" name="Picture 12">
            <a:extLst>
              <a:ext uri="{FF2B5EF4-FFF2-40B4-BE49-F238E27FC236}">
                <a16:creationId xmlns:a16="http://schemas.microsoft.com/office/drawing/2014/main" id="{F9399794-E60C-13EE-0B70-407E25B9AA0F}"/>
              </a:ext>
            </a:extLst>
          </p:cNvPr>
          <p:cNvPicPr>
            <a:picLocks noChangeAspect="1"/>
          </p:cNvPicPr>
          <p:nvPr/>
        </p:nvPicPr>
        <p:blipFill rotWithShape="1">
          <a:blip r:embed="rId3">
            <a:extLst>
              <a:ext uri="{28A0092B-C50C-407E-A947-70E740481C1C}">
                <a14:useLocalDpi xmlns:a14="http://schemas.microsoft.com/office/drawing/2010/main" val="0"/>
              </a:ext>
            </a:extLst>
          </a:blip>
          <a:srcRect t="33735"/>
          <a:stretch/>
        </p:blipFill>
        <p:spPr>
          <a:xfrm>
            <a:off x="334108" y="685800"/>
            <a:ext cx="7362092" cy="2844291"/>
          </a:xfrm>
          <a:prstGeom prst="rect">
            <a:avLst/>
          </a:prstGeom>
        </p:spPr>
      </p:pic>
      <p:sp>
        <p:nvSpPr>
          <p:cNvPr id="14" name="Title 1">
            <a:extLst>
              <a:ext uri="{FF2B5EF4-FFF2-40B4-BE49-F238E27FC236}">
                <a16:creationId xmlns:a16="http://schemas.microsoft.com/office/drawing/2014/main" id="{BA5CC7C3-1813-1546-3874-869ED54CDB52}"/>
              </a:ext>
            </a:extLst>
          </p:cNvPr>
          <p:cNvSpPr txBox="1">
            <a:spLocks/>
          </p:cNvSpPr>
          <p:nvPr/>
        </p:nvSpPr>
        <p:spPr>
          <a:xfrm>
            <a:off x="381000" y="3505200"/>
            <a:ext cx="8610600" cy="990600"/>
          </a:xfrm>
          <a:prstGeom prst="rect">
            <a:avLst/>
          </a:prstGeom>
        </p:spPr>
        <p:txBody>
          <a:bodyPr vert="horz" lIns="91440" tIns="45720" rIns="91440" bIns="45720" rtlCol="0" anchor="t">
            <a:noAutofit/>
          </a:bodyPr>
          <a:lstStyle>
            <a:lvl1pPr algn="l" defTabSz="914400" rtl="0" eaLnBrk="1" latinLnBrk="0" hangingPunct="1">
              <a:spcBef>
                <a:spcPct val="0"/>
              </a:spcBef>
              <a:buNone/>
              <a:defRPr sz="3600" b="1" kern="1200">
                <a:solidFill>
                  <a:schemeClr val="tx1"/>
                </a:solidFill>
                <a:latin typeface="+mj-lt"/>
                <a:ea typeface="+mj-ea"/>
                <a:cs typeface="+mj-cs"/>
              </a:defRPr>
            </a:lvl1pPr>
          </a:lstStyle>
          <a:p>
            <a:r>
              <a:rPr lang="en-GB" sz="2000" b="0" dirty="0"/>
              <a:t>1) What is the null hypothesis for </a:t>
            </a:r>
            <a:r>
              <a:rPr lang="en-GB" sz="2000" b="0" dirty="0" err="1"/>
              <a:t>Levene’s</a:t>
            </a:r>
            <a:r>
              <a:rPr lang="en-GB" sz="2000" b="0" dirty="0"/>
              <a:t> test?</a:t>
            </a:r>
          </a:p>
          <a:p>
            <a:r>
              <a:rPr lang="en-GB" sz="2000" b="0" dirty="0"/>
              <a:t>The null hypothesis for </a:t>
            </a:r>
            <a:r>
              <a:rPr lang="en-GB" sz="2000" b="0" dirty="0" err="1"/>
              <a:t>Levene’s</a:t>
            </a:r>
            <a:r>
              <a:rPr lang="en-GB" sz="2000" b="0" dirty="0"/>
              <a:t> test is that the variances of the samples of men and women are equal.</a:t>
            </a:r>
          </a:p>
        </p:txBody>
      </p:sp>
      <p:sp>
        <p:nvSpPr>
          <p:cNvPr id="3" name="Title 1">
            <a:extLst>
              <a:ext uri="{FF2B5EF4-FFF2-40B4-BE49-F238E27FC236}">
                <a16:creationId xmlns:a16="http://schemas.microsoft.com/office/drawing/2014/main" id="{CB052A7E-250A-2AFA-E297-A7038FD4A5EB}"/>
              </a:ext>
            </a:extLst>
          </p:cNvPr>
          <p:cNvSpPr txBox="1">
            <a:spLocks/>
          </p:cNvSpPr>
          <p:nvPr/>
        </p:nvSpPr>
        <p:spPr>
          <a:xfrm>
            <a:off x="381000" y="4572000"/>
            <a:ext cx="8382000" cy="789863"/>
          </a:xfrm>
          <a:prstGeom prst="rect">
            <a:avLst/>
          </a:prstGeom>
        </p:spPr>
        <p:txBody>
          <a:bodyPr vert="horz" lIns="91440" tIns="45720" rIns="91440" bIns="45720" rtlCol="0" anchor="t">
            <a:noAutofit/>
          </a:bodyPr>
          <a:lstStyle>
            <a:lvl1pPr algn="l" defTabSz="914400" rtl="0" eaLnBrk="1" latinLnBrk="0" hangingPunct="1">
              <a:spcBef>
                <a:spcPct val="0"/>
              </a:spcBef>
              <a:buNone/>
              <a:defRPr sz="3600" b="1" kern="1200">
                <a:solidFill>
                  <a:schemeClr val="tx1"/>
                </a:solidFill>
                <a:latin typeface="+mj-lt"/>
                <a:ea typeface="+mj-ea"/>
                <a:cs typeface="+mj-cs"/>
              </a:defRPr>
            </a:lvl1pPr>
          </a:lstStyle>
          <a:p>
            <a:r>
              <a:rPr lang="en-GB" sz="2000" b="0" dirty="0"/>
              <a:t>2) What is the result of this </a:t>
            </a:r>
            <a:r>
              <a:rPr lang="en-GB" sz="2000" b="0" dirty="0" err="1"/>
              <a:t>Levene’s</a:t>
            </a:r>
            <a:r>
              <a:rPr lang="en-GB" sz="2000" b="0" dirty="0"/>
              <a:t> test?</a:t>
            </a:r>
          </a:p>
          <a:p>
            <a:r>
              <a:rPr lang="en-GB" sz="2000" b="0" dirty="0"/>
              <a:t>On this test p&gt;0.05, so we accept the null hypothesis.</a:t>
            </a:r>
          </a:p>
        </p:txBody>
      </p:sp>
      <p:sp>
        <p:nvSpPr>
          <p:cNvPr id="4" name="Title 1">
            <a:extLst>
              <a:ext uri="{FF2B5EF4-FFF2-40B4-BE49-F238E27FC236}">
                <a16:creationId xmlns:a16="http://schemas.microsoft.com/office/drawing/2014/main" id="{84FD8FD6-C898-A2FD-3121-CF7C5D0F9228}"/>
              </a:ext>
            </a:extLst>
          </p:cNvPr>
          <p:cNvSpPr txBox="1">
            <a:spLocks/>
          </p:cNvSpPr>
          <p:nvPr/>
        </p:nvSpPr>
        <p:spPr>
          <a:xfrm>
            <a:off x="381000" y="5410200"/>
            <a:ext cx="8382000" cy="962737"/>
          </a:xfrm>
          <a:prstGeom prst="rect">
            <a:avLst/>
          </a:prstGeom>
        </p:spPr>
        <p:txBody>
          <a:bodyPr vert="horz" lIns="91440" tIns="45720" rIns="91440" bIns="45720" rtlCol="0" anchor="t">
            <a:noAutofit/>
          </a:bodyPr>
          <a:lstStyle>
            <a:lvl1pPr algn="l" defTabSz="914400" rtl="0" eaLnBrk="1" latinLnBrk="0" hangingPunct="1">
              <a:spcBef>
                <a:spcPct val="0"/>
              </a:spcBef>
              <a:buNone/>
              <a:defRPr sz="3600" b="1" kern="1200">
                <a:solidFill>
                  <a:schemeClr val="tx1"/>
                </a:solidFill>
                <a:latin typeface="+mj-lt"/>
                <a:ea typeface="+mj-ea"/>
                <a:cs typeface="+mj-cs"/>
              </a:defRPr>
            </a:lvl1pPr>
          </a:lstStyle>
          <a:p>
            <a:r>
              <a:rPr lang="en-GB" sz="2000" b="0" dirty="0"/>
              <a:t>3) How do we use </a:t>
            </a:r>
            <a:r>
              <a:rPr lang="en-GB" sz="2000" b="0" dirty="0" err="1"/>
              <a:t>Levene’s</a:t>
            </a:r>
            <a:r>
              <a:rPr lang="en-GB" sz="2000" b="0" dirty="0"/>
              <a:t> test?</a:t>
            </a:r>
          </a:p>
          <a:p>
            <a:r>
              <a:rPr lang="en-GB" sz="2000" b="0" dirty="0"/>
              <a:t>The result from </a:t>
            </a:r>
            <a:r>
              <a:rPr lang="en-GB" sz="2000" b="0" dirty="0" err="1"/>
              <a:t>Levene’s</a:t>
            </a:r>
            <a:r>
              <a:rPr lang="en-GB" sz="2000" b="0" dirty="0"/>
              <a:t> test tells us whether to read the results for “equal variances assumed” (if the null hypothesis is accepted) or those for “equal variances not assumed” (in this case the results happen to be the same).</a:t>
            </a:r>
          </a:p>
        </p:txBody>
      </p:sp>
    </p:spTree>
    <p:extLst>
      <p:ext uri="{BB962C8B-B14F-4D97-AF65-F5344CB8AC3E}">
        <p14:creationId xmlns:p14="http://schemas.microsoft.com/office/powerpoint/2010/main" val="1394931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3" grpId="0"/>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9" name="Text Box 7"/>
          <p:cNvSpPr txBox="1">
            <a:spLocks noChangeArrowheads="1"/>
          </p:cNvSpPr>
          <p:nvPr/>
        </p:nvSpPr>
        <p:spPr bwMode="auto">
          <a:xfrm>
            <a:off x="158750" y="1501378"/>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GB" altLang="en-US"/>
          </a:p>
        </p:txBody>
      </p:sp>
      <p:sp>
        <p:nvSpPr>
          <p:cNvPr id="2" name="Title 1"/>
          <p:cNvSpPr>
            <a:spLocks noGrp="1"/>
          </p:cNvSpPr>
          <p:nvPr>
            <p:ph type="title"/>
          </p:nvPr>
        </p:nvSpPr>
        <p:spPr>
          <a:xfrm>
            <a:off x="304800" y="76200"/>
            <a:ext cx="8229600" cy="1143000"/>
          </a:xfrm>
        </p:spPr>
        <p:txBody>
          <a:bodyPr/>
          <a:lstStyle/>
          <a:p>
            <a:r>
              <a:rPr lang="en-GB" altLang="en-US" dirty="0"/>
              <a:t>Question 1</a:t>
            </a:r>
            <a:endParaRPr lang="en-GB" dirty="0"/>
          </a:p>
        </p:txBody>
      </p:sp>
      <p:pic>
        <p:nvPicPr>
          <p:cNvPr id="13" name="Picture 12">
            <a:extLst>
              <a:ext uri="{FF2B5EF4-FFF2-40B4-BE49-F238E27FC236}">
                <a16:creationId xmlns:a16="http://schemas.microsoft.com/office/drawing/2014/main" id="{F9399794-E60C-13EE-0B70-407E25B9AA0F}"/>
              </a:ext>
            </a:extLst>
          </p:cNvPr>
          <p:cNvPicPr>
            <a:picLocks noChangeAspect="1"/>
          </p:cNvPicPr>
          <p:nvPr/>
        </p:nvPicPr>
        <p:blipFill rotWithShape="1">
          <a:blip r:embed="rId3">
            <a:extLst>
              <a:ext uri="{28A0092B-C50C-407E-A947-70E740481C1C}">
                <a14:useLocalDpi xmlns:a14="http://schemas.microsoft.com/office/drawing/2010/main" val="0"/>
              </a:ext>
            </a:extLst>
          </a:blip>
          <a:srcRect t="33735"/>
          <a:stretch/>
        </p:blipFill>
        <p:spPr>
          <a:xfrm>
            <a:off x="334108" y="685800"/>
            <a:ext cx="7362092" cy="2844291"/>
          </a:xfrm>
          <a:prstGeom prst="rect">
            <a:avLst/>
          </a:prstGeom>
        </p:spPr>
      </p:pic>
      <p:sp>
        <p:nvSpPr>
          <p:cNvPr id="14" name="Title 1">
            <a:extLst>
              <a:ext uri="{FF2B5EF4-FFF2-40B4-BE49-F238E27FC236}">
                <a16:creationId xmlns:a16="http://schemas.microsoft.com/office/drawing/2014/main" id="{BA5CC7C3-1813-1546-3874-869ED54CDB52}"/>
              </a:ext>
            </a:extLst>
          </p:cNvPr>
          <p:cNvSpPr txBox="1">
            <a:spLocks/>
          </p:cNvSpPr>
          <p:nvPr/>
        </p:nvSpPr>
        <p:spPr>
          <a:xfrm>
            <a:off x="381000" y="3657600"/>
            <a:ext cx="8610600" cy="990600"/>
          </a:xfrm>
          <a:prstGeom prst="rect">
            <a:avLst/>
          </a:prstGeom>
        </p:spPr>
        <p:txBody>
          <a:bodyPr vert="horz" lIns="91440" tIns="45720" rIns="91440" bIns="45720" rtlCol="0" anchor="t">
            <a:noAutofit/>
          </a:bodyPr>
          <a:lstStyle>
            <a:lvl1pPr algn="l" defTabSz="914400" rtl="0" eaLnBrk="1" latinLnBrk="0" hangingPunct="1">
              <a:spcBef>
                <a:spcPct val="0"/>
              </a:spcBef>
              <a:buNone/>
              <a:defRPr sz="3600" b="1" kern="1200">
                <a:solidFill>
                  <a:schemeClr val="tx1"/>
                </a:solidFill>
                <a:latin typeface="+mj-lt"/>
                <a:ea typeface="+mj-ea"/>
                <a:cs typeface="+mj-cs"/>
              </a:defRPr>
            </a:lvl1pPr>
          </a:lstStyle>
          <a:p>
            <a:r>
              <a:rPr lang="en-GB" sz="2000" b="0" dirty="0"/>
              <a:t>4) What is the null hypothesis for this test?</a:t>
            </a:r>
          </a:p>
          <a:p>
            <a:r>
              <a:rPr lang="en-GB" sz="2000" b="0" dirty="0"/>
              <a:t>The null hypothesis is that the age at which men and women first marry is equal, or that there is no difference in the age at which men and women first marry </a:t>
            </a:r>
          </a:p>
        </p:txBody>
      </p:sp>
      <p:sp>
        <p:nvSpPr>
          <p:cNvPr id="3" name="Title 1">
            <a:extLst>
              <a:ext uri="{FF2B5EF4-FFF2-40B4-BE49-F238E27FC236}">
                <a16:creationId xmlns:a16="http://schemas.microsoft.com/office/drawing/2014/main" id="{CB052A7E-250A-2AFA-E297-A7038FD4A5EB}"/>
              </a:ext>
            </a:extLst>
          </p:cNvPr>
          <p:cNvSpPr txBox="1">
            <a:spLocks/>
          </p:cNvSpPr>
          <p:nvPr/>
        </p:nvSpPr>
        <p:spPr>
          <a:xfrm>
            <a:off x="381000" y="4876800"/>
            <a:ext cx="8382000" cy="789863"/>
          </a:xfrm>
          <a:prstGeom prst="rect">
            <a:avLst/>
          </a:prstGeom>
        </p:spPr>
        <p:txBody>
          <a:bodyPr vert="horz" lIns="91440" tIns="45720" rIns="91440" bIns="45720" rtlCol="0" anchor="t">
            <a:noAutofit/>
          </a:bodyPr>
          <a:lstStyle>
            <a:lvl1pPr algn="l" defTabSz="914400" rtl="0" eaLnBrk="1" latinLnBrk="0" hangingPunct="1">
              <a:spcBef>
                <a:spcPct val="0"/>
              </a:spcBef>
              <a:buNone/>
              <a:defRPr sz="3600" b="1" kern="1200">
                <a:solidFill>
                  <a:schemeClr val="tx1"/>
                </a:solidFill>
                <a:latin typeface="+mj-lt"/>
                <a:ea typeface="+mj-ea"/>
                <a:cs typeface="+mj-cs"/>
              </a:defRPr>
            </a:lvl1pPr>
          </a:lstStyle>
          <a:p>
            <a:r>
              <a:rPr lang="en-GB" sz="2000" b="0" dirty="0"/>
              <a:t>5) What is the result of the test?</a:t>
            </a:r>
          </a:p>
          <a:p>
            <a:r>
              <a:rPr lang="en-GB" sz="2000" b="0" dirty="0"/>
              <a:t>The null hypothesis is rejected at the 5% level (and indeed at the 1% level), we can say that there is a significant difference in the ages at which men and women first marry, on average.</a:t>
            </a:r>
          </a:p>
        </p:txBody>
      </p:sp>
    </p:spTree>
    <p:extLst>
      <p:ext uri="{BB962C8B-B14F-4D97-AF65-F5344CB8AC3E}">
        <p14:creationId xmlns:p14="http://schemas.microsoft.com/office/powerpoint/2010/main" val="1182579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9" name="Text Box 7"/>
          <p:cNvSpPr txBox="1">
            <a:spLocks noChangeArrowheads="1"/>
          </p:cNvSpPr>
          <p:nvPr/>
        </p:nvSpPr>
        <p:spPr bwMode="auto">
          <a:xfrm>
            <a:off x="158750" y="1501378"/>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GB" altLang="en-US"/>
          </a:p>
        </p:txBody>
      </p:sp>
      <p:sp>
        <p:nvSpPr>
          <p:cNvPr id="2" name="Title 1"/>
          <p:cNvSpPr>
            <a:spLocks noGrp="1"/>
          </p:cNvSpPr>
          <p:nvPr>
            <p:ph type="title"/>
          </p:nvPr>
        </p:nvSpPr>
        <p:spPr>
          <a:xfrm>
            <a:off x="533400" y="5410200"/>
            <a:ext cx="8229600" cy="1143000"/>
          </a:xfrm>
        </p:spPr>
        <p:txBody>
          <a:bodyPr/>
          <a:lstStyle/>
          <a:p>
            <a:r>
              <a:rPr lang="en-GB" altLang="en-US" dirty="0"/>
              <a:t>5 Minutes Break</a:t>
            </a:r>
            <a:endParaRPr lang="en-GB" dirty="0"/>
          </a:p>
        </p:txBody>
      </p:sp>
    </p:spTree>
    <p:extLst>
      <p:ext uri="{BB962C8B-B14F-4D97-AF65-F5344CB8AC3E}">
        <p14:creationId xmlns:p14="http://schemas.microsoft.com/office/powerpoint/2010/main" val="27016673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HYPOTHESIS TESTING</a:t>
            </a:r>
          </a:p>
        </p:txBody>
      </p:sp>
      <p:graphicFrame>
        <p:nvGraphicFramePr>
          <p:cNvPr id="7" name="Table 6"/>
          <p:cNvGraphicFramePr>
            <a:graphicFrameLocks noGrp="1"/>
          </p:cNvGraphicFramePr>
          <p:nvPr>
            <p:extLst>
              <p:ext uri="{D42A27DB-BD31-4B8C-83A1-F6EECF244321}">
                <p14:modId xmlns:p14="http://schemas.microsoft.com/office/powerpoint/2010/main" val="2238473501"/>
              </p:ext>
            </p:extLst>
          </p:nvPr>
        </p:nvGraphicFramePr>
        <p:xfrm>
          <a:off x="419912" y="1086256"/>
          <a:ext cx="7657287" cy="3684270"/>
        </p:xfrm>
        <a:graphic>
          <a:graphicData uri="http://schemas.openxmlformats.org/drawingml/2006/table">
            <a:tbl>
              <a:tblPr firstRow="1" firstCol="1">
                <a:tableStyleId>{8EC20E35-A176-4012-BC5E-935CFFF8708E}</a:tableStyleId>
              </a:tblPr>
              <a:tblGrid>
                <a:gridCol w="2552429">
                  <a:extLst>
                    <a:ext uri="{9D8B030D-6E8A-4147-A177-3AD203B41FA5}">
                      <a16:colId xmlns:a16="http://schemas.microsoft.com/office/drawing/2014/main" val="20000"/>
                    </a:ext>
                  </a:extLst>
                </a:gridCol>
                <a:gridCol w="2552429">
                  <a:extLst>
                    <a:ext uri="{9D8B030D-6E8A-4147-A177-3AD203B41FA5}">
                      <a16:colId xmlns:a16="http://schemas.microsoft.com/office/drawing/2014/main" val="20001"/>
                    </a:ext>
                  </a:extLst>
                </a:gridCol>
                <a:gridCol w="2552429">
                  <a:extLst>
                    <a:ext uri="{9D8B030D-6E8A-4147-A177-3AD203B41FA5}">
                      <a16:colId xmlns:a16="http://schemas.microsoft.com/office/drawing/2014/main" val="20002"/>
                    </a:ext>
                  </a:extLst>
                </a:gridCol>
              </a:tblGrid>
              <a:tr h="381000">
                <a:tc>
                  <a:txBody>
                    <a:bodyPr/>
                    <a:lstStyle/>
                    <a:p>
                      <a:pPr algn="ctr"/>
                      <a:endParaRPr lang="en-GB" dirty="0"/>
                    </a:p>
                  </a:txBody>
                  <a:tcPr anchor="ctr"/>
                </a:tc>
                <a:tc>
                  <a:txBody>
                    <a:bodyPr/>
                    <a:lstStyle/>
                    <a:p>
                      <a:pPr algn="ctr"/>
                      <a:r>
                        <a:rPr lang="en-GB" dirty="0"/>
                        <a:t>Categorical</a:t>
                      </a:r>
                    </a:p>
                  </a:txBody>
                  <a:tcPr anchor="ctr"/>
                </a:tc>
                <a:tc>
                  <a:txBody>
                    <a:bodyPr/>
                    <a:lstStyle/>
                    <a:p>
                      <a:pPr algn="ctr"/>
                      <a:r>
                        <a:rPr lang="en-GB" dirty="0"/>
                        <a:t>Scalar</a:t>
                      </a:r>
                    </a:p>
                  </a:txBody>
                  <a:tcPr anchor="ctr"/>
                </a:tc>
                <a:extLst>
                  <a:ext uri="{0D108BD9-81ED-4DB2-BD59-A6C34878D82A}">
                    <a16:rowId xmlns:a16="http://schemas.microsoft.com/office/drawing/2014/main" val="10000"/>
                  </a:ext>
                </a:extLst>
              </a:tr>
              <a:tr h="1047750">
                <a:tc>
                  <a:txBody>
                    <a:bodyPr/>
                    <a:lstStyle/>
                    <a:p>
                      <a:pPr algn="ctr"/>
                      <a:r>
                        <a:rPr lang="en-GB" b="0" dirty="0"/>
                        <a:t>Inference for </a:t>
                      </a:r>
                    </a:p>
                    <a:p>
                      <a:pPr algn="ctr"/>
                      <a:r>
                        <a:rPr lang="en-GB" sz="2400" dirty="0"/>
                        <a:t>One</a:t>
                      </a:r>
                      <a:r>
                        <a:rPr lang="en-GB" sz="2400" baseline="0" dirty="0"/>
                        <a:t> group</a:t>
                      </a:r>
                      <a:endParaRPr lang="en-GB" sz="2400" dirty="0"/>
                    </a:p>
                  </a:txBody>
                  <a:tcPr anchor="ctr"/>
                </a:tc>
                <a:tc>
                  <a:txBody>
                    <a:bodyPr/>
                    <a:lstStyle/>
                    <a:p>
                      <a:pPr algn="ctr"/>
                      <a:r>
                        <a:rPr lang="en-GB" sz="3200" b="1" dirty="0">
                          <a:solidFill>
                            <a:schemeClr val="bg1">
                              <a:lumMod val="85000"/>
                            </a:schemeClr>
                          </a:solidFill>
                        </a:rPr>
                        <a:t>Z Test</a:t>
                      </a:r>
                    </a:p>
                    <a:p>
                      <a:pPr algn="ctr"/>
                      <a:r>
                        <a:rPr lang="en-GB" sz="1800" dirty="0">
                          <a:solidFill>
                            <a:schemeClr val="bg1">
                              <a:lumMod val="85000"/>
                            </a:schemeClr>
                          </a:solidFill>
                        </a:rPr>
                        <a:t>for proportion</a:t>
                      </a:r>
                    </a:p>
                  </a:txBody>
                  <a:tcPr anchor="ctr"/>
                </a:tc>
                <a:tc>
                  <a:txBody>
                    <a:bodyPr/>
                    <a:lstStyle/>
                    <a:p>
                      <a:pPr algn="ctr"/>
                      <a:r>
                        <a:rPr lang="en-GB" sz="3200" b="1" dirty="0">
                          <a:solidFill>
                            <a:schemeClr val="bg1">
                              <a:lumMod val="85000"/>
                            </a:schemeClr>
                          </a:solidFill>
                        </a:rPr>
                        <a:t>t Test</a:t>
                      </a:r>
                    </a:p>
                    <a:p>
                      <a:pPr algn="ctr"/>
                      <a:r>
                        <a:rPr lang="en-GB" sz="1800" dirty="0">
                          <a:solidFill>
                            <a:schemeClr val="bg1">
                              <a:lumMod val="85000"/>
                            </a:schemeClr>
                          </a:solidFill>
                        </a:rPr>
                        <a:t>for mean</a:t>
                      </a:r>
                      <a:endParaRPr lang="en-GB" sz="2000" dirty="0">
                        <a:solidFill>
                          <a:schemeClr val="bg1">
                            <a:lumMod val="85000"/>
                          </a:schemeClr>
                        </a:solidFill>
                      </a:endParaRPr>
                    </a:p>
                  </a:txBody>
                  <a:tcPr anchor="ctr"/>
                </a:tc>
                <a:extLst>
                  <a:ext uri="{0D108BD9-81ED-4DB2-BD59-A6C34878D82A}">
                    <a16:rowId xmlns:a16="http://schemas.microsoft.com/office/drawing/2014/main" val="10001"/>
                  </a:ext>
                </a:extLst>
              </a:tr>
              <a:tr h="1127760">
                <a:tc>
                  <a:txBody>
                    <a:bodyPr/>
                    <a:lstStyle/>
                    <a:p>
                      <a:pPr algn="ctr"/>
                      <a:r>
                        <a:rPr lang="en-GB" b="0" dirty="0"/>
                        <a:t>Comparing</a:t>
                      </a:r>
                    </a:p>
                    <a:p>
                      <a:pPr algn="ctr"/>
                      <a:r>
                        <a:rPr lang="en-GB" sz="2400" dirty="0"/>
                        <a:t>Two groups</a:t>
                      </a:r>
                    </a:p>
                  </a:txBody>
                  <a:tcPr anchor="ctr"/>
                </a:tc>
                <a:tc>
                  <a:txBody>
                    <a:bodyPr/>
                    <a:lstStyle/>
                    <a:p>
                      <a:pPr algn="ctr"/>
                      <a:r>
                        <a:rPr lang="en-GB" sz="3200" b="1" dirty="0"/>
                        <a:t>Z Test</a:t>
                      </a:r>
                    </a:p>
                    <a:p>
                      <a:pPr algn="ctr"/>
                      <a:r>
                        <a:rPr lang="en-GB" sz="1800" dirty="0">
                          <a:solidFill>
                            <a:schemeClr val="tx1">
                              <a:lumMod val="65000"/>
                              <a:lumOff val="35000"/>
                            </a:schemeClr>
                          </a:solidFill>
                        </a:rPr>
                        <a:t>for difference in</a:t>
                      </a:r>
                    </a:p>
                    <a:p>
                      <a:pPr algn="ctr"/>
                      <a:r>
                        <a:rPr lang="en-GB" sz="1800" dirty="0">
                          <a:solidFill>
                            <a:schemeClr val="tx1">
                              <a:lumMod val="65000"/>
                              <a:lumOff val="35000"/>
                            </a:schemeClr>
                          </a:solidFill>
                        </a:rPr>
                        <a:t>two proportions</a:t>
                      </a:r>
                    </a:p>
                  </a:txBody>
                  <a:tcPr anchor="ctr">
                    <a:solidFill>
                      <a:schemeClr val="bg1">
                        <a:lumMod val="85000"/>
                      </a:schemeClr>
                    </a:solidFill>
                  </a:tcPr>
                </a:tc>
                <a:tc>
                  <a:txBody>
                    <a:bodyPr/>
                    <a:lstStyle/>
                    <a:p>
                      <a:pPr algn="ctr"/>
                      <a:r>
                        <a:rPr lang="en-GB" sz="3200" b="1" dirty="0">
                          <a:solidFill>
                            <a:schemeClr val="bg1">
                              <a:lumMod val="75000"/>
                            </a:schemeClr>
                          </a:solidFill>
                        </a:rPr>
                        <a:t>t Test</a:t>
                      </a:r>
                    </a:p>
                    <a:p>
                      <a:pPr algn="ctr"/>
                      <a:r>
                        <a:rPr lang="en-GB" sz="1800" dirty="0">
                          <a:solidFill>
                            <a:schemeClr val="bg1">
                              <a:lumMod val="75000"/>
                            </a:schemeClr>
                          </a:solidFill>
                        </a:rPr>
                        <a:t>for difference in</a:t>
                      </a:r>
                    </a:p>
                    <a:p>
                      <a:pPr algn="ctr"/>
                      <a:r>
                        <a:rPr lang="en-GB" sz="1800" dirty="0">
                          <a:solidFill>
                            <a:schemeClr val="bg1">
                              <a:lumMod val="75000"/>
                            </a:schemeClr>
                          </a:solidFill>
                        </a:rPr>
                        <a:t>two means</a:t>
                      </a:r>
                    </a:p>
                  </a:txBody>
                  <a:tcPr anchor="ctr">
                    <a:solidFill>
                      <a:schemeClr val="bg1">
                        <a:lumMod val="85000"/>
                      </a:schemeClr>
                    </a:solidFill>
                  </a:tcPr>
                </a:tc>
                <a:extLst>
                  <a:ext uri="{0D108BD9-81ED-4DB2-BD59-A6C34878D82A}">
                    <a16:rowId xmlns:a16="http://schemas.microsoft.com/office/drawing/2014/main" val="10002"/>
                  </a:ext>
                </a:extLst>
              </a:tr>
              <a:tr h="1127760">
                <a:tc>
                  <a:txBody>
                    <a:bodyPr/>
                    <a:lstStyle/>
                    <a:p>
                      <a:pPr algn="ctr"/>
                      <a:r>
                        <a:rPr lang="en-GB" b="0" dirty="0"/>
                        <a:t>Comparing</a:t>
                      </a:r>
                    </a:p>
                    <a:p>
                      <a:pPr algn="ctr"/>
                      <a:r>
                        <a:rPr lang="en-GB" sz="2400" b="1" dirty="0"/>
                        <a:t>Many groups</a:t>
                      </a:r>
                    </a:p>
                  </a:txBody>
                  <a:tcPr anchor="ctr"/>
                </a:tc>
                <a:tc>
                  <a:txBody>
                    <a:bodyPr/>
                    <a:lstStyle/>
                    <a:p>
                      <a:pPr algn="ctr"/>
                      <a:r>
                        <a:rPr lang="el-GR" sz="3200" b="1" dirty="0"/>
                        <a:t>χ</a:t>
                      </a:r>
                      <a:r>
                        <a:rPr lang="en-GB" sz="3200" b="1" baseline="30000" dirty="0"/>
                        <a:t>2</a:t>
                      </a:r>
                    </a:p>
                    <a:p>
                      <a:pPr algn="ctr"/>
                      <a:r>
                        <a:rPr lang="en-GB" sz="1800" dirty="0">
                          <a:solidFill>
                            <a:schemeClr val="tx1">
                              <a:lumMod val="65000"/>
                              <a:lumOff val="35000"/>
                            </a:schemeClr>
                          </a:solidFill>
                        </a:rPr>
                        <a:t>for difference among several proportions</a:t>
                      </a:r>
                      <a:endParaRPr lang="en-GB" sz="1800" baseline="30000" dirty="0"/>
                    </a:p>
                  </a:txBody>
                  <a:tcPr anchor="ctr"/>
                </a:tc>
                <a:tc>
                  <a:txBody>
                    <a:bodyPr/>
                    <a:lstStyle/>
                    <a:p>
                      <a:pPr algn="ctr"/>
                      <a:r>
                        <a:rPr lang="en-GB" sz="3200" b="1" dirty="0"/>
                        <a:t>ANOVA</a:t>
                      </a:r>
                    </a:p>
                    <a:p>
                      <a:pPr algn="ctr"/>
                      <a:r>
                        <a:rPr lang="en-GB" sz="1800" dirty="0">
                          <a:solidFill>
                            <a:schemeClr val="tx1">
                              <a:lumMod val="65000"/>
                              <a:lumOff val="35000"/>
                            </a:schemeClr>
                          </a:solidFill>
                        </a:rPr>
                        <a:t>for comparing </a:t>
                      </a:r>
                    </a:p>
                    <a:p>
                      <a:pPr algn="ctr"/>
                      <a:r>
                        <a:rPr lang="en-GB" sz="1800" dirty="0">
                          <a:solidFill>
                            <a:schemeClr val="tx1">
                              <a:lumMod val="65000"/>
                              <a:lumOff val="35000"/>
                            </a:schemeClr>
                          </a:solidFill>
                        </a:rPr>
                        <a:t>several means</a:t>
                      </a:r>
                    </a:p>
                  </a:txBody>
                  <a:tcPr anchor="ctr"/>
                </a:tc>
                <a:extLst>
                  <a:ext uri="{0D108BD9-81ED-4DB2-BD59-A6C34878D82A}">
                    <a16:rowId xmlns:a16="http://schemas.microsoft.com/office/drawing/2014/main" val="10003"/>
                  </a:ext>
                </a:extLst>
              </a:tr>
            </a:tbl>
          </a:graphicData>
        </a:graphic>
      </p:graphicFrame>
      <p:sp>
        <p:nvSpPr>
          <p:cNvPr id="8" name="TextBox 7"/>
          <p:cNvSpPr txBox="1"/>
          <p:nvPr/>
        </p:nvSpPr>
        <p:spPr>
          <a:xfrm>
            <a:off x="2957657" y="4724400"/>
            <a:ext cx="5119543" cy="338554"/>
          </a:xfrm>
          <a:prstGeom prst="rect">
            <a:avLst/>
          </a:prstGeom>
          <a:noFill/>
        </p:spPr>
        <p:txBody>
          <a:bodyPr wrap="none" rtlCol="0">
            <a:spAutoFit/>
          </a:bodyPr>
          <a:lstStyle/>
          <a:p>
            <a:r>
              <a:rPr lang="en-GB" sz="1600" dirty="0">
                <a:solidFill>
                  <a:schemeClr val="tx1">
                    <a:lumMod val="65000"/>
                    <a:lumOff val="35000"/>
                  </a:schemeClr>
                </a:solidFill>
              </a:rPr>
              <a:t>N.B.  This is only a subset of numerous statistical techniques</a:t>
            </a:r>
          </a:p>
        </p:txBody>
      </p:sp>
      <p:sp>
        <p:nvSpPr>
          <p:cNvPr id="9" name="Rounded Rectangle 8"/>
          <p:cNvSpPr/>
          <p:nvPr/>
        </p:nvSpPr>
        <p:spPr>
          <a:xfrm>
            <a:off x="3190672" y="1580744"/>
            <a:ext cx="2133600" cy="838200"/>
          </a:xfrm>
          <a:prstGeom prst="roundRect">
            <a:avLst/>
          </a:prstGeom>
          <a:noFill/>
          <a:ln w="762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ounded Rectangle 5"/>
          <p:cNvSpPr/>
          <p:nvPr/>
        </p:nvSpPr>
        <p:spPr>
          <a:xfrm>
            <a:off x="5715000" y="1580744"/>
            <a:ext cx="2133600" cy="838200"/>
          </a:xfrm>
          <a:prstGeom prst="roundRect">
            <a:avLst/>
          </a:prstGeom>
          <a:noFill/>
          <a:ln w="762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ounded Rectangle 10"/>
          <p:cNvSpPr/>
          <p:nvPr/>
        </p:nvSpPr>
        <p:spPr>
          <a:xfrm>
            <a:off x="5715000" y="2590800"/>
            <a:ext cx="2133600" cy="990600"/>
          </a:xfrm>
          <a:prstGeom prst="roundRect">
            <a:avLst/>
          </a:prstGeom>
          <a:noFill/>
          <a:ln w="762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ounded Rectangle 9"/>
          <p:cNvSpPr/>
          <p:nvPr/>
        </p:nvSpPr>
        <p:spPr>
          <a:xfrm>
            <a:off x="5715000" y="3733800"/>
            <a:ext cx="2133600" cy="990600"/>
          </a:xfrm>
          <a:prstGeom prst="roundRect">
            <a:avLst/>
          </a:prstGeom>
          <a:noFill/>
          <a:ln w="762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773883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altLang="en-US" dirty="0"/>
              <a:t>Comparing more than two means</a:t>
            </a:r>
            <a:endParaRPr lang="en-GB" dirty="0"/>
          </a:p>
        </p:txBody>
      </p:sp>
      <p:sp>
        <p:nvSpPr>
          <p:cNvPr id="6" name="Text Box 8"/>
          <p:cNvSpPr txBox="1">
            <a:spLocks noChangeArrowheads="1"/>
          </p:cNvSpPr>
          <p:nvPr/>
        </p:nvSpPr>
        <p:spPr bwMode="auto">
          <a:xfrm>
            <a:off x="304800" y="804826"/>
            <a:ext cx="788682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2000" dirty="0"/>
              <a:t>Have students scored differently in the three modules they have studied this semester?</a:t>
            </a:r>
          </a:p>
        </p:txBody>
      </p:sp>
      <p:graphicFrame>
        <p:nvGraphicFramePr>
          <p:cNvPr id="7" name="Table 6"/>
          <p:cNvGraphicFramePr>
            <a:graphicFrameLocks noGrp="1"/>
          </p:cNvGraphicFramePr>
          <p:nvPr>
            <p:extLst>
              <p:ext uri="{D42A27DB-BD31-4B8C-83A1-F6EECF244321}">
                <p14:modId xmlns:p14="http://schemas.microsoft.com/office/powerpoint/2010/main" val="1060731509"/>
              </p:ext>
            </p:extLst>
          </p:nvPr>
        </p:nvGraphicFramePr>
        <p:xfrm>
          <a:off x="720380" y="1752600"/>
          <a:ext cx="7427532" cy="3169920"/>
        </p:xfrm>
        <a:graphic>
          <a:graphicData uri="http://schemas.openxmlformats.org/drawingml/2006/table">
            <a:tbl>
              <a:tblPr firstRow="1" firstCol="1" bandRow="1">
                <a:tableStyleId>{5C22544A-7EE6-4342-B048-85BDC9FD1C3A}</a:tableStyleId>
              </a:tblPr>
              <a:tblGrid>
                <a:gridCol w="2438400">
                  <a:extLst>
                    <a:ext uri="{9D8B030D-6E8A-4147-A177-3AD203B41FA5}">
                      <a16:colId xmlns:a16="http://schemas.microsoft.com/office/drawing/2014/main" val="20000"/>
                    </a:ext>
                  </a:extLst>
                </a:gridCol>
                <a:gridCol w="1663044">
                  <a:extLst>
                    <a:ext uri="{9D8B030D-6E8A-4147-A177-3AD203B41FA5}">
                      <a16:colId xmlns:a16="http://schemas.microsoft.com/office/drawing/2014/main" val="20001"/>
                    </a:ext>
                  </a:extLst>
                </a:gridCol>
                <a:gridCol w="1663044">
                  <a:extLst>
                    <a:ext uri="{9D8B030D-6E8A-4147-A177-3AD203B41FA5}">
                      <a16:colId xmlns:a16="http://schemas.microsoft.com/office/drawing/2014/main" val="20002"/>
                    </a:ext>
                  </a:extLst>
                </a:gridCol>
                <a:gridCol w="1663044">
                  <a:extLst>
                    <a:ext uri="{9D8B030D-6E8A-4147-A177-3AD203B41FA5}">
                      <a16:colId xmlns:a16="http://schemas.microsoft.com/office/drawing/2014/main" val="20003"/>
                    </a:ext>
                  </a:extLst>
                </a:gridCol>
              </a:tblGrid>
              <a:tr h="396240">
                <a:tc>
                  <a:txBody>
                    <a:bodyPr/>
                    <a:lstStyle/>
                    <a:p>
                      <a:endParaRPr lang="en-GB" sz="2000" dirty="0"/>
                    </a:p>
                  </a:txBody>
                  <a:tcPr/>
                </a:tc>
                <a:tc>
                  <a:txBody>
                    <a:bodyPr/>
                    <a:lstStyle/>
                    <a:p>
                      <a:pPr algn="ctr"/>
                      <a:r>
                        <a:rPr lang="en-GB" sz="2000" dirty="0"/>
                        <a:t>Module 1</a:t>
                      </a:r>
                    </a:p>
                  </a:txBody>
                  <a:tcPr/>
                </a:tc>
                <a:tc>
                  <a:txBody>
                    <a:bodyPr/>
                    <a:lstStyle/>
                    <a:p>
                      <a:pPr algn="ctr"/>
                      <a:r>
                        <a:rPr lang="en-GB" sz="2000" dirty="0"/>
                        <a:t>Module 2</a:t>
                      </a:r>
                    </a:p>
                  </a:txBody>
                  <a:tcPr/>
                </a:tc>
                <a:tc>
                  <a:txBody>
                    <a:bodyPr/>
                    <a:lstStyle/>
                    <a:p>
                      <a:pPr algn="ctr"/>
                      <a:r>
                        <a:rPr lang="en-GB" sz="2000" dirty="0"/>
                        <a:t>Module 3</a:t>
                      </a:r>
                    </a:p>
                  </a:txBody>
                  <a:tcPr/>
                </a:tc>
                <a:extLst>
                  <a:ext uri="{0D108BD9-81ED-4DB2-BD59-A6C34878D82A}">
                    <a16:rowId xmlns:a16="http://schemas.microsoft.com/office/drawing/2014/main" val="10000"/>
                  </a:ext>
                </a:extLst>
              </a:tr>
              <a:tr h="396240">
                <a:tc>
                  <a:txBody>
                    <a:bodyPr/>
                    <a:lstStyle/>
                    <a:p>
                      <a:pPr marL="0" indent="0" algn="l">
                        <a:buNone/>
                      </a:pPr>
                      <a:r>
                        <a:rPr lang="en-GB" sz="2000" dirty="0"/>
                        <a:t>Student 1</a:t>
                      </a:r>
                    </a:p>
                  </a:txBody>
                  <a:tcPr/>
                </a:tc>
                <a:tc>
                  <a:txBody>
                    <a:bodyPr/>
                    <a:lstStyle/>
                    <a:p>
                      <a:pPr algn="ctr" fontAlgn="b"/>
                      <a:r>
                        <a:rPr lang="en-GB" sz="2000" b="0" i="0" u="none" strike="noStrike" dirty="0">
                          <a:solidFill>
                            <a:srgbClr val="000000"/>
                          </a:solidFill>
                          <a:effectLst/>
                          <a:latin typeface="Arial"/>
                        </a:rPr>
                        <a:t>52</a:t>
                      </a:r>
                    </a:p>
                  </a:txBody>
                  <a:tcPr marL="9525" marR="9525" marT="9525" marB="0" anchor="ctr"/>
                </a:tc>
                <a:tc>
                  <a:txBody>
                    <a:bodyPr/>
                    <a:lstStyle/>
                    <a:p>
                      <a:pPr algn="ctr" fontAlgn="b"/>
                      <a:r>
                        <a:rPr lang="en-GB" sz="2000" b="0" i="0" u="none" strike="noStrike">
                          <a:solidFill>
                            <a:srgbClr val="000000"/>
                          </a:solidFill>
                          <a:effectLst/>
                          <a:latin typeface="Arial"/>
                        </a:rPr>
                        <a:t>41</a:t>
                      </a:r>
                    </a:p>
                  </a:txBody>
                  <a:tcPr marL="9525" marR="9525" marT="9525" marB="0" anchor="ctr"/>
                </a:tc>
                <a:tc>
                  <a:txBody>
                    <a:bodyPr/>
                    <a:lstStyle/>
                    <a:p>
                      <a:pPr algn="ctr" fontAlgn="b"/>
                      <a:r>
                        <a:rPr lang="en-GB" sz="2000" b="0" i="0" u="none" strike="noStrike">
                          <a:solidFill>
                            <a:srgbClr val="000000"/>
                          </a:solidFill>
                          <a:effectLst/>
                          <a:latin typeface="Arial"/>
                        </a:rPr>
                        <a:t>43</a:t>
                      </a:r>
                    </a:p>
                  </a:txBody>
                  <a:tcPr marL="9525" marR="9525" marT="9525" marB="0" anchor="ctr"/>
                </a:tc>
                <a:extLst>
                  <a:ext uri="{0D108BD9-81ED-4DB2-BD59-A6C34878D82A}">
                    <a16:rowId xmlns:a16="http://schemas.microsoft.com/office/drawing/2014/main" val="10001"/>
                  </a:ext>
                </a:extLst>
              </a:tr>
              <a:tr h="396240">
                <a:tc>
                  <a:txBody>
                    <a:bodyPr/>
                    <a:lstStyle/>
                    <a:p>
                      <a:pPr algn="l"/>
                      <a:r>
                        <a:rPr lang="en-GB" sz="2000" dirty="0"/>
                        <a:t>Student 2</a:t>
                      </a:r>
                    </a:p>
                  </a:txBody>
                  <a:tcPr/>
                </a:tc>
                <a:tc>
                  <a:txBody>
                    <a:bodyPr/>
                    <a:lstStyle/>
                    <a:p>
                      <a:pPr algn="ctr" fontAlgn="b"/>
                      <a:r>
                        <a:rPr lang="en-GB" sz="2000" b="0" i="0" u="none" strike="noStrike">
                          <a:solidFill>
                            <a:srgbClr val="000000"/>
                          </a:solidFill>
                          <a:effectLst/>
                          <a:latin typeface="Arial"/>
                        </a:rPr>
                        <a:t>48</a:t>
                      </a:r>
                    </a:p>
                  </a:txBody>
                  <a:tcPr marL="9525" marR="9525" marT="9525" marB="0" anchor="ctr"/>
                </a:tc>
                <a:tc>
                  <a:txBody>
                    <a:bodyPr/>
                    <a:lstStyle/>
                    <a:p>
                      <a:pPr algn="ctr" fontAlgn="b"/>
                      <a:r>
                        <a:rPr lang="en-GB" sz="2000" b="0" i="0" u="none" strike="noStrike" dirty="0">
                          <a:solidFill>
                            <a:srgbClr val="000000"/>
                          </a:solidFill>
                          <a:effectLst/>
                          <a:latin typeface="Arial"/>
                        </a:rPr>
                        <a:t>50</a:t>
                      </a:r>
                    </a:p>
                  </a:txBody>
                  <a:tcPr marL="9525" marR="9525" marT="9525" marB="0" anchor="ctr"/>
                </a:tc>
                <a:tc>
                  <a:txBody>
                    <a:bodyPr/>
                    <a:lstStyle/>
                    <a:p>
                      <a:pPr algn="ctr" fontAlgn="b"/>
                      <a:r>
                        <a:rPr lang="en-GB" sz="2000" b="0" i="0" u="none" strike="noStrike">
                          <a:solidFill>
                            <a:srgbClr val="000000"/>
                          </a:solidFill>
                          <a:effectLst/>
                          <a:latin typeface="Arial"/>
                        </a:rPr>
                        <a:t>32</a:t>
                      </a:r>
                    </a:p>
                  </a:txBody>
                  <a:tcPr marL="9525" marR="9525" marT="9525" marB="0" anchor="ctr"/>
                </a:tc>
                <a:extLst>
                  <a:ext uri="{0D108BD9-81ED-4DB2-BD59-A6C34878D82A}">
                    <a16:rowId xmlns:a16="http://schemas.microsoft.com/office/drawing/2014/main" val="10002"/>
                  </a:ext>
                </a:extLst>
              </a:tr>
              <a:tr h="396240">
                <a:tc>
                  <a:txBody>
                    <a:bodyPr/>
                    <a:lstStyle/>
                    <a:p>
                      <a:pPr algn="l"/>
                      <a:r>
                        <a:rPr lang="en-GB" sz="2000" dirty="0"/>
                        <a:t>Student 3</a:t>
                      </a:r>
                    </a:p>
                  </a:txBody>
                  <a:tcPr/>
                </a:tc>
                <a:tc>
                  <a:txBody>
                    <a:bodyPr/>
                    <a:lstStyle/>
                    <a:p>
                      <a:pPr algn="ctr" fontAlgn="b"/>
                      <a:r>
                        <a:rPr lang="en-GB" sz="2000" b="0" i="0" u="none" strike="noStrike">
                          <a:solidFill>
                            <a:srgbClr val="000000"/>
                          </a:solidFill>
                          <a:effectLst/>
                          <a:latin typeface="Arial"/>
                        </a:rPr>
                        <a:t>46</a:t>
                      </a:r>
                    </a:p>
                  </a:txBody>
                  <a:tcPr marL="9525" marR="9525" marT="9525" marB="0" anchor="ctr"/>
                </a:tc>
                <a:tc>
                  <a:txBody>
                    <a:bodyPr/>
                    <a:lstStyle/>
                    <a:p>
                      <a:pPr algn="ctr" fontAlgn="b"/>
                      <a:r>
                        <a:rPr lang="en-GB" sz="2000" b="0" i="0" u="none" strike="noStrike" dirty="0">
                          <a:solidFill>
                            <a:srgbClr val="000000"/>
                          </a:solidFill>
                          <a:effectLst/>
                          <a:latin typeface="Arial"/>
                        </a:rPr>
                        <a:t>44</a:t>
                      </a:r>
                    </a:p>
                  </a:txBody>
                  <a:tcPr marL="9525" marR="9525" marT="9525" marB="0" anchor="ctr"/>
                </a:tc>
                <a:tc>
                  <a:txBody>
                    <a:bodyPr/>
                    <a:lstStyle/>
                    <a:p>
                      <a:pPr algn="ctr" fontAlgn="b"/>
                      <a:r>
                        <a:rPr lang="en-GB" sz="2000" b="0" i="0" u="none" strike="noStrike" dirty="0">
                          <a:solidFill>
                            <a:srgbClr val="000000"/>
                          </a:solidFill>
                          <a:effectLst/>
                          <a:latin typeface="Arial"/>
                        </a:rPr>
                        <a:t>40</a:t>
                      </a:r>
                    </a:p>
                  </a:txBody>
                  <a:tcPr marL="9525" marR="9525" marT="9525" marB="0" anchor="ctr"/>
                </a:tc>
                <a:extLst>
                  <a:ext uri="{0D108BD9-81ED-4DB2-BD59-A6C34878D82A}">
                    <a16:rowId xmlns:a16="http://schemas.microsoft.com/office/drawing/2014/main" val="10003"/>
                  </a:ext>
                </a:extLst>
              </a:tr>
              <a:tr h="3962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000" dirty="0"/>
                        <a:t>Student 4</a:t>
                      </a:r>
                    </a:p>
                  </a:txBody>
                  <a:tcPr>
                    <a:lnB w="12700" cmpd="sng">
                      <a:noFill/>
                    </a:lnB>
                  </a:tcPr>
                </a:tc>
                <a:tc>
                  <a:txBody>
                    <a:bodyPr/>
                    <a:lstStyle/>
                    <a:p>
                      <a:pPr algn="ctr" fontAlgn="b"/>
                      <a:r>
                        <a:rPr lang="en-GB" sz="2000" b="0" i="0" u="none" strike="noStrike">
                          <a:solidFill>
                            <a:srgbClr val="000000"/>
                          </a:solidFill>
                          <a:effectLst/>
                          <a:latin typeface="Arial"/>
                        </a:rPr>
                        <a:t>41</a:t>
                      </a:r>
                    </a:p>
                  </a:txBody>
                  <a:tcPr marL="9525" marR="9525" marT="9525" marB="0" anchor="ctr">
                    <a:lnB w="12700" cmpd="sng">
                      <a:noFill/>
                    </a:lnB>
                  </a:tcPr>
                </a:tc>
                <a:tc>
                  <a:txBody>
                    <a:bodyPr/>
                    <a:lstStyle/>
                    <a:p>
                      <a:pPr algn="ctr" fontAlgn="b"/>
                      <a:r>
                        <a:rPr lang="en-GB" sz="2000" b="0" i="0" u="none" strike="noStrike">
                          <a:solidFill>
                            <a:srgbClr val="000000"/>
                          </a:solidFill>
                          <a:effectLst/>
                          <a:latin typeface="Arial"/>
                        </a:rPr>
                        <a:t>37</a:t>
                      </a:r>
                    </a:p>
                  </a:txBody>
                  <a:tcPr marL="9525" marR="9525" marT="9525" marB="0" anchor="ctr">
                    <a:lnB w="12700" cmpd="sng">
                      <a:noFill/>
                    </a:lnB>
                  </a:tcPr>
                </a:tc>
                <a:tc>
                  <a:txBody>
                    <a:bodyPr/>
                    <a:lstStyle/>
                    <a:p>
                      <a:pPr algn="ctr" fontAlgn="b"/>
                      <a:r>
                        <a:rPr lang="en-GB" sz="2000" b="0" i="0" u="none" strike="noStrike" dirty="0">
                          <a:solidFill>
                            <a:srgbClr val="000000"/>
                          </a:solidFill>
                          <a:effectLst/>
                          <a:latin typeface="Arial"/>
                        </a:rPr>
                        <a:t>35</a:t>
                      </a:r>
                    </a:p>
                  </a:txBody>
                  <a:tcPr marL="9525" marR="9525" marT="9525" marB="0" anchor="ctr">
                    <a:lnB w="12700" cmpd="sng">
                      <a:noFill/>
                    </a:lnB>
                  </a:tcPr>
                </a:tc>
                <a:extLst>
                  <a:ext uri="{0D108BD9-81ED-4DB2-BD59-A6C34878D82A}">
                    <a16:rowId xmlns:a16="http://schemas.microsoft.com/office/drawing/2014/main" val="10004"/>
                  </a:ext>
                </a:extLst>
              </a:tr>
              <a:tr h="3962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GB" sz="20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en-GB" sz="20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en-GB" sz="20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en-GB" sz="20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962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000" dirty="0"/>
                        <a:t>Mean</a:t>
                      </a:r>
                    </a:p>
                  </a:txBody>
                  <a:tcPr>
                    <a:lnT w="12700" cmpd="sng">
                      <a:noFill/>
                    </a:lnT>
                  </a:tcPr>
                </a:tc>
                <a:tc>
                  <a:txBody>
                    <a:bodyPr/>
                    <a:lstStyle/>
                    <a:p>
                      <a:pPr marL="0" algn="ctr" defTabSz="914400" rtl="0" eaLnBrk="1" fontAlgn="b" latinLnBrk="0" hangingPunct="1"/>
                      <a:r>
                        <a:rPr lang="en-GB" sz="2000" b="1" i="0" u="none" strike="noStrike" kern="1200" dirty="0">
                          <a:solidFill>
                            <a:srgbClr val="000000"/>
                          </a:solidFill>
                          <a:effectLst/>
                          <a:latin typeface="Arial"/>
                          <a:ea typeface="+mn-ea"/>
                          <a:cs typeface="+mn-cs"/>
                        </a:rPr>
                        <a:t>46.75</a:t>
                      </a:r>
                    </a:p>
                  </a:txBody>
                  <a:tcPr marL="9525" marR="9525" marT="9525" marB="0" anchor="ctr">
                    <a:lnT w="12700" cmpd="sng">
                      <a:noFill/>
                    </a:lnT>
                  </a:tcPr>
                </a:tc>
                <a:tc>
                  <a:txBody>
                    <a:bodyPr/>
                    <a:lstStyle/>
                    <a:p>
                      <a:pPr marL="0" algn="ctr" defTabSz="914400" rtl="0" eaLnBrk="1" fontAlgn="b" latinLnBrk="0" hangingPunct="1"/>
                      <a:r>
                        <a:rPr lang="en-GB" sz="2000" b="1" i="0" u="none" strike="noStrike" kern="1200" dirty="0">
                          <a:solidFill>
                            <a:srgbClr val="000000"/>
                          </a:solidFill>
                          <a:effectLst/>
                          <a:latin typeface="Arial"/>
                          <a:ea typeface="+mn-ea"/>
                          <a:cs typeface="+mn-cs"/>
                        </a:rPr>
                        <a:t>43.00</a:t>
                      </a:r>
                    </a:p>
                  </a:txBody>
                  <a:tcPr marL="9525" marR="9525" marT="9525" marB="0" anchor="ctr">
                    <a:lnT w="12700" cmpd="sng">
                      <a:noFill/>
                    </a:lnT>
                  </a:tcPr>
                </a:tc>
                <a:tc>
                  <a:txBody>
                    <a:bodyPr/>
                    <a:lstStyle/>
                    <a:p>
                      <a:pPr marL="0" algn="ctr" defTabSz="914400" rtl="0" eaLnBrk="1" fontAlgn="b" latinLnBrk="0" hangingPunct="1"/>
                      <a:r>
                        <a:rPr lang="en-GB" sz="2000" b="1" i="0" u="none" strike="noStrike" kern="1200" dirty="0">
                          <a:solidFill>
                            <a:srgbClr val="000000"/>
                          </a:solidFill>
                          <a:effectLst/>
                          <a:latin typeface="Arial"/>
                          <a:ea typeface="+mn-ea"/>
                          <a:cs typeface="+mn-cs"/>
                        </a:rPr>
                        <a:t>37.50</a:t>
                      </a:r>
                    </a:p>
                  </a:txBody>
                  <a:tcPr marL="9525" marR="9525" marT="9525" marB="0" anchor="ctr">
                    <a:lnT w="12700" cmpd="sng">
                      <a:noFill/>
                    </a:lnT>
                  </a:tcPr>
                </a:tc>
                <a:extLst>
                  <a:ext uri="{0D108BD9-81ED-4DB2-BD59-A6C34878D82A}">
                    <a16:rowId xmlns:a16="http://schemas.microsoft.com/office/drawing/2014/main" val="10006"/>
                  </a:ext>
                </a:extLst>
              </a:tr>
              <a:tr h="3962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000" dirty="0"/>
                        <a:t>Standard</a:t>
                      </a:r>
                      <a:r>
                        <a:rPr lang="en-GB" sz="2000" baseline="0" dirty="0"/>
                        <a:t> Deviation</a:t>
                      </a:r>
                      <a:endParaRPr lang="en-GB" sz="2000" dirty="0"/>
                    </a:p>
                  </a:txBody>
                  <a:tcPr/>
                </a:tc>
                <a:tc>
                  <a:txBody>
                    <a:bodyPr/>
                    <a:lstStyle/>
                    <a:p>
                      <a:pPr marL="0" algn="ctr" defTabSz="914400" rtl="0" eaLnBrk="1" fontAlgn="b" latinLnBrk="0" hangingPunct="1"/>
                      <a:r>
                        <a:rPr lang="en-GB" sz="2000" b="0" i="0" u="none" strike="noStrike" kern="1200" dirty="0">
                          <a:solidFill>
                            <a:srgbClr val="000000"/>
                          </a:solidFill>
                          <a:effectLst/>
                          <a:latin typeface="Arial"/>
                          <a:ea typeface="+mn-ea"/>
                          <a:cs typeface="+mn-cs"/>
                        </a:rPr>
                        <a:t>4.573</a:t>
                      </a:r>
                    </a:p>
                  </a:txBody>
                  <a:tcPr marL="9525" marR="9525" marT="9525" marB="0" anchor="ctr"/>
                </a:tc>
                <a:tc>
                  <a:txBody>
                    <a:bodyPr/>
                    <a:lstStyle/>
                    <a:p>
                      <a:pPr marL="0" algn="ctr" defTabSz="914400" rtl="0" eaLnBrk="1" fontAlgn="b" latinLnBrk="0" hangingPunct="1"/>
                      <a:r>
                        <a:rPr lang="en-GB" sz="2000" b="0" i="0" u="none" strike="noStrike" kern="1200" dirty="0">
                          <a:solidFill>
                            <a:srgbClr val="000000"/>
                          </a:solidFill>
                          <a:effectLst/>
                          <a:latin typeface="Arial"/>
                          <a:ea typeface="+mn-ea"/>
                          <a:cs typeface="+mn-cs"/>
                        </a:rPr>
                        <a:t>5.477</a:t>
                      </a:r>
                    </a:p>
                  </a:txBody>
                  <a:tcPr marL="9525" marR="9525" marT="9525" marB="0" anchor="ctr"/>
                </a:tc>
                <a:tc>
                  <a:txBody>
                    <a:bodyPr/>
                    <a:lstStyle/>
                    <a:p>
                      <a:pPr marL="0" algn="ctr" defTabSz="914400" rtl="0" eaLnBrk="1" fontAlgn="b" latinLnBrk="0" hangingPunct="1"/>
                      <a:r>
                        <a:rPr lang="en-GB" sz="2000" b="0" i="0" u="none" strike="noStrike" kern="1200" dirty="0">
                          <a:solidFill>
                            <a:srgbClr val="000000"/>
                          </a:solidFill>
                          <a:effectLst/>
                          <a:latin typeface="Arial"/>
                          <a:ea typeface="+mn-ea"/>
                          <a:cs typeface="+mn-cs"/>
                        </a:rPr>
                        <a:t>4.932</a:t>
                      </a:r>
                    </a:p>
                  </a:txBody>
                  <a:tcPr marL="9525" marR="9525" marT="9525" marB="0" anchor="ct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4041806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p:cNvGrpSpPr/>
          <p:nvPr/>
        </p:nvGrpSpPr>
        <p:grpSpPr>
          <a:xfrm>
            <a:off x="8965" y="2438400"/>
            <a:ext cx="9135035" cy="2971800"/>
            <a:chOff x="-76199" y="1767583"/>
            <a:chExt cx="11429999" cy="3509210"/>
          </a:xfrm>
        </p:grpSpPr>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199" y="1767583"/>
              <a:ext cx="11429999" cy="35092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20" name="Rectangle 19"/>
                <p:cNvSpPr/>
                <p:nvPr/>
              </p:nvSpPr>
              <p:spPr>
                <a:xfrm>
                  <a:off x="21267" y="3675251"/>
                  <a:ext cx="609600" cy="307777"/>
                </a:xfrm>
                <a:prstGeom prst="rect">
                  <a:avLst/>
                </a:prstGeom>
                <a:ln>
                  <a:noFill/>
                </a:ln>
              </p:spPr>
              <p:style>
                <a:lnRef idx="2">
                  <a:schemeClr val="dk1"/>
                </a:lnRef>
                <a:fillRef idx="1">
                  <a:schemeClr val="lt1"/>
                </a:fillRef>
                <a:effectRef idx="0">
                  <a:schemeClr val="dk1"/>
                </a:effectRef>
                <a:fontRef idx="minor">
                  <a:schemeClr val="dk1"/>
                </a:fontRef>
              </p:style>
              <p:txBody>
                <a:bodyPr wrap="square">
                  <a:spAutoFit/>
                </a:bodyPr>
                <a:lstStyle/>
                <a:p>
                  <a:pPr algn="ctr">
                    <a:defRPr/>
                  </a:pPr>
                  <a14:m>
                    <m:oMathPara xmlns:m="http://schemas.openxmlformats.org/officeDocument/2006/math">
                      <m:oMathParaPr>
                        <m:jc m:val="centerGroup"/>
                      </m:oMathParaPr>
                      <m:oMath xmlns:m="http://schemas.openxmlformats.org/officeDocument/2006/math">
                        <m:sSub>
                          <m:sSubPr>
                            <m:ctrlPr>
                              <a:rPr lang="en-GB" altLang="en-US" sz="1400" i="1" smtClean="0">
                                <a:latin typeface="Cambria Math" panose="02040503050406030204" pitchFamily="18" charset="0"/>
                              </a:rPr>
                            </m:ctrlPr>
                          </m:sSubPr>
                          <m:e>
                            <m:r>
                              <a:rPr lang="en-GB" altLang="en-US" sz="1400">
                                <a:latin typeface="Cambria Math"/>
                              </a:rPr>
                              <m:t>𝝁</m:t>
                            </m:r>
                          </m:e>
                          <m:sub>
                            <m:r>
                              <a:rPr lang="en-GB" altLang="en-US" sz="1400">
                                <a:latin typeface="Cambria Math"/>
                              </a:rPr>
                              <m:t>𝟏</m:t>
                            </m:r>
                          </m:sub>
                        </m:sSub>
                        <m:sSub>
                          <m:sSubPr>
                            <m:ctrlPr>
                              <a:rPr lang="en-GB" altLang="en-US" sz="1400" i="1">
                                <a:latin typeface="Cambria Math" panose="02040503050406030204" pitchFamily="18" charset="0"/>
                              </a:rPr>
                            </m:ctrlPr>
                          </m:sSubPr>
                          <m:e>
                            <m:r>
                              <a:rPr lang="en-GB" altLang="en-US" sz="1400" b="0" i="0" smtClean="0">
                                <a:latin typeface="Cambria Math"/>
                              </a:rPr>
                              <m:t>:</m:t>
                            </m:r>
                            <m:r>
                              <a:rPr lang="en-GB" altLang="en-US" sz="1400">
                                <a:latin typeface="Cambria Math"/>
                              </a:rPr>
                              <m:t>𝝁</m:t>
                            </m:r>
                          </m:e>
                          <m:sub>
                            <m:r>
                              <a:rPr lang="en-GB" altLang="en-US" sz="1400" b="0" i="0" smtClean="0">
                                <a:latin typeface="Cambria Math"/>
                              </a:rPr>
                              <m:t>3</m:t>
                            </m:r>
                          </m:sub>
                        </m:sSub>
                      </m:oMath>
                    </m:oMathPara>
                  </a14:m>
                  <a:endParaRPr lang="en-GB" sz="1400" b="1" dirty="0"/>
                </a:p>
              </p:txBody>
            </p:sp>
          </mc:Choice>
          <mc:Fallback xmlns="">
            <p:sp>
              <p:nvSpPr>
                <p:cNvPr id="20" name="Rectangle 19"/>
                <p:cNvSpPr>
                  <a:spLocks noRot="1" noChangeAspect="1" noMove="1" noResize="1" noEditPoints="1" noAdjustHandles="1" noChangeArrowheads="1" noChangeShapeType="1" noTextEdit="1"/>
                </p:cNvSpPr>
                <p:nvPr/>
              </p:nvSpPr>
              <p:spPr>
                <a:xfrm>
                  <a:off x="21267" y="3675251"/>
                  <a:ext cx="609600" cy="307777"/>
                </a:xfrm>
                <a:prstGeom prst="rect">
                  <a:avLst/>
                </a:prstGeom>
                <a:blipFill rotWithShape="1">
                  <a:blip r:embed="rId4"/>
                  <a:stretch>
                    <a:fillRect l="-2000"/>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Rectangle 20"/>
                <p:cNvSpPr/>
                <p:nvPr/>
              </p:nvSpPr>
              <p:spPr>
                <a:xfrm>
                  <a:off x="21267" y="4452138"/>
                  <a:ext cx="609600" cy="307777"/>
                </a:xfrm>
                <a:prstGeom prst="rect">
                  <a:avLst/>
                </a:prstGeom>
                <a:ln>
                  <a:noFill/>
                </a:ln>
              </p:spPr>
              <p:style>
                <a:lnRef idx="2">
                  <a:schemeClr val="dk1"/>
                </a:lnRef>
                <a:fillRef idx="1">
                  <a:schemeClr val="lt1"/>
                </a:fillRef>
                <a:effectRef idx="0">
                  <a:schemeClr val="dk1"/>
                </a:effectRef>
                <a:fontRef idx="minor">
                  <a:schemeClr val="dk1"/>
                </a:fontRef>
              </p:style>
              <p:txBody>
                <a:bodyPr wrap="square">
                  <a:spAutoFit/>
                </a:bodyPr>
                <a:lstStyle/>
                <a:p>
                  <a:pPr algn="ctr">
                    <a:defRPr/>
                  </a:pPr>
                  <a14:m>
                    <m:oMathPara xmlns:m="http://schemas.openxmlformats.org/officeDocument/2006/math">
                      <m:oMathParaPr>
                        <m:jc m:val="centerGroup"/>
                      </m:oMathParaPr>
                      <m:oMath xmlns:m="http://schemas.openxmlformats.org/officeDocument/2006/math">
                        <m:sSub>
                          <m:sSubPr>
                            <m:ctrlPr>
                              <a:rPr lang="en-GB" altLang="en-US" sz="1400" i="1" smtClean="0">
                                <a:latin typeface="Cambria Math" panose="02040503050406030204" pitchFamily="18" charset="0"/>
                              </a:rPr>
                            </m:ctrlPr>
                          </m:sSubPr>
                          <m:e>
                            <m:r>
                              <a:rPr lang="en-GB" altLang="en-US" sz="1400">
                                <a:latin typeface="Cambria Math"/>
                              </a:rPr>
                              <m:t>𝝁</m:t>
                            </m:r>
                          </m:e>
                          <m:sub>
                            <m:r>
                              <a:rPr lang="en-GB" altLang="en-US" sz="1400" b="1" i="1" smtClean="0">
                                <a:latin typeface="Cambria Math"/>
                              </a:rPr>
                              <m:t>𝟐</m:t>
                            </m:r>
                          </m:sub>
                        </m:sSub>
                        <m:sSub>
                          <m:sSubPr>
                            <m:ctrlPr>
                              <a:rPr lang="en-GB" altLang="en-US" sz="1400" i="1">
                                <a:latin typeface="Cambria Math" panose="02040503050406030204" pitchFamily="18" charset="0"/>
                              </a:rPr>
                            </m:ctrlPr>
                          </m:sSubPr>
                          <m:e>
                            <m:r>
                              <a:rPr lang="en-GB" altLang="en-US" sz="1400" b="0" i="0" smtClean="0">
                                <a:latin typeface="Cambria Math"/>
                              </a:rPr>
                              <m:t>:</m:t>
                            </m:r>
                            <m:r>
                              <a:rPr lang="en-GB" altLang="en-US" sz="1400">
                                <a:latin typeface="Cambria Math"/>
                              </a:rPr>
                              <m:t>𝝁</m:t>
                            </m:r>
                          </m:e>
                          <m:sub>
                            <m:r>
                              <a:rPr lang="en-GB" altLang="en-US" sz="1400" b="1" i="0" smtClean="0">
                                <a:latin typeface="Cambria Math"/>
                              </a:rPr>
                              <m:t>𝟑</m:t>
                            </m:r>
                          </m:sub>
                        </m:sSub>
                      </m:oMath>
                    </m:oMathPara>
                  </a14:m>
                  <a:endParaRPr lang="en-GB" sz="1400" b="1" dirty="0"/>
                </a:p>
              </p:txBody>
            </p:sp>
          </mc:Choice>
          <mc:Fallback xmlns="">
            <p:sp>
              <p:nvSpPr>
                <p:cNvPr id="21" name="Rectangle 20"/>
                <p:cNvSpPr>
                  <a:spLocks noRot="1" noChangeAspect="1" noMove="1" noResize="1" noEditPoints="1" noAdjustHandles="1" noChangeArrowheads="1" noChangeShapeType="1" noTextEdit="1"/>
                </p:cNvSpPr>
                <p:nvPr/>
              </p:nvSpPr>
              <p:spPr>
                <a:xfrm>
                  <a:off x="21267" y="4452138"/>
                  <a:ext cx="609600" cy="307777"/>
                </a:xfrm>
                <a:prstGeom prst="rect">
                  <a:avLst/>
                </a:prstGeom>
                <a:blipFill rotWithShape="1">
                  <a:blip r:embed="rId5"/>
                  <a:stretch>
                    <a:fillRect l="-2000" b="-2000"/>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21267" y="2895600"/>
                  <a:ext cx="609600" cy="307777"/>
                </a:xfrm>
                <a:prstGeom prst="rect">
                  <a:avLst/>
                </a:prstGeom>
                <a:ln>
                  <a:noFill/>
                </a:ln>
              </p:spPr>
              <p:style>
                <a:lnRef idx="2">
                  <a:schemeClr val="dk1"/>
                </a:lnRef>
                <a:fillRef idx="1">
                  <a:schemeClr val="lt1"/>
                </a:fillRef>
                <a:effectRef idx="0">
                  <a:schemeClr val="dk1"/>
                </a:effectRef>
                <a:fontRef idx="minor">
                  <a:schemeClr val="dk1"/>
                </a:fontRef>
              </p:style>
              <p:txBody>
                <a:bodyPr wrap="square">
                  <a:spAutoFit/>
                </a:bodyPr>
                <a:lstStyle/>
                <a:p>
                  <a:pPr algn="ctr">
                    <a:defRPr/>
                  </a:pPr>
                  <a14:m>
                    <m:oMathPara xmlns:m="http://schemas.openxmlformats.org/officeDocument/2006/math">
                      <m:oMathParaPr>
                        <m:jc m:val="centerGroup"/>
                      </m:oMathParaPr>
                      <m:oMath xmlns:m="http://schemas.openxmlformats.org/officeDocument/2006/math">
                        <m:sSub>
                          <m:sSubPr>
                            <m:ctrlPr>
                              <a:rPr lang="en-GB" altLang="en-US" sz="1400" i="1" smtClean="0">
                                <a:latin typeface="Cambria Math" panose="02040503050406030204" pitchFamily="18" charset="0"/>
                              </a:rPr>
                            </m:ctrlPr>
                          </m:sSubPr>
                          <m:e>
                            <m:r>
                              <a:rPr lang="en-GB" altLang="en-US" sz="1400">
                                <a:latin typeface="Cambria Math"/>
                              </a:rPr>
                              <m:t>𝝁</m:t>
                            </m:r>
                          </m:e>
                          <m:sub>
                            <m:r>
                              <a:rPr lang="en-GB" altLang="en-US" sz="1400">
                                <a:latin typeface="Cambria Math"/>
                              </a:rPr>
                              <m:t>𝟏</m:t>
                            </m:r>
                          </m:sub>
                        </m:sSub>
                        <m:sSub>
                          <m:sSubPr>
                            <m:ctrlPr>
                              <a:rPr lang="en-GB" altLang="en-US" sz="1400" i="1">
                                <a:latin typeface="Cambria Math" panose="02040503050406030204" pitchFamily="18" charset="0"/>
                              </a:rPr>
                            </m:ctrlPr>
                          </m:sSubPr>
                          <m:e>
                            <m:r>
                              <a:rPr lang="en-GB" altLang="en-US" sz="1400" b="0" i="0" smtClean="0">
                                <a:latin typeface="Cambria Math"/>
                              </a:rPr>
                              <m:t>:</m:t>
                            </m:r>
                            <m:r>
                              <a:rPr lang="en-GB" altLang="en-US" sz="1400">
                                <a:latin typeface="Cambria Math"/>
                              </a:rPr>
                              <m:t>𝝁</m:t>
                            </m:r>
                          </m:e>
                          <m:sub>
                            <m:r>
                              <a:rPr lang="en-GB" altLang="en-US" sz="1400" b="0" i="0" smtClean="0">
                                <a:latin typeface="Cambria Math"/>
                              </a:rPr>
                              <m:t>2</m:t>
                            </m:r>
                          </m:sub>
                        </m:sSub>
                      </m:oMath>
                    </m:oMathPara>
                  </a14:m>
                  <a:endParaRPr lang="en-GB" sz="1400" b="1" dirty="0"/>
                </a:p>
              </p:txBody>
            </p:sp>
          </mc:Choice>
          <mc:Fallback xmlns="">
            <p:sp>
              <p:nvSpPr>
                <p:cNvPr id="23" name="Rectangle 22"/>
                <p:cNvSpPr>
                  <a:spLocks noRot="1" noChangeAspect="1" noMove="1" noResize="1" noEditPoints="1" noAdjustHandles="1" noChangeArrowheads="1" noChangeShapeType="1" noTextEdit="1"/>
                </p:cNvSpPr>
                <p:nvPr/>
              </p:nvSpPr>
              <p:spPr>
                <a:xfrm>
                  <a:off x="21267" y="2895600"/>
                  <a:ext cx="609600" cy="307777"/>
                </a:xfrm>
                <a:prstGeom prst="rect">
                  <a:avLst/>
                </a:prstGeom>
                <a:blipFill rotWithShape="1">
                  <a:blip r:embed="rId6"/>
                  <a:stretch>
                    <a:fillRect l="-2000" b="-2000"/>
                  </a:stretch>
                </a:blipFill>
                <a:ln>
                  <a:noFill/>
                </a:ln>
              </p:spPr>
              <p:txBody>
                <a:bodyPr/>
                <a:lstStyle/>
                <a:p>
                  <a:r>
                    <a:rPr lang="en-GB">
                      <a:noFill/>
                    </a:rPr>
                    <a:t> </a:t>
                  </a:r>
                </a:p>
              </p:txBody>
            </p:sp>
          </mc:Fallback>
        </mc:AlternateContent>
      </p:grpSp>
      <p:sp>
        <p:nvSpPr>
          <p:cNvPr id="3" name="Title 2"/>
          <p:cNvSpPr>
            <a:spLocks noGrp="1"/>
          </p:cNvSpPr>
          <p:nvPr>
            <p:ph type="title"/>
          </p:nvPr>
        </p:nvSpPr>
        <p:spPr/>
        <p:txBody>
          <a:bodyPr/>
          <a:lstStyle/>
          <a:p>
            <a:r>
              <a:rPr lang="en-GB" altLang="en-US" dirty="0"/>
              <a:t>Comparing more than two means</a:t>
            </a:r>
            <a:endParaRPr lang="en-GB" dirty="0"/>
          </a:p>
        </p:txBody>
      </p:sp>
      <p:sp>
        <p:nvSpPr>
          <p:cNvPr id="6" name="Text Box 8"/>
          <p:cNvSpPr txBox="1">
            <a:spLocks noChangeArrowheads="1"/>
          </p:cNvSpPr>
          <p:nvPr/>
        </p:nvSpPr>
        <p:spPr bwMode="auto">
          <a:xfrm>
            <a:off x="228600" y="1414426"/>
            <a:ext cx="63032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2000" b="1" dirty="0"/>
              <a:t>Why not pair-wise t-Tests?</a:t>
            </a:r>
          </a:p>
        </p:txBody>
      </p:sp>
      <p:grpSp>
        <p:nvGrpSpPr>
          <p:cNvPr id="28" name="Group 27"/>
          <p:cNvGrpSpPr/>
          <p:nvPr/>
        </p:nvGrpSpPr>
        <p:grpSpPr>
          <a:xfrm>
            <a:off x="3678485" y="1389139"/>
            <a:ext cx="1579316" cy="4009059"/>
            <a:chOff x="4686736" y="1062128"/>
            <a:chExt cx="1866464" cy="4199682"/>
          </a:xfrm>
        </p:grpSpPr>
        <p:sp>
          <p:nvSpPr>
            <p:cNvPr id="2" name="Rectangle 1"/>
            <p:cNvSpPr/>
            <p:nvPr/>
          </p:nvSpPr>
          <p:spPr>
            <a:xfrm>
              <a:off x="4876800" y="1062128"/>
              <a:ext cx="1676400" cy="646331"/>
            </a:xfrm>
            <a:prstGeom prst="rect">
              <a:avLst/>
            </a:prstGeom>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en-GB" dirty="0" err="1"/>
                <a:t>t</a:t>
              </a:r>
              <a:r>
                <a:rPr lang="en-GB" baseline="-25000" dirty="0" err="1"/>
                <a:t>critical</a:t>
              </a:r>
              <a:r>
                <a:rPr lang="en-GB" dirty="0"/>
                <a:t> = 2.447</a:t>
              </a:r>
            </a:p>
            <a:p>
              <a:r>
                <a:rPr lang="en-GB" dirty="0" err="1"/>
                <a:t>d.f.</a:t>
              </a:r>
              <a:r>
                <a:rPr lang="en-GB" dirty="0"/>
                <a:t> = 6</a:t>
              </a:r>
            </a:p>
          </p:txBody>
        </p:sp>
        <p:sp>
          <p:nvSpPr>
            <p:cNvPr id="4" name="Rounded Rectangle 3"/>
            <p:cNvSpPr/>
            <p:nvPr/>
          </p:nvSpPr>
          <p:spPr>
            <a:xfrm>
              <a:off x="4686736" y="2859351"/>
              <a:ext cx="625998" cy="2402459"/>
            </a:xfrm>
            <a:prstGeom prst="roundRect">
              <a:avLst/>
            </a:prstGeom>
            <a:noFill/>
            <a:ln w="762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4" name="Straight Arrow Connector 13"/>
            <p:cNvCxnSpPr>
              <a:cxnSpLocks/>
              <a:stCxn id="2" idx="2"/>
              <a:endCxn id="4" idx="0"/>
            </p:cNvCxnSpPr>
            <p:nvPr/>
          </p:nvCxnSpPr>
          <p:spPr>
            <a:xfrm flipH="1">
              <a:off x="4999736" y="1708459"/>
              <a:ext cx="715265" cy="1150892"/>
            </a:xfrm>
            <a:prstGeom prst="straightConnector1">
              <a:avLst/>
            </a:prstGeom>
            <a:ln w="38100">
              <a:solidFill>
                <a:schemeClr val="accent1">
                  <a:lumMod val="60000"/>
                  <a:lumOff val="40000"/>
                </a:schemeClr>
              </a:solidFill>
              <a:headEnd type="arrow"/>
              <a:tailEnd type="arrow"/>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p:nvGrpSpPr>
        <p:grpSpPr>
          <a:xfrm>
            <a:off x="6042502" y="3429000"/>
            <a:ext cx="421657" cy="1640277"/>
            <a:chOff x="6423837" y="2895600"/>
            <a:chExt cx="662763" cy="1936899"/>
          </a:xfrm>
        </p:grpSpPr>
        <p:sp>
          <p:nvSpPr>
            <p:cNvPr id="25" name="Rounded Rectangle 24"/>
            <p:cNvSpPr/>
            <p:nvPr/>
          </p:nvSpPr>
          <p:spPr>
            <a:xfrm>
              <a:off x="6423837" y="3679364"/>
              <a:ext cx="662763" cy="359236"/>
            </a:xfrm>
            <a:prstGeom prst="round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ounded Rectangle 25"/>
            <p:cNvSpPr/>
            <p:nvPr/>
          </p:nvSpPr>
          <p:spPr>
            <a:xfrm>
              <a:off x="6423837" y="2895600"/>
              <a:ext cx="662763" cy="359236"/>
            </a:xfrm>
            <a:prstGeom prst="roundRect">
              <a:avLst/>
            </a:prstGeom>
            <a:noFill/>
            <a:ln w="762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ounded Rectangle 26"/>
            <p:cNvSpPr/>
            <p:nvPr/>
          </p:nvSpPr>
          <p:spPr>
            <a:xfrm>
              <a:off x="6423837" y="4473263"/>
              <a:ext cx="662763" cy="359236"/>
            </a:xfrm>
            <a:prstGeom prst="roundRect">
              <a:avLst/>
            </a:prstGeom>
            <a:noFill/>
            <a:ln w="762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2503536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altLang="en-US" dirty="0"/>
              <a:t>Comparing more than two means</a:t>
            </a:r>
            <a:endParaRPr lang="en-GB" dirty="0"/>
          </a:p>
        </p:txBody>
      </p:sp>
      <p:sp>
        <p:nvSpPr>
          <p:cNvPr id="6" name="Text Box 8"/>
          <p:cNvSpPr txBox="1">
            <a:spLocks noChangeArrowheads="1"/>
          </p:cNvSpPr>
          <p:nvPr/>
        </p:nvSpPr>
        <p:spPr bwMode="auto">
          <a:xfrm>
            <a:off x="304800" y="804826"/>
            <a:ext cx="788682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2000" b="1" dirty="0"/>
              <a:t>Reason for choosing better analysis than pairwise t-Tests</a:t>
            </a:r>
          </a:p>
        </p:txBody>
      </p:sp>
      <p:sp>
        <p:nvSpPr>
          <p:cNvPr id="4" name="Rectangle 3"/>
          <p:cNvSpPr/>
          <p:nvPr/>
        </p:nvSpPr>
        <p:spPr>
          <a:xfrm>
            <a:off x="304800" y="1501914"/>
            <a:ext cx="7467600" cy="707886"/>
          </a:xfrm>
          <a:prstGeom prst="rect">
            <a:avLst/>
          </a:prstGeom>
        </p:spPr>
        <p:txBody>
          <a:bodyPr wrap="square">
            <a:spAutoFit/>
          </a:bodyPr>
          <a:lstStyle/>
          <a:p>
            <a:pPr>
              <a:buClr>
                <a:srgbClr val="333399"/>
              </a:buClr>
            </a:pPr>
            <a:r>
              <a:rPr lang="en-GB" altLang="en-US" sz="2000" dirty="0"/>
              <a:t>The level of </a:t>
            </a:r>
            <a:r>
              <a:rPr lang="en-GB" altLang="en-US" sz="2000" b="1" dirty="0"/>
              <a:t>significance is 5% in each t-test. </a:t>
            </a:r>
            <a:r>
              <a:rPr lang="en-GB" altLang="en-US" sz="2000" dirty="0"/>
              <a:t>This means we have a 5% chance of a Type I error (reject the null hypothesis when it’s true)</a:t>
            </a:r>
          </a:p>
        </p:txBody>
      </p:sp>
      <p:sp>
        <p:nvSpPr>
          <p:cNvPr id="9" name="Text Box 5"/>
          <p:cNvSpPr txBox="1">
            <a:spLocks noChangeArrowheads="1"/>
          </p:cNvSpPr>
          <p:nvPr/>
        </p:nvSpPr>
        <p:spPr bwMode="auto">
          <a:xfrm>
            <a:off x="4419600" y="4253137"/>
            <a:ext cx="3725574" cy="830997"/>
          </a:xfrm>
          <a:prstGeom prst="wedgeRectCallout">
            <a:avLst>
              <a:gd name="adj1" fmla="val -57487"/>
              <a:gd name="adj2" fmla="val -80556"/>
            </a:avLst>
          </a:prstGeom>
          <a:ln/>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GB" altLang="en-US" sz="2400" dirty="0">
                <a:solidFill>
                  <a:srgbClr val="333399"/>
                </a:solidFill>
              </a:rPr>
              <a:t>So the more tests, the more chance of a Type-I error</a:t>
            </a:r>
          </a:p>
        </p:txBody>
      </p:sp>
      <p:sp>
        <p:nvSpPr>
          <p:cNvPr id="5" name="Rectangle 4"/>
          <p:cNvSpPr/>
          <p:nvPr/>
        </p:nvSpPr>
        <p:spPr>
          <a:xfrm>
            <a:off x="304800" y="3175337"/>
            <a:ext cx="7374948" cy="1015663"/>
          </a:xfrm>
          <a:prstGeom prst="rect">
            <a:avLst/>
          </a:prstGeom>
        </p:spPr>
        <p:txBody>
          <a:bodyPr wrap="square">
            <a:spAutoFit/>
          </a:bodyPr>
          <a:lstStyle/>
          <a:p>
            <a:pPr>
              <a:buClr>
                <a:srgbClr val="333399"/>
              </a:buClr>
            </a:pPr>
            <a:r>
              <a:rPr lang="en-GB" altLang="en-US" sz="2000" dirty="0"/>
              <a:t>For example, if we have three groups, we do three pairwise t tests, so </a:t>
            </a:r>
          </a:p>
          <a:p>
            <a:r>
              <a:rPr lang="en-GB" altLang="en-US" sz="2000" dirty="0">
                <a:effectLst>
                  <a:outerShdw blurRad="38100" dist="38100" dir="2700000" algn="tl">
                    <a:srgbClr val="FFFFFF"/>
                  </a:outerShdw>
                </a:effectLst>
              </a:rPr>
              <a:t>	</a:t>
            </a:r>
            <a:r>
              <a:rPr lang="en-GB" altLang="en-US" sz="2000" b="1" dirty="0">
                <a:effectLst>
                  <a:outerShdw blurRad="38100" dist="38100" dir="2700000" algn="tl">
                    <a:srgbClr val="FFFFFF"/>
                  </a:outerShdw>
                </a:effectLst>
              </a:rPr>
              <a:t>p(no Type I error) = 0.95 x 0.95 x 0.95 </a:t>
            </a:r>
          </a:p>
          <a:p>
            <a:r>
              <a:rPr lang="en-GB" altLang="en-US" sz="2000" dirty="0">
                <a:effectLst>
                  <a:outerShdw blurRad="38100" dist="38100" dir="2700000" algn="tl">
                    <a:srgbClr val="FFFFFF"/>
                  </a:outerShdw>
                </a:effectLst>
              </a:rPr>
              <a:t>			  </a:t>
            </a:r>
            <a:r>
              <a:rPr lang="en-GB" altLang="en-US" sz="2000" b="1" dirty="0">
                <a:effectLst>
                  <a:outerShdw blurRad="38100" dist="38100" dir="2700000" algn="tl">
                    <a:srgbClr val="FFFFFF"/>
                  </a:outerShdw>
                </a:effectLst>
              </a:rPr>
              <a:t>= 0.857</a:t>
            </a:r>
            <a:endParaRPr lang="en-GB" altLang="en-US" sz="2000" b="1" dirty="0"/>
          </a:p>
        </p:txBody>
      </p:sp>
      <p:sp>
        <p:nvSpPr>
          <p:cNvPr id="10" name="Rectangle 9"/>
          <p:cNvSpPr/>
          <p:nvPr/>
        </p:nvSpPr>
        <p:spPr>
          <a:xfrm>
            <a:off x="304800" y="2514600"/>
            <a:ext cx="7467600" cy="400110"/>
          </a:xfrm>
          <a:prstGeom prst="rect">
            <a:avLst/>
          </a:prstGeom>
        </p:spPr>
        <p:txBody>
          <a:bodyPr wrap="square">
            <a:spAutoFit/>
          </a:bodyPr>
          <a:lstStyle/>
          <a:p>
            <a:pPr>
              <a:buClr>
                <a:srgbClr val="333399"/>
              </a:buClr>
            </a:pPr>
            <a:r>
              <a:rPr lang="en-GB" altLang="en-US" sz="2000" dirty="0"/>
              <a:t>In other words, </a:t>
            </a:r>
            <a:r>
              <a:rPr lang="en-GB" altLang="en-US" sz="2000" b="1" dirty="0"/>
              <a:t>95% chance of not having  a Type I error</a:t>
            </a:r>
            <a:endParaRPr lang="en-GB" altLang="en-US" sz="2000" dirty="0"/>
          </a:p>
        </p:txBody>
      </p:sp>
    </p:spTree>
    <p:extLst>
      <p:ext uri="{BB962C8B-B14F-4D97-AF65-F5344CB8AC3E}">
        <p14:creationId xmlns:p14="http://schemas.microsoft.com/office/powerpoint/2010/main" val="1834983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5" grpId="0"/>
      <p:bldP spid="1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altLang="en-US" dirty="0"/>
              <a:t>One-way ANOVA</a:t>
            </a:r>
            <a:endParaRPr lang="en-GB" dirty="0"/>
          </a:p>
        </p:txBody>
      </p:sp>
      <mc:AlternateContent xmlns:mc="http://schemas.openxmlformats.org/markup-compatibility/2006" xmlns:a14="http://schemas.microsoft.com/office/drawing/2010/main">
        <mc:Choice Requires="a14">
          <p:sp>
            <p:nvSpPr>
              <p:cNvPr id="4" name="Rectangle 3"/>
              <p:cNvSpPr/>
              <p:nvPr/>
            </p:nvSpPr>
            <p:spPr>
              <a:xfrm>
                <a:off x="304800" y="1371600"/>
                <a:ext cx="7467600" cy="1631216"/>
              </a:xfrm>
              <a:prstGeom prst="rect">
                <a:avLst/>
              </a:prstGeom>
            </p:spPr>
            <p:txBody>
              <a:bodyPr wrap="square">
                <a:spAutoFit/>
              </a:bodyPr>
              <a:lstStyle/>
              <a:p>
                <a:pPr>
                  <a:buClr>
                    <a:srgbClr val="333399"/>
                  </a:buClr>
                </a:pPr>
                <a:r>
                  <a:rPr lang="en-GB" altLang="en-US" sz="2000" b="1" dirty="0"/>
                  <a:t>Step 1.</a:t>
                </a:r>
              </a:p>
              <a:p>
                <a:pPr>
                  <a:buClr>
                    <a:srgbClr val="333399"/>
                  </a:buClr>
                </a:pPr>
                <a:endParaRPr lang="en-GB" altLang="en-US" sz="2000" b="1" dirty="0"/>
              </a:p>
              <a:p>
                <a:pPr>
                  <a:buClr>
                    <a:srgbClr val="333399"/>
                  </a:buClr>
                </a:pPr>
                <a:r>
                  <a:rPr lang="en-GB" altLang="en-US" sz="2000" b="1" dirty="0"/>
                  <a:t>Null Hypothesis</a:t>
                </a:r>
              </a:p>
              <a:p>
                <a:pPr>
                  <a:buClr>
                    <a:srgbClr val="333399"/>
                  </a:buClr>
                </a:pPr>
                <a:r>
                  <a:rPr lang="en-GB" altLang="en-US" sz="2000" dirty="0"/>
                  <a:t>		</a:t>
                </a:r>
                <a14:m>
                  <m:oMath xmlns:m="http://schemas.openxmlformats.org/officeDocument/2006/math">
                    <m:r>
                      <a:rPr lang="en-GB" altLang="en-US" sz="2000">
                        <a:latin typeface="Cambria Math"/>
                      </a:rPr>
                      <m:t>𝑯</m:t>
                    </m:r>
                    <m:r>
                      <a:rPr lang="en-GB" altLang="en-US" sz="2000" baseline="-25000">
                        <a:latin typeface="Cambria Math"/>
                      </a:rPr>
                      <m:t>𝟎</m:t>
                    </m:r>
                    <m:r>
                      <a:rPr lang="en-GB" altLang="en-US" sz="2000">
                        <a:latin typeface="Cambria Math"/>
                      </a:rPr>
                      <m:t>: </m:t>
                    </m:r>
                    <m:sSub>
                      <m:sSubPr>
                        <m:ctrlPr>
                          <a:rPr lang="en-GB" altLang="en-US" sz="2000" i="1">
                            <a:latin typeface="Cambria Math" panose="02040503050406030204" pitchFamily="18" charset="0"/>
                          </a:rPr>
                        </m:ctrlPr>
                      </m:sSubPr>
                      <m:e>
                        <m:r>
                          <a:rPr lang="en-GB" altLang="en-US" sz="2000">
                            <a:latin typeface="Cambria Math"/>
                          </a:rPr>
                          <m:t>𝝁</m:t>
                        </m:r>
                      </m:e>
                      <m:sub>
                        <m:r>
                          <a:rPr lang="en-GB" altLang="en-US" sz="2000">
                            <a:latin typeface="Cambria Math"/>
                          </a:rPr>
                          <m:t>𝟏</m:t>
                        </m:r>
                      </m:sub>
                    </m:sSub>
                    <m:r>
                      <a:rPr lang="en-GB" altLang="en-US" sz="2000">
                        <a:latin typeface="Cambria Math"/>
                      </a:rPr>
                      <m:t>=</m:t>
                    </m:r>
                    <m:sSub>
                      <m:sSubPr>
                        <m:ctrlPr>
                          <a:rPr lang="en-GB" altLang="en-US" sz="2000" i="1">
                            <a:latin typeface="Cambria Math" panose="02040503050406030204" pitchFamily="18" charset="0"/>
                          </a:rPr>
                        </m:ctrlPr>
                      </m:sSubPr>
                      <m:e>
                        <m:r>
                          <a:rPr lang="en-GB" altLang="en-US" sz="2000">
                            <a:latin typeface="Cambria Math"/>
                          </a:rPr>
                          <m:t>𝝁</m:t>
                        </m:r>
                      </m:e>
                      <m:sub>
                        <m:r>
                          <a:rPr lang="en-GB" altLang="en-US" sz="2000">
                            <a:latin typeface="Cambria Math"/>
                          </a:rPr>
                          <m:t>𝟐</m:t>
                        </m:r>
                      </m:sub>
                    </m:sSub>
                    <m:r>
                      <a:rPr lang="en-GB" altLang="en-US" sz="2000">
                        <a:latin typeface="Cambria Math"/>
                      </a:rPr>
                      <m:t>=</m:t>
                    </m:r>
                    <m:sSub>
                      <m:sSubPr>
                        <m:ctrlPr>
                          <a:rPr lang="en-GB" altLang="en-US" sz="2000" i="1">
                            <a:latin typeface="Cambria Math" panose="02040503050406030204" pitchFamily="18" charset="0"/>
                          </a:rPr>
                        </m:ctrlPr>
                      </m:sSubPr>
                      <m:e>
                        <m:r>
                          <a:rPr lang="en-GB" altLang="en-US" sz="2000">
                            <a:latin typeface="Cambria Math"/>
                          </a:rPr>
                          <m:t>𝝁</m:t>
                        </m:r>
                      </m:e>
                      <m:sub>
                        <m:r>
                          <a:rPr lang="en-GB" altLang="en-US" sz="2000" b="1" i="0" smtClean="0">
                            <a:latin typeface="Cambria Math"/>
                          </a:rPr>
                          <m:t>𝟑</m:t>
                        </m:r>
                      </m:sub>
                    </m:sSub>
                    <m:r>
                      <a:rPr lang="en-GB" altLang="en-US" sz="2000" b="0" i="1" smtClean="0">
                        <a:latin typeface="Cambria Math"/>
                      </a:rPr>
                      <m:t>…=</m:t>
                    </m:r>
                    <m:sSub>
                      <m:sSubPr>
                        <m:ctrlPr>
                          <a:rPr lang="en-GB" altLang="en-US" sz="2000" i="1">
                            <a:latin typeface="Cambria Math" panose="02040503050406030204" pitchFamily="18" charset="0"/>
                          </a:rPr>
                        </m:ctrlPr>
                      </m:sSubPr>
                      <m:e>
                        <m:r>
                          <a:rPr lang="en-GB" altLang="en-US" sz="2000">
                            <a:latin typeface="Cambria Math"/>
                          </a:rPr>
                          <m:t>𝝁</m:t>
                        </m:r>
                      </m:e>
                      <m:sub>
                        <m:r>
                          <a:rPr lang="en-GB" altLang="en-US" sz="2000" b="1" i="0" smtClean="0">
                            <a:latin typeface="Cambria Math"/>
                          </a:rPr>
                          <m:t>𝐜</m:t>
                        </m:r>
                      </m:sub>
                    </m:sSub>
                  </m:oMath>
                </a14:m>
                <a:r>
                  <a:rPr lang="en-GB" altLang="en-US" sz="2000" dirty="0"/>
                  <a:t> </a:t>
                </a:r>
              </a:p>
              <a:p>
                <a:pPr>
                  <a:buClr>
                    <a:srgbClr val="333399"/>
                  </a:buClr>
                </a:pPr>
                <a:r>
                  <a:rPr lang="en-GB" altLang="en-US" sz="2000" b="1" dirty="0">
                    <a:solidFill>
                      <a:schemeClr val="bg1">
                        <a:lumMod val="65000"/>
                      </a:schemeClr>
                    </a:solidFill>
                  </a:rPr>
                  <a:t>		All the means of the groups are equal</a:t>
                </a:r>
              </a:p>
            </p:txBody>
          </p:sp>
        </mc:Choice>
        <mc:Fallback xmlns="">
          <p:sp>
            <p:nvSpPr>
              <p:cNvPr id="4" name="Rectangle 3"/>
              <p:cNvSpPr>
                <a:spLocks noRot="1" noChangeAspect="1" noMove="1" noResize="1" noEditPoints="1" noAdjustHandles="1" noChangeArrowheads="1" noChangeShapeType="1" noTextEdit="1"/>
              </p:cNvSpPr>
              <p:nvPr/>
            </p:nvSpPr>
            <p:spPr>
              <a:xfrm>
                <a:off x="304800" y="1371600"/>
                <a:ext cx="7467600" cy="1631216"/>
              </a:xfrm>
              <a:prstGeom prst="rect">
                <a:avLst/>
              </a:prstGeom>
              <a:blipFill>
                <a:blip r:embed="rId3"/>
                <a:stretch>
                  <a:fillRect l="-816" t="-1866" b="-559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304800" y="3150651"/>
                <a:ext cx="7467600" cy="1040349"/>
              </a:xfrm>
              <a:prstGeom prst="rect">
                <a:avLst/>
              </a:prstGeom>
            </p:spPr>
            <p:txBody>
              <a:bodyPr wrap="square">
                <a:spAutoFit/>
              </a:bodyPr>
              <a:lstStyle/>
              <a:p>
                <a:pPr>
                  <a:buClr>
                    <a:srgbClr val="333399"/>
                  </a:buClr>
                </a:pPr>
                <a:r>
                  <a:rPr lang="en-GB" altLang="en-US" sz="2000" b="1" dirty="0"/>
                  <a:t>Alternative Hypothesis</a:t>
                </a:r>
              </a:p>
              <a:p>
                <a:pPr>
                  <a:buClr>
                    <a:srgbClr val="333399"/>
                  </a:buClr>
                </a:pPr>
                <a:r>
                  <a:rPr lang="en-GB" altLang="en-US" sz="2000" dirty="0"/>
                  <a:t>		</a:t>
                </a:r>
                <a14:m>
                  <m:oMath xmlns:m="http://schemas.openxmlformats.org/officeDocument/2006/math">
                    <m:r>
                      <a:rPr lang="en-GB" altLang="en-US" sz="2000">
                        <a:latin typeface="Cambria Math"/>
                      </a:rPr>
                      <m:t>𝑯</m:t>
                    </m:r>
                    <m:r>
                      <a:rPr lang="en-GB" altLang="en-US" sz="2000" b="0" i="0" smtClean="0">
                        <a:latin typeface="Cambria Math" panose="02040503050406030204" pitchFamily="18" charset="0"/>
                      </a:rPr>
                      <m:t>1</m:t>
                    </m:r>
                    <m:r>
                      <a:rPr lang="en-GB" altLang="en-US" sz="2000">
                        <a:latin typeface="Cambria Math"/>
                      </a:rPr>
                      <m:t>: </m:t>
                    </m:r>
                    <m:sSub>
                      <m:sSubPr>
                        <m:ctrlPr>
                          <a:rPr lang="en-GB" altLang="en-US" sz="2000" i="1">
                            <a:latin typeface="Cambria Math" panose="02040503050406030204" pitchFamily="18" charset="0"/>
                          </a:rPr>
                        </m:ctrlPr>
                      </m:sSubPr>
                      <m:e>
                        <m:r>
                          <a:rPr lang="en-GB" altLang="en-US" sz="2000">
                            <a:latin typeface="Cambria Math"/>
                          </a:rPr>
                          <m:t>𝝁</m:t>
                        </m:r>
                      </m:e>
                      <m:sub>
                        <m:r>
                          <a:rPr lang="en-GB" altLang="en-US" sz="2000" b="0" i="1" smtClean="0">
                            <a:latin typeface="Cambria Math"/>
                          </a:rPr>
                          <m:t>𝑖</m:t>
                        </m:r>
                      </m:sub>
                    </m:sSub>
                    <m:r>
                      <a:rPr lang="en-GB" altLang="en-US" sz="2000" i="1" smtClean="0">
                        <a:latin typeface="Cambria Math"/>
                        <a:ea typeface="Cambria Math"/>
                      </a:rPr>
                      <m:t>≠</m:t>
                    </m:r>
                    <m:sSub>
                      <m:sSubPr>
                        <m:ctrlPr>
                          <a:rPr lang="en-GB" altLang="en-US" sz="2000" i="1">
                            <a:latin typeface="Cambria Math" panose="02040503050406030204" pitchFamily="18" charset="0"/>
                          </a:rPr>
                        </m:ctrlPr>
                      </m:sSubPr>
                      <m:e>
                        <m:r>
                          <a:rPr lang="en-GB" altLang="en-US" sz="2000">
                            <a:latin typeface="Cambria Math"/>
                          </a:rPr>
                          <m:t>𝝁</m:t>
                        </m:r>
                      </m:e>
                      <m:sub>
                        <m:r>
                          <a:rPr lang="en-GB" altLang="en-US" sz="2000" b="0" i="1" smtClean="0">
                            <a:latin typeface="Cambria Math"/>
                          </a:rPr>
                          <m:t>𝑗</m:t>
                        </m:r>
                      </m:sub>
                    </m:sSub>
                  </m:oMath>
                </a14:m>
                <a:r>
                  <a:rPr lang="en-GB" altLang="en-US" sz="2000" dirty="0"/>
                  <a:t> </a:t>
                </a:r>
                <a:r>
                  <a:rPr lang="en-GB" altLang="en-US" sz="2000" b="1" u="sng" dirty="0"/>
                  <a:t>for at least one pair (</a:t>
                </a:r>
                <a:r>
                  <a:rPr lang="en-GB" altLang="en-US" sz="2000" b="1" u="sng" dirty="0" err="1"/>
                  <a:t>i,j</a:t>
                </a:r>
                <a:r>
                  <a:rPr lang="en-GB" altLang="en-US" sz="2000" b="1" u="sng" dirty="0"/>
                  <a:t>)</a:t>
                </a:r>
              </a:p>
              <a:p>
                <a:pPr>
                  <a:buClr>
                    <a:srgbClr val="333399"/>
                  </a:buClr>
                </a:pPr>
                <a:r>
                  <a:rPr lang="en-GB" altLang="en-US" sz="2000" dirty="0">
                    <a:solidFill>
                      <a:srgbClr val="333399"/>
                    </a:solidFill>
                  </a:rPr>
                  <a:t>		</a:t>
                </a:r>
                <a:r>
                  <a:rPr lang="en-GB" altLang="en-US" sz="2000" b="1" dirty="0">
                    <a:solidFill>
                      <a:schemeClr val="bg1">
                        <a:lumMod val="65000"/>
                      </a:schemeClr>
                    </a:solidFill>
                  </a:rPr>
                  <a:t>Not all the means of the groups are equal</a:t>
                </a:r>
              </a:p>
            </p:txBody>
          </p:sp>
        </mc:Choice>
        <mc:Fallback xmlns="">
          <p:sp>
            <p:nvSpPr>
              <p:cNvPr id="10" name="Rectangle 9"/>
              <p:cNvSpPr>
                <a:spLocks noRot="1" noChangeAspect="1" noMove="1" noResize="1" noEditPoints="1" noAdjustHandles="1" noChangeArrowheads="1" noChangeShapeType="1" noTextEdit="1"/>
              </p:cNvSpPr>
              <p:nvPr/>
            </p:nvSpPr>
            <p:spPr>
              <a:xfrm>
                <a:off x="304800" y="3150651"/>
                <a:ext cx="7467600" cy="1040349"/>
              </a:xfrm>
              <a:prstGeom prst="rect">
                <a:avLst/>
              </a:prstGeom>
              <a:blipFill>
                <a:blip r:embed="rId4"/>
                <a:stretch>
                  <a:fillRect l="-816" t="-3509" b="-9357"/>
                </a:stretch>
              </a:blipFill>
            </p:spPr>
            <p:txBody>
              <a:bodyPr/>
              <a:lstStyle/>
              <a:p>
                <a:r>
                  <a:rPr lang="en-GB">
                    <a:noFill/>
                  </a:rPr>
                  <a:t> </a:t>
                </a:r>
              </a:p>
            </p:txBody>
          </p:sp>
        </mc:Fallback>
      </mc:AlternateContent>
      <p:sp>
        <p:nvSpPr>
          <p:cNvPr id="11" name="Text Box 8"/>
          <p:cNvSpPr txBox="1">
            <a:spLocks noChangeArrowheads="1"/>
          </p:cNvSpPr>
          <p:nvPr/>
        </p:nvSpPr>
        <p:spPr bwMode="auto">
          <a:xfrm>
            <a:off x="304800" y="804826"/>
            <a:ext cx="788682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2000" b="1" dirty="0"/>
              <a:t>ANOVA compares the variation within groups to that between groups</a:t>
            </a:r>
            <a:endParaRPr lang="en-US" altLang="en-US" sz="2000" b="1" dirty="0"/>
          </a:p>
        </p:txBody>
      </p:sp>
      <p:sp>
        <p:nvSpPr>
          <p:cNvPr id="5" name="TextBox 4">
            <a:extLst>
              <a:ext uri="{FF2B5EF4-FFF2-40B4-BE49-F238E27FC236}">
                <a16:creationId xmlns:a16="http://schemas.microsoft.com/office/drawing/2014/main" id="{E367A3B0-B423-B7E6-4013-E5C737AF6180}"/>
              </a:ext>
            </a:extLst>
          </p:cNvPr>
          <p:cNvSpPr txBox="1"/>
          <p:nvPr/>
        </p:nvSpPr>
        <p:spPr>
          <a:xfrm>
            <a:off x="351694" y="4572000"/>
            <a:ext cx="4601306" cy="369332"/>
          </a:xfrm>
          <a:prstGeom prst="rect">
            <a:avLst/>
          </a:prstGeom>
          <a:noFill/>
        </p:spPr>
        <p:txBody>
          <a:bodyPr wrap="square">
            <a:spAutoFit/>
          </a:bodyPr>
          <a:lstStyle/>
          <a:p>
            <a:r>
              <a:rPr lang="en-GB" b="1" dirty="0"/>
              <a:t>Step 2. Test Statistic</a:t>
            </a:r>
          </a:p>
        </p:txBody>
      </p:sp>
    </p:spTree>
    <p:extLst>
      <p:ext uri="{BB962C8B-B14F-4D97-AF65-F5344CB8AC3E}">
        <p14:creationId xmlns:p14="http://schemas.microsoft.com/office/powerpoint/2010/main" val="1920006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p:bldP spid="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altLang="en-US" dirty="0"/>
              <a:t>One-way ANOVA</a:t>
            </a:r>
            <a:endParaRPr lang="en-GB" dirty="0"/>
          </a:p>
        </p:txBody>
      </p:sp>
      <p:sp>
        <p:nvSpPr>
          <p:cNvPr id="11" name="Text Box 8"/>
          <p:cNvSpPr txBox="1">
            <a:spLocks noChangeArrowheads="1"/>
          </p:cNvSpPr>
          <p:nvPr/>
        </p:nvSpPr>
        <p:spPr bwMode="auto">
          <a:xfrm>
            <a:off x="304800" y="804826"/>
            <a:ext cx="788682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2000" b="1" dirty="0"/>
              <a:t>ANOVA compares the variation within groups to that between groups</a:t>
            </a:r>
            <a:endParaRPr lang="en-US" altLang="en-US" sz="2000" b="1" dirty="0"/>
          </a:p>
        </p:txBody>
      </p:sp>
      <p:grpSp>
        <p:nvGrpSpPr>
          <p:cNvPr id="2" name="Group 1"/>
          <p:cNvGrpSpPr/>
          <p:nvPr/>
        </p:nvGrpSpPr>
        <p:grpSpPr>
          <a:xfrm>
            <a:off x="638829" y="1591336"/>
            <a:ext cx="7819371" cy="1609064"/>
            <a:chOff x="638829" y="1591336"/>
            <a:chExt cx="7819371" cy="1609064"/>
          </a:xfrm>
        </p:grpSpPr>
        <p:sp>
          <p:nvSpPr>
            <p:cNvPr id="6" name="Freeform 2"/>
            <p:cNvSpPr>
              <a:spLocks/>
            </p:cNvSpPr>
            <p:nvPr/>
          </p:nvSpPr>
          <p:spPr bwMode="auto">
            <a:xfrm>
              <a:off x="990600" y="1905000"/>
              <a:ext cx="1828800" cy="833438"/>
            </a:xfrm>
            <a:custGeom>
              <a:avLst/>
              <a:gdLst>
                <a:gd name="T0" fmla="*/ 24 w 2586"/>
                <a:gd name="T1" fmla="*/ 1168 h 1178"/>
                <a:gd name="T2" fmla="*/ 79 w 2586"/>
                <a:gd name="T3" fmla="*/ 1144 h 1178"/>
                <a:gd name="T4" fmla="*/ 152 w 2586"/>
                <a:gd name="T5" fmla="*/ 1108 h 1178"/>
                <a:gd name="T6" fmla="*/ 234 w 2586"/>
                <a:gd name="T7" fmla="*/ 1065 h 1178"/>
                <a:gd name="T8" fmla="*/ 319 w 2586"/>
                <a:gd name="T9" fmla="*/ 1020 h 1178"/>
                <a:gd name="T10" fmla="*/ 398 w 2586"/>
                <a:gd name="T11" fmla="*/ 976 h 1178"/>
                <a:gd name="T12" fmla="*/ 462 w 2586"/>
                <a:gd name="T13" fmla="*/ 938 h 1178"/>
                <a:gd name="T14" fmla="*/ 504 w 2586"/>
                <a:gd name="T15" fmla="*/ 910 h 1178"/>
                <a:gd name="T16" fmla="*/ 539 w 2586"/>
                <a:gd name="T17" fmla="*/ 877 h 1178"/>
                <a:gd name="T18" fmla="*/ 576 w 2586"/>
                <a:gd name="T19" fmla="*/ 836 h 1178"/>
                <a:gd name="T20" fmla="*/ 613 w 2586"/>
                <a:gd name="T21" fmla="*/ 791 h 1178"/>
                <a:gd name="T22" fmla="*/ 647 w 2586"/>
                <a:gd name="T23" fmla="*/ 742 h 1178"/>
                <a:gd name="T24" fmla="*/ 699 w 2586"/>
                <a:gd name="T25" fmla="*/ 655 h 1178"/>
                <a:gd name="T26" fmla="*/ 754 w 2586"/>
                <a:gd name="T27" fmla="*/ 556 h 1178"/>
                <a:gd name="T28" fmla="*/ 807 w 2586"/>
                <a:gd name="T29" fmla="*/ 456 h 1178"/>
                <a:gd name="T30" fmla="*/ 861 w 2586"/>
                <a:gd name="T31" fmla="*/ 355 h 1178"/>
                <a:gd name="T32" fmla="*/ 898 w 2586"/>
                <a:gd name="T33" fmla="*/ 287 h 1178"/>
                <a:gd name="T34" fmla="*/ 932 w 2586"/>
                <a:gd name="T35" fmla="*/ 231 h 1178"/>
                <a:gd name="T36" fmla="*/ 973 w 2586"/>
                <a:gd name="T37" fmla="*/ 176 h 1178"/>
                <a:gd name="T38" fmla="*/ 1018 w 2586"/>
                <a:gd name="T39" fmla="*/ 124 h 1178"/>
                <a:gd name="T40" fmla="*/ 1067 w 2586"/>
                <a:gd name="T41" fmla="*/ 78 h 1178"/>
                <a:gd name="T42" fmla="*/ 1119 w 2586"/>
                <a:gd name="T43" fmla="*/ 41 h 1178"/>
                <a:gd name="T44" fmla="*/ 1174 w 2586"/>
                <a:gd name="T45" fmla="*/ 14 h 1178"/>
                <a:gd name="T46" fmla="*/ 1231 w 2586"/>
                <a:gd name="T47" fmla="*/ 1 h 1178"/>
                <a:gd name="T48" fmla="*/ 1288 w 2586"/>
                <a:gd name="T49" fmla="*/ 2 h 1178"/>
                <a:gd name="T50" fmla="*/ 1341 w 2586"/>
                <a:gd name="T51" fmla="*/ 11 h 1178"/>
                <a:gd name="T52" fmla="*/ 1390 w 2586"/>
                <a:gd name="T53" fmla="*/ 29 h 1178"/>
                <a:gd name="T54" fmla="*/ 1437 w 2586"/>
                <a:gd name="T55" fmla="*/ 57 h 1178"/>
                <a:gd name="T56" fmla="*/ 1483 w 2586"/>
                <a:gd name="T57" fmla="*/ 96 h 1178"/>
                <a:gd name="T58" fmla="*/ 1530 w 2586"/>
                <a:gd name="T59" fmla="*/ 145 h 1178"/>
                <a:gd name="T60" fmla="*/ 1578 w 2586"/>
                <a:gd name="T61" fmla="*/ 204 h 1178"/>
                <a:gd name="T62" fmla="*/ 1630 w 2586"/>
                <a:gd name="T63" fmla="*/ 275 h 1178"/>
                <a:gd name="T64" fmla="*/ 1693 w 2586"/>
                <a:gd name="T65" fmla="*/ 379 h 1178"/>
                <a:gd name="T66" fmla="*/ 1746 w 2586"/>
                <a:gd name="T67" fmla="*/ 498 h 1178"/>
                <a:gd name="T68" fmla="*/ 1797 w 2586"/>
                <a:gd name="T69" fmla="*/ 622 h 1178"/>
                <a:gd name="T70" fmla="*/ 1853 w 2586"/>
                <a:gd name="T71" fmla="*/ 741 h 1178"/>
                <a:gd name="T72" fmla="*/ 1885 w 2586"/>
                <a:gd name="T73" fmla="*/ 791 h 1178"/>
                <a:gd name="T74" fmla="*/ 1913 w 2586"/>
                <a:gd name="T75" fmla="*/ 823 h 1178"/>
                <a:gd name="T76" fmla="*/ 1949 w 2586"/>
                <a:gd name="T77" fmla="*/ 860 h 1178"/>
                <a:gd name="T78" fmla="*/ 1989 w 2586"/>
                <a:gd name="T79" fmla="*/ 896 h 1178"/>
                <a:gd name="T80" fmla="*/ 2033 w 2586"/>
                <a:gd name="T81" fmla="*/ 932 h 1178"/>
                <a:gd name="T82" fmla="*/ 2078 w 2586"/>
                <a:gd name="T83" fmla="*/ 967 h 1178"/>
                <a:gd name="T84" fmla="*/ 2123 w 2586"/>
                <a:gd name="T85" fmla="*/ 998 h 1178"/>
                <a:gd name="T86" fmla="*/ 2164 w 2586"/>
                <a:gd name="T87" fmla="*/ 1024 h 1178"/>
                <a:gd name="T88" fmla="*/ 2209 w 2586"/>
                <a:gd name="T89" fmla="*/ 1048 h 1178"/>
                <a:gd name="T90" fmla="*/ 2262 w 2586"/>
                <a:gd name="T91" fmla="*/ 1073 h 1178"/>
                <a:gd name="T92" fmla="*/ 2318 w 2586"/>
                <a:gd name="T93" fmla="*/ 1098 h 1178"/>
                <a:gd name="T94" fmla="*/ 2377 w 2586"/>
                <a:gd name="T95" fmla="*/ 1122 h 1178"/>
                <a:gd name="T96" fmla="*/ 2435 w 2586"/>
                <a:gd name="T97" fmla="*/ 1142 h 1178"/>
                <a:gd name="T98" fmla="*/ 2489 w 2586"/>
                <a:gd name="T99" fmla="*/ 1159 h 1178"/>
                <a:gd name="T100" fmla="*/ 2537 w 2586"/>
                <a:gd name="T101" fmla="*/ 1171 h 1178"/>
                <a:gd name="T102" fmla="*/ 2577 w 2586"/>
                <a:gd name="T103" fmla="*/ 1176 h 1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86" h="1178">
                  <a:moveTo>
                    <a:pt x="0" y="1177"/>
                  </a:moveTo>
                  <a:lnTo>
                    <a:pt x="6" y="1175"/>
                  </a:lnTo>
                  <a:lnTo>
                    <a:pt x="14" y="1172"/>
                  </a:lnTo>
                  <a:lnTo>
                    <a:pt x="24" y="1168"/>
                  </a:lnTo>
                  <a:lnTo>
                    <a:pt x="36" y="1164"/>
                  </a:lnTo>
                  <a:lnTo>
                    <a:pt x="48" y="1158"/>
                  </a:lnTo>
                  <a:lnTo>
                    <a:pt x="63" y="1151"/>
                  </a:lnTo>
                  <a:lnTo>
                    <a:pt x="79" y="1144"/>
                  </a:lnTo>
                  <a:lnTo>
                    <a:pt x="96" y="1136"/>
                  </a:lnTo>
                  <a:lnTo>
                    <a:pt x="114" y="1127"/>
                  </a:lnTo>
                  <a:lnTo>
                    <a:pt x="132" y="1117"/>
                  </a:lnTo>
                  <a:lnTo>
                    <a:pt x="152" y="1108"/>
                  </a:lnTo>
                  <a:lnTo>
                    <a:pt x="171" y="1098"/>
                  </a:lnTo>
                  <a:lnTo>
                    <a:pt x="193" y="1087"/>
                  </a:lnTo>
                  <a:lnTo>
                    <a:pt x="213" y="1076"/>
                  </a:lnTo>
                  <a:lnTo>
                    <a:pt x="234" y="1065"/>
                  </a:lnTo>
                  <a:lnTo>
                    <a:pt x="256" y="1054"/>
                  </a:lnTo>
                  <a:lnTo>
                    <a:pt x="277" y="1042"/>
                  </a:lnTo>
                  <a:lnTo>
                    <a:pt x="298" y="1031"/>
                  </a:lnTo>
                  <a:lnTo>
                    <a:pt x="319" y="1020"/>
                  </a:lnTo>
                  <a:lnTo>
                    <a:pt x="340" y="1008"/>
                  </a:lnTo>
                  <a:lnTo>
                    <a:pt x="360" y="998"/>
                  </a:lnTo>
                  <a:lnTo>
                    <a:pt x="379" y="986"/>
                  </a:lnTo>
                  <a:lnTo>
                    <a:pt x="398" y="976"/>
                  </a:lnTo>
                  <a:lnTo>
                    <a:pt x="416" y="966"/>
                  </a:lnTo>
                  <a:lnTo>
                    <a:pt x="432" y="955"/>
                  </a:lnTo>
                  <a:lnTo>
                    <a:pt x="448" y="947"/>
                  </a:lnTo>
                  <a:lnTo>
                    <a:pt x="462" y="938"/>
                  </a:lnTo>
                  <a:lnTo>
                    <a:pt x="475" y="930"/>
                  </a:lnTo>
                  <a:lnTo>
                    <a:pt x="486" y="922"/>
                  </a:lnTo>
                  <a:lnTo>
                    <a:pt x="496" y="916"/>
                  </a:lnTo>
                  <a:lnTo>
                    <a:pt x="504" y="910"/>
                  </a:lnTo>
                  <a:lnTo>
                    <a:pt x="509" y="905"/>
                  </a:lnTo>
                  <a:lnTo>
                    <a:pt x="520" y="896"/>
                  </a:lnTo>
                  <a:lnTo>
                    <a:pt x="529" y="888"/>
                  </a:lnTo>
                  <a:lnTo>
                    <a:pt x="539" y="877"/>
                  </a:lnTo>
                  <a:lnTo>
                    <a:pt x="549" y="868"/>
                  </a:lnTo>
                  <a:lnTo>
                    <a:pt x="558" y="857"/>
                  </a:lnTo>
                  <a:lnTo>
                    <a:pt x="567" y="847"/>
                  </a:lnTo>
                  <a:lnTo>
                    <a:pt x="576" y="836"/>
                  </a:lnTo>
                  <a:lnTo>
                    <a:pt x="586" y="826"/>
                  </a:lnTo>
                  <a:lnTo>
                    <a:pt x="595" y="814"/>
                  </a:lnTo>
                  <a:lnTo>
                    <a:pt x="604" y="803"/>
                  </a:lnTo>
                  <a:lnTo>
                    <a:pt x="613" y="791"/>
                  </a:lnTo>
                  <a:lnTo>
                    <a:pt x="621" y="779"/>
                  </a:lnTo>
                  <a:lnTo>
                    <a:pt x="629" y="767"/>
                  </a:lnTo>
                  <a:lnTo>
                    <a:pt x="638" y="755"/>
                  </a:lnTo>
                  <a:lnTo>
                    <a:pt x="647" y="742"/>
                  </a:lnTo>
                  <a:lnTo>
                    <a:pt x="654" y="730"/>
                  </a:lnTo>
                  <a:lnTo>
                    <a:pt x="670" y="704"/>
                  </a:lnTo>
                  <a:lnTo>
                    <a:pt x="685" y="679"/>
                  </a:lnTo>
                  <a:lnTo>
                    <a:pt x="699" y="655"/>
                  </a:lnTo>
                  <a:lnTo>
                    <a:pt x="713" y="630"/>
                  </a:lnTo>
                  <a:lnTo>
                    <a:pt x="727" y="605"/>
                  </a:lnTo>
                  <a:lnTo>
                    <a:pt x="741" y="580"/>
                  </a:lnTo>
                  <a:lnTo>
                    <a:pt x="754" y="556"/>
                  </a:lnTo>
                  <a:lnTo>
                    <a:pt x="767" y="531"/>
                  </a:lnTo>
                  <a:lnTo>
                    <a:pt x="781" y="507"/>
                  </a:lnTo>
                  <a:lnTo>
                    <a:pt x="794" y="482"/>
                  </a:lnTo>
                  <a:lnTo>
                    <a:pt x="807" y="456"/>
                  </a:lnTo>
                  <a:lnTo>
                    <a:pt x="820" y="431"/>
                  </a:lnTo>
                  <a:lnTo>
                    <a:pt x="834" y="406"/>
                  </a:lnTo>
                  <a:lnTo>
                    <a:pt x="847" y="380"/>
                  </a:lnTo>
                  <a:lnTo>
                    <a:pt x="861" y="355"/>
                  </a:lnTo>
                  <a:lnTo>
                    <a:pt x="875" y="327"/>
                  </a:lnTo>
                  <a:lnTo>
                    <a:pt x="882" y="314"/>
                  </a:lnTo>
                  <a:lnTo>
                    <a:pt x="889" y="300"/>
                  </a:lnTo>
                  <a:lnTo>
                    <a:pt x="898" y="287"/>
                  </a:lnTo>
                  <a:lnTo>
                    <a:pt x="906" y="273"/>
                  </a:lnTo>
                  <a:lnTo>
                    <a:pt x="914" y="259"/>
                  </a:lnTo>
                  <a:lnTo>
                    <a:pt x="923" y="245"/>
                  </a:lnTo>
                  <a:lnTo>
                    <a:pt x="932" y="231"/>
                  </a:lnTo>
                  <a:lnTo>
                    <a:pt x="942" y="217"/>
                  </a:lnTo>
                  <a:lnTo>
                    <a:pt x="952" y="203"/>
                  </a:lnTo>
                  <a:lnTo>
                    <a:pt x="962" y="189"/>
                  </a:lnTo>
                  <a:lnTo>
                    <a:pt x="973" y="176"/>
                  </a:lnTo>
                  <a:lnTo>
                    <a:pt x="984" y="162"/>
                  </a:lnTo>
                  <a:lnTo>
                    <a:pt x="995" y="149"/>
                  </a:lnTo>
                  <a:lnTo>
                    <a:pt x="1006" y="136"/>
                  </a:lnTo>
                  <a:lnTo>
                    <a:pt x="1018" y="124"/>
                  </a:lnTo>
                  <a:lnTo>
                    <a:pt x="1030" y="112"/>
                  </a:lnTo>
                  <a:lnTo>
                    <a:pt x="1042" y="100"/>
                  </a:lnTo>
                  <a:lnTo>
                    <a:pt x="1054" y="89"/>
                  </a:lnTo>
                  <a:lnTo>
                    <a:pt x="1067" y="78"/>
                  </a:lnTo>
                  <a:lnTo>
                    <a:pt x="1079" y="68"/>
                  </a:lnTo>
                  <a:lnTo>
                    <a:pt x="1093" y="58"/>
                  </a:lnTo>
                  <a:lnTo>
                    <a:pt x="1105" y="49"/>
                  </a:lnTo>
                  <a:lnTo>
                    <a:pt x="1119" y="41"/>
                  </a:lnTo>
                  <a:lnTo>
                    <a:pt x="1132" y="33"/>
                  </a:lnTo>
                  <a:lnTo>
                    <a:pt x="1146" y="26"/>
                  </a:lnTo>
                  <a:lnTo>
                    <a:pt x="1160" y="20"/>
                  </a:lnTo>
                  <a:lnTo>
                    <a:pt x="1174" y="14"/>
                  </a:lnTo>
                  <a:lnTo>
                    <a:pt x="1188" y="10"/>
                  </a:lnTo>
                  <a:lnTo>
                    <a:pt x="1202" y="6"/>
                  </a:lnTo>
                  <a:lnTo>
                    <a:pt x="1217" y="2"/>
                  </a:lnTo>
                  <a:lnTo>
                    <a:pt x="1231" y="1"/>
                  </a:lnTo>
                  <a:lnTo>
                    <a:pt x="1246" y="0"/>
                  </a:lnTo>
                  <a:lnTo>
                    <a:pt x="1260" y="0"/>
                  </a:lnTo>
                  <a:lnTo>
                    <a:pt x="1274" y="1"/>
                  </a:lnTo>
                  <a:lnTo>
                    <a:pt x="1288" y="2"/>
                  </a:lnTo>
                  <a:lnTo>
                    <a:pt x="1302" y="2"/>
                  </a:lnTo>
                  <a:lnTo>
                    <a:pt x="1315" y="5"/>
                  </a:lnTo>
                  <a:lnTo>
                    <a:pt x="1328" y="7"/>
                  </a:lnTo>
                  <a:lnTo>
                    <a:pt x="1341" y="11"/>
                  </a:lnTo>
                  <a:lnTo>
                    <a:pt x="1353" y="14"/>
                  </a:lnTo>
                  <a:lnTo>
                    <a:pt x="1365" y="18"/>
                  </a:lnTo>
                  <a:lnTo>
                    <a:pt x="1378" y="24"/>
                  </a:lnTo>
                  <a:lnTo>
                    <a:pt x="1390" y="29"/>
                  </a:lnTo>
                  <a:lnTo>
                    <a:pt x="1401" y="36"/>
                  </a:lnTo>
                  <a:lnTo>
                    <a:pt x="1413" y="42"/>
                  </a:lnTo>
                  <a:lnTo>
                    <a:pt x="1425" y="50"/>
                  </a:lnTo>
                  <a:lnTo>
                    <a:pt x="1437" y="57"/>
                  </a:lnTo>
                  <a:lnTo>
                    <a:pt x="1449" y="66"/>
                  </a:lnTo>
                  <a:lnTo>
                    <a:pt x="1460" y="75"/>
                  </a:lnTo>
                  <a:lnTo>
                    <a:pt x="1472" y="85"/>
                  </a:lnTo>
                  <a:lnTo>
                    <a:pt x="1483" y="96"/>
                  </a:lnTo>
                  <a:lnTo>
                    <a:pt x="1495" y="107"/>
                  </a:lnTo>
                  <a:lnTo>
                    <a:pt x="1506" y="118"/>
                  </a:lnTo>
                  <a:lnTo>
                    <a:pt x="1518" y="131"/>
                  </a:lnTo>
                  <a:lnTo>
                    <a:pt x="1530" y="145"/>
                  </a:lnTo>
                  <a:lnTo>
                    <a:pt x="1542" y="158"/>
                  </a:lnTo>
                  <a:lnTo>
                    <a:pt x="1554" y="173"/>
                  </a:lnTo>
                  <a:lnTo>
                    <a:pt x="1566" y="188"/>
                  </a:lnTo>
                  <a:lnTo>
                    <a:pt x="1578" y="204"/>
                  </a:lnTo>
                  <a:lnTo>
                    <a:pt x="1591" y="221"/>
                  </a:lnTo>
                  <a:lnTo>
                    <a:pt x="1604" y="238"/>
                  </a:lnTo>
                  <a:lnTo>
                    <a:pt x="1617" y="256"/>
                  </a:lnTo>
                  <a:lnTo>
                    <a:pt x="1630" y="275"/>
                  </a:lnTo>
                  <a:lnTo>
                    <a:pt x="1644" y="295"/>
                  </a:lnTo>
                  <a:lnTo>
                    <a:pt x="1661" y="322"/>
                  </a:lnTo>
                  <a:lnTo>
                    <a:pt x="1678" y="350"/>
                  </a:lnTo>
                  <a:lnTo>
                    <a:pt x="1693" y="379"/>
                  </a:lnTo>
                  <a:lnTo>
                    <a:pt x="1707" y="407"/>
                  </a:lnTo>
                  <a:lnTo>
                    <a:pt x="1721" y="437"/>
                  </a:lnTo>
                  <a:lnTo>
                    <a:pt x="1734" y="468"/>
                  </a:lnTo>
                  <a:lnTo>
                    <a:pt x="1746" y="498"/>
                  </a:lnTo>
                  <a:lnTo>
                    <a:pt x="1760" y="529"/>
                  </a:lnTo>
                  <a:lnTo>
                    <a:pt x="1772" y="560"/>
                  </a:lnTo>
                  <a:lnTo>
                    <a:pt x="1784" y="590"/>
                  </a:lnTo>
                  <a:lnTo>
                    <a:pt x="1797" y="622"/>
                  </a:lnTo>
                  <a:lnTo>
                    <a:pt x="1810" y="651"/>
                  </a:lnTo>
                  <a:lnTo>
                    <a:pt x="1824" y="681"/>
                  </a:lnTo>
                  <a:lnTo>
                    <a:pt x="1838" y="711"/>
                  </a:lnTo>
                  <a:lnTo>
                    <a:pt x="1853" y="741"/>
                  </a:lnTo>
                  <a:lnTo>
                    <a:pt x="1869" y="769"/>
                  </a:lnTo>
                  <a:lnTo>
                    <a:pt x="1874" y="775"/>
                  </a:lnTo>
                  <a:lnTo>
                    <a:pt x="1878" y="783"/>
                  </a:lnTo>
                  <a:lnTo>
                    <a:pt x="1885" y="791"/>
                  </a:lnTo>
                  <a:lnTo>
                    <a:pt x="1890" y="798"/>
                  </a:lnTo>
                  <a:lnTo>
                    <a:pt x="1897" y="807"/>
                  </a:lnTo>
                  <a:lnTo>
                    <a:pt x="1905" y="815"/>
                  </a:lnTo>
                  <a:lnTo>
                    <a:pt x="1913" y="823"/>
                  </a:lnTo>
                  <a:lnTo>
                    <a:pt x="1921" y="832"/>
                  </a:lnTo>
                  <a:lnTo>
                    <a:pt x="1930" y="841"/>
                  </a:lnTo>
                  <a:lnTo>
                    <a:pt x="1938" y="851"/>
                  </a:lnTo>
                  <a:lnTo>
                    <a:pt x="1949" y="860"/>
                  </a:lnTo>
                  <a:lnTo>
                    <a:pt x="1958" y="869"/>
                  </a:lnTo>
                  <a:lnTo>
                    <a:pt x="1968" y="878"/>
                  </a:lnTo>
                  <a:lnTo>
                    <a:pt x="1979" y="887"/>
                  </a:lnTo>
                  <a:lnTo>
                    <a:pt x="1989" y="896"/>
                  </a:lnTo>
                  <a:lnTo>
                    <a:pt x="2000" y="905"/>
                  </a:lnTo>
                  <a:lnTo>
                    <a:pt x="2010" y="914"/>
                  </a:lnTo>
                  <a:lnTo>
                    <a:pt x="2022" y="924"/>
                  </a:lnTo>
                  <a:lnTo>
                    <a:pt x="2033" y="932"/>
                  </a:lnTo>
                  <a:lnTo>
                    <a:pt x="2044" y="941"/>
                  </a:lnTo>
                  <a:lnTo>
                    <a:pt x="2055" y="951"/>
                  </a:lnTo>
                  <a:lnTo>
                    <a:pt x="2067" y="959"/>
                  </a:lnTo>
                  <a:lnTo>
                    <a:pt x="2078" y="967"/>
                  </a:lnTo>
                  <a:lnTo>
                    <a:pt x="2089" y="975"/>
                  </a:lnTo>
                  <a:lnTo>
                    <a:pt x="2101" y="983"/>
                  </a:lnTo>
                  <a:lnTo>
                    <a:pt x="2111" y="991"/>
                  </a:lnTo>
                  <a:lnTo>
                    <a:pt x="2123" y="998"/>
                  </a:lnTo>
                  <a:lnTo>
                    <a:pt x="2133" y="1005"/>
                  </a:lnTo>
                  <a:lnTo>
                    <a:pt x="2144" y="1012"/>
                  </a:lnTo>
                  <a:lnTo>
                    <a:pt x="2154" y="1017"/>
                  </a:lnTo>
                  <a:lnTo>
                    <a:pt x="2164" y="1024"/>
                  </a:lnTo>
                  <a:lnTo>
                    <a:pt x="2174" y="1029"/>
                  </a:lnTo>
                  <a:lnTo>
                    <a:pt x="2185" y="1036"/>
                  </a:lnTo>
                  <a:lnTo>
                    <a:pt x="2197" y="1041"/>
                  </a:lnTo>
                  <a:lnTo>
                    <a:pt x="2209" y="1048"/>
                  </a:lnTo>
                  <a:lnTo>
                    <a:pt x="2222" y="1054"/>
                  </a:lnTo>
                  <a:lnTo>
                    <a:pt x="2234" y="1060"/>
                  </a:lnTo>
                  <a:lnTo>
                    <a:pt x="2249" y="1066"/>
                  </a:lnTo>
                  <a:lnTo>
                    <a:pt x="2262" y="1073"/>
                  </a:lnTo>
                  <a:lnTo>
                    <a:pt x="2275" y="1079"/>
                  </a:lnTo>
                  <a:lnTo>
                    <a:pt x="2290" y="1085"/>
                  </a:lnTo>
                  <a:lnTo>
                    <a:pt x="2305" y="1092"/>
                  </a:lnTo>
                  <a:lnTo>
                    <a:pt x="2318" y="1098"/>
                  </a:lnTo>
                  <a:lnTo>
                    <a:pt x="2333" y="1104"/>
                  </a:lnTo>
                  <a:lnTo>
                    <a:pt x="2348" y="1109"/>
                  </a:lnTo>
                  <a:lnTo>
                    <a:pt x="2362" y="1116"/>
                  </a:lnTo>
                  <a:lnTo>
                    <a:pt x="2377" y="1122"/>
                  </a:lnTo>
                  <a:lnTo>
                    <a:pt x="2392" y="1127"/>
                  </a:lnTo>
                  <a:lnTo>
                    <a:pt x="2407" y="1132"/>
                  </a:lnTo>
                  <a:lnTo>
                    <a:pt x="2421" y="1137"/>
                  </a:lnTo>
                  <a:lnTo>
                    <a:pt x="2435" y="1142"/>
                  </a:lnTo>
                  <a:lnTo>
                    <a:pt x="2448" y="1146"/>
                  </a:lnTo>
                  <a:lnTo>
                    <a:pt x="2463" y="1151"/>
                  </a:lnTo>
                  <a:lnTo>
                    <a:pt x="2476" y="1156"/>
                  </a:lnTo>
                  <a:lnTo>
                    <a:pt x="2489" y="1159"/>
                  </a:lnTo>
                  <a:lnTo>
                    <a:pt x="2502" y="1162"/>
                  </a:lnTo>
                  <a:lnTo>
                    <a:pt x="2514" y="1165"/>
                  </a:lnTo>
                  <a:lnTo>
                    <a:pt x="2526" y="1169"/>
                  </a:lnTo>
                  <a:lnTo>
                    <a:pt x="2537" y="1171"/>
                  </a:lnTo>
                  <a:lnTo>
                    <a:pt x="2548" y="1173"/>
                  </a:lnTo>
                  <a:lnTo>
                    <a:pt x="2558" y="1175"/>
                  </a:lnTo>
                  <a:lnTo>
                    <a:pt x="2568" y="1176"/>
                  </a:lnTo>
                  <a:lnTo>
                    <a:pt x="2577" y="1176"/>
                  </a:lnTo>
                  <a:lnTo>
                    <a:pt x="2585" y="1177"/>
                  </a:lnTo>
                </a:path>
              </a:pathLst>
            </a:custGeom>
            <a:noFill/>
            <a:ln w="50800" cap="rnd"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7" name="Freeform 3"/>
            <p:cNvSpPr>
              <a:spLocks/>
            </p:cNvSpPr>
            <p:nvPr/>
          </p:nvSpPr>
          <p:spPr bwMode="auto">
            <a:xfrm>
              <a:off x="685800" y="1591336"/>
              <a:ext cx="7772400" cy="1211263"/>
            </a:xfrm>
            <a:custGeom>
              <a:avLst/>
              <a:gdLst>
                <a:gd name="T0" fmla="*/ 0 w 4195"/>
                <a:gd name="T1" fmla="*/ 0 h 1819"/>
                <a:gd name="T2" fmla="*/ 0 w 4195"/>
                <a:gd name="T3" fmla="*/ 1818 h 1819"/>
                <a:gd name="T4" fmla="*/ 4194 w 4195"/>
                <a:gd name="T5" fmla="*/ 1818 h 1819"/>
              </a:gdLst>
              <a:ahLst/>
              <a:cxnLst>
                <a:cxn ang="0">
                  <a:pos x="T0" y="T1"/>
                </a:cxn>
                <a:cxn ang="0">
                  <a:pos x="T2" y="T3"/>
                </a:cxn>
                <a:cxn ang="0">
                  <a:pos x="T4" y="T5"/>
                </a:cxn>
              </a:cxnLst>
              <a:rect l="0" t="0" r="r" b="b"/>
              <a:pathLst>
                <a:path w="4195" h="1819">
                  <a:moveTo>
                    <a:pt x="0" y="0"/>
                  </a:moveTo>
                  <a:lnTo>
                    <a:pt x="0" y="1818"/>
                  </a:lnTo>
                  <a:lnTo>
                    <a:pt x="4194" y="1818"/>
                  </a:lnTo>
                </a:path>
              </a:pathLst>
            </a:custGeom>
            <a:noFill/>
            <a:ln w="508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8" name="Freeform 4"/>
            <p:cNvSpPr>
              <a:spLocks/>
            </p:cNvSpPr>
            <p:nvPr/>
          </p:nvSpPr>
          <p:spPr bwMode="auto">
            <a:xfrm>
              <a:off x="2971800" y="1905000"/>
              <a:ext cx="1828800" cy="833438"/>
            </a:xfrm>
            <a:custGeom>
              <a:avLst/>
              <a:gdLst>
                <a:gd name="T0" fmla="*/ 24 w 2586"/>
                <a:gd name="T1" fmla="*/ 1168 h 1178"/>
                <a:gd name="T2" fmla="*/ 79 w 2586"/>
                <a:gd name="T3" fmla="*/ 1144 h 1178"/>
                <a:gd name="T4" fmla="*/ 152 w 2586"/>
                <a:gd name="T5" fmla="*/ 1108 h 1178"/>
                <a:gd name="T6" fmla="*/ 234 w 2586"/>
                <a:gd name="T7" fmla="*/ 1065 h 1178"/>
                <a:gd name="T8" fmla="*/ 319 w 2586"/>
                <a:gd name="T9" fmla="*/ 1020 h 1178"/>
                <a:gd name="T10" fmla="*/ 398 w 2586"/>
                <a:gd name="T11" fmla="*/ 976 h 1178"/>
                <a:gd name="T12" fmla="*/ 462 w 2586"/>
                <a:gd name="T13" fmla="*/ 938 h 1178"/>
                <a:gd name="T14" fmla="*/ 504 w 2586"/>
                <a:gd name="T15" fmla="*/ 910 h 1178"/>
                <a:gd name="T16" fmla="*/ 539 w 2586"/>
                <a:gd name="T17" fmla="*/ 877 h 1178"/>
                <a:gd name="T18" fmla="*/ 576 w 2586"/>
                <a:gd name="T19" fmla="*/ 836 h 1178"/>
                <a:gd name="T20" fmla="*/ 613 w 2586"/>
                <a:gd name="T21" fmla="*/ 791 h 1178"/>
                <a:gd name="T22" fmla="*/ 647 w 2586"/>
                <a:gd name="T23" fmla="*/ 742 h 1178"/>
                <a:gd name="T24" fmla="*/ 699 w 2586"/>
                <a:gd name="T25" fmla="*/ 655 h 1178"/>
                <a:gd name="T26" fmla="*/ 754 w 2586"/>
                <a:gd name="T27" fmla="*/ 556 h 1178"/>
                <a:gd name="T28" fmla="*/ 807 w 2586"/>
                <a:gd name="T29" fmla="*/ 456 h 1178"/>
                <a:gd name="T30" fmla="*/ 861 w 2586"/>
                <a:gd name="T31" fmla="*/ 355 h 1178"/>
                <a:gd name="T32" fmla="*/ 898 w 2586"/>
                <a:gd name="T33" fmla="*/ 287 h 1178"/>
                <a:gd name="T34" fmla="*/ 932 w 2586"/>
                <a:gd name="T35" fmla="*/ 231 h 1178"/>
                <a:gd name="T36" fmla="*/ 973 w 2586"/>
                <a:gd name="T37" fmla="*/ 176 h 1178"/>
                <a:gd name="T38" fmla="*/ 1018 w 2586"/>
                <a:gd name="T39" fmla="*/ 124 h 1178"/>
                <a:gd name="T40" fmla="*/ 1067 w 2586"/>
                <a:gd name="T41" fmla="*/ 78 h 1178"/>
                <a:gd name="T42" fmla="*/ 1119 w 2586"/>
                <a:gd name="T43" fmla="*/ 41 h 1178"/>
                <a:gd name="T44" fmla="*/ 1174 w 2586"/>
                <a:gd name="T45" fmla="*/ 14 h 1178"/>
                <a:gd name="T46" fmla="*/ 1231 w 2586"/>
                <a:gd name="T47" fmla="*/ 1 h 1178"/>
                <a:gd name="T48" fmla="*/ 1288 w 2586"/>
                <a:gd name="T49" fmla="*/ 2 h 1178"/>
                <a:gd name="T50" fmla="*/ 1341 w 2586"/>
                <a:gd name="T51" fmla="*/ 11 h 1178"/>
                <a:gd name="T52" fmla="*/ 1390 w 2586"/>
                <a:gd name="T53" fmla="*/ 29 h 1178"/>
                <a:gd name="T54" fmla="*/ 1437 w 2586"/>
                <a:gd name="T55" fmla="*/ 57 h 1178"/>
                <a:gd name="T56" fmla="*/ 1483 w 2586"/>
                <a:gd name="T57" fmla="*/ 96 h 1178"/>
                <a:gd name="T58" fmla="*/ 1530 w 2586"/>
                <a:gd name="T59" fmla="*/ 145 h 1178"/>
                <a:gd name="T60" fmla="*/ 1578 w 2586"/>
                <a:gd name="T61" fmla="*/ 204 h 1178"/>
                <a:gd name="T62" fmla="*/ 1630 w 2586"/>
                <a:gd name="T63" fmla="*/ 275 h 1178"/>
                <a:gd name="T64" fmla="*/ 1693 w 2586"/>
                <a:gd name="T65" fmla="*/ 379 h 1178"/>
                <a:gd name="T66" fmla="*/ 1746 w 2586"/>
                <a:gd name="T67" fmla="*/ 498 h 1178"/>
                <a:gd name="T68" fmla="*/ 1797 w 2586"/>
                <a:gd name="T69" fmla="*/ 622 h 1178"/>
                <a:gd name="T70" fmla="*/ 1853 w 2586"/>
                <a:gd name="T71" fmla="*/ 741 h 1178"/>
                <a:gd name="T72" fmla="*/ 1885 w 2586"/>
                <a:gd name="T73" fmla="*/ 791 h 1178"/>
                <a:gd name="T74" fmla="*/ 1913 w 2586"/>
                <a:gd name="T75" fmla="*/ 823 h 1178"/>
                <a:gd name="T76" fmla="*/ 1949 w 2586"/>
                <a:gd name="T77" fmla="*/ 860 h 1178"/>
                <a:gd name="T78" fmla="*/ 1989 w 2586"/>
                <a:gd name="T79" fmla="*/ 896 h 1178"/>
                <a:gd name="T80" fmla="*/ 2033 w 2586"/>
                <a:gd name="T81" fmla="*/ 932 h 1178"/>
                <a:gd name="T82" fmla="*/ 2078 w 2586"/>
                <a:gd name="T83" fmla="*/ 967 h 1178"/>
                <a:gd name="T84" fmla="*/ 2123 w 2586"/>
                <a:gd name="T85" fmla="*/ 998 h 1178"/>
                <a:gd name="T86" fmla="*/ 2164 w 2586"/>
                <a:gd name="T87" fmla="*/ 1024 h 1178"/>
                <a:gd name="T88" fmla="*/ 2209 w 2586"/>
                <a:gd name="T89" fmla="*/ 1048 h 1178"/>
                <a:gd name="T90" fmla="*/ 2262 w 2586"/>
                <a:gd name="T91" fmla="*/ 1073 h 1178"/>
                <a:gd name="T92" fmla="*/ 2318 w 2586"/>
                <a:gd name="T93" fmla="*/ 1098 h 1178"/>
                <a:gd name="T94" fmla="*/ 2377 w 2586"/>
                <a:gd name="T95" fmla="*/ 1122 h 1178"/>
                <a:gd name="T96" fmla="*/ 2435 w 2586"/>
                <a:gd name="T97" fmla="*/ 1142 h 1178"/>
                <a:gd name="T98" fmla="*/ 2489 w 2586"/>
                <a:gd name="T99" fmla="*/ 1159 h 1178"/>
                <a:gd name="T100" fmla="*/ 2537 w 2586"/>
                <a:gd name="T101" fmla="*/ 1171 h 1178"/>
                <a:gd name="T102" fmla="*/ 2577 w 2586"/>
                <a:gd name="T103" fmla="*/ 1176 h 1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86" h="1178">
                  <a:moveTo>
                    <a:pt x="0" y="1177"/>
                  </a:moveTo>
                  <a:lnTo>
                    <a:pt x="6" y="1175"/>
                  </a:lnTo>
                  <a:lnTo>
                    <a:pt x="14" y="1172"/>
                  </a:lnTo>
                  <a:lnTo>
                    <a:pt x="24" y="1168"/>
                  </a:lnTo>
                  <a:lnTo>
                    <a:pt x="36" y="1164"/>
                  </a:lnTo>
                  <a:lnTo>
                    <a:pt x="48" y="1158"/>
                  </a:lnTo>
                  <a:lnTo>
                    <a:pt x="63" y="1151"/>
                  </a:lnTo>
                  <a:lnTo>
                    <a:pt x="79" y="1144"/>
                  </a:lnTo>
                  <a:lnTo>
                    <a:pt x="96" y="1136"/>
                  </a:lnTo>
                  <a:lnTo>
                    <a:pt x="114" y="1127"/>
                  </a:lnTo>
                  <a:lnTo>
                    <a:pt x="132" y="1117"/>
                  </a:lnTo>
                  <a:lnTo>
                    <a:pt x="152" y="1108"/>
                  </a:lnTo>
                  <a:lnTo>
                    <a:pt x="171" y="1098"/>
                  </a:lnTo>
                  <a:lnTo>
                    <a:pt x="193" y="1087"/>
                  </a:lnTo>
                  <a:lnTo>
                    <a:pt x="213" y="1076"/>
                  </a:lnTo>
                  <a:lnTo>
                    <a:pt x="234" y="1065"/>
                  </a:lnTo>
                  <a:lnTo>
                    <a:pt x="256" y="1054"/>
                  </a:lnTo>
                  <a:lnTo>
                    <a:pt x="277" y="1042"/>
                  </a:lnTo>
                  <a:lnTo>
                    <a:pt x="298" y="1031"/>
                  </a:lnTo>
                  <a:lnTo>
                    <a:pt x="319" y="1020"/>
                  </a:lnTo>
                  <a:lnTo>
                    <a:pt x="340" y="1008"/>
                  </a:lnTo>
                  <a:lnTo>
                    <a:pt x="360" y="998"/>
                  </a:lnTo>
                  <a:lnTo>
                    <a:pt x="379" y="986"/>
                  </a:lnTo>
                  <a:lnTo>
                    <a:pt x="398" y="976"/>
                  </a:lnTo>
                  <a:lnTo>
                    <a:pt x="416" y="966"/>
                  </a:lnTo>
                  <a:lnTo>
                    <a:pt x="432" y="955"/>
                  </a:lnTo>
                  <a:lnTo>
                    <a:pt x="448" y="947"/>
                  </a:lnTo>
                  <a:lnTo>
                    <a:pt x="462" y="938"/>
                  </a:lnTo>
                  <a:lnTo>
                    <a:pt x="475" y="930"/>
                  </a:lnTo>
                  <a:lnTo>
                    <a:pt x="486" y="922"/>
                  </a:lnTo>
                  <a:lnTo>
                    <a:pt x="496" y="916"/>
                  </a:lnTo>
                  <a:lnTo>
                    <a:pt x="504" y="910"/>
                  </a:lnTo>
                  <a:lnTo>
                    <a:pt x="509" y="905"/>
                  </a:lnTo>
                  <a:lnTo>
                    <a:pt x="520" y="896"/>
                  </a:lnTo>
                  <a:lnTo>
                    <a:pt x="529" y="888"/>
                  </a:lnTo>
                  <a:lnTo>
                    <a:pt x="539" y="877"/>
                  </a:lnTo>
                  <a:lnTo>
                    <a:pt x="549" y="868"/>
                  </a:lnTo>
                  <a:lnTo>
                    <a:pt x="558" y="857"/>
                  </a:lnTo>
                  <a:lnTo>
                    <a:pt x="567" y="847"/>
                  </a:lnTo>
                  <a:lnTo>
                    <a:pt x="576" y="836"/>
                  </a:lnTo>
                  <a:lnTo>
                    <a:pt x="586" y="826"/>
                  </a:lnTo>
                  <a:lnTo>
                    <a:pt x="595" y="814"/>
                  </a:lnTo>
                  <a:lnTo>
                    <a:pt x="604" y="803"/>
                  </a:lnTo>
                  <a:lnTo>
                    <a:pt x="613" y="791"/>
                  </a:lnTo>
                  <a:lnTo>
                    <a:pt x="621" y="779"/>
                  </a:lnTo>
                  <a:lnTo>
                    <a:pt x="629" y="767"/>
                  </a:lnTo>
                  <a:lnTo>
                    <a:pt x="638" y="755"/>
                  </a:lnTo>
                  <a:lnTo>
                    <a:pt x="647" y="742"/>
                  </a:lnTo>
                  <a:lnTo>
                    <a:pt x="654" y="730"/>
                  </a:lnTo>
                  <a:lnTo>
                    <a:pt x="670" y="704"/>
                  </a:lnTo>
                  <a:lnTo>
                    <a:pt x="685" y="679"/>
                  </a:lnTo>
                  <a:lnTo>
                    <a:pt x="699" y="655"/>
                  </a:lnTo>
                  <a:lnTo>
                    <a:pt x="713" y="630"/>
                  </a:lnTo>
                  <a:lnTo>
                    <a:pt x="727" y="605"/>
                  </a:lnTo>
                  <a:lnTo>
                    <a:pt x="741" y="580"/>
                  </a:lnTo>
                  <a:lnTo>
                    <a:pt x="754" y="556"/>
                  </a:lnTo>
                  <a:lnTo>
                    <a:pt x="767" y="531"/>
                  </a:lnTo>
                  <a:lnTo>
                    <a:pt x="781" y="507"/>
                  </a:lnTo>
                  <a:lnTo>
                    <a:pt x="794" y="482"/>
                  </a:lnTo>
                  <a:lnTo>
                    <a:pt x="807" y="456"/>
                  </a:lnTo>
                  <a:lnTo>
                    <a:pt x="820" y="431"/>
                  </a:lnTo>
                  <a:lnTo>
                    <a:pt x="834" y="406"/>
                  </a:lnTo>
                  <a:lnTo>
                    <a:pt x="847" y="380"/>
                  </a:lnTo>
                  <a:lnTo>
                    <a:pt x="861" y="355"/>
                  </a:lnTo>
                  <a:lnTo>
                    <a:pt x="875" y="327"/>
                  </a:lnTo>
                  <a:lnTo>
                    <a:pt x="882" y="314"/>
                  </a:lnTo>
                  <a:lnTo>
                    <a:pt x="889" y="300"/>
                  </a:lnTo>
                  <a:lnTo>
                    <a:pt x="898" y="287"/>
                  </a:lnTo>
                  <a:lnTo>
                    <a:pt x="906" y="273"/>
                  </a:lnTo>
                  <a:lnTo>
                    <a:pt x="914" y="259"/>
                  </a:lnTo>
                  <a:lnTo>
                    <a:pt x="923" y="245"/>
                  </a:lnTo>
                  <a:lnTo>
                    <a:pt x="932" y="231"/>
                  </a:lnTo>
                  <a:lnTo>
                    <a:pt x="942" y="217"/>
                  </a:lnTo>
                  <a:lnTo>
                    <a:pt x="952" y="203"/>
                  </a:lnTo>
                  <a:lnTo>
                    <a:pt x="962" y="189"/>
                  </a:lnTo>
                  <a:lnTo>
                    <a:pt x="973" y="176"/>
                  </a:lnTo>
                  <a:lnTo>
                    <a:pt x="984" y="162"/>
                  </a:lnTo>
                  <a:lnTo>
                    <a:pt x="995" y="149"/>
                  </a:lnTo>
                  <a:lnTo>
                    <a:pt x="1006" y="136"/>
                  </a:lnTo>
                  <a:lnTo>
                    <a:pt x="1018" y="124"/>
                  </a:lnTo>
                  <a:lnTo>
                    <a:pt x="1030" y="112"/>
                  </a:lnTo>
                  <a:lnTo>
                    <a:pt x="1042" y="100"/>
                  </a:lnTo>
                  <a:lnTo>
                    <a:pt x="1054" y="89"/>
                  </a:lnTo>
                  <a:lnTo>
                    <a:pt x="1067" y="78"/>
                  </a:lnTo>
                  <a:lnTo>
                    <a:pt x="1079" y="68"/>
                  </a:lnTo>
                  <a:lnTo>
                    <a:pt x="1093" y="58"/>
                  </a:lnTo>
                  <a:lnTo>
                    <a:pt x="1105" y="49"/>
                  </a:lnTo>
                  <a:lnTo>
                    <a:pt x="1119" y="41"/>
                  </a:lnTo>
                  <a:lnTo>
                    <a:pt x="1132" y="33"/>
                  </a:lnTo>
                  <a:lnTo>
                    <a:pt x="1146" y="26"/>
                  </a:lnTo>
                  <a:lnTo>
                    <a:pt x="1160" y="20"/>
                  </a:lnTo>
                  <a:lnTo>
                    <a:pt x="1174" y="14"/>
                  </a:lnTo>
                  <a:lnTo>
                    <a:pt x="1188" y="10"/>
                  </a:lnTo>
                  <a:lnTo>
                    <a:pt x="1202" y="6"/>
                  </a:lnTo>
                  <a:lnTo>
                    <a:pt x="1217" y="2"/>
                  </a:lnTo>
                  <a:lnTo>
                    <a:pt x="1231" y="1"/>
                  </a:lnTo>
                  <a:lnTo>
                    <a:pt x="1246" y="0"/>
                  </a:lnTo>
                  <a:lnTo>
                    <a:pt x="1260" y="0"/>
                  </a:lnTo>
                  <a:lnTo>
                    <a:pt x="1274" y="1"/>
                  </a:lnTo>
                  <a:lnTo>
                    <a:pt x="1288" y="2"/>
                  </a:lnTo>
                  <a:lnTo>
                    <a:pt x="1302" y="2"/>
                  </a:lnTo>
                  <a:lnTo>
                    <a:pt x="1315" y="5"/>
                  </a:lnTo>
                  <a:lnTo>
                    <a:pt x="1328" y="7"/>
                  </a:lnTo>
                  <a:lnTo>
                    <a:pt x="1341" y="11"/>
                  </a:lnTo>
                  <a:lnTo>
                    <a:pt x="1353" y="14"/>
                  </a:lnTo>
                  <a:lnTo>
                    <a:pt x="1365" y="18"/>
                  </a:lnTo>
                  <a:lnTo>
                    <a:pt x="1378" y="24"/>
                  </a:lnTo>
                  <a:lnTo>
                    <a:pt x="1390" y="29"/>
                  </a:lnTo>
                  <a:lnTo>
                    <a:pt x="1401" y="36"/>
                  </a:lnTo>
                  <a:lnTo>
                    <a:pt x="1413" y="42"/>
                  </a:lnTo>
                  <a:lnTo>
                    <a:pt x="1425" y="50"/>
                  </a:lnTo>
                  <a:lnTo>
                    <a:pt x="1437" y="57"/>
                  </a:lnTo>
                  <a:lnTo>
                    <a:pt x="1449" y="66"/>
                  </a:lnTo>
                  <a:lnTo>
                    <a:pt x="1460" y="75"/>
                  </a:lnTo>
                  <a:lnTo>
                    <a:pt x="1472" y="85"/>
                  </a:lnTo>
                  <a:lnTo>
                    <a:pt x="1483" y="96"/>
                  </a:lnTo>
                  <a:lnTo>
                    <a:pt x="1495" y="107"/>
                  </a:lnTo>
                  <a:lnTo>
                    <a:pt x="1506" y="118"/>
                  </a:lnTo>
                  <a:lnTo>
                    <a:pt x="1518" y="131"/>
                  </a:lnTo>
                  <a:lnTo>
                    <a:pt x="1530" y="145"/>
                  </a:lnTo>
                  <a:lnTo>
                    <a:pt x="1542" y="158"/>
                  </a:lnTo>
                  <a:lnTo>
                    <a:pt x="1554" y="173"/>
                  </a:lnTo>
                  <a:lnTo>
                    <a:pt x="1566" y="188"/>
                  </a:lnTo>
                  <a:lnTo>
                    <a:pt x="1578" y="204"/>
                  </a:lnTo>
                  <a:lnTo>
                    <a:pt x="1591" y="221"/>
                  </a:lnTo>
                  <a:lnTo>
                    <a:pt x="1604" y="238"/>
                  </a:lnTo>
                  <a:lnTo>
                    <a:pt x="1617" y="256"/>
                  </a:lnTo>
                  <a:lnTo>
                    <a:pt x="1630" y="275"/>
                  </a:lnTo>
                  <a:lnTo>
                    <a:pt x="1644" y="295"/>
                  </a:lnTo>
                  <a:lnTo>
                    <a:pt x="1661" y="322"/>
                  </a:lnTo>
                  <a:lnTo>
                    <a:pt x="1678" y="350"/>
                  </a:lnTo>
                  <a:lnTo>
                    <a:pt x="1693" y="379"/>
                  </a:lnTo>
                  <a:lnTo>
                    <a:pt x="1707" y="407"/>
                  </a:lnTo>
                  <a:lnTo>
                    <a:pt x="1721" y="437"/>
                  </a:lnTo>
                  <a:lnTo>
                    <a:pt x="1734" y="468"/>
                  </a:lnTo>
                  <a:lnTo>
                    <a:pt x="1746" y="498"/>
                  </a:lnTo>
                  <a:lnTo>
                    <a:pt x="1760" y="529"/>
                  </a:lnTo>
                  <a:lnTo>
                    <a:pt x="1772" y="560"/>
                  </a:lnTo>
                  <a:lnTo>
                    <a:pt x="1784" y="590"/>
                  </a:lnTo>
                  <a:lnTo>
                    <a:pt x="1797" y="622"/>
                  </a:lnTo>
                  <a:lnTo>
                    <a:pt x="1810" y="651"/>
                  </a:lnTo>
                  <a:lnTo>
                    <a:pt x="1824" y="681"/>
                  </a:lnTo>
                  <a:lnTo>
                    <a:pt x="1838" y="711"/>
                  </a:lnTo>
                  <a:lnTo>
                    <a:pt x="1853" y="741"/>
                  </a:lnTo>
                  <a:lnTo>
                    <a:pt x="1869" y="769"/>
                  </a:lnTo>
                  <a:lnTo>
                    <a:pt x="1874" y="775"/>
                  </a:lnTo>
                  <a:lnTo>
                    <a:pt x="1878" y="783"/>
                  </a:lnTo>
                  <a:lnTo>
                    <a:pt x="1885" y="791"/>
                  </a:lnTo>
                  <a:lnTo>
                    <a:pt x="1890" y="798"/>
                  </a:lnTo>
                  <a:lnTo>
                    <a:pt x="1897" y="807"/>
                  </a:lnTo>
                  <a:lnTo>
                    <a:pt x="1905" y="815"/>
                  </a:lnTo>
                  <a:lnTo>
                    <a:pt x="1913" y="823"/>
                  </a:lnTo>
                  <a:lnTo>
                    <a:pt x="1921" y="832"/>
                  </a:lnTo>
                  <a:lnTo>
                    <a:pt x="1930" y="841"/>
                  </a:lnTo>
                  <a:lnTo>
                    <a:pt x="1938" y="851"/>
                  </a:lnTo>
                  <a:lnTo>
                    <a:pt x="1949" y="860"/>
                  </a:lnTo>
                  <a:lnTo>
                    <a:pt x="1958" y="869"/>
                  </a:lnTo>
                  <a:lnTo>
                    <a:pt x="1968" y="878"/>
                  </a:lnTo>
                  <a:lnTo>
                    <a:pt x="1979" y="887"/>
                  </a:lnTo>
                  <a:lnTo>
                    <a:pt x="1989" y="896"/>
                  </a:lnTo>
                  <a:lnTo>
                    <a:pt x="2000" y="905"/>
                  </a:lnTo>
                  <a:lnTo>
                    <a:pt x="2010" y="914"/>
                  </a:lnTo>
                  <a:lnTo>
                    <a:pt x="2022" y="924"/>
                  </a:lnTo>
                  <a:lnTo>
                    <a:pt x="2033" y="932"/>
                  </a:lnTo>
                  <a:lnTo>
                    <a:pt x="2044" y="941"/>
                  </a:lnTo>
                  <a:lnTo>
                    <a:pt x="2055" y="951"/>
                  </a:lnTo>
                  <a:lnTo>
                    <a:pt x="2067" y="959"/>
                  </a:lnTo>
                  <a:lnTo>
                    <a:pt x="2078" y="967"/>
                  </a:lnTo>
                  <a:lnTo>
                    <a:pt x="2089" y="975"/>
                  </a:lnTo>
                  <a:lnTo>
                    <a:pt x="2101" y="983"/>
                  </a:lnTo>
                  <a:lnTo>
                    <a:pt x="2111" y="991"/>
                  </a:lnTo>
                  <a:lnTo>
                    <a:pt x="2123" y="998"/>
                  </a:lnTo>
                  <a:lnTo>
                    <a:pt x="2133" y="1005"/>
                  </a:lnTo>
                  <a:lnTo>
                    <a:pt x="2144" y="1012"/>
                  </a:lnTo>
                  <a:lnTo>
                    <a:pt x="2154" y="1017"/>
                  </a:lnTo>
                  <a:lnTo>
                    <a:pt x="2164" y="1024"/>
                  </a:lnTo>
                  <a:lnTo>
                    <a:pt x="2174" y="1029"/>
                  </a:lnTo>
                  <a:lnTo>
                    <a:pt x="2185" y="1036"/>
                  </a:lnTo>
                  <a:lnTo>
                    <a:pt x="2197" y="1041"/>
                  </a:lnTo>
                  <a:lnTo>
                    <a:pt x="2209" y="1048"/>
                  </a:lnTo>
                  <a:lnTo>
                    <a:pt x="2222" y="1054"/>
                  </a:lnTo>
                  <a:lnTo>
                    <a:pt x="2234" y="1060"/>
                  </a:lnTo>
                  <a:lnTo>
                    <a:pt x="2249" y="1066"/>
                  </a:lnTo>
                  <a:lnTo>
                    <a:pt x="2262" y="1073"/>
                  </a:lnTo>
                  <a:lnTo>
                    <a:pt x="2275" y="1079"/>
                  </a:lnTo>
                  <a:lnTo>
                    <a:pt x="2290" y="1085"/>
                  </a:lnTo>
                  <a:lnTo>
                    <a:pt x="2305" y="1092"/>
                  </a:lnTo>
                  <a:lnTo>
                    <a:pt x="2318" y="1098"/>
                  </a:lnTo>
                  <a:lnTo>
                    <a:pt x="2333" y="1104"/>
                  </a:lnTo>
                  <a:lnTo>
                    <a:pt x="2348" y="1109"/>
                  </a:lnTo>
                  <a:lnTo>
                    <a:pt x="2362" y="1116"/>
                  </a:lnTo>
                  <a:lnTo>
                    <a:pt x="2377" y="1122"/>
                  </a:lnTo>
                  <a:lnTo>
                    <a:pt x="2392" y="1127"/>
                  </a:lnTo>
                  <a:lnTo>
                    <a:pt x="2407" y="1132"/>
                  </a:lnTo>
                  <a:lnTo>
                    <a:pt x="2421" y="1137"/>
                  </a:lnTo>
                  <a:lnTo>
                    <a:pt x="2435" y="1142"/>
                  </a:lnTo>
                  <a:lnTo>
                    <a:pt x="2448" y="1146"/>
                  </a:lnTo>
                  <a:lnTo>
                    <a:pt x="2463" y="1151"/>
                  </a:lnTo>
                  <a:lnTo>
                    <a:pt x="2476" y="1156"/>
                  </a:lnTo>
                  <a:lnTo>
                    <a:pt x="2489" y="1159"/>
                  </a:lnTo>
                  <a:lnTo>
                    <a:pt x="2502" y="1162"/>
                  </a:lnTo>
                  <a:lnTo>
                    <a:pt x="2514" y="1165"/>
                  </a:lnTo>
                  <a:lnTo>
                    <a:pt x="2526" y="1169"/>
                  </a:lnTo>
                  <a:lnTo>
                    <a:pt x="2537" y="1171"/>
                  </a:lnTo>
                  <a:lnTo>
                    <a:pt x="2548" y="1173"/>
                  </a:lnTo>
                  <a:lnTo>
                    <a:pt x="2558" y="1175"/>
                  </a:lnTo>
                  <a:lnTo>
                    <a:pt x="2568" y="1176"/>
                  </a:lnTo>
                  <a:lnTo>
                    <a:pt x="2577" y="1176"/>
                  </a:lnTo>
                  <a:lnTo>
                    <a:pt x="2585" y="1177"/>
                  </a:lnTo>
                </a:path>
              </a:pathLst>
            </a:custGeom>
            <a:noFill/>
            <a:ln w="508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9" name="Freeform 5"/>
            <p:cNvSpPr>
              <a:spLocks/>
            </p:cNvSpPr>
            <p:nvPr/>
          </p:nvSpPr>
          <p:spPr bwMode="auto">
            <a:xfrm>
              <a:off x="4953000" y="1905000"/>
              <a:ext cx="1828800" cy="833438"/>
            </a:xfrm>
            <a:custGeom>
              <a:avLst/>
              <a:gdLst>
                <a:gd name="T0" fmla="*/ 24 w 2586"/>
                <a:gd name="T1" fmla="*/ 1168 h 1178"/>
                <a:gd name="T2" fmla="*/ 79 w 2586"/>
                <a:gd name="T3" fmla="*/ 1144 h 1178"/>
                <a:gd name="T4" fmla="*/ 152 w 2586"/>
                <a:gd name="T5" fmla="*/ 1108 h 1178"/>
                <a:gd name="T6" fmla="*/ 234 w 2586"/>
                <a:gd name="T7" fmla="*/ 1065 h 1178"/>
                <a:gd name="T8" fmla="*/ 319 w 2586"/>
                <a:gd name="T9" fmla="*/ 1020 h 1178"/>
                <a:gd name="T10" fmla="*/ 398 w 2586"/>
                <a:gd name="T11" fmla="*/ 976 h 1178"/>
                <a:gd name="T12" fmla="*/ 462 w 2586"/>
                <a:gd name="T13" fmla="*/ 938 h 1178"/>
                <a:gd name="T14" fmla="*/ 504 w 2586"/>
                <a:gd name="T15" fmla="*/ 910 h 1178"/>
                <a:gd name="T16" fmla="*/ 539 w 2586"/>
                <a:gd name="T17" fmla="*/ 877 h 1178"/>
                <a:gd name="T18" fmla="*/ 576 w 2586"/>
                <a:gd name="T19" fmla="*/ 836 h 1178"/>
                <a:gd name="T20" fmla="*/ 613 w 2586"/>
                <a:gd name="T21" fmla="*/ 791 h 1178"/>
                <a:gd name="T22" fmla="*/ 647 w 2586"/>
                <a:gd name="T23" fmla="*/ 742 h 1178"/>
                <a:gd name="T24" fmla="*/ 699 w 2586"/>
                <a:gd name="T25" fmla="*/ 655 h 1178"/>
                <a:gd name="T26" fmla="*/ 754 w 2586"/>
                <a:gd name="T27" fmla="*/ 556 h 1178"/>
                <a:gd name="T28" fmla="*/ 807 w 2586"/>
                <a:gd name="T29" fmla="*/ 456 h 1178"/>
                <a:gd name="T30" fmla="*/ 861 w 2586"/>
                <a:gd name="T31" fmla="*/ 355 h 1178"/>
                <a:gd name="T32" fmla="*/ 898 w 2586"/>
                <a:gd name="T33" fmla="*/ 287 h 1178"/>
                <a:gd name="T34" fmla="*/ 932 w 2586"/>
                <a:gd name="T35" fmla="*/ 231 h 1178"/>
                <a:gd name="T36" fmla="*/ 973 w 2586"/>
                <a:gd name="T37" fmla="*/ 176 h 1178"/>
                <a:gd name="T38" fmla="*/ 1018 w 2586"/>
                <a:gd name="T39" fmla="*/ 124 h 1178"/>
                <a:gd name="T40" fmla="*/ 1067 w 2586"/>
                <a:gd name="T41" fmla="*/ 78 h 1178"/>
                <a:gd name="T42" fmla="*/ 1119 w 2586"/>
                <a:gd name="T43" fmla="*/ 41 h 1178"/>
                <a:gd name="T44" fmla="*/ 1174 w 2586"/>
                <a:gd name="T45" fmla="*/ 14 h 1178"/>
                <a:gd name="T46" fmla="*/ 1231 w 2586"/>
                <a:gd name="T47" fmla="*/ 1 h 1178"/>
                <a:gd name="T48" fmla="*/ 1288 w 2586"/>
                <a:gd name="T49" fmla="*/ 2 h 1178"/>
                <a:gd name="T50" fmla="*/ 1341 w 2586"/>
                <a:gd name="T51" fmla="*/ 11 h 1178"/>
                <a:gd name="T52" fmla="*/ 1390 w 2586"/>
                <a:gd name="T53" fmla="*/ 29 h 1178"/>
                <a:gd name="T54" fmla="*/ 1437 w 2586"/>
                <a:gd name="T55" fmla="*/ 57 h 1178"/>
                <a:gd name="T56" fmla="*/ 1483 w 2586"/>
                <a:gd name="T57" fmla="*/ 96 h 1178"/>
                <a:gd name="T58" fmla="*/ 1530 w 2586"/>
                <a:gd name="T59" fmla="*/ 145 h 1178"/>
                <a:gd name="T60" fmla="*/ 1578 w 2586"/>
                <a:gd name="T61" fmla="*/ 204 h 1178"/>
                <a:gd name="T62" fmla="*/ 1630 w 2586"/>
                <a:gd name="T63" fmla="*/ 275 h 1178"/>
                <a:gd name="T64" fmla="*/ 1693 w 2586"/>
                <a:gd name="T65" fmla="*/ 379 h 1178"/>
                <a:gd name="T66" fmla="*/ 1746 w 2586"/>
                <a:gd name="T67" fmla="*/ 498 h 1178"/>
                <a:gd name="T68" fmla="*/ 1797 w 2586"/>
                <a:gd name="T69" fmla="*/ 622 h 1178"/>
                <a:gd name="T70" fmla="*/ 1853 w 2586"/>
                <a:gd name="T71" fmla="*/ 741 h 1178"/>
                <a:gd name="T72" fmla="*/ 1885 w 2586"/>
                <a:gd name="T73" fmla="*/ 791 h 1178"/>
                <a:gd name="T74" fmla="*/ 1913 w 2586"/>
                <a:gd name="T75" fmla="*/ 823 h 1178"/>
                <a:gd name="T76" fmla="*/ 1949 w 2586"/>
                <a:gd name="T77" fmla="*/ 860 h 1178"/>
                <a:gd name="T78" fmla="*/ 1989 w 2586"/>
                <a:gd name="T79" fmla="*/ 896 h 1178"/>
                <a:gd name="T80" fmla="*/ 2033 w 2586"/>
                <a:gd name="T81" fmla="*/ 932 h 1178"/>
                <a:gd name="T82" fmla="*/ 2078 w 2586"/>
                <a:gd name="T83" fmla="*/ 967 h 1178"/>
                <a:gd name="T84" fmla="*/ 2123 w 2586"/>
                <a:gd name="T85" fmla="*/ 998 h 1178"/>
                <a:gd name="T86" fmla="*/ 2164 w 2586"/>
                <a:gd name="T87" fmla="*/ 1024 h 1178"/>
                <a:gd name="T88" fmla="*/ 2209 w 2586"/>
                <a:gd name="T89" fmla="*/ 1048 h 1178"/>
                <a:gd name="T90" fmla="*/ 2262 w 2586"/>
                <a:gd name="T91" fmla="*/ 1073 h 1178"/>
                <a:gd name="T92" fmla="*/ 2318 w 2586"/>
                <a:gd name="T93" fmla="*/ 1098 h 1178"/>
                <a:gd name="T94" fmla="*/ 2377 w 2586"/>
                <a:gd name="T95" fmla="*/ 1122 h 1178"/>
                <a:gd name="T96" fmla="*/ 2435 w 2586"/>
                <a:gd name="T97" fmla="*/ 1142 h 1178"/>
                <a:gd name="T98" fmla="*/ 2489 w 2586"/>
                <a:gd name="T99" fmla="*/ 1159 h 1178"/>
                <a:gd name="T100" fmla="*/ 2537 w 2586"/>
                <a:gd name="T101" fmla="*/ 1171 h 1178"/>
                <a:gd name="T102" fmla="*/ 2577 w 2586"/>
                <a:gd name="T103" fmla="*/ 1176 h 1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86" h="1178">
                  <a:moveTo>
                    <a:pt x="0" y="1177"/>
                  </a:moveTo>
                  <a:lnTo>
                    <a:pt x="6" y="1175"/>
                  </a:lnTo>
                  <a:lnTo>
                    <a:pt x="14" y="1172"/>
                  </a:lnTo>
                  <a:lnTo>
                    <a:pt x="24" y="1168"/>
                  </a:lnTo>
                  <a:lnTo>
                    <a:pt x="36" y="1164"/>
                  </a:lnTo>
                  <a:lnTo>
                    <a:pt x="48" y="1158"/>
                  </a:lnTo>
                  <a:lnTo>
                    <a:pt x="63" y="1151"/>
                  </a:lnTo>
                  <a:lnTo>
                    <a:pt x="79" y="1144"/>
                  </a:lnTo>
                  <a:lnTo>
                    <a:pt x="96" y="1136"/>
                  </a:lnTo>
                  <a:lnTo>
                    <a:pt x="114" y="1127"/>
                  </a:lnTo>
                  <a:lnTo>
                    <a:pt x="132" y="1117"/>
                  </a:lnTo>
                  <a:lnTo>
                    <a:pt x="152" y="1108"/>
                  </a:lnTo>
                  <a:lnTo>
                    <a:pt x="171" y="1098"/>
                  </a:lnTo>
                  <a:lnTo>
                    <a:pt x="193" y="1087"/>
                  </a:lnTo>
                  <a:lnTo>
                    <a:pt x="213" y="1076"/>
                  </a:lnTo>
                  <a:lnTo>
                    <a:pt x="234" y="1065"/>
                  </a:lnTo>
                  <a:lnTo>
                    <a:pt x="256" y="1054"/>
                  </a:lnTo>
                  <a:lnTo>
                    <a:pt x="277" y="1042"/>
                  </a:lnTo>
                  <a:lnTo>
                    <a:pt x="298" y="1031"/>
                  </a:lnTo>
                  <a:lnTo>
                    <a:pt x="319" y="1020"/>
                  </a:lnTo>
                  <a:lnTo>
                    <a:pt x="340" y="1008"/>
                  </a:lnTo>
                  <a:lnTo>
                    <a:pt x="360" y="998"/>
                  </a:lnTo>
                  <a:lnTo>
                    <a:pt x="379" y="986"/>
                  </a:lnTo>
                  <a:lnTo>
                    <a:pt x="398" y="976"/>
                  </a:lnTo>
                  <a:lnTo>
                    <a:pt x="416" y="966"/>
                  </a:lnTo>
                  <a:lnTo>
                    <a:pt x="432" y="955"/>
                  </a:lnTo>
                  <a:lnTo>
                    <a:pt x="448" y="947"/>
                  </a:lnTo>
                  <a:lnTo>
                    <a:pt x="462" y="938"/>
                  </a:lnTo>
                  <a:lnTo>
                    <a:pt x="475" y="930"/>
                  </a:lnTo>
                  <a:lnTo>
                    <a:pt x="486" y="922"/>
                  </a:lnTo>
                  <a:lnTo>
                    <a:pt x="496" y="916"/>
                  </a:lnTo>
                  <a:lnTo>
                    <a:pt x="504" y="910"/>
                  </a:lnTo>
                  <a:lnTo>
                    <a:pt x="509" y="905"/>
                  </a:lnTo>
                  <a:lnTo>
                    <a:pt x="520" y="896"/>
                  </a:lnTo>
                  <a:lnTo>
                    <a:pt x="529" y="888"/>
                  </a:lnTo>
                  <a:lnTo>
                    <a:pt x="539" y="877"/>
                  </a:lnTo>
                  <a:lnTo>
                    <a:pt x="549" y="868"/>
                  </a:lnTo>
                  <a:lnTo>
                    <a:pt x="558" y="857"/>
                  </a:lnTo>
                  <a:lnTo>
                    <a:pt x="567" y="847"/>
                  </a:lnTo>
                  <a:lnTo>
                    <a:pt x="576" y="836"/>
                  </a:lnTo>
                  <a:lnTo>
                    <a:pt x="586" y="826"/>
                  </a:lnTo>
                  <a:lnTo>
                    <a:pt x="595" y="814"/>
                  </a:lnTo>
                  <a:lnTo>
                    <a:pt x="604" y="803"/>
                  </a:lnTo>
                  <a:lnTo>
                    <a:pt x="613" y="791"/>
                  </a:lnTo>
                  <a:lnTo>
                    <a:pt x="621" y="779"/>
                  </a:lnTo>
                  <a:lnTo>
                    <a:pt x="629" y="767"/>
                  </a:lnTo>
                  <a:lnTo>
                    <a:pt x="638" y="755"/>
                  </a:lnTo>
                  <a:lnTo>
                    <a:pt x="647" y="742"/>
                  </a:lnTo>
                  <a:lnTo>
                    <a:pt x="654" y="730"/>
                  </a:lnTo>
                  <a:lnTo>
                    <a:pt x="670" y="704"/>
                  </a:lnTo>
                  <a:lnTo>
                    <a:pt x="685" y="679"/>
                  </a:lnTo>
                  <a:lnTo>
                    <a:pt x="699" y="655"/>
                  </a:lnTo>
                  <a:lnTo>
                    <a:pt x="713" y="630"/>
                  </a:lnTo>
                  <a:lnTo>
                    <a:pt x="727" y="605"/>
                  </a:lnTo>
                  <a:lnTo>
                    <a:pt x="741" y="580"/>
                  </a:lnTo>
                  <a:lnTo>
                    <a:pt x="754" y="556"/>
                  </a:lnTo>
                  <a:lnTo>
                    <a:pt x="767" y="531"/>
                  </a:lnTo>
                  <a:lnTo>
                    <a:pt x="781" y="507"/>
                  </a:lnTo>
                  <a:lnTo>
                    <a:pt x="794" y="482"/>
                  </a:lnTo>
                  <a:lnTo>
                    <a:pt x="807" y="456"/>
                  </a:lnTo>
                  <a:lnTo>
                    <a:pt x="820" y="431"/>
                  </a:lnTo>
                  <a:lnTo>
                    <a:pt x="834" y="406"/>
                  </a:lnTo>
                  <a:lnTo>
                    <a:pt x="847" y="380"/>
                  </a:lnTo>
                  <a:lnTo>
                    <a:pt x="861" y="355"/>
                  </a:lnTo>
                  <a:lnTo>
                    <a:pt x="875" y="327"/>
                  </a:lnTo>
                  <a:lnTo>
                    <a:pt x="882" y="314"/>
                  </a:lnTo>
                  <a:lnTo>
                    <a:pt x="889" y="300"/>
                  </a:lnTo>
                  <a:lnTo>
                    <a:pt x="898" y="287"/>
                  </a:lnTo>
                  <a:lnTo>
                    <a:pt x="906" y="273"/>
                  </a:lnTo>
                  <a:lnTo>
                    <a:pt x="914" y="259"/>
                  </a:lnTo>
                  <a:lnTo>
                    <a:pt x="923" y="245"/>
                  </a:lnTo>
                  <a:lnTo>
                    <a:pt x="932" y="231"/>
                  </a:lnTo>
                  <a:lnTo>
                    <a:pt x="942" y="217"/>
                  </a:lnTo>
                  <a:lnTo>
                    <a:pt x="952" y="203"/>
                  </a:lnTo>
                  <a:lnTo>
                    <a:pt x="962" y="189"/>
                  </a:lnTo>
                  <a:lnTo>
                    <a:pt x="973" y="176"/>
                  </a:lnTo>
                  <a:lnTo>
                    <a:pt x="984" y="162"/>
                  </a:lnTo>
                  <a:lnTo>
                    <a:pt x="995" y="149"/>
                  </a:lnTo>
                  <a:lnTo>
                    <a:pt x="1006" y="136"/>
                  </a:lnTo>
                  <a:lnTo>
                    <a:pt x="1018" y="124"/>
                  </a:lnTo>
                  <a:lnTo>
                    <a:pt x="1030" y="112"/>
                  </a:lnTo>
                  <a:lnTo>
                    <a:pt x="1042" y="100"/>
                  </a:lnTo>
                  <a:lnTo>
                    <a:pt x="1054" y="89"/>
                  </a:lnTo>
                  <a:lnTo>
                    <a:pt x="1067" y="78"/>
                  </a:lnTo>
                  <a:lnTo>
                    <a:pt x="1079" y="68"/>
                  </a:lnTo>
                  <a:lnTo>
                    <a:pt x="1093" y="58"/>
                  </a:lnTo>
                  <a:lnTo>
                    <a:pt x="1105" y="49"/>
                  </a:lnTo>
                  <a:lnTo>
                    <a:pt x="1119" y="41"/>
                  </a:lnTo>
                  <a:lnTo>
                    <a:pt x="1132" y="33"/>
                  </a:lnTo>
                  <a:lnTo>
                    <a:pt x="1146" y="26"/>
                  </a:lnTo>
                  <a:lnTo>
                    <a:pt x="1160" y="20"/>
                  </a:lnTo>
                  <a:lnTo>
                    <a:pt x="1174" y="14"/>
                  </a:lnTo>
                  <a:lnTo>
                    <a:pt x="1188" y="10"/>
                  </a:lnTo>
                  <a:lnTo>
                    <a:pt x="1202" y="6"/>
                  </a:lnTo>
                  <a:lnTo>
                    <a:pt x="1217" y="2"/>
                  </a:lnTo>
                  <a:lnTo>
                    <a:pt x="1231" y="1"/>
                  </a:lnTo>
                  <a:lnTo>
                    <a:pt x="1246" y="0"/>
                  </a:lnTo>
                  <a:lnTo>
                    <a:pt x="1260" y="0"/>
                  </a:lnTo>
                  <a:lnTo>
                    <a:pt x="1274" y="1"/>
                  </a:lnTo>
                  <a:lnTo>
                    <a:pt x="1288" y="2"/>
                  </a:lnTo>
                  <a:lnTo>
                    <a:pt x="1302" y="2"/>
                  </a:lnTo>
                  <a:lnTo>
                    <a:pt x="1315" y="5"/>
                  </a:lnTo>
                  <a:lnTo>
                    <a:pt x="1328" y="7"/>
                  </a:lnTo>
                  <a:lnTo>
                    <a:pt x="1341" y="11"/>
                  </a:lnTo>
                  <a:lnTo>
                    <a:pt x="1353" y="14"/>
                  </a:lnTo>
                  <a:lnTo>
                    <a:pt x="1365" y="18"/>
                  </a:lnTo>
                  <a:lnTo>
                    <a:pt x="1378" y="24"/>
                  </a:lnTo>
                  <a:lnTo>
                    <a:pt x="1390" y="29"/>
                  </a:lnTo>
                  <a:lnTo>
                    <a:pt x="1401" y="36"/>
                  </a:lnTo>
                  <a:lnTo>
                    <a:pt x="1413" y="42"/>
                  </a:lnTo>
                  <a:lnTo>
                    <a:pt x="1425" y="50"/>
                  </a:lnTo>
                  <a:lnTo>
                    <a:pt x="1437" y="57"/>
                  </a:lnTo>
                  <a:lnTo>
                    <a:pt x="1449" y="66"/>
                  </a:lnTo>
                  <a:lnTo>
                    <a:pt x="1460" y="75"/>
                  </a:lnTo>
                  <a:lnTo>
                    <a:pt x="1472" y="85"/>
                  </a:lnTo>
                  <a:lnTo>
                    <a:pt x="1483" y="96"/>
                  </a:lnTo>
                  <a:lnTo>
                    <a:pt x="1495" y="107"/>
                  </a:lnTo>
                  <a:lnTo>
                    <a:pt x="1506" y="118"/>
                  </a:lnTo>
                  <a:lnTo>
                    <a:pt x="1518" y="131"/>
                  </a:lnTo>
                  <a:lnTo>
                    <a:pt x="1530" y="145"/>
                  </a:lnTo>
                  <a:lnTo>
                    <a:pt x="1542" y="158"/>
                  </a:lnTo>
                  <a:lnTo>
                    <a:pt x="1554" y="173"/>
                  </a:lnTo>
                  <a:lnTo>
                    <a:pt x="1566" y="188"/>
                  </a:lnTo>
                  <a:lnTo>
                    <a:pt x="1578" y="204"/>
                  </a:lnTo>
                  <a:lnTo>
                    <a:pt x="1591" y="221"/>
                  </a:lnTo>
                  <a:lnTo>
                    <a:pt x="1604" y="238"/>
                  </a:lnTo>
                  <a:lnTo>
                    <a:pt x="1617" y="256"/>
                  </a:lnTo>
                  <a:lnTo>
                    <a:pt x="1630" y="275"/>
                  </a:lnTo>
                  <a:lnTo>
                    <a:pt x="1644" y="295"/>
                  </a:lnTo>
                  <a:lnTo>
                    <a:pt x="1661" y="322"/>
                  </a:lnTo>
                  <a:lnTo>
                    <a:pt x="1678" y="350"/>
                  </a:lnTo>
                  <a:lnTo>
                    <a:pt x="1693" y="379"/>
                  </a:lnTo>
                  <a:lnTo>
                    <a:pt x="1707" y="407"/>
                  </a:lnTo>
                  <a:lnTo>
                    <a:pt x="1721" y="437"/>
                  </a:lnTo>
                  <a:lnTo>
                    <a:pt x="1734" y="468"/>
                  </a:lnTo>
                  <a:lnTo>
                    <a:pt x="1746" y="498"/>
                  </a:lnTo>
                  <a:lnTo>
                    <a:pt x="1760" y="529"/>
                  </a:lnTo>
                  <a:lnTo>
                    <a:pt x="1772" y="560"/>
                  </a:lnTo>
                  <a:lnTo>
                    <a:pt x="1784" y="590"/>
                  </a:lnTo>
                  <a:lnTo>
                    <a:pt x="1797" y="622"/>
                  </a:lnTo>
                  <a:lnTo>
                    <a:pt x="1810" y="651"/>
                  </a:lnTo>
                  <a:lnTo>
                    <a:pt x="1824" y="681"/>
                  </a:lnTo>
                  <a:lnTo>
                    <a:pt x="1838" y="711"/>
                  </a:lnTo>
                  <a:lnTo>
                    <a:pt x="1853" y="741"/>
                  </a:lnTo>
                  <a:lnTo>
                    <a:pt x="1869" y="769"/>
                  </a:lnTo>
                  <a:lnTo>
                    <a:pt x="1874" y="775"/>
                  </a:lnTo>
                  <a:lnTo>
                    <a:pt x="1878" y="783"/>
                  </a:lnTo>
                  <a:lnTo>
                    <a:pt x="1885" y="791"/>
                  </a:lnTo>
                  <a:lnTo>
                    <a:pt x="1890" y="798"/>
                  </a:lnTo>
                  <a:lnTo>
                    <a:pt x="1897" y="807"/>
                  </a:lnTo>
                  <a:lnTo>
                    <a:pt x="1905" y="815"/>
                  </a:lnTo>
                  <a:lnTo>
                    <a:pt x="1913" y="823"/>
                  </a:lnTo>
                  <a:lnTo>
                    <a:pt x="1921" y="832"/>
                  </a:lnTo>
                  <a:lnTo>
                    <a:pt x="1930" y="841"/>
                  </a:lnTo>
                  <a:lnTo>
                    <a:pt x="1938" y="851"/>
                  </a:lnTo>
                  <a:lnTo>
                    <a:pt x="1949" y="860"/>
                  </a:lnTo>
                  <a:lnTo>
                    <a:pt x="1958" y="869"/>
                  </a:lnTo>
                  <a:lnTo>
                    <a:pt x="1968" y="878"/>
                  </a:lnTo>
                  <a:lnTo>
                    <a:pt x="1979" y="887"/>
                  </a:lnTo>
                  <a:lnTo>
                    <a:pt x="1989" y="896"/>
                  </a:lnTo>
                  <a:lnTo>
                    <a:pt x="2000" y="905"/>
                  </a:lnTo>
                  <a:lnTo>
                    <a:pt x="2010" y="914"/>
                  </a:lnTo>
                  <a:lnTo>
                    <a:pt x="2022" y="924"/>
                  </a:lnTo>
                  <a:lnTo>
                    <a:pt x="2033" y="932"/>
                  </a:lnTo>
                  <a:lnTo>
                    <a:pt x="2044" y="941"/>
                  </a:lnTo>
                  <a:lnTo>
                    <a:pt x="2055" y="951"/>
                  </a:lnTo>
                  <a:lnTo>
                    <a:pt x="2067" y="959"/>
                  </a:lnTo>
                  <a:lnTo>
                    <a:pt x="2078" y="967"/>
                  </a:lnTo>
                  <a:lnTo>
                    <a:pt x="2089" y="975"/>
                  </a:lnTo>
                  <a:lnTo>
                    <a:pt x="2101" y="983"/>
                  </a:lnTo>
                  <a:lnTo>
                    <a:pt x="2111" y="991"/>
                  </a:lnTo>
                  <a:lnTo>
                    <a:pt x="2123" y="998"/>
                  </a:lnTo>
                  <a:lnTo>
                    <a:pt x="2133" y="1005"/>
                  </a:lnTo>
                  <a:lnTo>
                    <a:pt x="2144" y="1012"/>
                  </a:lnTo>
                  <a:lnTo>
                    <a:pt x="2154" y="1017"/>
                  </a:lnTo>
                  <a:lnTo>
                    <a:pt x="2164" y="1024"/>
                  </a:lnTo>
                  <a:lnTo>
                    <a:pt x="2174" y="1029"/>
                  </a:lnTo>
                  <a:lnTo>
                    <a:pt x="2185" y="1036"/>
                  </a:lnTo>
                  <a:lnTo>
                    <a:pt x="2197" y="1041"/>
                  </a:lnTo>
                  <a:lnTo>
                    <a:pt x="2209" y="1048"/>
                  </a:lnTo>
                  <a:lnTo>
                    <a:pt x="2222" y="1054"/>
                  </a:lnTo>
                  <a:lnTo>
                    <a:pt x="2234" y="1060"/>
                  </a:lnTo>
                  <a:lnTo>
                    <a:pt x="2249" y="1066"/>
                  </a:lnTo>
                  <a:lnTo>
                    <a:pt x="2262" y="1073"/>
                  </a:lnTo>
                  <a:lnTo>
                    <a:pt x="2275" y="1079"/>
                  </a:lnTo>
                  <a:lnTo>
                    <a:pt x="2290" y="1085"/>
                  </a:lnTo>
                  <a:lnTo>
                    <a:pt x="2305" y="1092"/>
                  </a:lnTo>
                  <a:lnTo>
                    <a:pt x="2318" y="1098"/>
                  </a:lnTo>
                  <a:lnTo>
                    <a:pt x="2333" y="1104"/>
                  </a:lnTo>
                  <a:lnTo>
                    <a:pt x="2348" y="1109"/>
                  </a:lnTo>
                  <a:lnTo>
                    <a:pt x="2362" y="1116"/>
                  </a:lnTo>
                  <a:lnTo>
                    <a:pt x="2377" y="1122"/>
                  </a:lnTo>
                  <a:lnTo>
                    <a:pt x="2392" y="1127"/>
                  </a:lnTo>
                  <a:lnTo>
                    <a:pt x="2407" y="1132"/>
                  </a:lnTo>
                  <a:lnTo>
                    <a:pt x="2421" y="1137"/>
                  </a:lnTo>
                  <a:lnTo>
                    <a:pt x="2435" y="1142"/>
                  </a:lnTo>
                  <a:lnTo>
                    <a:pt x="2448" y="1146"/>
                  </a:lnTo>
                  <a:lnTo>
                    <a:pt x="2463" y="1151"/>
                  </a:lnTo>
                  <a:lnTo>
                    <a:pt x="2476" y="1156"/>
                  </a:lnTo>
                  <a:lnTo>
                    <a:pt x="2489" y="1159"/>
                  </a:lnTo>
                  <a:lnTo>
                    <a:pt x="2502" y="1162"/>
                  </a:lnTo>
                  <a:lnTo>
                    <a:pt x="2514" y="1165"/>
                  </a:lnTo>
                  <a:lnTo>
                    <a:pt x="2526" y="1169"/>
                  </a:lnTo>
                  <a:lnTo>
                    <a:pt x="2537" y="1171"/>
                  </a:lnTo>
                  <a:lnTo>
                    <a:pt x="2548" y="1173"/>
                  </a:lnTo>
                  <a:lnTo>
                    <a:pt x="2558" y="1175"/>
                  </a:lnTo>
                  <a:lnTo>
                    <a:pt x="2568" y="1176"/>
                  </a:lnTo>
                  <a:lnTo>
                    <a:pt x="2577" y="1176"/>
                  </a:lnTo>
                  <a:lnTo>
                    <a:pt x="2585" y="1177"/>
                  </a:lnTo>
                </a:path>
              </a:pathLst>
            </a:custGeom>
            <a:noFill/>
            <a:ln w="50800" cap="rnd" cmpd="sng">
              <a:solidFill>
                <a:srgbClr val="02B67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6" name="Text Box 11"/>
            <p:cNvSpPr txBox="1">
              <a:spLocks noChangeArrowheads="1"/>
            </p:cNvSpPr>
            <p:nvPr/>
          </p:nvSpPr>
          <p:spPr bwMode="auto">
            <a:xfrm>
              <a:off x="638829" y="2800290"/>
              <a:ext cx="76669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GB" altLang="en-US" sz="2000" b="1" dirty="0">
                  <a:solidFill>
                    <a:srgbClr val="333399"/>
                  </a:solidFill>
                </a:rPr>
                <a:t>Between groups variability large compared to within groups variability</a:t>
              </a:r>
            </a:p>
          </p:txBody>
        </p:sp>
      </p:grpSp>
      <p:grpSp>
        <p:nvGrpSpPr>
          <p:cNvPr id="5" name="Group 4"/>
          <p:cNvGrpSpPr/>
          <p:nvPr/>
        </p:nvGrpSpPr>
        <p:grpSpPr>
          <a:xfrm>
            <a:off x="685800" y="3514036"/>
            <a:ext cx="7772400" cy="1591364"/>
            <a:chOff x="685800" y="3514036"/>
            <a:chExt cx="7772400" cy="1591364"/>
          </a:xfrm>
        </p:grpSpPr>
        <p:sp>
          <p:nvSpPr>
            <p:cNvPr id="12" name="Freeform 6"/>
            <p:cNvSpPr>
              <a:spLocks/>
            </p:cNvSpPr>
            <p:nvPr/>
          </p:nvSpPr>
          <p:spPr bwMode="auto">
            <a:xfrm>
              <a:off x="1981200" y="3832165"/>
              <a:ext cx="3048000" cy="833438"/>
            </a:xfrm>
            <a:custGeom>
              <a:avLst/>
              <a:gdLst>
                <a:gd name="T0" fmla="*/ 24 w 2586"/>
                <a:gd name="T1" fmla="*/ 1168 h 1178"/>
                <a:gd name="T2" fmla="*/ 79 w 2586"/>
                <a:gd name="T3" fmla="*/ 1144 h 1178"/>
                <a:gd name="T4" fmla="*/ 152 w 2586"/>
                <a:gd name="T5" fmla="*/ 1108 h 1178"/>
                <a:gd name="T6" fmla="*/ 234 w 2586"/>
                <a:gd name="T7" fmla="*/ 1065 h 1178"/>
                <a:gd name="T8" fmla="*/ 319 w 2586"/>
                <a:gd name="T9" fmla="*/ 1020 h 1178"/>
                <a:gd name="T10" fmla="*/ 398 w 2586"/>
                <a:gd name="T11" fmla="*/ 976 h 1178"/>
                <a:gd name="T12" fmla="*/ 462 w 2586"/>
                <a:gd name="T13" fmla="*/ 938 h 1178"/>
                <a:gd name="T14" fmla="*/ 504 w 2586"/>
                <a:gd name="T15" fmla="*/ 910 h 1178"/>
                <a:gd name="T16" fmla="*/ 539 w 2586"/>
                <a:gd name="T17" fmla="*/ 877 h 1178"/>
                <a:gd name="T18" fmla="*/ 576 w 2586"/>
                <a:gd name="T19" fmla="*/ 836 h 1178"/>
                <a:gd name="T20" fmla="*/ 613 w 2586"/>
                <a:gd name="T21" fmla="*/ 791 h 1178"/>
                <a:gd name="T22" fmla="*/ 647 w 2586"/>
                <a:gd name="T23" fmla="*/ 742 h 1178"/>
                <a:gd name="T24" fmla="*/ 699 w 2586"/>
                <a:gd name="T25" fmla="*/ 655 h 1178"/>
                <a:gd name="T26" fmla="*/ 754 w 2586"/>
                <a:gd name="T27" fmla="*/ 556 h 1178"/>
                <a:gd name="T28" fmla="*/ 807 w 2586"/>
                <a:gd name="T29" fmla="*/ 456 h 1178"/>
                <a:gd name="T30" fmla="*/ 861 w 2586"/>
                <a:gd name="T31" fmla="*/ 355 h 1178"/>
                <a:gd name="T32" fmla="*/ 898 w 2586"/>
                <a:gd name="T33" fmla="*/ 287 h 1178"/>
                <a:gd name="T34" fmla="*/ 932 w 2586"/>
                <a:gd name="T35" fmla="*/ 231 h 1178"/>
                <a:gd name="T36" fmla="*/ 973 w 2586"/>
                <a:gd name="T37" fmla="*/ 176 h 1178"/>
                <a:gd name="T38" fmla="*/ 1018 w 2586"/>
                <a:gd name="T39" fmla="*/ 124 h 1178"/>
                <a:gd name="T40" fmla="*/ 1067 w 2586"/>
                <a:gd name="T41" fmla="*/ 78 h 1178"/>
                <a:gd name="T42" fmla="*/ 1119 w 2586"/>
                <a:gd name="T43" fmla="*/ 41 h 1178"/>
                <a:gd name="T44" fmla="*/ 1174 w 2586"/>
                <a:gd name="T45" fmla="*/ 14 h 1178"/>
                <a:gd name="T46" fmla="*/ 1231 w 2586"/>
                <a:gd name="T47" fmla="*/ 1 h 1178"/>
                <a:gd name="T48" fmla="*/ 1288 w 2586"/>
                <a:gd name="T49" fmla="*/ 2 h 1178"/>
                <a:gd name="T50" fmla="*/ 1341 w 2586"/>
                <a:gd name="T51" fmla="*/ 11 h 1178"/>
                <a:gd name="T52" fmla="*/ 1390 w 2586"/>
                <a:gd name="T53" fmla="*/ 29 h 1178"/>
                <a:gd name="T54" fmla="*/ 1437 w 2586"/>
                <a:gd name="T55" fmla="*/ 57 h 1178"/>
                <a:gd name="T56" fmla="*/ 1483 w 2586"/>
                <a:gd name="T57" fmla="*/ 96 h 1178"/>
                <a:gd name="T58" fmla="*/ 1530 w 2586"/>
                <a:gd name="T59" fmla="*/ 145 h 1178"/>
                <a:gd name="T60" fmla="*/ 1578 w 2586"/>
                <a:gd name="T61" fmla="*/ 204 h 1178"/>
                <a:gd name="T62" fmla="*/ 1630 w 2586"/>
                <a:gd name="T63" fmla="*/ 275 h 1178"/>
                <a:gd name="T64" fmla="*/ 1693 w 2586"/>
                <a:gd name="T65" fmla="*/ 379 h 1178"/>
                <a:gd name="T66" fmla="*/ 1746 w 2586"/>
                <a:gd name="T67" fmla="*/ 498 h 1178"/>
                <a:gd name="T68" fmla="*/ 1797 w 2586"/>
                <a:gd name="T69" fmla="*/ 622 h 1178"/>
                <a:gd name="T70" fmla="*/ 1853 w 2586"/>
                <a:gd name="T71" fmla="*/ 741 h 1178"/>
                <a:gd name="T72" fmla="*/ 1885 w 2586"/>
                <a:gd name="T73" fmla="*/ 791 h 1178"/>
                <a:gd name="T74" fmla="*/ 1913 w 2586"/>
                <a:gd name="T75" fmla="*/ 823 h 1178"/>
                <a:gd name="T76" fmla="*/ 1949 w 2586"/>
                <a:gd name="T77" fmla="*/ 860 h 1178"/>
                <a:gd name="T78" fmla="*/ 1989 w 2586"/>
                <a:gd name="T79" fmla="*/ 896 h 1178"/>
                <a:gd name="T80" fmla="*/ 2033 w 2586"/>
                <a:gd name="T81" fmla="*/ 932 h 1178"/>
                <a:gd name="T82" fmla="*/ 2078 w 2586"/>
                <a:gd name="T83" fmla="*/ 967 h 1178"/>
                <a:gd name="T84" fmla="*/ 2123 w 2586"/>
                <a:gd name="T85" fmla="*/ 998 h 1178"/>
                <a:gd name="T86" fmla="*/ 2164 w 2586"/>
                <a:gd name="T87" fmla="*/ 1024 h 1178"/>
                <a:gd name="T88" fmla="*/ 2209 w 2586"/>
                <a:gd name="T89" fmla="*/ 1048 h 1178"/>
                <a:gd name="T90" fmla="*/ 2262 w 2586"/>
                <a:gd name="T91" fmla="*/ 1073 h 1178"/>
                <a:gd name="T92" fmla="*/ 2318 w 2586"/>
                <a:gd name="T93" fmla="*/ 1098 h 1178"/>
                <a:gd name="T94" fmla="*/ 2377 w 2586"/>
                <a:gd name="T95" fmla="*/ 1122 h 1178"/>
                <a:gd name="T96" fmla="*/ 2435 w 2586"/>
                <a:gd name="T97" fmla="*/ 1142 h 1178"/>
                <a:gd name="T98" fmla="*/ 2489 w 2586"/>
                <a:gd name="T99" fmla="*/ 1159 h 1178"/>
                <a:gd name="T100" fmla="*/ 2537 w 2586"/>
                <a:gd name="T101" fmla="*/ 1171 h 1178"/>
                <a:gd name="T102" fmla="*/ 2577 w 2586"/>
                <a:gd name="T103" fmla="*/ 1176 h 1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86" h="1178">
                  <a:moveTo>
                    <a:pt x="0" y="1177"/>
                  </a:moveTo>
                  <a:lnTo>
                    <a:pt x="6" y="1175"/>
                  </a:lnTo>
                  <a:lnTo>
                    <a:pt x="14" y="1172"/>
                  </a:lnTo>
                  <a:lnTo>
                    <a:pt x="24" y="1168"/>
                  </a:lnTo>
                  <a:lnTo>
                    <a:pt x="36" y="1164"/>
                  </a:lnTo>
                  <a:lnTo>
                    <a:pt x="48" y="1158"/>
                  </a:lnTo>
                  <a:lnTo>
                    <a:pt x="63" y="1151"/>
                  </a:lnTo>
                  <a:lnTo>
                    <a:pt x="79" y="1144"/>
                  </a:lnTo>
                  <a:lnTo>
                    <a:pt x="96" y="1136"/>
                  </a:lnTo>
                  <a:lnTo>
                    <a:pt x="114" y="1127"/>
                  </a:lnTo>
                  <a:lnTo>
                    <a:pt x="132" y="1117"/>
                  </a:lnTo>
                  <a:lnTo>
                    <a:pt x="152" y="1108"/>
                  </a:lnTo>
                  <a:lnTo>
                    <a:pt x="171" y="1098"/>
                  </a:lnTo>
                  <a:lnTo>
                    <a:pt x="193" y="1087"/>
                  </a:lnTo>
                  <a:lnTo>
                    <a:pt x="213" y="1076"/>
                  </a:lnTo>
                  <a:lnTo>
                    <a:pt x="234" y="1065"/>
                  </a:lnTo>
                  <a:lnTo>
                    <a:pt x="256" y="1054"/>
                  </a:lnTo>
                  <a:lnTo>
                    <a:pt x="277" y="1042"/>
                  </a:lnTo>
                  <a:lnTo>
                    <a:pt x="298" y="1031"/>
                  </a:lnTo>
                  <a:lnTo>
                    <a:pt x="319" y="1020"/>
                  </a:lnTo>
                  <a:lnTo>
                    <a:pt x="340" y="1008"/>
                  </a:lnTo>
                  <a:lnTo>
                    <a:pt x="360" y="998"/>
                  </a:lnTo>
                  <a:lnTo>
                    <a:pt x="379" y="986"/>
                  </a:lnTo>
                  <a:lnTo>
                    <a:pt x="398" y="976"/>
                  </a:lnTo>
                  <a:lnTo>
                    <a:pt x="416" y="966"/>
                  </a:lnTo>
                  <a:lnTo>
                    <a:pt x="432" y="955"/>
                  </a:lnTo>
                  <a:lnTo>
                    <a:pt x="448" y="947"/>
                  </a:lnTo>
                  <a:lnTo>
                    <a:pt x="462" y="938"/>
                  </a:lnTo>
                  <a:lnTo>
                    <a:pt x="475" y="930"/>
                  </a:lnTo>
                  <a:lnTo>
                    <a:pt x="486" y="922"/>
                  </a:lnTo>
                  <a:lnTo>
                    <a:pt x="496" y="916"/>
                  </a:lnTo>
                  <a:lnTo>
                    <a:pt x="504" y="910"/>
                  </a:lnTo>
                  <a:lnTo>
                    <a:pt x="509" y="905"/>
                  </a:lnTo>
                  <a:lnTo>
                    <a:pt x="520" y="896"/>
                  </a:lnTo>
                  <a:lnTo>
                    <a:pt x="529" y="888"/>
                  </a:lnTo>
                  <a:lnTo>
                    <a:pt x="539" y="877"/>
                  </a:lnTo>
                  <a:lnTo>
                    <a:pt x="549" y="868"/>
                  </a:lnTo>
                  <a:lnTo>
                    <a:pt x="558" y="857"/>
                  </a:lnTo>
                  <a:lnTo>
                    <a:pt x="567" y="847"/>
                  </a:lnTo>
                  <a:lnTo>
                    <a:pt x="576" y="836"/>
                  </a:lnTo>
                  <a:lnTo>
                    <a:pt x="586" y="826"/>
                  </a:lnTo>
                  <a:lnTo>
                    <a:pt x="595" y="814"/>
                  </a:lnTo>
                  <a:lnTo>
                    <a:pt x="604" y="803"/>
                  </a:lnTo>
                  <a:lnTo>
                    <a:pt x="613" y="791"/>
                  </a:lnTo>
                  <a:lnTo>
                    <a:pt x="621" y="779"/>
                  </a:lnTo>
                  <a:lnTo>
                    <a:pt x="629" y="767"/>
                  </a:lnTo>
                  <a:lnTo>
                    <a:pt x="638" y="755"/>
                  </a:lnTo>
                  <a:lnTo>
                    <a:pt x="647" y="742"/>
                  </a:lnTo>
                  <a:lnTo>
                    <a:pt x="654" y="730"/>
                  </a:lnTo>
                  <a:lnTo>
                    <a:pt x="670" y="704"/>
                  </a:lnTo>
                  <a:lnTo>
                    <a:pt x="685" y="679"/>
                  </a:lnTo>
                  <a:lnTo>
                    <a:pt x="699" y="655"/>
                  </a:lnTo>
                  <a:lnTo>
                    <a:pt x="713" y="630"/>
                  </a:lnTo>
                  <a:lnTo>
                    <a:pt x="727" y="605"/>
                  </a:lnTo>
                  <a:lnTo>
                    <a:pt x="741" y="580"/>
                  </a:lnTo>
                  <a:lnTo>
                    <a:pt x="754" y="556"/>
                  </a:lnTo>
                  <a:lnTo>
                    <a:pt x="767" y="531"/>
                  </a:lnTo>
                  <a:lnTo>
                    <a:pt x="781" y="507"/>
                  </a:lnTo>
                  <a:lnTo>
                    <a:pt x="794" y="482"/>
                  </a:lnTo>
                  <a:lnTo>
                    <a:pt x="807" y="456"/>
                  </a:lnTo>
                  <a:lnTo>
                    <a:pt x="820" y="431"/>
                  </a:lnTo>
                  <a:lnTo>
                    <a:pt x="834" y="406"/>
                  </a:lnTo>
                  <a:lnTo>
                    <a:pt x="847" y="380"/>
                  </a:lnTo>
                  <a:lnTo>
                    <a:pt x="861" y="355"/>
                  </a:lnTo>
                  <a:lnTo>
                    <a:pt x="875" y="327"/>
                  </a:lnTo>
                  <a:lnTo>
                    <a:pt x="882" y="314"/>
                  </a:lnTo>
                  <a:lnTo>
                    <a:pt x="889" y="300"/>
                  </a:lnTo>
                  <a:lnTo>
                    <a:pt x="898" y="287"/>
                  </a:lnTo>
                  <a:lnTo>
                    <a:pt x="906" y="273"/>
                  </a:lnTo>
                  <a:lnTo>
                    <a:pt x="914" y="259"/>
                  </a:lnTo>
                  <a:lnTo>
                    <a:pt x="923" y="245"/>
                  </a:lnTo>
                  <a:lnTo>
                    <a:pt x="932" y="231"/>
                  </a:lnTo>
                  <a:lnTo>
                    <a:pt x="942" y="217"/>
                  </a:lnTo>
                  <a:lnTo>
                    <a:pt x="952" y="203"/>
                  </a:lnTo>
                  <a:lnTo>
                    <a:pt x="962" y="189"/>
                  </a:lnTo>
                  <a:lnTo>
                    <a:pt x="973" y="176"/>
                  </a:lnTo>
                  <a:lnTo>
                    <a:pt x="984" y="162"/>
                  </a:lnTo>
                  <a:lnTo>
                    <a:pt x="995" y="149"/>
                  </a:lnTo>
                  <a:lnTo>
                    <a:pt x="1006" y="136"/>
                  </a:lnTo>
                  <a:lnTo>
                    <a:pt x="1018" y="124"/>
                  </a:lnTo>
                  <a:lnTo>
                    <a:pt x="1030" y="112"/>
                  </a:lnTo>
                  <a:lnTo>
                    <a:pt x="1042" y="100"/>
                  </a:lnTo>
                  <a:lnTo>
                    <a:pt x="1054" y="89"/>
                  </a:lnTo>
                  <a:lnTo>
                    <a:pt x="1067" y="78"/>
                  </a:lnTo>
                  <a:lnTo>
                    <a:pt x="1079" y="68"/>
                  </a:lnTo>
                  <a:lnTo>
                    <a:pt x="1093" y="58"/>
                  </a:lnTo>
                  <a:lnTo>
                    <a:pt x="1105" y="49"/>
                  </a:lnTo>
                  <a:lnTo>
                    <a:pt x="1119" y="41"/>
                  </a:lnTo>
                  <a:lnTo>
                    <a:pt x="1132" y="33"/>
                  </a:lnTo>
                  <a:lnTo>
                    <a:pt x="1146" y="26"/>
                  </a:lnTo>
                  <a:lnTo>
                    <a:pt x="1160" y="20"/>
                  </a:lnTo>
                  <a:lnTo>
                    <a:pt x="1174" y="14"/>
                  </a:lnTo>
                  <a:lnTo>
                    <a:pt x="1188" y="10"/>
                  </a:lnTo>
                  <a:lnTo>
                    <a:pt x="1202" y="6"/>
                  </a:lnTo>
                  <a:lnTo>
                    <a:pt x="1217" y="2"/>
                  </a:lnTo>
                  <a:lnTo>
                    <a:pt x="1231" y="1"/>
                  </a:lnTo>
                  <a:lnTo>
                    <a:pt x="1246" y="0"/>
                  </a:lnTo>
                  <a:lnTo>
                    <a:pt x="1260" y="0"/>
                  </a:lnTo>
                  <a:lnTo>
                    <a:pt x="1274" y="1"/>
                  </a:lnTo>
                  <a:lnTo>
                    <a:pt x="1288" y="2"/>
                  </a:lnTo>
                  <a:lnTo>
                    <a:pt x="1302" y="2"/>
                  </a:lnTo>
                  <a:lnTo>
                    <a:pt x="1315" y="5"/>
                  </a:lnTo>
                  <a:lnTo>
                    <a:pt x="1328" y="7"/>
                  </a:lnTo>
                  <a:lnTo>
                    <a:pt x="1341" y="11"/>
                  </a:lnTo>
                  <a:lnTo>
                    <a:pt x="1353" y="14"/>
                  </a:lnTo>
                  <a:lnTo>
                    <a:pt x="1365" y="18"/>
                  </a:lnTo>
                  <a:lnTo>
                    <a:pt x="1378" y="24"/>
                  </a:lnTo>
                  <a:lnTo>
                    <a:pt x="1390" y="29"/>
                  </a:lnTo>
                  <a:lnTo>
                    <a:pt x="1401" y="36"/>
                  </a:lnTo>
                  <a:lnTo>
                    <a:pt x="1413" y="42"/>
                  </a:lnTo>
                  <a:lnTo>
                    <a:pt x="1425" y="50"/>
                  </a:lnTo>
                  <a:lnTo>
                    <a:pt x="1437" y="57"/>
                  </a:lnTo>
                  <a:lnTo>
                    <a:pt x="1449" y="66"/>
                  </a:lnTo>
                  <a:lnTo>
                    <a:pt x="1460" y="75"/>
                  </a:lnTo>
                  <a:lnTo>
                    <a:pt x="1472" y="85"/>
                  </a:lnTo>
                  <a:lnTo>
                    <a:pt x="1483" y="96"/>
                  </a:lnTo>
                  <a:lnTo>
                    <a:pt x="1495" y="107"/>
                  </a:lnTo>
                  <a:lnTo>
                    <a:pt x="1506" y="118"/>
                  </a:lnTo>
                  <a:lnTo>
                    <a:pt x="1518" y="131"/>
                  </a:lnTo>
                  <a:lnTo>
                    <a:pt x="1530" y="145"/>
                  </a:lnTo>
                  <a:lnTo>
                    <a:pt x="1542" y="158"/>
                  </a:lnTo>
                  <a:lnTo>
                    <a:pt x="1554" y="173"/>
                  </a:lnTo>
                  <a:lnTo>
                    <a:pt x="1566" y="188"/>
                  </a:lnTo>
                  <a:lnTo>
                    <a:pt x="1578" y="204"/>
                  </a:lnTo>
                  <a:lnTo>
                    <a:pt x="1591" y="221"/>
                  </a:lnTo>
                  <a:lnTo>
                    <a:pt x="1604" y="238"/>
                  </a:lnTo>
                  <a:lnTo>
                    <a:pt x="1617" y="256"/>
                  </a:lnTo>
                  <a:lnTo>
                    <a:pt x="1630" y="275"/>
                  </a:lnTo>
                  <a:lnTo>
                    <a:pt x="1644" y="295"/>
                  </a:lnTo>
                  <a:lnTo>
                    <a:pt x="1661" y="322"/>
                  </a:lnTo>
                  <a:lnTo>
                    <a:pt x="1678" y="350"/>
                  </a:lnTo>
                  <a:lnTo>
                    <a:pt x="1693" y="379"/>
                  </a:lnTo>
                  <a:lnTo>
                    <a:pt x="1707" y="407"/>
                  </a:lnTo>
                  <a:lnTo>
                    <a:pt x="1721" y="437"/>
                  </a:lnTo>
                  <a:lnTo>
                    <a:pt x="1734" y="468"/>
                  </a:lnTo>
                  <a:lnTo>
                    <a:pt x="1746" y="498"/>
                  </a:lnTo>
                  <a:lnTo>
                    <a:pt x="1760" y="529"/>
                  </a:lnTo>
                  <a:lnTo>
                    <a:pt x="1772" y="560"/>
                  </a:lnTo>
                  <a:lnTo>
                    <a:pt x="1784" y="590"/>
                  </a:lnTo>
                  <a:lnTo>
                    <a:pt x="1797" y="622"/>
                  </a:lnTo>
                  <a:lnTo>
                    <a:pt x="1810" y="651"/>
                  </a:lnTo>
                  <a:lnTo>
                    <a:pt x="1824" y="681"/>
                  </a:lnTo>
                  <a:lnTo>
                    <a:pt x="1838" y="711"/>
                  </a:lnTo>
                  <a:lnTo>
                    <a:pt x="1853" y="741"/>
                  </a:lnTo>
                  <a:lnTo>
                    <a:pt x="1869" y="769"/>
                  </a:lnTo>
                  <a:lnTo>
                    <a:pt x="1874" y="775"/>
                  </a:lnTo>
                  <a:lnTo>
                    <a:pt x="1878" y="783"/>
                  </a:lnTo>
                  <a:lnTo>
                    <a:pt x="1885" y="791"/>
                  </a:lnTo>
                  <a:lnTo>
                    <a:pt x="1890" y="798"/>
                  </a:lnTo>
                  <a:lnTo>
                    <a:pt x="1897" y="807"/>
                  </a:lnTo>
                  <a:lnTo>
                    <a:pt x="1905" y="815"/>
                  </a:lnTo>
                  <a:lnTo>
                    <a:pt x="1913" y="823"/>
                  </a:lnTo>
                  <a:lnTo>
                    <a:pt x="1921" y="832"/>
                  </a:lnTo>
                  <a:lnTo>
                    <a:pt x="1930" y="841"/>
                  </a:lnTo>
                  <a:lnTo>
                    <a:pt x="1938" y="851"/>
                  </a:lnTo>
                  <a:lnTo>
                    <a:pt x="1949" y="860"/>
                  </a:lnTo>
                  <a:lnTo>
                    <a:pt x="1958" y="869"/>
                  </a:lnTo>
                  <a:lnTo>
                    <a:pt x="1968" y="878"/>
                  </a:lnTo>
                  <a:lnTo>
                    <a:pt x="1979" y="887"/>
                  </a:lnTo>
                  <a:lnTo>
                    <a:pt x="1989" y="896"/>
                  </a:lnTo>
                  <a:lnTo>
                    <a:pt x="2000" y="905"/>
                  </a:lnTo>
                  <a:lnTo>
                    <a:pt x="2010" y="914"/>
                  </a:lnTo>
                  <a:lnTo>
                    <a:pt x="2022" y="924"/>
                  </a:lnTo>
                  <a:lnTo>
                    <a:pt x="2033" y="932"/>
                  </a:lnTo>
                  <a:lnTo>
                    <a:pt x="2044" y="941"/>
                  </a:lnTo>
                  <a:lnTo>
                    <a:pt x="2055" y="951"/>
                  </a:lnTo>
                  <a:lnTo>
                    <a:pt x="2067" y="959"/>
                  </a:lnTo>
                  <a:lnTo>
                    <a:pt x="2078" y="967"/>
                  </a:lnTo>
                  <a:lnTo>
                    <a:pt x="2089" y="975"/>
                  </a:lnTo>
                  <a:lnTo>
                    <a:pt x="2101" y="983"/>
                  </a:lnTo>
                  <a:lnTo>
                    <a:pt x="2111" y="991"/>
                  </a:lnTo>
                  <a:lnTo>
                    <a:pt x="2123" y="998"/>
                  </a:lnTo>
                  <a:lnTo>
                    <a:pt x="2133" y="1005"/>
                  </a:lnTo>
                  <a:lnTo>
                    <a:pt x="2144" y="1012"/>
                  </a:lnTo>
                  <a:lnTo>
                    <a:pt x="2154" y="1017"/>
                  </a:lnTo>
                  <a:lnTo>
                    <a:pt x="2164" y="1024"/>
                  </a:lnTo>
                  <a:lnTo>
                    <a:pt x="2174" y="1029"/>
                  </a:lnTo>
                  <a:lnTo>
                    <a:pt x="2185" y="1036"/>
                  </a:lnTo>
                  <a:lnTo>
                    <a:pt x="2197" y="1041"/>
                  </a:lnTo>
                  <a:lnTo>
                    <a:pt x="2209" y="1048"/>
                  </a:lnTo>
                  <a:lnTo>
                    <a:pt x="2222" y="1054"/>
                  </a:lnTo>
                  <a:lnTo>
                    <a:pt x="2234" y="1060"/>
                  </a:lnTo>
                  <a:lnTo>
                    <a:pt x="2249" y="1066"/>
                  </a:lnTo>
                  <a:lnTo>
                    <a:pt x="2262" y="1073"/>
                  </a:lnTo>
                  <a:lnTo>
                    <a:pt x="2275" y="1079"/>
                  </a:lnTo>
                  <a:lnTo>
                    <a:pt x="2290" y="1085"/>
                  </a:lnTo>
                  <a:lnTo>
                    <a:pt x="2305" y="1092"/>
                  </a:lnTo>
                  <a:lnTo>
                    <a:pt x="2318" y="1098"/>
                  </a:lnTo>
                  <a:lnTo>
                    <a:pt x="2333" y="1104"/>
                  </a:lnTo>
                  <a:lnTo>
                    <a:pt x="2348" y="1109"/>
                  </a:lnTo>
                  <a:lnTo>
                    <a:pt x="2362" y="1116"/>
                  </a:lnTo>
                  <a:lnTo>
                    <a:pt x="2377" y="1122"/>
                  </a:lnTo>
                  <a:lnTo>
                    <a:pt x="2392" y="1127"/>
                  </a:lnTo>
                  <a:lnTo>
                    <a:pt x="2407" y="1132"/>
                  </a:lnTo>
                  <a:lnTo>
                    <a:pt x="2421" y="1137"/>
                  </a:lnTo>
                  <a:lnTo>
                    <a:pt x="2435" y="1142"/>
                  </a:lnTo>
                  <a:lnTo>
                    <a:pt x="2448" y="1146"/>
                  </a:lnTo>
                  <a:lnTo>
                    <a:pt x="2463" y="1151"/>
                  </a:lnTo>
                  <a:lnTo>
                    <a:pt x="2476" y="1156"/>
                  </a:lnTo>
                  <a:lnTo>
                    <a:pt x="2489" y="1159"/>
                  </a:lnTo>
                  <a:lnTo>
                    <a:pt x="2502" y="1162"/>
                  </a:lnTo>
                  <a:lnTo>
                    <a:pt x="2514" y="1165"/>
                  </a:lnTo>
                  <a:lnTo>
                    <a:pt x="2526" y="1169"/>
                  </a:lnTo>
                  <a:lnTo>
                    <a:pt x="2537" y="1171"/>
                  </a:lnTo>
                  <a:lnTo>
                    <a:pt x="2548" y="1173"/>
                  </a:lnTo>
                  <a:lnTo>
                    <a:pt x="2558" y="1175"/>
                  </a:lnTo>
                  <a:lnTo>
                    <a:pt x="2568" y="1176"/>
                  </a:lnTo>
                  <a:lnTo>
                    <a:pt x="2577" y="1176"/>
                  </a:lnTo>
                  <a:lnTo>
                    <a:pt x="2585" y="1177"/>
                  </a:lnTo>
                </a:path>
              </a:pathLst>
            </a:custGeom>
            <a:noFill/>
            <a:ln w="50800" cap="rnd"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4" name="Freeform 8"/>
            <p:cNvSpPr>
              <a:spLocks/>
            </p:cNvSpPr>
            <p:nvPr/>
          </p:nvSpPr>
          <p:spPr bwMode="auto">
            <a:xfrm>
              <a:off x="2286000" y="3832165"/>
              <a:ext cx="3505200" cy="833438"/>
            </a:xfrm>
            <a:custGeom>
              <a:avLst/>
              <a:gdLst>
                <a:gd name="T0" fmla="*/ 24 w 2586"/>
                <a:gd name="T1" fmla="*/ 1168 h 1178"/>
                <a:gd name="T2" fmla="*/ 79 w 2586"/>
                <a:gd name="T3" fmla="*/ 1144 h 1178"/>
                <a:gd name="T4" fmla="*/ 152 w 2586"/>
                <a:gd name="T5" fmla="*/ 1108 h 1178"/>
                <a:gd name="T6" fmla="*/ 234 w 2586"/>
                <a:gd name="T7" fmla="*/ 1065 h 1178"/>
                <a:gd name="T8" fmla="*/ 319 w 2586"/>
                <a:gd name="T9" fmla="*/ 1020 h 1178"/>
                <a:gd name="T10" fmla="*/ 398 w 2586"/>
                <a:gd name="T11" fmla="*/ 976 h 1178"/>
                <a:gd name="T12" fmla="*/ 462 w 2586"/>
                <a:gd name="T13" fmla="*/ 938 h 1178"/>
                <a:gd name="T14" fmla="*/ 504 w 2586"/>
                <a:gd name="T15" fmla="*/ 910 h 1178"/>
                <a:gd name="T16" fmla="*/ 539 w 2586"/>
                <a:gd name="T17" fmla="*/ 877 h 1178"/>
                <a:gd name="T18" fmla="*/ 576 w 2586"/>
                <a:gd name="T19" fmla="*/ 836 h 1178"/>
                <a:gd name="T20" fmla="*/ 613 w 2586"/>
                <a:gd name="T21" fmla="*/ 791 h 1178"/>
                <a:gd name="T22" fmla="*/ 647 w 2586"/>
                <a:gd name="T23" fmla="*/ 742 h 1178"/>
                <a:gd name="T24" fmla="*/ 699 w 2586"/>
                <a:gd name="T25" fmla="*/ 655 h 1178"/>
                <a:gd name="T26" fmla="*/ 754 w 2586"/>
                <a:gd name="T27" fmla="*/ 556 h 1178"/>
                <a:gd name="T28" fmla="*/ 807 w 2586"/>
                <a:gd name="T29" fmla="*/ 456 h 1178"/>
                <a:gd name="T30" fmla="*/ 861 w 2586"/>
                <a:gd name="T31" fmla="*/ 355 h 1178"/>
                <a:gd name="T32" fmla="*/ 898 w 2586"/>
                <a:gd name="T33" fmla="*/ 287 h 1178"/>
                <a:gd name="T34" fmla="*/ 932 w 2586"/>
                <a:gd name="T35" fmla="*/ 231 h 1178"/>
                <a:gd name="T36" fmla="*/ 973 w 2586"/>
                <a:gd name="T37" fmla="*/ 176 h 1178"/>
                <a:gd name="T38" fmla="*/ 1018 w 2586"/>
                <a:gd name="T39" fmla="*/ 124 h 1178"/>
                <a:gd name="T40" fmla="*/ 1067 w 2586"/>
                <a:gd name="T41" fmla="*/ 78 h 1178"/>
                <a:gd name="T42" fmla="*/ 1119 w 2586"/>
                <a:gd name="T43" fmla="*/ 41 h 1178"/>
                <a:gd name="T44" fmla="*/ 1174 w 2586"/>
                <a:gd name="T45" fmla="*/ 14 h 1178"/>
                <a:gd name="T46" fmla="*/ 1231 w 2586"/>
                <a:gd name="T47" fmla="*/ 1 h 1178"/>
                <a:gd name="T48" fmla="*/ 1288 w 2586"/>
                <a:gd name="T49" fmla="*/ 2 h 1178"/>
                <a:gd name="T50" fmla="*/ 1341 w 2586"/>
                <a:gd name="T51" fmla="*/ 11 h 1178"/>
                <a:gd name="T52" fmla="*/ 1390 w 2586"/>
                <a:gd name="T53" fmla="*/ 29 h 1178"/>
                <a:gd name="T54" fmla="*/ 1437 w 2586"/>
                <a:gd name="T55" fmla="*/ 57 h 1178"/>
                <a:gd name="T56" fmla="*/ 1483 w 2586"/>
                <a:gd name="T57" fmla="*/ 96 h 1178"/>
                <a:gd name="T58" fmla="*/ 1530 w 2586"/>
                <a:gd name="T59" fmla="*/ 145 h 1178"/>
                <a:gd name="T60" fmla="*/ 1578 w 2586"/>
                <a:gd name="T61" fmla="*/ 204 h 1178"/>
                <a:gd name="T62" fmla="*/ 1630 w 2586"/>
                <a:gd name="T63" fmla="*/ 275 h 1178"/>
                <a:gd name="T64" fmla="*/ 1693 w 2586"/>
                <a:gd name="T65" fmla="*/ 379 h 1178"/>
                <a:gd name="T66" fmla="*/ 1746 w 2586"/>
                <a:gd name="T67" fmla="*/ 498 h 1178"/>
                <a:gd name="T68" fmla="*/ 1797 w 2586"/>
                <a:gd name="T69" fmla="*/ 622 h 1178"/>
                <a:gd name="T70" fmla="*/ 1853 w 2586"/>
                <a:gd name="T71" fmla="*/ 741 h 1178"/>
                <a:gd name="T72" fmla="*/ 1885 w 2586"/>
                <a:gd name="T73" fmla="*/ 791 h 1178"/>
                <a:gd name="T74" fmla="*/ 1913 w 2586"/>
                <a:gd name="T75" fmla="*/ 823 h 1178"/>
                <a:gd name="T76" fmla="*/ 1949 w 2586"/>
                <a:gd name="T77" fmla="*/ 860 h 1178"/>
                <a:gd name="T78" fmla="*/ 1989 w 2586"/>
                <a:gd name="T79" fmla="*/ 896 h 1178"/>
                <a:gd name="T80" fmla="*/ 2033 w 2586"/>
                <a:gd name="T81" fmla="*/ 932 h 1178"/>
                <a:gd name="T82" fmla="*/ 2078 w 2586"/>
                <a:gd name="T83" fmla="*/ 967 h 1178"/>
                <a:gd name="T84" fmla="*/ 2123 w 2586"/>
                <a:gd name="T85" fmla="*/ 998 h 1178"/>
                <a:gd name="T86" fmla="*/ 2164 w 2586"/>
                <a:gd name="T87" fmla="*/ 1024 h 1178"/>
                <a:gd name="T88" fmla="*/ 2209 w 2586"/>
                <a:gd name="T89" fmla="*/ 1048 h 1178"/>
                <a:gd name="T90" fmla="*/ 2262 w 2586"/>
                <a:gd name="T91" fmla="*/ 1073 h 1178"/>
                <a:gd name="T92" fmla="*/ 2318 w 2586"/>
                <a:gd name="T93" fmla="*/ 1098 h 1178"/>
                <a:gd name="T94" fmla="*/ 2377 w 2586"/>
                <a:gd name="T95" fmla="*/ 1122 h 1178"/>
                <a:gd name="T96" fmla="*/ 2435 w 2586"/>
                <a:gd name="T97" fmla="*/ 1142 h 1178"/>
                <a:gd name="T98" fmla="*/ 2489 w 2586"/>
                <a:gd name="T99" fmla="*/ 1159 h 1178"/>
                <a:gd name="T100" fmla="*/ 2537 w 2586"/>
                <a:gd name="T101" fmla="*/ 1171 h 1178"/>
                <a:gd name="T102" fmla="*/ 2577 w 2586"/>
                <a:gd name="T103" fmla="*/ 1176 h 1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86" h="1178">
                  <a:moveTo>
                    <a:pt x="0" y="1177"/>
                  </a:moveTo>
                  <a:lnTo>
                    <a:pt x="6" y="1175"/>
                  </a:lnTo>
                  <a:lnTo>
                    <a:pt x="14" y="1172"/>
                  </a:lnTo>
                  <a:lnTo>
                    <a:pt x="24" y="1168"/>
                  </a:lnTo>
                  <a:lnTo>
                    <a:pt x="36" y="1164"/>
                  </a:lnTo>
                  <a:lnTo>
                    <a:pt x="48" y="1158"/>
                  </a:lnTo>
                  <a:lnTo>
                    <a:pt x="63" y="1151"/>
                  </a:lnTo>
                  <a:lnTo>
                    <a:pt x="79" y="1144"/>
                  </a:lnTo>
                  <a:lnTo>
                    <a:pt x="96" y="1136"/>
                  </a:lnTo>
                  <a:lnTo>
                    <a:pt x="114" y="1127"/>
                  </a:lnTo>
                  <a:lnTo>
                    <a:pt x="132" y="1117"/>
                  </a:lnTo>
                  <a:lnTo>
                    <a:pt x="152" y="1108"/>
                  </a:lnTo>
                  <a:lnTo>
                    <a:pt x="171" y="1098"/>
                  </a:lnTo>
                  <a:lnTo>
                    <a:pt x="193" y="1087"/>
                  </a:lnTo>
                  <a:lnTo>
                    <a:pt x="213" y="1076"/>
                  </a:lnTo>
                  <a:lnTo>
                    <a:pt x="234" y="1065"/>
                  </a:lnTo>
                  <a:lnTo>
                    <a:pt x="256" y="1054"/>
                  </a:lnTo>
                  <a:lnTo>
                    <a:pt x="277" y="1042"/>
                  </a:lnTo>
                  <a:lnTo>
                    <a:pt x="298" y="1031"/>
                  </a:lnTo>
                  <a:lnTo>
                    <a:pt x="319" y="1020"/>
                  </a:lnTo>
                  <a:lnTo>
                    <a:pt x="340" y="1008"/>
                  </a:lnTo>
                  <a:lnTo>
                    <a:pt x="360" y="998"/>
                  </a:lnTo>
                  <a:lnTo>
                    <a:pt x="379" y="986"/>
                  </a:lnTo>
                  <a:lnTo>
                    <a:pt x="398" y="976"/>
                  </a:lnTo>
                  <a:lnTo>
                    <a:pt x="416" y="966"/>
                  </a:lnTo>
                  <a:lnTo>
                    <a:pt x="432" y="955"/>
                  </a:lnTo>
                  <a:lnTo>
                    <a:pt x="448" y="947"/>
                  </a:lnTo>
                  <a:lnTo>
                    <a:pt x="462" y="938"/>
                  </a:lnTo>
                  <a:lnTo>
                    <a:pt x="475" y="930"/>
                  </a:lnTo>
                  <a:lnTo>
                    <a:pt x="486" y="922"/>
                  </a:lnTo>
                  <a:lnTo>
                    <a:pt x="496" y="916"/>
                  </a:lnTo>
                  <a:lnTo>
                    <a:pt x="504" y="910"/>
                  </a:lnTo>
                  <a:lnTo>
                    <a:pt x="509" y="905"/>
                  </a:lnTo>
                  <a:lnTo>
                    <a:pt x="520" y="896"/>
                  </a:lnTo>
                  <a:lnTo>
                    <a:pt x="529" y="888"/>
                  </a:lnTo>
                  <a:lnTo>
                    <a:pt x="539" y="877"/>
                  </a:lnTo>
                  <a:lnTo>
                    <a:pt x="549" y="868"/>
                  </a:lnTo>
                  <a:lnTo>
                    <a:pt x="558" y="857"/>
                  </a:lnTo>
                  <a:lnTo>
                    <a:pt x="567" y="847"/>
                  </a:lnTo>
                  <a:lnTo>
                    <a:pt x="576" y="836"/>
                  </a:lnTo>
                  <a:lnTo>
                    <a:pt x="586" y="826"/>
                  </a:lnTo>
                  <a:lnTo>
                    <a:pt x="595" y="814"/>
                  </a:lnTo>
                  <a:lnTo>
                    <a:pt x="604" y="803"/>
                  </a:lnTo>
                  <a:lnTo>
                    <a:pt x="613" y="791"/>
                  </a:lnTo>
                  <a:lnTo>
                    <a:pt x="621" y="779"/>
                  </a:lnTo>
                  <a:lnTo>
                    <a:pt x="629" y="767"/>
                  </a:lnTo>
                  <a:lnTo>
                    <a:pt x="638" y="755"/>
                  </a:lnTo>
                  <a:lnTo>
                    <a:pt x="647" y="742"/>
                  </a:lnTo>
                  <a:lnTo>
                    <a:pt x="654" y="730"/>
                  </a:lnTo>
                  <a:lnTo>
                    <a:pt x="670" y="704"/>
                  </a:lnTo>
                  <a:lnTo>
                    <a:pt x="685" y="679"/>
                  </a:lnTo>
                  <a:lnTo>
                    <a:pt x="699" y="655"/>
                  </a:lnTo>
                  <a:lnTo>
                    <a:pt x="713" y="630"/>
                  </a:lnTo>
                  <a:lnTo>
                    <a:pt x="727" y="605"/>
                  </a:lnTo>
                  <a:lnTo>
                    <a:pt x="741" y="580"/>
                  </a:lnTo>
                  <a:lnTo>
                    <a:pt x="754" y="556"/>
                  </a:lnTo>
                  <a:lnTo>
                    <a:pt x="767" y="531"/>
                  </a:lnTo>
                  <a:lnTo>
                    <a:pt x="781" y="507"/>
                  </a:lnTo>
                  <a:lnTo>
                    <a:pt x="794" y="482"/>
                  </a:lnTo>
                  <a:lnTo>
                    <a:pt x="807" y="456"/>
                  </a:lnTo>
                  <a:lnTo>
                    <a:pt x="820" y="431"/>
                  </a:lnTo>
                  <a:lnTo>
                    <a:pt x="834" y="406"/>
                  </a:lnTo>
                  <a:lnTo>
                    <a:pt x="847" y="380"/>
                  </a:lnTo>
                  <a:lnTo>
                    <a:pt x="861" y="355"/>
                  </a:lnTo>
                  <a:lnTo>
                    <a:pt x="875" y="327"/>
                  </a:lnTo>
                  <a:lnTo>
                    <a:pt x="882" y="314"/>
                  </a:lnTo>
                  <a:lnTo>
                    <a:pt x="889" y="300"/>
                  </a:lnTo>
                  <a:lnTo>
                    <a:pt x="898" y="287"/>
                  </a:lnTo>
                  <a:lnTo>
                    <a:pt x="906" y="273"/>
                  </a:lnTo>
                  <a:lnTo>
                    <a:pt x="914" y="259"/>
                  </a:lnTo>
                  <a:lnTo>
                    <a:pt x="923" y="245"/>
                  </a:lnTo>
                  <a:lnTo>
                    <a:pt x="932" y="231"/>
                  </a:lnTo>
                  <a:lnTo>
                    <a:pt x="942" y="217"/>
                  </a:lnTo>
                  <a:lnTo>
                    <a:pt x="952" y="203"/>
                  </a:lnTo>
                  <a:lnTo>
                    <a:pt x="962" y="189"/>
                  </a:lnTo>
                  <a:lnTo>
                    <a:pt x="973" y="176"/>
                  </a:lnTo>
                  <a:lnTo>
                    <a:pt x="984" y="162"/>
                  </a:lnTo>
                  <a:lnTo>
                    <a:pt x="995" y="149"/>
                  </a:lnTo>
                  <a:lnTo>
                    <a:pt x="1006" y="136"/>
                  </a:lnTo>
                  <a:lnTo>
                    <a:pt x="1018" y="124"/>
                  </a:lnTo>
                  <a:lnTo>
                    <a:pt x="1030" y="112"/>
                  </a:lnTo>
                  <a:lnTo>
                    <a:pt x="1042" y="100"/>
                  </a:lnTo>
                  <a:lnTo>
                    <a:pt x="1054" y="89"/>
                  </a:lnTo>
                  <a:lnTo>
                    <a:pt x="1067" y="78"/>
                  </a:lnTo>
                  <a:lnTo>
                    <a:pt x="1079" y="68"/>
                  </a:lnTo>
                  <a:lnTo>
                    <a:pt x="1093" y="58"/>
                  </a:lnTo>
                  <a:lnTo>
                    <a:pt x="1105" y="49"/>
                  </a:lnTo>
                  <a:lnTo>
                    <a:pt x="1119" y="41"/>
                  </a:lnTo>
                  <a:lnTo>
                    <a:pt x="1132" y="33"/>
                  </a:lnTo>
                  <a:lnTo>
                    <a:pt x="1146" y="26"/>
                  </a:lnTo>
                  <a:lnTo>
                    <a:pt x="1160" y="20"/>
                  </a:lnTo>
                  <a:lnTo>
                    <a:pt x="1174" y="14"/>
                  </a:lnTo>
                  <a:lnTo>
                    <a:pt x="1188" y="10"/>
                  </a:lnTo>
                  <a:lnTo>
                    <a:pt x="1202" y="6"/>
                  </a:lnTo>
                  <a:lnTo>
                    <a:pt x="1217" y="2"/>
                  </a:lnTo>
                  <a:lnTo>
                    <a:pt x="1231" y="1"/>
                  </a:lnTo>
                  <a:lnTo>
                    <a:pt x="1246" y="0"/>
                  </a:lnTo>
                  <a:lnTo>
                    <a:pt x="1260" y="0"/>
                  </a:lnTo>
                  <a:lnTo>
                    <a:pt x="1274" y="1"/>
                  </a:lnTo>
                  <a:lnTo>
                    <a:pt x="1288" y="2"/>
                  </a:lnTo>
                  <a:lnTo>
                    <a:pt x="1302" y="2"/>
                  </a:lnTo>
                  <a:lnTo>
                    <a:pt x="1315" y="5"/>
                  </a:lnTo>
                  <a:lnTo>
                    <a:pt x="1328" y="7"/>
                  </a:lnTo>
                  <a:lnTo>
                    <a:pt x="1341" y="11"/>
                  </a:lnTo>
                  <a:lnTo>
                    <a:pt x="1353" y="14"/>
                  </a:lnTo>
                  <a:lnTo>
                    <a:pt x="1365" y="18"/>
                  </a:lnTo>
                  <a:lnTo>
                    <a:pt x="1378" y="24"/>
                  </a:lnTo>
                  <a:lnTo>
                    <a:pt x="1390" y="29"/>
                  </a:lnTo>
                  <a:lnTo>
                    <a:pt x="1401" y="36"/>
                  </a:lnTo>
                  <a:lnTo>
                    <a:pt x="1413" y="42"/>
                  </a:lnTo>
                  <a:lnTo>
                    <a:pt x="1425" y="50"/>
                  </a:lnTo>
                  <a:lnTo>
                    <a:pt x="1437" y="57"/>
                  </a:lnTo>
                  <a:lnTo>
                    <a:pt x="1449" y="66"/>
                  </a:lnTo>
                  <a:lnTo>
                    <a:pt x="1460" y="75"/>
                  </a:lnTo>
                  <a:lnTo>
                    <a:pt x="1472" y="85"/>
                  </a:lnTo>
                  <a:lnTo>
                    <a:pt x="1483" y="96"/>
                  </a:lnTo>
                  <a:lnTo>
                    <a:pt x="1495" y="107"/>
                  </a:lnTo>
                  <a:lnTo>
                    <a:pt x="1506" y="118"/>
                  </a:lnTo>
                  <a:lnTo>
                    <a:pt x="1518" y="131"/>
                  </a:lnTo>
                  <a:lnTo>
                    <a:pt x="1530" y="145"/>
                  </a:lnTo>
                  <a:lnTo>
                    <a:pt x="1542" y="158"/>
                  </a:lnTo>
                  <a:lnTo>
                    <a:pt x="1554" y="173"/>
                  </a:lnTo>
                  <a:lnTo>
                    <a:pt x="1566" y="188"/>
                  </a:lnTo>
                  <a:lnTo>
                    <a:pt x="1578" y="204"/>
                  </a:lnTo>
                  <a:lnTo>
                    <a:pt x="1591" y="221"/>
                  </a:lnTo>
                  <a:lnTo>
                    <a:pt x="1604" y="238"/>
                  </a:lnTo>
                  <a:lnTo>
                    <a:pt x="1617" y="256"/>
                  </a:lnTo>
                  <a:lnTo>
                    <a:pt x="1630" y="275"/>
                  </a:lnTo>
                  <a:lnTo>
                    <a:pt x="1644" y="295"/>
                  </a:lnTo>
                  <a:lnTo>
                    <a:pt x="1661" y="322"/>
                  </a:lnTo>
                  <a:lnTo>
                    <a:pt x="1678" y="350"/>
                  </a:lnTo>
                  <a:lnTo>
                    <a:pt x="1693" y="379"/>
                  </a:lnTo>
                  <a:lnTo>
                    <a:pt x="1707" y="407"/>
                  </a:lnTo>
                  <a:lnTo>
                    <a:pt x="1721" y="437"/>
                  </a:lnTo>
                  <a:lnTo>
                    <a:pt x="1734" y="468"/>
                  </a:lnTo>
                  <a:lnTo>
                    <a:pt x="1746" y="498"/>
                  </a:lnTo>
                  <a:lnTo>
                    <a:pt x="1760" y="529"/>
                  </a:lnTo>
                  <a:lnTo>
                    <a:pt x="1772" y="560"/>
                  </a:lnTo>
                  <a:lnTo>
                    <a:pt x="1784" y="590"/>
                  </a:lnTo>
                  <a:lnTo>
                    <a:pt x="1797" y="622"/>
                  </a:lnTo>
                  <a:lnTo>
                    <a:pt x="1810" y="651"/>
                  </a:lnTo>
                  <a:lnTo>
                    <a:pt x="1824" y="681"/>
                  </a:lnTo>
                  <a:lnTo>
                    <a:pt x="1838" y="711"/>
                  </a:lnTo>
                  <a:lnTo>
                    <a:pt x="1853" y="741"/>
                  </a:lnTo>
                  <a:lnTo>
                    <a:pt x="1869" y="769"/>
                  </a:lnTo>
                  <a:lnTo>
                    <a:pt x="1874" y="775"/>
                  </a:lnTo>
                  <a:lnTo>
                    <a:pt x="1878" y="783"/>
                  </a:lnTo>
                  <a:lnTo>
                    <a:pt x="1885" y="791"/>
                  </a:lnTo>
                  <a:lnTo>
                    <a:pt x="1890" y="798"/>
                  </a:lnTo>
                  <a:lnTo>
                    <a:pt x="1897" y="807"/>
                  </a:lnTo>
                  <a:lnTo>
                    <a:pt x="1905" y="815"/>
                  </a:lnTo>
                  <a:lnTo>
                    <a:pt x="1913" y="823"/>
                  </a:lnTo>
                  <a:lnTo>
                    <a:pt x="1921" y="832"/>
                  </a:lnTo>
                  <a:lnTo>
                    <a:pt x="1930" y="841"/>
                  </a:lnTo>
                  <a:lnTo>
                    <a:pt x="1938" y="851"/>
                  </a:lnTo>
                  <a:lnTo>
                    <a:pt x="1949" y="860"/>
                  </a:lnTo>
                  <a:lnTo>
                    <a:pt x="1958" y="869"/>
                  </a:lnTo>
                  <a:lnTo>
                    <a:pt x="1968" y="878"/>
                  </a:lnTo>
                  <a:lnTo>
                    <a:pt x="1979" y="887"/>
                  </a:lnTo>
                  <a:lnTo>
                    <a:pt x="1989" y="896"/>
                  </a:lnTo>
                  <a:lnTo>
                    <a:pt x="2000" y="905"/>
                  </a:lnTo>
                  <a:lnTo>
                    <a:pt x="2010" y="914"/>
                  </a:lnTo>
                  <a:lnTo>
                    <a:pt x="2022" y="924"/>
                  </a:lnTo>
                  <a:lnTo>
                    <a:pt x="2033" y="932"/>
                  </a:lnTo>
                  <a:lnTo>
                    <a:pt x="2044" y="941"/>
                  </a:lnTo>
                  <a:lnTo>
                    <a:pt x="2055" y="951"/>
                  </a:lnTo>
                  <a:lnTo>
                    <a:pt x="2067" y="959"/>
                  </a:lnTo>
                  <a:lnTo>
                    <a:pt x="2078" y="967"/>
                  </a:lnTo>
                  <a:lnTo>
                    <a:pt x="2089" y="975"/>
                  </a:lnTo>
                  <a:lnTo>
                    <a:pt x="2101" y="983"/>
                  </a:lnTo>
                  <a:lnTo>
                    <a:pt x="2111" y="991"/>
                  </a:lnTo>
                  <a:lnTo>
                    <a:pt x="2123" y="998"/>
                  </a:lnTo>
                  <a:lnTo>
                    <a:pt x="2133" y="1005"/>
                  </a:lnTo>
                  <a:lnTo>
                    <a:pt x="2144" y="1012"/>
                  </a:lnTo>
                  <a:lnTo>
                    <a:pt x="2154" y="1017"/>
                  </a:lnTo>
                  <a:lnTo>
                    <a:pt x="2164" y="1024"/>
                  </a:lnTo>
                  <a:lnTo>
                    <a:pt x="2174" y="1029"/>
                  </a:lnTo>
                  <a:lnTo>
                    <a:pt x="2185" y="1036"/>
                  </a:lnTo>
                  <a:lnTo>
                    <a:pt x="2197" y="1041"/>
                  </a:lnTo>
                  <a:lnTo>
                    <a:pt x="2209" y="1048"/>
                  </a:lnTo>
                  <a:lnTo>
                    <a:pt x="2222" y="1054"/>
                  </a:lnTo>
                  <a:lnTo>
                    <a:pt x="2234" y="1060"/>
                  </a:lnTo>
                  <a:lnTo>
                    <a:pt x="2249" y="1066"/>
                  </a:lnTo>
                  <a:lnTo>
                    <a:pt x="2262" y="1073"/>
                  </a:lnTo>
                  <a:lnTo>
                    <a:pt x="2275" y="1079"/>
                  </a:lnTo>
                  <a:lnTo>
                    <a:pt x="2290" y="1085"/>
                  </a:lnTo>
                  <a:lnTo>
                    <a:pt x="2305" y="1092"/>
                  </a:lnTo>
                  <a:lnTo>
                    <a:pt x="2318" y="1098"/>
                  </a:lnTo>
                  <a:lnTo>
                    <a:pt x="2333" y="1104"/>
                  </a:lnTo>
                  <a:lnTo>
                    <a:pt x="2348" y="1109"/>
                  </a:lnTo>
                  <a:lnTo>
                    <a:pt x="2362" y="1116"/>
                  </a:lnTo>
                  <a:lnTo>
                    <a:pt x="2377" y="1122"/>
                  </a:lnTo>
                  <a:lnTo>
                    <a:pt x="2392" y="1127"/>
                  </a:lnTo>
                  <a:lnTo>
                    <a:pt x="2407" y="1132"/>
                  </a:lnTo>
                  <a:lnTo>
                    <a:pt x="2421" y="1137"/>
                  </a:lnTo>
                  <a:lnTo>
                    <a:pt x="2435" y="1142"/>
                  </a:lnTo>
                  <a:lnTo>
                    <a:pt x="2448" y="1146"/>
                  </a:lnTo>
                  <a:lnTo>
                    <a:pt x="2463" y="1151"/>
                  </a:lnTo>
                  <a:lnTo>
                    <a:pt x="2476" y="1156"/>
                  </a:lnTo>
                  <a:lnTo>
                    <a:pt x="2489" y="1159"/>
                  </a:lnTo>
                  <a:lnTo>
                    <a:pt x="2502" y="1162"/>
                  </a:lnTo>
                  <a:lnTo>
                    <a:pt x="2514" y="1165"/>
                  </a:lnTo>
                  <a:lnTo>
                    <a:pt x="2526" y="1169"/>
                  </a:lnTo>
                  <a:lnTo>
                    <a:pt x="2537" y="1171"/>
                  </a:lnTo>
                  <a:lnTo>
                    <a:pt x="2548" y="1173"/>
                  </a:lnTo>
                  <a:lnTo>
                    <a:pt x="2558" y="1175"/>
                  </a:lnTo>
                  <a:lnTo>
                    <a:pt x="2568" y="1176"/>
                  </a:lnTo>
                  <a:lnTo>
                    <a:pt x="2577" y="1176"/>
                  </a:lnTo>
                  <a:lnTo>
                    <a:pt x="2585" y="1177"/>
                  </a:lnTo>
                </a:path>
              </a:pathLst>
            </a:custGeom>
            <a:noFill/>
            <a:ln w="508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5" name="Freeform 9"/>
            <p:cNvSpPr>
              <a:spLocks/>
            </p:cNvSpPr>
            <p:nvPr/>
          </p:nvSpPr>
          <p:spPr bwMode="auto">
            <a:xfrm>
              <a:off x="2667000" y="3832165"/>
              <a:ext cx="3581400" cy="833438"/>
            </a:xfrm>
            <a:custGeom>
              <a:avLst/>
              <a:gdLst>
                <a:gd name="T0" fmla="*/ 24 w 2586"/>
                <a:gd name="T1" fmla="*/ 1168 h 1178"/>
                <a:gd name="T2" fmla="*/ 79 w 2586"/>
                <a:gd name="T3" fmla="*/ 1144 h 1178"/>
                <a:gd name="T4" fmla="*/ 152 w 2586"/>
                <a:gd name="T5" fmla="*/ 1108 h 1178"/>
                <a:gd name="T6" fmla="*/ 234 w 2586"/>
                <a:gd name="T7" fmla="*/ 1065 h 1178"/>
                <a:gd name="T8" fmla="*/ 319 w 2586"/>
                <a:gd name="T9" fmla="*/ 1020 h 1178"/>
                <a:gd name="T10" fmla="*/ 398 w 2586"/>
                <a:gd name="T11" fmla="*/ 976 h 1178"/>
                <a:gd name="T12" fmla="*/ 462 w 2586"/>
                <a:gd name="T13" fmla="*/ 938 h 1178"/>
                <a:gd name="T14" fmla="*/ 504 w 2586"/>
                <a:gd name="T15" fmla="*/ 910 h 1178"/>
                <a:gd name="T16" fmla="*/ 539 w 2586"/>
                <a:gd name="T17" fmla="*/ 877 h 1178"/>
                <a:gd name="T18" fmla="*/ 576 w 2586"/>
                <a:gd name="T19" fmla="*/ 836 h 1178"/>
                <a:gd name="T20" fmla="*/ 613 w 2586"/>
                <a:gd name="T21" fmla="*/ 791 h 1178"/>
                <a:gd name="T22" fmla="*/ 647 w 2586"/>
                <a:gd name="T23" fmla="*/ 742 h 1178"/>
                <a:gd name="T24" fmla="*/ 699 w 2586"/>
                <a:gd name="T25" fmla="*/ 655 h 1178"/>
                <a:gd name="T26" fmla="*/ 754 w 2586"/>
                <a:gd name="T27" fmla="*/ 556 h 1178"/>
                <a:gd name="T28" fmla="*/ 807 w 2586"/>
                <a:gd name="T29" fmla="*/ 456 h 1178"/>
                <a:gd name="T30" fmla="*/ 861 w 2586"/>
                <a:gd name="T31" fmla="*/ 355 h 1178"/>
                <a:gd name="T32" fmla="*/ 898 w 2586"/>
                <a:gd name="T33" fmla="*/ 287 h 1178"/>
                <a:gd name="T34" fmla="*/ 932 w 2586"/>
                <a:gd name="T35" fmla="*/ 231 h 1178"/>
                <a:gd name="T36" fmla="*/ 973 w 2586"/>
                <a:gd name="T37" fmla="*/ 176 h 1178"/>
                <a:gd name="T38" fmla="*/ 1018 w 2586"/>
                <a:gd name="T39" fmla="*/ 124 h 1178"/>
                <a:gd name="T40" fmla="*/ 1067 w 2586"/>
                <a:gd name="T41" fmla="*/ 78 h 1178"/>
                <a:gd name="T42" fmla="*/ 1119 w 2586"/>
                <a:gd name="T43" fmla="*/ 41 h 1178"/>
                <a:gd name="T44" fmla="*/ 1174 w 2586"/>
                <a:gd name="T45" fmla="*/ 14 h 1178"/>
                <a:gd name="T46" fmla="*/ 1231 w 2586"/>
                <a:gd name="T47" fmla="*/ 1 h 1178"/>
                <a:gd name="T48" fmla="*/ 1288 w 2586"/>
                <a:gd name="T49" fmla="*/ 2 h 1178"/>
                <a:gd name="T50" fmla="*/ 1341 w 2586"/>
                <a:gd name="T51" fmla="*/ 11 h 1178"/>
                <a:gd name="T52" fmla="*/ 1390 w 2586"/>
                <a:gd name="T53" fmla="*/ 29 h 1178"/>
                <a:gd name="T54" fmla="*/ 1437 w 2586"/>
                <a:gd name="T55" fmla="*/ 57 h 1178"/>
                <a:gd name="T56" fmla="*/ 1483 w 2586"/>
                <a:gd name="T57" fmla="*/ 96 h 1178"/>
                <a:gd name="T58" fmla="*/ 1530 w 2586"/>
                <a:gd name="T59" fmla="*/ 145 h 1178"/>
                <a:gd name="T60" fmla="*/ 1578 w 2586"/>
                <a:gd name="T61" fmla="*/ 204 h 1178"/>
                <a:gd name="T62" fmla="*/ 1630 w 2586"/>
                <a:gd name="T63" fmla="*/ 275 h 1178"/>
                <a:gd name="T64" fmla="*/ 1693 w 2586"/>
                <a:gd name="T65" fmla="*/ 379 h 1178"/>
                <a:gd name="T66" fmla="*/ 1746 w 2586"/>
                <a:gd name="T67" fmla="*/ 498 h 1178"/>
                <a:gd name="T68" fmla="*/ 1797 w 2586"/>
                <a:gd name="T69" fmla="*/ 622 h 1178"/>
                <a:gd name="T70" fmla="*/ 1853 w 2586"/>
                <a:gd name="T71" fmla="*/ 741 h 1178"/>
                <a:gd name="T72" fmla="*/ 1885 w 2586"/>
                <a:gd name="T73" fmla="*/ 791 h 1178"/>
                <a:gd name="T74" fmla="*/ 1913 w 2586"/>
                <a:gd name="T75" fmla="*/ 823 h 1178"/>
                <a:gd name="T76" fmla="*/ 1949 w 2586"/>
                <a:gd name="T77" fmla="*/ 860 h 1178"/>
                <a:gd name="T78" fmla="*/ 1989 w 2586"/>
                <a:gd name="T79" fmla="*/ 896 h 1178"/>
                <a:gd name="T80" fmla="*/ 2033 w 2586"/>
                <a:gd name="T81" fmla="*/ 932 h 1178"/>
                <a:gd name="T82" fmla="*/ 2078 w 2586"/>
                <a:gd name="T83" fmla="*/ 967 h 1178"/>
                <a:gd name="T84" fmla="*/ 2123 w 2586"/>
                <a:gd name="T85" fmla="*/ 998 h 1178"/>
                <a:gd name="T86" fmla="*/ 2164 w 2586"/>
                <a:gd name="T87" fmla="*/ 1024 h 1178"/>
                <a:gd name="T88" fmla="*/ 2209 w 2586"/>
                <a:gd name="T89" fmla="*/ 1048 h 1178"/>
                <a:gd name="T90" fmla="*/ 2262 w 2586"/>
                <a:gd name="T91" fmla="*/ 1073 h 1178"/>
                <a:gd name="T92" fmla="*/ 2318 w 2586"/>
                <a:gd name="T93" fmla="*/ 1098 h 1178"/>
                <a:gd name="T94" fmla="*/ 2377 w 2586"/>
                <a:gd name="T95" fmla="*/ 1122 h 1178"/>
                <a:gd name="T96" fmla="*/ 2435 w 2586"/>
                <a:gd name="T97" fmla="*/ 1142 h 1178"/>
                <a:gd name="T98" fmla="*/ 2489 w 2586"/>
                <a:gd name="T99" fmla="*/ 1159 h 1178"/>
                <a:gd name="T100" fmla="*/ 2537 w 2586"/>
                <a:gd name="T101" fmla="*/ 1171 h 1178"/>
                <a:gd name="T102" fmla="*/ 2577 w 2586"/>
                <a:gd name="T103" fmla="*/ 1176 h 1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86" h="1178">
                  <a:moveTo>
                    <a:pt x="0" y="1177"/>
                  </a:moveTo>
                  <a:lnTo>
                    <a:pt x="6" y="1175"/>
                  </a:lnTo>
                  <a:lnTo>
                    <a:pt x="14" y="1172"/>
                  </a:lnTo>
                  <a:lnTo>
                    <a:pt x="24" y="1168"/>
                  </a:lnTo>
                  <a:lnTo>
                    <a:pt x="36" y="1164"/>
                  </a:lnTo>
                  <a:lnTo>
                    <a:pt x="48" y="1158"/>
                  </a:lnTo>
                  <a:lnTo>
                    <a:pt x="63" y="1151"/>
                  </a:lnTo>
                  <a:lnTo>
                    <a:pt x="79" y="1144"/>
                  </a:lnTo>
                  <a:lnTo>
                    <a:pt x="96" y="1136"/>
                  </a:lnTo>
                  <a:lnTo>
                    <a:pt x="114" y="1127"/>
                  </a:lnTo>
                  <a:lnTo>
                    <a:pt x="132" y="1117"/>
                  </a:lnTo>
                  <a:lnTo>
                    <a:pt x="152" y="1108"/>
                  </a:lnTo>
                  <a:lnTo>
                    <a:pt x="171" y="1098"/>
                  </a:lnTo>
                  <a:lnTo>
                    <a:pt x="193" y="1087"/>
                  </a:lnTo>
                  <a:lnTo>
                    <a:pt x="213" y="1076"/>
                  </a:lnTo>
                  <a:lnTo>
                    <a:pt x="234" y="1065"/>
                  </a:lnTo>
                  <a:lnTo>
                    <a:pt x="256" y="1054"/>
                  </a:lnTo>
                  <a:lnTo>
                    <a:pt x="277" y="1042"/>
                  </a:lnTo>
                  <a:lnTo>
                    <a:pt x="298" y="1031"/>
                  </a:lnTo>
                  <a:lnTo>
                    <a:pt x="319" y="1020"/>
                  </a:lnTo>
                  <a:lnTo>
                    <a:pt x="340" y="1008"/>
                  </a:lnTo>
                  <a:lnTo>
                    <a:pt x="360" y="998"/>
                  </a:lnTo>
                  <a:lnTo>
                    <a:pt x="379" y="986"/>
                  </a:lnTo>
                  <a:lnTo>
                    <a:pt x="398" y="976"/>
                  </a:lnTo>
                  <a:lnTo>
                    <a:pt x="416" y="966"/>
                  </a:lnTo>
                  <a:lnTo>
                    <a:pt x="432" y="955"/>
                  </a:lnTo>
                  <a:lnTo>
                    <a:pt x="448" y="947"/>
                  </a:lnTo>
                  <a:lnTo>
                    <a:pt x="462" y="938"/>
                  </a:lnTo>
                  <a:lnTo>
                    <a:pt x="475" y="930"/>
                  </a:lnTo>
                  <a:lnTo>
                    <a:pt x="486" y="922"/>
                  </a:lnTo>
                  <a:lnTo>
                    <a:pt x="496" y="916"/>
                  </a:lnTo>
                  <a:lnTo>
                    <a:pt x="504" y="910"/>
                  </a:lnTo>
                  <a:lnTo>
                    <a:pt x="509" y="905"/>
                  </a:lnTo>
                  <a:lnTo>
                    <a:pt x="520" y="896"/>
                  </a:lnTo>
                  <a:lnTo>
                    <a:pt x="529" y="888"/>
                  </a:lnTo>
                  <a:lnTo>
                    <a:pt x="539" y="877"/>
                  </a:lnTo>
                  <a:lnTo>
                    <a:pt x="549" y="868"/>
                  </a:lnTo>
                  <a:lnTo>
                    <a:pt x="558" y="857"/>
                  </a:lnTo>
                  <a:lnTo>
                    <a:pt x="567" y="847"/>
                  </a:lnTo>
                  <a:lnTo>
                    <a:pt x="576" y="836"/>
                  </a:lnTo>
                  <a:lnTo>
                    <a:pt x="586" y="826"/>
                  </a:lnTo>
                  <a:lnTo>
                    <a:pt x="595" y="814"/>
                  </a:lnTo>
                  <a:lnTo>
                    <a:pt x="604" y="803"/>
                  </a:lnTo>
                  <a:lnTo>
                    <a:pt x="613" y="791"/>
                  </a:lnTo>
                  <a:lnTo>
                    <a:pt x="621" y="779"/>
                  </a:lnTo>
                  <a:lnTo>
                    <a:pt x="629" y="767"/>
                  </a:lnTo>
                  <a:lnTo>
                    <a:pt x="638" y="755"/>
                  </a:lnTo>
                  <a:lnTo>
                    <a:pt x="647" y="742"/>
                  </a:lnTo>
                  <a:lnTo>
                    <a:pt x="654" y="730"/>
                  </a:lnTo>
                  <a:lnTo>
                    <a:pt x="670" y="704"/>
                  </a:lnTo>
                  <a:lnTo>
                    <a:pt x="685" y="679"/>
                  </a:lnTo>
                  <a:lnTo>
                    <a:pt x="699" y="655"/>
                  </a:lnTo>
                  <a:lnTo>
                    <a:pt x="713" y="630"/>
                  </a:lnTo>
                  <a:lnTo>
                    <a:pt x="727" y="605"/>
                  </a:lnTo>
                  <a:lnTo>
                    <a:pt x="741" y="580"/>
                  </a:lnTo>
                  <a:lnTo>
                    <a:pt x="754" y="556"/>
                  </a:lnTo>
                  <a:lnTo>
                    <a:pt x="767" y="531"/>
                  </a:lnTo>
                  <a:lnTo>
                    <a:pt x="781" y="507"/>
                  </a:lnTo>
                  <a:lnTo>
                    <a:pt x="794" y="482"/>
                  </a:lnTo>
                  <a:lnTo>
                    <a:pt x="807" y="456"/>
                  </a:lnTo>
                  <a:lnTo>
                    <a:pt x="820" y="431"/>
                  </a:lnTo>
                  <a:lnTo>
                    <a:pt x="834" y="406"/>
                  </a:lnTo>
                  <a:lnTo>
                    <a:pt x="847" y="380"/>
                  </a:lnTo>
                  <a:lnTo>
                    <a:pt x="861" y="355"/>
                  </a:lnTo>
                  <a:lnTo>
                    <a:pt x="875" y="327"/>
                  </a:lnTo>
                  <a:lnTo>
                    <a:pt x="882" y="314"/>
                  </a:lnTo>
                  <a:lnTo>
                    <a:pt x="889" y="300"/>
                  </a:lnTo>
                  <a:lnTo>
                    <a:pt x="898" y="287"/>
                  </a:lnTo>
                  <a:lnTo>
                    <a:pt x="906" y="273"/>
                  </a:lnTo>
                  <a:lnTo>
                    <a:pt x="914" y="259"/>
                  </a:lnTo>
                  <a:lnTo>
                    <a:pt x="923" y="245"/>
                  </a:lnTo>
                  <a:lnTo>
                    <a:pt x="932" y="231"/>
                  </a:lnTo>
                  <a:lnTo>
                    <a:pt x="942" y="217"/>
                  </a:lnTo>
                  <a:lnTo>
                    <a:pt x="952" y="203"/>
                  </a:lnTo>
                  <a:lnTo>
                    <a:pt x="962" y="189"/>
                  </a:lnTo>
                  <a:lnTo>
                    <a:pt x="973" y="176"/>
                  </a:lnTo>
                  <a:lnTo>
                    <a:pt x="984" y="162"/>
                  </a:lnTo>
                  <a:lnTo>
                    <a:pt x="995" y="149"/>
                  </a:lnTo>
                  <a:lnTo>
                    <a:pt x="1006" y="136"/>
                  </a:lnTo>
                  <a:lnTo>
                    <a:pt x="1018" y="124"/>
                  </a:lnTo>
                  <a:lnTo>
                    <a:pt x="1030" y="112"/>
                  </a:lnTo>
                  <a:lnTo>
                    <a:pt x="1042" y="100"/>
                  </a:lnTo>
                  <a:lnTo>
                    <a:pt x="1054" y="89"/>
                  </a:lnTo>
                  <a:lnTo>
                    <a:pt x="1067" y="78"/>
                  </a:lnTo>
                  <a:lnTo>
                    <a:pt x="1079" y="68"/>
                  </a:lnTo>
                  <a:lnTo>
                    <a:pt x="1093" y="58"/>
                  </a:lnTo>
                  <a:lnTo>
                    <a:pt x="1105" y="49"/>
                  </a:lnTo>
                  <a:lnTo>
                    <a:pt x="1119" y="41"/>
                  </a:lnTo>
                  <a:lnTo>
                    <a:pt x="1132" y="33"/>
                  </a:lnTo>
                  <a:lnTo>
                    <a:pt x="1146" y="26"/>
                  </a:lnTo>
                  <a:lnTo>
                    <a:pt x="1160" y="20"/>
                  </a:lnTo>
                  <a:lnTo>
                    <a:pt x="1174" y="14"/>
                  </a:lnTo>
                  <a:lnTo>
                    <a:pt x="1188" y="10"/>
                  </a:lnTo>
                  <a:lnTo>
                    <a:pt x="1202" y="6"/>
                  </a:lnTo>
                  <a:lnTo>
                    <a:pt x="1217" y="2"/>
                  </a:lnTo>
                  <a:lnTo>
                    <a:pt x="1231" y="1"/>
                  </a:lnTo>
                  <a:lnTo>
                    <a:pt x="1246" y="0"/>
                  </a:lnTo>
                  <a:lnTo>
                    <a:pt x="1260" y="0"/>
                  </a:lnTo>
                  <a:lnTo>
                    <a:pt x="1274" y="1"/>
                  </a:lnTo>
                  <a:lnTo>
                    <a:pt x="1288" y="2"/>
                  </a:lnTo>
                  <a:lnTo>
                    <a:pt x="1302" y="2"/>
                  </a:lnTo>
                  <a:lnTo>
                    <a:pt x="1315" y="5"/>
                  </a:lnTo>
                  <a:lnTo>
                    <a:pt x="1328" y="7"/>
                  </a:lnTo>
                  <a:lnTo>
                    <a:pt x="1341" y="11"/>
                  </a:lnTo>
                  <a:lnTo>
                    <a:pt x="1353" y="14"/>
                  </a:lnTo>
                  <a:lnTo>
                    <a:pt x="1365" y="18"/>
                  </a:lnTo>
                  <a:lnTo>
                    <a:pt x="1378" y="24"/>
                  </a:lnTo>
                  <a:lnTo>
                    <a:pt x="1390" y="29"/>
                  </a:lnTo>
                  <a:lnTo>
                    <a:pt x="1401" y="36"/>
                  </a:lnTo>
                  <a:lnTo>
                    <a:pt x="1413" y="42"/>
                  </a:lnTo>
                  <a:lnTo>
                    <a:pt x="1425" y="50"/>
                  </a:lnTo>
                  <a:lnTo>
                    <a:pt x="1437" y="57"/>
                  </a:lnTo>
                  <a:lnTo>
                    <a:pt x="1449" y="66"/>
                  </a:lnTo>
                  <a:lnTo>
                    <a:pt x="1460" y="75"/>
                  </a:lnTo>
                  <a:lnTo>
                    <a:pt x="1472" y="85"/>
                  </a:lnTo>
                  <a:lnTo>
                    <a:pt x="1483" y="96"/>
                  </a:lnTo>
                  <a:lnTo>
                    <a:pt x="1495" y="107"/>
                  </a:lnTo>
                  <a:lnTo>
                    <a:pt x="1506" y="118"/>
                  </a:lnTo>
                  <a:lnTo>
                    <a:pt x="1518" y="131"/>
                  </a:lnTo>
                  <a:lnTo>
                    <a:pt x="1530" y="145"/>
                  </a:lnTo>
                  <a:lnTo>
                    <a:pt x="1542" y="158"/>
                  </a:lnTo>
                  <a:lnTo>
                    <a:pt x="1554" y="173"/>
                  </a:lnTo>
                  <a:lnTo>
                    <a:pt x="1566" y="188"/>
                  </a:lnTo>
                  <a:lnTo>
                    <a:pt x="1578" y="204"/>
                  </a:lnTo>
                  <a:lnTo>
                    <a:pt x="1591" y="221"/>
                  </a:lnTo>
                  <a:lnTo>
                    <a:pt x="1604" y="238"/>
                  </a:lnTo>
                  <a:lnTo>
                    <a:pt x="1617" y="256"/>
                  </a:lnTo>
                  <a:lnTo>
                    <a:pt x="1630" y="275"/>
                  </a:lnTo>
                  <a:lnTo>
                    <a:pt x="1644" y="295"/>
                  </a:lnTo>
                  <a:lnTo>
                    <a:pt x="1661" y="322"/>
                  </a:lnTo>
                  <a:lnTo>
                    <a:pt x="1678" y="350"/>
                  </a:lnTo>
                  <a:lnTo>
                    <a:pt x="1693" y="379"/>
                  </a:lnTo>
                  <a:lnTo>
                    <a:pt x="1707" y="407"/>
                  </a:lnTo>
                  <a:lnTo>
                    <a:pt x="1721" y="437"/>
                  </a:lnTo>
                  <a:lnTo>
                    <a:pt x="1734" y="468"/>
                  </a:lnTo>
                  <a:lnTo>
                    <a:pt x="1746" y="498"/>
                  </a:lnTo>
                  <a:lnTo>
                    <a:pt x="1760" y="529"/>
                  </a:lnTo>
                  <a:lnTo>
                    <a:pt x="1772" y="560"/>
                  </a:lnTo>
                  <a:lnTo>
                    <a:pt x="1784" y="590"/>
                  </a:lnTo>
                  <a:lnTo>
                    <a:pt x="1797" y="622"/>
                  </a:lnTo>
                  <a:lnTo>
                    <a:pt x="1810" y="651"/>
                  </a:lnTo>
                  <a:lnTo>
                    <a:pt x="1824" y="681"/>
                  </a:lnTo>
                  <a:lnTo>
                    <a:pt x="1838" y="711"/>
                  </a:lnTo>
                  <a:lnTo>
                    <a:pt x="1853" y="741"/>
                  </a:lnTo>
                  <a:lnTo>
                    <a:pt x="1869" y="769"/>
                  </a:lnTo>
                  <a:lnTo>
                    <a:pt x="1874" y="775"/>
                  </a:lnTo>
                  <a:lnTo>
                    <a:pt x="1878" y="783"/>
                  </a:lnTo>
                  <a:lnTo>
                    <a:pt x="1885" y="791"/>
                  </a:lnTo>
                  <a:lnTo>
                    <a:pt x="1890" y="798"/>
                  </a:lnTo>
                  <a:lnTo>
                    <a:pt x="1897" y="807"/>
                  </a:lnTo>
                  <a:lnTo>
                    <a:pt x="1905" y="815"/>
                  </a:lnTo>
                  <a:lnTo>
                    <a:pt x="1913" y="823"/>
                  </a:lnTo>
                  <a:lnTo>
                    <a:pt x="1921" y="832"/>
                  </a:lnTo>
                  <a:lnTo>
                    <a:pt x="1930" y="841"/>
                  </a:lnTo>
                  <a:lnTo>
                    <a:pt x="1938" y="851"/>
                  </a:lnTo>
                  <a:lnTo>
                    <a:pt x="1949" y="860"/>
                  </a:lnTo>
                  <a:lnTo>
                    <a:pt x="1958" y="869"/>
                  </a:lnTo>
                  <a:lnTo>
                    <a:pt x="1968" y="878"/>
                  </a:lnTo>
                  <a:lnTo>
                    <a:pt x="1979" y="887"/>
                  </a:lnTo>
                  <a:lnTo>
                    <a:pt x="1989" y="896"/>
                  </a:lnTo>
                  <a:lnTo>
                    <a:pt x="2000" y="905"/>
                  </a:lnTo>
                  <a:lnTo>
                    <a:pt x="2010" y="914"/>
                  </a:lnTo>
                  <a:lnTo>
                    <a:pt x="2022" y="924"/>
                  </a:lnTo>
                  <a:lnTo>
                    <a:pt x="2033" y="932"/>
                  </a:lnTo>
                  <a:lnTo>
                    <a:pt x="2044" y="941"/>
                  </a:lnTo>
                  <a:lnTo>
                    <a:pt x="2055" y="951"/>
                  </a:lnTo>
                  <a:lnTo>
                    <a:pt x="2067" y="959"/>
                  </a:lnTo>
                  <a:lnTo>
                    <a:pt x="2078" y="967"/>
                  </a:lnTo>
                  <a:lnTo>
                    <a:pt x="2089" y="975"/>
                  </a:lnTo>
                  <a:lnTo>
                    <a:pt x="2101" y="983"/>
                  </a:lnTo>
                  <a:lnTo>
                    <a:pt x="2111" y="991"/>
                  </a:lnTo>
                  <a:lnTo>
                    <a:pt x="2123" y="998"/>
                  </a:lnTo>
                  <a:lnTo>
                    <a:pt x="2133" y="1005"/>
                  </a:lnTo>
                  <a:lnTo>
                    <a:pt x="2144" y="1012"/>
                  </a:lnTo>
                  <a:lnTo>
                    <a:pt x="2154" y="1017"/>
                  </a:lnTo>
                  <a:lnTo>
                    <a:pt x="2164" y="1024"/>
                  </a:lnTo>
                  <a:lnTo>
                    <a:pt x="2174" y="1029"/>
                  </a:lnTo>
                  <a:lnTo>
                    <a:pt x="2185" y="1036"/>
                  </a:lnTo>
                  <a:lnTo>
                    <a:pt x="2197" y="1041"/>
                  </a:lnTo>
                  <a:lnTo>
                    <a:pt x="2209" y="1048"/>
                  </a:lnTo>
                  <a:lnTo>
                    <a:pt x="2222" y="1054"/>
                  </a:lnTo>
                  <a:lnTo>
                    <a:pt x="2234" y="1060"/>
                  </a:lnTo>
                  <a:lnTo>
                    <a:pt x="2249" y="1066"/>
                  </a:lnTo>
                  <a:lnTo>
                    <a:pt x="2262" y="1073"/>
                  </a:lnTo>
                  <a:lnTo>
                    <a:pt x="2275" y="1079"/>
                  </a:lnTo>
                  <a:lnTo>
                    <a:pt x="2290" y="1085"/>
                  </a:lnTo>
                  <a:lnTo>
                    <a:pt x="2305" y="1092"/>
                  </a:lnTo>
                  <a:lnTo>
                    <a:pt x="2318" y="1098"/>
                  </a:lnTo>
                  <a:lnTo>
                    <a:pt x="2333" y="1104"/>
                  </a:lnTo>
                  <a:lnTo>
                    <a:pt x="2348" y="1109"/>
                  </a:lnTo>
                  <a:lnTo>
                    <a:pt x="2362" y="1116"/>
                  </a:lnTo>
                  <a:lnTo>
                    <a:pt x="2377" y="1122"/>
                  </a:lnTo>
                  <a:lnTo>
                    <a:pt x="2392" y="1127"/>
                  </a:lnTo>
                  <a:lnTo>
                    <a:pt x="2407" y="1132"/>
                  </a:lnTo>
                  <a:lnTo>
                    <a:pt x="2421" y="1137"/>
                  </a:lnTo>
                  <a:lnTo>
                    <a:pt x="2435" y="1142"/>
                  </a:lnTo>
                  <a:lnTo>
                    <a:pt x="2448" y="1146"/>
                  </a:lnTo>
                  <a:lnTo>
                    <a:pt x="2463" y="1151"/>
                  </a:lnTo>
                  <a:lnTo>
                    <a:pt x="2476" y="1156"/>
                  </a:lnTo>
                  <a:lnTo>
                    <a:pt x="2489" y="1159"/>
                  </a:lnTo>
                  <a:lnTo>
                    <a:pt x="2502" y="1162"/>
                  </a:lnTo>
                  <a:lnTo>
                    <a:pt x="2514" y="1165"/>
                  </a:lnTo>
                  <a:lnTo>
                    <a:pt x="2526" y="1169"/>
                  </a:lnTo>
                  <a:lnTo>
                    <a:pt x="2537" y="1171"/>
                  </a:lnTo>
                  <a:lnTo>
                    <a:pt x="2548" y="1173"/>
                  </a:lnTo>
                  <a:lnTo>
                    <a:pt x="2558" y="1175"/>
                  </a:lnTo>
                  <a:lnTo>
                    <a:pt x="2568" y="1176"/>
                  </a:lnTo>
                  <a:lnTo>
                    <a:pt x="2577" y="1176"/>
                  </a:lnTo>
                  <a:lnTo>
                    <a:pt x="2585" y="1177"/>
                  </a:lnTo>
                </a:path>
              </a:pathLst>
            </a:custGeom>
            <a:noFill/>
            <a:ln w="50800" cap="rnd" cmpd="sng">
              <a:solidFill>
                <a:srgbClr val="02B67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7" name="Text Box 12"/>
            <p:cNvSpPr txBox="1">
              <a:spLocks noChangeArrowheads="1"/>
            </p:cNvSpPr>
            <p:nvPr/>
          </p:nvSpPr>
          <p:spPr bwMode="auto">
            <a:xfrm>
              <a:off x="685800" y="4705290"/>
              <a:ext cx="770223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GB" altLang="en-US" sz="2000" b="1" dirty="0">
                  <a:solidFill>
                    <a:srgbClr val="333399"/>
                  </a:solidFill>
                </a:rPr>
                <a:t>Within groups variability large compared to between groups variability</a:t>
              </a:r>
            </a:p>
          </p:txBody>
        </p:sp>
        <p:sp>
          <p:nvSpPr>
            <p:cNvPr id="18" name="Freeform 3"/>
            <p:cNvSpPr>
              <a:spLocks/>
            </p:cNvSpPr>
            <p:nvPr/>
          </p:nvSpPr>
          <p:spPr bwMode="auto">
            <a:xfrm>
              <a:off x="685800" y="3514036"/>
              <a:ext cx="7772400" cy="1211263"/>
            </a:xfrm>
            <a:custGeom>
              <a:avLst/>
              <a:gdLst>
                <a:gd name="T0" fmla="*/ 0 w 4195"/>
                <a:gd name="T1" fmla="*/ 0 h 1819"/>
                <a:gd name="T2" fmla="*/ 0 w 4195"/>
                <a:gd name="T3" fmla="*/ 1818 h 1819"/>
                <a:gd name="T4" fmla="*/ 4194 w 4195"/>
                <a:gd name="T5" fmla="*/ 1818 h 1819"/>
              </a:gdLst>
              <a:ahLst/>
              <a:cxnLst>
                <a:cxn ang="0">
                  <a:pos x="T0" y="T1"/>
                </a:cxn>
                <a:cxn ang="0">
                  <a:pos x="T2" y="T3"/>
                </a:cxn>
                <a:cxn ang="0">
                  <a:pos x="T4" y="T5"/>
                </a:cxn>
              </a:cxnLst>
              <a:rect l="0" t="0" r="r" b="b"/>
              <a:pathLst>
                <a:path w="4195" h="1819">
                  <a:moveTo>
                    <a:pt x="0" y="0"/>
                  </a:moveTo>
                  <a:lnTo>
                    <a:pt x="0" y="1818"/>
                  </a:lnTo>
                  <a:lnTo>
                    <a:pt x="4194" y="1818"/>
                  </a:lnTo>
                </a:path>
              </a:pathLst>
            </a:custGeom>
            <a:noFill/>
            <a:ln w="508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Tree>
    <p:extLst>
      <p:ext uri="{BB962C8B-B14F-4D97-AF65-F5344CB8AC3E}">
        <p14:creationId xmlns:p14="http://schemas.microsoft.com/office/powerpoint/2010/main" val="2886907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altLang="en-US" dirty="0"/>
              <a:t>One-way ANOVA</a:t>
            </a:r>
            <a:endParaRPr lang="en-GB" dirty="0"/>
          </a:p>
        </p:txBody>
      </p:sp>
      <p:grpSp>
        <p:nvGrpSpPr>
          <p:cNvPr id="2" name="Group 1"/>
          <p:cNvGrpSpPr/>
          <p:nvPr/>
        </p:nvGrpSpPr>
        <p:grpSpPr>
          <a:xfrm>
            <a:off x="381000" y="2633877"/>
            <a:ext cx="7772400" cy="2014323"/>
            <a:chOff x="685800" y="1591336"/>
            <a:chExt cx="7772400" cy="1211263"/>
          </a:xfrm>
        </p:grpSpPr>
        <p:sp>
          <p:nvSpPr>
            <p:cNvPr id="6" name="Freeform 2"/>
            <p:cNvSpPr>
              <a:spLocks/>
            </p:cNvSpPr>
            <p:nvPr/>
          </p:nvSpPr>
          <p:spPr bwMode="auto">
            <a:xfrm>
              <a:off x="1676400" y="1905000"/>
              <a:ext cx="1828800" cy="833438"/>
            </a:xfrm>
            <a:custGeom>
              <a:avLst/>
              <a:gdLst>
                <a:gd name="T0" fmla="*/ 24 w 2586"/>
                <a:gd name="T1" fmla="*/ 1168 h 1178"/>
                <a:gd name="T2" fmla="*/ 79 w 2586"/>
                <a:gd name="T3" fmla="*/ 1144 h 1178"/>
                <a:gd name="T4" fmla="*/ 152 w 2586"/>
                <a:gd name="T5" fmla="*/ 1108 h 1178"/>
                <a:gd name="T6" fmla="*/ 234 w 2586"/>
                <a:gd name="T7" fmla="*/ 1065 h 1178"/>
                <a:gd name="T8" fmla="*/ 319 w 2586"/>
                <a:gd name="T9" fmla="*/ 1020 h 1178"/>
                <a:gd name="T10" fmla="*/ 398 w 2586"/>
                <a:gd name="T11" fmla="*/ 976 h 1178"/>
                <a:gd name="T12" fmla="*/ 462 w 2586"/>
                <a:gd name="T13" fmla="*/ 938 h 1178"/>
                <a:gd name="T14" fmla="*/ 504 w 2586"/>
                <a:gd name="T15" fmla="*/ 910 h 1178"/>
                <a:gd name="T16" fmla="*/ 539 w 2586"/>
                <a:gd name="T17" fmla="*/ 877 h 1178"/>
                <a:gd name="T18" fmla="*/ 576 w 2586"/>
                <a:gd name="T19" fmla="*/ 836 h 1178"/>
                <a:gd name="T20" fmla="*/ 613 w 2586"/>
                <a:gd name="T21" fmla="*/ 791 h 1178"/>
                <a:gd name="T22" fmla="*/ 647 w 2586"/>
                <a:gd name="T23" fmla="*/ 742 h 1178"/>
                <a:gd name="T24" fmla="*/ 699 w 2586"/>
                <a:gd name="T25" fmla="*/ 655 h 1178"/>
                <a:gd name="T26" fmla="*/ 754 w 2586"/>
                <a:gd name="T27" fmla="*/ 556 h 1178"/>
                <a:gd name="T28" fmla="*/ 807 w 2586"/>
                <a:gd name="T29" fmla="*/ 456 h 1178"/>
                <a:gd name="T30" fmla="*/ 861 w 2586"/>
                <a:gd name="T31" fmla="*/ 355 h 1178"/>
                <a:gd name="T32" fmla="*/ 898 w 2586"/>
                <a:gd name="T33" fmla="*/ 287 h 1178"/>
                <a:gd name="T34" fmla="*/ 932 w 2586"/>
                <a:gd name="T35" fmla="*/ 231 h 1178"/>
                <a:gd name="T36" fmla="*/ 973 w 2586"/>
                <a:gd name="T37" fmla="*/ 176 h 1178"/>
                <a:gd name="T38" fmla="*/ 1018 w 2586"/>
                <a:gd name="T39" fmla="*/ 124 h 1178"/>
                <a:gd name="T40" fmla="*/ 1067 w 2586"/>
                <a:gd name="T41" fmla="*/ 78 h 1178"/>
                <a:gd name="T42" fmla="*/ 1119 w 2586"/>
                <a:gd name="T43" fmla="*/ 41 h 1178"/>
                <a:gd name="T44" fmla="*/ 1174 w 2586"/>
                <a:gd name="T45" fmla="*/ 14 h 1178"/>
                <a:gd name="T46" fmla="*/ 1231 w 2586"/>
                <a:gd name="T47" fmla="*/ 1 h 1178"/>
                <a:gd name="T48" fmla="*/ 1288 w 2586"/>
                <a:gd name="T49" fmla="*/ 2 h 1178"/>
                <a:gd name="T50" fmla="*/ 1341 w 2586"/>
                <a:gd name="T51" fmla="*/ 11 h 1178"/>
                <a:gd name="T52" fmla="*/ 1390 w 2586"/>
                <a:gd name="T53" fmla="*/ 29 h 1178"/>
                <a:gd name="T54" fmla="*/ 1437 w 2586"/>
                <a:gd name="T55" fmla="*/ 57 h 1178"/>
                <a:gd name="T56" fmla="*/ 1483 w 2586"/>
                <a:gd name="T57" fmla="*/ 96 h 1178"/>
                <a:gd name="T58" fmla="*/ 1530 w 2586"/>
                <a:gd name="T59" fmla="*/ 145 h 1178"/>
                <a:gd name="T60" fmla="*/ 1578 w 2586"/>
                <a:gd name="T61" fmla="*/ 204 h 1178"/>
                <a:gd name="T62" fmla="*/ 1630 w 2586"/>
                <a:gd name="T63" fmla="*/ 275 h 1178"/>
                <a:gd name="T64" fmla="*/ 1693 w 2586"/>
                <a:gd name="T65" fmla="*/ 379 h 1178"/>
                <a:gd name="T66" fmla="*/ 1746 w 2586"/>
                <a:gd name="T67" fmla="*/ 498 h 1178"/>
                <a:gd name="T68" fmla="*/ 1797 w 2586"/>
                <a:gd name="T69" fmla="*/ 622 h 1178"/>
                <a:gd name="T70" fmla="*/ 1853 w 2586"/>
                <a:gd name="T71" fmla="*/ 741 h 1178"/>
                <a:gd name="T72" fmla="*/ 1885 w 2586"/>
                <a:gd name="T73" fmla="*/ 791 h 1178"/>
                <a:gd name="T74" fmla="*/ 1913 w 2586"/>
                <a:gd name="T75" fmla="*/ 823 h 1178"/>
                <a:gd name="T76" fmla="*/ 1949 w 2586"/>
                <a:gd name="T77" fmla="*/ 860 h 1178"/>
                <a:gd name="T78" fmla="*/ 1989 w 2586"/>
                <a:gd name="T79" fmla="*/ 896 h 1178"/>
                <a:gd name="T80" fmla="*/ 2033 w 2586"/>
                <a:gd name="T81" fmla="*/ 932 h 1178"/>
                <a:gd name="T82" fmla="*/ 2078 w 2586"/>
                <a:gd name="T83" fmla="*/ 967 h 1178"/>
                <a:gd name="T84" fmla="*/ 2123 w 2586"/>
                <a:gd name="T85" fmla="*/ 998 h 1178"/>
                <a:gd name="T86" fmla="*/ 2164 w 2586"/>
                <a:gd name="T87" fmla="*/ 1024 h 1178"/>
                <a:gd name="T88" fmla="*/ 2209 w 2586"/>
                <a:gd name="T89" fmla="*/ 1048 h 1178"/>
                <a:gd name="T90" fmla="*/ 2262 w 2586"/>
                <a:gd name="T91" fmla="*/ 1073 h 1178"/>
                <a:gd name="T92" fmla="*/ 2318 w 2586"/>
                <a:gd name="T93" fmla="*/ 1098 h 1178"/>
                <a:gd name="T94" fmla="*/ 2377 w 2586"/>
                <a:gd name="T95" fmla="*/ 1122 h 1178"/>
                <a:gd name="T96" fmla="*/ 2435 w 2586"/>
                <a:gd name="T97" fmla="*/ 1142 h 1178"/>
                <a:gd name="T98" fmla="*/ 2489 w 2586"/>
                <a:gd name="T99" fmla="*/ 1159 h 1178"/>
                <a:gd name="T100" fmla="*/ 2537 w 2586"/>
                <a:gd name="T101" fmla="*/ 1171 h 1178"/>
                <a:gd name="T102" fmla="*/ 2577 w 2586"/>
                <a:gd name="T103" fmla="*/ 1176 h 1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86" h="1178">
                  <a:moveTo>
                    <a:pt x="0" y="1177"/>
                  </a:moveTo>
                  <a:lnTo>
                    <a:pt x="6" y="1175"/>
                  </a:lnTo>
                  <a:lnTo>
                    <a:pt x="14" y="1172"/>
                  </a:lnTo>
                  <a:lnTo>
                    <a:pt x="24" y="1168"/>
                  </a:lnTo>
                  <a:lnTo>
                    <a:pt x="36" y="1164"/>
                  </a:lnTo>
                  <a:lnTo>
                    <a:pt x="48" y="1158"/>
                  </a:lnTo>
                  <a:lnTo>
                    <a:pt x="63" y="1151"/>
                  </a:lnTo>
                  <a:lnTo>
                    <a:pt x="79" y="1144"/>
                  </a:lnTo>
                  <a:lnTo>
                    <a:pt x="96" y="1136"/>
                  </a:lnTo>
                  <a:lnTo>
                    <a:pt x="114" y="1127"/>
                  </a:lnTo>
                  <a:lnTo>
                    <a:pt x="132" y="1117"/>
                  </a:lnTo>
                  <a:lnTo>
                    <a:pt x="152" y="1108"/>
                  </a:lnTo>
                  <a:lnTo>
                    <a:pt x="171" y="1098"/>
                  </a:lnTo>
                  <a:lnTo>
                    <a:pt x="193" y="1087"/>
                  </a:lnTo>
                  <a:lnTo>
                    <a:pt x="213" y="1076"/>
                  </a:lnTo>
                  <a:lnTo>
                    <a:pt x="234" y="1065"/>
                  </a:lnTo>
                  <a:lnTo>
                    <a:pt x="256" y="1054"/>
                  </a:lnTo>
                  <a:lnTo>
                    <a:pt x="277" y="1042"/>
                  </a:lnTo>
                  <a:lnTo>
                    <a:pt x="298" y="1031"/>
                  </a:lnTo>
                  <a:lnTo>
                    <a:pt x="319" y="1020"/>
                  </a:lnTo>
                  <a:lnTo>
                    <a:pt x="340" y="1008"/>
                  </a:lnTo>
                  <a:lnTo>
                    <a:pt x="360" y="998"/>
                  </a:lnTo>
                  <a:lnTo>
                    <a:pt x="379" y="986"/>
                  </a:lnTo>
                  <a:lnTo>
                    <a:pt x="398" y="976"/>
                  </a:lnTo>
                  <a:lnTo>
                    <a:pt x="416" y="966"/>
                  </a:lnTo>
                  <a:lnTo>
                    <a:pt x="432" y="955"/>
                  </a:lnTo>
                  <a:lnTo>
                    <a:pt x="448" y="947"/>
                  </a:lnTo>
                  <a:lnTo>
                    <a:pt x="462" y="938"/>
                  </a:lnTo>
                  <a:lnTo>
                    <a:pt x="475" y="930"/>
                  </a:lnTo>
                  <a:lnTo>
                    <a:pt x="486" y="922"/>
                  </a:lnTo>
                  <a:lnTo>
                    <a:pt x="496" y="916"/>
                  </a:lnTo>
                  <a:lnTo>
                    <a:pt x="504" y="910"/>
                  </a:lnTo>
                  <a:lnTo>
                    <a:pt x="509" y="905"/>
                  </a:lnTo>
                  <a:lnTo>
                    <a:pt x="520" y="896"/>
                  </a:lnTo>
                  <a:lnTo>
                    <a:pt x="529" y="888"/>
                  </a:lnTo>
                  <a:lnTo>
                    <a:pt x="539" y="877"/>
                  </a:lnTo>
                  <a:lnTo>
                    <a:pt x="549" y="868"/>
                  </a:lnTo>
                  <a:lnTo>
                    <a:pt x="558" y="857"/>
                  </a:lnTo>
                  <a:lnTo>
                    <a:pt x="567" y="847"/>
                  </a:lnTo>
                  <a:lnTo>
                    <a:pt x="576" y="836"/>
                  </a:lnTo>
                  <a:lnTo>
                    <a:pt x="586" y="826"/>
                  </a:lnTo>
                  <a:lnTo>
                    <a:pt x="595" y="814"/>
                  </a:lnTo>
                  <a:lnTo>
                    <a:pt x="604" y="803"/>
                  </a:lnTo>
                  <a:lnTo>
                    <a:pt x="613" y="791"/>
                  </a:lnTo>
                  <a:lnTo>
                    <a:pt x="621" y="779"/>
                  </a:lnTo>
                  <a:lnTo>
                    <a:pt x="629" y="767"/>
                  </a:lnTo>
                  <a:lnTo>
                    <a:pt x="638" y="755"/>
                  </a:lnTo>
                  <a:lnTo>
                    <a:pt x="647" y="742"/>
                  </a:lnTo>
                  <a:lnTo>
                    <a:pt x="654" y="730"/>
                  </a:lnTo>
                  <a:lnTo>
                    <a:pt x="670" y="704"/>
                  </a:lnTo>
                  <a:lnTo>
                    <a:pt x="685" y="679"/>
                  </a:lnTo>
                  <a:lnTo>
                    <a:pt x="699" y="655"/>
                  </a:lnTo>
                  <a:lnTo>
                    <a:pt x="713" y="630"/>
                  </a:lnTo>
                  <a:lnTo>
                    <a:pt x="727" y="605"/>
                  </a:lnTo>
                  <a:lnTo>
                    <a:pt x="741" y="580"/>
                  </a:lnTo>
                  <a:lnTo>
                    <a:pt x="754" y="556"/>
                  </a:lnTo>
                  <a:lnTo>
                    <a:pt x="767" y="531"/>
                  </a:lnTo>
                  <a:lnTo>
                    <a:pt x="781" y="507"/>
                  </a:lnTo>
                  <a:lnTo>
                    <a:pt x="794" y="482"/>
                  </a:lnTo>
                  <a:lnTo>
                    <a:pt x="807" y="456"/>
                  </a:lnTo>
                  <a:lnTo>
                    <a:pt x="820" y="431"/>
                  </a:lnTo>
                  <a:lnTo>
                    <a:pt x="834" y="406"/>
                  </a:lnTo>
                  <a:lnTo>
                    <a:pt x="847" y="380"/>
                  </a:lnTo>
                  <a:lnTo>
                    <a:pt x="861" y="355"/>
                  </a:lnTo>
                  <a:lnTo>
                    <a:pt x="875" y="327"/>
                  </a:lnTo>
                  <a:lnTo>
                    <a:pt x="882" y="314"/>
                  </a:lnTo>
                  <a:lnTo>
                    <a:pt x="889" y="300"/>
                  </a:lnTo>
                  <a:lnTo>
                    <a:pt x="898" y="287"/>
                  </a:lnTo>
                  <a:lnTo>
                    <a:pt x="906" y="273"/>
                  </a:lnTo>
                  <a:lnTo>
                    <a:pt x="914" y="259"/>
                  </a:lnTo>
                  <a:lnTo>
                    <a:pt x="923" y="245"/>
                  </a:lnTo>
                  <a:lnTo>
                    <a:pt x="932" y="231"/>
                  </a:lnTo>
                  <a:lnTo>
                    <a:pt x="942" y="217"/>
                  </a:lnTo>
                  <a:lnTo>
                    <a:pt x="952" y="203"/>
                  </a:lnTo>
                  <a:lnTo>
                    <a:pt x="962" y="189"/>
                  </a:lnTo>
                  <a:lnTo>
                    <a:pt x="973" y="176"/>
                  </a:lnTo>
                  <a:lnTo>
                    <a:pt x="984" y="162"/>
                  </a:lnTo>
                  <a:lnTo>
                    <a:pt x="995" y="149"/>
                  </a:lnTo>
                  <a:lnTo>
                    <a:pt x="1006" y="136"/>
                  </a:lnTo>
                  <a:lnTo>
                    <a:pt x="1018" y="124"/>
                  </a:lnTo>
                  <a:lnTo>
                    <a:pt x="1030" y="112"/>
                  </a:lnTo>
                  <a:lnTo>
                    <a:pt x="1042" y="100"/>
                  </a:lnTo>
                  <a:lnTo>
                    <a:pt x="1054" y="89"/>
                  </a:lnTo>
                  <a:lnTo>
                    <a:pt x="1067" y="78"/>
                  </a:lnTo>
                  <a:lnTo>
                    <a:pt x="1079" y="68"/>
                  </a:lnTo>
                  <a:lnTo>
                    <a:pt x="1093" y="58"/>
                  </a:lnTo>
                  <a:lnTo>
                    <a:pt x="1105" y="49"/>
                  </a:lnTo>
                  <a:lnTo>
                    <a:pt x="1119" y="41"/>
                  </a:lnTo>
                  <a:lnTo>
                    <a:pt x="1132" y="33"/>
                  </a:lnTo>
                  <a:lnTo>
                    <a:pt x="1146" y="26"/>
                  </a:lnTo>
                  <a:lnTo>
                    <a:pt x="1160" y="20"/>
                  </a:lnTo>
                  <a:lnTo>
                    <a:pt x="1174" y="14"/>
                  </a:lnTo>
                  <a:lnTo>
                    <a:pt x="1188" y="10"/>
                  </a:lnTo>
                  <a:lnTo>
                    <a:pt x="1202" y="6"/>
                  </a:lnTo>
                  <a:lnTo>
                    <a:pt x="1217" y="2"/>
                  </a:lnTo>
                  <a:lnTo>
                    <a:pt x="1231" y="1"/>
                  </a:lnTo>
                  <a:lnTo>
                    <a:pt x="1246" y="0"/>
                  </a:lnTo>
                  <a:lnTo>
                    <a:pt x="1260" y="0"/>
                  </a:lnTo>
                  <a:lnTo>
                    <a:pt x="1274" y="1"/>
                  </a:lnTo>
                  <a:lnTo>
                    <a:pt x="1288" y="2"/>
                  </a:lnTo>
                  <a:lnTo>
                    <a:pt x="1302" y="2"/>
                  </a:lnTo>
                  <a:lnTo>
                    <a:pt x="1315" y="5"/>
                  </a:lnTo>
                  <a:lnTo>
                    <a:pt x="1328" y="7"/>
                  </a:lnTo>
                  <a:lnTo>
                    <a:pt x="1341" y="11"/>
                  </a:lnTo>
                  <a:lnTo>
                    <a:pt x="1353" y="14"/>
                  </a:lnTo>
                  <a:lnTo>
                    <a:pt x="1365" y="18"/>
                  </a:lnTo>
                  <a:lnTo>
                    <a:pt x="1378" y="24"/>
                  </a:lnTo>
                  <a:lnTo>
                    <a:pt x="1390" y="29"/>
                  </a:lnTo>
                  <a:lnTo>
                    <a:pt x="1401" y="36"/>
                  </a:lnTo>
                  <a:lnTo>
                    <a:pt x="1413" y="42"/>
                  </a:lnTo>
                  <a:lnTo>
                    <a:pt x="1425" y="50"/>
                  </a:lnTo>
                  <a:lnTo>
                    <a:pt x="1437" y="57"/>
                  </a:lnTo>
                  <a:lnTo>
                    <a:pt x="1449" y="66"/>
                  </a:lnTo>
                  <a:lnTo>
                    <a:pt x="1460" y="75"/>
                  </a:lnTo>
                  <a:lnTo>
                    <a:pt x="1472" y="85"/>
                  </a:lnTo>
                  <a:lnTo>
                    <a:pt x="1483" y="96"/>
                  </a:lnTo>
                  <a:lnTo>
                    <a:pt x="1495" y="107"/>
                  </a:lnTo>
                  <a:lnTo>
                    <a:pt x="1506" y="118"/>
                  </a:lnTo>
                  <a:lnTo>
                    <a:pt x="1518" y="131"/>
                  </a:lnTo>
                  <a:lnTo>
                    <a:pt x="1530" y="145"/>
                  </a:lnTo>
                  <a:lnTo>
                    <a:pt x="1542" y="158"/>
                  </a:lnTo>
                  <a:lnTo>
                    <a:pt x="1554" y="173"/>
                  </a:lnTo>
                  <a:lnTo>
                    <a:pt x="1566" y="188"/>
                  </a:lnTo>
                  <a:lnTo>
                    <a:pt x="1578" y="204"/>
                  </a:lnTo>
                  <a:lnTo>
                    <a:pt x="1591" y="221"/>
                  </a:lnTo>
                  <a:lnTo>
                    <a:pt x="1604" y="238"/>
                  </a:lnTo>
                  <a:lnTo>
                    <a:pt x="1617" y="256"/>
                  </a:lnTo>
                  <a:lnTo>
                    <a:pt x="1630" y="275"/>
                  </a:lnTo>
                  <a:lnTo>
                    <a:pt x="1644" y="295"/>
                  </a:lnTo>
                  <a:lnTo>
                    <a:pt x="1661" y="322"/>
                  </a:lnTo>
                  <a:lnTo>
                    <a:pt x="1678" y="350"/>
                  </a:lnTo>
                  <a:lnTo>
                    <a:pt x="1693" y="379"/>
                  </a:lnTo>
                  <a:lnTo>
                    <a:pt x="1707" y="407"/>
                  </a:lnTo>
                  <a:lnTo>
                    <a:pt x="1721" y="437"/>
                  </a:lnTo>
                  <a:lnTo>
                    <a:pt x="1734" y="468"/>
                  </a:lnTo>
                  <a:lnTo>
                    <a:pt x="1746" y="498"/>
                  </a:lnTo>
                  <a:lnTo>
                    <a:pt x="1760" y="529"/>
                  </a:lnTo>
                  <a:lnTo>
                    <a:pt x="1772" y="560"/>
                  </a:lnTo>
                  <a:lnTo>
                    <a:pt x="1784" y="590"/>
                  </a:lnTo>
                  <a:lnTo>
                    <a:pt x="1797" y="622"/>
                  </a:lnTo>
                  <a:lnTo>
                    <a:pt x="1810" y="651"/>
                  </a:lnTo>
                  <a:lnTo>
                    <a:pt x="1824" y="681"/>
                  </a:lnTo>
                  <a:lnTo>
                    <a:pt x="1838" y="711"/>
                  </a:lnTo>
                  <a:lnTo>
                    <a:pt x="1853" y="741"/>
                  </a:lnTo>
                  <a:lnTo>
                    <a:pt x="1869" y="769"/>
                  </a:lnTo>
                  <a:lnTo>
                    <a:pt x="1874" y="775"/>
                  </a:lnTo>
                  <a:lnTo>
                    <a:pt x="1878" y="783"/>
                  </a:lnTo>
                  <a:lnTo>
                    <a:pt x="1885" y="791"/>
                  </a:lnTo>
                  <a:lnTo>
                    <a:pt x="1890" y="798"/>
                  </a:lnTo>
                  <a:lnTo>
                    <a:pt x="1897" y="807"/>
                  </a:lnTo>
                  <a:lnTo>
                    <a:pt x="1905" y="815"/>
                  </a:lnTo>
                  <a:lnTo>
                    <a:pt x="1913" y="823"/>
                  </a:lnTo>
                  <a:lnTo>
                    <a:pt x="1921" y="832"/>
                  </a:lnTo>
                  <a:lnTo>
                    <a:pt x="1930" y="841"/>
                  </a:lnTo>
                  <a:lnTo>
                    <a:pt x="1938" y="851"/>
                  </a:lnTo>
                  <a:lnTo>
                    <a:pt x="1949" y="860"/>
                  </a:lnTo>
                  <a:lnTo>
                    <a:pt x="1958" y="869"/>
                  </a:lnTo>
                  <a:lnTo>
                    <a:pt x="1968" y="878"/>
                  </a:lnTo>
                  <a:lnTo>
                    <a:pt x="1979" y="887"/>
                  </a:lnTo>
                  <a:lnTo>
                    <a:pt x="1989" y="896"/>
                  </a:lnTo>
                  <a:lnTo>
                    <a:pt x="2000" y="905"/>
                  </a:lnTo>
                  <a:lnTo>
                    <a:pt x="2010" y="914"/>
                  </a:lnTo>
                  <a:lnTo>
                    <a:pt x="2022" y="924"/>
                  </a:lnTo>
                  <a:lnTo>
                    <a:pt x="2033" y="932"/>
                  </a:lnTo>
                  <a:lnTo>
                    <a:pt x="2044" y="941"/>
                  </a:lnTo>
                  <a:lnTo>
                    <a:pt x="2055" y="951"/>
                  </a:lnTo>
                  <a:lnTo>
                    <a:pt x="2067" y="959"/>
                  </a:lnTo>
                  <a:lnTo>
                    <a:pt x="2078" y="967"/>
                  </a:lnTo>
                  <a:lnTo>
                    <a:pt x="2089" y="975"/>
                  </a:lnTo>
                  <a:lnTo>
                    <a:pt x="2101" y="983"/>
                  </a:lnTo>
                  <a:lnTo>
                    <a:pt x="2111" y="991"/>
                  </a:lnTo>
                  <a:lnTo>
                    <a:pt x="2123" y="998"/>
                  </a:lnTo>
                  <a:lnTo>
                    <a:pt x="2133" y="1005"/>
                  </a:lnTo>
                  <a:lnTo>
                    <a:pt x="2144" y="1012"/>
                  </a:lnTo>
                  <a:lnTo>
                    <a:pt x="2154" y="1017"/>
                  </a:lnTo>
                  <a:lnTo>
                    <a:pt x="2164" y="1024"/>
                  </a:lnTo>
                  <a:lnTo>
                    <a:pt x="2174" y="1029"/>
                  </a:lnTo>
                  <a:lnTo>
                    <a:pt x="2185" y="1036"/>
                  </a:lnTo>
                  <a:lnTo>
                    <a:pt x="2197" y="1041"/>
                  </a:lnTo>
                  <a:lnTo>
                    <a:pt x="2209" y="1048"/>
                  </a:lnTo>
                  <a:lnTo>
                    <a:pt x="2222" y="1054"/>
                  </a:lnTo>
                  <a:lnTo>
                    <a:pt x="2234" y="1060"/>
                  </a:lnTo>
                  <a:lnTo>
                    <a:pt x="2249" y="1066"/>
                  </a:lnTo>
                  <a:lnTo>
                    <a:pt x="2262" y="1073"/>
                  </a:lnTo>
                  <a:lnTo>
                    <a:pt x="2275" y="1079"/>
                  </a:lnTo>
                  <a:lnTo>
                    <a:pt x="2290" y="1085"/>
                  </a:lnTo>
                  <a:lnTo>
                    <a:pt x="2305" y="1092"/>
                  </a:lnTo>
                  <a:lnTo>
                    <a:pt x="2318" y="1098"/>
                  </a:lnTo>
                  <a:lnTo>
                    <a:pt x="2333" y="1104"/>
                  </a:lnTo>
                  <a:lnTo>
                    <a:pt x="2348" y="1109"/>
                  </a:lnTo>
                  <a:lnTo>
                    <a:pt x="2362" y="1116"/>
                  </a:lnTo>
                  <a:lnTo>
                    <a:pt x="2377" y="1122"/>
                  </a:lnTo>
                  <a:lnTo>
                    <a:pt x="2392" y="1127"/>
                  </a:lnTo>
                  <a:lnTo>
                    <a:pt x="2407" y="1132"/>
                  </a:lnTo>
                  <a:lnTo>
                    <a:pt x="2421" y="1137"/>
                  </a:lnTo>
                  <a:lnTo>
                    <a:pt x="2435" y="1142"/>
                  </a:lnTo>
                  <a:lnTo>
                    <a:pt x="2448" y="1146"/>
                  </a:lnTo>
                  <a:lnTo>
                    <a:pt x="2463" y="1151"/>
                  </a:lnTo>
                  <a:lnTo>
                    <a:pt x="2476" y="1156"/>
                  </a:lnTo>
                  <a:lnTo>
                    <a:pt x="2489" y="1159"/>
                  </a:lnTo>
                  <a:lnTo>
                    <a:pt x="2502" y="1162"/>
                  </a:lnTo>
                  <a:lnTo>
                    <a:pt x="2514" y="1165"/>
                  </a:lnTo>
                  <a:lnTo>
                    <a:pt x="2526" y="1169"/>
                  </a:lnTo>
                  <a:lnTo>
                    <a:pt x="2537" y="1171"/>
                  </a:lnTo>
                  <a:lnTo>
                    <a:pt x="2548" y="1173"/>
                  </a:lnTo>
                  <a:lnTo>
                    <a:pt x="2558" y="1175"/>
                  </a:lnTo>
                  <a:lnTo>
                    <a:pt x="2568" y="1176"/>
                  </a:lnTo>
                  <a:lnTo>
                    <a:pt x="2577" y="1176"/>
                  </a:lnTo>
                  <a:lnTo>
                    <a:pt x="2585" y="1177"/>
                  </a:lnTo>
                </a:path>
              </a:pathLst>
            </a:custGeom>
            <a:noFill/>
            <a:ln w="50800" cap="rnd"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7" name="Freeform 3"/>
            <p:cNvSpPr>
              <a:spLocks/>
            </p:cNvSpPr>
            <p:nvPr/>
          </p:nvSpPr>
          <p:spPr bwMode="auto">
            <a:xfrm>
              <a:off x="685800" y="1591336"/>
              <a:ext cx="7772400" cy="1211263"/>
            </a:xfrm>
            <a:custGeom>
              <a:avLst/>
              <a:gdLst>
                <a:gd name="T0" fmla="*/ 0 w 4195"/>
                <a:gd name="T1" fmla="*/ 0 h 1819"/>
                <a:gd name="T2" fmla="*/ 0 w 4195"/>
                <a:gd name="T3" fmla="*/ 1818 h 1819"/>
                <a:gd name="T4" fmla="*/ 4194 w 4195"/>
                <a:gd name="T5" fmla="*/ 1818 h 1819"/>
              </a:gdLst>
              <a:ahLst/>
              <a:cxnLst>
                <a:cxn ang="0">
                  <a:pos x="T0" y="T1"/>
                </a:cxn>
                <a:cxn ang="0">
                  <a:pos x="T2" y="T3"/>
                </a:cxn>
                <a:cxn ang="0">
                  <a:pos x="T4" y="T5"/>
                </a:cxn>
              </a:cxnLst>
              <a:rect l="0" t="0" r="r" b="b"/>
              <a:pathLst>
                <a:path w="4195" h="1819">
                  <a:moveTo>
                    <a:pt x="0" y="0"/>
                  </a:moveTo>
                  <a:lnTo>
                    <a:pt x="0" y="1818"/>
                  </a:lnTo>
                  <a:lnTo>
                    <a:pt x="4194" y="1818"/>
                  </a:lnTo>
                </a:path>
              </a:pathLst>
            </a:custGeom>
            <a:noFill/>
            <a:ln w="508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8" name="Freeform 4"/>
            <p:cNvSpPr>
              <a:spLocks/>
            </p:cNvSpPr>
            <p:nvPr/>
          </p:nvSpPr>
          <p:spPr bwMode="auto">
            <a:xfrm>
              <a:off x="4038600" y="1905000"/>
              <a:ext cx="1828800" cy="833438"/>
            </a:xfrm>
            <a:custGeom>
              <a:avLst/>
              <a:gdLst>
                <a:gd name="T0" fmla="*/ 24 w 2586"/>
                <a:gd name="T1" fmla="*/ 1168 h 1178"/>
                <a:gd name="T2" fmla="*/ 79 w 2586"/>
                <a:gd name="T3" fmla="*/ 1144 h 1178"/>
                <a:gd name="T4" fmla="*/ 152 w 2586"/>
                <a:gd name="T5" fmla="*/ 1108 h 1178"/>
                <a:gd name="T6" fmla="*/ 234 w 2586"/>
                <a:gd name="T7" fmla="*/ 1065 h 1178"/>
                <a:gd name="T8" fmla="*/ 319 w 2586"/>
                <a:gd name="T9" fmla="*/ 1020 h 1178"/>
                <a:gd name="T10" fmla="*/ 398 w 2586"/>
                <a:gd name="T11" fmla="*/ 976 h 1178"/>
                <a:gd name="T12" fmla="*/ 462 w 2586"/>
                <a:gd name="T13" fmla="*/ 938 h 1178"/>
                <a:gd name="T14" fmla="*/ 504 w 2586"/>
                <a:gd name="T15" fmla="*/ 910 h 1178"/>
                <a:gd name="T16" fmla="*/ 539 w 2586"/>
                <a:gd name="T17" fmla="*/ 877 h 1178"/>
                <a:gd name="T18" fmla="*/ 576 w 2586"/>
                <a:gd name="T19" fmla="*/ 836 h 1178"/>
                <a:gd name="T20" fmla="*/ 613 w 2586"/>
                <a:gd name="T21" fmla="*/ 791 h 1178"/>
                <a:gd name="T22" fmla="*/ 647 w 2586"/>
                <a:gd name="T23" fmla="*/ 742 h 1178"/>
                <a:gd name="T24" fmla="*/ 699 w 2586"/>
                <a:gd name="T25" fmla="*/ 655 h 1178"/>
                <a:gd name="T26" fmla="*/ 754 w 2586"/>
                <a:gd name="T27" fmla="*/ 556 h 1178"/>
                <a:gd name="T28" fmla="*/ 807 w 2586"/>
                <a:gd name="T29" fmla="*/ 456 h 1178"/>
                <a:gd name="T30" fmla="*/ 861 w 2586"/>
                <a:gd name="T31" fmla="*/ 355 h 1178"/>
                <a:gd name="T32" fmla="*/ 898 w 2586"/>
                <a:gd name="T33" fmla="*/ 287 h 1178"/>
                <a:gd name="T34" fmla="*/ 932 w 2586"/>
                <a:gd name="T35" fmla="*/ 231 h 1178"/>
                <a:gd name="T36" fmla="*/ 973 w 2586"/>
                <a:gd name="T37" fmla="*/ 176 h 1178"/>
                <a:gd name="T38" fmla="*/ 1018 w 2586"/>
                <a:gd name="T39" fmla="*/ 124 h 1178"/>
                <a:gd name="T40" fmla="*/ 1067 w 2586"/>
                <a:gd name="T41" fmla="*/ 78 h 1178"/>
                <a:gd name="T42" fmla="*/ 1119 w 2586"/>
                <a:gd name="T43" fmla="*/ 41 h 1178"/>
                <a:gd name="T44" fmla="*/ 1174 w 2586"/>
                <a:gd name="T45" fmla="*/ 14 h 1178"/>
                <a:gd name="T46" fmla="*/ 1231 w 2586"/>
                <a:gd name="T47" fmla="*/ 1 h 1178"/>
                <a:gd name="T48" fmla="*/ 1288 w 2586"/>
                <a:gd name="T49" fmla="*/ 2 h 1178"/>
                <a:gd name="T50" fmla="*/ 1341 w 2586"/>
                <a:gd name="T51" fmla="*/ 11 h 1178"/>
                <a:gd name="T52" fmla="*/ 1390 w 2586"/>
                <a:gd name="T53" fmla="*/ 29 h 1178"/>
                <a:gd name="T54" fmla="*/ 1437 w 2586"/>
                <a:gd name="T55" fmla="*/ 57 h 1178"/>
                <a:gd name="T56" fmla="*/ 1483 w 2586"/>
                <a:gd name="T57" fmla="*/ 96 h 1178"/>
                <a:gd name="T58" fmla="*/ 1530 w 2586"/>
                <a:gd name="T59" fmla="*/ 145 h 1178"/>
                <a:gd name="T60" fmla="*/ 1578 w 2586"/>
                <a:gd name="T61" fmla="*/ 204 h 1178"/>
                <a:gd name="T62" fmla="*/ 1630 w 2586"/>
                <a:gd name="T63" fmla="*/ 275 h 1178"/>
                <a:gd name="T64" fmla="*/ 1693 w 2586"/>
                <a:gd name="T65" fmla="*/ 379 h 1178"/>
                <a:gd name="T66" fmla="*/ 1746 w 2586"/>
                <a:gd name="T67" fmla="*/ 498 h 1178"/>
                <a:gd name="T68" fmla="*/ 1797 w 2586"/>
                <a:gd name="T69" fmla="*/ 622 h 1178"/>
                <a:gd name="T70" fmla="*/ 1853 w 2586"/>
                <a:gd name="T71" fmla="*/ 741 h 1178"/>
                <a:gd name="T72" fmla="*/ 1885 w 2586"/>
                <a:gd name="T73" fmla="*/ 791 h 1178"/>
                <a:gd name="T74" fmla="*/ 1913 w 2586"/>
                <a:gd name="T75" fmla="*/ 823 h 1178"/>
                <a:gd name="T76" fmla="*/ 1949 w 2586"/>
                <a:gd name="T77" fmla="*/ 860 h 1178"/>
                <a:gd name="T78" fmla="*/ 1989 w 2586"/>
                <a:gd name="T79" fmla="*/ 896 h 1178"/>
                <a:gd name="T80" fmla="*/ 2033 w 2586"/>
                <a:gd name="T81" fmla="*/ 932 h 1178"/>
                <a:gd name="T82" fmla="*/ 2078 w 2586"/>
                <a:gd name="T83" fmla="*/ 967 h 1178"/>
                <a:gd name="T84" fmla="*/ 2123 w 2586"/>
                <a:gd name="T85" fmla="*/ 998 h 1178"/>
                <a:gd name="T86" fmla="*/ 2164 w 2586"/>
                <a:gd name="T87" fmla="*/ 1024 h 1178"/>
                <a:gd name="T88" fmla="*/ 2209 w 2586"/>
                <a:gd name="T89" fmla="*/ 1048 h 1178"/>
                <a:gd name="T90" fmla="*/ 2262 w 2586"/>
                <a:gd name="T91" fmla="*/ 1073 h 1178"/>
                <a:gd name="T92" fmla="*/ 2318 w 2586"/>
                <a:gd name="T93" fmla="*/ 1098 h 1178"/>
                <a:gd name="T94" fmla="*/ 2377 w 2586"/>
                <a:gd name="T95" fmla="*/ 1122 h 1178"/>
                <a:gd name="T96" fmla="*/ 2435 w 2586"/>
                <a:gd name="T97" fmla="*/ 1142 h 1178"/>
                <a:gd name="T98" fmla="*/ 2489 w 2586"/>
                <a:gd name="T99" fmla="*/ 1159 h 1178"/>
                <a:gd name="T100" fmla="*/ 2537 w 2586"/>
                <a:gd name="T101" fmla="*/ 1171 h 1178"/>
                <a:gd name="T102" fmla="*/ 2577 w 2586"/>
                <a:gd name="T103" fmla="*/ 1176 h 1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86" h="1178">
                  <a:moveTo>
                    <a:pt x="0" y="1177"/>
                  </a:moveTo>
                  <a:lnTo>
                    <a:pt x="6" y="1175"/>
                  </a:lnTo>
                  <a:lnTo>
                    <a:pt x="14" y="1172"/>
                  </a:lnTo>
                  <a:lnTo>
                    <a:pt x="24" y="1168"/>
                  </a:lnTo>
                  <a:lnTo>
                    <a:pt x="36" y="1164"/>
                  </a:lnTo>
                  <a:lnTo>
                    <a:pt x="48" y="1158"/>
                  </a:lnTo>
                  <a:lnTo>
                    <a:pt x="63" y="1151"/>
                  </a:lnTo>
                  <a:lnTo>
                    <a:pt x="79" y="1144"/>
                  </a:lnTo>
                  <a:lnTo>
                    <a:pt x="96" y="1136"/>
                  </a:lnTo>
                  <a:lnTo>
                    <a:pt x="114" y="1127"/>
                  </a:lnTo>
                  <a:lnTo>
                    <a:pt x="132" y="1117"/>
                  </a:lnTo>
                  <a:lnTo>
                    <a:pt x="152" y="1108"/>
                  </a:lnTo>
                  <a:lnTo>
                    <a:pt x="171" y="1098"/>
                  </a:lnTo>
                  <a:lnTo>
                    <a:pt x="193" y="1087"/>
                  </a:lnTo>
                  <a:lnTo>
                    <a:pt x="213" y="1076"/>
                  </a:lnTo>
                  <a:lnTo>
                    <a:pt x="234" y="1065"/>
                  </a:lnTo>
                  <a:lnTo>
                    <a:pt x="256" y="1054"/>
                  </a:lnTo>
                  <a:lnTo>
                    <a:pt x="277" y="1042"/>
                  </a:lnTo>
                  <a:lnTo>
                    <a:pt x="298" y="1031"/>
                  </a:lnTo>
                  <a:lnTo>
                    <a:pt x="319" y="1020"/>
                  </a:lnTo>
                  <a:lnTo>
                    <a:pt x="340" y="1008"/>
                  </a:lnTo>
                  <a:lnTo>
                    <a:pt x="360" y="998"/>
                  </a:lnTo>
                  <a:lnTo>
                    <a:pt x="379" y="986"/>
                  </a:lnTo>
                  <a:lnTo>
                    <a:pt x="398" y="976"/>
                  </a:lnTo>
                  <a:lnTo>
                    <a:pt x="416" y="966"/>
                  </a:lnTo>
                  <a:lnTo>
                    <a:pt x="432" y="955"/>
                  </a:lnTo>
                  <a:lnTo>
                    <a:pt x="448" y="947"/>
                  </a:lnTo>
                  <a:lnTo>
                    <a:pt x="462" y="938"/>
                  </a:lnTo>
                  <a:lnTo>
                    <a:pt x="475" y="930"/>
                  </a:lnTo>
                  <a:lnTo>
                    <a:pt x="486" y="922"/>
                  </a:lnTo>
                  <a:lnTo>
                    <a:pt x="496" y="916"/>
                  </a:lnTo>
                  <a:lnTo>
                    <a:pt x="504" y="910"/>
                  </a:lnTo>
                  <a:lnTo>
                    <a:pt x="509" y="905"/>
                  </a:lnTo>
                  <a:lnTo>
                    <a:pt x="520" y="896"/>
                  </a:lnTo>
                  <a:lnTo>
                    <a:pt x="529" y="888"/>
                  </a:lnTo>
                  <a:lnTo>
                    <a:pt x="539" y="877"/>
                  </a:lnTo>
                  <a:lnTo>
                    <a:pt x="549" y="868"/>
                  </a:lnTo>
                  <a:lnTo>
                    <a:pt x="558" y="857"/>
                  </a:lnTo>
                  <a:lnTo>
                    <a:pt x="567" y="847"/>
                  </a:lnTo>
                  <a:lnTo>
                    <a:pt x="576" y="836"/>
                  </a:lnTo>
                  <a:lnTo>
                    <a:pt x="586" y="826"/>
                  </a:lnTo>
                  <a:lnTo>
                    <a:pt x="595" y="814"/>
                  </a:lnTo>
                  <a:lnTo>
                    <a:pt x="604" y="803"/>
                  </a:lnTo>
                  <a:lnTo>
                    <a:pt x="613" y="791"/>
                  </a:lnTo>
                  <a:lnTo>
                    <a:pt x="621" y="779"/>
                  </a:lnTo>
                  <a:lnTo>
                    <a:pt x="629" y="767"/>
                  </a:lnTo>
                  <a:lnTo>
                    <a:pt x="638" y="755"/>
                  </a:lnTo>
                  <a:lnTo>
                    <a:pt x="647" y="742"/>
                  </a:lnTo>
                  <a:lnTo>
                    <a:pt x="654" y="730"/>
                  </a:lnTo>
                  <a:lnTo>
                    <a:pt x="670" y="704"/>
                  </a:lnTo>
                  <a:lnTo>
                    <a:pt x="685" y="679"/>
                  </a:lnTo>
                  <a:lnTo>
                    <a:pt x="699" y="655"/>
                  </a:lnTo>
                  <a:lnTo>
                    <a:pt x="713" y="630"/>
                  </a:lnTo>
                  <a:lnTo>
                    <a:pt x="727" y="605"/>
                  </a:lnTo>
                  <a:lnTo>
                    <a:pt x="741" y="580"/>
                  </a:lnTo>
                  <a:lnTo>
                    <a:pt x="754" y="556"/>
                  </a:lnTo>
                  <a:lnTo>
                    <a:pt x="767" y="531"/>
                  </a:lnTo>
                  <a:lnTo>
                    <a:pt x="781" y="507"/>
                  </a:lnTo>
                  <a:lnTo>
                    <a:pt x="794" y="482"/>
                  </a:lnTo>
                  <a:lnTo>
                    <a:pt x="807" y="456"/>
                  </a:lnTo>
                  <a:lnTo>
                    <a:pt x="820" y="431"/>
                  </a:lnTo>
                  <a:lnTo>
                    <a:pt x="834" y="406"/>
                  </a:lnTo>
                  <a:lnTo>
                    <a:pt x="847" y="380"/>
                  </a:lnTo>
                  <a:lnTo>
                    <a:pt x="861" y="355"/>
                  </a:lnTo>
                  <a:lnTo>
                    <a:pt x="875" y="327"/>
                  </a:lnTo>
                  <a:lnTo>
                    <a:pt x="882" y="314"/>
                  </a:lnTo>
                  <a:lnTo>
                    <a:pt x="889" y="300"/>
                  </a:lnTo>
                  <a:lnTo>
                    <a:pt x="898" y="287"/>
                  </a:lnTo>
                  <a:lnTo>
                    <a:pt x="906" y="273"/>
                  </a:lnTo>
                  <a:lnTo>
                    <a:pt x="914" y="259"/>
                  </a:lnTo>
                  <a:lnTo>
                    <a:pt x="923" y="245"/>
                  </a:lnTo>
                  <a:lnTo>
                    <a:pt x="932" y="231"/>
                  </a:lnTo>
                  <a:lnTo>
                    <a:pt x="942" y="217"/>
                  </a:lnTo>
                  <a:lnTo>
                    <a:pt x="952" y="203"/>
                  </a:lnTo>
                  <a:lnTo>
                    <a:pt x="962" y="189"/>
                  </a:lnTo>
                  <a:lnTo>
                    <a:pt x="973" y="176"/>
                  </a:lnTo>
                  <a:lnTo>
                    <a:pt x="984" y="162"/>
                  </a:lnTo>
                  <a:lnTo>
                    <a:pt x="995" y="149"/>
                  </a:lnTo>
                  <a:lnTo>
                    <a:pt x="1006" y="136"/>
                  </a:lnTo>
                  <a:lnTo>
                    <a:pt x="1018" y="124"/>
                  </a:lnTo>
                  <a:lnTo>
                    <a:pt x="1030" y="112"/>
                  </a:lnTo>
                  <a:lnTo>
                    <a:pt x="1042" y="100"/>
                  </a:lnTo>
                  <a:lnTo>
                    <a:pt x="1054" y="89"/>
                  </a:lnTo>
                  <a:lnTo>
                    <a:pt x="1067" y="78"/>
                  </a:lnTo>
                  <a:lnTo>
                    <a:pt x="1079" y="68"/>
                  </a:lnTo>
                  <a:lnTo>
                    <a:pt x="1093" y="58"/>
                  </a:lnTo>
                  <a:lnTo>
                    <a:pt x="1105" y="49"/>
                  </a:lnTo>
                  <a:lnTo>
                    <a:pt x="1119" y="41"/>
                  </a:lnTo>
                  <a:lnTo>
                    <a:pt x="1132" y="33"/>
                  </a:lnTo>
                  <a:lnTo>
                    <a:pt x="1146" y="26"/>
                  </a:lnTo>
                  <a:lnTo>
                    <a:pt x="1160" y="20"/>
                  </a:lnTo>
                  <a:lnTo>
                    <a:pt x="1174" y="14"/>
                  </a:lnTo>
                  <a:lnTo>
                    <a:pt x="1188" y="10"/>
                  </a:lnTo>
                  <a:lnTo>
                    <a:pt x="1202" y="6"/>
                  </a:lnTo>
                  <a:lnTo>
                    <a:pt x="1217" y="2"/>
                  </a:lnTo>
                  <a:lnTo>
                    <a:pt x="1231" y="1"/>
                  </a:lnTo>
                  <a:lnTo>
                    <a:pt x="1246" y="0"/>
                  </a:lnTo>
                  <a:lnTo>
                    <a:pt x="1260" y="0"/>
                  </a:lnTo>
                  <a:lnTo>
                    <a:pt x="1274" y="1"/>
                  </a:lnTo>
                  <a:lnTo>
                    <a:pt x="1288" y="2"/>
                  </a:lnTo>
                  <a:lnTo>
                    <a:pt x="1302" y="2"/>
                  </a:lnTo>
                  <a:lnTo>
                    <a:pt x="1315" y="5"/>
                  </a:lnTo>
                  <a:lnTo>
                    <a:pt x="1328" y="7"/>
                  </a:lnTo>
                  <a:lnTo>
                    <a:pt x="1341" y="11"/>
                  </a:lnTo>
                  <a:lnTo>
                    <a:pt x="1353" y="14"/>
                  </a:lnTo>
                  <a:lnTo>
                    <a:pt x="1365" y="18"/>
                  </a:lnTo>
                  <a:lnTo>
                    <a:pt x="1378" y="24"/>
                  </a:lnTo>
                  <a:lnTo>
                    <a:pt x="1390" y="29"/>
                  </a:lnTo>
                  <a:lnTo>
                    <a:pt x="1401" y="36"/>
                  </a:lnTo>
                  <a:lnTo>
                    <a:pt x="1413" y="42"/>
                  </a:lnTo>
                  <a:lnTo>
                    <a:pt x="1425" y="50"/>
                  </a:lnTo>
                  <a:lnTo>
                    <a:pt x="1437" y="57"/>
                  </a:lnTo>
                  <a:lnTo>
                    <a:pt x="1449" y="66"/>
                  </a:lnTo>
                  <a:lnTo>
                    <a:pt x="1460" y="75"/>
                  </a:lnTo>
                  <a:lnTo>
                    <a:pt x="1472" y="85"/>
                  </a:lnTo>
                  <a:lnTo>
                    <a:pt x="1483" y="96"/>
                  </a:lnTo>
                  <a:lnTo>
                    <a:pt x="1495" y="107"/>
                  </a:lnTo>
                  <a:lnTo>
                    <a:pt x="1506" y="118"/>
                  </a:lnTo>
                  <a:lnTo>
                    <a:pt x="1518" y="131"/>
                  </a:lnTo>
                  <a:lnTo>
                    <a:pt x="1530" y="145"/>
                  </a:lnTo>
                  <a:lnTo>
                    <a:pt x="1542" y="158"/>
                  </a:lnTo>
                  <a:lnTo>
                    <a:pt x="1554" y="173"/>
                  </a:lnTo>
                  <a:lnTo>
                    <a:pt x="1566" y="188"/>
                  </a:lnTo>
                  <a:lnTo>
                    <a:pt x="1578" y="204"/>
                  </a:lnTo>
                  <a:lnTo>
                    <a:pt x="1591" y="221"/>
                  </a:lnTo>
                  <a:lnTo>
                    <a:pt x="1604" y="238"/>
                  </a:lnTo>
                  <a:lnTo>
                    <a:pt x="1617" y="256"/>
                  </a:lnTo>
                  <a:lnTo>
                    <a:pt x="1630" y="275"/>
                  </a:lnTo>
                  <a:lnTo>
                    <a:pt x="1644" y="295"/>
                  </a:lnTo>
                  <a:lnTo>
                    <a:pt x="1661" y="322"/>
                  </a:lnTo>
                  <a:lnTo>
                    <a:pt x="1678" y="350"/>
                  </a:lnTo>
                  <a:lnTo>
                    <a:pt x="1693" y="379"/>
                  </a:lnTo>
                  <a:lnTo>
                    <a:pt x="1707" y="407"/>
                  </a:lnTo>
                  <a:lnTo>
                    <a:pt x="1721" y="437"/>
                  </a:lnTo>
                  <a:lnTo>
                    <a:pt x="1734" y="468"/>
                  </a:lnTo>
                  <a:lnTo>
                    <a:pt x="1746" y="498"/>
                  </a:lnTo>
                  <a:lnTo>
                    <a:pt x="1760" y="529"/>
                  </a:lnTo>
                  <a:lnTo>
                    <a:pt x="1772" y="560"/>
                  </a:lnTo>
                  <a:lnTo>
                    <a:pt x="1784" y="590"/>
                  </a:lnTo>
                  <a:lnTo>
                    <a:pt x="1797" y="622"/>
                  </a:lnTo>
                  <a:lnTo>
                    <a:pt x="1810" y="651"/>
                  </a:lnTo>
                  <a:lnTo>
                    <a:pt x="1824" y="681"/>
                  </a:lnTo>
                  <a:lnTo>
                    <a:pt x="1838" y="711"/>
                  </a:lnTo>
                  <a:lnTo>
                    <a:pt x="1853" y="741"/>
                  </a:lnTo>
                  <a:lnTo>
                    <a:pt x="1869" y="769"/>
                  </a:lnTo>
                  <a:lnTo>
                    <a:pt x="1874" y="775"/>
                  </a:lnTo>
                  <a:lnTo>
                    <a:pt x="1878" y="783"/>
                  </a:lnTo>
                  <a:lnTo>
                    <a:pt x="1885" y="791"/>
                  </a:lnTo>
                  <a:lnTo>
                    <a:pt x="1890" y="798"/>
                  </a:lnTo>
                  <a:lnTo>
                    <a:pt x="1897" y="807"/>
                  </a:lnTo>
                  <a:lnTo>
                    <a:pt x="1905" y="815"/>
                  </a:lnTo>
                  <a:lnTo>
                    <a:pt x="1913" y="823"/>
                  </a:lnTo>
                  <a:lnTo>
                    <a:pt x="1921" y="832"/>
                  </a:lnTo>
                  <a:lnTo>
                    <a:pt x="1930" y="841"/>
                  </a:lnTo>
                  <a:lnTo>
                    <a:pt x="1938" y="851"/>
                  </a:lnTo>
                  <a:lnTo>
                    <a:pt x="1949" y="860"/>
                  </a:lnTo>
                  <a:lnTo>
                    <a:pt x="1958" y="869"/>
                  </a:lnTo>
                  <a:lnTo>
                    <a:pt x="1968" y="878"/>
                  </a:lnTo>
                  <a:lnTo>
                    <a:pt x="1979" y="887"/>
                  </a:lnTo>
                  <a:lnTo>
                    <a:pt x="1989" y="896"/>
                  </a:lnTo>
                  <a:lnTo>
                    <a:pt x="2000" y="905"/>
                  </a:lnTo>
                  <a:lnTo>
                    <a:pt x="2010" y="914"/>
                  </a:lnTo>
                  <a:lnTo>
                    <a:pt x="2022" y="924"/>
                  </a:lnTo>
                  <a:lnTo>
                    <a:pt x="2033" y="932"/>
                  </a:lnTo>
                  <a:lnTo>
                    <a:pt x="2044" y="941"/>
                  </a:lnTo>
                  <a:lnTo>
                    <a:pt x="2055" y="951"/>
                  </a:lnTo>
                  <a:lnTo>
                    <a:pt x="2067" y="959"/>
                  </a:lnTo>
                  <a:lnTo>
                    <a:pt x="2078" y="967"/>
                  </a:lnTo>
                  <a:lnTo>
                    <a:pt x="2089" y="975"/>
                  </a:lnTo>
                  <a:lnTo>
                    <a:pt x="2101" y="983"/>
                  </a:lnTo>
                  <a:lnTo>
                    <a:pt x="2111" y="991"/>
                  </a:lnTo>
                  <a:lnTo>
                    <a:pt x="2123" y="998"/>
                  </a:lnTo>
                  <a:lnTo>
                    <a:pt x="2133" y="1005"/>
                  </a:lnTo>
                  <a:lnTo>
                    <a:pt x="2144" y="1012"/>
                  </a:lnTo>
                  <a:lnTo>
                    <a:pt x="2154" y="1017"/>
                  </a:lnTo>
                  <a:lnTo>
                    <a:pt x="2164" y="1024"/>
                  </a:lnTo>
                  <a:lnTo>
                    <a:pt x="2174" y="1029"/>
                  </a:lnTo>
                  <a:lnTo>
                    <a:pt x="2185" y="1036"/>
                  </a:lnTo>
                  <a:lnTo>
                    <a:pt x="2197" y="1041"/>
                  </a:lnTo>
                  <a:lnTo>
                    <a:pt x="2209" y="1048"/>
                  </a:lnTo>
                  <a:lnTo>
                    <a:pt x="2222" y="1054"/>
                  </a:lnTo>
                  <a:lnTo>
                    <a:pt x="2234" y="1060"/>
                  </a:lnTo>
                  <a:lnTo>
                    <a:pt x="2249" y="1066"/>
                  </a:lnTo>
                  <a:lnTo>
                    <a:pt x="2262" y="1073"/>
                  </a:lnTo>
                  <a:lnTo>
                    <a:pt x="2275" y="1079"/>
                  </a:lnTo>
                  <a:lnTo>
                    <a:pt x="2290" y="1085"/>
                  </a:lnTo>
                  <a:lnTo>
                    <a:pt x="2305" y="1092"/>
                  </a:lnTo>
                  <a:lnTo>
                    <a:pt x="2318" y="1098"/>
                  </a:lnTo>
                  <a:lnTo>
                    <a:pt x="2333" y="1104"/>
                  </a:lnTo>
                  <a:lnTo>
                    <a:pt x="2348" y="1109"/>
                  </a:lnTo>
                  <a:lnTo>
                    <a:pt x="2362" y="1116"/>
                  </a:lnTo>
                  <a:lnTo>
                    <a:pt x="2377" y="1122"/>
                  </a:lnTo>
                  <a:lnTo>
                    <a:pt x="2392" y="1127"/>
                  </a:lnTo>
                  <a:lnTo>
                    <a:pt x="2407" y="1132"/>
                  </a:lnTo>
                  <a:lnTo>
                    <a:pt x="2421" y="1137"/>
                  </a:lnTo>
                  <a:lnTo>
                    <a:pt x="2435" y="1142"/>
                  </a:lnTo>
                  <a:lnTo>
                    <a:pt x="2448" y="1146"/>
                  </a:lnTo>
                  <a:lnTo>
                    <a:pt x="2463" y="1151"/>
                  </a:lnTo>
                  <a:lnTo>
                    <a:pt x="2476" y="1156"/>
                  </a:lnTo>
                  <a:lnTo>
                    <a:pt x="2489" y="1159"/>
                  </a:lnTo>
                  <a:lnTo>
                    <a:pt x="2502" y="1162"/>
                  </a:lnTo>
                  <a:lnTo>
                    <a:pt x="2514" y="1165"/>
                  </a:lnTo>
                  <a:lnTo>
                    <a:pt x="2526" y="1169"/>
                  </a:lnTo>
                  <a:lnTo>
                    <a:pt x="2537" y="1171"/>
                  </a:lnTo>
                  <a:lnTo>
                    <a:pt x="2548" y="1173"/>
                  </a:lnTo>
                  <a:lnTo>
                    <a:pt x="2558" y="1175"/>
                  </a:lnTo>
                  <a:lnTo>
                    <a:pt x="2568" y="1176"/>
                  </a:lnTo>
                  <a:lnTo>
                    <a:pt x="2577" y="1176"/>
                  </a:lnTo>
                  <a:lnTo>
                    <a:pt x="2585" y="1177"/>
                  </a:lnTo>
                </a:path>
              </a:pathLst>
            </a:custGeom>
            <a:noFill/>
            <a:ln w="508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9" name="Freeform 5"/>
            <p:cNvSpPr>
              <a:spLocks/>
            </p:cNvSpPr>
            <p:nvPr/>
          </p:nvSpPr>
          <p:spPr bwMode="auto">
            <a:xfrm>
              <a:off x="4876800" y="1905000"/>
              <a:ext cx="1828800" cy="833438"/>
            </a:xfrm>
            <a:custGeom>
              <a:avLst/>
              <a:gdLst>
                <a:gd name="T0" fmla="*/ 24 w 2586"/>
                <a:gd name="T1" fmla="*/ 1168 h 1178"/>
                <a:gd name="T2" fmla="*/ 79 w 2586"/>
                <a:gd name="T3" fmla="*/ 1144 h 1178"/>
                <a:gd name="T4" fmla="*/ 152 w 2586"/>
                <a:gd name="T5" fmla="*/ 1108 h 1178"/>
                <a:gd name="T6" fmla="*/ 234 w 2586"/>
                <a:gd name="T7" fmla="*/ 1065 h 1178"/>
                <a:gd name="T8" fmla="*/ 319 w 2586"/>
                <a:gd name="T9" fmla="*/ 1020 h 1178"/>
                <a:gd name="T10" fmla="*/ 398 w 2586"/>
                <a:gd name="T11" fmla="*/ 976 h 1178"/>
                <a:gd name="T12" fmla="*/ 462 w 2586"/>
                <a:gd name="T13" fmla="*/ 938 h 1178"/>
                <a:gd name="T14" fmla="*/ 504 w 2586"/>
                <a:gd name="T15" fmla="*/ 910 h 1178"/>
                <a:gd name="T16" fmla="*/ 539 w 2586"/>
                <a:gd name="T17" fmla="*/ 877 h 1178"/>
                <a:gd name="T18" fmla="*/ 576 w 2586"/>
                <a:gd name="T19" fmla="*/ 836 h 1178"/>
                <a:gd name="T20" fmla="*/ 613 w 2586"/>
                <a:gd name="T21" fmla="*/ 791 h 1178"/>
                <a:gd name="T22" fmla="*/ 647 w 2586"/>
                <a:gd name="T23" fmla="*/ 742 h 1178"/>
                <a:gd name="T24" fmla="*/ 699 w 2586"/>
                <a:gd name="T25" fmla="*/ 655 h 1178"/>
                <a:gd name="T26" fmla="*/ 754 w 2586"/>
                <a:gd name="T27" fmla="*/ 556 h 1178"/>
                <a:gd name="T28" fmla="*/ 807 w 2586"/>
                <a:gd name="T29" fmla="*/ 456 h 1178"/>
                <a:gd name="T30" fmla="*/ 861 w 2586"/>
                <a:gd name="T31" fmla="*/ 355 h 1178"/>
                <a:gd name="T32" fmla="*/ 898 w 2586"/>
                <a:gd name="T33" fmla="*/ 287 h 1178"/>
                <a:gd name="T34" fmla="*/ 932 w 2586"/>
                <a:gd name="T35" fmla="*/ 231 h 1178"/>
                <a:gd name="T36" fmla="*/ 973 w 2586"/>
                <a:gd name="T37" fmla="*/ 176 h 1178"/>
                <a:gd name="T38" fmla="*/ 1018 w 2586"/>
                <a:gd name="T39" fmla="*/ 124 h 1178"/>
                <a:gd name="T40" fmla="*/ 1067 w 2586"/>
                <a:gd name="T41" fmla="*/ 78 h 1178"/>
                <a:gd name="T42" fmla="*/ 1119 w 2586"/>
                <a:gd name="T43" fmla="*/ 41 h 1178"/>
                <a:gd name="T44" fmla="*/ 1174 w 2586"/>
                <a:gd name="T45" fmla="*/ 14 h 1178"/>
                <a:gd name="T46" fmla="*/ 1231 w 2586"/>
                <a:gd name="T47" fmla="*/ 1 h 1178"/>
                <a:gd name="T48" fmla="*/ 1288 w 2586"/>
                <a:gd name="T49" fmla="*/ 2 h 1178"/>
                <a:gd name="T50" fmla="*/ 1341 w 2586"/>
                <a:gd name="T51" fmla="*/ 11 h 1178"/>
                <a:gd name="T52" fmla="*/ 1390 w 2586"/>
                <a:gd name="T53" fmla="*/ 29 h 1178"/>
                <a:gd name="T54" fmla="*/ 1437 w 2586"/>
                <a:gd name="T55" fmla="*/ 57 h 1178"/>
                <a:gd name="T56" fmla="*/ 1483 w 2586"/>
                <a:gd name="T57" fmla="*/ 96 h 1178"/>
                <a:gd name="T58" fmla="*/ 1530 w 2586"/>
                <a:gd name="T59" fmla="*/ 145 h 1178"/>
                <a:gd name="T60" fmla="*/ 1578 w 2586"/>
                <a:gd name="T61" fmla="*/ 204 h 1178"/>
                <a:gd name="T62" fmla="*/ 1630 w 2586"/>
                <a:gd name="T63" fmla="*/ 275 h 1178"/>
                <a:gd name="T64" fmla="*/ 1693 w 2586"/>
                <a:gd name="T65" fmla="*/ 379 h 1178"/>
                <a:gd name="T66" fmla="*/ 1746 w 2586"/>
                <a:gd name="T67" fmla="*/ 498 h 1178"/>
                <a:gd name="T68" fmla="*/ 1797 w 2586"/>
                <a:gd name="T69" fmla="*/ 622 h 1178"/>
                <a:gd name="T70" fmla="*/ 1853 w 2586"/>
                <a:gd name="T71" fmla="*/ 741 h 1178"/>
                <a:gd name="T72" fmla="*/ 1885 w 2586"/>
                <a:gd name="T73" fmla="*/ 791 h 1178"/>
                <a:gd name="T74" fmla="*/ 1913 w 2586"/>
                <a:gd name="T75" fmla="*/ 823 h 1178"/>
                <a:gd name="T76" fmla="*/ 1949 w 2586"/>
                <a:gd name="T77" fmla="*/ 860 h 1178"/>
                <a:gd name="T78" fmla="*/ 1989 w 2586"/>
                <a:gd name="T79" fmla="*/ 896 h 1178"/>
                <a:gd name="T80" fmla="*/ 2033 w 2586"/>
                <a:gd name="T81" fmla="*/ 932 h 1178"/>
                <a:gd name="T82" fmla="*/ 2078 w 2586"/>
                <a:gd name="T83" fmla="*/ 967 h 1178"/>
                <a:gd name="T84" fmla="*/ 2123 w 2586"/>
                <a:gd name="T85" fmla="*/ 998 h 1178"/>
                <a:gd name="T86" fmla="*/ 2164 w 2586"/>
                <a:gd name="T87" fmla="*/ 1024 h 1178"/>
                <a:gd name="T88" fmla="*/ 2209 w 2586"/>
                <a:gd name="T89" fmla="*/ 1048 h 1178"/>
                <a:gd name="T90" fmla="*/ 2262 w 2586"/>
                <a:gd name="T91" fmla="*/ 1073 h 1178"/>
                <a:gd name="T92" fmla="*/ 2318 w 2586"/>
                <a:gd name="T93" fmla="*/ 1098 h 1178"/>
                <a:gd name="T94" fmla="*/ 2377 w 2586"/>
                <a:gd name="T95" fmla="*/ 1122 h 1178"/>
                <a:gd name="T96" fmla="*/ 2435 w 2586"/>
                <a:gd name="T97" fmla="*/ 1142 h 1178"/>
                <a:gd name="T98" fmla="*/ 2489 w 2586"/>
                <a:gd name="T99" fmla="*/ 1159 h 1178"/>
                <a:gd name="T100" fmla="*/ 2537 w 2586"/>
                <a:gd name="T101" fmla="*/ 1171 h 1178"/>
                <a:gd name="T102" fmla="*/ 2577 w 2586"/>
                <a:gd name="T103" fmla="*/ 1176 h 1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86" h="1178">
                  <a:moveTo>
                    <a:pt x="0" y="1177"/>
                  </a:moveTo>
                  <a:lnTo>
                    <a:pt x="6" y="1175"/>
                  </a:lnTo>
                  <a:lnTo>
                    <a:pt x="14" y="1172"/>
                  </a:lnTo>
                  <a:lnTo>
                    <a:pt x="24" y="1168"/>
                  </a:lnTo>
                  <a:lnTo>
                    <a:pt x="36" y="1164"/>
                  </a:lnTo>
                  <a:lnTo>
                    <a:pt x="48" y="1158"/>
                  </a:lnTo>
                  <a:lnTo>
                    <a:pt x="63" y="1151"/>
                  </a:lnTo>
                  <a:lnTo>
                    <a:pt x="79" y="1144"/>
                  </a:lnTo>
                  <a:lnTo>
                    <a:pt x="96" y="1136"/>
                  </a:lnTo>
                  <a:lnTo>
                    <a:pt x="114" y="1127"/>
                  </a:lnTo>
                  <a:lnTo>
                    <a:pt x="132" y="1117"/>
                  </a:lnTo>
                  <a:lnTo>
                    <a:pt x="152" y="1108"/>
                  </a:lnTo>
                  <a:lnTo>
                    <a:pt x="171" y="1098"/>
                  </a:lnTo>
                  <a:lnTo>
                    <a:pt x="193" y="1087"/>
                  </a:lnTo>
                  <a:lnTo>
                    <a:pt x="213" y="1076"/>
                  </a:lnTo>
                  <a:lnTo>
                    <a:pt x="234" y="1065"/>
                  </a:lnTo>
                  <a:lnTo>
                    <a:pt x="256" y="1054"/>
                  </a:lnTo>
                  <a:lnTo>
                    <a:pt x="277" y="1042"/>
                  </a:lnTo>
                  <a:lnTo>
                    <a:pt x="298" y="1031"/>
                  </a:lnTo>
                  <a:lnTo>
                    <a:pt x="319" y="1020"/>
                  </a:lnTo>
                  <a:lnTo>
                    <a:pt x="340" y="1008"/>
                  </a:lnTo>
                  <a:lnTo>
                    <a:pt x="360" y="998"/>
                  </a:lnTo>
                  <a:lnTo>
                    <a:pt x="379" y="986"/>
                  </a:lnTo>
                  <a:lnTo>
                    <a:pt x="398" y="976"/>
                  </a:lnTo>
                  <a:lnTo>
                    <a:pt x="416" y="966"/>
                  </a:lnTo>
                  <a:lnTo>
                    <a:pt x="432" y="955"/>
                  </a:lnTo>
                  <a:lnTo>
                    <a:pt x="448" y="947"/>
                  </a:lnTo>
                  <a:lnTo>
                    <a:pt x="462" y="938"/>
                  </a:lnTo>
                  <a:lnTo>
                    <a:pt x="475" y="930"/>
                  </a:lnTo>
                  <a:lnTo>
                    <a:pt x="486" y="922"/>
                  </a:lnTo>
                  <a:lnTo>
                    <a:pt x="496" y="916"/>
                  </a:lnTo>
                  <a:lnTo>
                    <a:pt x="504" y="910"/>
                  </a:lnTo>
                  <a:lnTo>
                    <a:pt x="509" y="905"/>
                  </a:lnTo>
                  <a:lnTo>
                    <a:pt x="520" y="896"/>
                  </a:lnTo>
                  <a:lnTo>
                    <a:pt x="529" y="888"/>
                  </a:lnTo>
                  <a:lnTo>
                    <a:pt x="539" y="877"/>
                  </a:lnTo>
                  <a:lnTo>
                    <a:pt x="549" y="868"/>
                  </a:lnTo>
                  <a:lnTo>
                    <a:pt x="558" y="857"/>
                  </a:lnTo>
                  <a:lnTo>
                    <a:pt x="567" y="847"/>
                  </a:lnTo>
                  <a:lnTo>
                    <a:pt x="576" y="836"/>
                  </a:lnTo>
                  <a:lnTo>
                    <a:pt x="586" y="826"/>
                  </a:lnTo>
                  <a:lnTo>
                    <a:pt x="595" y="814"/>
                  </a:lnTo>
                  <a:lnTo>
                    <a:pt x="604" y="803"/>
                  </a:lnTo>
                  <a:lnTo>
                    <a:pt x="613" y="791"/>
                  </a:lnTo>
                  <a:lnTo>
                    <a:pt x="621" y="779"/>
                  </a:lnTo>
                  <a:lnTo>
                    <a:pt x="629" y="767"/>
                  </a:lnTo>
                  <a:lnTo>
                    <a:pt x="638" y="755"/>
                  </a:lnTo>
                  <a:lnTo>
                    <a:pt x="647" y="742"/>
                  </a:lnTo>
                  <a:lnTo>
                    <a:pt x="654" y="730"/>
                  </a:lnTo>
                  <a:lnTo>
                    <a:pt x="670" y="704"/>
                  </a:lnTo>
                  <a:lnTo>
                    <a:pt x="685" y="679"/>
                  </a:lnTo>
                  <a:lnTo>
                    <a:pt x="699" y="655"/>
                  </a:lnTo>
                  <a:lnTo>
                    <a:pt x="713" y="630"/>
                  </a:lnTo>
                  <a:lnTo>
                    <a:pt x="727" y="605"/>
                  </a:lnTo>
                  <a:lnTo>
                    <a:pt x="741" y="580"/>
                  </a:lnTo>
                  <a:lnTo>
                    <a:pt x="754" y="556"/>
                  </a:lnTo>
                  <a:lnTo>
                    <a:pt x="767" y="531"/>
                  </a:lnTo>
                  <a:lnTo>
                    <a:pt x="781" y="507"/>
                  </a:lnTo>
                  <a:lnTo>
                    <a:pt x="794" y="482"/>
                  </a:lnTo>
                  <a:lnTo>
                    <a:pt x="807" y="456"/>
                  </a:lnTo>
                  <a:lnTo>
                    <a:pt x="820" y="431"/>
                  </a:lnTo>
                  <a:lnTo>
                    <a:pt x="834" y="406"/>
                  </a:lnTo>
                  <a:lnTo>
                    <a:pt x="847" y="380"/>
                  </a:lnTo>
                  <a:lnTo>
                    <a:pt x="861" y="355"/>
                  </a:lnTo>
                  <a:lnTo>
                    <a:pt x="875" y="327"/>
                  </a:lnTo>
                  <a:lnTo>
                    <a:pt x="882" y="314"/>
                  </a:lnTo>
                  <a:lnTo>
                    <a:pt x="889" y="300"/>
                  </a:lnTo>
                  <a:lnTo>
                    <a:pt x="898" y="287"/>
                  </a:lnTo>
                  <a:lnTo>
                    <a:pt x="906" y="273"/>
                  </a:lnTo>
                  <a:lnTo>
                    <a:pt x="914" y="259"/>
                  </a:lnTo>
                  <a:lnTo>
                    <a:pt x="923" y="245"/>
                  </a:lnTo>
                  <a:lnTo>
                    <a:pt x="932" y="231"/>
                  </a:lnTo>
                  <a:lnTo>
                    <a:pt x="942" y="217"/>
                  </a:lnTo>
                  <a:lnTo>
                    <a:pt x="952" y="203"/>
                  </a:lnTo>
                  <a:lnTo>
                    <a:pt x="962" y="189"/>
                  </a:lnTo>
                  <a:lnTo>
                    <a:pt x="973" y="176"/>
                  </a:lnTo>
                  <a:lnTo>
                    <a:pt x="984" y="162"/>
                  </a:lnTo>
                  <a:lnTo>
                    <a:pt x="995" y="149"/>
                  </a:lnTo>
                  <a:lnTo>
                    <a:pt x="1006" y="136"/>
                  </a:lnTo>
                  <a:lnTo>
                    <a:pt x="1018" y="124"/>
                  </a:lnTo>
                  <a:lnTo>
                    <a:pt x="1030" y="112"/>
                  </a:lnTo>
                  <a:lnTo>
                    <a:pt x="1042" y="100"/>
                  </a:lnTo>
                  <a:lnTo>
                    <a:pt x="1054" y="89"/>
                  </a:lnTo>
                  <a:lnTo>
                    <a:pt x="1067" y="78"/>
                  </a:lnTo>
                  <a:lnTo>
                    <a:pt x="1079" y="68"/>
                  </a:lnTo>
                  <a:lnTo>
                    <a:pt x="1093" y="58"/>
                  </a:lnTo>
                  <a:lnTo>
                    <a:pt x="1105" y="49"/>
                  </a:lnTo>
                  <a:lnTo>
                    <a:pt x="1119" y="41"/>
                  </a:lnTo>
                  <a:lnTo>
                    <a:pt x="1132" y="33"/>
                  </a:lnTo>
                  <a:lnTo>
                    <a:pt x="1146" y="26"/>
                  </a:lnTo>
                  <a:lnTo>
                    <a:pt x="1160" y="20"/>
                  </a:lnTo>
                  <a:lnTo>
                    <a:pt x="1174" y="14"/>
                  </a:lnTo>
                  <a:lnTo>
                    <a:pt x="1188" y="10"/>
                  </a:lnTo>
                  <a:lnTo>
                    <a:pt x="1202" y="6"/>
                  </a:lnTo>
                  <a:lnTo>
                    <a:pt x="1217" y="2"/>
                  </a:lnTo>
                  <a:lnTo>
                    <a:pt x="1231" y="1"/>
                  </a:lnTo>
                  <a:lnTo>
                    <a:pt x="1246" y="0"/>
                  </a:lnTo>
                  <a:lnTo>
                    <a:pt x="1260" y="0"/>
                  </a:lnTo>
                  <a:lnTo>
                    <a:pt x="1274" y="1"/>
                  </a:lnTo>
                  <a:lnTo>
                    <a:pt x="1288" y="2"/>
                  </a:lnTo>
                  <a:lnTo>
                    <a:pt x="1302" y="2"/>
                  </a:lnTo>
                  <a:lnTo>
                    <a:pt x="1315" y="5"/>
                  </a:lnTo>
                  <a:lnTo>
                    <a:pt x="1328" y="7"/>
                  </a:lnTo>
                  <a:lnTo>
                    <a:pt x="1341" y="11"/>
                  </a:lnTo>
                  <a:lnTo>
                    <a:pt x="1353" y="14"/>
                  </a:lnTo>
                  <a:lnTo>
                    <a:pt x="1365" y="18"/>
                  </a:lnTo>
                  <a:lnTo>
                    <a:pt x="1378" y="24"/>
                  </a:lnTo>
                  <a:lnTo>
                    <a:pt x="1390" y="29"/>
                  </a:lnTo>
                  <a:lnTo>
                    <a:pt x="1401" y="36"/>
                  </a:lnTo>
                  <a:lnTo>
                    <a:pt x="1413" y="42"/>
                  </a:lnTo>
                  <a:lnTo>
                    <a:pt x="1425" y="50"/>
                  </a:lnTo>
                  <a:lnTo>
                    <a:pt x="1437" y="57"/>
                  </a:lnTo>
                  <a:lnTo>
                    <a:pt x="1449" y="66"/>
                  </a:lnTo>
                  <a:lnTo>
                    <a:pt x="1460" y="75"/>
                  </a:lnTo>
                  <a:lnTo>
                    <a:pt x="1472" y="85"/>
                  </a:lnTo>
                  <a:lnTo>
                    <a:pt x="1483" y="96"/>
                  </a:lnTo>
                  <a:lnTo>
                    <a:pt x="1495" y="107"/>
                  </a:lnTo>
                  <a:lnTo>
                    <a:pt x="1506" y="118"/>
                  </a:lnTo>
                  <a:lnTo>
                    <a:pt x="1518" y="131"/>
                  </a:lnTo>
                  <a:lnTo>
                    <a:pt x="1530" y="145"/>
                  </a:lnTo>
                  <a:lnTo>
                    <a:pt x="1542" y="158"/>
                  </a:lnTo>
                  <a:lnTo>
                    <a:pt x="1554" y="173"/>
                  </a:lnTo>
                  <a:lnTo>
                    <a:pt x="1566" y="188"/>
                  </a:lnTo>
                  <a:lnTo>
                    <a:pt x="1578" y="204"/>
                  </a:lnTo>
                  <a:lnTo>
                    <a:pt x="1591" y="221"/>
                  </a:lnTo>
                  <a:lnTo>
                    <a:pt x="1604" y="238"/>
                  </a:lnTo>
                  <a:lnTo>
                    <a:pt x="1617" y="256"/>
                  </a:lnTo>
                  <a:lnTo>
                    <a:pt x="1630" y="275"/>
                  </a:lnTo>
                  <a:lnTo>
                    <a:pt x="1644" y="295"/>
                  </a:lnTo>
                  <a:lnTo>
                    <a:pt x="1661" y="322"/>
                  </a:lnTo>
                  <a:lnTo>
                    <a:pt x="1678" y="350"/>
                  </a:lnTo>
                  <a:lnTo>
                    <a:pt x="1693" y="379"/>
                  </a:lnTo>
                  <a:lnTo>
                    <a:pt x="1707" y="407"/>
                  </a:lnTo>
                  <a:lnTo>
                    <a:pt x="1721" y="437"/>
                  </a:lnTo>
                  <a:lnTo>
                    <a:pt x="1734" y="468"/>
                  </a:lnTo>
                  <a:lnTo>
                    <a:pt x="1746" y="498"/>
                  </a:lnTo>
                  <a:lnTo>
                    <a:pt x="1760" y="529"/>
                  </a:lnTo>
                  <a:lnTo>
                    <a:pt x="1772" y="560"/>
                  </a:lnTo>
                  <a:lnTo>
                    <a:pt x="1784" y="590"/>
                  </a:lnTo>
                  <a:lnTo>
                    <a:pt x="1797" y="622"/>
                  </a:lnTo>
                  <a:lnTo>
                    <a:pt x="1810" y="651"/>
                  </a:lnTo>
                  <a:lnTo>
                    <a:pt x="1824" y="681"/>
                  </a:lnTo>
                  <a:lnTo>
                    <a:pt x="1838" y="711"/>
                  </a:lnTo>
                  <a:lnTo>
                    <a:pt x="1853" y="741"/>
                  </a:lnTo>
                  <a:lnTo>
                    <a:pt x="1869" y="769"/>
                  </a:lnTo>
                  <a:lnTo>
                    <a:pt x="1874" y="775"/>
                  </a:lnTo>
                  <a:lnTo>
                    <a:pt x="1878" y="783"/>
                  </a:lnTo>
                  <a:lnTo>
                    <a:pt x="1885" y="791"/>
                  </a:lnTo>
                  <a:lnTo>
                    <a:pt x="1890" y="798"/>
                  </a:lnTo>
                  <a:lnTo>
                    <a:pt x="1897" y="807"/>
                  </a:lnTo>
                  <a:lnTo>
                    <a:pt x="1905" y="815"/>
                  </a:lnTo>
                  <a:lnTo>
                    <a:pt x="1913" y="823"/>
                  </a:lnTo>
                  <a:lnTo>
                    <a:pt x="1921" y="832"/>
                  </a:lnTo>
                  <a:lnTo>
                    <a:pt x="1930" y="841"/>
                  </a:lnTo>
                  <a:lnTo>
                    <a:pt x="1938" y="851"/>
                  </a:lnTo>
                  <a:lnTo>
                    <a:pt x="1949" y="860"/>
                  </a:lnTo>
                  <a:lnTo>
                    <a:pt x="1958" y="869"/>
                  </a:lnTo>
                  <a:lnTo>
                    <a:pt x="1968" y="878"/>
                  </a:lnTo>
                  <a:lnTo>
                    <a:pt x="1979" y="887"/>
                  </a:lnTo>
                  <a:lnTo>
                    <a:pt x="1989" y="896"/>
                  </a:lnTo>
                  <a:lnTo>
                    <a:pt x="2000" y="905"/>
                  </a:lnTo>
                  <a:lnTo>
                    <a:pt x="2010" y="914"/>
                  </a:lnTo>
                  <a:lnTo>
                    <a:pt x="2022" y="924"/>
                  </a:lnTo>
                  <a:lnTo>
                    <a:pt x="2033" y="932"/>
                  </a:lnTo>
                  <a:lnTo>
                    <a:pt x="2044" y="941"/>
                  </a:lnTo>
                  <a:lnTo>
                    <a:pt x="2055" y="951"/>
                  </a:lnTo>
                  <a:lnTo>
                    <a:pt x="2067" y="959"/>
                  </a:lnTo>
                  <a:lnTo>
                    <a:pt x="2078" y="967"/>
                  </a:lnTo>
                  <a:lnTo>
                    <a:pt x="2089" y="975"/>
                  </a:lnTo>
                  <a:lnTo>
                    <a:pt x="2101" y="983"/>
                  </a:lnTo>
                  <a:lnTo>
                    <a:pt x="2111" y="991"/>
                  </a:lnTo>
                  <a:lnTo>
                    <a:pt x="2123" y="998"/>
                  </a:lnTo>
                  <a:lnTo>
                    <a:pt x="2133" y="1005"/>
                  </a:lnTo>
                  <a:lnTo>
                    <a:pt x="2144" y="1012"/>
                  </a:lnTo>
                  <a:lnTo>
                    <a:pt x="2154" y="1017"/>
                  </a:lnTo>
                  <a:lnTo>
                    <a:pt x="2164" y="1024"/>
                  </a:lnTo>
                  <a:lnTo>
                    <a:pt x="2174" y="1029"/>
                  </a:lnTo>
                  <a:lnTo>
                    <a:pt x="2185" y="1036"/>
                  </a:lnTo>
                  <a:lnTo>
                    <a:pt x="2197" y="1041"/>
                  </a:lnTo>
                  <a:lnTo>
                    <a:pt x="2209" y="1048"/>
                  </a:lnTo>
                  <a:lnTo>
                    <a:pt x="2222" y="1054"/>
                  </a:lnTo>
                  <a:lnTo>
                    <a:pt x="2234" y="1060"/>
                  </a:lnTo>
                  <a:lnTo>
                    <a:pt x="2249" y="1066"/>
                  </a:lnTo>
                  <a:lnTo>
                    <a:pt x="2262" y="1073"/>
                  </a:lnTo>
                  <a:lnTo>
                    <a:pt x="2275" y="1079"/>
                  </a:lnTo>
                  <a:lnTo>
                    <a:pt x="2290" y="1085"/>
                  </a:lnTo>
                  <a:lnTo>
                    <a:pt x="2305" y="1092"/>
                  </a:lnTo>
                  <a:lnTo>
                    <a:pt x="2318" y="1098"/>
                  </a:lnTo>
                  <a:lnTo>
                    <a:pt x="2333" y="1104"/>
                  </a:lnTo>
                  <a:lnTo>
                    <a:pt x="2348" y="1109"/>
                  </a:lnTo>
                  <a:lnTo>
                    <a:pt x="2362" y="1116"/>
                  </a:lnTo>
                  <a:lnTo>
                    <a:pt x="2377" y="1122"/>
                  </a:lnTo>
                  <a:lnTo>
                    <a:pt x="2392" y="1127"/>
                  </a:lnTo>
                  <a:lnTo>
                    <a:pt x="2407" y="1132"/>
                  </a:lnTo>
                  <a:lnTo>
                    <a:pt x="2421" y="1137"/>
                  </a:lnTo>
                  <a:lnTo>
                    <a:pt x="2435" y="1142"/>
                  </a:lnTo>
                  <a:lnTo>
                    <a:pt x="2448" y="1146"/>
                  </a:lnTo>
                  <a:lnTo>
                    <a:pt x="2463" y="1151"/>
                  </a:lnTo>
                  <a:lnTo>
                    <a:pt x="2476" y="1156"/>
                  </a:lnTo>
                  <a:lnTo>
                    <a:pt x="2489" y="1159"/>
                  </a:lnTo>
                  <a:lnTo>
                    <a:pt x="2502" y="1162"/>
                  </a:lnTo>
                  <a:lnTo>
                    <a:pt x="2514" y="1165"/>
                  </a:lnTo>
                  <a:lnTo>
                    <a:pt x="2526" y="1169"/>
                  </a:lnTo>
                  <a:lnTo>
                    <a:pt x="2537" y="1171"/>
                  </a:lnTo>
                  <a:lnTo>
                    <a:pt x="2548" y="1173"/>
                  </a:lnTo>
                  <a:lnTo>
                    <a:pt x="2558" y="1175"/>
                  </a:lnTo>
                  <a:lnTo>
                    <a:pt x="2568" y="1176"/>
                  </a:lnTo>
                  <a:lnTo>
                    <a:pt x="2577" y="1176"/>
                  </a:lnTo>
                  <a:lnTo>
                    <a:pt x="2585" y="1177"/>
                  </a:lnTo>
                </a:path>
              </a:pathLst>
            </a:custGeom>
            <a:noFill/>
            <a:ln w="50800" cap="rnd" cmpd="sng">
              <a:solidFill>
                <a:srgbClr val="02B67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nvGrpSpPr>
          <p:cNvPr id="19" name="Group 18"/>
          <p:cNvGrpSpPr/>
          <p:nvPr/>
        </p:nvGrpSpPr>
        <p:grpSpPr>
          <a:xfrm>
            <a:off x="3841899" y="1883735"/>
            <a:ext cx="392287" cy="2764465"/>
            <a:chOff x="3841899" y="1883735"/>
            <a:chExt cx="392287" cy="2764465"/>
          </a:xfrm>
        </p:grpSpPr>
        <p:cxnSp>
          <p:nvCxnSpPr>
            <p:cNvPr id="10" name="Straight Connector 9"/>
            <p:cNvCxnSpPr/>
            <p:nvPr/>
          </p:nvCxnSpPr>
          <p:spPr>
            <a:xfrm flipV="1">
              <a:off x="4038600" y="2286000"/>
              <a:ext cx="0" cy="2362200"/>
            </a:xfrm>
            <a:prstGeom prst="line">
              <a:avLst/>
            </a:prstGeom>
            <a:ln>
              <a:prstDash val="sysDash"/>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13" name="TextBox 12"/>
                <p:cNvSpPr txBox="1"/>
                <p:nvPr/>
              </p:nvSpPr>
              <p:spPr>
                <a:xfrm>
                  <a:off x="3841899" y="1883735"/>
                  <a:ext cx="392287" cy="39241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GB" i="1" dirty="0">
                                <a:latin typeface="Cambria Math" panose="02040503050406030204" pitchFamily="18" charset="0"/>
                              </a:rPr>
                            </m:ctrlPr>
                          </m:accPr>
                          <m:e>
                            <m:r>
                              <a:rPr lang="en-GB" i="1" dirty="0">
                                <a:latin typeface="Cambria Math"/>
                              </a:rPr>
                              <m:t>𝑋</m:t>
                            </m:r>
                          </m:e>
                        </m:acc>
                      </m:oMath>
                    </m:oMathPara>
                  </a14:m>
                  <a:endParaRPr lang="en-GB" dirty="0"/>
                </a:p>
              </p:txBody>
            </p:sp>
          </mc:Choice>
          <mc:Fallback xmlns="">
            <p:sp>
              <p:nvSpPr>
                <p:cNvPr id="13" name="TextBox 12"/>
                <p:cNvSpPr txBox="1">
                  <a:spLocks noRot="1" noChangeAspect="1" noMove="1" noResize="1" noEditPoints="1" noAdjustHandles="1" noChangeArrowheads="1" noChangeShapeType="1" noTextEdit="1"/>
                </p:cNvSpPr>
                <p:nvPr/>
              </p:nvSpPr>
              <p:spPr>
                <a:xfrm>
                  <a:off x="3841899" y="1883735"/>
                  <a:ext cx="392287" cy="392415"/>
                </a:xfrm>
                <a:prstGeom prst="rect">
                  <a:avLst/>
                </a:prstGeom>
                <a:blipFill rotWithShape="1">
                  <a:blip r:embed="rId3"/>
                  <a:stretch>
                    <a:fillRect t="-12500" r="-16923"/>
                  </a:stretch>
                </a:blipFill>
              </p:spPr>
              <p:txBody>
                <a:bodyPr/>
                <a:lstStyle/>
                <a:p>
                  <a:r>
                    <a:rPr lang="en-GB">
                      <a:noFill/>
                    </a:rPr>
                    <a:t> </a:t>
                  </a:r>
                </a:p>
              </p:txBody>
            </p:sp>
          </mc:Fallback>
        </mc:AlternateContent>
      </p:grpSp>
      <p:grpSp>
        <p:nvGrpSpPr>
          <p:cNvPr id="43" name="Group 42"/>
          <p:cNvGrpSpPr/>
          <p:nvPr/>
        </p:nvGrpSpPr>
        <p:grpSpPr>
          <a:xfrm>
            <a:off x="2111680" y="2438400"/>
            <a:ext cx="3684250" cy="2209800"/>
            <a:chOff x="2111680" y="2438400"/>
            <a:chExt cx="3684250" cy="2209800"/>
          </a:xfrm>
        </p:grpSpPr>
        <p:grpSp>
          <p:nvGrpSpPr>
            <p:cNvPr id="20" name="Group 19"/>
            <p:cNvGrpSpPr/>
            <p:nvPr/>
          </p:nvGrpSpPr>
          <p:grpSpPr>
            <a:xfrm>
              <a:off x="2111680" y="2438400"/>
              <a:ext cx="478529" cy="2209800"/>
              <a:chOff x="3874913" y="1883735"/>
              <a:chExt cx="478529" cy="2764465"/>
            </a:xfrm>
          </p:grpSpPr>
          <p:cxnSp>
            <p:nvCxnSpPr>
              <p:cNvPr id="21" name="Straight Connector 20"/>
              <p:cNvCxnSpPr/>
              <p:nvPr/>
            </p:nvCxnSpPr>
            <p:spPr>
              <a:xfrm flipV="1">
                <a:off x="4038600" y="2286000"/>
                <a:ext cx="0" cy="2362200"/>
              </a:xfrm>
              <a:prstGeom prst="line">
                <a:avLst/>
              </a:prstGeom>
              <a:ln>
                <a:solidFill>
                  <a:srgbClr val="FF0000"/>
                </a:solidFill>
                <a:prstDash val="sysDot"/>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22" name="TextBox 21"/>
                  <p:cNvSpPr txBox="1"/>
                  <p:nvPr/>
                </p:nvSpPr>
                <p:spPr>
                  <a:xfrm>
                    <a:off x="3874913" y="1883735"/>
                    <a:ext cx="478529" cy="462035"/>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i="1" dirty="0" smtClean="0">
                                  <a:solidFill>
                                    <a:srgbClr val="FF0000"/>
                                  </a:solidFill>
                                  <a:latin typeface="Cambria Math" panose="02040503050406030204" pitchFamily="18" charset="0"/>
                                </a:rPr>
                              </m:ctrlPr>
                            </m:sSubPr>
                            <m:e>
                              <m:acc>
                                <m:accPr>
                                  <m:chr m:val="̅"/>
                                  <m:ctrlPr>
                                    <a:rPr lang="en-GB" i="1" dirty="0">
                                      <a:solidFill>
                                        <a:srgbClr val="FF0000"/>
                                      </a:solidFill>
                                      <a:latin typeface="Cambria Math" panose="02040503050406030204" pitchFamily="18" charset="0"/>
                                    </a:rPr>
                                  </m:ctrlPr>
                                </m:accPr>
                                <m:e>
                                  <m:r>
                                    <a:rPr lang="en-GB" b="0" i="1" dirty="0" smtClean="0">
                                      <a:solidFill>
                                        <a:srgbClr val="FF0000"/>
                                      </a:solidFill>
                                      <a:latin typeface="Cambria Math"/>
                                    </a:rPr>
                                    <m:t>𝑋</m:t>
                                  </m:r>
                                </m:e>
                              </m:acc>
                            </m:e>
                            <m:sub>
                              <m:r>
                                <a:rPr lang="en-GB" b="0" i="1" dirty="0" smtClean="0">
                                  <a:solidFill>
                                    <a:srgbClr val="FF0000"/>
                                  </a:solidFill>
                                  <a:latin typeface="Cambria Math"/>
                                </a:rPr>
                                <m:t>1</m:t>
                              </m:r>
                            </m:sub>
                          </m:sSub>
                        </m:oMath>
                      </m:oMathPara>
                    </a14:m>
                    <a:endParaRPr lang="en-GB" dirty="0">
                      <a:solidFill>
                        <a:srgbClr val="FF0000"/>
                      </a:solidFill>
                    </a:endParaRPr>
                  </a:p>
                </p:txBody>
              </p:sp>
            </mc:Choice>
            <mc:Fallback xmlns="">
              <p:sp>
                <p:nvSpPr>
                  <p:cNvPr id="22" name="TextBox 21"/>
                  <p:cNvSpPr txBox="1">
                    <a:spLocks noRot="1" noChangeAspect="1" noMove="1" noResize="1" noEditPoints="1" noAdjustHandles="1" noChangeArrowheads="1" noChangeShapeType="1" noTextEdit="1"/>
                  </p:cNvSpPr>
                  <p:nvPr/>
                </p:nvSpPr>
                <p:spPr>
                  <a:xfrm>
                    <a:off x="3874913" y="1883735"/>
                    <a:ext cx="478529" cy="462035"/>
                  </a:xfrm>
                  <a:prstGeom prst="rect">
                    <a:avLst/>
                  </a:prstGeom>
                  <a:blipFill rotWithShape="1">
                    <a:blip r:embed="rId4"/>
                    <a:stretch>
                      <a:fillRect r="-2532"/>
                    </a:stretch>
                  </a:blipFill>
                  <a:ln>
                    <a:noFill/>
                  </a:ln>
                </p:spPr>
                <p:txBody>
                  <a:bodyPr/>
                  <a:lstStyle/>
                  <a:p>
                    <a:r>
                      <a:rPr lang="en-GB">
                        <a:noFill/>
                      </a:rPr>
                      <a:t> </a:t>
                    </a:r>
                  </a:p>
                </p:txBody>
              </p:sp>
            </mc:Fallback>
          </mc:AlternateContent>
        </p:grpSp>
        <p:grpSp>
          <p:nvGrpSpPr>
            <p:cNvPr id="23" name="Group 22"/>
            <p:cNvGrpSpPr/>
            <p:nvPr/>
          </p:nvGrpSpPr>
          <p:grpSpPr>
            <a:xfrm>
              <a:off x="4463247" y="2438400"/>
              <a:ext cx="483850" cy="2209800"/>
              <a:chOff x="3874913" y="1883735"/>
              <a:chExt cx="483850" cy="2764465"/>
            </a:xfrm>
          </p:grpSpPr>
          <p:cxnSp>
            <p:nvCxnSpPr>
              <p:cNvPr id="24" name="Straight Connector 23"/>
              <p:cNvCxnSpPr/>
              <p:nvPr/>
            </p:nvCxnSpPr>
            <p:spPr>
              <a:xfrm flipV="1">
                <a:off x="4038600" y="2286000"/>
                <a:ext cx="0" cy="2362200"/>
              </a:xfrm>
              <a:prstGeom prst="line">
                <a:avLst/>
              </a:prstGeom>
              <a:ln>
                <a:solidFill>
                  <a:schemeClr val="accent1"/>
                </a:solidFill>
                <a:prstDash val="sysDot"/>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25" name="TextBox 24"/>
                  <p:cNvSpPr txBox="1"/>
                  <p:nvPr/>
                </p:nvSpPr>
                <p:spPr>
                  <a:xfrm>
                    <a:off x="3874913" y="1883735"/>
                    <a:ext cx="483850" cy="462035"/>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i="1" dirty="0" smtClean="0">
                                  <a:solidFill>
                                    <a:schemeClr val="tx2"/>
                                  </a:solidFill>
                                  <a:latin typeface="Cambria Math" panose="02040503050406030204" pitchFamily="18" charset="0"/>
                                </a:rPr>
                              </m:ctrlPr>
                            </m:sSubPr>
                            <m:e>
                              <m:acc>
                                <m:accPr>
                                  <m:chr m:val="̅"/>
                                  <m:ctrlPr>
                                    <a:rPr lang="en-GB" i="1" dirty="0">
                                      <a:solidFill>
                                        <a:schemeClr val="tx2"/>
                                      </a:solidFill>
                                      <a:latin typeface="Cambria Math" panose="02040503050406030204" pitchFamily="18" charset="0"/>
                                    </a:rPr>
                                  </m:ctrlPr>
                                </m:accPr>
                                <m:e>
                                  <m:r>
                                    <a:rPr lang="en-GB" i="1" dirty="0">
                                      <a:solidFill>
                                        <a:schemeClr val="tx2"/>
                                      </a:solidFill>
                                      <a:latin typeface="Cambria Math"/>
                                    </a:rPr>
                                    <m:t>𝑋</m:t>
                                  </m:r>
                                </m:e>
                              </m:acc>
                            </m:e>
                            <m:sub>
                              <m:r>
                                <a:rPr lang="en-GB" b="0" i="1" dirty="0" smtClean="0">
                                  <a:solidFill>
                                    <a:schemeClr val="tx2"/>
                                  </a:solidFill>
                                  <a:latin typeface="Cambria Math"/>
                                </a:rPr>
                                <m:t>2</m:t>
                              </m:r>
                            </m:sub>
                          </m:sSub>
                        </m:oMath>
                      </m:oMathPara>
                    </a14:m>
                    <a:endParaRPr lang="en-GB" dirty="0">
                      <a:solidFill>
                        <a:schemeClr val="tx2"/>
                      </a:solidFill>
                    </a:endParaRPr>
                  </a:p>
                </p:txBody>
              </p:sp>
            </mc:Choice>
            <mc:Fallback xmlns="">
              <p:sp>
                <p:nvSpPr>
                  <p:cNvPr id="25" name="TextBox 24"/>
                  <p:cNvSpPr txBox="1">
                    <a:spLocks noRot="1" noChangeAspect="1" noMove="1" noResize="1" noEditPoints="1" noAdjustHandles="1" noChangeArrowheads="1" noChangeShapeType="1" noTextEdit="1"/>
                  </p:cNvSpPr>
                  <p:nvPr/>
                </p:nvSpPr>
                <p:spPr>
                  <a:xfrm>
                    <a:off x="3874913" y="1883735"/>
                    <a:ext cx="483850" cy="462035"/>
                  </a:xfrm>
                  <a:prstGeom prst="rect">
                    <a:avLst/>
                  </a:prstGeom>
                  <a:blipFill rotWithShape="1">
                    <a:blip r:embed="rId5"/>
                    <a:stretch>
                      <a:fillRect r="-2500"/>
                    </a:stretch>
                  </a:blipFill>
                  <a:ln>
                    <a:noFill/>
                  </a:ln>
                </p:spPr>
                <p:txBody>
                  <a:bodyPr/>
                  <a:lstStyle/>
                  <a:p>
                    <a:r>
                      <a:rPr lang="en-GB">
                        <a:noFill/>
                      </a:rPr>
                      <a:t> </a:t>
                    </a:r>
                  </a:p>
                </p:txBody>
              </p:sp>
            </mc:Fallback>
          </mc:AlternateContent>
        </p:grpSp>
        <p:grpSp>
          <p:nvGrpSpPr>
            <p:cNvPr id="26" name="Group 25"/>
            <p:cNvGrpSpPr/>
            <p:nvPr/>
          </p:nvGrpSpPr>
          <p:grpSpPr>
            <a:xfrm>
              <a:off x="5312080" y="2438400"/>
              <a:ext cx="483850" cy="2209800"/>
              <a:chOff x="3874913" y="1883735"/>
              <a:chExt cx="483850" cy="2764465"/>
            </a:xfrm>
          </p:grpSpPr>
          <p:cxnSp>
            <p:nvCxnSpPr>
              <p:cNvPr id="27" name="Straight Connector 26"/>
              <p:cNvCxnSpPr/>
              <p:nvPr/>
            </p:nvCxnSpPr>
            <p:spPr>
              <a:xfrm flipV="1">
                <a:off x="4038600" y="2286000"/>
                <a:ext cx="0" cy="2362200"/>
              </a:xfrm>
              <a:prstGeom prst="line">
                <a:avLst/>
              </a:prstGeom>
              <a:ln>
                <a:solidFill>
                  <a:srgbClr val="00B050"/>
                </a:solidFill>
                <a:prstDash val="sysDot"/>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28" name="TextBox 27"/>
                  <p:cNvSpPr txBox="1"/>
                  <p:nvPr/>
                </p:nvSpPr>
                <p:spPr>
                  <a:xfrm>
                    <a:off x="3874913" y="1883735"/>
                    <a:ext cx="483850" cy="462035"/>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i="1" dirty="0" smtClean="0">
                                  <a:solidFill>
                                    <a:srgbClr val="00B050"/>
                                  </a:solidFill>
                                  <a:latin typeface="Cambria Math" panose="02040503050406030204" pitchFamily="18" charset="0"/>
                                </a:rPr>
                              </m:ctrlPr>
                            </m:sSubPr>
                            <m:e>
                              <m:acc>
                                <m:accPr>
                                  <m:chr m:val="̅"/>
                                  <m:ctrlPr>
                                    <a:rPr lang="en-GB" i="1" dirty="0">
                                      <a:solidFill>
                                        <a:srgbClr val="00B050"/>
                                      </a:solidFill>
                                      <a:latin typeface="Cambria Math" panose="02040503050406030204" pitchFamily="18" charset="0"/>
                                    </a:rPr>
                                  </m:ctrlPr>
                                </m:accPr>
                                <m:e>
                                  <m:r>
                                    <a:rPr lang="en-GB" i="1" dirty="0">
                                      <a:solidFill>
                                        <a:srgbClr val="00B050"/>
                                      </a:solidFill>
                                      <a:latin typeface="Cambria Math"/>
                                    </a:rPr>
                                    <m:t>𝑋</m:t>
                                  </m:r>
                                </m:e>
                              </m:acc>
                            </m:e>
                            <m:sub>
                              <m:r>
                                <a:rPr lang="en-GB" b="0" i="1" dirty="0" smtClean="0">
                                  <a:solidFill>
                                    <a:srgbClr val="00B050"/>
                                  </a:solidFill>
                                  <a:latin typeface="Cambria Math"/>
                                </a:rPr>
                                <m:t>3</m:t>
                              </m:r>
                            </m:sub>
                          </m:sSub>
                        </m:oMath>
                      </m:oMathPara>
                    </a14:m>
                    <a:endParaRPr lang="en-GB" dirty="0">
                      <a:solidFill>
                        <a:srgbClr val="00B050"/>
                      </a:solidFill>
                    </a:endParaRPr>
                  </a:p>
                </p:txBody>
              </p:sp>
            </mc:Choice>
            <mc:Fallback xmlns="">
              <p:sp>
                <p:nvSpPr>
                  <p:cNvPr id="28" name="TextBox 27"/>
                  <p:cNvSpPr txBox="1">
                    <a:spLocks noRot="1" noChangeAspect="1" noMove="1" noResize="1" noEditPoints="1" noAdjustHandles="1" noChangeArrowheads="1" noChangeShapeType="1" noTextEdit="1"/>
                  </p:cNvSpPr>
                  <p:nvPr/>
                </p:nvSpPr>
                <p:spPr>
                  <a:xfrm>
                    <a:off x="3874913" y="1883735"/>
                    <a:ext cx="483850" cy="462035"/>
                  </a:xfrm>
                  <a:prstGeom prst="rect">
                    <a:avLst/>
                  </a:prstGeom>
                  <a:blipFill rotWithShape="1">
                    <a:blip r:embed="rId6"/>
                    <a:stretch>
                      <a:fillRect r="-2500"/>
                    </a:stretch>
                  </a:blipFill>
                  <a:ln>
                    <a:noFill/>
                  </a:ln>
                </p:spPr>
                <p:txBody>
                  <a:bodyPr/>
                  <a:lstStyle/>
                  <a:p>
                    <a:r>
                      <a:rPr lang="en-GB">
                        <a:noFill/>
                      </a:rPr>
                      <a:t> </a:t>
                    </a:r>
                  </a:p>
                </p:txBody>
              </p:sp>
            </mc:Fallback>
          </mc:AlternateContent>
        </p:grpSp>
      </p:grpSp>
      <p:grpSp>
        <p:nvGrpSpPr>
          <p:cNvPr id="42" name="Group 41"/>
          <p:cNvGrpSpPr/>
          <p:nvPr/>
        </p:nvGrpSpPr>
        <p:grpSpPr>
          <a:xfrm>
            <a:off x="1860699" y="4038600"/>
            <a:ext cx="4002180" cy="0"/>
            <a:chOff x="1860699" y="4038600"/>
            <a:chExt cx="4002180" cy="0"/>
          </a:xfrm>
        </p:grpSpPr>
        <p:cxnSp>
          <p:nvCxnSpPr>
            <p:cNvPr id="30" name="Straight Arrow Connector 29"/>
            <p:cNvCxnSpPr/>
            <p:nvPr/>
          </p:nvCxnSpPr>
          <p:spPr>
            <a:xfrm flipH="1">
              <a:off x="1860699" y="4038600"/>
              <a:ext cx="789378" cy="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flipH="1">
              <a:off x="4222899" y="4038600"/>
              <a:ext cx="789378" cy="0"/>
            </a:xfrm>
            <a:prstGeom prst="straightConnector1">
              <a:avLst/>
            </a:prstGeom>
            <a:ln>
              <a:solidFill>
                <a:srgbClr val="0070C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flipH="1">
              <a:off x="5073501" y="4038600"/>
              <a:ext cx="789378" cy="0"/>
            </a:xfrm>
            <a:prstGeom prst="straightConnector1">
              <a:avLst/>
            </a:prstGeom>
            <a:ln>
              <a:solidFill>
                <a:srgbClr val="00B050"/>
              </a:solidFill>
              <a:headEnd type="arrow"/>
              <a:tailEnd type="arrow"/>
            </a:ln>
          </p:spPr>
          <p:style>
            <a:lnRef idx="1">
              <a:schemeClr val="accent1"/>
            </a:lnRef>
            <a:fillRef idx="0">
              <a:schemeClr val="accent1"/>
            </a:fillRef>
            <a:effectRef idx="0">
              <a:schemeClr val="accent1"/>
            </a:effectRef>
            <a:fontRef idx="minor">
              <a:schemeClr val="tx1"/>
            </a:fontRef>
          </p:style>
        </p:cxnSp>
      </p:grpSp>
      <p:grpSp>
        <p:nvGrpSpPr>
          <p:cNvPr id="41" name="Group 40"/>
          <p:cNvGrpSpPr/>
          <p:nvPr/>
        </p:nvGrpSpPr>
        <p:grpSpPr>
          <a:xfrm>
            <a:off x="2286000" y="2807732"/>
            <a:ext cx="3182190" cy="164068"/>
            <a:chOff x="2286000" y="2807732"/>
            <a:chExt cx="3182190" cy="164068"/>
          </a:xfrm>
        </p:grpSpPr>
        <p:cxnSp>
          <p:nvCxnSpPr>
            <p:cNvPr id="35" name="Straight Arrow Connector 34"/>
            <p:cNvCxnSpPr/>
            <p:nvPr/>
          </p:nvCxnSpPr>
          <p:spPr>
            <a:xfrm flipH="1">
              <a:off x="2286000" y="2895600"/>
              <a:ext cx="1752600" cy="0"/>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H="1">
              <a:off x="4038600" y="2971800"/>
              <a:ext cx="1429590" cy="0"/>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H="1">
              <a:off x="4038600" y="2807732"/>
              <a:ext cx="578988" cy="0"/>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6400800" y="1632099"/>
            <a:ext cx="2368953" cy="1775555"/>
            <a:chOff x="6400800" y="1632099"/>
            <a:chExt cx="2368953" cy="1775555"/>
          </a:xfrm>
        </p:grpSpPr>
        <p:grpSp>
          <p:nvGrpSpPr>
            <p:cNvPr id="47" name="Group 46"/>
            <p:cNvGrpSpPr/>
            <p:nvPr/>
          </p:nvGrpSpPr>
          <p:grpSpPr>
            <a:xfrm>
              <a:off x="6400800" y="2110068"/>
              <a:ext cx="2325963" cy="1297586"/>
              <a:chOff x="6015279" y="1614768"/>
              <a:chExt cx="2325963" cy="1297586"/>
            </a:xfrm>
          </p:grpSpPr>
          <p:sp>
            <p:nvSpPr>
              <p:cNvPr id="49" name="Rectangular Callout 48"/>
              <p:cNvSpPr/>
              <p:nvPr/>
            </p:nvSpPr>
            <p:spPr>
              <a:xfrm>
                <a:off x="6015279" y="1614768"/>
                <a:ext cx="2325963" cy="1295400"/>
              </a:xfrm>
              <a:prstGeom prst="wedgeRectCallout">
                <a:avLst>
                  <a:gd name="adj1" fmla="val -121554"/>
                  <a:gd name="adj2" fmla="val 96699"/>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dirty="0"/>
              </a:p>
            </p:txBody>
          </p:sp>
          <p:sp>
            <p:nvSpPr>
              <p:cNvPr id="50" name="Rectangular Callout 49"/>
              <p:cNvSpPr/>
              <p:nvPr/>
            </p:nvSpPr>
            <p:spPr>
              <a:xfrm>
                <a:off x="6015279" y="1614768"/>
                <a:ext cx="2325963" cy="1295400"/>
              </a:xfrm>
              <a:prstGeom prst="wedgeRectCallout">
                <a:avLst>
                  <a:gd name="adj1" fmla="val -95955"/>
                  <a:gd name="adj2" fmla="val 95057"/>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dirty="0"/>
              </a:p>
            </p:txBody>
          </p:sp>
          <p:sp>
            <p:nvSpPr>
              <p:cNvPr id="51" name="Rectangular Callout 50"/>
              <p:cNvSpPr/>
              <p:nvPr/>
            </p:nvSpPr>
            <p:spPr>
              <a:xfrm>
                <a:off x="6015279" y="1616954"/>
                <a:ext cx="2325963" cy="1295400"/>
              </a:xfrm>
              <a:prstGeom prst="wedgeRectCallout">
                <a:avLst>
                  <a:gd name="adj1" fmla="val -220294"/>
                  <a:gd name="adj2" fmla="val 95056"/>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2000" b="1" dirty="0"/>
                  <a:t>SUM OF SQUARES WITH-IN</a:t>
                </a:r>
              </a:p>
            </p:txBody>
          </p:sp>
        </p:grpSp>
        <p:sp>
          <p:nvSpPr>
            <p:cNvPr id="48" name="Rectangle 47"/>
            <p:cNvSpPr/>
            <p:nvPr/>
          </p:nvSpPr>
          <p:spPr>
            <a:xfrm>
              <a:off x="7828277" y="1632099"/>
              <a:ext cx="941476" cy="584775"/>
            </a:xfrm>
            <a:prstGeom prst="rect">
              <a:avLst/>
            </a:prstGeom>
          </p:spPr>
          <p:txBody>
            <a:bodyPr wrap="none">
              <a:spAutoFit/>
            </a:bodyPr>
            <a:lstStyle/>
            <a:p>
              <a:r>
                <a:rPr lang="en-GB" altLang="en-US" sz="3200" b="1" dirty="0"/>
                <a:t>SSW</a:t>
              </a:r>
              <a:endParaRPr lang="en-GB" sz="3200" b="1" dirty="0"/>
            </a:p>
          </p:txBody>
        </p:sp>
      </p:grpSp>
      <p:grpSp>
        <p:nvGrpSpPr>
          <p:cNvPr id="52" name="Group 51"/>
          <p:cNvGrpSpPr/>
          <p:nvPr/>
        </p:nvGrpSpPr>
        <p:grpSpPr>
          <a:xfrm>
            <a:off x="1219200" y="990600"/>
            <a:ext cx="2032104" cy="1378673"/>
            <a:chOff x="1219200" y="990600"/>
            <a:chExt cx="2032104" cy="1378673"/>
          </a:xfrm>
        </p:grpSpPr>
        <mc:AlternateContent xmlns:mc="http://schemas.openxmlformats.org/markup-compatibility/2006" xmlns:a14="http://schemas.microsoft.com/office/drawing/2010/main">
          <mc:Choice Requires="a14">
            <p:sp>
              <p:nvSpPr>
                <p:cNvPr id="53" name="Rectangular Callout 52"/>
                <p:cNvSpPr/>
                <p:nvPr/>
              </p:nvSpPr>
              <p:spPr>
                <a:xfrm>
                  <a:off x="1238205" y="990600"/>
                  <a:ext cx="2013099" cy="914400"/>
                </a:xfrm>
                <a:prstGeom prst="wedgeRectCallout">
                  <a:avLst>
                    <a:gd name="adj1" fmla="val 56511"/>
                    <a:gd name="adj2" fmla="val 157849"/>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en-GB" sz="2000" b="1" i="1" dirty="0" smtClean="0">
                                <a:solidFill>
                                  <a:schemeClr val="bg1"/>
                                </a:solidFill>
                                <a:latin typeface="Cambria Math" panose="02040503050406030204" pitchFamily="18" charset="0"/>
                              </a:rPr>
                            </m:ctrlPr>
                          </m:naryPr>
                          <m:sub/>
                          <m:sup/>
                          <m:e>
                            <m:sSub>
                              <m:sSubPr>
                                <m:ctrlPr>
                                  <a:rPr lang="en-GB" sz="2000" b="1" i="1" dirty="0" smtClean="0">
                                    <a:solidFill>
                                      <a:schemeClr val="bg1"/>
                                    </a:solidFill>
                                    <a:latin typeface="Cambria Math" panose="02040503050406030204" pitchFamily="18" charset="0"/>
                                  </a:rPr>
                                </m:ctrlPr>
                              </m:sSubPr>
                              <m:e>
                                <m:r>
                                  <a:rPr lang="en-GB" sz="2000" b="1" i="1" dirty="0" smtClean="0">
                                    <a:solidFill>
                                      <a:schemeClr val="bg1"/>
                                    </a:solidFill>
                                    <a:latin typeface="Cambria Math"/>
                                  </a:rPr>
                                  <m:t>𝒏</m:t>
                                </m:r>
                              </m:e>
                              <m:sub>
                                <m:r>
                                  <a:rPr lang="en-GB" sz="2000" b="1" i="1" dirty="0" smtClean="0">
                                    <a:solidFill>
                                      <a:schemeClr val="bg1"/>
                                    </a:solidFill>
                                    <a:latin typeface="Cambria Math"/>
                                  </a:rPr>
                                  <m:t>𝒋</m:t>
                                </m:r>
                              </m:sub>
                            </m:sSub>
                            <m:sSup>
                              <m:sSupPr>
                                <m:ctrlPr>
                                  <a:rPr lang="en-GB" sz="2000" b="1" i="1" dirty="0" smtClean="0">
                                    <a:solidFill>
                                      <a:schemeClr val="bg1"/>
                                    </a:solidFill>
                                    <a:latin typeface="Cambria Math" panose="02040503050406030204" pitchFamily="18" charset="0"/>
                                  </a:rPr>
                                </m:ctrlPr>
                              </m:sSupPr>
                              <m:e>
                                <m:d>
                                  <m:dPr>
                                    <m:ctrlPr>
                                      <a:rPr lang="en-GB" sz="2000" b="1" i="1" dirty="0">
                                        <a:solidFill>
                                          <a:schemeClr val="bg1"/>
                                        </a:solidFill>
                                        <a:latin typeface="Cambria Math" panose="02040503050406030204" pitchFamily="18" charset="0"/>
                                      </a:rPr>
                                    </m:ctrlPr>
                                  </m:dPr>
                                  <m:e>
                                    <m:sSub>
                                      <m:sSubPr>
                                        <m:ctrlPr>
                                          <a:rPr lang="en-GB" sz="2000" b="1" i="1" dirty="0">
                                            <a:solidFill>
                                              <a:schemeClr val="bg1"/>
                                            </a:solidFill>
                                            <a:latin typeface="Cambria Math" panose="02040503050406030204" pitchFamily="18" charset="0"/>
                                          </a:rPr>
                                        </m:ctrlPr>
                                      </m:sSubPr>
                                      <m:e>
                                        <m:acc>
                                          <m:accPr>
                                            <m:chr m:val="̅"/>
                                            <m:ctrlPr>
                                              <a:rPr lang="en-GB" sz="2000" b="1" i="1" dirty="0">
                                                <a:solidFill>
                                                  <a:schemeClr val="bg1"/>
                                                </a:solidFill>
                                                <a:latin typeface="Cambria Math" panose="02040503050406030204" pitchFamily="18" charset="0"/>
                                              </a:rPr>
                                            </m:ctrlPr>
                                          </m:accPr>
                                          <m:e>
                                            <m:r>
                                              <a:rPr lang="en-GB" sz="2000" b="1" i="1" dirty="0">
                                                <a:solidFill>
                                                  <a:schemeClr val="bg1"/>
                                                </a:solidFill>
                                                <a:latin typeface="Cambria Math"/>
                                              </a:rPr>
                                              <m:t>𝑿</m:t>
                                            </m:r>
                                          </m:e>
                                        </m:acc>
                                      </m:e>
                                      <m:sub>
                                        <m:r>
                                          <a:rPr lang="en-GB" sz="2000" b="1" i="1" dirty="0">
                                            <a:solidFill>
                                              <a:schemeClr val="bg1"/>
                                            </a:solidFill>
                                            <a:latin typeface="Cambria Math"/>
                                          </a:rPr>
                                          <m:t>𝒋</m:t>
                                        </m:r>
                                      </m:sub>
                                    </m:sSub>
                                    <m:r>
                                      <a:rPr lang="en-GB" sz="2000" b="1" i="1" dirty="0">
                                        <a:solidFill>
                                          <a:schemeClr val="bg1"/>
                                        </a:solidFill>
                                        <a:latin typeface="Cambria Math"/>
                                      </a:rPr>
                                      <m:t>−</m:t>
                                    </m:r>
                                    <m:acc>
                                      <m:accPr>
                                        <m:chr m:val="̿"/>
                                        <m:ctrlPr>
                                          <a:rPr lang="en-GB" sz="2000" b="1" i="1" dirty="0">
                                            <a:solidFill>
                                              <a:schemeClr val="bg1"/>
                                            </a:solidFill>
                                            <a:latin typeface="Cambria Math" panose="02040503050406030204" pitchFamily="18" charset="0"/>
                                          </a:rPr>
                                        </m:ctrlPr>
                                      </m:accPr>
                                      <m:e>
                                        <m:r>
                                          <a:rPr lang="en-GB" sz="2000" b="1" i="1" dirty="0">
                                            <a:solidFill>
                                              <a:schemeClr val="bg1"/>
                                            </a:solidFill>
                                            <a:latin typeface="Cambria Math"/>
                                          </a:rPr>
                                          <m:t>𝑿</m:t>
                                        </m:r>
                                      </m:e>
                                    </m:acc>
                                  </m:e>
                                </m:d>
                              </m:e>
                              <m:sup>
                                <m:r>
                                  <a:rPr lang="en-GB" sz="2000" b="1" i="1" dirty="0" smtClean="0">
                                    <a:solidFill>
                                      <a:schemeClr val="bg1"/>
                                    </a:solidFill>
                                    <a:latin typeface="Cambria Math"/>
                                  </a:rPr>
                                  <m:t>𝟐</m:t>
                                </m:r>
                              </m:sup>
                            </m:sSup>
                          </m:e>
                        </m:nary>
                      </m:oMath>
                    </m:oMathPara>
                  </a14:m>
                  <a:endParaRPr lang="en-GB" sz="2000" b="1" dirty="0">
                    <a:solidFill>
                      <a:schemeClr val="bg1"/>
                    </a:solidFill>
                  </a:endParaRPr>
                </a:p>
              </p:txBody>
            </p:sp>
          </mc:Choice>
          <mc:Fallback xmlns="">
            <p:sp>
              <p:nvSpPr>
                <p:cNvPr id="53" name="Rectangular Callout 52"/>
                <p:cNvSpPr>
                  <a:spLocks noRot="1" noChangeAspect="1" noMove="1" noResize="1" noEditPoints="1" noAdjustHandles="1" noChangeArrowheads="1" noChangeShapeType="1" noTextEdit="1"/>
                </p:cNvSpPr>
                <p:nvPr/>
              </p:nvSpPr>
              <p:spPr>
                <a:xfrm>
                  <a:off x="1238205" y="990600"/>
                  <a:ext cx="2013099" cy="914400"/>
                </a:xfrm>
                <a:prstGeom prst="wedgeRectCallout">
                  <a:avLst>
                    <a:gd name="adj1" fmla="val 56511"/>
                    <a:gd name="adj2" fmla="val 157849"/>
                  </a:avLst>
                </a:prstGeom>
                <a:blipFill rotWithShape="1">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4" name="Rectangular Callout 53"/>
                <p:cNvSpPr/>
                <p:nvPr/>
              </p:nvSpPr>
              <p:spPr>
                <a:xfrm>
                  <a:off x="1219200" y="990600"/>
                  <a:ext cx="2013099" cy="914400"/>
                </a:xfrm>
                <a:prstGeom prst="wedgeRectCallout">
                  <a:avLst>
                    <a:gd name="adj1" fmla="val 102462"/>
                    <a:gd name="adj2" fmla="val 164826"/>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en-GB" sz="2000" b="1" i="1" dirty="0" smtClean="0">
                                <a:solidFill>
                                  <a:schemeClr val="bg1"/>
                                </a:solidFill>
                                <a:latin typeface="Cambria Math" panose="02040503050406030204" pitchFamily="18" charset="0"/>
                              </a:rPr>
                            </m:ctrlPr>
                          </m:naryPr>
                          <m:sub/>
                          <m:sup/>
                          <m:e>
                            <m:sSub>
                              <m:sSubPr>
                                <m:ctrlPr>
                                  <a:rPr lang="en-GB" sz="2000" b="1" i="1" dirty="0" smtClean="0">
                                    <a:solidFill>
                                      <a:schemeClr val="bg1"/>
                                    </a:solidFill>
                                    <a:latin typeface="Cambria Math" panose="02040503050406030204" pitchFamily="18" charset="0"/>
                                  </a:rPr>
                                </m:ctrlPr>
                              </m:sSubPr>
                              <m:e>
                                <m:r>
                                  <a:rPr lang="en-GB" sz="2000" b="1" i="1" dirty="0" smtClean="0">
                                    <a:solidFill>
                                      <a:schemeClr val="bg1"/>
                                    </a:solidFill>
                                    <a:latin typeface="Cambria Math"/>
                                  </a:rPr>
                                  <m:t>𝒏</m:t>
                                </m:r>
                              </m:e>
                              <m:sub>
                                <m:r>
                                  <a:rPr lang="en-GB" sz="2000" b="1" i="1" dirty="0" smtClean="0">
                                    <a:solidFill>
                                      <a:schemeClr val="bg1"/>
                                    </a:solidFill>
                                    <a:latin typeface="Cambria Math"/>
                                  </a:rPr>
                                  <m:t>𝒋</m:t>
                                </m:r>
                              </m:sub>
                            </m:sSub>
                            <m:sSup>
                              <m:sSupPr>
                                <m:ctrlPr>
                                  <a:rPr lang="en-GB" sz="2000" b="1" i="1" dirty="0" smtClean="0">
                                    <a:solidFill>
                                      <a:schemeClr val="bg1"/>
                                    </a:solidFill>
                                    <a:latin typeface="Cambria Math" panose="02040503050406030204" pitchFamily="18" charset="0"/>
                                  </a:rPr>
                                </m:ctrlPr>
                              </m:sSupPr>
                              <m:e>
                                <m:d>
                                  <m:dPr>
                                    <m:ctrlPr>
                                      <a:rPr lang="en-GB" sz="2000" b="1" i="1" dirty="0">
                                        <a:solidFill>
                                          <a:schemeClr val="bg1"/>
                                        </a:solidFill>
                                        <a:latin typeface="Cambria Math" panose="02040503050406030204" pitchFamily="18" charset="0"/>
                                      </a:rPr>
                                    </m:ctrlPr>
                                  </m:dPr>
                                  <m:e>
                                    <m:sSub>
                                      <m:sSubPr>
                                        <m:ctrlPr>
                                          <a:rPr lang="en-GB" sz="2000" b="1" i="1" dirty="0">
                                            <a:solidFill>
                                              <a:schemeClr val="bg1"/>
                                            </a:solidFill>
                                            <a:latin typeface="Cambria Math" panose="02040503050406030204" pitchFamily="18" charset="0"/>
                                          </a:rPr>
                                        </m:ctrlPr>
                                      </m:sSubPr>
                                      <m:e>
                                        <m:acc>
                                          <m:accPr>
                                            <m:chr m:val="̅"/>
                                            <m:ctrlPr>
                                              <a:rPr lang="en-GB" sz="2000" b="1" i="1" dirty="0">
                                                <a:solidFill>
                                                  <a:schemeClr val="bg1"/>
                                                </a:solidFill>
                                                <a:latin typeface="Cambria Math" panose="02040503050406030204" pitchFamily="18" charset="0"/>
                                              </a:rPr>
                                            </m:ctrlPr>
                                          </m:accPr>
                                          <m:e>
                                            <m:r>
                                              <a:rPr lang="en-GB" sz="2000" b="1" i="1" dirty="0">
                                                <a:solidFill>
                                                  <a:schemeClr val="bg1"/>
                                                </a:solidFill>
                                                <a:latin typeface="Cambria Math"/>
                                              </a:rPr>
                                              <m:t>𝑿</m:t>
                                            </m:r>
                                          </m:e>
                                        </m:acc>
                                      </m:e>
                                      <m:sub>
                                        <m:r>
                                          <a:rPr lang="en-GB" sz="2000" b="1" i="1" dirty="0">
                                            <a:solidFill>
                                              <a:schemeClr val="bg1"/>
                                            </a:solidFill>
                                            <a:latin typeface="Cambria Math"/>
                                          </a:rPr>
                                          <m:t>𝒋</m:t>
                                        </m:r>
                                      </m:sub>
                                    </m:sSub>
                                    <m:r>
                                      <a:rPr lang="en-GB" sz="2000" b="1" i="1" dirty="0">
                                        <a:solidFill>
                                          <a:schemeClr val="bg1"/>
                                        </a:solidFill>
                                        <a:latin typeface="Cambria Math"/>
                                      </a:rPr>
                                      <m:t>−</m:t>
                                    </m:r>
                                    <m:acc>
                                      <m:accPr>
                                        <m:chr m:val="̿"/>
                                        <m:ctrlPr>
                                          <a:rPr lang="en-GB" sz="2000" b="1" i="1" dirty="0">
                                            <a:solidFill>
                                              <a:schemeClr val="bg1"/>
                                            </a:solidFill>
                                            <a:latin typeface="Cambria Math" panose="02040503050406030204" pitchFamily="18" charset="0"/>
                                          </a:rPr>
                                        </m:ctrlPr>
                                      </m:accPr>
                                      <m:e>
                                        <m:r>
                                          <a:rPr lang="en-GB" sz="2000" b="1" i="1" dirty="0">
                                            <a:solidFill>
                                              <a:schemeClr val="bg1"/>
                                            </a:solidFill>
                                            <a:latin typeface="Cambria Math"/>
                                          </a:rPr>
                                          <m:t>𝑿</m:t>
                                        </m:r>
                                      </m:e>
                                    </m:acc>
                                  </m:e>
                                </m:d>
                              </m:e>
                              <m:sup>
                                <m:r>
                                  <a:rPr lang="en-GB" sz="2000" b="1" i="1" dirty="0" smtClean="0">
                                    <a:solidFill>
                                      <a:schemeClr val="bg1"/>
                                    </a:solidFill>
                                    <a:latin typeface="Cambria Math"/>
                                  </a:rPr>
                                  <m:t>𝟐</m:t>
                                </m:r>
                              </m:sup>
                            </m:sSup>
                          </m:e>
                        </m:nary>
                      </m:oMath>
                    </m:oMathPara>
                  </a14:m>
                  <a:endParaRPr lang="en-GB" sz="2000" b="1" dirty="0">
                    <a:solidFill>
                      <a:schemeClr val="bg1"/>
                    </a:solidFill>
                  </a:endParaRPr>
                </a:p>
              </p:txBody>
            </p:sp>
          </mc:Choice>
          <mc:Fallback xmlns="">
            <p:sp>
              <p:nvSpPr>
                <p:cNvPr id="54" name="Rectangular Callout 53"/>
                <p:cNvSpPr>
                  <a:spLocks noRot="1" noChangeAspect="1" noMove="1" noResize="1" noEditPoints="1" noAdjustHandles="1" noChangeArrowheads="1" noChangeShapeType="1" noTextEdit="1"/>
                </p:cNvSpPr>
                <p:nvPr/>
              </p:nvSpPr>
              <p:spPr>
                <a:xfrm>
                  <a:off x="1219200" y="990600"/>
                  <a:ext cx="2013099" cy="914400"/>
                </a:xfrm>
                <a:prstGeom prst="wedgeRectCallout">
                  <a:avLst>
                    <a:gd name="adj1" fmla="val 102462"/>
                    <a:gd name="adj2" fmla="val 164826"/>
                  </a:avLst>
                </a:prstGeom>
                <a:blipFill rotWithShape="1">
                  <a:blip r:embed="rId8"/>
                  <a:stretch>
                    <a:fillRect/>
                  </a:stretch>
                </a:blipFill>
              </p:spPr>
              <p:txBody>
                <a:bodyPr/>
                <a:lstStyle/>
                <a:p>
                  <a:r>
                    <a:rPr lang="en-GB">
                      <a:noFill/>
                    </a:rPr>
                    <a:t> </a:t>
                  </a:r>
                </a:p>
              </p:txBody>
            </p:sp>
          </mc:Fallback>
        </mc:AlternateContent>
        <p:sp>
          <p:nvSpPr>
            <p:cNvPr id="55" name="Rectangular Callout 54"/>
            <p:cNvSpPr/>
            <p:nvPr/>
          </p:nvSpPr>
          <p:spPr>
            <a:xfrm>
              <a:off x="1219200" y="990600"/>
              <a:ext cx="2013099" cy="914400"/>
            </a:xfrm>
            <a:prstGeom prst="wedgeRectCallout">
              <a:avLst>
                <a:gd name="adj1" fmla="val 108800"/>
                <a:gd name="adj2" fmla="val 143896"/>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t>SUM OF SQUARES BETWEEN</a:t>
              </a:r>
              <a:endParaRPr lang="en-GB" b="1" dirty="0">
                <a:solidFill>
                  <a:schemeClr val="bg1"/>
                </a:solidFill>
              </a:endParaRPr>
            </a:p>
          </p:txBody>
        </p:sp>
        <p:sp>
          <p:nvSpPr>
            <p:cNvPr id="56" name="Rectangle 55"/>
            <p:cNvSpPr/>
            <p:nvPr/>
          </p:nvSpPr>
          <p:spPr>
            <a:xfrm>
              <a:off x="1253975" y="1784498"/>
              <a:ext cx="803425" cy="584775"/>
            </a:xfrm>
            <a:prstGeom prst="rect">
              <a:avLst/>
            </a:prstGeom>
          </p:spPr>
          <p:txBody>
            <a:bodyPr wrap="none">
              <a:spAutoFit/>
            </a:bodyPr>
            <a:lstStyle/>
            <a:p>
              <a:r>
                <a:rPr lang="en-GB" altLang="en-US" sz="3200" b="1" dirty="0"/>
                <a:t>SSB</a:t>
              </a:r>
              <a:endParaRPr lang="en-GB" sz="3200" b="1" dirty="0"/>
            </a:p>
          </p:txBody>
        </p:sp>
      </p:grpSp>
    </p:spTree>
    <p:extLst>
      <p:ext uri="{BB962C8B-B14F-4D97-AF65-F5344CB8AC3E}">
        <p14:creationId xmlns:p14="http://schemas.microsoft.com/office/powerpoint/2010/main" val="3604464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fade">
                                      <p:cBhvr>
                                        <p:cTn id="17" dur="500"/>
                                        <p:tgtEl>
                                          <p:spTgt spid="4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2"/>
                                        </p:tgtEl>
                                        <p:attrNameLst>
                                          <p:attrName>style.visibility</p:attrName>
                                        </p:attrNameLst>
                                      </p:cBhvr>
                                      <p:to>
                                        <p:strVal val="visible"/>
                                      </p:to>
                                    </p:set>
                                    <p:animEffect transition="in" filter="fade">
                                      <p:cBhvr>
                                        <p:cTn id="22" dur="500"/>
                                        <p:tgtEl>
                                          <p:spTgt spid="4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6"/>
                                        </p:tgtEl>
                                        <p:attrNameLst>
                                          <p:attrName>style.visibility</p:attrName>
                                        </p:attrNameLst>
                                      </p:cBhvr>
                                      <p:to>
                                        <p:strVal val="visible"/>
                                      </p:to>
                                    </p:set>
                                    <p:animEffect transition="in" filter="fade">
                                      <p:cBhvr>
                                        <p:cTn id="27" dur="500"/>
                                        <p:tgtEl>
                                          <p:spTgt spid="4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2"/>
                                        </p:tgtEl>
                                        <p:attrNameLst>
                                          <p:attrName>style.visibility</p:attrName>
                                        </p:attrNameLst>
                                      </p:cBhvr>
                                      <p:to>
                                        <p:strVal val="visible"/>
                                      </p:to>
                                    </p:set>
                                    <p:animEffect transition="in" filter="fade">
                                      <p:cBhvr>
                                        <p:cTn id="32"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altLang="en-US" dirty="0"/>
              <a:t>One-way ANOVA</a:t>
            </a:r>
            <a:endParaRPr lang="en-GB" dirty="0"/>
          </a:p>
        </p:txBody>
      </p:sp>
      <p:grpSp>
        <p:nvGrpSpPr>
          <p:cNvPr id="2" name="Group 1"/>
          <p:cNvGrpSpPr/>
          <p:nvPr/>
        </p:nvGrpSpPr>
        <p:grpSpPr>
          <a:xfrm>
            <a:off x="381000" y="2633877"/>
            <a:ext cx="7772400" cy="2014323"/>
            <a:chOff x="685800" y="1591336"/>
            <a:chExt cx="7772400" cy="1211263"/>
          </a:xfrm>
        </p:grpSpPr>
        <p:sp>
          <p:nvSpPr>
            <p:cNvPr id="6" name="Freeform 2"/>
            <p:cNvSpPr>
              <a:spLocks/>
            </p:cNvSpPr>
            <p:nvPr/>
          </p:nvSpPr>
          <p:spPr bwMode="auto">
            <a:xfrm>
              <a:off x="1676400" y="1905000"/>
              <a:ext cx="1828800" cy="833438"/>
            </a:xfrm>
            <a:custGeom>
              <a:avLst/>
              <a:gdLst>
                <a:gd name="T0" fmla="*/ 24 w 2586"/>
                <a:gd name="T1" fmla="*/ 1168 h 1178"/>
                <a:gd name="T2" fmla="*/ 79 w 2586"/>
                <a:gd name="T3" fmla="*/ 1144 h 1178"/>
                <a:gd name="T4" fmla="*/ 152 w 2586"/>
                <a:gd name="T5" fmla="*/ 1108 h 1178"/>
                <a:gd name="T6" fmla="*/ 234 w 2586"/>
                <a:gd name="T7" fmla="*/ 1065 h 1178"/>
                <a:gd name="T8" fmla="*/ 319 w 2586"/>
                <a:gd name="T9" fmla="*/ 1020 h 1178"/>
                <a:gd name="T10" fmla="*/ 398 w 2586"/>
                <a:gd name="T11" fmla="*/ 976 h 1178"/>
                <a:gd name="T12" fmla="*/ 462 w 2586"/>
                <a:gd name="T13" fmla="*/ 938 h 1178"/>
                <a:gd name="T14" fmla="*/ 504 w 2586"/>
                <a:gd name="T15" fmla="*/ 910 h 1178"/>
                <a:gd name="T16" fmla="*/ 539 w 2586"/>
                <a:gd name="T17" fmla="*/ 877 h 1178"/>
                <a:gd name="T18" fmla="*/ 576 w 2586"/>
                <a:gd name="T19" fmla="*/ 836 h 1178"/>
                <a:gd name="T20" fmla="*/ 613 w 2586"/>
                <a:gd name="T21" fmla="*/ 791 h 1178"/>
                <a:gd name="T22" fmla="*/ 647 w 2586"/>
                <a:gd name="T23" fmla="*/ 742 h 1178"/>
                <a:gd name="T24" fmla="*/ 699 w 2586"/>
                <a:gd name="T25" fmla="*/ 655 h 1178"/>
                <a:gd name="T26" fmla="*/ 754 w 2586"/>
                <a:gd name="T27" fmla="*/ 556 h 1178"/>
                <a:gd name="T28" fmla="*/ 807 w 2586"/>
                <a:gd name="T29" fmla="*/ 456 h 1178"/>
                <a:gd name="T30" fmla="*/ 861 w 2586"/>
                <a:gd name="T31" fmla="*/ 355 h 1178"/>
                <a:gd name="T32" fmla="*/ 898 w 2586"/>
                <a:gd name="T33" fmla="*/ 287 h 1178"/>
                <a:gd name="T34" fmla="*/ 932 w 2586"/>
                <a:gd name="T35" fmla="*/ 231 h 1178"/>
                <a:gd name="T36" fmla="*/ 973 w 2586"/>
                <a:gd name="T37" fmla="*/ 176 h 1178"/>
                <a:gd name="T38" fmla="*/ 1018 w 2586"/>
                <a:gd name="T39" fmla="*/ 124 h 1178"/>
                <a:gd name="T40" fmla="*/ 1067 w 2586"/>
                <a:gd name="T41" fmla="*/ 78 h 1178"/>
                <a:gd name="T42" fmla="*/ 1119 w 2586"/>
                <a:gd name="T43" fmla="*/ 41 h 1178"/>
                <a:gd name="T44" fmla="*/ 1174 w 2586"/>
                <a:gd name="T45" fmla="*/ 14 h 1178"/>
                <a:gd name="T46" fmla="*/ 1231 w 2586"/>
                <a:gd name="T47" fmla="*/ 1 h 1178"/>
                <a:gd name="T48" fmla="*/ 1288 w 2586"/>
                <a:gd name="T49" fmla="*/ 2 h 1178"/>
                <a:gd name="T50" fmla="*/ 1341 w 2586"/>
                <a:gd name="T51" fmla="*/ 11 h 1178"/>
                <a:gd name="T52" fmla="*/ 1390 w 2586"/>
                <a:gd name="T53" fmla="*/ 29 h 1178"/>
                <a:gd name="T54" fmla="*/ 1437 w 2586"/>
                <a:gd name="T55" fmla="*/ 57 h 1178"/>
                <a:gd name="T56" fmla="*/ 1483 w 2586"/>
                <a:gd name="T57" fmla="*/ 96 h 1178"/>
                <a:gd name="T58" fmla="*/ 1530 w 2586"/>
                <a:gd name="T59" fmla="*/ 145 h 1178"/>
                <a:gd name="T60" fmla="*/ 1578 w 2586"/>
                <a:gd name="T61" fmla="*/ 204 h 1178"/>
                <a:gd name="T62" fmla="*/ 1630 w 2586"/>
                <a:gd name="T63" fmla="*/ 275 h 1178"/>
                <a:gd name="T64" fmla="*/ 1693 w 2586"/>
                <a:gd name="T65" fmla="*/ 379 h 1178"/>
                <a:gd name="T66" fmla="*/ 1746 w 2586"/>
                <a:gd name="T67" fmla="*/ 498 h 1178"/>
                <a:gd name="T68" fmla="*/ 1797 w 2586"/>
                <a:gd name="T69" fmla="*/ 622 h 1178"/>
                <a:gd name="T70" fmla="*/ 1853 w 2586"/>
                <a:gd name="T71" fmla="*/ 741 h 1178"/>
                <a:gd name="T72" fmla="*/ 1885 w 2586"/>
                <a:gd name="T73" fmla="*/ 791 h 1178"/>
                <a:gd name="T74" fmla="*/ 1913 w 2586"/>
                <a:gd name="T75" fmla="*/ 823 h 1178"/>
                <a:gd name="T76" fmla="*/ 1949 w 2586"/>
                <a:gd name="T77" fmla="*/ 860 h 1178"/>
                <a:gd name="T78" fmla="*/ 1989 w 2586"/>
                <a:gd name="T79" fmla="*/ 896 h 1178"/>
                <a:gd name="T80" fmla="*/ 2033 w 2586"/>
                <a:gd name="T81" fmla="*/ 932 h 1178"/>
                <a:gd name="T82" fmla="*/ 2078 w 2586"/>
                <a:gd name="T83" fmla="*/ 967 h 1178"/>
                <a:gd name="T84" fmla="*/ 2123 w 2586"/>
                <a:gd name="T85" fmla="*/ 998 h 1178"/>
                <a:gd name="T86" fmla="*/ 2164 w 2586"/>
                <a:gd name="T87" fmla="*/ 1024 h 1178"/>
                <a:gd name="T88" fmla="*/ 2209 w 2586"/>
                <a:gd name="T89" fmla="*/ 1048 h 1178"/>
                <a:gd name="T90" fmla="*/ 2262 w 2586"/>
                <a:gd name="T91" fmla="*/ 1073 h 1178"/>
                <a:gd name="T92" fmla="*/ 2318 w 2586"/>
                <a:gd name="T93" fmla="*/ 1098 h 1178"/>
                <a:gd name="T94" fmla="*/ 2377 w 2586"/>
                <a:gd name="T95" fmla="*/ 1122 h 1178"/>
                <a:gd name="T96" fmla="*/ 2435 w 2586"/>
                <a:gd name="T97" fmla="*/ 1142 h 1178"/>
                <a:gd name="T98" fmla="*/ 2489 w 2586"/>
                <a:gd name="T99" fmla="*/ 1159 h 1178"/>
                <a:gd name="T100" fmla="*/ 2537 w 2586"/>
                <a:gd name="T101" fmla="*/ 1171 h 1178"/>
                <a:gd name="T102" fmla="*/ 2577 w 2586"/>
                <a:gd name="T103" fmla="*/ 1176 h 1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86" h="1178">
                  <a:moveTo>
                    <a:pt x="0" y="1177"/>
                  </a:moveTo>
                  <a:lnTo>
                    <a:pt x="6" y="1175"/>
                  </a:lnTo>
                  <a:lnTo>
                    <a:pt x="14" y="1172"/>
                  </a:lnTo>
                  <a:lnTo>
                    <a:pt x="24" y="1168"/>
                  </a:lnTo>
                  <a:lnTo>
                    <a:pt x="36" y="1164"/>
                  </a:lnTo>
                  <a:lnTo>
                    <a:pt x="48" y="1158"/>
                  </a:lnTo>
                  <a:lnTo>
                    <a:pt x="63" y="1151"/>
                  </a:lnTo>
                  <a:lnTo>
                    <a:pt x="79" y="1144"/>
                  </a:lnTo>
                  <a:lnTo>
                    <a:pt x="96" y="1136"/>
                  </a:lnTo>
                  <a:lnTo>
                    <a:pt x="114" y="1127"/>
                  </a:lnTo>
                  <a:lnTo>
                    <a:pt x="132" y="1117"/>
                  </a:lnTo>
                  <a:lnTo>
                    <a:pt x="152" y="1108"/>
                  </a:lnTo>
                  <a:lnTo>
                    <a:pt x="171" y="1098"/>
                  </a:lnTo>
                  <a:lnTo>
                    <a:pt x="193" y="1087"/>
                  </a:lnTo>
                  <a:lnTo>
                    <a:pt x="213" y="1076"/>
                  </a:lnTo>
                  <a:lnTo>
                    <a:pt x="234" y="1065"/>
                  </a:lnTo>
                  <a:lnTo>
                    <a:pt x="256" y="1054"/>
                  </a:lnTo>
                  <a:lnTo>
                    <a:pt x="277" y="1042"/>
                  </a:lnTo>
                  <a:lnTo>
                    <a:pt x="298" y="1031"/>
                  </a:lnTo>
                  <a:lnTo>
                    <a:pt x="319" y="1020"/>
                  </a:lnTo>
                  <a:lnTo>
                    <a:pt x="340" y="1008"/>
                  </a:lnTo>
                  <a:lnTo>
                    <a:pt x="360" y="998"/>
                  </a:lnTo>
                  <a:lnTo>
                    <a:pt x="379" y="986"/>
                  </a:lnTo>
                  <a:lnTo>
                    <a:pt x="398" y="976"/>
                  </a:lnTo>
                  <a:lnTo>
                    <a:pt x="416" y="966"/>
                  </a:lnTo>
                  <a:lnTo>
                    <a:pt x="432" y="955"/>
                  </a:lnTo>
                  <a:lnTo>
                    <a:pt x="448" y="947"/>
                  </a:lnTo>
                  <a:lnTo>
                    <a:pt x="462" y="938"/>
                  </a:lnTo>
                  <a:lnTo>
                    <a:pt x="475" y="930"/>
                  </a:lnTo>
                  <a:lnTo>
                    <a:pt x="486" y="922"/>
                  </a:lnTo>
                  <a:lnTo>
                    <a:pt x="496" y="916"/>
                  </a:lnTo>
                  <a:lnTo>
                    <a:pt x="504" y="910"/>
                  </a:lnTo>
                  <a:lnTo>
                    <a:pt x="509" y="905"/>
                  </a:lnTo>
                  <a:lnTo>
                    <a:pt x="520" y="896"/>
                  </a:lnTo>
                  <a:lnTo>
                    <a:pt x="529" y="888"/>
                  </a:lnTo>
                  <a:lnTo>
                    <a:pt x="539" y="877"/>
                  </a:lnTo>
                  <a:lnTo>
                    <a:pt x="549" y="868"/>
                  </a:lnTo>
                  <a:lnTo>
                    <a:pt x="558" y="857"/>
                  </a:lnTo>
                  <a:lnTo>
                    <a:pt x="567" y="847"/>
                  </a:lnTo>
                  <a:lnTo>
                    <a:pt x="576" y="836"/>
                  </a:lnTo>
                  <a:lnTo>
                    <a:pt x="586" y="826"/>
                  </a:lnTo>
                  <a:lnTo>
                    <a:pt x="595" y="814"/>
                  </a:lnTo>
                  <a:lnTo>
                    <a:pt x="604" y="803"/>
                  </a:lnTo>
                  <a:lnTo>
                    <a:pt x="613" y="791"/>
                  </a:lnTo>
                  <a:lnTo>
                    <a:pt x="621" y="779"/>
                  </a:lnTo>
                  <a:lnTo>
                    <a:pt x="629" y="767"/>
                  </a:lnTo>
                  <a:lnTo>
                    <a:pt x="638" y="755"/>
                  </a:lnTo>
                  <a:lnTo>
                    <a:pt x="647" y="742"/>
                  </a:lnTo>
                  <a:lnTo>
                    <a:pt x="654" y="730"/>
                  </a:lnTo>
                  <a:lnTo>
                    <a:pt x="670" y="704"/>
                  </a:lnTo>
                  <a:lnTo>
                    <a:pt x="685" y="679"/>
                  </a:lnTo>
                  <a:lnTo>
                    <a:pt x="699" y="655"/>
                  </a:lnTo>
                  <a:lnTo>
                    <a:pt x="713" y="630"/>
                  </a:lnTo>
                  <a:lnTo>
                    <a:pt x="727" y="605"/>
                  </a:lnTo>
                  <a:lnTo>
                    <a:pt x="741" y="580"/>
                  </a:lnTo>
                  <a:lnTo>
                    <a:pt x="754" y="556"/>
                  </a:lnTo>
                  <a:lnTo>
                    <a:pt x="767" y="531"/>
                  </a:lnTo>
                  <a:lnTo>
                    <a:pt x="781" y="507"/>
                  </a:lnTo>
                  <a:lnTo>
                    <a:pt x="794" y="482"/>
                  </a:lnTo>
                  <a:lnTo>
                    <a:pt x="807" y="456"/>
                  </a:lnTo>
                  <a:lnTo>
                    <a:pt x="820" y="431"/>
                  </a:lnTo>
                  <a:lnTo>
                    <a:pt x="834" y="406"/>
                  </a:lnTo>
                  <a:lnTo>
                    <a:pt x="847" y="380"/>
                  </a:lnTo>
                  <a:lnTo>
                    <a:pt x="861" y="355"/>
                  </a:lnTo>
                  <a:lnTo>
                    <a:pt x="875" y="327"/>
                  </a:lnTo>
                  <a:lnTo>
                    <a:pt x="882" y="314"/>
                  </a:lnTo>
                  <a:lnTo>
                    <a:pt x="889" y="300"/>
                  </a:lnTo>
                  <a:lnTo>
                    <a:pt x="898" y="287"/>
                  </a:lnTo>
                  <a:lnTo>
                    <a:pt x="906" y="273"/>
                  </a:lnTo>
                  <a:lnTo>
                    <a:pt x="914" y="259"/>
                  </a:lnTo>
                  <a:lnTo>
                    <a:pt x="923" y="245"/>
                  </a:lnTo>
                  <a:lnTo>
                    <a:pt x="932" y="231"/>
                  </a:lnTo>
                  <a:lnTo>
                    <a:pt x="942" y="217"/>
                  </a:lnTo>
                  <a:lnTo>
                    <a:pt x="952" y="203"/>
                  </a:lnTo>
                  <a:lnTo>
                    <a:pt x="962" y="189"/>
                  </a:lnTo>
                  <a:lnTo>
                    <a:pt x="973" y="176"/>
                  </a:lnTo>
                  <a:lnTo>
                    <a:pt x="984" y="162"/>
                  </a:lnTo>
                  <a:lnTo>
                    <a:pt x="995" y="149"/>
                  </a:lnTo>
                  <a:lnTo>
                    <a:pt x="1006" y="136"/>
                  </a:lnTo>
                  <a:lnTo>
                    <a:pt x="1018" y="124"/>
                  </a:lnTo>
                  <a:lnTo>
                    <a:pt x="1030" y="112"/>
                  </a:lnTo>
                  <a:lnTo>
                    <a:pt x="1042" y="100"/>
                  </a:lnTo>
                  <a:lnTo>
                    <a:pt x="1054" y="89"/>
                  </a:lnTo>
                  <a:lnTo>
                    <a:pt x="1067" y="78"/>
                  </a:lnTo>
                  <a:lnTo>
                    <a:pt x="1079" y="68"/>
                  </a:lnTo>
                  <a:lnTo>
                    <a:pt x="1093" y="58"/>
                  </a:lnTo>
                  <a:lnTo>
                    <a:pt x="1105" y="49"/>
                  </a:lnTo>
                  <a:lnTo>
                    <a:pt x="1119" y="41"/>
                  </a:lnTo>
                  <a:lnTo>
                    <a:pt x="1132" y="33"/>
                  </a:lnTo>
                  <a:lnTo>
                    <a:pt x="1146" y="26"/>
                  </a:lnTo>
                  <a:lnTo>
                    <a:pt x="1160" y="20"/>
                  </a:lnTo>
                  <a:lnTo>
                    <a:pt x="1174" y="14"/>
                  </a:lnTo>
                  <a:lnTo>
                    <a:pt x="1188" y="10"/>
                  </a:lnTo>
                  <a:lnTo>
                    <a:pt x="1202" y="6"/>
                  </a:lnTo>
                  <a:lnTo>
                    <a:pt x="1217" y="2"/>
                  </a:lnTo>
                  <a:lnTo>
                    <a:pt x="1231" y="1"/>
                  </a:lnTo>
                  <a:lnTo>
                    <a:pt x="1246" y="0"/>
                  </a:lnTo>
                  <a:lnTo>
                    <a:pt x="1260" y="0"/>
                  </a:lnTo>
                  <a:lnTo>
                    <a:pt x="1274" y="1"/>
                  </a:lnTo>
                  <a:lnTo>
                    <a:pt x="1288" y="2"/>
                  </a:lnTo>
                  <a:lnTo>
                    <a:pt x="1302" y="2"/>
                  </a:lnTo>
                  <a:lnTo>
                    <a:pt x="1315" y="5"/>
                  </a:lnTo>
                  <a:lnTo>
                    <a:pt x="1328" y="7"/>
                  </a:lnTo>
                  <a:lnTo>
                    <a:pt x="1341" y="11"/>
                  </a:lnTo>
                  <a:lnTo>
                    <a:pt x="1353" y="14"/>
                  </a:lnTo>
                  <a:lnTo>
                    <a:pt x="1365" y="18"/>
                  </a:lnTo>
                  <a:lnTo>
                    <a:pt x="1378" y="24"/>
                  </a:lnTo>
                  <a:lnTo>
                    <a:pt x="1390" y="29"/>
                  </a:lnTo>
                  <a:lnTo>
                    <a:pt x="1401" y="36"/>
                  </a:lnTo>
                  <a:lnTo>
                    <a:pt x="1413" y="42"/>
                  </a:lnTo>
                  <a:lnTo>
                    <a:pt x="1425" y="50"/>
                  </a:lnTo>
                  <a:lnTo>
                    <a:pt x="1437" y="57"/>
                  </a:lnTo>
                  <a:lnTo>
                    <a:pt x="1449" y="66"/>
                  </a:lnTo>
                  <a:lnTo>
                    <a:pt x="1460" y="75"/>
                  </a:lnTo>
                  <a:lnTo>
                    <a:pt x="1472" y="85"/>
                  </a:lnTo>
                  <a:lnTo>
                    <a:pt x="1483" y="96"/>
                  </a:lnTo>
                  <a:lnTo>
                    <a:pt x="1495" y="107"/>
                  </a:lnTo>
                  <a:lnTo>
                    <a:pt x="1506" y="118"/>
                  </a:lnTo>
                  <a:lnTo>
                    <a:pt x="1518" y="131"/>
                  </a:lnTo>
                  <a:lnTo>
                    <a:pt x="1530" y="145"/>
                  </a:lnTo>
                  <a:lnTo>
                    <a:pt x="1542" y="158"/>
                  </a:lnTo>
                  <a:lnTo>
                    <a:pt x="1554" y="173"/>
                  </a:lnTo>
                  <a:lnTo>
                    <a:pt x="1566" y="188"/>
                  </a:lnTo>
                  <a:lnTo>
                    <a:pt x="1578" y="204"/>
                  </a:lnTo>
                  <a:lnTo>
                    <a:pt x="1591" y="221"/>
                  </a:lnTo>
                  <a:lnTo>
                    <a:pt x="1604" y="238"/>
                  </a:lnTo>
                  <a:lnTo>
                    <a:pt x="1617" y="256"/>
                  </a:lnTo>
                  <a:lnTo>
                    <a:pt x="1630" y="275"/>
                  </a:lnTo>
                  <a:lnTo>
                    <a:pt x="1644" y="295"/>
                  </a:lnTo>
                  <a:lnTo>
                    <a:pt x="1661" y="322"/>
                  </a:lnTo>
                  <a:lnTo>
                    <a:pt x="1678" y="350"/>
                  </a:lnTo>
                  <a:lnTo>
                    <a:pt x="1693" y="379"/>
                  </a:lnTo>
                  <a:lnTo>
                    <a:pt x="1707" y="407"/>
                  </a:lnTo>
                  <a:lnTo>
                    <a:pt x="1721" y="437"/>
                  </a:lnTo>
                  <a:lnTo>
                    <a:pt x="1734" y="468"/>
                  </a:lnTo>
                  <a:lnTo>
                    <a:pt x="1746" y="498"/>
                  </a:lnTo>
                  <a:lnTo>
                    <a:pt x="1760" y="529"/>
                  </a:lnTo>
                  <a:lnTo>
                    <a:pt x="1772" y="560"/>
                  </a:lnTo>
                  <a:lnTo>
                    <a:pt x="1784" y="590"/>
                  </a:lnTo>
                  <a:lnTo>
                    <a:pt x="1797" y="622"/>
                  </a:lnTo>
                  <a:lnTo>
                    <a:pt x="1810" y="651"/>
                  </a:lnTo>
                  <a:lnTo>
                    <a:pt x="1824" y="681"/>
                  </a:lnTo>
                  <a:lnTo>
                    <a:pt x="1838" y="711"/>
                  </a:lnTo>
                  <a:lnTo>
                    <a:pt x="1853" y="741"/>
                  </a:lnTo>
                  <a:lnTo>
                    <a:pt x="1869" y="769"/>
                  </a:lnTo>
                  <a:lnTo>
                    <a:pt x="1874" y="775"/>
                  </a:lnTo>
                  <a:lnTo>
                    <a:pt x="1878" y="783"/>
                  </a:lnTo>
                  <a:lnTo>
                    <a:pt x="1885" y="791"/>
                  </a:lnTo>
                  <a:lnTo>
                    <a:pt x="1890" y="798"/>
                  </a:lnTo>
                  <a:lnTo>
                    <a:pt x="1897" y="807"/>
                  </a:lnTo>
                  <a:lnTo>
                    <a:pt x="1905" y="815"/>
                  </a:lnTo>
                  <a:lnTo>
                    <a:pt x="1913" y="823"/>
                  </a:lnTo>
                  <a:lnTo>
                    <a:pt x="1921" y="832"/>
                  </a:lnTo>
                  <a:lnTo>
                    <a:pt x="1930" y="841"/>
                  </a:lnTo>
                  <a:lnTo>
                    <a:pt x="1938" y="851"/>
                  </a:lnTo>
                  <a:lnTo>
                    <a:pt x="1949" y="860"/>
                  </a:lnTo>
                  <a:lnTo>
                    <a:pt x="1958" y="869"/>
                  </a:lnTo>
                  <a:lnTo>
                    <a:pt x="1968" y="878"/>
                  </a:lnTo>
                  <a:lnTo>
                    <a:pt x="1979" y="887"/>
                  </a:lnTo>
                  <a:lnTo>
                    <a:pt x="1989" y="896"/>
                  </a:lnTo>
                  <a:lnTo>
                    <a:pt x="2000" y="905"/>
                  </a:lnTo>
                  <a:lnTo>
                    <a:pt x="2010" y="914"/>
                  </a:lnTo>
                  <a:lnTo>
                    <a:pt x="2022" y="924"/>
                  </a:lnTo>
                  <a:lnTo>
                    <a:pt x="2033" y="932"/>
                  </a:lnTo>
                  <a:lnTo>
                    <a:pt x="2044" y="941"/>
                  </a:lnTo>
                  <a:lnTo>
                    <a:pt x="2055" y="951"/>
                  </a:lnTo>
                  <a:lnTo>
                    <a:pt x="2067" y="959"/>
                  </a:lnTo>
                  <a:lnTo>
                    <a:pt x="2078" y="967"/>
                  </a:lnTo>
                  <a:lnTo>
                    <a:pt x="2089" y="975"/>
                  </a:lnTo>
                  <a:lnTo>
                    <a:pt x="2101" y="983"/>
                  </a:lnTo>
                  <a:lnTo>
                    <a:pt x="2111" y="991"/>
                  </a:lnTo>
                  <a:lnTo>
                    <a:pt x="2123" y="998"/>
                  </a:lnTo>
                  <a:lnTo>
                    <a:pt x="2133" y="1005"/>
                  </a:lnTo>
                  <a:lnTo>
                    <a:pt x="2144" y="1012"/>
                  </a:lnTo>
                  <a:lnTo>
                    <a:pt x="2154" y="1017"/>
                  </a:lnTo>
                  <a:lnTo>
                    <a:pt x="2164" y="1024"/>
                  </a:lnTo>
                  <a:lnTo>
                    <a:pt x="2174" y="1029"/>
                  </a:lnTo>
                  <a:lnTo>
                    <a:pt x="2185" y="1036"/>
                  </a:lnTo>
                  <a:lnTo>
                    <a:pt x="2197" y="1041"/>
                  </a:lnTo>
                  <a:lnTo>
                    <a:pt x="2209" y="1048"/>
                  </a:lnTo>
                  <a:lnTo>
                    <a:pt x="2222" y="1054"/>
                  </a:lnTo>
                  <a:lnTo>
                    <a:pt x="2234" y="1060"/>
                  </a:lnTo>
                  <a:lnTo>
                    <a:pt x="2249" y="1066"/>
                  </a:lnTo>
                  <a:lnTo>
                    <a:pt x="2262" y="1073"/>
                  </a:lnTo>
                  <a:lnTo>
                    <a:pt x="2275" y="1079"/>
                  </a:lnTo>
                  <a:lnTo>
                    <a:pt x="2290" y="1085"/>
                  </a:lnTo>
                  <a:lnTo>
                    <a:pt x="2305" y="1092"/>
                  </a:lnTo>
                  <a:lnTo>
                    <a:pt x="2318" y="1098"/>
                  </a:lnTo>
                  <a:lnTo>
                    <a:pt x="2333" y="1104"/>
                  </a:lnTo>
                  <a:lnTo>
                    <a:pt x="2348" y="1109"/>
                  </a:lnTo>
                  <a:lnTo>
                    <a:pt x="2362" y="1116"/>
                  </a:lnTo>
                  <a:lnTo>
                    <a:pt x="2377" y="1122"/>
                  </a:lnTo>
                  <a:lnTo>
                    <a:pt x="2392" y="1127"/>
                  </a:lnTo>
                  <a:lnTo>
                    <a:pt x="2407" y="1132"/>
                  </a:lnTo>
                  <a:lnTo>
                    <a:pt x="2421" y="1137"/>
                  </a:lnTo>
                  <a:lnTo>
                    <a:pt x="2435" y="1142"/>
                  </a:lnTo>
                  <a:lnTo>
                    <a:pt x="2448" y="1146"/>
                  </a:lnTo>
                  <a:lnTo>
                    <a:pt x="2463" y="1151"/>
                  </a:lnTo>
                  <a:lnTo>
                    <a:pt x="2476" y="1156"/>
                  </a:lnTo>
                  <a:lnTo>
                    <a:pt x="2489" y="1159"/>
                  </a:lnTo>
                  <a:lnTo>
                    <a:pt x="2502" y="1162"/>
                  </a:lnTo>
                  <a:lnTo>
                    <a:pt x="2514" y="1165"/>
                  </a:lnTo>
                  <a:lnTo>
                    <a:pt x="2526" y="1169"/>
                  </a:lnTo>
                  <a:lnTo>
                    <a:pt x="2537" y="1171"/>
                  </a:lnTo>
                  <a:lnTo>
                    <a:pt x="2548" y="1173"/>
                  </a:lnTo>
                  <a:lnTo>
                    <a:pt x="2558" y="1175"/>
                  </a:lnTo>
                  <a:lnTo>
                    <a:pt x="2568" y="1176"/>
                  </a:lnTo>
                  <a:lnTo>
                    <a:pt x="2577" y="1176"/>
                  </a:lnTo>
                  <a:lnTo>
                    <a:pt x="2585" y="1177"/>
                  </a:lnTo>
                </a:path>
              </a:pathLst>
            </a:custGeom>
            <a:noFill/>
            <a:ln w="50800" cap="rnd"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7" name="Freeform 3"/>
            <p:cNvSpPr>
              <a:spLocks/>
            </p:cNvSpPr>
            <p:nvPr/>
          </p:nvSpPr>
          <p:spPr bwMode="auto">
            <a:xfrm>
              <a:off x="685800" y="1591336"/>
              <a:ext cx="7772400" cy="1211263"/>
            </a:xfrm>
            <a:custGeom>
              <a:avLst/>
              <a:gdLst>
                <a:gd name="T0" fmla="*/ 0 w 4195"/>
                <a:gd name="T1" fmla="*/ 0 h 1819"/>
                <a:gd name="T2" fmla="*/ 0 w 4195"/>
                <a:gd name="T3" fmla="*/ 1818 h 1819"/>
                <a:gd name="T4" fmla="*/ 4194 w 4195"/>
                <a:gd name="T5" fmla="*/ 1818 h 1819"/>
              </a:gdLst>
              <a:ahLst/>
              <a:cxnLst>
                <a:cxn ang="0">
                  <a:pos x="T0" y="T1"/>
                </a:cxn>
                <a:cxn ang="0">
                  <a:pos x="T2" y="T3"/>
                </a:cxn>
                <a:cxn ang="0">
                  <a:pos x="T4" y="T5"/>
                </a:cxn>
              </a:cxnLst>
              <a:rect l="0" t="0" r="r" b="b"/>
              <a:pathLst>
                <a:path w="4195" h="1819">
                  <a:moveTo>
                    <a:pt x="0" y="0"/>
                  </a:moveTo>
                  <a:lnTo>
                    <a:pt x="0" y="1818"/>
                  </a:lnTo>
                  <a:lnTo>
                    <a:pt x="4194" y="1818"/>
                  </a:lnTo>
                </a:path>
              </a:pathLst>
            </a:custGeom>
            <a:noFill/>
            <a:ln w="508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8" name="Freeform 4"/>
            <p:cNvSpPr>
              <a:spLocks/>
            </p:cNvSpPr>
            <p:nvPr/>
          </p:nvSpPr>
          <p:spPr bwMode="auto">
            <a:xfrm>
              <a:off x="4038600" y="1905000"/>
              <a:ext cx="1828800" cy="833438"/>
            </a:xfrm>
            <a:custGeom>
              <a:avLst/>
              <a:gdLst>
                <a:gd name="T0" fmla="*/ 24 w 2586"/>
                <a:gd name="T1" fmla="*/ 1168 h 1178"/>
                <a:gd name="T2" fmla="*/ 79 w 2586"/>
                <a:gd name="T3" fmla="*/ 1144 h 1178"/>
                <a:gd name="T4" fmla="*/ 152 w 2586"/>
                <a:gd name="T5" fmla="*/ 1108 h 1178"/>
                <a:gd name="T6" fmla="*/ 234 w 2586"/>
                <a:gd name="T7" fmla="*/ 1065 h 1178"/>
                <a:gd name="T8" fmla="*/ 319 w 2586"/>
                <a:gd name="T9" fmla="*/ 1020 h 1178"/>
                <a:gd name="T10" fmla="*/ 398 w 2586"/>
                <a:gd name="T11" fmla="*/ 976 h 1178"/>
                <a:gd name="T12" fmla="*/ 462 w 2586"/>
                <a:gd name="T13" fmla="*/ 938 h 1178"/>
                <a:gd name="T14" fmla="*/ 504 w 2586"/>
                <a:gd name="T15" fmla="*/ 910 h 1178"/>
                <a:gd name="T16" fmla="*/ 539 w 2586"/>
                <a:gd name="T17" fmla="*/ 877 h 1178"/>
                <a:gd name="T18" fmla="*/ 576 w 2586"/>
                <a:gd name="T19" fmla="*/ 836 h 1178"/>
                <a:gd name="T20" fmla="*/ 613 w 2586"/>
                <a:gd name="T21" fmla="*/ 791 h 1178"/>
                <a:gd name="T22" fmla="*/ 647 w 2586"/>
                <a:gd name="T23" fmla="*/ 742 h 1178"/>
                <a:gd name="T24" fmla="*/ 699 w 2586"/>
                <a:gd name="T25" fmla="*/ 655 h 1178"/>
                <a:gd name="T26" fmla="*/ 754 w 2586"/>
                <a:gd name="T27" fmla="*/ 556 h 1178"/>
                <a:gd name="T28" fmla="*/ 807 w 2586"/>
                <a:gd name="T29" fmla="*/ 456 h 1178"/>
                <a:gd name="T30" fmla="*/ 861 w 2586"/>
                <a:gd name="T31" fmla="*/ 355 h 1178"/>
                <a:gd name="T32" fmla="*/ 898 w 2586"/>
                <a:gd name="T33" fmla="*/ 287 h 1178"/>
                <a:gd name="T34" fmla="*/ 932 w 2586"/>
                <a:gd name="T35" fmla="*/ 231 h 1178"/>
                <a:gd name="T36" fmla="*/ 973 w 2586"/>
                <a:gd name="T37" fmla="*/ 176 h 1178"/>
                <a:gd name="T38" fmla="*/ 1018 w 2586"/>
                <a:gd name="T39" fmla="*/ 124 h 1178"/>
                <a:gd name="T40" fmla="*/ 1067 w 2586"/>
                <a:gd name="T41" fmla="*/ 78 h 1178"/>
                <a:gd name="T42" fmla="*/ 1119 w 2586"/>
                <a:gd name="T43" fmla="*/ 41 h 1178"/>
                <a:gd name="T44" fmla="*/ 1174 w 2586"/>
                <a:gd name="T45" fmla="*/ 14 h 1178"/>
                <a:gd name="T46" fmla="*/ 1231 w 2586"/>
                <a:gd name="T47" fmla="*/ 1 h 1178"/>
                <a:gd name="T48" fmla="*/ 1288 w 2586"/>
                <a:gd name="T49" fmla="*/ 2 h 1178"/>
                <a:gd name="T50" fmla="*/ 1341 w 2586"/>
                <a:gd name="T51" fmla="*/ 11 h 1178"/>
                <a:gd name="T52" fmla="*/ 1390 w 2586"/>
                <a:gd name="T53" fmla="*/ 29 h 1178"/>
                <a:gd name="T54" fmla="*/ 1437 w 2586"/>
                <a:gd name="T55" fmla="*/ 57 h 1178"/>
                <a:gd name="T56" fmla="*/ 1483 w 2586"/>
                <a:gd name="T57" fmla="*/ 96 h 1178"/>
                <a:gd name="T58" fmla="*/ 1530 w 2586"/>
                <a:gd name="T59" fmla="*/ 145 h 1178"/>
                <a:gd name="T60" fmla="*/ 1578 w 2586"/>
                <a:gd name="T61" fmla="*/ 204 h 1178"/>
                <a:gd name="T62" fmla="*/ 1630 w 2586"/>
                <a:gd name="T63" fmla="*/ 275 h 1178"/>
                <a:gd name="T64" fmla="*/ 1693 w 2586"/>
                <a:gd name="T65" fmla="*/ 379 h 1178"/>
                <a:gd name="T66" fmla="*/ 1746 w 2586"/>
                <a:gd name="T67" fmla="*/ 498 h 1178"/>
                <a:gd name="T68" fmla="*/ 1797 w 2586"/>
                <a:gd name="T69" fmla="*/ 622 h 1178"/>
                <a:gd name="T70" fmla="*/ 1853 w 2586"/>
                <a:gd name="T71" fmla="*/ 741 h 1178"/>
                <a:gd name="T72" fmla="*/ 1885 w 2586"/>
                <a:gd name="T73" fmla="*/ 791 h 1178"/>
                <a:gd name="T74" fmla="*/ 1913 w 2586"/>
                <a:gd name="T75" fmla="*/ 823 h 1178"/>
                <a:gd name="T76" fmla="*/ 1949 w 2586"/>
                <a:gd name="T77" fmla="*/ 860 h 1178"/>
                <a:gd name="T78" fmla="*/ 1989 w 2586"/>
                <a:gd name="T79" fmla="*/ 896 h 1178"/>
                <a:gd name="T80" fmla="*/ 2033 w 2586"/>
                <a:gd name="T81" fmla="*/ 932 h 1178"/>
                <a:gd name="T82" fmla="*/ 2078 w 2586"/>
                <a:gd name="T83" fmla="*/ 967 h 1178"/>
                <a:gd name="T84" fmla="*/ 2123 w 2586"/>
                <a:gd name="T85" fmla="*/ 998 h 1178"/>
                <a:gd name="T86" fmla="*/ 2164 w 2586"/>
                <a:gd name="T87" fmla="*/ 1024 h 1178"/>
                <a:gd name="T88" fmla="*/ 2209 w 2586"/>
                <a:gd name="T89" fmla="*/ 1048 h 1178"/>
                <a:gd name="T90" fmla="*/ 2262 w 2586"/>
                <a:gd name="T91" fmla="*/ 1073 h 1178"/>
                <a:gd name="T92" fmla="*/ 2318 w 2586"/>
                <a:gd name="T93" fmla="*/ 1098 h 1178"/>
                <a:gd name="T94" fmla="*/ 2377 w 2586"/>
                <a:gd name="T95" fmla="*/ 1122 h 1178"/>
                <a:gd name="T96" fmla="*/ 2435 w 2586"/>
                <a:gd name="T97" fmla="*/ 1142 h 1178"/>
                <a:gd name="T98" fmla="*/ 2489 w 2586"/>
                <a:gd name="T99" fmla="*/ 1159 h 1178"/>
                <a:gd name="T100" fmla="*/ 2537 w 2586"/>
                <a:gd name="T101" fmla="*/ 1171 h 1178"/>
                <a:gd name="T102" fmla="*/ 2577 w 2586"/>
                <a:gd name="T103" fmla="*/ 1176 h 1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86" h="1178">
                  <a:moveTo>
                    <a:pt x="0" y="1177"/>
                  </a:moveTo>
                  <a:lnTo>
                    <a:pt x="6" y="1175"/>
                  </a:lnTo>
                  <a:lnTo>
                    <a:pt x="14" y="1172"/>
                  </a:lnTo>
                  <a:lnTo>
                    <a:pt x="24" y="1168"/>
                  </a:lnTo>
                  <a:lnTo>
                    <a:pt x="36" y="1164"/>
                  </a:lnTo>
                  <a:lnTo>
                    <a:pt x="48" y="1158"/>
                  </a:lnTo>
                  <a:lnTo>
                    <a:pt x="63" y="1151"/>
                  </a:lnTo>
                  <a:lnTo>
                    <a:pt x="79" y="1144"/>
                  </a:lnTo>
                  <a:lnTo>
                    <a:pt x="96" y="1136"/>
                  </a:lnTo>
                  <a:lnTo>
                    <a:pt x="114" y="1127"/>
                  </a:lnTo>
                  <a:lnTo>
                    <a:pt x="132" y="1117"/>
                  </a:lnTo>
                  <a:lnTo>
                    <a:pt x="152" y="1108"/>
                  </a:lnTo>
                  <a:lnTo>
                    <a:pt x="171" y="1098"/>
                  </a:lnTo>
                  <a:lnTo>
                    <a:pt x="193" y="1087"/>
                  </a:lnTo>
                  <a:lnTo>
                    <a:pt x="213" y="1076"/>
                  </a:lnTo>
                  <a:lnTo>
                    <a:pt x="234" y="1065"/>
                  </a:lnTo>
                  <a:lnTo>
                    <a:pt x="256" y="1054"/>
                  </a:lnTo>
                  <a:lnTo>
                    <a:pt x="277" y="1042"/>
                  </a:lnTo>
                  <a:lnTo>
                    <a:pt x="298" y="1031"/>
                  </a:lnTo>
                  <a:lnTo>
                    <a:pt x="319" y="1020"/>
                  </a:lnTo>
                  <a:lnTo>
                    <a:pt x="340" y="1008"/>
                  </a:lnTo>
                  <a:lnTo>
                    <a:pt x="360" y="998"/>
                  </a:lnTo>
                  <a:lnTo>
                    <a:pt x="379" y="986"/>
                  </a:lnTo>
                  <a:lnTo>
                    <a:pt x="398" y="976"/>
                  </a:lnTo>
                  <a:lnTo>
                    <a:pt x="416" y="966"/>
                  </a:lnTo>
                  <a:lnTo>
                    <a:pt x="432" y="955"/>
                  </a:lnTo>
                  <a:lnTo>
                    <a:pt x="448" y="947"/>
                  </a:lnTo>
                  <a:lnTo>
                    <a:pt x="462" y="938"/>
                  </a:lnTo>
                  <a:lnTo>
                    <a:pt x="475" y="930"/>
                  </a:lnTo>
                  <a:lnTo>
                    <a:pt x="486" y="922"/>
                  </a:lnTo>
                  <a:lnTo>
                    <a:pt x="496" y="916"/>
                  </a:lnTo>
                  <a:lnTo>
                    <a:pt x="504" y="910"/>
                  </a:lnTo>
                  <a:lnTo>
                    <a:pt x="509" y="905"/>
                  </a:lnTo>
                  <a:lnTo>
                    <a:pt x="520" y="896"/>
                  </a:lnTo>
                  <a:lnTo>
                    <a:pt x="529" y="888"/>
                  </a:lnTo>
                  <a:lnTo>
                    <a:pt x="539" y="877"/>
                  </a:lnTo>
                  <a:lnTo>
                    <a:pt x="549" y="868"/>
                  </a:lnTo>
                  <a:lnTo>
                    <a:pt x="558" y="857"/>
                  </a:lnTo>
                  <a:lnTo>
                    <a:pt x="567" y="847"/>
                  </a:lnTo>
                  <a:lnTo>
                    <a:pt x="576" y="836"/>
                  </a:lnTo>
                  <a:lnTo>
                    <a:pt x="586" y="826"/>
                  </a:lnTo>
                  <a:lnTo>
                    <a:pt x="595" y="814"/>
                  </a:lnTo>
                  <a:lnTo>
                    <a:pt x="604" y="803"/>
                  </a:lnTo>
                  <a:lnTo>
                    <a:pt x="613" y="791"/>
                  </a:lnTo>
                  <a:lnTo>
                    <a:pt x="621" y="779"/>
                  </a:lnTo>
                  <a:lnTo>
                    <a:pt x="629" y="767"/>
                  </a:lnTo>
                  <a:lnTo>
                    <a:pt x="638" y="755"/>
                  </a:lnTo>
                  <a:lnTo>
                    <a:pt x="647" y="742"/>
                  </a:lnTo>
                  <a:lnTo>
                    <a:pt x="654" y="730"/>
                  </a:lnTo>
                  <a:lnTo>
                    <a:pt x="670" y="704"/>
                  </a:lnTo>
                  <a:lnTo>
                    <a:pt x="685" y="679"/>
                  </a:lnTo>
                  <a:lnTo>
                    <a:pt x="699" y="655"/>
                  </a:lnTo>
                  <a:lnTo>
                    <a:pt x="713" y="630"/>
                  </a:lnTo>
                  <a:lnTo>
                    <a:pt x="727" y="605"/>
                  </a:lnTo>
                  <a:lnTo>
                    <a:pt x="741" y="580"/>
                  </a:lnTo>
                  <a:lnTo>
                    <a:pt x="754" y="556"/>
                  </a:lnTo>
                  <a:lnTo>
                    <a:pt x="767" y="531"/>
                  </a:lnTo>
                  <a:lnTo>
                    <a:pt x="781" y="507"/>
                  </a:lnTo>
                  <a:lnTo>
                    <a:pt x="794" y="482"/>
                  </a:lnTo>
                  <a:lnTo>
                    <a:pt x="807" y="456"/>
                  </a:lnTo>
                  <a:lnTo>
                    <a:pt x="820" y="431"/>
                  </a:lnTo>
                  <a:lnTo>
                    <a:pt x="834" y="406"/>
                  </a:lnTo>
                  <a:lnTo>
                    <a:pt x="847" y="380"/>
                  </a:lnTo>
                  <a:lnTo>
                    <a:pt x="861" y="355"/>
                  </a:lnTo>
                  <a:lnTo>
                    <a:pt x="875" y="327"/>
                  </a:lnTo>
                  <a:lnTo>
                    <a:pt x="882" y="314"/>
                  </a:lnTo>
                  <a:lnTo>
                    <a:pt x="889" y="300"/>
                  </a:lnTo>
                  <a:lnTo>
                    <a:pt x="898" y="287"/>
                  </a:lnTo>
                  <a:lnTo>
                    <a:pt x="906" y="273"/>
                  </a:lnTo>
                  <a:lnTo>
                    <a:pt x="914" y="259"/>
                  </a:lnTo>
                  <a:lnTo>
                    <a:pt x="923" y="245"/>
                  </a:lnTo>
                  <a:lnTo>
                    <a:pt x="932" y="231"/>
                  </a:lnTo>
                  <a:lnTo>
                    <a:pt x="942" y="217"/>
                  </a:lnTo>
                  <a:lnTo>
                    <a:pt x="952" y="203"/>
                  </a:lnTo>
                  <a:lnTo>
                    <a:pt x="962" y="189"/>
                  </a:lnTo>
                  <a:lnTo>
                    <a:pt x="973" y="176"/>
                  </a:lnTo>
                  <a:lnTo>
                    <a:pt x="984" y="162"/>
                  </a:lnTo>
                  <a:lnTo>
                    <a:pt x="995" y="149"/>
                  </a:lnTo>
                  <a:lnTo>
                    <a:pt x="1006" y="136"/>
                  </a:lnTo>
                  <a:lnTo>
                    <a:pt x="1018" y="124"/>
                  </a:lnTo>
                  <a:lnTo>
                    <a:pt x="1030" y="112"/>
                  </a:lnTo>
                  <a:lnTo>
                    <a:pt x="1042" y="100"/>
                  </a:lnTo>
                  <a:lnTo>
                    <a:pt x="1054" y="89"/>
                  </a:lnTo>
                  <a:lnTo>
                    <a:pt x="1067" y="78"/>
                  </a:lnTo>
                  <a:lnTo>
                    <a:pt x="1079" y="68"/>
                  </a:lnTo>
                  <a:lnTo>
                    <a:pt x="1093" y="58"/>
                  </a:lnTo>
                  <a:lnTo>
                    <a:pt x="1105" y="49"/>
                  </a:lnTo>
                  <a:lnTo>
                    <a:pt x="1119" y="41"/>
                  </a:lnTo>
                  <a:lnTo>
                    <a:pt x="1132" y="33"/>
                  </a:lnTo>
                  <a:lnTo>
                    <a:pt x="1146" y="26"/>
                  </a:lnTo>
                  <a:lnTo>
                    <a:pt x="1160" y="20"/>
                  </a:lnTo>
                  <a:lnTo>
                    <a:pt x="1174" y="14"/>
                  </a:lnTo>
                  <a:lnTo>
                    <a:pt x="1188" y="10"/>
                  </a:lnTo>
                  <a:lnTo>
                    <a:pt x="1202" y="6"/>
                  </a:lnTo>
                  <a:lnTo>
                    <a:pt x="1217" y="2"/>
                  </a:lnTo>
                  <a:lnTo>
                    <a:pt x="1231" y="1"/>
                  </a:lnTo>
                  <a:lnTo>
                    <a:pt x="1246" y="0"/>
                  </a:lnTo>
                  <a:lnTo>
                    <a:pt x="1260" y="0"/>
                  </a:lnTo>
                  <a:lnTo>
                    <a:pt x="1274" y="1"/>
                  </a:lnTo>
                  <a:lnTo>
                    <a:pt x="1288" y="2"/>
                  </a:lnTo>
                  <a:lnTo>
                    <a:pt x="1302" y="2"/>
                  </a:lnTo>
                  <a:lnTo>
                    <a:pt x="1315" y="5"/>
                  </a:lnTo>
                  <a:lnTo>
                    <a:pt x="1328" y="7"/>
                  </a:lnTo>
                  <a:lnTo>
                    <a:pt x="1341" y="11"/>
                  </a:lnTo>
                  <a:lnTo>
                    <a:pt x="1353" y="14"/>
                  </a:lnTo>
                  <a:lnTo>
                    <a:pt x="1365" y="18"/>
                  </a:lnTo>
                  <a:lnTo>
                    <a:pt x="1378" y="24"/>
                  </a:lnTo>
                  <a:lnTo>
                    <a:pt x="1390" y="29"/>
                  </a:lnTo>
                  <a:lnTo>
                    <a:pt x="1401" y="36"/>
                  </a:lnTo>
                  <a:lnTo>
                    <a:pt x="1413" y="42"/>
                  </a:lnTo>
                  <a:lnTo>
                    <a:pt x="1425" y="50"/>
                  </a:lnTo>
                  <a:lnTo>
                    <a:pt x="1437" y="57"/>
                  </a:lnTo>
                  <a:lnTo>
                    <a:pt x="1449" y="66"/>
                  </a:lnTo>
                  <a:lnTo>
                    <a:pt x="1460" y="75"/>
                  </a:lnTo>
                  <a:lnTo>
                    <a:pt x="1472" y="85"/>
                  </a:lnTo>
                  <a:lnTo>
                    <a:pt x="1483" y="96"/>
                  </a:lnTo>
                  <a:lnTo>
                    <a:pt x="1495" y="107"/>
                  </a:lnTo>
                  <a:lnTo>
                    <a:pt x="1506" y="118"/>
                  </a:lnTo>
                  <a:lnTo>
                    <a:pt x="1518" y="131"/>
                  </a:lnTo>
                  <a:lnTo>
                    <a:pt x="1530" y="145"/>
                  </a:lnTo>
                  <a:lnTo>
                    <a:pt x="1542" y="158"/>
                  </a:lnTo>
                  <a:lnTo>
                    <a:pt x="1554" y="173"/>
                  </a:lnTo>
                  <a:lnTo>
                    <a:pt x="1566" y="188"/>
                  </a:lnTo>
                  <a:lnTo>
                    <a:pt x="1578" y="204"/>
                  </a:lnTo>
                  <a:lnTo>
                    <a:pt x="1591" y="221"/>
                  </a:lnTo>
                  <a:lnTo>
                    <a:pt x="1604" y="238"/>
                  </a:lnTo>
                  <a:lnTo>
                    <a:pt x="1617" y="256"/>
                  </a:lnTo>
                  <a:lnTo>
                    <a:pt x="1630" y="275"/>
                  </a:lnTo>
                  <a:lnTo>
                    <a:pt x="1644" y="295"/>
                  </a:lnTo>
                  <a:lnTo>
                    <a:pt x="1661" y="322"/>
                  </a:lnTo>
                  <a:lnTo>
                    <a:pt x="1678" y="350"/>
                  </a:lnTo>
                  <a:lnTo>
                    <a:pt x="1693" y="379"/>
                  </a:lnTo>
                  <a:lnTo>
                    <a:pt x="1707" y="407"/>
                  </a:lnTo>
                  <a:lnTo>
                    <a:pt x="1721" y="437"/>
                  </a:lnTo>
                  <a:lnTo>
                    <a:pt x="1734" y="468"/>
                  </a:lnTo>
                  <a:lnTo>
                    <a:pt x="1746" y="498"/>
                  </a:lnTo>
                  <a:lnTo>
                    <a:pt x="1760" y="529"/>
                  </a:lnTo>
                  <a:lnTo>
                    <a:pt x="1772" y="560"/>
                  </a:lnTo>
                  <a:lnTo>
                    <a:pt x="1784" y="590"/>
                  </a:lnTo>
                  <a:lnTo>
                    <a:pt x="1797" y="622"/>
                  </a:lnTo>
                  <a:lnTo>
                    <a:pt x="1810" y="651"/>
                  </a:lnTo>
                  <a:lnTo>
                    <a:pt x="1824" y="681"/>
                  </a:lnTo>
                  <a:lnTo>
                    <a:pt x="1838" y="711"/>
                  </a:lnTo>
                  <a:lnTo>
                    <a:pt x="1853" y="741"/>
                  </a:lnTo>
                  <a:lnTo>
                    <a:pt x="1869" y="769"/>
                  </a:lnTo>
                  <a:lnTo>
                    <a:pt x="1874" y="775"/>
                  </a:lnTo>
                  <a:lnTo>
                    <a:pt x="1878" y="783"/>
                  </a:lnTo>
                  <a:lnTo>
                    <a:pt x="1885" y="791"/>
                  </a:lnTo>
                  <a:lnTo>
                    <a:pt x="1890" y="798"/>
                  </a:lnTo>
                  <a:lnTo>
                    <a:pt x="1897" y="807"/>
                  </a:lnTo>
                  <a:lnTo>
                    <a:pt x="1905" y="815"/>
                  </a:lnTo>
                  <a:lnTo>
                    <a:pt x="1913" y="823"/>
                  </a:lnTo>
                  <a:lnTo>
                    <a:pt x="1921" y="832"/>
                  </a:lnTo>
                  <a:lnTo>
                    <a:pt x="1930" y="841"/>
                  </a:lnTo>
                  <a:lnTo>
                    <a:pt x="1938" y="851"/>
                  </a:lnTo>
                  <a:lnTo>
                    <a:pt x="1949" y="860"/>
                  </a:lnTo>
                  <a:lnTo>
                    <a:pt x="1958" y="869"/>
                  </a:lnTo>
                  <a:lnTo>
                    <a:pt x="1968" y="878"/>
                  </a:lnTo>
                  <a:lnTo>
                    <a:pt x="1979" y="887"/>
                  </a:lnTo>
                  <a:lnTo>
                    <a:pt x="1989" y="896"/>
                  </a:lnTo>
                  <a:lnTo>
                    <a:pt x="2000" y="905"/>
                  </a:lnTo>
                  <a:lnTo>
                    <a:pt x="2010" y="914"/>
                  </a:lnTo>
                  <a:lnTo>
                    <a:pt x="2022" y="924"/>
                  </a:lnTo>
                  <a:lnTo>
                    <a:pt x="2033" y="932"/>
                  </a:lnTo>
                  <a:lnTo>
                    <a:pt x="2044" y="941"/>
                  </a:lnTo>
                  <a:lnTo>
                    <a:pt x="2055" y="951"/>
                  </a:lnTo>
                  <a:lnTo>
                    <a:pt x="2067" y="959"/>
                  </a:lnTo>
                  <a:lnTo>
                    <a:pt x="2078" y="967"/>
                  </a:lnTo>
                  <a:lnTo>
                    <a:pt x="2089" y="975"/>
                  </a:lnTo>
                  <a:lnTo>
                    <a:pt x="2101" y="983"/>
                  </a:lnTo>
                  <a:lnTo>
                    <a:pt x="2111" y="991"/>
                  </a:lnTo>
                  <a:lnTo>
                    <a:pt x="2123" y="998"/>
                  </a:lnTo>
                  <a:lnTo>
                    <a:pt x="2133" y="1005"/>
                  </a:lnTo>
                  <a:lnTo>
                    <a:pt x="2144" y="1012"/>
                  </a:lnTo>
                  <a:lnTo>
                    <a:pt x="2154" y="1017"/>
                  </a:lnTo>
                  <a:lnTo>
                    <a:pt x="2164" y="1024"/>
                  </a:lnTo>
                  <a:lnTo>
                    <a:pt x="2174" y="1029"/>
                  </a:lnTo>
                  <a:lnTo>
                    <a:pt x="2185" y="1036"/>
                  </a:lnTo>
                  <a:lnTo>
                    <a:pt x="2197" y="1041"/>
                  </a:lnTo>
                  <a:lnTo>
                    <a:pt x="2209" y="1048"/>
                  </a:lnTo>
                  <a:lnTo>
                    <a:pt x="2222" y="1054"/>
                  </a:lnTo>
                  <a:lnTo>
                    <a:pt x="2234" y="1060"/>
                  </a:lnTo>
                  <a:lnTo>
                    <a:pt x="2249" y="1066"/>
                  </a:lnTo>
                  <a:lnTo>
                    <a:pt x="2262" y="1073"/>
                  </a:lnTo>
                  <a:lnTo>
                    <a:pt x="2275" y="1079"/>
                  </a:lnTo>
                  <a:lnTo>
                    <a:pt x="2290" y="1085"/>
                  </a:lnTo>
                  <a:lnTo>
                    <a:pt x="2305" y="1092"/>
                  </a:lnTo>
                  <a:lnTo>
                    <a:pt x="2318" y="1098"/>
                  </a:lnTo>
                  <a:lnTo>
                    <a:pt x="2333" y="1104"/>
                  </a:lnTo>
                  <a:lnTo>
                    <a:pt x="2348" y="1109"/>
                  </a:lnTo>
                  <a:lnTo>
                    <a:pt x="2362" y="1116"/>
                  </a:lnTo>
                  <a:lnTo>
                    <a:pt x="2377" y="1122"/>
                  </a:lnTo>
                  <a:lnTo>
                    <a:pt x="2392" y="1127"/>
                  </a:lnTo>
                  <a:lnTo>
                    <a:pt x="2407" y="1132"/>
                  </a:lnTo>
                  <a:lnTo>
                    <a:pt x="2421" y="1137"/>
                  </a:lnTo>
                  <a:lnTo>
                    <a:pt x="2435" y="1142"/>
                  </a:lnTo>
                  <a:lnTo>
                    <a:pt x="2448" y="1146"/>
                  </a:lnTo>
                  <a:lnTo>
                    <a:pt x="2463" y="1151"/>
                  </a:lnTo>
                  <a:lnTo>
                    <a:pt x="2476" y="1156"/>
                  </a:lnTo>
                  <a:lnTo>
                    <a:pt x="2489" y="1159"/>
                  </a:lnTo>
                  <a:lnTo>
                    <a:pt x="2502" y="1162"/>
                  </a:lnTo>
                  <a:lnTo>
                    <a:pt x="2514" y="1165"/>
                  </a:lnTo>
                  <a:lnTo>
                    <a:pt x="2526" y="1169"/>
                  </a:lnTo>
                  <a:lnTo>
                    <a:pt x="2537" y="1171"/>
                  </a:lnTo>
                  <a:lnTo>
                    <a:pt x="2548" y="1173"/>
                  </a:lnTo>
                  <a:lnTo>
                    <a:pt x="2558" y="1175"/>
                  </a:lnTo>
                  <a:lnTo>
                    <a:pt x="2568" y="1176"/>
                  </a:lnTo>
                  <a:lnTo>
                    <a:pt x="2577" y="1176"/>
                  </a:lnTo>
                  <a:lnTo>
                    <a:pt x="2585" y="1177"/>
                  </a:lnTo>
                </a:path>
              </a:pathLst>
            </a:custGeom>
            <a:noFill/>
            <a:ln w="508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9" name="Freeform 5"/>
            <p:cNvSpPr>
              <a:spLocks/>
            </p:cNvSpPr>
            <p:nvPr/>
          </p:nvSpPr>
          <p:spPr bwMode="auto">
            <a:xfrm>
              <a:off x="4876800" y="1905000"/>
              <a:ext cx="1828800" cy="833438"/>
            </a:xfrm>
            <a:custGeom>
              <a:avLst/>
              <a:gdLst>
                <a:gd name="T0" fmla="*/ 24 w 2586"/>
                <a:gd name="T1" fmla="*/ 1168 h 1178"/>
                <a:gd name="T2" fmla="*/ 79 w 2586"/>
                <a:gd name="T3" fmla="*/ 1144 h 1178"/>
                <a:gd name="T4" fmla="*/ 152 w 2586"/>
                <a:gd name="T5" fmla="*/ 1108 h 1178"/>
                <a:gd name="T6" fmla="*/ 234 w 2586"/>
                <a:gd name="T7" fmla="*/ 1065 h 1178"/>
                <a:gd name="T8" fmla="*/ 319 w 2586"/>
                <a:gd name="T9" fmla="*/ 1020 h 1178"/>
                <a:gd name="T10" fmla="*/ 398 w 2586"/>
                <a:gd name="T11" fmla="*/ 976 h 1178"/>
                <a:gd name="T12" fmla="*/ 462 w 2586"/>
                <a:gd name="T13" fmla="*/ 938 h 1178"/>
                <a:gd name="T14" fmla="*/ 504 w 2586"/>
                <a:gd name="T15" fmla="*/ 910 h 1178"/>
                <a:gd name="T16" fmla="*/ 539 w 2586"/>
                <a:gd name="T17" fmla="*/ 877 h 1178"/>
                <a:gd name="T18" fmla="*/ 576 w 2586"/>
                <a:gd name="T19" fmla="*/ 836 h 1178"/>
                <a:gd name="T20" fmla="*/ 613 w 2586"/>
                <a:gd name="T21" fmla="*/ 791 h 1178"/>
                <a:gd name="T22" fmla="*/ 647 w 2586"/>
                <a:gd name="T23" fmla="*/ 742 h 1178"/>
                <a:gd name="T24" fmla="*/ 699 w 2586"/>
                <a:gd name="T25" fmla="*/ 655 h 1178"/>
                <a:gd name="T26" fmla="*/ 754 w 2586"/>
                <a:gd name="T27" fmla="*/ 556 h 1178"/>
                <a:gd name="T28" fmla="*/ 807 w 2586"/>
                <a:gd name="T29" fmla="*/ 456 h 1178"/>
                <a:gd name="T30" fmla="*/ 861 w 2586"/>
                <a:gd name="T31" fmla="*/ 355 h 1178"/>
                <a:gd name="T32" fmla="*/ 898 w 2586"/>
                <a:gd name="T33" fmla="*/ 287 h 1178"/>
                <a:gd name="T34" fmla="*/ 932 w 2586"/>
                <a:gd name="T35" fmla="*/ 231 h 1178"/>
                <a:gd name="T36" fmla="*/ 973 w 2586"/>
                <a:gd name="T37" fmla="*/ 176 h 1178"/>
                <a:gd name="T38" fmla="*/ 1018 w 2586"/>
                <a:gd name="T39" fmla="*/ 124 h 1178"/>
                <a:gd name="T40" fmla="*/ 1067 w 2586"/>
                <a:gd name="T41" fmla="*/ 78 h 1178"/>
                <a:gd name="T42" fmla="*/ 1119 w 2586"/>
                <a:gd name="T43" fmla="*/ 41 h 1178"/>
                <a:gd name="T44" fmla="*/ 1174 w 2586"/>
                <a:gd name="T45" fmla="*/ 14 h 1178"/>
                <a:gd name="T46" fmla="*/ 1231 w 2586"/>
                <a:gd name="T47" fmla="*/ 1 h 1178"/>
                <a:gd name="T48" fmla="*/ 1288 w 2586"/>
                <a:gd name="T49" fmla="*/ 2 h 1178"/>
                <a:gd name="T50" fmla="*/ 1341 w 2586"/>
                <a:gd name="T51" fmla="*/ 11 h 1178"/>
                <a:gd name="T52" fmla="*/ 1390 w 2586"/>
                <a:gd name="T53" fmla="*/ 29 h 1178"/>
                <a:gd name="T54" fmla="*/ 1437 w 2586"/>
                <a:gd name="T55" fmla="*/ 57 h 1178"/>
                <a:gd name="T56" fmla="*/ 1483 w 2586"/>
                <a:gd name="T57" fmla="*/ 96 h 1178"/>
                <a:gd name="T58" fmla="*/ 1530 w 2586"/>
                <a:gd name="T59" fmla="*/ 145 h 1178"/>
                <a:gd name="T60" fmla="*/ 1578 w 2586"/>
                <a:gd name="T61" fmla="*/ 204 h 1178"/>
                <a:gd name="T62" fmla="*/ 1630 w 2586"/>
                <a:gd name="T63" fmla="*/ 275 h 1178"/>
                <a:gd name="T64" fmla="*/ 1693 w 2586"/>
                <a:gd name="T65" fmla="*/ 379 h 1178"/>
                <a:gd name="T66" fmla="*/ 1746 w 2586"/>
                <a:gd name="T67" fmla="*/ 498 h 1178"/>
                <a:gd name="T68" fmla="*/ 1797 w 2586"/>
                <a:gd name="T69" fmla="*/ 622 h 1178"/>
                <a:gd name="T70" fmla="*/ 1853 w 2586"/>
                <a:gd name="T71" fmla="*/ 741 h 1178"/>
                <a:gd name="T72" fmla="*/ 1885 w 2586"/>
                <a:gd name="T73" fmla="*/ 791 h 1178"/>
                <a:gd name="T74" fmla="*/ 1913 w 2586"/>
                <a:gd name="T75" fmla="*/ 823 h 1178"/>
                <a:gd name="T76" fmla="*/ 1949 w 2586"/>
                <a:gd name="T77" fmla="*/ 860 h 1178"/>
                <a:gd name="T78" fmla="*/ 1989 w 2586"/>
                <a:gd name="T79" fmla="*/ 896 h 1178"/>
                <a:gd name="T80" fmla="*/ 2033 w 2586"/>
                <a:gd name="T81" fmla="*/ 932 h 1178"/>
                <a:gd name="T82" fmla="*/ 2078 w 2586"/>
                <a:gd name="T83" fmla="*/ 967 h 1178"/>
                <a:gd name="T84" fmla="*/ 2123 w 2586"/>
                <a:gd name="T85" fmla="*/ 998 h 1178"/>
                <a:gd name="T86" fmla="*/ 2164 w 2586"/>
                <a:gd name="T87" fmla="*/ 1024 h 1178"/>
                <a:gd name="T88" fmla="*/ 2209 w 2586"/>
                <a:gd name="T89" fmla="*/ 1048 h 1178"/>
                <a:gd name="T90" fmla="*/ 2262 w 2586"/>
                <a:gd name="T91" fmla="*/ 1073 h 1178"/>
                <a:gd name="T92" fmla="*/ 2318 w 2586"/>
                <a:gd name="T93" fmla="*/ 1098 h 1178"/>
                <a:gd name="T94" fmla="*/ 2377 w 2586"/>
                <a:gd name="T95" fmla="*/ 1122 h 1178"/>
                <a:gd name="T96" fmla="*/ 2435 w 2586"/>
                <a:gd name="T97" fmla="*/ 1142 h 1178"/>
                <a:gd name="T98" fmla="*/ 2489 w 2586"/>
                <a:gd name="T99" fmla="*/ 1159 h 1178"/>
                <a:gd name="T100" fmla="*/ 2537 w 2586"/>
                <a:gd name="T101" fmla="*/ 1171 h 1178"/>
                <a:gd name="T102" fmla="*/ 2577 w 2586"/>
                <a:gd name="T103" fmla="*/ 1176 h 1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86" h="1178">
                  <a:moveTo>
                    <a:pt x="0" y="1177"/>
                  </a:moveTo>
                  <a:lnTo>
                    <a:pt x="6" y="1175"/>
                  </a:lnTo>
                  <a:lnTo>
                    <a:pt x="14" y="1172"/>
                  </a:lnTo>
                  <a:lnTo>
                    <a:pt x="24" y="1168"/>
                  </a:lnTo>
                  <a:lnTo>
                    <a:pt x="36" y="1164"/>
                  </a:lnTo>
                  <a:lnTo>
                    <a:pt x="48" y="1158"/>
                  </a:lnTo>
                  <a:lnTo>
                    <a:pt x="63" y="1151"/>
                  </a:lnTo>
                  <a:lnTo>
                    <a:pt x="79" y="1144"/>
                  </a:lnTo>
                  <a:lnTo>
                    <a:pt x="96" y="1136"/>
                  </a:lnTo>
                  <a:lnTo>
                    <a:pt x="114" y="1127"/>
                  </a:lnTo>
                  <a:lnTo>
                    <a:pt x="132" y="1117"/>
                  </a:lnTo>
                  <a:lnTo>
                    <a:pt x="152" y="1108"/>
                  </a:lnTo>
                  <a:lnTo>
                    <a:pt x="171" y="1098"/>
                  </a:lnTo>
                  <a:lnTo>
                    <a:pt x="193" y="1087"/>
                  </a:lnTo>
                  <a:lnTo>
                    <a:pt x="213" y="1076"/>
                  </a:lnTo>
                  <a:lnTo>
                    <a:pt x="234" y="1065"/>
                  </a:lnTo>
                  <a:lnTo>
                    <a:pt x="256" y="1054"/>
                  </a:lnTo>
                  <a:lnTo>
                    <a:pt x="277" y="1042"/>
                  </a:lnTo>
                  <a:lnTo>
                    <a:pt x="298" y="1031"/>
                  </a:lnTo>
                  <a:lnTo>
                    <a:pt x="319" y="1020"/>
                  </a:lnTo>
                  <a:lnTo>
                    <a:pt x="340" y="1008"/>
                  </a:lnTo>
                  <a:lnTo>
                    <a:pt x="360" y="998"/>
                  </a:lnTo>
                  <a:lnTo>
                    <a:pt x="379" y="986"/>
                  </a:lnTo>
                  <a:lnTo>
                    <a:pt x="398" y="976"/>
                  </a:lnTo>
                  <a:lnTo>
                    <a:pt x="416" y="966"/>
                  </a:lnTo>
                  <a:lnTo>
                    <a:pt x="432" y="955"/>
                  </a:lnTo>
                  <a:lnTo>
                    <a:pt x="448" y="947"/>
                  </a:lnTo>
                  <a:lnTo>
                    <a:pt x="462" y="938"/>
                  </a:lnTo>
                  <a:lnTo>
                    <a:pt x="475" y="930"/>
                  </a:lnTo>
                  <a:lnTo>
                    <a:pt x="486" y="922"/>
                  </a:lnTo>
                  <a:lnTo>
                    <a:pt x="496" y="916"/>
                  </a:lnTo>
                  <a:lnTo>
                    <a:pt x="504" y="910"/>
                  </a:lnTo>
                  <a:lnTo>
                    <a:pt x="509" y="905"/>
                  </a:lnTo>
                  <a:lnTo>
                    <a:pt x="520" y="896"/>
                  </a:lnTo>
                  <a:lnTo>
                    <a:pt x="529" y="888"/>
                  </a:lnTo>
                  <a:lnTo>
                    <a:pt x="539" y="877"/>
                  </a:lnTo>
                  <a:lnTo>
                    <a:pt x="549" y="868"/>
                  </a:lnTo>
                  <a:lnTo>
                    <a:pt x="558" y="857"/>
                  </a:lnTo>
                  <a:lnTo>
                    <a:pt x="567" y="847"/>
                  </a:lnTo>
                  <a:lnTo>
                    <a:pt x="576" y="836"/>
                  </a:lnTo>
                  <a:lnTo>
                    <a:pt x="586" y="826"/>
                  </a:lnTo>
                  <a:lnTo>
                    <a:pt x="595" y="814"/>
                  </a:lnTo>
                  <a:lnTo>
                    <a:pt x="604" y="803"/>
                  </a:lnTo>
                  <a:lnTo>
                    <a:pt x="613" y="791"/>
                  </a:lnTo>
                  <a:lnTo>
                    <a:pt x="621" y="779"/>
                  </a:lnTo>
                  <a:lnTo>
                    <a:pt x="629" y="767"/>
                  </a:lnTo>
                  <a:lnTo>
                    <a:pt x="638" y="755"/>
                  </a:lnTo>
                  <a:lnTo>
                    <a:pt x="647" y="742"/>
                  </a:lnTo>
                  <a:lnTo>
                    <a:pt x="654" y="730"/>
                  </a:lnTo>
                  <a:lnTo>
                    <a:pt x="670" y="704"/>
                  </a:lnTo>
                  <a:lnTo>
                    <a:pt x="685" y="679"/>
                  </a:lnTo>
                  <a:lnTo>
                    <a:pt x="699" y="655"/>
                  </a:lnTo>
                  <a:lnTo>
                    <a:pt x="713" y="630"/>
                  </a:lnTo>
                  <a:lnTo>
                    <a:pt x="727" y="605"/>
                  </a:lnTo>
                  <a:lnTo>
                    <a:pt x="741" y="580"/>
                  </a:lnTo>
                  <a:lnTo>
                    <a:pt x="754" y="556"/>
                  </a:lnTo>
                  <a:lnTo>
                    <a:pt x="767" y="531"/>
                  </a:lnTo>
                  <a:lnTo>
                    <a:pt x="781" y="507"/>
                  </a:lnTo>
                  <a:lnTo>
                    <a:pt x="794" y="482"/>
                  </a:lnTo>
                  <a:lnTo>
                    <a:pt x="807" y="456"/>
                  </a:lnTo>
                  <a:lnTo>
                    <a:pt x="820" y="431"/>
                  </a:lnTo>
                  <a:lnTo>
                    <a:pt x="834" y="406"/>
                  </a:lnTo>
                  <a:lnTo>
                    <a:pt x="847" y="380"/>
                  </a:lnTo>
                  <a:lnTo>
                    <a:pt x="861" y="355"/>
                  </a:lnTo>
                  <a:lnTo>
                    <a:pt x="875" y="327"/>
                  </a:lnTo>
                  <a:lnTo>
                    <a:pt x="882" y="314"/>
                  </a:lnTo>
                  <a:lnTo>
                    <a:pt x="889" y="300"/>
                  </a:lnTo>
                  <a:lnTo>
                    <a:pt x="898" y="287"/>
                  </a:lnTo>
                  <a:lnTo>
                    <a:pt x="906" y="273"/>
                  </a:lnTo>
                  <a:lnTo>
                    <a:pt x="914" y="259"/>
                  </a:lnTo>
                  <a:lnTo>
                    <a:pt x="923" y="245"/>
                  </a:lnTo>
                  <a:lnTo>
                    <a:pt x="932" y="231"/>
                  </a:lnTo>
                  <a:lnTo>
                    <a:pt x="942" y="217"/>
                  </a:lnTo>
                  <a:lnTo>
                    <a:pt x="952" y="203"/>
                  </a:lnTo>
                  <a:lnTo>
                    <a:pt x="962" y="189"/>
                  </a:lnTo>
                  <a:lnTo>
                    <a:pt x="973" y="176"/>
                  </a:lnTo>
                  <a:lnTo>
                    <a:pt x="984" y="162"/>
                  </a:lnTo>
                  <a:lnTo>
                    <a:pt x="995" y="149"/>
                  </a:lnTo>
                  <a:lnTo>
                    <a:pt x="1006" y="136"/>
                  </a:lnTo>
                  <a:lnTo>
                    <a:pt x="1018" y="124"/>
                  </a:lnTo>
                  <a:lnTo>
                    <a:pt x="1030" y="112"/>
                  </a:lnTo>
                  <a:lnTo>
                    <a:pt x="1042" y="100"/>
                  </a:lnTo>
                  <a:lnTo>
                    <a:pt x="1054" y="89"/>
                  </a:lnTo>
                  <a:lnTo>
                    <a:pt x="1067" y="78"/>
                  </a:lnTo>
                  <a:lnTo>
                    <a:pt x="1079" y="68"/>
                  </a:lnTo>
                  <a:lnTo>
                    <a:pt x="1093" y="58"/>
                  </a:lnTo>
                  <a:lnTo>
                    <a:pt x="1105" y="49"/>
                  </a:lnTo>
                  <a:lnTo>
                    <a:pt x="1119" y="41"/>
                  </a:lnTo>
                  <a:lnTo>
                    <a:pt x="1132" y="33"/>
                  </a:lnTo>
                  <a:lnTo>
                    <a:pt x="1146" y="26"/>
                  </a:lnTo>
                  <a:lnTo>
                    <a:pt x="1160" y="20"/>
                  </a:lnTo>
                  <a:lnTo>
                    <a:pt x="1174" y="14"/>
                  </a:lnTo>
                  <a:lnTo>
                    <a:pt x="1188" y="10"/>
                  </a:lnTo>
                  <a:lnTo>
                    <a:pt x="1202" y="6"/>
                  </a:lnTo>
                  <a:lnTo>
                    <a:pt x="1217" y="2"/>
                  </a:lnTo>
                  <a:lnTo>
                    <a:pt x="1231" y="1"/>
                  </a:lnTo>
                  <a:lnTo>
                    <a:pt x="1246" y="0"/>
                  </a:lnTo>
                  <a:lnTo>
                    <a:pt x="1260" y="0"/>
                  </a:lnTo>
                  <a:lnTo>
                    <a:pt x="1274" y="1"/>
                  </a:lnTo>
                  <a:lnTo>
                    <a:pt x="1288" y="2"/>
                  </a:lnTo>
                  <a:lnTo>
                    <a:pt x="1302" y="2"/>
                  </a:lnTo>
                  <a:lnTo>
                    <a:pt x="1315" y="5"/>
                  </a:lnTo>
                  <a:lnTo>
                    <a:pt x="1328" y="7"/>
                  </a:lnTo>
                  <a:lnTo>
                    <a:pt x="1341" y="11"/>
                  </a:lnTo>
                  <a:lnTo>
                    <a:pt x="1353" y="14"/>
                  </a:lnTo>
                  <a:lnTo>
                    <a:pt x="1365" y="18"/>
                  </a:lnTo>
                  <a:lnTo>
                    <a:pt x="1378" y="24"/>
                  </a:lnTo>
                  <a:lnTo>
                    <a:pt x="1390" y="29"/>
                  </a:lnTo>
                  <a:lnTo>
                    <a:pt x="1401" y="36"/>
                  </a:lnTo>
                  <a:lnTo>
                    <a:pt x="1413" y="42"/>
                  </a:lnTo>
                  <a:lnTo>
                    <a:pt x="1425" y="50"/>
                  </a:lnTo>
                  <a:lnTo>
                    <a:pt x="1437" y="57"/>
                  </a:lnTo>
                  <a:lnTo>
                    <a:pt x="1449" y="66"/>
                  </a:lnTo>
                  <a:lnTo>
                    <a:pt x="1460" y="75"/>
                  </a:lnTo>
                  <a:lnTo>
                    <a:pt x="1472" y="85"/>
                  </a:lnTo>
                  <a:lnTo>
                    <a:pt x="1483" y="96"/>
                  </a:lnTo>
                  <a:lnTo>
                    <a:pt x="1495" y="107"/>
                  </a:lnTo>
                  <a:lnTo>
                    <a:pt x="1506" y="118"/>
                  </a:lnTo>
                  <a:lnTo>
                    <a:pt x="1518" y="131"/>
                  </a:lnTo>
                  <a:lnTo>
                    <a:pt x="1530" y="145"/>
                  </a:lnTo>
                  <a:lnTo>
                    <a:pt x="1542" y="158"/>
                  </a:lnTo>
                  <a:lnTo>
                    <a:pt x="1554" y="173"/>
                  </a:lnTo>
                  <a:lnTo>
                    <a:pt x="1566" y="188"/>
                  </a:lnTo>
                  <a:lnTo>
                    <a:pt x="1578" y="204"/>
                  </a:lnTo>
                  <a:lnTo>
                    <a:pt x="1591" y="221"/>
                  </a:lnTo>
                  <a:lnTo>
                    <a:pt x="1604" y="238"/>
                  </a:lnTo>
                  <a:lnTo>
                    <a:pt x="1617" y="256"/>
                  </a:lnTo>
                  <a:lnTo>
                    <a:pt x="1630" y="275"/>
                  </a:lnTo>
                  <a:lnTo>
                    <a:pt x="1644" y="295"/>
                  </a:lnTo>
                  <a:lnTo>
                    <a:pt x="1661" y="322"/>
                  </a:lnTo>
                  <a:lnTo>
                    <a:pt x="1678" y="350"/>
                  </a:lnTo>
                  <a:lnTo>
                    <a:pt x="1693" y="379"/>
                  </a:lnTo>
                  <a:lnTo>
                    <a:pt x="1707" y="407"/>
                  </a:lnTo>
                  <a:lnTo>
                    <a:pt x="1721" y="437"/>
                  </a:lnTo>
                  <a:lnTo>
                    <a:pt x="1734" y="468"/>
                  </a:lnTo>
                  <a:lnTo>
                    <a:pt x="1746" y="498"/>
                  </a:lnTo>
                  <a:lnTo>
                    <a:pt x="1760" y="529"/>
                  </a:lnTo>
                  <a:lnTo>
                    <a:pt x="1772" y="560"/>
                  </a:lnTo>
                  <a:lnTo>
                    <a:pt x="1784" y="590"/>
                  </a:lnTo>
                  <a:lnTo>
                    <a:pt x="1797" y="622"/>
                  </a:lnTo>
                  <a:lnTo>
                    <a:pt x="1810" y="651"/>
                  </a:lnTo>
                  <a:lnTo>
                    <a:pt x="1824" y="681"/>
                  </a:lnTo>
                  <a:lnTo>
                    <a:pt x="1838" y="711"/>
                  </a:lnTo>
                  <a:lnTo>
                    <a:pt x="1853" y="741"/>
                  </a:lnTo>
                  <a:lnTo>
                    <a:pt x="1869" y="769"/>
                  </a:lnTo>
                  <a:lnTo>
                    <a:pt x="1874" y="775"/>
                  </a:lnTo>
                  <a:lnTo>
                    <a:pt x="1878" y="783"/>
                  </a:lnTo>
                  <a:lnTo>
                    <a:pt x="1885" y="791"/>
                  </a:lnTo>
                  <a:lnTo>
                    <a:pt x="1890" y="798"/>
                  </a:lnTo>
                  <a:lnTo>
                    <a:pt x="1897" y="807"/>
                  </a:lnTo>
                  <a:lnTo>
                    <a:pt x="1905" y="815"/>
                  </a:lnTo>
                  <a:lnTo>
                    <a:pt x="1913" y="823"/>
                  </a:lnTo>
                  <a:lnTo>
                    <a:pt x="1921" y="832"/>
                  </a:lnTo>
                  <a:lnTo>
                    <a:pt x="1930" y="841"/>
                  </a:lnTo>
                  <a:lnTo>
                    <a:pt x="1938" y="851"/>
                  </a:lnTo>
                  <a:lnTo>
                    <a:pt x="1949" y="860"/>
                  </a:lnTo>
                  <a:lnTo>
                    <a:pt x="1958" y="869"/>
                  </a:lnTo>
                  <a:lnTo>
                    <a:pt x="1968" y="878"/>
                  </a:lnTo>
                  <a:lnTo>
                    <a:pt x="1979" y="887"/>
                  </a:lnTo>
                  <a:lnTo>
                    <a:pt x="1989" y="896"/>
                  </a:lnTo>
                  <a:lnTo>
                    <a:pt x="2000" y="905"/>
                  </a:lnTo>
                  <a:lnTo>
                    <a:pt x="2010" y="914"/>
                  </a:lnTo>
                  <a:lnTo>
                    <a:pt x="2022" y="924"/>
                  </a:lnTo>
                  <a:lnTo>
                    <a:pt x="2033" y="932"/>
                  </a:lnTo>
                  <a:lnTo>
                    <a:pt x="2044" y="941"/>
                  </a:lnTo>
                  <a:lnTo>
                    <a:pt x="2055" y="951"/>
                  </a:lnTo>
                  <a:lnTo>
                    <a:pt x="2067" y="959"/>
                  </a:lnTo>
                  <a:lnTo>
                    <a:pt x="2078" y="967"/>
                  </a:lnTo>
                  <a:lnTo>
                    <a:pt x="2089" y="975"/>
                  </a:lnTo>
                  <a:lnTo>
                    <a:pt x="2101" y="983"/>
                  </a:lnTo>
                  <a:lnTo>
                    <a:pt x="2111" y="991"/>
                  </a:lnTo>
                  <a:lnTo>
                    <a:pt x="2123" y="998"/>
                  </a:lnTo>
                  <a:lnTo>
                    <a:pt x="2133" y="1005"/>
                  </a:lnTo>
                  <a:lnTo>
                    <a:pt x="2144" y="1012"/>
                  </a:lnTo>
                  <a:lnTo>
                    <a:pt x="2154" y="1017"/>
                  </a:lnTo>
                  <a:lnTo>
                    <a:pt x="2164" y="1024"/>
                  </a:lnTo>
                  <a:lnTo>
                    <a:pt x="2174" y="1029"/>
                  </a:lnTo>
                  <a:lnTo>
                    <a:pt x="2185" y="1036"/>
                  </a:lnTo>
                  <a:lnTo>
                    <a:pt x="2197" y="1041"/>
                  </a:lnTo>
                  <a:lnTo>
                    <a:pt x="2209" y="1048"/>
                  </a:lnTo>
                  <a:lnTo>
                    <a:pt x="2222" y="1054"/>
                  </a:lnTo>
                  <a:lnTo>
                    <a:pt x="2234" y="1060"/>
                  </a:lnTo>
                  <a:lnTo>
                    <a:pt x="2249" y="1066"/>
                  </a:lnTo>
                  <a:lnTo>
                    <a:pt x="2262" y="1073"/>
                  </a:lnTo>
                  <a:lnTo>
                    <a:pt x="2275" y="1079"/>
                  </a:lnTo>
                  <a:lnTo>
                    <a:pt x="2290" y="1085"/>
                  </a:lnTo>
                  <a:lnTo>
                    <a:pt x="2305" y="1092"/>
                  </a:lnTo>
                  <a:lnTo>
                    <a:pt x="2318" y="1098"/>
                  </a:lnTo>
                  <a:lnTo>
                    <a:pt x="2333" y="1104"/>
                  </a:lnTo>
                  <a:lnTo>
                    <a:pt x="2348" y="1109"/>
                  </a:lnTo>
                  <a:lnTo>
                    <a:pt x="2362" y="1116"/>
                  </a:lnTo>
                  <a:lnTo>
                    <a:pt x="2377" y="1122"/>
                  </a:lnTo>
                  <a:lnTo>
                    <a:pt x="2392" y="1127"/>
                  </a:lnTo>
                  <a:lnTo>
                    <a:pt x="2407" y="1132"/>
                  </a:lnTo>
                  <a:lnTo>
                    <a:pt x="2421" y="1137"/>
                  </a:lnTo>
                  <a:lnTo>
                    <a:pt x="2435" y="1142"/>
                  </a:lnTo>
                  <a:lnTo>
                    <a:pt x="2448" y="1146"/>
                  </a:lnTo>
                  <a:lnTo>
                    <a:pt x="2463" y="1151"/>
                  </a:lnTo>
                  <a:lnTo>
                    <a:pt x="2476" y="1156"/>
                  </a:lnTo>
                  <a:lnTo>
                    <a:pt x="2489" y="1159"/>
                  </a:lnTo>
                  <a:lnTo>
                    <a:pt x="2502" y="1162"/>
                  </a:lnTo>
                  <a:lnTo>
                    <a:pt x="2514" y="1165"/>
                  </a:lnTo>
                  <a:lnTo>
                    <a:pt x="2526" y="1169"/>
                  </a:lnTo>
                  <a:lnTo>
                    <a:pt x="2537" y="1171"/>
                  </a:lnTo>
                  <a:lnTo>
                    <a:pt x="2548" y="1173"/>
                  </a:lnTo>
                  <a:lnTo>
                    <a:pt x="2558" y="1175"/>
                  </a:lnTo>
                  <a:lnTo>
                    <a:pt x="2568" y="1176"/>
                  </a:lnTo>
                  <a:lnTo>
                    <a:pt x="2577" y="1176"/>
                  </a:lnTo>
                  <a:lnTo>
                    <a:pt x="2585" y="1177"/>
                  </a:lnTo>
                </a:path>
              </a:pathLst>
            </a:custGeom>
            <a:noFill/>
            <a:ln w="50800" cap="rnd" cmpd="sng">
              <a:solidFill>
                <a:srgbClr val="02B67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nvGrpSpPr>
          <p:cNvPr id="19" name="Group 18"/>
          <p:cNvGrpSpPr/>
          <p:nvPr/>
        </p:nvGrpSpPr>
        <p:grpSpPr>
          <a:xfrm>
            <a:off x="3841899" y="1883735"/>
            <a:ext cx="392287" cy="2764465"/>
            <a:chOff x="3841899" y="1883735"/>
            <a:chExt cx="392287" cy="2764465"/>
          </a:xfrm>
        </p:grpSpPr>
        <p:cxnSp>
          <p:nvCxnSpPr>
            <p:cNvPr id="10" name="Straight Connector 9"/>
            <p:cNvCxnSpPr/>
            <p:nvPr/>
          </p:nvCxnSpPr>
          <p:spPr>
            <a:xfrm flipV="1">
              <a:off x="4038600" y="2286000"/>
              <a:ext cx="0" cy="2362200"/>
            </a:xfrm>
            <a:prstGeom prst="line">
              <a:avLst/>
            </a:prstGeom>
            <a:ln>
              <a:prstDash val="sysDash"/>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13" name="TextBox 12"/>
                <p:cNvSpPr txBox="1"/>
                <p:nvPr/>
              </p:nvSpPr>
              <p:spPr>
                <a:xfrm>
                  <a:off x="3841899" y="1883735"/>
                  <a:ext cx="392287" cy="39241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GB" i="1" dirty="0">
                                <a:latin typeface="Cambria Math" panose="02040503050406030204" pitchFamily="18" charset="0"/>
                              </a:rPr>
                            </m:ctrlPr>
                          </m:accPr>
                          <m:e>
                            <m:r>
                              <a:rPr lang="en-GB" i="1" dirty="0">
                                <a:latin typeface="Cambria Math"/>
                              </a:rPr>
                              <m:t>𝑋</m:t>
                            </m:r>
                          </m:e>
                        </m:acc>
                      </m:oMath>
                    </m:oMathPara>
                  </a14:m>
                  <a:endParaRPr lang="en-GB" dirty="0"/>
                </a:p>
              </p:txBody>
            </p:sp>
          </mc:Choice>
          <mc:Fallback xmlns="">
            <p:sp>
              <p:nvSpPr>
                <p:cNvPr id="13" name="TextBox 12"/>
                <p:cNvSpPr txBox="1">
                  <a:spLocks noRot="1" noChangeAspect="1" noMove="1" noResize="1" noEditPoints="1" noAdjustHandles="1" noChangeArrowheads="1" noChangeShapeType="1" noTextEdit="1"/>
                </p:cNvSpPr>
                <p:nvPr/>
              </p:nvSpPr>
              <p:spPr>
                <a:xfrm>
                  <a:off x="3841899" y="1883735"/>
                  <a:ext cx="392287" cy="392415"/>
                </a:xfrm>
                <a:prstGeom prst="rect">
                  <a:avLst/>
                </a:prstGeom>
                <a:blipFill rotWithShape="1">
                  <a:blip r:embed="rId3"/>
                  <a:stretch>
                    <a:fillRect t="-12500" r="-16923"/>
                  </a:stretch>
                </a:blipFill>
              </p:spPr>
              <p:txBody>
                <a:bodyPr/>
                <a:lstStyle/>
                <a:p>
                  <a:r>
                    <a:rPr lang="en-GB">
                      <a:noFill/>
                    </a:rPr>
                    <a:t> </a:t>
                  </a:r>
                </a:p>
              </p:txBody>
            </p:sp>
          </mc:Fallback>
        </mc:AlternateContent>
      </p:grpSp>
      <p:grpSp>
        <p:nvGrpSpPr>
          <p:cNvPr id="43" name="Group 42"/>
          <p:cNvGrpSpPr/>
          <p:nvPr/>
        </p:nvGrpSpPr>
        <p:grpSpPr>
          <a:xfrm>
            <a:off x="2111680" y="2438400"/>
            <a:ext cx="3684250" cy="2209800"/>
            <a:chOff x="2111680" y="2438400"/>
            <a:chExt cx="3684250" cy="2209800"/>
          </a:xfrm>
        </p:grpSpPr>
        <p:grpSp>
          <p:nvGrpSpPr>
            <p:cNvPr id="20" name="Group 19"/>
            <p:cNvGrpSpPr/>
            <p:nvPr/>
          </p:nvGrpSpPr>
          <p:grpSpPr>
            <a:xfrm>
              <a:off x="2111680" y="2438400"/>
              <a:ext cx="478529" cy="2209800"/>
              <a:chOff x="3874913" y="1883735"/>
              <a:chExt cx="478529" cy="2764465"/>
            </a:xfrm>
          </p:grpSpPr>
          <p:cxnSp>
            <p:nvCxnSpPr>
              <p:cNvPr id="21" name="Straight Connector 20"/>
              <p:cNvCxnSpPr/>
              <p:nvPr/>
            </p:nvCxnSpPr>
            <p:spPr>
              <a:xfrm flipV="1">
                <a:off x="4038600" y="2286000"/>
                <a:ext cx="0" cy="2362200"/>
              </a:xfrm>
              <a:prstGeom prst="line">
                <a:avLst/>
              </a:prstGeom>
              <a:ln>
                <a:solidFill>
                  <a:srgbClr val="FF0000"/>
                </a:solidFill>
                <a:prstDash val="sysDot"/>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22" name="TextBox 21"/>
                  <p:cNvSpPr txBox="1"/>
                  <p:nvPr/>
                </p:nvSpPr>
                <p:spPr>
                  <a:xfrm>
                    <a:off x="3874913" y="1883735"/>
                    <a:ext cx="478529" cy="462035"/>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i="1" dirty="0" smtClean="0">
                                  <a:solidFill>
                                    <a:srgbClr val="FF0000"/>
                                  </a:solidFill>
                                  <a:latin typeface="Cambria Math" panose="02040503050406030204" pitchFamily="18" charset="0"/>
                                </a:rPr>
                              </m:ctrlPr>
                            </m:sSubPr>
                            <m:e>
                              <m:acc>
                                <m:accPr>
                                  <m:chr m:val="̅"/>
                                  <m:ctrlPr>
                                    <a:rPr lang="en-GB" i="1" dirty="0">
                                      <a:solidFill>
                                        <a:srgbClr val="FF0000"/>
                                      </a:solidFill>
                                      <a:latin typeface="Cambria Math" panose="02040503050406030204" pitchFamily="18" charset="0"/>
                                    </a:rPr>
                                  </m:ctrlPr>
                                </m:accPr>
                                <m:e>
                                  <m:r>
                                    <a:rPr lang="en-GB" b="0" i="1" dirty="0" smtClean="0">
                                      <a:solidFill>
                                        <a:srgbClr val="FF0000"/>
                                      </a:solidFill>
                                      <a:latin typeface="Cambria Math"/>
                                    </a:rPr>
                                    <m:t>𝑋</m:t>
                                  </m:r>
                                </m:e>
                              </m:acc>
                            </m:e>
                            <m:sub>
                              <m:r>
                                <a:rPr lang="en-GB" b="0" i="1" dirty="0" smtClean="0">
                                  <a:solidFill>
                                    <a:srgbClr val="FF0000"/>
                                  </a:solidFill>
                                  <a:latin typeface="Cambria Math"/>
                                </a:rPr>
                                <m:t>1</m:t>
                              </m:r>
                            </m:sub>
                          </m:sSub>
                        </m:oMath>
                      </m:oMathPara>
                    </a14:m>
                    <a:endParaRPr lang="en-GB" dirty="0">
                      <a:solidFill>
                        <a:srgbClr val="FF0000"/>
                      </a:solidFill>
                    </a:endParaRPr>
                  </a:p>
                </p:txBody>
              </p:sp>
            </mc:Choice>
            <mc:Fallback xmlns="">
              <p:sp>
                <p:nvSpPr>
                  <p:cNvPr id="22" name="TextBox 21"/>
                  <p:cNvSpPr txBox="1">
                    <a:spLocks noRot="1" noChangeAspect="1" noMove="1" noResize="1" noEditPoints="1" noAdjustHandles="1" noChangeArrowheads="1" noChangeShapeType="1" noTextEdit="1"/>
                  </p:cNvSpPr>
                  <p:nvPr/>
                </p:nvSpPr>
                <p:spPr>
                  <a:xfrm>
                    <a:off x="3874913" y="1883735"/>
                    <a:ext cx="478529" cy="462035"/>
                  </a:xfrm>
                  <a:prstGeom prst="rect">
                    <a:avLst/>
                  </a:prstGeom>
                  <a:blipFill rotWithShape="1">
                    <a:blip r:embed="rId4"/>
                    <a:stretch>
                      <a:fillRect r="-2532"/>
                    </a:stretch>
                  </a:blipFill>
                  <a:ln>
                    <a:noFill/>
                  </a:ln>
                </p:spPr>
                <p:txBody>
                  <a:bodyPr/>
                  <a:lstStyle/>
                  <a:p>
                    <a:r>
                      <a:rPr lang="en-GB">
                        <a:noFill/>
                      </a:rPr>
                      <a:t> </a:t>
                    </a:r>
                  </a:p>
                </p:txBody>
              </p:sp>
            </mc:Fallback>
          </mc:AlternateContent>
        </p:grpSp>
        <p:grpSp>
          <p:nvGrpSpPr>
            <p:cNvPr id="23" name="Group 22"/>
            <p:cNvGrpSpPr/>
            <p:nvPr/>
          </p:nvGrpSpPr>
          <p:grpSpPr>
            <a:xfrm>
              <a:off x="4463247" y="2438400"/>
              <a:ext cx="483850" cy="2209800"/>
              <a:chOff x="3874913" y="1883735"/>
              <a:chExt cx="483850" cy="2764465"/>
            </a:xfrm>
          </p:grpSpPr>
          <p:cxnSp>
            <p:nvCxnSpPr>
              <p:cNvPr id="24" name="Straight Connector 23"/>
              <p:cNvCxnSpPr/>
              <p:nvPr/>
            </p:nvCxnSpPr>
            <p:spPr>
              <a:xfrm flipV="1">
                <a:off x="4038600" y="2286000"/>
                <a:ext cx="0" cy="2362200"/>
              </a:xfrm>
              <a:prstGeom prst="line">
                <a:avLst/>
              </a:prstGeom>
              <a:ln>
                <a:solidFill>
                  <a:schemeClr val="accent1"/>
                </a:solidFill>
                <a:prstDash val="sysDot"/>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25" name="TextBox 24"/>
                  <p:cNvSpPr txBox="1"/>
                  <p:nvPr/>
                </p:nvSpPr>
                <p:spPr>
                  <a:xfrm>
                    <a:off x="3874913" y="1883735"/>
                    <a:ext cx="483850" cy="462035"/>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i="1" dirty="0" smtClean="0">
                                  <a:solidFill>
                                    <a:schemeClr val="tx2"/>
                                  </a:solidFill>
                                  <a:latin typeface="Cambria Math" panose="02040503050406030204" pitchFamily="18" charset="0"/>
                                </a:rPr>
                              </m:ctrlPr>
                            </m:sSubPr>
                            <m:e>
                              <m:acc>
                                <m:accPr>
                                  <m:chr m:val="̅"/>
                                  <m:ctrlPr>
                                    <a:rPr lang="en-GB" i="1" dirty="0">
                                      <a:solidFill>
                                        <a:schemeClr val="tx2"/>
                                      </a:solidFill>
                                      <a:latin typeface="Cambria Math" panose="02040503050406030204" pitchFamily="18" charset="0"/>
                                    </a:rPr>
                                  </m:ctrlPr>
                                </m:accPr>
                                <m:e>
                                  <m:r>
                                    <a:rPr lang="en-GB" i="1" dirty="0">
                                      <a:solidFill>
                                        <a:schemeClr val="tx2"/>
                                      </a:solidFill>
                                      <a:latin typeface="Cambria Math"/>
                                    </a:rPr>
                                    <m:t>𝑋</m:t>
                                  </m:r>
                                </m:e>
                              </m:acc>
                            </m:e>
                            <m:sub>
                              <m:r>
                                <a:rPr lang="en-GB" b="0" i="1" dirty="0" smtClean="0">
                                  <a:solidFill>
                                    <a:schemeClr val="tx2"/>
                                  </a:solidFill>
                                  <a:latin typeface="Cambria Math"/>
                                </a:rPr>
                                <m:t>2</m:t>
                              </m:r>
                            </m:sub>
                          </m:sSub>
                        </m:oMath>
                      </m:oMathPara>
                    </a14:m>
                    <a:endParaRPr lang="en-GB" dirty="0">
                      <a:solidFill>
                        <a:schemeClr val="tx2"/>
                      </a:solidFill>
                    </a:endParaRPr>
                  </a:p>
                </p:txBody>
              </p:sp>
            </mc:Choice>
            <mc:Fallback xmlns="">
              <p:sp>
                <p:nvSpPr>
                  <p:cNvPr id="25" name="TextBox 24"/>
                  <p:cNvSpPr txBox="1">
                    <a:spLocks noRot="1" noChangeAspect="1" noMove="1" noResize="1" noEditPoints="1" noAdjustHandles="1" noChangeArrowheads="1" noChangeShapeType="1" noTextEdit="1"/>
                  </p:cNvSpPr>
                  <p:nvPr/>
                </p:nvSpPr>
                <p:spPr>
                  <a:xfrm>
                    <a:off x="3874913" y="1883735"/>
                    <a:ext cx="483850" cy="462035"/>
                  </a:xfrm>
                  <a:prstGeom prst="rect">
                    <a:avLst/>
                  </a:prstGeom>
                  <a:blipFill rotWithShape="1">
                    <a:blip r:embed="rId5"/>
                    <a:stretch>
                      <a:fillRect r="-2500"/>
                    </a:stretch>
                  </a:blipFill>
                  <a:ln>
                    <a:noFill/>
                  </a:ln>
                </p:spPr>
                <p:txBody>
                  <a:bodyPr/>
                  <a:lstStyle/>
                  <a:p>
                    <a:r>
                      <a:rPr lang="en-GB">
                        <a:noFill/>
                      </a:rPr>
                      <a:t> </a:t>
                    </a:r>
                  </a:p>
                </p:txBody>
              </p:sp>
            </mc:Fallback>
          </mc:AlternateContent>
        </p:grpSp>
        <p:grpSp>
          <p:nvGrpSpPr>
            <p:cNvPr id="26" name="Group 25"/>
            <p:cNvGrpSpPr/>
            <p:nvPr/>
          </p:nvGrpSpPr>
          <p:grpSpPr>
            <a:xfrm>
              <a:off x="5312080" y="2438400"/>
              <a:ext cx="483850" cy="2209800"/>
              <a:chOff x="3874913" y="1883735"/>
              <a:chExt cx="483850" cy="2764465"/>
            </a:xfrm>
          </p:grpSpPr>
          <p:cxnSp>
            <p:nvCxnSpPr>
              <p:cNvPr id="27" name="Straight Connector 26"/>
              <p:cNvCxnSpPr/>
              <p:nvPr/>
            </p:nvCxnSpPr>
            <p:spPr>
              <a:xfrm flipV="1">
                <a:off x="4038600" y="2286000"/>
                <a:ext cx="0" cy="2362200"/>
              </a:xfrm>
              <a:prstGeom prst="line">
                <a:avLst/>
              </a:prstGeom>
              <a:ln>
                <a:solidFill>
                  <a:srgbClr val="00B050"/>
                </a:solidFill>
                <a:prstDash val="sysDot"/>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28" name="TextBox 27"/>
                  <p:cNvSpPr txBox="1"/>
                  <p:nvPr/>
                </p:nvSpPr>
                <p:spPr>
                  <a:xfrm>
                    <a:off x="3874913" y="1883735"/>
                    <a:ext cx="483850" cy="462035"/>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i="1" dirty="0" smtClean="0">
                                  <a:solidFill>
                                    <a:srgbClr val="00B050"/>
                                  </a:solidFill>
                                  <a:latin typeface="Cambria Math" panose="02040503050406030204" pitchFamily="18" charset="0"/>
                                </a:rPr>
                              </m:ctrlPr>
                            </m:sSubPr>
                            <m:e>
                              <m:acc>
                                <m:accPr>
                                  <m:chr m:val="̅"/>
                                  <m:ctrlPr>
                                    <a:rPr lang="en-GB" i="1" dirty="0">
                                      <a:solidFill>
                                        <a:srgbClr val="00B050"/>
                                      </a:solidFill>
                                      <a:latin typeface="Cambria Math" panose="02040503050406030204" pitchFamily="18" charset="0"/>
                                    </a:rPr>
                                  </m:ctrlPr>
                                </m:accPr>
                                <m:e>
                                  <m:r>
                                    <a:rPr lang="en-GB" i="1" dirty="0">
                                      <a:solidFill>
                                        <a:srgbClr val="00B050"/>
                                      </a:solidFill>
                                      <a:latin typeface="Cambria Math"/>
                                    </a:rPr>
                                    <m:t>𝑋</m:t>
                                  </m:r>
                                </m:e>
                              </m:acc>
                            </m:e>
                            <m:sub>
                              <m:r>
                                <a:rPr lang="en-GB" b="0" i="1" dirty="0" smtClean="0">
                                  <a:solidFill>
                                    <a:srgbClr val="00B050"/>
                                  </a:solidFill>
                                  <a:latin typeface="Cambria Math"/>
                                </a:rPr>
                                <m:t>3</m:t>
                              </m:r>
                            </m:sub>
                          </m:sSub>
                        </m:oMath>
                      </m:oMathPara>
                    </a14:m>
                    <a:endParaRPr lang="en-GB" dirty="0">
                      <a:solidFill>
                        <a:srgbClr val="00B050"/>
                      </a:solidFill>
                    </a:endParaRPr>
                  </a:p>
                </p:txBody>
              </p:sp>
            </mc:Choice>
            <mc:Fallback xmlns="">
              <p:sp>
                <p:nvSpPr>
                  <p:cNvPr id="28" name="TextBox 27"/>
                  <p:cNvSpPr txBox="1">
                    <a:spLocks noRot="1" noChangeAspect="1" noMove="1" noResize="1" noEditPoints="1" noAdjustHandles="1" noChangeArrowheads="1" noChangeShapeType="1" noTextEdit="1"/>
                  </p:cNvSpPr>
                  <p:nvPr/>
                </p:nvSpPr>
                <p:spPr>
                  <a:xfrm>
                    <a:off x="3874913" y="1883735"/>
                    <a:ext cx="483850" cy="462035"/>
                  </a:xfrm>
                  <a:prstGeom prst="rect">
                    <a:avLst/>
                  </a:prstGeom>
                  <a:blipFill rotWithShape="1">
                    <a:blip r:embed="rId6"/>
                    <a:stretch>
                      <a:fillRect r="-2500"/>
                    </a:stretch>
                  </a:blipFill>
                  <a:ln>
                    <a:noFill/>
                  </a:ln>
                </p:spPr>
                <p:txBody>
                  <a:bodyPr/>
                  <a:lstStyle/>
                  <a:p>
                    <a:r>
                      <a:rPr lang="en-GB">
                        <a:noFill/>
                      </a:rPr>
                      <a:t> </a:t>
                    </a:r>
                  </a:p>
                </p:txBody>
              </p:sp>
            </mc:Fallback>
          </mc:AlternateContent>
        </p:grpSp>
      </p:grpSp>
      <p:grpSp>
        <p:nvGrpSpPr>
          <p:cNvPr id="42" name="Group 41"/>
          <p:cNvGrpSpPr/>
          <p:nvPr/>
        </p:nvGrpSpPr>
        <p:grpSpPr>
          <a:xfrm>
            <a:off x="1860699" y="4038600"/>
            <a:ext cx="4002180" cy="0"/>
            <a:chOff x="1860699" y="4038600"/>
            <a:chExt cx="4002180" cy="0"/>
          </a:xfrm>
        </p:grpSpPr>
        <p:cxnSp>
          <p:nvCxnSpPr>
            <p:cNvPr id="30" name="Straight Arrow Connector 29"/>
            <p:cNvCxnSpPr/>
            <p:nvPr/>
          </p:nvCxnSpPr>
          <p:spPr>
            <a:xfrm flipH="1">
              <a:off x="1860699" y="4038600"/>
              <a:ext cx="789378" cy="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flipH="1">
              <a:off x="4222899" y="4038600"/>
              <a:ext cx="789378" cy="0"/>
            </a:xfrm>
            <a:prstGeom prst="straightConnector1">
              <a:avLst/>
            </a:prstGeom>
            <a:ln>
              <a:solidFill>
                <a:srgbClr val="0070C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flipH="1">
              <a:off x="5073501" y="4038600"/>
              <a:ext cx="789378" cy="0"/>
            </a:xfrm>
            <a:prstGeom prst="straightConnector1">
              <a:avLst/>
            </a:prstGeom>
            <a:ln>
              <a:solidFill>
                <a:srgbClr val="00B050"/>
              </a:solidFill>
              <a:headEnd type="arrow"/>
              <a:tailEnd type="arrow"/>
            </a:ln>
          </p:spPr>
          <p:style>
            <a:lnRef idx="1">
              <a:schemeClr val="accent1"/>
            </a:lnRef>
            <a:fillRef idx="0">
              <a:schemeClr val="accent1"/>
            </a:fillRef>
            <a:effectRef idx="0">
              <a:schemeClr val="accent1"/>
            </a:effectRef>
            <a:fontRef idx="minor">
              <a:schemeClr val="tx1"/>
            </a:fontRef>
          </p:style>
        </p:cxnSp>
      </p:grpSp>
      <p:grpSp>
        <p:nvGrpSpPr>
          <p:cNvPr id="41" name="Group 40"/>
          <p:cNvGrpSpPr/>
          <p:nvPr/>
        </p:nvGrpSpPr>
        <p:grpSpPr>
          <a:xfrm>
            <a:off x="2286000" y="2807732"/>
            <a:ext cx="3182190" cy="164068"/>
            <a:chOff x="2286000" y="2807732"/>
            <a:chExt cx="3182190" cy="164068"/>
          </a:xfrm>
        </p:grpSpPr>
        <p:cxnSp>
          <p:nvCxnSpPr>
            <p:cNvPr id="35" name="Straight Arrow Connector 34"/>
            <p:cNvCxnSpPr/>
            <p:nvPr/>
          </p:nvCxnSpPr>
          <p:spPr>
            <a:xfrm flipH="1">
              <a:off x="2286000" y="2895600"/>
              <a:ext cx="1752600" cy="0"/>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H="1">
              <a:off x="4038600" y="2971800"/>
              <a:ext cx="1429590" cy="0"/>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H="1">
              <a:off x="4038600" y="2807732"/>
              <a:ext cx="578988" cy="0"/>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6167679" y="1600200"/>
            <a:ext cx="2855632" cy="1775555"/>
            <a:chOff x="6167679" y="1600200"/>
            <a:chExt cx="2855632" cy="1775555"/>
          </a:xfrm>
          <a:solidFill>
            <a:schemeClr val="tx2">
              <a:lumMod val="20000"/>
              <a:lumOff val="80000"/>
            </a:schemeClr>
          </a:solidFill>
        </p:grpSpPr>
        <p:grpSp>
          <p:nvGrpSpPr>
            <p:cNvPr id="47" name="Group 46"/>
            <p:cNvGrpSpPr/>
            <p:nvPr/>
          </p:nvGrpSpPr>
          <p:grpSpPr>
            <a:xfrm>
              <a:off x="6167679" y="2078169"/>
              <a:ext cx="2855632" cy="1297586"/>
              <a:chOff x="6015279" y="1614768"/>
              <a:chExt cx="2325963" cy="1297586"/>
            </a:xfrm>
            <a:grpFill/>
          </p:grpSpPr>
          <p:sp>
            <p:nvSpPr>
              <p:cNvPr id="49" name="Rectangular Callout 48"/>
              <p:cNvSpPr/>
              <p:nvPr/>
            </p:nvSpPr>
            <p:spPr>
              <a:xfrm>
                <a:off x="6015279" y="1614768"/>
                <a:ext cx="2325963" cy="1295400"/>
              </a:xfrm>
              <a:prstGeom prst="wedgeRectCallout">
                <a:avLst>
                  <a:gd name="adj1" fmla="val -107405"/>
                  <a:gd name="adj2" fmla="val 99982"/>
                </a:avLst>
              </a:prstGeom>
              <a:grpFill/>
              <a:ln>
                <a:solidFill>
                  <a:schemeClr val="tx2">
                    <a:lumMod val="20000"/>
                    <a:lumOff val="8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dirty="0"/>
              </a:p>
            </p:txBody>
          </p:sp>
          <p:sp>
            <p:nvSpPr>
              <p:cNvPr id="50" name="Rectangular Callout 49"/>
              <p:cNvSpPr/>
              <p:nvPr/>
            </p:nvSpPr>
            <p:spPr>
              <a:xfrm>
                <a:off x="6015279" y="1614768"/>
                <a:ext cx="2325963" cy="1295400"/>
              </a:xfrm>
              <a:prstGeom prst="wedgeRectCallout">
                <a:avLst>
                  <a:gd name="adj1" fmla="val -69891"/>
                  <a:gd name="adj2" fmla="val 96699"/>
                </a:avLst>
              </a:prstGeom>
              <a:grpFill/>
              <a:ln>
                <a:solidFill>
                  <a:schemeClr val="tx2">
                    <a:lumMod val="20000"/>
                    <a:lumOff val="8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51" name="Rectangular Callout 50"/>
                  <p:cNvSpPr/>
                  <p:nvPr/>
                </p:nvSpPr>
                <p:spPr>
                  <a:xfrm>
                    <a:off x="6015279" y="1616954"/>
                    <a:ext cx="2325963" cy="1295400"/>
                  </a:xfrm>
                  <a:prstGeom prst="wedgeRectCallout">
                    <a:avLst>
                      <a:gd name="adj1" fmla="val -181199"/>
                      <a:gd name="adj2" fmla="val 97518"/>
                    </a:avLst>
                  </a:prstGeom>
                  <a:grpFill/>
                  <a:ln>
                    <a:solidFill>
                      <a:schemeClr val="tx2">
                        <a:lumMod val="20000"/>
                        <a:lumOff val="8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nary>
                            <m:naryPr>
                              <m:chr m:val="∑"/>
                              <m:ctrlPr>
                                <a:rPr lang="en-GB" sz="2000" b="1" i="1" smtClean="0">
                                  <a:solidFill>
                                    <a:schemeClr val="tx1"/>
                                  </a:solidFill>
                                  <a:latin typeface="Cambria Math" panose="02040503050406030204" pitchFamily="18" charset="0"/>
                                </a:rPr>
                              </m:ctrlPr>
                            </m:naryPr>
                            <m:sub>
                              <m:r>
                                <m:rPr>
                                  <m:brk m:alnAt="23"/>
                                </m:rPr>
                                <a:rPr lang="en-GB" sz="2000" b="1" i="1" smtClean="0">
                                  <a:solidFill>
                                    <a:schemeClr val="tx1"/>
                                  </a:solidFill>
                                  <a:latin typeface="Cambria Math"/>
                                </a:rPr>
                                <m:t>𝒋</m:t>
                              </m:r>
                              <m:r>
                                <a:rPr lang="en-GB" sz="2000" b="1" i="1" smtClean="0">
                                  <a:solidFill>
                                    <a:schemeClr val="tx1"/>
                                  </a:solidFill>
                                  <a:latin typeface="Cambria Math"/>
                                </a:rPr>
                                <m:t>=</m:t>
                              </m:r>
                              <m:r>
                                <a:rPr lang="en-GB" sz="2000" b="1" i="1" smtClean="0">
                                  <a:solidFill>
                                    <a:schemeClr val="tx1"/>
                                  </a:solidFill>
                                  <a:latin typeface="Cambria Math"/>
                                </a:rPr>
                                <m:t>𝟏</m:t>
                              </m:r>
                            </m:sub>
                            <m:sup>
                              <m:r>
                                <a:rPr lang="en-GB" sz="2000" b="1" i="1" smtClean="0">
                                  <a:solidFill>
                                    <a:schemeClr val="tx1"/>
                                  </a:solidFill>
                                  <a:latin typeface="Cambria Math"/>
                                </a:rPr>
                                <m:t>𝒄</m:t>
                              </m:r>
                            </m:sup>
                            <m:e>
                              <m:nary>
                                <m:naryPr>
                                  <m:chr m:val="∑"/>
                                  <m:ctrlPr>
                                    <a:rPr lang="en-GB" sz="2000" b="1" i="1">
                                      <a:solidFill>
                                        <a:schemeClr val="tx1"/>
                                      </a:solidFill>
                                      <a:latin typeface="Cambria Math" panose="02040503050406030204" pitchFamily="18" charset="0"/>
                                    </a:rPr>
                                  </m:ctrlPr>
                                </m:naryPr>
                                <m:sub>
                                  <m:r>
                                    <a:rPr lang="en-GB" sz="2000" b="1" i="1" smtClean="0">
                                      <a:solidFill>
                                        <a:schemeClr val="tx1"/>
                                      </a:solidFill>
                                      <a:latin typeface="Cambria Math"/>
                                    </a:rPr>
                                    <m:t>𝒊</m:t>
                                  </m:r>
                                  <m:r>
                                    <a:rPr lang="en-GB" sz="2000" b="1" i="1">
                                      <a:solidFill>
                                        <a:schemeClr val="tx1"/>
                                      </a:solidFill>
                                      <a:latin typeface="Cambria Math"/>
                                    </a:rPr>
                                    <m:t>=</m:t>
                                  </m:r>
                                  <m:r>
                                    <a:rPr lang="en-GB" sz="2000" b="1" i="1">
                                      <a:solidFill>
                                        <a:schemeClr val="tx1"/>
                                      </a:solidFill>
                                      <a:latin typeface="Cambria Math"/>
                                    </a:rPr>
                                    <m:t>𝟏</m:t>
                                  </m:r>
                                </m:sub>
                                <m:sup>
                                  <m:sSub>
                                    <m:sSubPr>
                                      <m:ctrlPr>
                                        <a:rPr lang="en-GB" sz="2000" b="1" i="1" smtClean="0">
                                          <a:solidFill>
                                            <a:schemeClr val="tx1"/>
                                          </a:solidFill>
                                          <a:latin typeface="Cambria Math" panose="02040503050406030204" pitchFamily="18" charset="0"/>
                                        </a:rPr>
                                      </m:ctrlPr>
                                    </m:sSubPr>
                                    <m:e>
                                      <m:r>
                                        <a:rPr lang="en-GB" sz="2000" b="1" i="1" smtClean="0">
                                          <a:solidFill>
                                            <a:schemeClr val="tx1"/>
                                          </a:solidFill>
                                          <a:latin typeface="Cambria Math"/>
                                        </a:rPr>
                                        <m:t>𝒏</m:t>
                                      </m:r>
                                    </m:e>
                                    <m:sub>
                                      <m:r>
                                        <a:rPr lang="en-GB" sz="2000" b="1" i="1" smtClean="0">
                                          <a:solidFill>
                                            <a:schemeClr val="tx1"/>
                                          </a:solidFill>
                                          <a:latin typeface="Cambria Math"/>
                                        </a:rPr>
                                        <m:t>𝒋</m:t>
                                      </m:r>
                                    </m:sub>
                                  </m:sSub>
                                </m:sup>
                                <m:e>
                                  <m:sSup>
                                    <m:sSupPr>
                                      <m:ctrlPr>
                                        <a:rPr lang="en-GB" sz="2000" b="1" i="1" dirty="0">
                                          <a:solidFill>
                                            <a:schemeClr val="tx1"/>
                                          </a:solidFill>
                                          <a:latin typeface="Cambria Math" panose="02040503050406030204" pitchFamily="18" charset="0"/>
                                        </a:rPr>
                                      </m:ctrlPr>
                                    </m:sSupPr>
                                    <m:e>
                                      <m:d>
                                        <m:dPr>
                                          <m:ctrlPr>
                                            <a:rPr lang="en-GB" sz="2000" b="1" i="1" dirty="0">
                                              <a:solidFill>
                                                <a:schemeClr val="tx1"/>
                                              </a:solidFill>
                                              <a:latin typeface="Cambria Math" panose="02040503050406030204" pitchFamily="18" charset="0"/>
                                            </a:rPr>
                                          </m:ctrlPr>
                                        </m:dPr>
                                        <m:e>
                                          <m:sSub>
                                            <m:sSubPr>
                                              <m:ctrlPr>
                                                <a:rPr lang="en-GB" sz="2000" b="1" i="1" dirty="0">
                                                  <a:solidFill>
                                                    <a:schemeClr val="tx1"/>
                                                  </a:solidFill>
                                                  <a:latin typeface="Cambria Math" panose="02040503050406030204" pitchFamily="18" charset="0"/>
                                                </a:rPr>
                                              </m:ctrlPr>
                                            </m:sSubPr>
                                            <m:e>
                                              <m:sSub>
                                                <m:sSubPr>
                                                  <m:ctrlPr>
                                                    <a:rPr lang="en-GB" sz="2000" b="1" i="1" dirty="0">
                                                      <a:solidFill>
                                                        <a:schemeClr val="tx1"/>
                                                      </a:solidFill>
                                                      <a:latin typeface="Cambria Math" panose="02040503050406030204" pitchFamily="18" charset="0"/>
                                                    </a:rPr>
                                                  </m:ctrlPr>
                                                </m:sSubPr>
                                                <m:e>
                                                  <m:r>
                                                    <a:rPr lang="en-GB" sz="2000" b="1" i="1" dirty="0">
                                                      <a:solidFill>
                                                        <a:schemeClr val="tx1"/>
                                                      </a:solidFill>
                                                      <a:latin typeface="Cambria Math"/>
                                                    </a:rPr>
                                                    <m:t>𝑿</m:t>
                                                  </m:r>
                                                </m:e>
                                                <m:sub>
                                                  <m:r>
                                                    <a:rPr lang="en-GB" sz="2000" b="1" i="1" dirty="0">
                                                      <a:solidFill>
                                                        <a:schemeClr val="tx1"/>
                                                      </a:solidFill>
                                                      <a:latin typeface="Cambria Math"/>
                                                    </a:rPr>
                                                    <m:t>𝒊𝒋</m:t>
                                                  </m:r>
                                                </m:sub>
                                              </m:sSub>
                                              <m:r>
                                                <a:rPr lang="en-GB" sz="2000" b="1" i="1" dirty="0">
                                                  <a:solidFill>
                                                    <a:schemeClr val="tx1"/>
                                                  </a:solidFill>
                                                  <a:latin typeface="Cambria Math"/>
                                                </a:rPr>
                                                <m:t>−</m:t>
                                              </m:r>
                                              <m:acc>
                                                <m:accPr>
                                                  <m:chr m:val="̅"/>
                                                  <m:ctrlPr>
                                                    <a:rPr lang="en-GB" sz="2000" b="1" i="1" dirty="0">
                                                      <a:solidFill>
                                                        <a:schemeClr val="tx1"/>
                                                      </a:solidFill>
                                                      <a:latin typeface="Cambria Math" panose="02040503050406030204" pitchFamily="18" charset="0"/>
                                                    </a:rPr>
                                                  </m:ctrlPr>
                                                </m:accPr>
                                                <m:e>
                                                  <m:r>
                                                    <a:rPr lang="en-GB" sz="2000" b="1" i="1" dirty="0">
                                                      <a:solidFill>
                                                        <a:schemeClr val="tx1"/>
                                                      </a:solidFill>
                                                      <a:latin typeface="Cambria Math"/>
                                                    </a:rPr>
                                                    <m:t>𝑿</m:t>
                                                  </m:r>
                                                </m:e>
                                              </m:acc>
                                            </m:e>
                                            <m:sub>
                                              <m:r>
                                                <a:rPr lang="en-GB" sz="2000" b="1" i="1" dirty="0">
                                                  <a:solidFill>
                                                    <a:schemeClr val="tx1"/>
                                                  </a:solidFill>
                                                  <a:latin typeface="Cambria Math"/>
                                                </a:rPr>
                                                <m:t>𝒋</m:t>
                                              </m:r>
                                            </m:sub>
                                          </m:sSub>
                                        </m:e>
                                      </m:d>
                                    </m:e>
                                    <m:sup>
                                      <m:r>
                                        <a:rPr lang="en-GB" sz="2000" b="1" i="1" dirty="0">
                                          <a:solidFill>
                                            <a:schemeClr val="tx1"/>
                                          </a:solidFill>
                                          <a:latin typeface="Cambria Math"/>
                                        </a:rPr>
                                        <m:t>𝟐</m:t>
                                      </m:r>
                                    </m:sup>
                                  </m:sSup>
                                </m:e>
                              </m:nary>
                              <m:r>
                                <m:rPr>
                                  <m:nor/>
                                </m:rPr>
                                <a:rPr lang="en-GB" sz="2000" b="1" dirty="0">
                                  <a:solidFill>
                                    <a:schemeClr val="tx1"/>
                                  </a:solidFill>
                                </a:rPr>
                                <m:t> </m:t>
                              </m:r>
                            </m:e>
                          </m:nary>
                        </m:oMath>
                      </m:oMathPara>
                    </a14:m>
                    <a:endParaRPr lang="en-GB" sz="2000" b="1" dirty="0">
                      <a:solidFill>
                        <a:schemeClr val="tx1"/>
                      </a:solidFill>
                    </a:endParaRPr>
                  </a:p>
                </p:txBody>
              </p:sp>
            </mc:Choice>
            <mc:Fallback xmlns="">
              <p:sp>
                <p:nvSpPr>
                  <p:cNvPr id="51" name="Rectangular Callout 50"/>
                  <p:cNvSpPr>
                    <a:spLocks noRot="1" noChangeAspect="1" noMove="1" noResize="1" noEditPoints="1" noAdjustHandles="1" noChangeArrowheads="1" noChangeShapeType="1" noTextEdit="1"/>
                  </p:cNvSpPr>
                  <p:nvPr/>
                </p:nvSpPr>
                <p:spPr>
                  <a:xfrm>
                    <a:off x="6015279" y="1616954"/>
                    <a:ext cx="2325963" cy="1295400"/>
                  </a:xfrm>
                  <a:prstGeom prst="wedgeRectCallout">
                    <a:avLst>
                      <a:gd name="adj1" fmla="val -181199"/>
                      <a:gd name="adj2" fmla="val 97518"/>
                    </a:avLst>
                  </a:prstGeom>
                  <a:blipFill rotWithShape="1">
                    <a:blip r:embed="rId7"/>
                    <a:stretch>
                      <a:fillRect/>
                    </a:stretch>
                  </a:blipFill>
                  <a:ln>
                    <a:solidFill>
                      <a:schemeClr val="tx2">
                        <a:lumMod val="20000"/>
                        <a:lumOff val="80000"/>
                      </a:schemeClr>
                    </a:solidFill>
                  </a:ln>
                </p:spPr>
                <p:txBody>
                  <a:bodyPr/>
                  <a:lstStyle/>
                  <a:p>
                    <a:r>
                      <a:rPr lang="en-GB">
                        <a:noFill/>
                      </a:rPr>
                      <a:t> </a:t>
                    </a:r>
                  </a:p>
                </p:txBody>
              </p:sp>
            </mc:Fallback>
          </mc:AlternateContent>
        </p:grpSp>
        <p:sp>
          <p:nvSpPr>
            <p:cNvPr id="48" name="Rectangle 47"/>
            <p:cNvSpPr/>
            <p:nvPr/>
          </p:nvSpPr>
          <p:spPr>
            <a:xfrm>
              <a:off x="7709223" y="1600200"/>
              <a:ext cx="941476" cy="584775"/>
            </a:xfrm>
            <a:prstGeom prst="rect">
              <a:avLst/>
            </a:prstGeom>
            <a:noFill/>
            <a:ln>
              <a:noFill/>
            </a:ln>
          </p:spPr>
          <p:txBody>
            <a:bodyPr wrap="none">
              <a:spAutoFit/>
            </a:bodyPr>
            <a:lstStyle/>
            <a:p>
              <a:r>
                <a:rPr lang="en-GB" altLang="en-US" sz="3200" b="1" dirty="0"/>
                <a:t>SSW</a:t>
              </a:r>
              <a:endParaRPr lang="en-GB" sz="3200" b="1" dirty="0"/>
            </a:p>
          </p:txBody>
        </p:sp>
      </p:grpSp>
      <p:grpSp>
        <p:nvGrpSpPr>
          <p:cNvPr id="52" name="Group 51"/>
          <p:cNvGrpSpPr/>
          <p:nvPr/>
        </p:nvGrpSpPr>
        <p:grpSpPr>
          <a:xfrm>
            <a:off x="609600" y="990600"/>
            <a:ext cx="2622699" cy="1378673"/>
            <a:chOff x="609600" y="990600"/>
            <a:chExt cx="2622699" cy="1378673"/>
          </a:xfrm>
          <a:solidFill>
            <a:schemeClr val="tx2">
              <a:lumMod val="20000"/>
              <a:lumOff val="80000"/>
            </a:schemeClr>
          </a:solidFill>
        </p:grpSpPr>
        <p:grpSp>
          <p:nvGrpSpPr>
            <p:cNvPr id="53" name="Group 52"/>
            <p:cNvGrpSpPr/>
            <p:nvPr/>
          </p:nvGrpSpPr>
          <p:grpSpPr>
            <a:xfrm>
              <a:off x="609600" y="990600"/>
              <a:ext cx="2622699" cy="1378673"/>
              <a:chOff x="609600" y="990600"/>
              <a:chExt cx="2622699" cy="1378673"/>
            </a:xfrm>
            <a:grpFill/>
          </p:grpSpPr>
          <mc:AlternateContent xmlns:mc="http://schemas.openxmlformats.org/markup-compatibility/2006" xmlns:a14="http://schemas.microsoft.com/office/drawing/2010/main">
            <mc:Choice Requires="a14">
              <p:sp>
                <p:nvSpPr>
                  <p:cNvPr id="58" name="Rectangular Callout 57"/>
                  <p:cNvSpPr/>
                  <p:nvPr/>
                </p:nvSpPr>
                <p:spPr>
                  <a:xfrm>
                    <a:off x="685800" y="990600"/>
                    <a:ext cx="2546499" cy="914400"/>
                  </a:xfrm>
                  <a:prstGeom prst="wedgeRectCallout">
                    <a:avLst>
                      <a:gd name="adj1" fmla="val 39906"/>
                      <a:gd name="adj2" fmla="val 155524"/>
                    </a:avLst>
                  </a:prstGeom>
                  <a:grpFill/>
                  <a:ln>
                    <a:solidFill>
                      <a:schemeClr val="tx2">
                        <a:lumMod val="20000"/>
                        <a:lumOff val="8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GB" sz="2000" b="1" i="1" dirty="0" smtClean="0">
                                  <a:solidFill>
                                    <a:schemeClr val="bg1"/>
                                  </a:solidFill>
                                  <a:latin typeface="Cambria Math" panose="02040503050406030204" pitchFamily="18" charset="0"/>
                                </a:rPr>
                              </m:ctrlPr>
                            </m:fPr>
                            <m:num>
                              <m:r>
                                <a:rPr lang="en-GB" sz="2000" b="1" i="1" dirty="0" smtClean="0">
                                  <a:solidFill>
                                    <a:schemeClr val="bg1"/>
                                  </a:solidFill>
                                  <a:latin typeface="Cambria Math"/>
                                </a:rPr>
                                <m:t>𝟏</m:t>
                              </m:r>
                            </m:num>
                            <m:den>
                              <m:r>
                                <a:rPr lang="en-GB" sz="2000" b="1" i="1" dirty="0" smtClean="0">
                                  <a:solidFill>
                                    <a:schemeClr val="bg1"/>
                                  </a:solidFill>
                                  <a:latin typeface="Cambria Math"/>
                                </a:rPr>
                                <m:t>𝒄</m:t>
                              </m:r>
                              <m:r>
                                <a:rPr lang="en-GB" sz="2000" b="1" i="1" dirty="0" smtClean="0">
                                  <a:solidFill>
                                    <a:schemeClr val="bg1"/>
                                  </a:solidFill>
                                  <a:latin typeface="Cambria Math"/>
                                </a:rPr>
                                <m:t>−</m:t>
                              </m:r>
                              <m:r>
                                <a:rPr lang="en-GB" sz="2000" b="1" i="1" dirty="0" smtClean="0">
                                  <a:solidFill>
                                    <a:schemeClr val="bg1"/>
                                  </a:solidFill>
                                  <a:latin typeface="Cambria Math"/>
                                </a:rPr>
                                <m:t>𝟏</m:t>
                              </m:r>
                            </m:den>
                          </m:f>
                          <m:nary>
                            <m:naryPr>
                              <m:chr m:val="∑"/>
                              <m:subHide m:val="on"/>
                              <m:supHide m:val="on"/>
                              <m:ctrlPr>
                                <a:rPr lang="en-GB" sz="2000" b="1" i="1" dirty="0" smtClean="0">
                                  <a:solidFill>
                                    <a:schemeClr val="bg1"/>
                                  </a:solidFill>
                                  <a:latin typeface="Cambria Math" panose="02040503050406030204" pitchFamily="18" charset="0"/>
                                </a:rPr>
                              </m:ctrlPr>
                            </m:naryPr>
                            <m:sub/>
                            <m:sup/>
                            <m:e>
                              <m:sSub>
                                <m:sSubPr>
                                  <m:ctrlPr>
                                    <a:rPr lang="en-GB" sz="2000" b="1" i="1" dirty="0" smtClean="0">
                                      <a:solidFill>
                                        <a:schemeClr val="bg1"/>
                                      </a:solidFill>
                                      <a:latin typeface="Cambria Math" panose="02040503050406030204" pitchFamily="18" charset="0"/>
                                    </a:rPr>
                                  </m:ctrlPr>
                                </m:sSubPr>
                                <m:e>
                                  <m:r>
                                    <a:rPr lang="en-GB" sz="2000" b="1" i="1" dirty="0" smtClean="0">
                                      <a:solidFill>
                                        <a:schemeClr val="bg1"/>
                                      </a:solidFill>
                                      <a:latin typeface="Cambria Math"/>
                                    </a:rPr>
                                    <m:t>𝒏</m:t>
                                  </m:r>
                                </m:e>
                                <m:sub>
                                  <m:r>
                                    <a:rPr lang="en-GB" sz="2000" b="1" i="1" dirty="0" smtClean="0">
                                      <a:solidFill>
                                        <a:schemeClr val="bg1"/>
                                      </a:solidFill>
                                      <a:latin typeface="Cambria Math"/>
                                    </a:rPr>
                                    <m:t>𝒋</m:t>
                                  </m:r>
                                </m:sub>
                              </m:sSub>
                              <m:sSup>
                                <m:sSupPr>
                                  <m:ctrlPr>
                                    <a:rPr lang="en-GB" sz="2000" b="1" i="1" dirty="0" smtClean="0">
                                      <a:solidFill>
                                        <a:schemeClr val="bg1"/>
                                      </a:solidFill>
                                      <a:latin typeface="Cambria Math" panose="02040503050406030204" pitchFamily="18" charset="0"/>
                                    </a:rPr>
                                  </m:ctrlPr>
                                </m:sSupPr>
                                <m:e>
                                  <m:d>
                                    <m:dPr>
                                      <m:ctrlPr>
                                        <a:rPr lang="en-GB" sz="2000" b="1" i="1" dirty="0">
                                          <a:solidFill>
                                            <a:schemeClr val="bg1"/>
                                          </a:solidFill>
                                          <a:latin typeface="Cambria Math" panose="02040503050406030204" pitchFamily="18" charset="0"/>
                                        </a:rPr>
                                      </m:ctrlPr>
                                    </m:dPr>
                                    <m:e>
                                      <m:sSub>
                                        <m:sSubPr>
                                          <m:ctrlPr>
                                            <a:rPr lang="en-GB" sz="2000" b="1" i="1" dirty="0">
                                              <a:solidFill>
                                                <a:schemeClr val="bg1"/>
                                              </a:solidFill>
                                              <a:latin typeface="Cambria Math" panose="02040503050406030204" pitchFamily="18" charset="0"/>
                                            </a:rPr>
                                          </m:ctrlPr>
                                        </m:sSubPr>
                                        <m:e>
                                          <m:acc>
                                            <m:accPr>
                                              <m:chr m:val="̅"/>
                                              <m:ctrlPr>
                                                <a:rPr lang="en-GB" sz="2000" b="1" i="1" dirty="0">
                                                  <a:solidFill>
                                                    <a:schemeClr val="bg1"/>
                                                  </a:solidFill>
                                                  <a:latin typeface="Cambria Math" panose="02040503050406030204" pitchFamily="18" charset="0"/>
                                                </a:rPr>
                                              </m:ctrlPr>
                                            </m:accPr>
                                            <m:e>
                                              <m:r>
                                                <a:rPr lang="en-GB" sz="2000" b="1" i="1" dirty="0">
                                                  <a:solidFill>
                                                    <a:schemeClr val="bg1"/>
                                                  </a:solidFill>
                                                  <a:latin typeface="Cambria Math"/>
                                                </a:rPr>
                                                <m:t>𝑿</m:t>
                                              </m:r>
                                            </m:e>
                                          </m:acc>
                                        </m:e>
                                        <m:sub>
                                          <m:r>
                                            <a:rPr lang="en-GB" sz="2000" b="1" i="1" dirty="0">
                                              <a:solidFill>
                                                <a:schemeClr val="bg1"/>
                                              </a:solidFill>
                                              <a:latin typeface="Cambria Math"/>
                                            </a:rPr>
                                            <m:t>𝒋</m:t>
                                          </m:r>
                                        </m:sub>
                                      </m:sSub>
                                      <m:r>
                                        <a:rPr lang="en-GB" sz="2000" b="1" i="1" dirty="0">
                                          <a:solidFill>
                                            <a:schemeClr val="bg1"/>
                                          </a:solidFill>
                                          <a:latin typeface="Cambria Math"/>
                                        </a:rPr>
                                        <m:t>−</m:t>
                                      </m:r>
                                      <m:acc>
                                        <m:accPr>
                                          <m:chr m:val="̿"/>
                                          <m:ctrlPr>
                                            <a:rPr lang="en-GB" sz="2000" b="1" i="1" dirty="0">
                                              <a:solidFill>
                                                <a:schemeClr val="bg1"/>
                                              </a:solidFill>
                                              <a:latin typeface="Cambria Math" panose="02040503050406030204" pitchFamily="18" charset="0"/>
                                            </a:rPr>
                                          </m:ctrlPr>
                                        </m:accPr>
                                        <m:e>
                                          <m:r>
                                            <a:rPr lang="en-GB" sz="2000" b="1" i="1" dirty="0">
                                              <a:solidFill>
                                                <a:schemeClr val="bg1"/>
                                              </a:solidFill>
                                              <a:latin typeface="Cambria Math"/>
                                            </a:rPr>
                                            <m:t>𝑿</m:t>
                                          </m:r>
                                        </m:e>
                                      </m:acc>
                                    </m:e>
                                  </m:d>
                                </m:e>
                                <m:sup>
                                  <m:r>
                                    <a:rPr lang="en-GB" sz="2000" b="1" i="1" dirty="0" smtClean="0">
                                      <a:solidFill>
                                        <a:schemeClr val="bg1"/>
                                      </a:solidFill>
                                      <a:latin typeface="Cambria Math"/>
                                    </a:rPr>
                                    <m:t>𝟐</m:t>
                                  </m:r>
                                </m:sup>
                              </m:sSup>
                            </m:e>
                          </m:nary>
                        </m:oMath>
                      </m:oMathPara>
                    </a14:m>
                    <a:endParaRPr lang="en-GB" sz="2000" b="1" dirty="0">
                      <a:solidFill>
                        <a:schemeClr val="bg1"/>
                      </a:solidFill>
                    </a:endParaRPr>
                  </a:p>
                </p:txBody>
              </p:sp>
            </mc:Choice>
            <mc:Fallback xmlns="">
              <p:sp>
                <p:nvSpPr>
                  <p:cNvPr id="58" name="Rectangular Callout 57"/>
                  <p:cNvSpPr>
                    <a:spLocks noRot="1" noChangeAspect="1" noMove="1" noResize="1" noEditPoints="1" noAdjustHandles="1" noChangeArrowheads="1" noChangeShapeType="1" noTextEdit="1"/>
                  </p:cNvSpPr>
                  <p:nvPr/>
                </p:nvSpPr>
                <p:spPr>
                  <a:xfrm>
                    <a:off x="685800" y="990600"/>
                    <a:ext cx="2546499" cy="914400"/>
                  </a:xfrm>
                  <a:prstGeom prst="wedgeRectCallout">
                    <a:avLst>
                      <a:gd name="adj1" fmla="val 39906"/>
                      <a:gd name="adj2" fmla="val 155524"/>
                    </a:avLst>
                  </a:prstGeom>
                  <a:blipFill rotWithShape="1">
                    <a:blip r:embed="rId8"/>
                    <a:stretch>
                      <a:fillRect/>
                    </a:stretch>
                  </a:blipFill>
                </p:spPr>
                <p:txBody>
                  <a:bodyPr/>
                  <a:lstStyle/>
                  <a:p>
                    <a:r>
                      <a:rPr lang="en-GB">
                        <a:noFill/>
                      </a:rPr>
                      <a:t> </a:t>
                    </a:r>
                  </a:p>
                </p:txBody>
              </p:sp>
            </mc:Fallback>
          </mc:AlternateContent>
          <p:sp>
            <p:nvSpPr>
              <p:cNvPr id="59" name="Rectangle 58"/>
              <p:cNvSpPr/>
              <p:nvPr/>
            </p:nvSpPr>
            <p:spPr>
              <a:xfrm>
                <a:off x="609600" y="1784498"/>
                <a:ext cx="803425" cy="584775"/>
              </a:xfrm>
              <a:prstGeom prst="rect">
                <a:avLst/>
              </a:prstGeom>
              <a:noFill/>
              <a:ln>
                <a:noFill/>
              </a:ln>
            </p:spPr>
            <p:txBody>
              <a:bodyPr wrap="none">
                <a:spAutoFit/>
              </a:bodyPr>
              <a:lstStyle/>
              <a:p>
                <a:r>
                  <a:rPr lang="en-GB" altLang="en-US" sz="3200" b="1" dirty="0"/>
                  <a:t>SSB</a:t>
                </a:r>
                <a:endParaRPr lang="en-GB" sz="3200" b="1" dirty="0"/>
              </a:p>
            </p:txBody>
          </p:sp>
        </p:grpSp>
        <mc:AlternateContent xmlns:mc="http://schemas.openxmlformats.org/markup-compatibility/2006" xmlns:a14="http://schemas.microsoft.com/office/drawing/2010/main">
          <mc:Choice Requires="a14">
            <p:sp>
              <p:nvSpPr>
                <p:cNvPr id="56" name="Rectangular Callout 55"/>
                <p:cNvSpPr/>
                <p:nvPr/>
              </p:nvSpPr>
              <p:spPr>
                <a:xfrm>
                  <a:off x="685800" y="990600"/>
                  <a:ext cx="2546499" cy="914400"/>
                </a:xfrm>
                <a:prstGeom prst="wedgeRectCallout">
                  <a:avLst>
                    <a:gd name="adj1" fmla="val 98778"/>
                    <a:gd name="adj2" fmla="val 146222"/>
                  </a:avLst>
                </a:prstGeom>
                <a:grpFill/>
                <a:ln>
                  <a:solidFill>
                    <a:schemeClr val="tx2">
                      <a:lumMod val="20000"/>
                      <a:lumOff val="8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GB" sz="2000" b="1" i="1" dirty="0" smtClean="0">
                                <a:solidFill>
                                  <a:schemeClr val="bg1"/>
                                </a:solidFill>
                                <a:latin typeface="Cambria Math" panose="02040503050406030204" pitchFamily="18" charset="0"/>
                              </a:rPr>
                            </m:ctrlPr>
                          </m:fPr>
                          <m:num>
                            <m:r>
                              <a:rPr lang="en-GB" sz="2000" b="1" i="1" dirty="0" smtClean="0">
                                <a:solidFill>
                                  <a:schemeClr val="bg1"/>
                                </a:solidFill>
                                <a:latin typeface="Cambria Math"/>
                              </a:rPr>
                              <m:t>𝟏</m:t>
                            </m:r>
                          </m:num>
                          <m:den>
                            <m:r>
                              <a:rPr lang="en-GB" sz="2000" b="1" i="1" dirty="0" smtClean="0">
                                <a:solidFill>
                                  <a:schemeClr val="bg1"/>
                                </a:solidFill>
                                <a:latin typeface="Cambria Math"/>
                              </a:rPr>
                              <m:t>𝒄</m:t>
                            </m:r>
                            <m:r>
                              <a:rPr lang="en-GB" sz="2000" b="1" i="1" dirty="0" smtClean="0">
                                <a:solidFill>
                                  <a:schemeClr val="bg1"/>
                                </a:solidFill>
                                <a:latin typeface="Cambria Math"/>
                              </a:rPr>
                              <m:t>−</m:t>
                            </m:r>
                            <m:r>
                              <a:rPr lang="en-GB" sz="2000" b="1" i="1" dirty="0" smtClean="0">
                                <a:solidFill>
                                  <a:schemeClr val="bg1"/>
                                </a:solidFill>
                                <a:latin typeface="Cambria Math"/>
                              </a:rPr>
                              <m:t>𝟏</m:t>
                            </m:r>
                          </m:den>
                        </m:f>
                        <m:nary>
                          <m:naryPr>
                            <m:chr m:val="∑"/>
                            <m:subHide m:val="on"/>
                            <m:supHide m:val="on"/>
                            <m:ctrlPr>
                              <a:rPr lang="en-GB" sz="2000" b="1" i="1" dirty="0" smtClean="0">
                                <a:solidFill>
                                  <a:schemeClr val="bg1"/>
                                </a:solidFill>
                                <a:latin typeface="Cambria Math" panose="02040503050406030204" pitchFamily="18" charset="0"/>
                              </a:rPr>
                            </m:ctrlPr>
                          </m:naryPr>
                          <m:sub/>
                          <m:sup/>
                          <m:e>
                            <m:sSub>
                              <m:sSubPr>
                                <m:ctrlPr>
                                  <a:rPr lang="en-GB" sz="2000" b="1" i="1" dirty="0" smtClean="0">
                                    <a:solidFill>
                                      <a:schemeClr val="bg1"/>
                                    </a:solidFill>
                                    <a:latin typeface="Cambria Math" panose="02040503050406030204" pitchFamily="18" charset="0"/>
                                  </a:rPr>
                                </m:ctrlPr>
                              </m:sSubPr>
                              <m:e>
                                <m:r>
                                  <a:rPr lang="en-GB" sz="2000" b="1" i="1" dirty="0" smtClean="0">
                                    <a:solidFill>
                                      <a:schemeClr val="bg1"/>
                                    </a:solidFill>
                                    <a:latin typeface="Cambria Math"/>
                                  </a:rPr>
                                  <m:t>𝒏</m:t>
                                </m:r>
                              </m:e>
                              <m:sub>
                                <m:r>
                                  <a:rPr lang="en-GB" sz="2000" b="1" i="1" dirty="0" smtClean="0">
                                    <a:solidFill>
                                      <a:schemeClr val="bg1"/>
                                    </a:solidFill>
                                    <a:latin typeface="Cambria Math"/>
                                  </a:rPr>
                                  <m:t>𝒋</m:t>
                                </m:r>
                              </m:sub>
                            </m:sSub>
                            <m:sSup>
                              <m:sSupPr>
                                <m:ctrlPr>
                                  <a:rPr lang="en-GB" sz="2000" b="1" i="1" dirty="0" smtClean="0">
                                    <a:solidFill>
                                      <a:schemeClr val="bg1"/>
                                    </a:solidFill>
                                    <a:latin typeface="Cambria Math" panose="02040503050406030204" pitchFamily="18" charset="0"/>
                                  </a:rPr>
                                </m:ctrlPr>
                              </m:sSupPr>
                              <m:e>
                                <m:d>
                                  <m:dPr>
                                    <m:ctrlPr>
                                      <a:rPr lang="en-GB" sz="2000" b="1" i="1" dirty="0">
                                        <a:solidFill>
                                          <a:schemeClr val="bg1"/>
                                        </a:solidFill>
                                        <a:latin typeface="Cambria Math" panose="02040503050406030204" pitchFamily="18" charset="0"/>
                                      </a:rPr>
                                    </m:ctrlPr>
                                  </m:dPr>
                                  <m:e>
                                    <m:sSub>
                                      <m:sSubPr>
                                        <m:ctrlPr>
                                          <a:rPr lang="en-GB" sz="2000" b="1" i="1" dirty="0">
                                            <a:solidFill>
                                              <a:schemeClr val="bg1"/>
                                            </a:solidFill>
                                            <a:latin typeface="Cambria Math" panose="02040503050406030204" pitchFamily="18" charset="0"/>
                                          </a:rPr>
                                        </m:ctrlPr>
                                      </m:sSubPr>
                                      <m:e>
                                        <m:acc>
                                          <m:accPr>
                                            <m:chr m:val="̅"/>
                                            <m:ctrlPr>
                                              <a:rPr lang="en-GB" sz="2000" b="1" i="1" dirty="0">
                                                <a:solidFill>
                                                  <a:schemeClr val="bg1"/>
                                                </a:solidFill>
                                                <a:latin typeface="Cambria Math" panose="02040503050406030204" pitchFamily="18" charset="0"/>
                                              </a:rPr>
                                            </m:ctrlPr>
                                          </m:accPr>
                                          <m:e>
                                            <m:r>
                                              <a:rPr lang="en-GB" sz="2000" b="1" i="1" dirty="0">
                                                <a:solidFill>
                                                  <a:schemeClr val="bg1"/>
                                                </a:solidFill>
                                                <a:latin typeface="Cambria Math"/>
                                              </a:rPr>
                                              <m:t>𝑿</m:t>
                                            </m:r>
                                          </m:e>
                                        </m:acc>
                                      </m:e>
                                      <m:sub>
                                        <m:r>
                                          <a:rPr lang="en-GB" sz="2000" b="1" i="1" dirty="0">
                                            <a:solidFill>
                                              <a:schemeClr val="bg1"/>
                                            </a:solidFill>
                                            <a:latin typeface="Cambria Math"/>
                                          </a:rPr>
                                          <m:t>𝒋</m:t>
                                        </m:r>
                                      </m:sub>
                                    </m:sSub>
                                    <m:r>
                                      <a:rPr lang="en-GB" sz="2000" b="1" i="1" dirty="0">
                                        <a:solidFill>
                                          <a:schemeClr val="bg1"/>
                                        </a:solidFill>
                                        <a:latin typeface="Cambria Math"/>
                                      </a:rPr>
                                      <m:t>−</m:t>
                                    </m:r>
                                    <m:acc>
                                      <m:accPr>
                                        <m:chr m:val="̿"/>
                                        <m:ctrlPr>
                                          <a:rPr lang="en-GB" sz="2000" b="1" i="1" dirty="0">
                                            <a:solidFill>
                                              <a:schemeClr val="bg1"/>
                                            </a:solidFill>
                                            <a:latin typeface="Cambria Math" panose="02040503050406030204" pitchFamily="18" charset="0"/>
                                          </a:rPr>
                                        </m:ctrlPr>
                                      </m:accPr>
                                      <m:e>
                                        <m:r>
                                          <a:rPr lang="en-GB" sz="2000" b="1" i="1" dirty="0">
                                            <a:solidFill>
                                              <a:schemeClr val="bg1"/>
                                            </a:solidFill>
                                            <a:latin typeface="Cambria Math"/>
                                          </a:rPr>
                                          <m:t>𝑿</m:t>
                                        </m:r>
                                      </m:e>
                                    </m:acc>
                                  </m:e>
                                </m:d>
                              </m:e>
                              <m:sup>
                                <m:r>
                                  <a:rPr lang="en-GB" sz="2000" b="1" i="1" dirty="0" smtClean="0">
                                    <a:solidFill>
                                      <a:schemeClr val="bg1"/>
                                    </a:solidFill>
                                    <a:latin typeface="Cambria Math"/>
                                  </a:rPr>
                                  <m:t>𝟐</m:t>
                                </m:r>
                              </m:sup>
                            </m:sSup>
                          </m:e>
                        </m:nary>
                      </m:oMath>
                    </m:oMathPara>
                  </a14:m>
                  <a:endParaRPr lang="en-GB" sz="2000" b="1" dirty="0">
                    <a:solidFill>
                      <a:schemeClr val="bg1"/>
                    </a:solidFill>
                  </a:endParaRPr>
                </a:p>
              </p:txBody>
            </p:sp>
          </mc:Choice>
          <mc:Fallback xmlns="">
            <p:sp>
              <p:nvSpPr>
                <p:cNvPr id="56" name="Rectangular Callout 55"/>
                <p:cNvSpPr>
                  <a:spLocks noRot="1" noChangeAspect="1" noMove="1" noResize="1" noEditPoints="1" noAdjustHandles="1" noChangeArrowheads="1" noChangeShapeType="1" noTextEdit="1"/>
                </p:cNvSpPr>
                <p:nvPr/>
              </p:nvSpPr>
              <p:spPr>
                <a:xfrm>
                  <a:off x="685800" y="990600"/>
                  <a:ext cx="2546499" cy="914400"/>
                </a:xfrm>
                <a:prstGeom prst="wedgeRectCallout">
                  <a:avLst>
                    <a:gd name="adj1" fmla="val 98778"/>
                    <a:gd name="adj2" fmla="val 146222"/>
                  </a:avLst>
                </a:prstGeom>
                <a:blipFill rotWithShape="1">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5" name="Rectangular Callout 54"/>
                <p:cNvSpPr/>
                <p:nvPr/>
              </p:nvSpPr>
              <p:spPr>
                <a:xfrm>
                  <a:off x="685800" y="990600"/>
                  <a:ext cx="2546499" cy="914400"/>
                </a:xfrm>
                <a:prstGeom prst="wedgeRectCallout">
                  <a:avLst>
                    <a:gd name="adj1" fmla="val 89175"/>
                    <a:gd name="adj2" fmla="val 167152"/>
                  </a:avLst>
                </a:prstGeom>
                <a:grpFill/>
                <a:ln>
                  <a:solidFill>
                    <a:schemeClr val="tx2">
                      <a:lumMod val="20000"/>
                      <a:lumOff val="8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en-GB" sz="2000" b="1" i="1" dirty="0" smtClean="0">
                                <a:solidFill>
                                  <a:schemeClr val="tx1"/>
                                </a:solidFill>
                                <a:latin typeface="Cambria Math" panose="02040503050406030204" pitchFamily="18" charset="0"/>
                              </a:rPr>
                            </m:ctrlPr>
                          </m:naryPr>
                          <m:sub/>
                          <m:sup/>
                          <m:e>
                            <m:sSub>
                              <m:sSubPr>
                                <m:ctrlPr>
                                  <a:rPr lang="en-GB" sz="2000" b="1" i="1" dirty="0" smtClean="0">
                                    <a:solidFill>
                                      <a:schemeClr val="tx1"/>
                                    </a:solidFill>
                                    <a:latin typeface="Cambria Math" panose="02040503050406030204" pitchFamily="18" charset="0"/>
                                  </a:rPr>
                                </m:ctrlPr>
                              </m:sSubPr>
                              <m:e>
                                <m:r>
                                  <a:rPr lang="en-GB" sz="2000" b="1" i="1" dirty="0" smtClean="0">
                                    <a:solidFill>
                                      <a:schemeClr val="tx1"/>
                                    </a:solidFill>
                                    <a:latin typeface="Cambria Math"/>
                                  </a:rPr>
                                  <m:t>𝒏</m:t>
                                </m:r>
                              </m:e>
                              <m:sub>
                                <m:r>
                                  <a:rPr lang="en-GB" sz="2000" b="1" i="1" dirty="0" smtClean="0">
                                    <a:solidFill>
                                      <a:schemeClr val="tx1"/>
                                    </a:solidFill>
                                    <a:latin typeface="Cambria Math"/>
                                  </a:rPr>
                                  <m:t>𝒋</m:t>
                                </m:r>
                              </m:sub>
                            </m:sSub>
                            <m:sSup>
                              <m:sSupPr>
                                <m:ctrlPr>
                                  <a:rPr lang="en-GB" sz="2000" b="1" i="1" dirty="0" smtClean="0">
                                    <a:solidFill>
                                      <a:schemeClr val="tx1"/>
                                    </a:solidFill>
                                    <a:latin typeface="Cambria Math" panose="02040503050406030204" pitchFamily="18" charset="0"/>
                                  </a:rPr>
                                </m:ctrlPr>
                              </m:sSupPr>
                              <m:e>
                                <m:d>
                                  <m:dPr>
                                    <m:ctrlPr>
                                      <a:rPr lang="en-GB" sz="2000" b="1" i="1" dirty="0">
                                        <a:solidFill>
                                          <a:schemeClr val="tx1"/>
                                        </a:solidFill>
                                        <a:latin typeface="Cambria Math" panose="02040503050406030204" pitchFamily="18" charset="0"/>
                                      </a:rPr>
                                    </m:ctrlPr>
                                  </m:dPr>
                                  <m:e>
                                    <m:sSub>
                                      <m:sSubPr>
                                        <m:ctrlPr>
                                          <a:rPr lang="en-GB" sz="2000" b="1" i="1" dirty="0">
                                            <a:solidFill>
                                              <a:schemeClr val="tx1"/>
                                            </a:solidFill>
                                            <a:latin typeface="Cambria Math" panose="02040503050406030204" pitchFamily="18" charset="0"/>
                                          </a:rPr>
                                        </m:ctrlPr>
                                      </m:sSubPr>
                                      <m:e>
                                        <m:acc>
                                          <m:accPr>
                                            <m:chr m:val="̅"/>
                                            <m:ctrlPr>
                                              <a:rPr lang="en-GB" sz="2000" b="1" i="1" dirty="0">
                                                <a:solidFill>
                                                  <a:schemeClr val="tx1"/>
                                                </a:solidFill>
                                                <a:latin typeface="Cambria Math" panose="02040503050406030204" pitchFamily="18" charset="0"/>
                                              </a:rPr>
                                            </m:ctrlPr>
                                          </m:accPr>
                                          <m:e>
                                            <m:r>
                                              <a:rPr lang="en-GB" sz="2000" b="1" i="1" dirty="0">
                                                <a:solidFill>
                                                  <a:schemeClr val="tx1"/>
                                                </a:solidFill>
                                                <a:latin typeface="Cambria Math"/>
                                              </a:rPr>
                                              <m:t>𝑿</m:t>
                                            </m:r>
                                          </m:e>
                                        </m:acc>
                                      </m:e>
                                      <m:sub>
                                        <m:r>
                                          <a:rPr lang="en-GB" sz="2000" b="1" i="1" dirty="0">
                                            <a:solidFill>
                                              <a:schemeClr val="tx1"/>
                                            </a:solidFill>
                                            <a:latin typeface="Cambria Math"/>
                                          </a:rPr>
                                          <m:t>𝒋</m:t>
                                        </m:r>
                                      </m:sub>
                                    </m:sSub>
                                    <m:r>
                                      <a:rPr lang="en-GB" sz="2000" b="1" i="1" dirty="0">
                                        <a:solidFill>
                                          <a:schemeClr val="tx1"/>
                                        </a:solidFill>
                                        <a:latin typeface="Cambria Math"/>
                                      </a:rPr>
                                      <m:t>−</m:t>
                                    </m:r>
                                    <m:acc>
                                      <m:accPr>
                                        <m:chr m:val="̿"/>
                                        <m:ctrlPr>
                                          <a:rPr lang="en-GB" sz="2000" b="1" i="1" dirty="0">
                                            <a:solidFill>
                                              <a:schemeClr val="tx1"/>
                                            </a:solidFill>
                                            <a:latin typeface="Cambria Math" panose="02040503050406030204" pitchFamily="18" charset="0"/>
                                          </a:rPr>
                                        </m:ctrlPr>
                                      </m:accPr>
                                      <m:e>
                                        <m:r>
                                          <a:rPr lang="en-GB" sz="2000" b="1" i="1" dirty="0">
                                            <a:solidFill>
                                              <a:schemeClr val="tx1"/>
                                            </a:solidFill>
                                            <a:latin typeface="Cambria Math"/>
                                          </a:rPr>
                                          <m:t>𝑿</m:t>
                                        </m:r>
                                      </m:e>
                                    </m:acc>
                                  </m:e>
                                </m:d>
                              </m:e>
                              <m:sup>
                                <m:r>
                                  <a:rPr lang="en-GB" sz="2000" b="1" i="1" dirty="0" smtClean="0">
                                    <a:solidFill>
                                      <a:schemeClr val="tx1"/>
                                    </a:solidFill>
                                    <a:latin typeface="Cambria Math"/>
                                  </a:rPr>
                                  <m:t>𝟐</m:t>
                                </m:r>
                              </m:sup>
                            </m:sSup>
                          </m:e>
                        </m:nary>
                      </m:oMath>
                    </m:oMathPara>
                  </a14:m>
                  <a:endParaRPr lang="en-GB" sz="2000" b="1" dirty="0">
                    <a:solidFill>
                      <a:schemeClr val="tx1"/>
                    </a:solidFill>
                  </a:endParaRPr>
                </a:p>
              </p:txBody>
            </p:sp>
          </mc:Choice>
          <mc:Fallback xmlns="">
            <p:sp>
              <p:nvSpPr>
                <p:cNvPr id="55" name="Rectangular Callout 54"/>
                <p:cNvSpPr>
                  <a:spLocks noRot="1" noChangeAspect="1" noMove="1" noResize="1" noEditPoints="1" noAdjustHandles="1" noChangeArrowheads="1" noChangeShapeType="1" noTextEdit="1"/>
                </p:cNvSpPr>
                <p:nvPr/>
              </p:nvSpPr>
              <p:spPr>
                <a:xfrm>
                  <a:off x="685800" y="990600"/>
                  <a:ext cx="2546499" cy="914400"/>
                </a:xfrm>
                <a:prstGeom prst="wedgeRectCallout">
                  <a:avLst>
                    <a:gd name="adj1" fmla="val 89175"/>
                    <a:gd name="adj2" fmla="val 167152"/>
                  </a:avLst>
                </a:prstGeom>
                <a:blipFill rotWithShape="1">
                  <a:blip r:embed="rId10"/>
                  <a:stretch>
                    <a:fillRect/>
                  </a:stretch>
                </a:blipFill>
                <a:ln>
                  <a:solidFill>
                    <a:schemeClr val="tx2">
                      <a:lumMod val="20000"/>
                      <a:lumOff val="80000"/>
                    </a:schemeClr>
                  </a:solidFill>
                </a:ln>
              </p:spPr>
              <p:txBody>
                <a:bodyPr/>
                <a:lstStyle/>
                <a:p>
                  <a:r>
                    <a:rPr lang="en-GB">
                      <a:noFill/>
                    </a:rPr>
                    <a:t> </a:t>
                  </a:r>
                </a:p>
              </p:txBody>
            </p:sp>
          </mc:Fallback>
        </mc:AlternateContent>
      </p:grpSp>
    </p:spTree>
    <p:extLst>
      <p:ext uri="{BB962C8B-B14F-4D97-AF65-F5344CB8AC3E}">
        <p14:creationId xmlns:p14="http://schemas.microsoft.com/office/powerpoint/2010/main" val="10693174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altLang="en-US" dirty="0"/>
              <a:t>One-way ANOVA</a:t>
            </a:r>
            <a:endParaRPr lang="en-GB" dirty="0"/>
          </a:p>
        </p:txBody>
      </p:sp>
      <p:grpSp>
        <p:nvGrpSpPr>
          <p:cNvPr id="2" name="Group 1"/>
          <p:cNvGrpSpPr/>
          <p:nvPr/>
        </p:nvGrpSpPr>
        <p:grpSpPr>
          <a:xfrm>
            <a:off x="381000" y="2633877"/>
            <a:ext cx="7772400" cy="2014323"/>
            <a:chOff x="685800" y="1591336"/>
            <a:chExt cx="7772400" cy="1211263"/>
          </a:xfrm>
        </p:grpSpPr>
        <p:sp>
          <p:nvSpPr>
            <p:cNvPr id="6" name="Freeform 2"/>
            <p:cNvSpPr>
              <a:spLocks/>
            </p:cNvSpPr>
            <p:nvPr/>
          </p:nvSpPr>
          <p:spPr bwMode="auto">
            <a:xfrm>
              <a:off x="1676400" y="1905000"/>
              <a:ext cx="1828800" cy="833438"/>
            </a:xfrm>
            <a:custGeom>
              <a:avLst/>
              <a:gdLst>
                <a:gd name="T0" fmla="*/ 24 w 2586"/>
                <a:gd name="T1" fmla="*/ 1168 h 1178"/>
                <a:gd name="T2" fmla="*/ 79 w 2586"/>
                <a:gd name="T3" fmla="*/ 1144 h 1178"/>
                <a:gd name="T4" fmla="*/ 152 w 2586"/>
                <a:gd name="T5" fmla="*/ 1108 h 1178"/>
                <a:gd name="T6" fmla="*/ 234 w 2586"/>
                <a:gd name="T7" fmla="*/ 1065 h 1178"/>
                <a:gd name="T8" fmla="*/ 319 w 2586"/>
                <a:gd name="T9" fmla="*/ 1020 h 1178"/>
                <a:gd name="T10" fmla="*/ 398 w 2586"/>
                <a:gd name="T11" fmla="*/ 976 h 1178"/>
                <a:gd name="T12" fmla="*/ 462 w 2586"/>
                <a:gd name="T13" fmla="*/ 938 h 1178"/>
                <a:gd name="T14" fmla="*/ 504 w 2586"/>
                <a:gd name="T15" fmla="*/ 910 h 1178"/>
                <a:gd name="T16" fmla="*/ 539 w 2586"/>
                <a:gd name="T17" fmla="*/ 877 h 1178"/>
                <a:gd name="T18" fmla="*/ 576 w 2586"/>
                <a:gd name="T19" fmla="*/ 836 h 1178"/>
                <a:gd name="T20" fmla="*/ 613 w 2586"/>
                <a:gd name="T21" fmla="*/ 791 h 1178"/>
                <a:gd name="T22" fmla="*/ 647 w 2586"/>
                <a:gd name="T23" fmla="*/ 742 h 1178"/>
                <a:gd name="T24" fmla="*/ 699 w 2586"/>
                <a:gd name="T25" fmla="*/ 655 h 1178"/>
                <a:gd name="T26" fmla="*/ 754 w 2586"/>
                <a:gd name="T27" fmla="*/ 556 h 1178"/>
                <a:gd name="T28" fmla="*/ 807 w 2586"/>
                <a:gd name="T29" fmla="*/ 456 h 1178"/>
                <a:gd name="T30" fmla="*/ 861 w 2586"/>
                <a:gd name="T31" fmla="*/ 355 h 1178"/>
                <a:gd name="T32" fmla="*/ 898 w 2586"/>
                <a:gd name="T33" fmla="*/ 287 h 1178"/>
                <a:gd name="T34" fmla="*/ 932 w 2586"/>
                <a:gd name="T35" fmla="*/ 231 h 1178"/>
                <a:gd name="T36" fmla="*/ 973 w 2586"/>
                <a:gd name="T37" fmla="*/ 176 h 1178"/>
                <a:gd name="T38" fmla="*/ 1018 w 2586"/>
                <a:gd name="T39" fmla="*/ 124 h 1178"/>
                <a:gd name="T40" fmla="*/ 1067 w 2586"/>
                <a:gd name="T41" fmla="*/ 78 h 1178"/>
                <a:gd name="T42" fmla="*/ 1119 w 2586"/>
                <a:gd name="T43" fmla="*/ 41 h 1178"/>
                <a:gd name="T44" fmla="*/ 1174 w 2586"/>
                <a:gd name="T45" fmla="*/ 14 h 1178"/>
                <a:gd name="T46" fmla="*/ 1231 w 2586"/>
                <a:gd name="T47" fmla="*/ 1 h 1178"/>
                <a:gd name="T48" fmla="*/ 1288 w 2586"/>
                <a:gd name="T49" fmla="*/ 2 h 1178"/>
                <a:gd name="T50" fmla="*/ 1341 w 2586"/>
                <a:gd name="T51" fmla="*/ 11 h 1178"/>
                <a:gd name="T52" fmla="*/ 1390 w 2586"/>
                <a:gd name="T53" fmla="*/ 29 h 1178"/>
                <a:gd name="T54" fmla="*/ 1437 w 2586"/>
                <a:gd name="T55" fmla="*/ 57 h 1178"/>
                <a:gd name="T56" fmla="*/ 1483 w 2586"/>
                <a:gd name="T57" fmla="*/ 96 h 1178"/>
                <a:gd name="T58" fmla="*/ 1530 w 2586"/>
                <a:gd name="T59" fmla="*/ 145 h 1178"/>
                <a:gd name="T60" fmla="*/ 1578 w 2586"/>
                <a:gd name="T61" fmla="*/ 204 h 1178"/>
                <a:gd name="T62" fmla="*/ 1630 w 2586"/>
                <a:gd name="T63" fmla="*/ 275 h 1178"/>
                <a:gd name="T64" fmla="*/ 1693 w 2586"/>
                <a:gd name="T65" fmla="*/ 379 h 1178"/>
                <a:gd name="T66" fmla="*/ 1746 w 2586"/>
                <a:gd name="T67" fmla="*/ 498 h 1178"/>
                <a:gd name="T68" fmla="*/ 1797 w 2586"/>
                <a:gd name="T69" fmla="*/ 622 h 1178"/>
                <a:gd name="T70" fmla="*/ 1853 w 2586"/>
                <a:gd name="T71" fmla="*/ 741 h 1178"/>
                <a:gd name="T72" fmla="*/ 1885 w 2586"/>
                <a:gd name="T73" fmla="*/ 791 h 1178"/>
                <a:gd name="T74" fmla="*/ 1913 w 2586"/>
                <a:gd name="T75" fmla="*/ 823 h 1178"/>
                <a:gd name="T76" fmla="*/ 1949 w 2586"/>
                <a:gd name="T77" fmla="*/ 860 h 1178"/>
                <a:gd name="T78" fmla="*/ 1989 w 2586"/>
                <a:gd name="T79" fmla="*/ 896 h 1178"/>
                <a:gd name="T80" fmla="*/ 2033 w 2586"/>
                <a:gd name="T81" fmla="*/ 932 h 1178"/>
                <a:gd name="T82" fmla="*/ 2078 w 2586"/>
                <a:gd name="T83" fmla="*/ 967 h 1178"/>
                <a:gd name="T84" fmla="*/ 2123 w 2586"/>
                <a:gd name="T85" fmla="*/ 998 h 1178"/>
                <a:gd name="T86" fmla="*/ 2164 w 2586"/>
                <a:gd name="T87" fmla="*/ 1024 h 1178"/>
                <a:gd name="T88" fmla="*/ 2209 w 2586"/>
                <a:gd name="T89" fmla="*/ 1048 h 1178"/>
                <a:gd name="T90" fmla="*/ 2262 w 2586"/>
                <a:gd name="T91" fmla="*/ 1073 h 1178"/>
                <a:gd name="T92" fmla="*/ 2318 w 2586"/>
                <a:gd name="T93" fmla="*/ 1098 h 1178"/>
                <a:gd name="T94" fmla="*/ 2377 w 2586"/>
                <a:gd name="T95" fmla="*/ 1122 h 1178"/>
                <a:gd name="T96" fmla="*/ 2435 w 2586"/>
                <a:gd name="T97" fmla="*/ 1142 h 1178"/>
                <a:gd name="T98" fmla="*/ 2489 w 2586"/>
                <a:gd name="T99" fmla="*/ 1159 h 1178"/>
                <a:gd name="T100" fmla="*/ 2537 w 2586"/>
                <a:gd name="T101" fmla="*/ 1171 h 1178"/>
                <a:gd name="T102" fmla="*/ 2577 w 2586"/>
                <a:gd name="T103" fmla="*/ 1176 h 1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86" h="1178">
                  <a:moveTo>
                    <a:pt x="0" y="1177"/>
                  </a:moveTo>
                  <a:lnTo>
                    <a:pt x="6" y="1175"/>
                  </a:lnTo>
                  <a:lnTo>
                    <a:pt x="14" y="1172"/>
                  </a:lnTo>
                  <a:lnTo>
                    <a:pt x="24" y="1168"/>
                  </a:lnTo>
                  <a:lnTo>
                    <a:pt x="36" y="1164"/>
                  </a:lnTo>
                  <a:lnTo>
                    <a:pt x="48" y="1158"/>
                  </a:lnTo>
                  <a:lnTo>
                    <a:pt x="63" y="1151"/>
                  </a:lnTo>
                  <a:lnTo>
                    <a:pt x="79" y="1144"/>
                  </a:lnTo>
                  <a:lnTo>
                    <a:pt x="96" y="1136"/>
                  </a:lnTo>
                  <a:lnTo>
                    <a:pt x="114" y="1127"/>
                  </a:lnTo>
                  <a:lnTo>
                    <a:pt x="132" y="1117"/>
                  </a:lnTo>
                  <a:lnTo>
                    <a:pt x="152" y="1108"/>
                  </a:lnTo>
                  <a:lnTo>
                    <a:pt x="171" y="1098"/>
                  </a:lnTo>
                  <a:lnTo>
                    <a:pt x="193" y="1087"/>
                  </a:lnTo>
                  <a:lnTo>
                    <a:pt x="213" y="1076"/>
                  </a:lnTo>
                  <a:lnTo>
                    <a:pt x="234" y="1065"/>
                  </a:lnTo>
                  <a:lnTo>
                    <a:pt x="256" y="1054"/>
                  </a:lnTo>
                  <a:lnTo>
                    <a:pt x="277" y="1042"/>
                  </a:lnTo>
                  <a:lnTo>
                    <a:pt x="298" y="1031"/>
                  </a:lnTo>
                  <a:lnTo>
                    <a:pt x="319" y="1020"/>
                  </a:lnTo>
                  <a:lnTo>
                    <a:pt x="340" y="1008"/>
                  </a:lnTo>
                  <a:lnTo>
                    <a:pt x="360" y="998"/>
                  </a:lnTo>
                  <a:lnTo>
                    <a:pt x="379" y="986"/>
                  </a:lnTo>
                  <a:lnTo>
                    <a:pt x="398" y="976"/>
                  </a:lnTo>
                  <a:lnTo>
                    <a:pt x="416" y="966"/>
                  </a:lnTo>
                  <a:lnTo>
                    <a:pt x="432" y="955"/>
                  </a:lnTo>
                  <a:lnTo>
                    <a:pt x="448" y="947"/>
                  </a:lnTo>
                  <a:lnTo>
                    <a:pt x="462" y="938"/>
                  </a:lnTo>
                  <a:lnTo>
                    <a:pt x="475" y="930"/>
                  </a:lnTo>
                  <a:lnTo>
                    <a:pt x="486" y="922"/>
                  </a:lnTo>
                  <a:lnTo>
                    <a:pt x="496" y="916"/>
                  </a:lnTo>
                  <a:lnTo>
                    <a:pt x="504" y="910"/>
                  </a:lnTo>
                  <a:lnTo>
                    <a:pt x="509" y="905"/>
                  </a:lnTo>
                  <a:lnTo>
                    <a:pt x="520" y="896"/>
                  </a:lnTo>
                  <a:lnTo>
                    <a:pt x="529" y="888"/>
                  </a:lnTo>
                  <a:lnTo>
                    <a:pt x="539" y="877"/>
                  </a:lnTo>
                  <a:lnTo>
                    <a:pt x="549" y="868"/>
                  </a:lnTo>
                  <a:lnTo>
                    <a:pt x="558" y="857"/>
                  </a:lnTo>
                  <a:lnTo>
                    <a:pt x="567" y="847"/>
                  </a:lnTo>
                  <a:lnTo>
                    <a:pt x="576" y="836"/>
                  </a:lnTo>
                  <a:lnTo>
                    <a:pt x="586" y="826"/>
                  </a:lnTo>
                  <a:lnTo>
                    <a:pt x="595" y="814"/>
                  </a:lnTo>
                  <a:lnTo>
                    <a:pt x="604" y="803"/>
                  </a:lnTo>
                  <a:lnTo>
                    <a:pt x="613" y="791"/>
                  </a:lnTo>
                  <a:lnTo>
                    <a:pt x="621" y="779"/>
                  </a:lnTo>
                  <a:lnTo>
                    <a:pt x="629" y="767"/>
                  </a:lnTo>
                  <a:lnTo>
                    <a:pt x="638" y="755"/>
                  </a:lnTo>
                  <a:lnTo>
                    <a:pt x="647" y="742"/>
                  </a:lnTo>
                  <a:lnTo>
                    <a:pt x="654" y="730"/>
                  </a:lnTo>
                  <a:lnTo>
                    <a:pt x="670" y="704"/>
                  </a:lnTo>
                  <a:lnTo>
                    <a:pt x="685" y="679"/>
                  </a:lnTo>
                  <a:lnTo>
                    <a:pt x="699" y="655"/>
                  </a:lnTo>
                  <a:lnTo>
                    <a:pt x="713" y="630"/>
                  </a:lnTo>
                  <a:lnTo>
                    <a:pt x="727" y="605"/>
                  </a:lnTo>
                  <a:lnTo>
                    <a:pt x="741" y="580"/>
                  </a:lnTo>
                  <a:lnTo>
                    <a:pt x="754" y="556"/>
                  </a:lnTo>
                  <a:lnTo>
                    <a:pt x="767" y="531"/>
                  </a:lnTo>
                  <a:lnTo>
                    <a:pt x="781" y="507"/>
                  </a:lnTo>
                  <a:lnTo>
                    <a:pt x="794" y="482"/>
                  </a:lnTo>
                  <a:lnTo>
                    <a:pt x="807" y="456"/>
                  </a:lnTo>
                  <a:lnTo>
                    <a:pt x="820" y="431"/>
                  </a:lnTo>
                  <a:lnTo>
                    <a:pt x="834" y="406"/>
                  </a:lnTo>
                  <a:lnTo>
                    <a:pt x="847" y="380"/>
                  </a:lnTo>
                  <a:lnTo>
                    <a:pt x="861" y="355"/>
                  </a:lnTo>
                  <a:lnTo>
                    <a:pt x="875" y="327"/>
                  </a:lnTo>
                  <a:lnTo>
                    <a:pt x="882" y="314"/>
                  </a:lnTo>
                  <a:lnTo>
                    <a:pt x="889" y="300"/>
                  </a:lnTo>
                  <a:lnTo>
                    <a:pt x="898" y="287"/>
                  </a:lnTo>
                  <a:lnTo>
                    <a:pt x="906" y="273"/>
                  </a:lnTo>
                  <a:lnTo>
                    <a:pt x="914" y="259"/>
                  </a:lnTo>
                  <a:lnTo>
                    <a:pt x="923" y="245"/>
                  </a:lnTo>
                  <a:lnTo>
                    <a:pt x="932" y="231"/>
                  </a:lnTo>
                  <a:lnTo>
                    <a:pt x="942" y="217"/>
                  </a:lnTo>
                  <a:lnTo>
                    <a:pt x="952" y="203"/>
                  </a:lnTo>
                  <a:lnTo>
                    <a:pt x="962" y="189"/>
                  </a:lnTo>
                  <a:lnTo>
                    <a:pt x="973" y="176"/>
                  </a:lnTo>
                  <a:lnTo>
                    <a:pt x="984" y="162"/>
                  </a:lnTo>
                  <a:lnTo>
                    <a:pt x="995" y="149"/>
                  </a:lnTo>
                  <a:lnTo>
                    <a:pt x="1006" y="136"/>
                  </a:lnTo>
                  <a:lnTo>
                    <a:pt x="1018" y="124"/>
                  </a:lnTo>
                  <a:lnTo>
                    <a:pt x="1030" y="112"/>
                  </a:lnTo>
                  <a:lnTo>
                    <a:pt x="1042" y="100"/>
                  </a:lnTo>
                  <a:lnTo>
                    <a:pt x="1054" y="89"/>
                  </a:lnTo>
                  <a:lnTo>
                    <a:pt x="1067" y="78"/>
                  </a:lnTo>
                  <a:lnTo>
                    <a:pt x="1079" y="68"/>
                  </a:lnTo>
                  <a:lnTo>
                    <a:pt x="1093" y="58"/>
                  </a:lnTo>
                  <a:lnTo>
                    <a:pt x="1105" y="49"/>
                  </a:lnTo>
                  <a:lnTo>
                    <a:pt x="1119" y="41"/>
                  </a:lnTo>
                  <a:lnTo>
                    <a:pt x="1132" y="33"/>
                  </a:lnTo>
                  <a:lnTo>
                    <a:pt x="1146" y="26"/>
                  </a:lnTo>
                  <a:lnTo>
                    <a:pt x="1160" y="20"/>
                  </a:lnTo>
                  <a:lnTo>
                    <a:pt x="1174" y="14"/>
                  </a:lnTo>
                  <a:lnTo>
                    <a:pt x="1188" y="10"/>
                  </a:lnTo>
                  <a:lnTo>
                    <a:pt x="1202" y="6"/>
                  </a:lnTo>
                  <a:lnTo>
                    <a:pt x="1217" y="2"/>
                  </a:lnTo>
                  <a:lnTo>
                    <a:pt x="1231" y="1"/>
                  </a:lnTo>
                  <a:lnTo>
                    <a:pt x="1246" y="0"/>
                  </a:lnTo>
                  <a:lnTo>
                    <a:pt x="1260" y="0"/>
                  </a:lnTo>
                  <a:lnTo>
                    <a:pt x="1274" y="1"/>
                  </a:lnTo>
                  <a:lnTo>
                    <a:pt x="1288" y="2"/>
                  </a:lnTo>
                  <a:lnTo>
                    <a:pt x="1302" y="2"/>
                  </a:lnTo>
                  <a:lnTo>
                    <a:pt x="1315" y="5"/>
                  </a:lnTo>
                  <a:lnTo>
                    <a:pt x="1328" y="7"/>
                  </a:lnTo>
                  <a:lnTo>
                    <a:pt x="1341" y="11"/>
                  </a:lnTo>
                  <a:lnTo>
                    <a:pt x="1353" y="14"/>
                  </a:lnTo>
                  <a:lnTo>
                    <a:pt x="1365" y="18"/>
                  </a:lnTo>
                  <a:lnTo>
                    <a:pt x="1378" y="24"/>
                  </a:lnTo>
                  <a:lnTo>
                    <a:pt x="1390" y="29"/>
                  </a:lnTo>
                  <a:lnTo>
                    <a:pt x="1401" y="36"/>
                  </a:lnTo>
                  <a:lnTo>
                    <a:pt x="1413" y="42"/>
                  </a:lnTo>
                  <a:lnTo>
                    <a:pt x="1425" y="50"/>
                  </a:lnTo>
                  <a:lnTo>
                    <a:pt x="1437" y="57"/>
                  </a:lnTo>
                  <a:lnTo>
                    <a:pt x="1449" y="66"/>
                  </a:lnTo>
                  <a:lnTo>
                    <a:pt x="1460" y="75"/>
                  </a:lnTo>
                  <a:lnTo>
                    <a:pt x="1472" y="85"/>
                  </a:lnTo>
                  <a:lnTo>
                    <a:pt x="1483" y="96"/>
                  </a:lnTo>
                  <a:lnTo>
                    <a:pt x="1495" y="107"/>
                  </a:lnTo>
                  <a:lnTo>
                    <a:pt x="1506" y="118"/>
                  </a:lnTo>
                  <a:lnTo>
                    <a:pt x="1518" y="131"/>
                  </a:lnTo>
                  <a:lnTo>
                    <a:pt x="1530" y="145"/>
                  </a:lnTo>
                  <a:lnTo>
                    <a:pt x="1542" y="158"/>
                  </a:lnTo>
                  <a:lnTo>
                    <a:pt x="1554" y="173"/>
                  </a:lnTo>
                  <a:lnTo>
                    <a:pt x="1566" y="188"/>
                  </a:lnTo>
                  <a:lnTo>
                    <a:pt x="1578" y="204"/>
                  </a:lnTo>
                  <a:lnTo>
                    <a:pt x="1591" y="221"/>
                  </a:lnTo>
                  <a:lnTo>
                    <a:pt x="1604" y="238"/>
                  </a:lnTo>
                  <a:lnTo>
                    <a:pt x="1617" y="256"/>
                  </a:lnTo>
                  <a:lnTo>
                    <a:pt x="1630" y="275"/>
                  </a:lnTo>
                  <a:lnTo>
                    <a:pt x="1644" y="295"/>
                  </a:lnTo>
                  <a:lnTo>
                    <a:pt x="1661" y="322"/>
                  </a:lnTo>
                  <a:lnTo>
                    <a:pt x="1678" y="350"/>
                  </a:lnTo>
                  <a:lnTo>
                    <a:pt x="1693" y="379"/>
                  </a:lnTo>
                  <a:lnTo>
                    <a:pt x="1707" y="407"/>
                  </a:lnTo>
                  <a:lnTo>
                    <a:pt x="1721" y="437"/>
                  </a:lnTo>
                  <a:lnTo>
                    <a:pt x="1734" y="468"/>
                  </a:lnTo>
                  <a:lnTo>
                    <a:pt x="1746" y="498"/>
                  </a:lnTo>
                  <a:lnTo>
                    <a:pt x="1760" y="529"/>
                  </a:lnTo>
                  <a:lnTo>
                    <a:pt x="1772" y="560"/>
                  </a:lnTo>
                  <a:lnTo>
                    <a:pt x="1784" y="590"/>
                  </a:lnTo>
                  <a:lnTo>
                    <a:pt x="1797" y="622"/>
                  </a:lnTo>
                  <a:lnTo>
                    <a:pt x="1810" y="651"/>
                  </a:lnTo>
                  <a:lnTo>
                    <a:pt x="1824" y="681"/>
                  </a:lnTo>
                  <a:lnTo>
                    <a:pt x="1838" y="711"/>
                  </a:lnTo>
                  <a:lnTo>
                    <a:pt x="1853" y="741"/>
                  </a:lnTo>
                  <a:lnTo>
                    <a:pt x="1869" y="769"/>
                  </a:lnTo>
                  <a:lnTo>
                    <a:pt x="1874" y="775"/>
                  </a:lnTo>
                  <a:lnTo>
                    <a:pt x="1878" y="783"/>
                  </a:lnTo>
                  <a:lnTo>
                    <a:pt x="1885" y="791"/>
                  </a:lnTo>
                  <a:lnTo>
                    <a:pt x="1890" y="798"/>
                  </a:lnTo>
                  <a:lnTo>
                    <a:pt x="1897" y="807"/>
                  </a:lnTo>
                  <a:lnTo>
                    <a:pt x="1905" y="815"/>
                  </a:lnTo>
                  <a:lnTo>
                    <a:pt x="1913" y="823"/>
                  </a:lnTo>
                  <a:lnTo>
                    <a:pt x="1921" y="832"/>
                  </a:lnTo>
                  <a:lnTo>
                    <a:pt x="1930" y="841"/>
                  </a:lnTo>
                  <a:lnTo>
                    <a:pt x="1938" y="851"/>
                  </a:lnTo>
                  <a:lnTo>
                    <a:pt x="1949" y="860"/>
                  </a:lnTo>
                  <a:lnTo>
                    <a:pt x="1958" y="869"/>
                  </a:lnTo>
                  <a:lnTo>
                    <a:pt x="1968" y="878"/>
                  </a:lnTo>
                  <a:lnTo>
                    <a:pt x="1979" y="887"/>
                  </a:lnTo>
                  <a:lnTo>
                    <a:pt x="1989" y="896"/>
                  </a:lnTo>
                  <a:lnTo>
                    <a:pt x="2000" y="905"/>
                  </a:lnTo>
                  <a:lnTo>
                    <a:pt x="2010" y="914"/>
                  </a:lnTo>
                  <a:lnTo>
                    <a:pt x="2022" y="924"/>
                  </a:lnTo>
                  <a:lnTo>
                    <a:pt x="2033" y="932"/>
                  </a:lnTo>
                  <a:lnTo>
                    <a:pt x="2044" y="941"/>
                  </a:lnTo>
                  <a:lnTo>
                    <a:pt x="2055" y="951"/>
                  </a:lnTo>
                  <a:lnTo>
                    <a:pt x="2067" y="959"/>
                  </a:lnTo>
                  <a:lnTo>
                    <a:pt x="2078" y="967"/>
                  </a:lnTo>
                  <a:lnTo>
                    <a:pt x="2089" y="975"/>
                  </a:lnTo>
                  <a:lnTo>
                    <a:pt x="2101" y="983"/>
                  </a:lnTo>
                  <a:lnTo>
                    <a:pt x="2111" y="991"/>
                  </a:lnTo>
                  <a:lnTo>
                    <a:pt x="2123" y="998"/>
                  </a:lnTo>
                  <a:lnTo>
                    <a:pt x="2133" y="1005"/>
                  </a:lnTo>
                  <a:lnTo>
                    <a:pt x="2144" y="1012"/>
                  </a:lnTo>
                  <a:lnTo>
                    <a:pt x="2154" y="1017"/>
                  </a:lnTo>
                  <a:lnTo>
                    <a:pt x="2164" y="1024"/>
                  </a:lnTo>
                  <a:lnTo>
                    <a:pt x="2174" y="1029"/>
                  </a:lnTo>
                  <a:lnTo>
                    <a:pt x="2185" y="1036"/>
                  </a:lnTo>
                  <a:lnTo>
                    <a:pt x="2197" y="1041"/>
                  </a:lnTo>
                  <a:lnTo>
                    <a:pt x="2209" y="1048"/>
                  </a:lnTo>
                  <a:lnTo>
                    <a:pt x="2222" y="1054"/>
                  </a:lnTo>
                  <a:lnTo>
                    <a:pt x="2234" y="1060"/>
                  </a:lnTo>
                  <a:lnTo>
                    <a:pt x="2249" y="1066"/>
                  </a:lnTo>
                  <a:lnTo>
                    <a:pt x="2262" y="1073"/>
                  </a:lnTo>
                  <a:lnTo>
                    <a:pt x="2275" y="1079"/>
                  </a:lnTo>
                  <a:lnTo>
                    <a:pt x="2290" y="1085"/>
                  </a:lnTo>
                  <a:lnTo>
                    <a:pt x="2305" y="1092"/>
                  </a:lnTo>
                  <a:lnTo>
                    <a:pt x="2318" y="1098"/>
                  </a:lnTo>
                  <a:lnTo>
                    <a:pt x="2333" y="1104"/>
                  </a:lnTo>
                  <a:lnTo>
                    <a:pt x="2348" y="1109"/>
                  </a:lnTo>
                  <a:lnTo>
                    <a:pt x="2362" y="1116"/>
                  </a:lnTo>
                  <a:lnTo>
                    <a:pt x="2377" y="1122"/>
                  </a:lnTo>
                  <a:lnTo>
                    <a:pt x="2392" y="1127"/>
                  </a:lnTo>
                  <a:lnTo>
                    <a:pt x="2407" y="1132"/>
                  </a:lnTo>
                  <a:lnTo>
                    <a:pt x="2421" y="1137"/>
                  </a:lnTo>
                  <a:lnTo>
                    <a:pt x="2435" y="1142"/>
                  </a:lnTo>
                  <a:lnTo>
                    <a:pt x="2448" y="1146"/>
                  </a:lnTo>
                  <a:lnTo>
                    <a:pt x="2463" y="1151"/>
                  </a:lnTo>
                  <a:lnTo>
                    <a:pt x="2476" y="1156"/>
                  </a:lnTo>
                  <a:lnTo>
                    <a:pt x="2489" y="1159"/>
                  </a:lnTo>
                  <a:lnTo>
                    <a:pt x="2502" y="1162"/>
                  </a:lnTo>
                  <a:lnTo>
                    <a:pt x="2514" y="1165"/>
                  </a:lnTo>
                  <a:lnTo>
                    <a:pt x="2526" y="1169"/>
                  </a:lnTo>
                  <a:lnTo>
                    <a:pt x="2537" y="1171"/>
                  </a:lnTo>
                  <a:lnTo>
                    <a:pt x="2548" y="1173"/>
                  </a:lnTo>
                  <a:lnTo>
                    <a:pt x="2558" y="1175"/>
                  </a:lnTo>
                  <a:lnTo>
                    <a:pt x="2568" y="1176"/>
                  </a:lnTo>
                  <a:lnTo>
                    <a:pt x="2577" y="1176"/>
                  </a:lnTo>
                  <a:lnTo>
                    <a:pt x="2585" y="1177"/>
                  </a:lnTo>
                </a:path>
              </a:pathLst>
            </a:custGeom>
            <a:noFill/>
            <a:ln w="50800" cap="rnd"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7" name="Freeform 3"/>
            <p:cNvSpPr>
              <a:spLocks/>
            </p:cNvSpPr>
            <p:nvPr/>
          </p:nvSpPr>
          <p:spPr bwMode="auto">
            <a:xfrm>
              <a:off x="685800" y="1591336"/>
              <a:ext cx="7772400" cy="1211263"/>
            </a:xfrm>
            <a:custGeom>
              <a:avLst/>
              <a:gdLst>
                <a:gd name="T0" fmla="*/ 0 w 4195"/>
                <a:gd name="T1" fmla="*/ 0 h 1819"/>
                <a:gd name="T2" fmla="*/ 0 w 4195"/>
                <a:gd name="T3" fmla="*/ 1818 h 1819"/>
                <a:gd name="T4" fmla="*/ 4194 w 4195"/>
                <a:gd name="T5" fmla="*/ 1818 h 1819"/>
              </a:gdLst>
              <a:ahLst/>
              <a:cxnLst>
                <a:cxn ang="0">
                  <a:pos x="T0" y="T1"/>
                </a:cxn>
                <a:cxn ang="0">
                  <a:pos x="T2" y="T3"/>
                </a:cxn>
                <a:cxn ang="0">
                  <a:pos x="T4" y="T5"/>
                </a:cxn>
              </a:cxnLst>
              <a:rect l="0" t="0" r="r" b="b"/>
              <a:pathLst>
                <a:path w="4195" h="1819">
                  <a:moveTo>
                    <a:pt x="0" y="0"/>
                  </a:moveTo>
                  <a:lnTo>
                    <a:pt x="0" y="1818"/>
                  </a:lnTo>
                  <a:lnTo>
                    <a:pt x="4194" y="1818"/>
                  </a:lnTo>
                </a:path>
              </a:pathLst>
            </a:custGeom>
            <a:noFill/>
            <a:ln w="508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8" name="Freeform 4"/>
            <p:cNvSpPr>
              <a:spLocks/>
            </p:cNvSpPr>
            <p:nvPr/>
          </p:nvSpPr>
          <p:spPr bwMode="auto">
            <a:xfrm>
              <a:off x="4038600" y="1905000"/>
              <a:ext cx="1828800" cy="833438"/>
            </a:xfrm>
            <a:custGeom>
              <a:avLst/>
              <a:gdLst>
                <a:gd name="T0" fmla="*/ 24 w 2586"/>
                <a:gd name="T1" fmla="*/ 1168 h 1178"/>
                <a:gd name="T2" fmla="*/ 79 w 2586"/>
                <a:gd name="T3" fmla="*/ 1144 h 1178"/>
                <a:gd name="T4" fmla="*/ 152 w 2586"/>
                <a:gd name="T5" fmla="*/ 1108 h 1178"/>
                <a:gd name="T6" fmla="*/ 234 w 2586"/>
                <a:gd name="T7" fmla="*/ 1065 h 1178"/>
                <a:gd name="T8" fmla="*/ 319 w 2586"/>
                <a:gd name="T9" fmla="*/ 1020 h 1178"/>
                <a:gd name="T10" fmla="*/ 398 w 2586"/>
                <a:gd name="T11" fmla="*/ 976 h 1178"/>
                <a:gd name="T12" fmla="*/ 462 w 2586"/>
                <a:gd name="T13" fmla="*/ 938 h 1178"/>
                <a:gd name="T14" fmla="*/ 504 w 2586"/>
                <a:gd name="T15" fmla="*/ 910 h 1178"/>
                <a:gd name="T16" fmla="*/ 539 w 2586"/>
                <a:gd name="T17" fmla="*/ 877 h 1178"/>
                <a:gd name="T18" fmla="*/ 576 w 2586"/>
                <a:gd name="T19" fmla="*/ 836 h 1178"/>
                <a:gd name="T20" fmla="*/ 613 w 2586"/>
                <a:gd name="T21" fmla="*/ 791 h 1178"/>
                <a:gd name="T22" fmla="*/ 647 w 2586"/>
                <a:gd name="T23" fmla="*/ 742 h 1178"/>
                <a:gd name="T24" fmla="*/ 699 w 2586"/>
                <a:gd name="T25" fmla="*/ 655 h 1178"/>
                <a:gd name="T26" fmla="*/ 754 w 2586"/>
                <a:gd name="T27" fmla="*/ 556 h 1178"/>
                <a:gd name="T28" fmla="*/ 807 w 2586"/>
                <a:gd name="T29" fmla="*/ 456 h 1178"/>
                <a:gd name="T30" fmla="*/ 861 w 2586"/>
                <a:gd name="T31" fmla="*/ 355 h 1178"/>
                <a:gd name="T32" fmla="*/ 898 w 2586"/>
                <a:gd name="T33" fmla="*/ 287 h 1178"/>
                <a:gd name="T34" fmla="*/ 932 w 2586"/>
                <a:gd name="T35" fmla="*/ 231 h 1178"/>
                <a:gd name="T36" fmla="*/ 973 w 2586"/>
                <a:gd name="T37" fmla="*/ 176 h 1178"/>
                <a:gd name="T38" fmla="*/ 1018 w 2586"/>
                <a:gd name="T39" fmla="*/ 124 h 1178"/>
                <a:gd name="T40" fmla="*/ 1067 w 2586"/>
                <a:gd name="T41" fmla="*/ 78 h 1178"/>
                <a:gd name="T42" fmla="*/ 1119 w 2586"/>
                <a:gd name="T43" fmla="*/ 41 h 1178"/>
                <a:gd name="T44" fmla="*/ 1174 w 2586"/>
                <a:gd name="T45" fmla="*/ 14 h 1178"/>
                <a:gd name="T46" fmla="*/ 1231 w 2586"/>
                <a:gd name="T47" fmla="*/ 1 h 1178"/>
                <a:gd name="T48" fmla="*/ 1288 w 2586"/>
                <a:gd name="T49" fmla="*/ 2 h 1178"/>
                <a:gd name="T50" fmla="*/ 1341 w 2586"/>
                <a:gd name="T51" fmla="*/ 11 h 1178"/>
                <a:gd name="T52" fmla="*/ 1390 w 2586"/>
                <a:gd name="T53" fmla="*/ 29 h 1178"/>
                <a:gd name="T54" fmla="*/ 1437 w 2586"/>
                <a:gd name="T55" fmla="*/ 57 h 1178"/>
                <a:gd name="T56" fmla="*/ 1483 w 2586"/>
                <a:gd name="T57" fmla="*/ 96 h 1178"/>
                <a:gd name="T58" fmla="*/ 1530 w 2586"/>
                <a:gd name="T59" fmla="*/ 145 h 1178"/>
                <a:gd name="T60" fmla="*/ 1578 w 2586"/>
                <a:gd name="T61" fmla="*/ 204 h 1178"/>
                <a:gd name="T62" fmla="*/ 1630 w 2586"/>
                <a:gd name="T63" fmla="*/ 275 h 1178"/>
                <a:gd name="T64" fmla="*/ 1693 w 2586"/>
                <a:gd name="T65" fmla="*/ 379 h 1178"/>
                <a:gd name="T66" fmla="*/ 1746 w 2586"/>
                <a:gd name="T67" fmla="*/ 498 h 1178"/>
                <a:gd name="T68" fmla="*/ 1797 w 2586"/>
                <a:gd name="T69" fmla="*/ 622 h 1178"/>
                <a:gd name="T70" fmla="*/ 1853 w 2586"/>
                <a:gd name="T71" fmla="*/ 741 h 1178"/>
                <a:gd name="T72" fmla="*/ 1885 w 2586"/>
                <a:gd name="T73" fmla="*/ 791 h 1178"/>
                <a:gd name="T74" fmla="*/ 1913 w 2586"/>
                <a:gd name="T75" fmla="*/ 823 h 1178"/>
                <a:gd name="T76" fmla="*/ 1949 w 2586"/>
                <a:gd name="T77" fmla="*/ 860 h 1178"/>
                <a:gd name="T78" fmla="*/ 1989 w 2586"/>
                <a:gd name="T79" fmla="*/ 896 h 1178"/>
                <a:gd name="T80" fmla="*/ 2033 w 2586"/>
                <a:gd name="T81" fmla="*/ 932 h 1178"/>
                <a:gd name="T82" fmla="*/ 2078 w 2586"/>
                <a:gd name="T83" fmla="*/ 967 h 1178"/>
                <a:gd name="T84" fmla="*/ 2123 w 2586"/>
                <a:gd name="T85" fmla="*/ 998 h 1178"/>
                <a:gd name="T86" fmla="*/ 2164 w 2586"/>
                <a:gd name="T87" fmla="*/ 1024 h 1178"/>
                <a:gd name="T88" fmla="*/ 2209 w 2586"/>
                <a:gd name="T89" fmla="*/ 1048 h 1178"/>
                <a:gd name="T90" fmla="*/ 2262 w 2586"/>
                <a:gd name="T91" fmla="*/ 1073 h 1178"/>
                <a:gd name="T92" fmla="*/ 2318 w 2586"/>
                <a:gd name="T93" fmla="*/ 1098 h 1178"/>
                <a:gd name="T94" fmla="*/ 2377 w 2586"/>
                <a:gd name="T95" fmla="*/ 1122 h 1178"/>
                <a:gd name="T96" fmla="*/ 2435 w 2586"/>
                <a:gd name="T97" fmla="*/ 1142 h 1178"/>
                <a:gd name="T98" fmla="*/ 2489 w 2586"/>
                <a:gd name="T99" fmla="*/ 1159 h 1178"/>
                <a:gd name="T100" fmla="*/ 2537 w 2586"/>
                <a:gd name="T101" fmla="*/ 1171 h 1178"/>
                <a:gd name="T102" fmla="*/ 2577 w 2586"/>
                <a:gd name="T103" fmla="*/ 1176 h 1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86" h="1178">
                  <a:moveTo>
                    <a:pt x="0" y="1177"/>
                  </a:moveTo>
                  <a:lnTo>
                    <a:pt x="6" y="1175"/>
                  </a:lnTo>
                  <a:lnTo>
                    <a:pt x="14" y="1172"/>
                  </a:lnTo>
                  <a:lnTo>
                    <a:pt x="24" y="1168"/>
                  </a:lnTo>
                  <a:lnTo>
                    <a:pt x="36" y="1164"/>
                  </a:lnTo>
                  <a:lnTo>
                    <a:pt x="48" y="1158"/>
                  </a:lnTo>
                  <a:lnTo>
                    <a:pt x="63" y="1151"/>
                  </a:lnTo>
                  <a:lnTo>
                    <a:pt x="79" y="1144"/>
                  </a:lnTo>
                  <a:lnTo>
                    <a:pt x="96" y="1136"/>
                  </a:lnTo>
                  <a:lnTo>
                    <a:pt x="114" y="1127"/>
                  </a:lnTo>
                  <a:lnTo>
                    <a:pt x="132" y="1117"/>
                  </a:lnTo>
                  <a:lnTo>
                    <a:pt x="152" y="1108"/>
                  </a:lnTo>
                  <a:lnTo>
                    <a:pt x="171" y="1098"/>
                  </a:lnTo>
                  <a:lnTo>
                    <a:pt x="193" y="1087"/>
                  </a:lnTo>
                  <a:lnTo>
                    <a:pt x="213" y="1076"/>
                  </a:lnTo>
                  <a:lnTo>
                    <a:pt x="234" y="1065"/>
                  </a:lnTo>
                  <a:lnTo>
                    <a:pt x="256" y="1054"/>
                  </a:lnTo>
                  <a:lnTo>
                    <a:pt x="277" y="1042"/>
                  </a:lnTo>
                  <a:lnTo>
                    <a:pt x="298" y="1031"/>
                  </a:lnTo>
                  <a:lnTo>
                    <a:pt x="319" y="1020"/>
                  </a:lnTo>
                  <a:lnTo>
                    <a:pt x="340" y="1008"/>
                  </a:lnTo>
                  <a:lnTo>
                    <a:pt x="360" y="998"/>
                  </a:lnTo>
                  <a:lnTo>
                    <a:pt x="379" y="986"/>
                  </a:lnTo>
                  <a:lnTo>
                    <a:pt x="398" y="976"/>
                  </a:lnTo>
                  <a:lnTo>
                    <a:pt x="416" y="966"/>
                  </a:lnTo>
                  <a:lnTo>
                    <a:pt x="432" y="955"/>
                  </a:lnTo>
                  <a:lnTo>
                    <a:pt x="448" y="947"/>
                  </a:lnTo>
                  <a:lnTo>
                    <a:pt x="462" y="938"/>
                  </a:lnTo>
                  <a:lnTo>
                    <a:pt x="475" y="930"/>
                  </a:lnTo>
                  <a:lnTo>
                    <a:pt x="486" y="922"/>
                  </a:lnTo>
                  <a:lnTo>
                    <a:pt x="496" y="916"/>
                  </a:lnTo>
                  <a:lnTo>
                    <a:pt x="504" y="910"/>
                  </a:lnTo>
                  <a:lnTo>
                    <a:pt x="509" y="905"/>
                  </a:lnTo>
                  <a:lnTo>
                    <a:pt x="520" y="896"/>
                  </a:lnTo>
                  <a:lnTo>
                    <a:pt x="529" y="888"/>
                  </a:lnTo>
                  <a:lnTo>
                    <a:pt x="539" y="877"/>
                  </a:lnTo>
                  <a:lnTo>
                    <a:pt x="549" y="868"/>
                  </a:lnTo>
                  <a:lnTo>
                    <a:pt x="558" y="857"/>
                  </a:lnTo>
                  <a:lnTo>
                    <a:pt x="567" y="847"/>
                  </a:lnTo>
                  <a:lnTo>
                    <a:pt x="576" y="836"/>
                  </a:lnTo>
                  <a:lnTo>
                    <a:pt x="586" y="826"/>
                  </a:lnTo>
                  <a:lnTo>
                    <a:pt x="595" y="814"/>
                  </a:lnTo>
                  <a:lnTo>
                    <a:pt x="604" y="803"/>
                  </a:lnTo>
                  <a:lnTo>
                    <a:pt x="613" y="791"/>
                  </a:lnTo>
                  <a:lnTo>
                    <a:pt x="621" y="779"/>
                  </a:lnTo>
                  <a:lnTo>
                    <a:pt x="629" y="767"/>
                  </a:lnTo>
                  <a:lnTo>
                    <a:pt x="638" y="755"/>
                  </a:lnTo>
                  <a:lnTo>
                    <a:pt x="647" y="742"/>
                  </a:lnTo>
                  <a:lnTo>
                    <a:pt x="654" y="730"/>
                  </a:lnTo>
                  <a:lnTo>
                    <a:pt x="670" y="704"/>
                  </a:lnTo>
                  <a:lnTo>
                    <a:pt x="685" y="679"/>
                  </a:lnTo>
                  <a:lnTo>
                    <a:pt x="699" y="655"/>
                  </a:lnTo>
                  <a:lnTo>
                    <a:pt x="713" y="630"/>
                  </a:lnTo>
                  <a:lnTo>
                    <a:pt x="727" y="605"/>
                  </a:lnTo>
                  <a:lnTo>
                    <a:pt x="741" y="580"/>
                  </a:lnTo>
                  <a:lnTo>
                    <a:pt x="754" y="556"/>
                  </a:lnTo>
                  <a:lnTo>
                    <a:pt x="767" y="531"/>
                  </a:lnTo>
                  <a:lnTo>
                    <a:pt x="781" y="507"/>
                  </a:lnTo>
                  <a:lnTo>
                    <a:pt x="794" y="482"/>
                  </a:lnTo>
                  <a:lnTo>
                    <a:pt x="807" y="456"/>
                  </a:lnTo>
                  <a:lnTo>
                    <a:pt x="820" y="431"/>
                  </a:lnTo>
                  <a:lnTo>
                    <a:pt x="834" y="406"/>
                  </a:lnTo>
                  <a:lnTo>
                    <a:pt x="847" y="380"/>
                  </a:lnTo>
                  <a:lnTo>
                    <a:pt x="861" y="355"/>
                  </a:lnTo>
                  <a:lnTo>
                    <a:pt x="875" y="327"/>
                  </a:lnTo>
                  <a:lnTo>
                    <a:pt x="882" y="314"/>
                  </a:lnTo>
                  <a:lnTo>
                    <a:pt x="889" y="300"/>
                  </a:lnTo>
                  <a:lnTo>
                    <a:pt x="898" y="287"/>
                  </a:lnTo>
                  <a:lnTo>
                    <a:pt x="906" y="273"/>
                  </a:lnTo>
                  <a:lnTo>
                    <a:pt x="914" y="259"/>
                  </a:lnTo>
                  <a:lnTo>
                    <a:pt x="923" y="245"/>
                  </a:lnTo>
                  <a:lnTo>
                    <a:pt x="932" y="231"/>
                  </a:lnTo>
                  <a:lnTo>
                    <a:pt x="942" y="217"/>
                  </a:lnTo>
                  <a:lnTo>
                    <a:pt x="952" y="203"/>
                  </a:lnTo>
                  <a:lnTo>
                    <a:pt x="962" y="189"/>
                  </a:lnTo>
                  <a:lnTo>
                    <a:pt x="973" y="176"/>
                  </a:lnTo>
                  <a:lnTo>
                    <a:pt x="984" y="162"/>
                  </a:lnTo>
                  <a:lnTo>
                    <a:pt x="995" y="149"/>
                  </a:lnTo>
                  <a:lnTo>
                    <a:pt x="1006" y="136"/>
                  </a:lnTo>
                  <a:lnTo>
                    <a:pt x="1018" y="124"/>
                  </a:lnTo>
                  <a:lnTo>
                    <a:pt x="1030" y="112"/>
                  </a:lnTo>
                  <a:lnTo>
                    <a:pt x="1042" y="100"/>
                  </a:lnTo>
                  <a:lnTo>
                    <a:pt x="1054" y="89"/>
                  </a:lnTo>
                  <a:lnTo>
                    <a:pt x="1067" y="78"/>
                  </a:lnTo>
                  <a:lnTo>
                    <a:pt x="1079" y="68"/>
                  </a:lnTo>
                  <a:lnTo>
                    <a:pt x="1093" y="58"/>
                  </a:lnTo>
                  <a:lnTo>
                    <a:pt x="1105" y="49"/>
                  </a:lnTo>
                  <a:lnTo>
                    <a:pt x="1119" y="41"/>
                  </a:lnTo>
                  <a:lnTo>
                    <a:pt x="1132" y="33"/>
                  </a:lnTo>
                  <a:lnTo>
                    <a:pt x="1146" y="26"/>
                  </a:lnTo>
                  <a:lnTo>
                    <a:pt x="1160" y="20"/>
                  </a:lnTo>
                  <a:lnTo>
                    <a:pt x="1174" y="14"/>
                  </a:lnTo>
                  <a:lnTo>
                    <a:pt x="1188" y="10"/>
                  </a:lnTo>
                  <a:lnTo>
                    <a:pt x="1202" y="6"/>
                  </a:lnTo>
                  <a:lnTo>
                    <a:pt x="1217" y="2"/>
                  </a:lnTo>
                  <a:lnTo>
                    <a:pt x="1231" y="1"/>
                  </a:lnTo>
                  <a:lnTo>
                    <a:pt x="1246" y="0"/>
                  </a:lnTo>
                  <a:lnTo>
                    <a:pt x="1260" y="0"/>
                  </a:lnTo>
                  <a:lnTo>
                    <a:pt x="1274" y="1"/>
                  </a:lnTo>
                  <a:lnTo>
                    <a:pt x="1288" y="2"/>
                  </a:lnTo>
                  <a:lnTo>
                    <a:pt x="1302" y="2"/>
                  </a:lnTo>
                  <a:lnTo>
                    <a:pt x="1315" y="5"/>
                  </a:lnTo>
                  <a:lnTo>
                    <a:pt x="1328" y="7"/>
                  </a:lnTo>
                  <a:lnTo>
                    <a:pt x="1341" y="11"/>
                  </a:lnTo>
                  <a:lnTo>
                    <a:pt x="1353" y="14"/>
                  </a:lnTo>
                  <a:lnTo>
                    <a:pt x="1365" y="18"/>
                  </a:lnTo>
                  <a:lnTo>
                    <a:pt x="1378" y="24"/>
                  </a:lnTo>
                  <a:lnTo>
                    <a:pt x="1390" y="29"/>
                  </a:lnTo>
                  <a:lnTo>
                    <a:pt x="1401" y="36"/>
                  </a:lnTo>
                  <a:lnTo>
                    <a:pt x="1413" y="42"/>
                  </a:lnTo>
                  <a:lnTo>
                    <a:pt x="1425" y="50"/>
                  </a:lnTo>
                  <a:lnTo>
                    <a:pt x="1437" y="57"/>
                  </a:lnTo>
                  <a:lnTo>
                    <a:pt x="1449" y="66"/>
                  </a:lnTo>
                  <a:lnTo>
                    <a:pt x="1460" y="75"/>
                  </a:lnTo>
                  <a:lnTo>
                    <a:pt x="1472" y="85"/>
                  </a:lnTo>
                  <a:lnTo>
                    <a:pt x="1483" y="96"/>
                  </a:lnTo>
                  <a:lnTo>
                    <a:pt x="1495" y="107"/>
                  </a:lnTo>
                  <a:lnTo>
                    <a:pt x="1506" y="118"/>
                  </a:lnTo>
                  <a:lnTo>
                    <a:pt x="1518" y="131"/>
                  </a:lnTo>
                  <a:lnTo>
                    <a:pt x="1530" y="145"/>
                  </a:lnTo>
                  <a:lnTo>
                    <a:pt x="1542" y="158"/>
                  </a:lnTo>
                  <a:lnTo>
                    <a:pt x="1554" y="173"/>
                  </a:lnTo>
                  <a:lnTo>
                    <a:pt x="1566" y="188"/>
                  </a:lnTo>
                  <a:lnTo>
                    <a:pt x="1578" y="204"/>
                  </a:lnTo>
                  <a:lnTo>
                    <a:pt x="1591" y="221"/>
                  </a:lnTo>
                  <a:lnTo>
                    <a:pt x="1604" y="238"/>
                  </a:lnTo>
                  <a:lnTo>
                    <a:pt x="1617" y="256"/>
                  </a:lnTo>
                  <a:lnTo>
                    <a:pt x="1630" y="275"/>
                  </a:lnTo>
                  <a:lnTo>
                    <a:pt x="1644" y="295"/>
                  </a:lnTo>
                  <a:lnTo>
                    <a:pt x="1661" y="322"/>
                  </a:lnTo>
                  <a:lnTo>
                    <a:pt x="1678" y="350"/>
                  </a:lnTo>
                  <a:lnTo>
                    <a:pt x="1693" y="379"/>
                  </a:lnTo>
                  <a:lnTo>
                    <a:pt x="1707" y="407"/>
                  </a:lnTo>
                  <a:lnTo>
                    <a:pt x="1721" y="437"/>
                  </a:lnTo>
                  <a:lnTo>
                    <a:pt x="1734" y="468"/>
                  </a:lnTo>
                  <a:lnTo>
                    <a:pt x="1746" y="498"/>
                  </a:lnTo>
                  <a:lnTo>
                    <a:pt x="1760" y="529"/>
                  </a:lnTo>
                  <a:lnTo>
                    <a:pt x="1772" y="560"/>
                  </a:lnTo>
                  <a:lnTo>
                    <a:pt x="1784" y="590"/>
                  </a:lnTo>
                  <a:lnTo>
                    <a:pt x="1797" y="622"/>
                  </a:lnTo>
                  <a:lnTo>
                    <a:pt x="1810" y="651"/>
                  </a:lnTo>
                  <a:lnTo>
                    <a:pt x="1824" y="681"/>
                  </a:lnTo>
                  <a:lnTo>
                    <a:pt x="1838" y="711"/>
                  </a:lnTo>
                  <a:lnTo>
                    <a:pt x="1853" y="741"/>
                  </a:lnTo>
                  <a:lnTo>
                    <a:pt x="1869" y="769"/>
                  </a:lnTo>
                  <a:lnTo>
                    <a:pt x="1874" y="775"/>
                  </a:lnTo>
                  <a:lnTo>
                    <a:pt x="1878" y="783"/>
                  </a:lnTo>
                  <a:lnTo>
                    <a:pt x="1885" y="791"/>
                  </a:lnTo>
                  <a:lnTo>
                    <a:pt x="1890" y="798"/>
                  </a:lnTo>
                  <a:lnTo>
                    <a:pt x="1897" y="807"/>
                  </a:lnTo>
                  <a:lnTo>
                    <a:pt x="1905" y="815"/>
                  </a:lnTo>
                  <a:lnTo>
                    <a:pt x="1913" y="823"/>
                  </a:lnTo>
                  <a:lnTo>
                    <a:pt x="1921" y="832"/>
                  </a:lnTo>
                  <a:lnTo>
                    <a:pt x="1930" y="841"/>
                  </a:lnTo>
                  <a:lnTo>
                    <a:pt x="1938" y="851"/>
                  </a:lnTo>
                  <a:lnTo>
                    <a:pt x="1949" y="860"/>
                  </a:lnTo>
                  <a:lnTo>
                    <a:pt x="1958" y="869"/>
                  </a:lnTo>
                  <a:lnTo>
                    <a:pt x="1968" y="878"/>
                  </a:lnTo>
                  <a:lnTo>
                    <a:pt x="1979" y="887"/>
                  </a:lnTo>
                  <a:lnTo>
                    <a:pt x="1989" y="896"/>
                  </a:lnTo>
                  <a:lnTo>
                    <a:pt x="2000" y="905"/>
                  </a:lnTo>
                  <a:lnTo>
                    <a:pt x="2010" y="914"/>
                  </a:lnTo>
                  <a:lnTo>
                    <a:pt x="2022" y="924"/>
                  </a:lnTo>
                  <a:lnTo>
                    <a:pt x="2033" y="932"/>
                  </a:lnTo>
                  <a:lnTo>
                    <a:pt x="2044" y="941"/>
                  </a:lnTo>
                  <a:lnTo>
                    <a:pt x="2055" y="951"/>
                  </a:lnTo>
                  <a:lnTo>
                    <a:pt x="2067" y="959"/>
                  </a:lnTo>
                  <a:lnTo>
                    <a:pt x="2078" y="967"/>
                  </a:lnTo>
                  <a:lnTo>
                    <a:pt x="2089" y="975"/>
                  </a:lnTo>
                  <a:lnTo>
                    <a:pt x="2101" y="983"/>
                  </a:lnTo>
                  <a:lnTo>
                    <a:pt x="2111" y="991"/>
                  </a:lnTo>
                  <a:lnTo>
                    <a:pt x="2123" y="998"/>
                  </a:lnTo>
                  <a:lnTo>
                    <a:pt x="2133" y="1005"/>
                  </a:lnTo>
                  <a:lnTo>
                    <a:pt x="2144" y="1012"/>
                  </a:lnTo>
                  <a:lnTo>
                    <a:pt x="2154" y="1017"/>
                  </a:lnTo>
                  <a:lnTo>
                    <a:pt x="2164" y="1024"/>
                  </a:lnTo>
                  <a:lnTo>
                    <a:pt x="2174" y="1029"/>
                  </a:lnTo>
                  <a:lnTo>
                    <a:pt x="2185" y="1036"/>
                  </a:lnTo>
                  <a:lnTo>
                    <a:pt x="2197" y="1041"/>
                  </a:lnTo>
                  <a:lnTo>
                    <a:pt x="2209" y="1048"/>
                  </a:lnTo>
                  <a:lnTo>
                    <a:pt x="2222" y="1054"/>
                  </a:lnTo>
                  <a:lnTo>
                    <a:pt x="2234" y="1060"/>
                  </a:lnTo>
                  <a:lnTo>
                    <a:pt x="2249" y="1066"/>
                  </a:lnTo>
                  <a:lnTo>
                    <a:pt x="2262" y="1073"/>
                  </a:lnTo>
                  <a:lnTo>
                    <a:pt x="2275" y="1079"/>
                  </a:lnTo>
                  <a:lnTo>
                    <a:pt x="2290" y="1085"/>
                  </a:lnTo>
                  <a:lnTo>
                    <a:pt x="2305" y="1092"/>
                  </a:lnTo>
                  <a:lnTo>
                    <a:pt x="2318" y="1098"/>
                  </a:lnTo>
                  <a:lnTo>
                    <a:pt x="2333" y="1104"/>
                  </a:lnTo>
                  <a:lnTo>
                    <a:pt x="2348" y="1109"/>
                  </a:lnTo>
                  <a:lnTo>
                    <a:pt x="2362" y="1116"/>
                  </a:lnTo>
                  <a:lnTo>
                    <a:pt x="2377" y="1122"/>
                  </a:lnTo>
                  <a:lnTo>
                    <a:pt x="2392" y="1127"/>
                  </a:lnTo>
                  <a:lnTo>
                    <a:pt x="2407" y="1132"/>
                  </a:lnTo>
                  <a:lnTo>
                    <a:pt x="2421" y="1137"/>
                  </a:lnTo>
                  <a:lnTo>
                    <a:pt x="2435" y="1142"/>
                  </a:lnTo>
                  <a:lnTo>
                    <a:pt x="2448" y="1146"/>
                  </a:lnTo>
                  <a:lnTo>
                    <a:pt x="2463" y="1151"/>
                  </a:lnTo>
                  <a:lnTo>
                    <a:pt x="2476" y="1156"/>
                  </a:lnTo>
                  <a:lnTo>
                    <a:pt x="2489" y="1159"/>
                  </a:lnTo>
                  <a:lnTo>
                    <a:pt x="2502" y="1162"/>
                  </a:lnTo>
                  <a:lnTo>
                    <a:pt x="2514" y="1165"/>
                  </a:lnTo>
                  <a:lnTo>
                    <a:pt x="2526" y="1169"/>
                  </a:lnTo>
                  <a:lnTo>
                    <a:pt x="2537" y="1171"/>
                  </a:lnTo>
                  <a:lnTo>
                    <a:pt x="2548" y="1173"/>
                  </a:lnTo>
                  <a:lnTo>
                    <a:pt x="2558" y="1175"/>
                  </a:lnTo>
                  <a:lnTo>
                    <a:pt x="2568" y="1176"/>
                  </a:lnTo>
                  <a:lnTo>
                    <a:pt x="2577" y="1176"/>
                  </a:lnTo>
                  <a:lnTo>
                    <a:pt x="2585" y="1177"/>
                  </a:lnTo>
                </a:path>
              </a:pathLst>
            </a:custGeom>
            <a:noFill/>
            <a:ln w="508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9" name="Freeform 5"/>
            <p:cNvSpPr>
              <a:spLocks/>
            </p:cNvSpPr>
            <p:nvPr/>
          </p:nvSpPr>
          <p:spPr bwMode="auto">
            <a:xfrm>
              <a:off x="4876800" y="1905000"/>
              <a:ext cx="1828800" cy="833438"/>
            </a:xfrm>
            <a:custGeom>
              <a:avLst/>
              <a:gdLst>
                <a:gd name="T0" fmla="*/ 24 w 2586"/>
                <a:gd name="T1" fmla="*/ 1168 h 1178"/>
                <a:gd name="T2" fmla="*/ 79 w 2586"/>
                <a:gd name="T3" fmla="*/ 1144 h 1178"/>
                <a:gd name="T4" fmla="*/ 152 w 2586"/>
                <a:gd name="T5" fmla="*/ 1108 h 1178"/>
                <a:gd name="T6" fmla="*/ 234 w 2586"/>
                <a:gd name="T7" fmla="*/ 1065 h 1178"/>
                <a:gd name="T8" fmla="*/ 319 w 2586"/>
                <a:gd name="T9" fmla="*/ 1020 h 1178"/>
                <a:gd name="T10" fmla="*/ 398 w 2586"/>
                <a:gd name="T11" fmla="*/ 976 h 1178"/>
                <a:gd name="T12" fmla="*/ 462 w 2586"/>
                <a:gd name="T13" fmla="*/ 938 h 1178"/>
                <a:gd name="T14" fmla="*/ 504 w 2586"/>
                <a:gd name="T15" fmla="*/ 910 h 1178"/>
                <a:gd name="T16" fmla="*/ 539 w 2586"/>
                <a:gd name="T17" fmla="*/ 877 h 1178"/>
                <a:gd name="T18" fmla="*/ 576 w 2586"/>
                <a:gd name="T19" fmla="*/ 836 h 1178"/>
                <a:gd name="T20" fmla="*/ 613 w 2586"/>
                <a:gd name="T21" fmla="*/ 791 h 1178"/>
                <a:gd name="T22" fmla="*/ 647 w 2586"/>
                <a:gd name="T23" fmla="*/ 742 h 1178"/>
                <a:gd name="T24" fmla="*/ 699 w 2586"/>
                <a:gd name="T25" fmla="*/ 655 h 1178"/>
                <a:gd name="T26" fmla="*/ 754 w 2586"/>
                <a:gd name="T27" fmla="*/ 556 h 1178"/>
                <a:gd name="T28" fmla="*/ 807 w 2586"/>
                <a:gd name="T29" fmla="*/ 456 h 1178"/>
                <a:gd name="T30" fmla="*/ 861 w 2586"/>
                <a:gd name="T31" fmla="*/ 355 h 1178"/>
                <a:gd name="T32" fmla="*/ 898 w 2586"/>
                <a:gd name="T33" fmla="*/ 287 h 1178"/>
                <a:gd name="T34" fmla="*/ 932 w 2586"/>
                <a:gd name="T35" fmla="*/ 231 h 1178"/>
                <a:gd name="T36" fmla="*/ 973 w 2586"/>
                <a:gd name="T37" fmla="*/ 176 h 1178"/>
                <a:gd name="T38" fmla="*/ 1018 w 2586"/>
                <a:gd name="T39" fmla="*/ 124 h 1178"/>
                <a:gd name="T40" fmla="*/ 1067 w 2586"/>
                <a:gd name="T41" fmla="*/ 78 h 1178"/>
                <a:gd name="T42" fmla="*/ 1119 w 2586"/>
                <a:gd name="T43" fmla="*/ 41 h 1178"/>
                <a:gd name="T44" fmla="*/ 1174 w 2586"/>
                <a:gd name="T45" fmla="*/ 14 h 1178"/>
                <a:gd name="T46" fmla="*/ 1231 w 2586"/>
                <a:gd name="T47" fmla="*/ 1 h 1178"/>
                <a:gd name="T48" fmla="*/ 1288 w 2586"/>
                <a:gd name="T49" fmla="*/ 2 h 1178"/>
                <a:gd name="T50" fmla="*/ 1341 w 2586"/>
                <a:gd name="T51" fmla="*/ 11 h 1178"/>
                <a:gd name="T52" fmla="*/ 1390 w 2586"/>
                <a:gd name="T53" fmla="*/ 29 h 1178"/>
                <a:gd name="T54" fmla="*/ 1437 w 2586"/>
                <a:gd name="T55" fmla="*/ 57 h 1178"/>
                <a:gd name="T56" fmla="*/ 1483 w 2586"/>
                <a:gd name="T57" fmla="*/ 96 h 1178"/>
                <a:gd name="T58" fmla="*/ 1530 w 2586"/>
                <a:gd name="T59" fmla="*/ 145 h 1178"/>
                <a:gd name="T60" fmla="*/ 1578 w 2586"/>
                <a:gd name="T61" fmla="*/ 204 h 1178"/>
                <a:gd name="T62" fmla="*/ 1630 w 2586"/>
                <a:gd name="T63" fmla="*/ 275 h 1178"/>
                <a:gd name="T64" fmla="*/ 1693 w 2586"/>
                <a:gd name="T65" fmla="*/ 379 h 1178"/>
                <a:gd name="T66" fmla="*/ 1746 w 2586"/>
                <a:gd name="T67" fmla="*/ 498 h 1178"/>
                <a:gd name="T68" fmla="*/ 1797 w 2586"/>
                <a:gd name="T69" fmla="*/ 622 h 1178"/>
                <a:gd name="T70" fmla="*/ 1853 w 2586"/>
                <a:gd name="T71" fmla="*/ 741 h 1178"/>
                <a:gd name="T72" fmla="*/ 1885 w 2586"/>
                <a:gd name="T73" fmla="*/ 791 h 1178"/>
                <a:gd name="T74" fmla="*/ 1913 w 2586"/>
                <a:gd name="T75" fmla="*/ 823 h 1178"/>
                <a:gd name="T76" fmla="*/ 1949 w 2586"/>
                <a:gd name="T77" fmla="*/ 860 h 1178"/>
                <a:gd name="T78" fmla="*/ 1989 w 2586"/>
                <a:gd name="T79" fmla="*/ 896 h 1178"/>
                <a:gd name="T80" fmla="*/ 2033 w 2586"/>
                <a:gd name="T81" fmla="*/ 932 h 1178"/>
                <a:gd name="T82" fmla="*/ 2078 w 2586"/>
                <a:gd name="T83" fmla="*/ 967 h 1178"/>
                <a:gd name="T84" fmla="*/ 2123 w 2586"/>
                <a:gd name="T85" fmla="*/ 998 h 1178"/>
                <a:gd name="T86" fmla="*/ 2164 w 2586"/>
                <a:gd name="T87" fmla="*/ 1024 h 1178"/>
                <a:gd name="T88" fmla="*/ 2209 w 2586"/>
                <a:gd name="T89" fmla="*/ 1048 h 1178"/>
                <a:gd name="T90" fmla="*/ 2262 w 2586"/>
                <a:gd name="T91" fmla="*/ 1073 h 1178"/>
                <a:gd name="T92" fmla="*/ 2318 w 2586"/>
                <a:gd name="T93" fmla="*/ 1098 h 1178"/>
                <a:gd name="T94" fmla="*/ 2377 w 2586"/>
                <a:gd name="T95" fmla="*/ 1122 h 1178"/>
                <a:gd name="T96" fmla="*/ 2435 w 2586"/>
                <a:gd name="T97" fmla="*/ 1142 h 1178"/>
                <a:gd name="T98" fmla="*/ 2489 w 2586"/>
                <a:gd name="T99" fmla="*/ 1159 h 1178"/>
                <a:gd name="T100" fmla="*/ 2537 w 2586"/>
                <a:gd name="T101" fmla="*/ 1171 h 1178"/>
                <a:gd name="T102" fmla="*/ 2577 w 2586"/>
                <a:gd name="T103" fmla="*/ 1176 h 1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86" h="1178">
                  <a:moveTo>
                    <a:pt x="0" y="1177"/>
                  </a:moveTo>
                  <a:lnTo>
                    <a:pt x="6" y="1175"/>
                  </a:lnTo>
                  <a:lnTo>
                    <a:pt x="14" y="1172"/>
                  </a:lnTo>
                  <a:lnTo>
                    <a:pt x="24" y="1168"/>
                  </a:lnTo>
                  <a:lnTo>
                    <a:pt x="36" y="1164"/>
                  </a:lnTo>
                  <a:lnTo>
                    <a:pt x="48" y="1158"/>
                  </a:lnTo>
                  <a:lnTo>
                    <a:pt x="63" y="1151"/>
                  </a:lnTo>
                  <a:lnTo>
                    <a:pt x="79" y="1144"/>
                  </a:lnTo>
                  <a:lnTo>
                    <a:pt x="96" y="1136"/>
                  </a:lnTo>
                  <a:lnTo>
                    <a:pt x="114" y="1127"/>
                  </a:lnTo>
                  <a:lnTo>
                    <a:pt x="132" y="1117"/>
                  </a:lnTo>
                  <a:lnTo>
                    <a:pt x="152" y="1108"/>
                  </a:lnTo>
                  <a:lnTo>
                    <a:pt x="171" y="1098"/>
                  </a:lnTo>
                  <a:lnTo>
                    <a:pt x="193" y="1087"/>
                  </a:lnTo>
                  <a:lnTo>
                    <a:pt x="213" y="1076"/>
                  </a:lnTo>
                  <a:lnTo>
                    <a:pt x="234" y="1065"/>
                  </a:lnTo>
                  <a:lnTo>
                    <a:pt x="256" y="1054"/>
                  </a:lnTo>
                  <a:lnTo>
                    <a:pt x="277" y="1042"/>
                  </a:lnTo>
                  <a:lnTo>
                    <a:pt x="298" y="1031"/>
                  </a:lnTo>
                  <a:lnTo>
                    <a:pt x="319" y="1020"/>
                  </a:lnTo>
                  <a:lnTo>
                    <a:pt x="340" y="1008"/>
                  </a:lnTo>
                  <a:lnTo>
                    <a:pt x="360" y="998"/>
                  </a:lnTo>
                  <a:lnTo>
                    <a:pt x="379" y="986"/>
                  </a:lnTo>
                  <a:lnTo>
                    <a:pt x="398" y="976"/>
                  </a:lnTo>
                  <a:lnTo>
                    <a:pt x="416" y="966"/>
                  </a:lnTo>
                  <a:lnTo>
                    <a:pt x="432" y="955"/>
                  </a:lnTo>
                  <a:lnTo>
                    <a:pt x="448" y="947"/>
                  </a:lnTo>
                  <a:lnTo>
                    <a:pt x="462" y="938"/>
                  </a:lnTo>
                  <a:lnTo>
                    <a:pt x="475" y="930"/>
                  </a:lnTo>
                  <a:lnTo>
                    <a:pt x="486" y="922"/>
                  </a:lnTo>
                  <a:lnTo>
                    <a:pt x="496" y="916"/>
                  </a:lnTo>
                  <a:lnTo>
                    <a:pt x="504" y="910"/>
                  </a:lnTo>
                  <a:lnTo>
                    <a:pt x="509" y="905"/>
                  </a:lnTo>
                  <a:lnTo>
                    <a:pt x="520" y="896"/>
                  </a:lnTo>
                  <a:lnTo>
                    <a:pt x="529" y="888"/>
                  </a:lnTo>
                  <a:lnTo>
                    <a:pt x="539" y="877"/>
                  </a:lnTo>
                  <a:lnTo>
                    <a:pt x="549" y="868"/>
                  </a:lnTo>
                  <a:lnTo>
                    <a:pt x="558" y="857"/>
                  </a:lnTo>
                  <a:lnTo>
                    <a:pt x="567" y="847"/>
                  </a:lnTo>
                  <a:lnTo>
                    <a:pt x="576" y="836"/>
                  </a:lnTo>
                  <a:lnTo>
                    <a:pt x="586" y="826"/>
                  </a:lnTo>
                  <a:lnTo>
                    <a:pt x="595" y="814"/>
                  </a:lnTo>
                  <a:lnTo>
                    <a:pt x="604" y="803"/>
                  </a:lnTo>
                  <a:lnTo>
                    <a:pt x="613" y="791"/>
                  </a:lnTo>
                  <a:lnTo>
                    <a:pt x="621" y="779"/>
                  </a:lnTo>
                  <a:lnTo>
                    <a:pt x="629" y="767"/>
                  </a:lnTo>
                  <a:lnTo>
                    <a:pt x="638" y="755"/>
                  </a:lnTo>
                  <a:lnTo>
                    <a:pt x="647" y="742"/>
                  </a:lnTo>
                  <a:lnTo>
                    <a:pt x="654" y="730"/>
                  </a:lnTo>
                  <a:lnTo>
                    <a:pt x="670" y="704"/>
                  </a:lnTo>
                  <a:lnTo>
                    <a:pt x="685" y="679"/>
                  </a:lnTo>
                  <a:lnTo>
                    <a:pt x="699" y="655"/>
                  </a:lnTo>
                  <a:lnTo>
                    <a:pt x="713" y="630"/>
                  </a:lnTo>
                  <a:lnTo>
                    <a:pt x="727" y="605"/>
                  </a:lnTo>
                  <a:lnTo>
                    <a:pt x="741" y="580"/>
                  </a:lnTo>
                  <a:lnTo>
                    <a:pt x="754" y="556"/>
                  </a:lnTo>
                  <a:lnTo>
                    <a:pt x="767" y="531"/>
                  </a:lnTo>
                  <a:lnTo>
                    <a:pt x="781" y="507"/>
                  </a:lnTo>
                  <a:lnTo>
                    <a:pt x="794" y="482"/>
                  </a:lnTo>
                  <a:lnTo>
                    <a:pt x="807" y="456"/>
                  </a:lnTo>
                  <a:lnTo>
                    <a:pt x="820" y="431"/>
                  </a:lnTo>
                  <a:lnTo>
                    <a:pt x="834" y="406"/>
                  </a:lnTo>
                  <a:lnTo>
                    <a:pt x="847" y="380"/>
                  </a:lnTo>
                  <a:lnTo>
                    <a:pt x="861" y="355"/>
                  </a:lnTo>
                  <a:lnTo>
                    <a:pt x="875" y="327"/>
                  </a:lnTo>
                  <a:lnTo>
                    <a:pt x="882" y="314"/>
                  </a:lnTo>
                  <a:lnTo>
                    <a:pt x="889" y="300"/>
                  </a:lnTo>
                  <a:lnTo>
                    <a:pt x="898" y="287"/>
                  </a:lnTo>
                  <a:lnTo>
                    <a:pt x="906" y="273"/>
                  </a:lnTo>
                  <a:lnTo>
                    <a:pt x="914" y="259"/>
                  </a:lnTo>
                  <a:lnTo>
                    <a:pt x="923" y="245"/>
                  </a:lnTo>
                  <a:lnTo>
                    <a:pt x="932" y="231"/>
                  </a:lnTo>
                  <a:lnTo>
                    <a:pt x="942" y="217"/>
                  </a:lnTo>
                  <a:lnTo>
                    <a:pt x="952" y="203"/>
                  </a:lnTo>
                  <a:lnTo>
                    <a:pt x="962" y="189"/>
                  </a:lnTo>
                  <a:lnTo>
                    <a:pt x="973" y="176"/>
                  </a:lnTo>
                  <a:lnTo>
                    <a:pt x="984" y="162"/>
                  </a:lnTo>
                  <a:lnTo>
                    <a:pt x="995" y="149"/>
                  </a:lnTo>
                  <a:lnTo>
                    <a:pt x="1006" y="136"/>
                  </a:lnTo>
                  <a:lnTo>
                    <a:pt x="1018" y="124"/>
                  </a:lnTo>
                  <a:lnTo>
                    <a:pt x="1030" y="112"/>
                  </a:lnTo>
                  <a:lnTo>
                    <a:pt x="1042" y="100"/>
                  </a:lnTo>
                  <a:lnTo>
                    <a:pt x="1054" y="89"/>
                  </a:lnTo>
                  <a:lnTo>
                    <a:pt x="1067" y="78"/>
                  </a:lnTo>
                  <a:lnTo>
                    <a:pt x="1079" y="68"/>
                  </a:lnTo>
                  <a:lnTo>
                    <a:pt x="1093" y="58"/>
                  </a:lnTo>
                  <a:lnTo>
                    <a:pt x="1105" y="49"/>
                  </a:lnTo>
                  <a:lnTo>
                    <a:pt x="1119" y="41"/>
                  </a:lnTo>
                  <a:lnTo>
                    <a:pt x="1132" y="33"/>
                  </a:lnTo>
                  <a:lnTo>
                    <a:pt x="1146" y="26"/>
                  </a:lnTo>
                  <a:lnTo>
                    <a:pt x="1160" y="20"/>
                  </a:lnTo>
                  <a:lnTo>
                    <a:pt x="1174" y="14"/>
                  </a:lnTo>
                  <a:lnTo>
                    <a:pt x="1188" y="10"/>
                  </a:lnTo>
                  <a:lnTo>
                    <a:pt x="1202" y="6"/>
                  </a:lnTo>
                  <a:lnTo>
                    <a:pt x="1217" y="2"/>
                  </a:lnTo>
                  <a:lnTo>
                    <a:pt x="1231" y="1"/>
                  </a:lnTo>
                  <a:lnTo>
                    <a:pt x="1246" y="0"/>
                  </a:lnTo>
                  <a:lnTo>
                    <a:pt x="1260" y="0"/>
                  </a:lnTo>
                  <a:lnTo>
                    <a:pt x="1274" y="1"/>
                  </a:lnTo>
                  <a:lnTo>
                    <a:pt x="1288" y="2"/>
                  </a:lnTo>
                  <a:lnTo>
                    <a:pt x="1302" y="2"/>
                  </a:lnTo>
                  <a:lnTo>
                    <a:pt x="1315" y="5"/>
                  </a:lnTo>
                  <a:lnTo>
                    <a:pt x="1328" y="7"/>
                  </a:lnTo>
                  <a:lnTo>
                    <a:pt x="1341" y="11"/>
                  </a:lnTo>
                  <a:lnTo>
                    <a:pt x="1353" y="14"/>
                  </a:lnTo>
                  <a:lnTo>
                    <a:pt x="1365" y="18"/>
                  </a:lnTo>
                  <a:lnTo>
                    <a:pt x="1378" y="24"/>
                  </a:lnTo>
                  <a:lnTo>
                    <a:pt x="1390" y="29"/>
                  </a:lnTo>
                  <a:lnTo>
                    <a:pt x="1401" y="36"/>
                  </a:lnTo>
                  <a:lnTo>
                    <a:pt x="1413" y="42"/>
                  </a:lnTo>
                  <a:lnTo>
                    <a:pt x="1425" y="50"/>
                  </a:lnTo>
                  <a:lnTo>
                    <a:pt x="1437" y="57"/>
                  </a:lnTo>
                  <a:lnTo>
                    <a:pt x="1449" y="66"/>
                  </a:lnTo>
                  <a:lnTo>
                    <a:pt x="1460" y="75"/>
                  </a:lnTo>
                  <a:lnTo>
                    <a:pt x="1472" y="85"/>
                  </a:lnTo>
                  <a:lnTo>
                    <a:pt x="1483" y="96"/>
                  </a:lnTo>
                  <a:lnTo>
                    <a:pt x="1495" y="107"/>
                  </a:lnTo>
                  <a:lnTo>
                    <a:pt x="1506" y="118"/>
                  </a:lnTo>
                  <a:lnTo>
                    <a:pt x="1518" y="131"/>
                  </a:lnTo>
                  <a:lnTo>
                    <a:pt x="1530" y="145"/>
                  </a:lnTo>
                  <a:lnTo>
                    <a:pt x="1542" y="158"/>
                  </a:lnTo>
                  <a:lnTo>
                    <a:pt x="1554" y="173"/>
                  </a:lnTo>
                  <a:lnTo>
                    <a:pt x="1566" y="188"/>
                  </a:lnTo>
                  <a:lnTo>
                    <a:pt x="1578" y="204"/>
                  </a:lnTo>
                  <a:lnTo>
                    <a:pt x="1591" y="221"/>
                  </a:lnTo>
                  <a:lnTo>
                    <a:pt x="1604" y="238"/>
                  </a:lnTo>
                  <a:lnTo>
                    <a:pt x="1617" y="256"/>
                  </a:lnTo>
                  <a:lnTo>
                    <a:pt x="1630" y="275"/>
                  </a:lnTo>
                  <a:lnTo>
                    <a:pt x="1644" y="295"/>
                  </a:lnTo>
                  <a:lnTo>
                    <a:pt x="1661" y="322"/>
                  </a:lnTo>
                  <a:lnTo>
                    <a:pt x="1678" y="350"/>
                  </a:lnTo>
                  <a:lnTo>
                    <a:pt x="1693" y="379"/>
                  </a:lnTo>
                  <a:lnTo>
                    <a:pt x="1707" y="407"/>
                  </a:lnTo>
                  <a:lnTo>
                    <a:pt x="1721" y="437"/>
                  </a:lnTo>
                  <a:lnTo>
                    <a:pt x="1734" y="468"/>
                  </a:lnTo>
                  <a:lnTo>
                    <a:pt x="1746" y="498"/>
                  </a:lnTo>
                  <a:lnTo>
                    <a:pt x="1760" y="529"/>
                  </a:lnTo>
                  <a:lnTo>
                    <a:pt x="1772" y="560"/>
                  </a:lnTo>
                  <a:lnTo>
                    <a:pt x="1784" y="590"/>
                  </a:lnTo>
                  <a:lnTo>
                    <a:pt x="1797" y="622"/>
                  </a:lnTo>
                  <a:lnTo>
                    <a:pt x="1810" y="651"/>
                  </a:lnTo>
                  <a:lnTo>
                    <a:pt x="1824" y="681"/>
                  </a:lnTo>
                  <a:lnTo>
                    <a:pt x="1838" y="711"/>
                  </a:lnTo>
                  <a:lnTo>
                    <a:pt x="1853" y="741"/>
                  </a:lnTo>
                  <a:lnTo>
                    <a:pt x="1869" y="769"/>
                  </a:lnTo>
                  <a:lnTo>
                    <a:pt x="1874" y="775"/>
                  </a:lnTo>
                  <a:lnTo>
                    <a:pt x="1878" y="783"/>
                  </a:lnTo>
                  <a:lnTo>
                    <a:pt x="1885" y="791"/>
                  </a:lnTo>
                  <a:lnTo>
                    <a:pt x="1890" y="798"/>
                  </a:lnTo>
                  <a:lnTo>
                    <a:pt x="1897" y="807"/>
                  </a:lnTo>
                  <a:lnTo>
                    <a:pt x="1905" y="815"/>
                  </a:lnTo>
                  <a:lnTo>
                    <a:pt x="1913" y="823"/>
                  </a:lnTo>
                  <a:lnTo>
                    <a:pt x="1921" y="832"/>
                  </a:lnTo>
                  <a:lnTo>
                    <a:pt x="1930" y="841"/>
                  </a:lnTo>
                  <a:lnTo>
                    <a:pt x="1938" y="851"/>
                  </a:lnTo>
                  <a:lnTo>
                    <a:pt x="1949" y="860"/>
                  </a:lnTo>
                  <a:lnTo>
                    <a:pt x="1958" y="869"/>
                  </a:lnTo>
                  <a:lnTo>
                    <a:pt x="1968" y="878"/>
                  </a:lnTo>
                  <a:lnTo>
                    <a:pt x="1979" y="887"/>
                  </a:lnTo>
                  <a:lnTo>
                    <a:pt x="1989" y="896"/>
                  </a:lnTo>
                  <a:lnTo>
                    <a:pt x="2000" y="905"/>
                  </a:lnTo>
                  <a:lnTo>
                    <a:pt x="2010" y="914"/>
                  </a:lnTo>
                  <a:lnTo>
                    <a:pt x="2022" y="924"/>
                  </a:lnTo>
                  <a:lnTo>
                    <a:pt x="2033" y="932"/>
                  </a:lnTo>
                  <a:lnTo>
                    <a:pt x="2044" y="941"/>
                  </a:lnTo>
                  <a:lnTo>
                    <a:pt x="2055" y="951"/>
                  </a:lnTo>
                  <a:lnTo>
                    <a:pt x="2067" y="959"/>
                  </a:lnTo>
                  <a:lnTo>
                    <a:pt x="2078" y="967"/>
                  </a:lnTo>
                  <a:lnTo>
                    <a:pt x="2089" y="975"/>
                  </a:lnTo>
                  <a:lnTo>
                    <a:pt x="2101" y="983"/>
                  </a:lnTo>
                  <a:lnTo>
                    <a:pt x="2111" y="991"/>
                  </a:lnTo>
                  <a:lnTo>
                    <a:pt x="2123" y="998"/>
                  </a:lnTo>
                  <a:lnTo>
                    <a:pt x="2133" y="1005"/>
                  </a:lnTo>
                  <a:lnTo>
                    <a:pt x="2144" y="1012"/>
                  </a:lnTo>
                  <a:lnTo>
                    <a:pt x="2154" y="1017"/>
                  </a:lnTo>
                  <a:lnTo>
                    <a:pt x="2164" y="1024"/>
                  </a:lnTo>
                  <a:lnTo>
                    <a:pt x="2174" y="1029"/>
                  </a:lnTo>
                  <a:lnTo>
                    <a:pt x="2185" y="1036"/>
                  </a:lnTo>
                  <a:lnTo>
                    <a:pt x="2197" y="1041"/>
                  </a:lnTo>
                  <a:lnTo>
                    <a:pt x="2209" y="1048"/>
                  </a:lnTo>
                  <a:lnTo>
                    <a:pt x="2222" y="1054"/>
                  </a:lnTo>
                  <a:lnTo>
                    <a:pt x="2234" y="1060"/>
                  </a:lnTo>
                  <a:lnTo>
                    <a:pt x="2249" y="1066"/>
                  </a:lnTo>
                  <a:lnTo>
                    <a:pt x="2262" y="1073"/>
                  </a:lnTo>
                  <a:lnTo>
                    <a:pt x="2275" y="1079"/>
                  </a:lnTo>
                  <a:lnTo>
                    <a:pt x="2290" y="1085"/>
                  </a:lnTo>
                  <a:lnTo>
                    <a:pt x="2305" y="1092"/>
                  </a:lnTo>
                  <a:lnTo>
                    <a:pt x="2318" y="1098"/>
                  </a:lnTo>
                  <a:lnTo>
                    <a:pt x="2333" y="1104"/>
                  </a:lnTo>
                  <a:lnTo>
                    <a:pt x="2348" y="1109"/>
                  </a:lnTo>
                  <a:lnTo>
                    <a:pt x="2362" y="1116"/>
                  </a:lnTo>
                  <a:lnTo>
                    <a:pt x="2377" y="1122"/>
                  </a:lnTo>
                  <a:lnTo>
                    <a:pt x="2392" y="1127"/>
                  </a:lnTo>
                  <a:lnTo>
                    <a:pt x="2407" y="1132"/>
                  </a:lnTo>
                  <a:lnTo>
                    <a:pt x="2421" y="1137"/>
                  </a:lnTo>
                  <a:lnTo>
                    <a:pt x="2435" y="1142"/>
                  </a:lnTo>
                  <a:lnTo>
                    <a:pt x="2448" y="1146"/>
                  </a:lnTo>
                  <a:lnTo>
                    <a:pt x="2463" y="1151"/>
                  </a:lnTo>
                  <a:lnTo>
                    <a:pt x="2476" y="1156"/>
                  </a:lnTo>
                  <a:lnTo>
                    <a:pt x="2489" y="1159"/>
                  </a:lnTo>
                  <a:lnTo>
                    <a:pt x="2502" y="1162"/>
                  </a:lnTo>
                  <a:lnTo>
                    <a:pt x="2514" y="1165"/>
                  </a:lnTo>
                  <a:lnTo>
                    <a:pt x="2526" y="1169"/>
                  </a:lnTo>
                  <a:lnTo>
                    <a:pt x="2537" y="1171"/>
                  </a:lnTo>
                  <a:lnTo>
                    <a:pt x="2548" y="1173"/>
                  </a:lnTo>
                  <a:lnTo>
                    <a:pt x="2558" y="1175"/>
                  </a:lnTo>
                  <a:lnTo>
                    <a:pt x="2568" y="1176"/>
                  </a:lnTo>
                  <a:lnTo>
                    <a:pt x="2577" y="1176"/>
                  </a:lnTo>
                  <a:lnTo>
                    <a:pt x="2585" y="1177"/>
                  </a:lnTo>
                </a:path>
              </a:pathLst>
            </a:custGeom>
            <a:noFill/>
            <a:ln w="50800" cap="rnd" cmpd="sng">
              <a:solidFill>
                <a:srgbClr val="02B67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nvGrpSpPr>
          <p:cNvPr id="19" name="Group 18"/>
          <p:cNvGrpSpPr/>
          <p:nvPr/>
        </p:nvGrpSpPr>
        <p:grpSpPr>
          <a:xfrm>
            <a:off x="3841899" y="1883735"/>
            <a:ext cx="392287" cy="2764465"/>
            <a:chOff x="3841899" y="1883735"/>
            <a:chExt cx="392287" cy="2764465"/>
          </a:xfrm>
        </p:grpSpPr>
        <p:cxnSp>
          <p:nvCxnSpPr>
            <p:cNvPr id="10" name="Straight Connector 9"/>
            <p:cNvCxnSpPr/>
            <p:nvPr/>
          </p:nvCxnSpPr>
          <p:spPr>
            <a:xfrm flipV="1">
              <a:off x="4038600" y="2286000"/>
              <a:ext cx="0" cy="2362200"/>
            </a:xfrm>
            <a:prstGeom prst="line">
              <a:avLst/>
            </a:prstGeom>
            <a:ln>
              <a:prstDash val="sysDash"/>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13" name="TextBox 12"/>
                <p:cNvSpPr txBox="1"/>
                <p:nvPr/>
              </p:nvSpPr>
              <p:spPr>
                <a:xfrm>
                  <a:off x="3841899" y="1883735"/>
                  <a:ext cx="392287" cy="39241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GB" i="1" dirty="0">
                                <a:latin typeface="Cambria Math" panose="02040503050406030204" pitchFamily="18" charset="0"/>
                              </a:rPr>
                            </m:ctrlPr>
                          </m:accPr>
                          <m:e>
                            <m:r>
                              <a:rPr lang="en-GB" i="1" dirty="0">
                                <a:latin typeface="Cambria Math"/>
                              </a:rPr>
                              <m:t>𝑋</m:t>
                            </m:r>
                          </m:e>
                        </m:acc>
                      </m:oMath>
                    </m:oMathPara>
                  </a14:m>
                  <a:endParaRPr lang="en-GB" dirty="0"/>
                </a:p>
              </p:txBody>
            </p:sp>
          </mc:Choice>
          <mc:Fallback xmlns="">
            <p:sp>
              <p:nvSpPr>
                <p:cNvPr id="13" name="TextBox 12"/>
                <p:cNvSpPr txBox="1">
                  <a:spLocks noRot="1" noChangeAspect="1" noMove="1" noResize="1" noEditPoints="1" noAdjustHandles="1" noChangeArrowheads="1" noChangeShapeType="1" noTextEdit="1"/>
                </p:cNvSpPr>
                <p:nvPr/>
              </p:nvSpPr>
              <p:spPr>
                <a:xfrm>
                  <a:off x="3841899" y="1883735"/>
                  <a:ext cx="392287" cy="392415"/>
                </a:xfrm>
                <a:prstGeom prst="rect">
                  <a:avLst/>
                </a:prstGeom>
                <a:blipFill rotWithShape="1">
                  <a:blip r:embed="rId3"/>
                  <a:stretch>
                    <a:fillRect t="-12500" r="-16923"/>
                  </a:stretch>
                </a:blipFill>
              </p:spPr>
              <p:txBody>
                <a:bodyPr/>
                <a:lstStyle/>
                <a:p>
                  <a:r>
                    <a:rPr lang="en-GB">
                      <a:noFill/>
                    </a:rPr>
                    <a:t> </a:t>
                  </a:r>
                </a:p>
              </p:txBody>
            </p:sp>
          </mc:Fallback>
        </mc:AlternateContent>
      </p:grpSp>
      <p:grpSp>
        <p:nvGrpSpPr>
          <p:cNvPr id="43" name="Group 42"/>
          <p:cNvGrpSpPr/>
          <p:nvPr/>
        </p:nvGrpSpPr>
        <p:grpSpPr>
          <a:xfrm>
            <a:off x="2111680" y="2438400"/>
            <a:ext cx="3684250" cy="2209800"/>
            <a:chOff x="2111680" y="2438400"/>
            <a:chExt cx="3684250" cy="2209800"/>
          </a:xfrm>
        </p:grpSpPr>
        <p:grpSp>
          <p:nvGrpSpPr>
            <p:cNvPr id="20" name="Group 19"/>
            <p:cNvGrpSpPr/>
            <p:nvPr/>
          </p:nvGrpSpPr>
          <p:grpSpPr>
            <a:xfrm>
              <a:off x="2111680" y="2438400"/>
              <a:ext cx="478529" cy="2209800"/>
              <a:chOff x="3874913" y="1883735"/>
              <a:chExt cx="478529" cy="2764465"/>
            </a:xfrm>
          </p:grpSpPr>
          <p:cxnSp>
            <p:nvCxnSpPr>
              <p:cNvPr id="21" name="Straight Connector 20"/>
              <p:cNvCxnSpPr/>
              <p:nvPr/>
            </p:nvCxnSpPr>
            <p:spPr>
              <a:xfrm flipV="1">
                <a:off x="4038600" y="2286000"/>
                <a:ext cx="0" cy="2362200"/>
              </a:xfrm>
              <a:prstGeom prst="line">
                <a:avLst/>
              </a:prstGeom>
              <a:ln>
                <a:solidFill>
                  <a:srgbClr val="FF0000"/>
                </a:solidFill>
                <a:prstDash val="sysDot"/>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22" name="TextBox 21"/>
                  <p:cNvSpPr txBox="1"/>
                  <p:nvPr/>
                </p:nvSpPr>
                <p:spPr>
                  <a:xfrm>
                    <a:off x="3874913" y="1883735"/>
                    <a:ext cx="478529" cy="462035"/>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i="1" dirty="0" smtClean="0">
                                  <a:solidFill>
                                    <a:srgbClr val="FF0000"/>
                                  </a:solidFill>
                                  <a:latin typeface="Cambria Math" panose="02040503050406030204" pitchFamily="18" charset="0"/>
                                </a:rPr>
                              </m:ctrlPr>
                            </m:sSubPr>
                            <m:e>
                              <m:acc>
                                <m:accPr>
                                  <m:chr m:val="̅"/>
                                  <m:ctrlPr>
                                    <a:rPr lang="en-GB" i="1" dirty="0">
                                      <a:solidFill>
                                        <a:srgbClr val="FF0000"/>
                                      </a:solidFill>
                                      <a:latin typeface="Cambria Math" panose="02040503050406030204" pitchFamily="18" charset="0"/>
                                    </a:rPr>
                                  </m:ctrlPr>
                                </m:accPr>
                                <m:e>
                                  <m:r>
                                    <a:rPr lang="en-GB" b="0" i="1" dirty="0" smtClean="0">
                                      <a:solidFill>
                                        <a:srgbClr val="FF0000"/>
                                      </a:solidFill>
                                      <a:latin typeface="Cambria Math"/>
                                    </a:rPr>
                                    <m:t>𝑋</m:t>
                                  </m:r>
                                </m:e>
                              </m:acc>
                            </m:e>
                            <m:sub>
                              <m:r>
                                <a:rPr lang="en-GB" b="0" i="1" dirty="0" smtClean="0">
                                  <a:solidFill>
                                    <a:srgbClr val="FF0000"/>
                                  </a:solidFill>
                                  <a:latin typeface="Cambria Math"/>
                                </a:rPr>
                                <m:t>1</m:t>
                              </m:r>
                            </m:sub>
                          </m:sSub>
                        </m:oMath>
                      </m:oMathPara>
                    </a14:m>
                    <a:endParaRPr lang="en-GB" dirty="0">
                      <a:solidFill>
                        <a:srgbClr val="FF0000"/>
                      </a:solidFill>
                    </a:endParaRPr>
                  </a:p>
                </p:txBody>
              </p:sp>
            </mc:Choice>
            <mc:Fallback xmlns="">
              <p:sp>
                <p:nvSpPr>
                  <p:cNvPr id="22" name="TextBox 21"/>
                  <p:cNvSpPr txBox="1">
                    <a:spLocks noRot="1" noChangeAspect="1" noMove="1" noResize="1" noEditPoints="1" noAdjustHandles="1" noChangeArrowheads="1" noChangeShapeType="1" noTextEdit="1"/>
                  </p:cNvSpPr>
                  <p:nvPr/>
                </p:nvSpPr>
                <p:spPr>
                  <a:xfrm>
                    <a:off x="3874913" y="1883735"/>
                    <a:ext cx="478529" cy="462035"/>
                  </a:xfrm>
                  <a:prstGeom prst="rect">
                    <a:avLst/>
                  </a:prstGeom>
                  <a:blipFill rotWithShape="1">
                    <a:blip r:embed="rId4"/>
                    <a:stretch>
                      <a:fillRect r="-2532"/>
                    </a:stretch>
                  </a:blipFill>
                  <a:ln>
                    <a:noFill/>
                  </a:ln>
                </p:spPr>
                <p:txBody>
                  <a:bodyPr/>
                  <a:lstStyle/>
                  <a:p>
                    <a:r>
                      <a:rPr lang="en-GB">
                        <a:noFill/>
                      </a:rPr>
                      <a:t> </a:t>
                    </a:r>
                  </a:p>
                </p:txBody>
              </p:sp>
            </mc:Fallback>
          </mc:AlternateContent>
        </p:grpSp>
        <p:grpSp>
          <p:nvGrpSpPr>
            <p:cNvPr id="23" name="Group 22"/>
            <p:cNvGrpSpPr/>
            <p:nvPr/>
          </p:nvGrpSpPr>
          <p:grpSpPr>
            <a:xfrm>
              <a:off x="4463247" y="2438400"/>
              <a:ext cx="483850" cy="2209800"/>
              <a:chOff x="3874913" y="1883735"/>
              <a:chExt cx="483850" cy="2764465"/>
            </a:xfrm>
          </p:grpSpPr>
          <p:cxnSp>
            <p:nvCxnSpPr>
              <p:cNvPr id="24" name="Straight Connector 23"/>
              <p:cNvCxnSpPr/>
              <p:nvPr/>
            </p:nvCxnSpPr>
            <p:spPr>
              <a:xfrm flipV="1">
                <a:off x="4038600" y="2286000"/>
                <a:ext cx="0" cy="2362200"/>
              </a:xfrm>
              <a:prstGeom prst="line">
                <a:avLst/>
              </a:prstGeom>
              <a:ln>
                <a:solidFill>
                  <a:schemeClr val="accent1"/>
                </a:solidFill>
                <a:prstDash val="sysDot"/>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25" name="TextBox 24"/>
                  <p:cNvSpPr txBox="1"/>
                  <p:nvPr/>
                </p:nvSpPr>
                <p:spPr>
                  <a:xfrm>
                    <a:off x="3874913" y="1883735"/>
                    <a:ext cx="483850" cy="462035"/>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i="1" dirty="0" smtClean="0">
                                  <a:solidFill>
                                    <a:schemeClr val="tx2"/>
                                  </a:solidFill>
                                  <a:latin typeface="Cambria Math" panose="02040503050406030204" pitchFamily="18" charset="0"/>
                                </a:rPr>
                              </m:ctrlPr>
                            </m:sSubPr>
                            <m:e>
                              <m:acc>
                                <m:accPr>
                                  <m:chr m:val="̅"/>
                                  <m:ctrlPr>
                                    <a:rPr lang="en-GB" i="1" dirty="0">
                                      <a:solidFill>
                                        <a:schemeClr val="tx2"/>
                                      </a:solidFill>
                                      <a:latin typeface="Cambria Math" panose="02040503050406030204" pitchFamily="18" charset="0"/>
                                    </a:rPr>
                                  </m:ctrlPr>
                                </m:accPr>
                                <m:e>
                                  <m:r>
                                    <a:rPr lang="en-GB" i="1" dirty="0">
                                      <a:solidFill>
                                        <a:schemeClr val="tx2"/>
                                      </a:solidFill>
                                      <a:latin typeface="Cambria Math"/>
                                    </a:rPr>
                                    <m:t>𝑋</m:t>
                                  </m:r>
                                </m:e>
                              </m:acc>
                            </m:e>
                            <m:sub>
                              <m:r>
                                <a:rPr lang="en-GB" b="0" i="1" dirty="0" smtClean="0">
                                  <a:solidFill>
                                    <a:schemeClr val="tx2"/>
                                  </a:solidFill>
                                  <a:latin typeface="Cambria Math"/>
                                </a:rPr>
                                <m:t>2</m:t>
                              </m:r>
                            </m:sub>
                          </m:sSub>
                        </m:oMath>
                      </m:oMathPara>
                    </a14:m>
                    <a:endParaRPr lang="en-GB" dirty="0">
                      <a:solidFill>
                        <a:schemeClr val="tx2"/>
                      </a:solidFill>
                    </a:endParaRPr>
                  </a:p>
                </p:txBody>
              </p:sp>
            </mc:Choice>
            <mc:Fallback xmlns="">
              <p:sp>
                <p:nvSpPr>
                  <p:cNvPr id="25" name="TextBox 24"/>
                  <p:cNvSpPr txBox="1">
                    <a:spLocks noRot="1" noChangeAspect="1" noMove="1" noResize="1" noEditPoints="1" noAdjustHandles="1" noChangeArrowheads="1" noChangeShapeType="1" noTextEdit="1"/>
                  </p:cNvSpPr>
                  <p:nvPr/>
                </p:nvSpPr>
                <p:spPr>
                  <a:xfrm>
                    <a:off x="3874913" y="1883735"/>
                    <a:ext cx="483850" cy="462035"/>
                  </a:xfrm>
                  <a:prstGeom prst="rect">
                    <a:avLst/>
                  </a:prstGeom>
                  <a:blipFill rotWithShape="1">
                    <a:blip r:embed="rId5"/>
                    <a:stretch>
                      <a:fillRect r="-2500"/>
                    </a:stretch>
                  </a:blipFill>
                  <a:ln>
                    <a:noFill/>
                  </a:ln>
                </p:spPr>
                <p:txBody>
                  <a:bodyPr/>
                  <a:lstStyle/>
                  <a:p>
                    <a:r>
                      <a:rPr lang="en-GB">
                        <a:noFill/>
                      </a:rPr>
                      <a:t> </a:t>
                    </a:r>
                  </a:p>
                </p:txBody>
              </p:sp>
            </mc:Fallback>
          </mc:AlternateContent>
        </p:grpSp>
        <p:grpSp>
          <p:nvGrpSpPr>
            <p:cNvPr id="26" name="Group 25"/>
            <p:cNvGrpSpPr/>
            <p:nvPr/>
          </p:nvGrpSpPr>
          <p:grpSpPr>
            <a:xfrm>
              <a:off x="5312080" y="2438400"/>
              <a:ext cx="483850" cy="2209800"/>
              <a:chOff x="3874913" y="1883735"/>
              <a:chExt cx="483850" cy="2764465"/>
            </a:xfrm>
          </p:grpSpPr>
          <p:cxnSp>
            <p:nvCxnSpPr>
              <p:cNvPr id="27" name="Straight Connector 26"/>
              <p:cNvCxnSpPr/>
              <p:nvPr/>
            </p:nvCxnSpPr>
            <p:spPr>
              <a:xfrm flipV="1">
                <a:off x="4038600" y="2286000"/>
                <a:ext cx="0" cy="2362200"/>
              </a:xfrm>
              <a:prstGeom prst="line">
                <a:avLst/>
              </a:prstGeom>
              <a:ln>
                <a:solidFill>
                  <a:srgbClr val="00B050"/>
                </a:solidFill>
                <a:prstDash val="sysDot"/>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28" name="TextBox 27"/>
                  <p:cNvSpPr txBox="1"/>
                  <p:nvPr/>
                </p:nvSpPr>
                <p:spPr>
                  <a:xfrm>
                    <a:off x="3874913" y="1883735"/>
                    <a:ext cx="483850" cy="462035"/>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i="1" dirty="0" smtClean="0">
                                  <a:solidFill>
                                    <a:srgbClr val="00B050"/>
                                  </a:solidFill>
                                  <a:latin typeface="Cambria Math" panose="02040503050406030204" pitchFamily="18" charset="0"/>
                                </a:rPr>
                              </m:ctrlPr>
                            </m:sSubPr>
                            <m:e>
                              <m:acc>
                                <m:accPr>
                                  <m:chr m:val="̅"/>
                                  <m:ctrlPr>
                                    <a:rPr lang="en-GB" i="1" dirty="0">
                                      <a:solidFill>
                                        <a:srgbClr val="00B050"/>
                                      </a:solidFill>
                                      <a:latin typeface="Cambria Math" panose="02040503050406030204" pitchFamily="18" charset="0"/>
                                    </a:rPr>
                                  </m:ctrlPr>
                                </m:accPr>
                                <m:e>
                                  <m:r>
                                    <a:rPr lang="en-GB" i="1" dirty="0">
                                      <a:solidFill>
                                        <a:srgbClr val="00B050"/>
                                      </a:solidFill>
                                      <a:latin typeface="Cambria Math"/>
                                    </a:rPr>
                                    <m:t>𝑋</m:t>
                                  </m:r>
                                </m:e>
                              </m:acc>
                            </m:e>
                            <m:sub>
                              <m:r>
                                <a:rPr lang="en-GB" b="0" i="1" dirty="0" smtClean="0">
                                  <a:solidFill>
                                    <a:srgbClr val="00B050"/>
                                  </a:solidFill>
                                  <a:latin typeface="Cambria Math"/>
                                </a:rPr>
                                <m:t>3</m:t>
                              </m:r>
                            </m:sub>
                          </m:sSub>
                        </m:oMath>
                      </m:oMathPara>
                    </a14:m>
                    <a:endParaRPr lang="en-GB" dirty="0">
                      <a:solidFill>
                        <a:srgbClr val="00B050"/>
                      </a:solidFill>
                    </a:endParaRPr>
                  </a:p>
                </p:txBody>
              </p:sp>
            </mc:Choice>
            <mc:Fallback xmlns="">
              <p:sp>
                <p:nvSpPr>
                  <p:cNvPr id="28" name="TextBox 27"/>
                  <p:cNvSpPr txBox="1">
                    <a:spLocks noRot="1" noChangeAspect="1" noMove="1" noResize="1" noEditPoints="1" noAdjustHandles="1" noChangeArrowheads="1" noChangeShapeType="1" noTextEdit="1"/>
                  </p:cNvSpPr>
                  <p:nvPr/>
                </p:nvSpPr>
                <p:spPr>
                  <a:xfrm>
                    <a:off x="3874913" y="1883735"/>
                    <a:ext cx="483850" cy="462035"/>
                  </a:xfrm>
                  <a:prstGeom prst="rect">
                    <a:avLst/>
                  </a:prstGeom>
                  <a:blipFill rotWithShape="1">
                    <a:blip r:embed="rId6"/>
                    <a:stretch>
                      <a:fillRect r="-2500"/>
                    </a:stretch>
                  </a:blipFill>
                  <a:ln>
                    <a:noFill/>
                  </a:ln>
                </p:spPr>
                <p:txBody>
                  <a:bodyPr/>
                  <a:lstStyle/>
                  <a:p>
                    <a:r>
                      <a:rPr lang="en-GB">
                        <a:noFill/>
                      </a:rPr>
                      <a:t> </a:t>
                    </a:r>
                  </a:p>
                </p:txBody>
              </p:sp>
            </mc:Fallback>
          </mc:AlternateContent>
        </p:grpSp>
      </p:grpSp>
      <p:grpSp>
        <p:nvGrpSpPr>
          <p:cNvPr id="42" name="Group 41"/>
          <p:cNvGrpSpPr/>
          <p:nvPr/>
        </p:nvGrpSpPr>
        <p:grpSpPr>
          <a:xfrm>
            <a:off x="1860699" y="4038600"/>
            <a:ext cx="4002180" cy="0"/>
            <a:chOff x="1860699" y="4038600"/>
            <a:chExt cx="4002180" cy="0"/>
          </a:xfrm>
        </p:grpSpPr>
        <p:cxnSp>
          <p:nvCxnSpPr>
            <p:cNvPr id="30" name="Straight Arrow Connector 29"/>
            <p:cNvCxnSpPr/>
            <p:nvPr/>
          </p:nvCxnSpPr>
          <p:spPr>
            <a:xfrm flipH="1">
              <a:off x="1860699" y="4038600"/>
              <a:ext cx="789378" cy="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flipH="1">
              <a:off x="4222899" y="4038600"/>
              <a:ext cx="789378" cy="0"/>
            </a:xfrm>
            <a:prstGeom prst="straightConnector1">
              <a:avLst/>
            </a:prstGeom>
            <a:ln>
              <a:solidFill>
                <a:srgbClr val="0070C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flipH="1">
              <a:off x="5073501" y="4038600"/>
              <a:ext cx="789378" cy="0"/>
            </a:xfrm>
            <a:prstGeom prst="straightConnector1">
              <a:avLst/>
            </a:prstGeom>
            <a:ln>
              <a:solidFill>
                <a:srgbClr val="00B050"/>
              </a:solidFill>
              <a:headEnd type="arrow"/>
              <a:tailEnd type="arrow"/>
            </a:ln>
          </p:spPr>
          <p:style>
            <a:lnRef idx="1">
              <a:schemeClr val="accent1"/>
            </a:lnRef>
            <a:fillRef idx="0">
              <a:schemeClr val="accent1"/>
            </a:fillRef>
            <a:effectRef idx="0">
              <a:schemeClr val="accent1"/>
            </a:effectRef>
            <a:fontRef idx="minor">
              <a:schemeClr val="tx1"/>
            </a:fontRef>
          </p:style>
        </p:cxnSp>
      </p:grpSp>
      <p:grpSp>
        <p:nvGrpSpPr>
          <p:cNvPr id="41" name="Group 40"/>
          <p:cNvGrpSpPr/>
          <p:nvPr/>
        </p:nvGrpSpPr>
        <p:grpSpPr>
          <a:xfrm>
            <a:off x="2286000" y="2807732"/>
            <a:ext cx="3182190" cy="164068"/>
            <a:chOff x="2286000" y="2807732"/>
            <a:chExt cx="3182190" cy="164068"/>
          </a:xfrm>
        </p:grpSpPr>
        <p:cxnSp>
          <p:nvCxnSpPr>
            <p:cNvPr id="35" name="Straight Arrow Connector 34"/>
            <p:cNvCxnSpPr/>
            <p:nvPr/>
          </p:nvCxnSpPr>
          <p:spPr>
            <a:xfrm flipH="1">
              <a:off x="2286000" y="2895600"/>
              <a:ext cx="1752600" cy="0"/>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H="1">
              <a:off x="4038600" y="2971800"/>
              <a:ext cx="1429590" cy="0"/>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H="1">
              <a:off x="4038600" y="2807732"/>
              <a:ext cx="578988" cy="0"/>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grpSp>
      <p:grpSp>
        <p:nvGrpSpPr>
          <p:cNvPr id="15" name="Group 14"/>
          <p:cNvGrpSpPr/>
          <p:nvPr/>
        </p:nvGrpSpPr>
        <p:grpSpPr>
          <a:xfrm>
            <a:off x="6167679" y="1600200"/>
            <a:ext cx="2855632" cy="1775555"/>
            <a:chOff x="6167679" y="1600200"/>
            <a:chExt cx="2855632" cy="1775555"/>
          </a:xfrm>
          <a:solidFill>
            <a:schemeClr val="tx2">
              <a:lumMod val="20000"/>
              <a:lumOff val="80000"/>
            </a:schemeClr>
          </a:solidFill>
        </p:grpSpPr>
        <p:grpSp>
          <p:nvGrpSpPr>
            <p:cNvPr id="4" name="Group 3"/>
            <p:cNvGrpSpPr/>
            <p:nvPr/>
          </p:nvGrpSpPr>
          <p:grpSpPr>
            <a:xfrm>
              <a:off x="6167679" y="2078169"/>
              <a:ext cx="2855632" cy="1297586"/>
              <a:chOff x="6015279" y="1614768"/>
              <a:chExt cx="2325963" cy="1297586"/>
            </a:xfrm>
            <a:grpFill/>
          </p:grpSpPr>
          <p:sp>
            <p:nvSpPr>
              <p:cNvPr id="44" name="Rectangular Callout 43"/>
              <p:cNvSpPr/>
              <p:nvPr/>
            </p:nvSpPr>
            <p:spPr>
              <a:xfrm>
                <a:off x="6015279" y="1614768"/>
                <a:ext cx="2325963" cy="1295400"/>
              </a:xfrm>
              <a:prstGeom prst="wedgeRectCallout">
                <a:avLst>
                  <a:gd name="adj1" fmla="val -107405"/>
                  <a:gd name="adj2" fmla="val 99982"/>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dirty="0">
                  <a:solidFill>
                    <a:schemeClr val="tx1"/>
                  </a:solidFill>
                </a:endParaRPr>
              </a:p>
            </p:txBody>
          </p:sp>
          <p:sp>
            <p:nvSpPr>
              <p:cNvPr id="31" name="Rectangular Callout 30"/>
              <p:cNvSpPr/>
              <p:nvPr/>
            </p:nvSpPr>
            <p:spPr>
              <a:xfrm>
                <a:off x="6015279" y="1614768"/>
                <a:ext cx="2325963" cy="1295400"/>
              </a:xfrm>
              <a:prstGeom prst="wedgeRectCallout">
                <a:avLst>
                  <a:gd name="adj1" fmla="val -69891"/>
                  <a:gd name="adj2" fmla="val 96699"/>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2" name="Rectangular Callout 31"/>
                  <p:cNvSpPr/>
                  <p:nvPr/>
                </p:nvSpPr>
                <p:spPr>
                  <a:xfrm>
                    <a:off x="6015279" y="1616954"/>
                    <a:ext cx="2325963" cy="1295400"/>
                  </a:xfrm>
                  <a:prstGeom prst="wedgeRectCallout">
                    <a:avLst>
                      <a:gd name="adj1" fmla="val -181199"/>
                      <a:gd name="adj2" fmla="val 97518"/>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GB" sz="2000" b="1" i="1" dirty="0" smtClean="0">
                                  <a:solidFill>
                                    <a:schemeClr val="tx1"/>
                                  </a:solidFill>
                                  <a:latin typeface="Cambria Math" panose="02040503050406030204" pitchFamily="18" charset="0"/>
                                </a:rPr>
                              </m:ctrlPr>
                            </m:fPr>
                            <m:num>
                              <m:r>
                                <a:rPr lang="en-GB" sz="2000" b="1" i="1" dirty="0">
                                  <a:solidFill>
                                    <a:schemeClr val="tx1"/>
                                  </a:solidFill>
                                  <a:latin typeface="Cambria Math"/>
                                </a:rPr>
                                <m:t>𝟏</m:t>
                              </m:r>
                            </m:num>
                            <m:den>
                              <m:r>
                                <a:rPr lang="en-GB" sz="2000" b="1" i="1" dirty="0" smtClean="0">
                                  <a:solidFill>
                                    <a:schemeClr val="tx1"/>
                                  </a:solidFill>
                                  <a:latin typeface="Cambria Math"/>
                                </a:rPr>
                                <m:t>𝒏</m:t>
                              </m:r>
                              <m:r>
                                <a:rPr lang="en-GB" sz="2000" b="1" i="1" dirty="0">
                                  <a:solidFill>
                                    <a:schemeClr val="tx1"/>
                                  </a:solidFill>
                                  <a:latin typeface="Cambria Math"/>
                                </a:rPr>
                                <m:t>−</m:t>
                              </m:r>
                              <m:r>
                                <a:rPr lang="en-GB" sz="2000" b="1" i="1" dirty="0" smtClean="0">
                                  <a:solidFill>
                                    <a:schemeClr val="tx1"/>
                                  </a:solidFill>
                                  <a:latin typeface="Cambria Math"/>
                                </a:rPr>
                                <m:t>𝒄</m:t>
                              </m:r>
                            </m:den>
                          </m:f>
                          <m:nary>
                            <m:naryPr>
                              <m:chr m:val="∑"/>
                              <m:ctrlPr>
                                <a:rPr lang="en-GB" sz="2000" b="1" i="1" smtClean="0">
                                  <a:solidFill>
                                    <a:schemeClr val="tx1"/>
                                  </a:solidFill>
                                  <a:latin typeface="Cambria Math" panose="02040503050406030204" pitchFamily="18" charset="0"/>
                                </a:rPr>
                              </m:ctrlPr>
                            </m:naryPr>
                            <m:sub>
                              <m:r>
                                <m:rPr>
                                  <m:brk m:alnAt="23"/>
                                </m:rPr>
                                <a:rPr lang="en-GB" sz="2000" b="1" i="1" smtClean="0">
                                  <a:solidFill>
                                    <a:schemeClr val="tx1"/>
                                  </a:solidFill>
                                  <a:latin typeface="Cambria Math"/>
                                </a:rPr>
                                <m:t>𝒋</m:t>
                              </m:r>
                              <m:r>
                                <a:rPr lang="en-GB" sz="2000" b="1" i="1" smtClean="0">
                                  <a:solidFill>
                                    <a:schemeClr val="tx1"/>
                                  </a:solidFill>
                                  <a:latin typeface="Cambria Math"/>
                                </a:rPr>
                                <m:t>=</m:t>
                              </m:r>
                              <m:r>
                                <a:rPr lang="en-GB" sz="2000" b="1" i="1" smtClean="0">
                                  <a:solidFill>
                                    <a:schemeClr val="tx1"/>
                                  </a:solidFill>
                                  <a:latin typeface="Cambria Math"/>
                                </a:rPr>
                                <m:t>𝟏</m:t>
                              </m:r>
                            </m:sub>
                            <m:sup>
                              <m:r>
                                <a:rPr lang="en-GB" sz="2000" b="1" i="1" smtClean="0">
                                  <a:solidFill>
                                    <a:schemeClr val="tx1"/>
                                  </a:solidFill>
                                  <a:latin typeface="Cambria Math"/>
                                </a:rPr>
                                <m:t>𝒄</m:t>
                              </m:r>
                            </m:sup>
                            <m:e>
                              <m:nary>
                                <m:naryPr>
                                  <m:chr m:val="∑"/>
                                  <m:ctrlPr>
                                    <a:rPr lang="en-GB" sz="2000" b="1" i="1">
                                      <a:solidFill>
                                        <a:schemeClr val="tx1"/>
                                      </a:solidFill>
                                      <a:latin typeface="Cambria Math" panose="02040503050406030204" pitchFamily="18" charset="0"/>
                                    </a:rPr>
                                  </m:ctrlPr>
                                </m:naryPr>
                                <m:sub>
                                  <m:r>
                                    <a:rPr lang="en-GB" sz="2000" b="1" i="1" smtClean="0">
                                      <a:solidFill>
                                        <a:schemeClr val="tx1"/>
                                      </a:solidFill>
                                      <a:latin typeface="Cambria Math"/>
                                    </a:rPr>
                                    <m:t>𝒊</m:t>
                                  </m:r>
                                  <m:r>
                                    <a:rPr lang="en-GB" sz="2000" b="1" i="1">
                                      <a:solidFill>
                                        <a:schemeClr val="tx1"/>
                                      </a:solidFill>
                                      <a:latin typeface="Cambria Math"/>
                                    </a:rPr>
                                    <m:t>=</m:t>
                                  </m:r>
                                  <m:r>
                                    <a:rPr lang="en-GB" sz="2000" b="1" i="1">
                                      <a:solidFill>
                                        <a:schemeClr val="tx1"/>
                                      </a:solidFill>
                                      <a:latin typeface="Cambria Math"/>
                                    </a:rPr>
                                    <m:t>𝟏</m:t>
                                  </m:r>
                                </m:sub>
                                <m:sup>
                                  <m:sSub>
                                    <m:sSubPr>
                                      <m:ctrlPr>
                                        <a:rPr lang="en-GB" sz="2000" b="1" i="1" smtClean="0">
                                          <a:solidFill>
                                            <a:schemeClr val="tx1"/>
                                          </a:solidFill>
                                          <a:latin typeface="Cambria Math" panose="02040503050406030204" pitchFamily="18" charset="0"/>
                                        </a:rPr>
                                      </m:ctrlPr>
                                    </m:sSubPr>
                                    <m:e>
                                      <m:r>
                                        <a:rPr lang="en-GB" sz="2000" b="1" i="1" smtClean="0">
                                          <a:solidFill>
                                            <a:schemeClr val="tx1"/>
                                          </a:solidFill>
                                          <a:latin typeface="Cambria Math"/>
                                        </a:rPr>
                                        <m:t>𝒏</m:t>
                                      </m:r>
                                    </m:e>
                                    <m:sub>
                                      <m:r>
                                        <a:rPr lang="en-GB" sz="2000" b="1" i="1" smtClean="0">
                                          <a:solidFill>
                                            <a:schemeClr val="tx1"/>
                                          </a:solidFill>
                                          <a:latin typeface="Cambria Math"/>
                                        </a:rPr>
                                        <m:t>𝒋</m:t>
                                      </m:r>
                                    </m:sub>
                                  </m:sSub>
                                </m:sup>
                                <m:e>
                                  <m:sSup>
                                    <m:sSupPr>
                                      <m:ctrlPr>
                                        <a:rPr lang="en-GB" sz="2000" b="1" i="1" dirty="0">
                                          <a:solidFill>
                                            <a:schemeClr val="tx1"/>
                                          </a:solidFill>
                                          <a:latin typeface="Cambria Math" panose="02040503050406030204" pitchFamily="18" charset="0"/>
                                        </a:rPr>
                                      </m:ctrlPr>
                                    </m:sSupPr>
                                    <m:e>
                                      <m:d>
                                        <m:dPr>
                                          <m:ctrlPr>
                                            <a:rPr lang="en-GB" sz="2000" b="1" i="1" dirty="0">
                                              <a:solidFill>
                                                <a:schemeClr val="tx1"/>
                                              </a:solidFill>
                                              <a:latin typeface="Cambria Math" panose="02040503050406030204" pitchFamily="18" charset="0"/>
                                            </a:rPr>
                                          </m:ctrlPr>
                                        </m:dPr>
                                        <m:e>
                                          <m:sSub>
                                            <m:sSubPr>
                                              <m:ctrlPr>
                                                <a:rPr lang="en-GB" sz="2000" b="1" i="1" dirty="0">
                                                  <a:solidFill>
                                                    <a:schemeClr val="tx1"/>
                                                  </a:solidFill>
                                                  <a:latin typeface="Cambria Math" panose="02040503050406030204" pitchFamily="18" charset="0"/>
                                                </a:rPr>
                                              </m:ctrlPr>
                                            </m:sSubPr>
                                            <m:e>
                                              <m:sSub>
                                                <m:sSubPr>
                                                  <m:ctrlPr>
                                                    <a:rPr lang="en-GB" sz="2000" b="1" i="1" dirty="0">
                                                      <a:solidFill>
                                                        <a:schemeClr val="tx1"/>
                                                      </a:solidFill>
                                                      <a:latin typeface="Cambria Math" panose="02040503050406030204" pitchFamily="18" charset="0"/>
                                                    </a:rPr>
                                                  </m:ctrlPr>
                                                </m:sSubPr>
                                                <m:e>
                                                  <m:r>
                                                    <a:rPr lang="en-GB" sz="2000" b="1" i="1" dirty="0">
                                                      <a:solidFill>
                                                        <a:schemeClr val="tx1"/>
                                                      </a:solidFill>
                                                      <a:latin typeface="Cambria Math"/>
                                                    </a:rPr>
                                                    <m:t>𝑿</m:t>
                                                  </m:r>
                                                </m:e>
                                                <m:sub>
                                                  <m:r>
                                                    <a:rPr lang="en-GB" sz="2000" b="1" i="1" dirty="0">
                                                      <a:solidFill>
                                                        <a:schemeClr val="tx1"/>
                                                      </a:solidFill>
                                                      <a:latin typeface="Cambria Math"/>
                                                    </a:rPr>
                                                    <m:t>𝒊𝒋</m:t>
                                                  </m:r>
                                                </m:sub>
                                              </m:sSub>
                                              <m:r>
                                                <a:rPr lang="en-GB" sz="2000" b="1" i="1" dirty="0">
                                                  <a:solidFill>
                                                    <a:schemeClr val="tx1"/>
                                                  </a:solidFill>
                                                  <a:latin typeface="Cambria Math"/>
                                                </a:rPr>
                                                <m:t>−</m:t>
                                              </m:r>
                                              <m:acc>
                                                <m:accPr>
                                                  <m:chr m:val="̅"/>
                                                  <m:ctrlPr>
                                                    <a:rPr lang="en-GB" sz="2000" b="1" i="1" dirty="0">
                                                      <a:solidFill>
                                                        <a:schemeClr val="tx1"/>
                                                      </a:solidFill>
                                                      <a:latin typeface="Cambria Math" panose="02040503050406030204" pitchFamily="18" charset="0"/>
                                                    </a:rPr>
                                                  </m:ctrlPr>
                                                </m:accPr>
                                                <m:e>
                                                  <m:r>
                                                    <a:rPr lang="en-GB" sz="2000" b="1" i="1" dirty="0">
                                                      <a:solidFill>
                                                        <a:schemeClr val="tx1"/>
                                                      </a:solidFill>
                                                      <a:latin typeface="Cambria Math"/>
                                                    </a:rPr>
                                                    <m:t>𝑿</m:t>
                                                  </m:r>
                                                </m:e>
                                              </m:acc>
                                            </m:e>
                                            <m:sub>
                                              <m:r>
                                                <a:rPr lang="en-GB" sz="2000" b="1" i="1" dirty="0">
                                                  <a:solidFill>
                                                    <a:schemeClr val="tx1"/>
                                                  </a:solidFill>
                                                  <a:latin typeface="Cambria Math"/>
                                                </a:rPr>
                                                <m:t>𝒋</m:t>
                                              </m:r>
                                            </m:sub>
                                          </m:sSub>
                                        </m:e>
                                      </m:d>
                                    </m:e>
                                    <m:sup>
                                      <m:r>
                                        <a:rPr lang="en-GB" sz="2000" b="1" i="1" dirty="0">
                                          <a:solidFill>
                                            <a:schemeClr val="tx1"/>
                                          </a:solidFill>
                                          <a:latin typeface="Cambria Math"/>
                                        </a:rPr>
                                        <m:t>𝟐</m:t>
                                      </m:r>
                                    </m:sup>
                                  </m:sSup>
                                </m:e>
                              </m:nary>
                              <m:r>
                                <m:rPr>
                                  <m:nor/>
                                </m:rPr>
                                <a:rPr lang="en-GB" sz="2000" b="1" dirty="0">
                                  <a:solidFill>
                                    <a:schemeClr val="tx1"/>
                                  </a:solidFill>
                                </a:rPr>
                                <m:t> </m:t>
                              </m:r>
                            </m:e>
                          </m:nary>
                        </m:oMath>
                      </m:oMathPara>
                    </a14:m>
                    <a:endParaRPr lang="en-GB" sz="2000" b="1" dirty="0">
                      <a:solidFill>
                        <a:schemeClr val="tx1"/>
                      </a:solidFill>
                    </a:endParaRPr>
                  </a:p>
                </p:txBody>
              </p:sp>
            </mc:Choice>
            <mc:Fallback xmlns="">
              <p:sp>
                <p:nvSpPr>
                  <p:cNvPr id="32" name="Rectangular Callout 31"/>
                  <p:cNvSpPr>
                    <a:spLocks noRot="1" noChangeAspect="1" noMove="1" noResize="1" noEditPoints="1" noAdjustHandles="1" noChangeArrowheads="1" noChangeShapeType="1" noTextEdit="1"/>
                  </p:cNvSpPr>
                  <p:nvPr/>
                </p:nvSpPr>
                <p:spPr>
                  <a:xfrm>
                    <a:off x="6015279" y="1616954"/>
                    <a:ext cx="2325963" cy="1295400"/>
                  </a:xfrm>
                  <a:prstGeom prst="wedgeRectCallout">
                    <a:avLst>
                      <a:gd name="adj1" fmla="val -181199"/>
                      <a:gd name="adj2" fmla="val 97518"/>
                    </a:avLst>
                  </a:prstGeom>
                  <a:blipFill rotWithShape="1">
                    <a:blip r:embed="rId7"/>
                    <a:stretch>
                      <a:fillRect/>
                    </a:stretch>
                  </a:blipFill>
                  <a:ln>
                    <a:noFill/>
                  </a:ln>
                </p:spPr>
                <p:txBody>
                  <a:bodyPr/>
                  <a:lstStyle/>
                  <a:p>
                    <a:r>
                      <a:rPr lang="en-GB">
                        <a:noFill/>
                      </a:rPr>
                      <a:t> </a:t>
                    </a:r>
                  </a:p>
                </p:txBody>
              </p:sp>
            </mc:Fallback>
          </mc:AlternateContent>
        </p:grpSp>
        <p:sp>
          <p:nvSpPr>
            <p:cNvPr id="5" name="Rectangle 4"/>
            <p:cNvSpPr/>
            <p:nvPr/>
          </p:nvSpPr>
          <p:spPr>
            <a:xfrm>
              <a:off x="7709223" y="1600200"/>
              <a:ext cx="1106585" cy="584775"/>
            </a:xfrm>
            <a:prstGeom prst="rect">
              <a:avLst/>
            </a:prstGeom>
            <a:noFill/>
            <a:ln>
              <a:noFill/>
            </a:ln>
          </p:spPr>
          <p:txBody>
            <a:bodyPr wrap="none">
              <a:spAutoFit/>
            </a:bodyPr>
            <a:lstStyle/>
            <a:p>
              <a:r>
                <a:rPr lang="en-GB" altLang="en-US" sz="3200" b="1" dirty="0"/>
                <a:t>MSW</a:t>
              </a:r>
              <a:endParaRPr lang="en-GB" sz="3200" b="1" dirty="0"/>
            </a:p>
          </p:txBody>
        </p:sp>
      </p:grpSp>
      <p:grpSp>
        <p:nvGrpSpPr>
          <p:cNvPr id="14" name="Group 13"/>
          <p:cNvGrpSpPr/>
          <p:nvPr/>
        </p:nvGrpSpPr>
        <p:grpSpPr>
          <a:xfrm>
            <a:off x="609600" y="990600"/>
            <a:ext cx="2622699" cy="1378673"/>
            <a:chOff x="609600" y="990600"/>
            <a:chExt cx="2622699" cy="1378673"/>
          </a:xfrm>
          <a:solidFill>
            <a:schemeClr val="tx2">
              <a:lumMod val="20000"/>
              <a:lumOff val="80000"/>
            </a:schemeClr>
          </a:solidFill>
        </p:grpSpPr>
        <p:grpSp>
          <p:nvGrpSpPr>
            <p:cNvPr id="12" name="Group 11"/>
            <p:cNvGrpSpPr/>
            <p:nvPr/>
          </p:nvGrpSpPr>
          <p:grpSpPr>
            <a:xfrm>
              <a:off x="609600" y="990600"/>
              <a:ext cx="2622699" cy="1378673"/>
              <a:chOff x="609600" y="990600"/>
              <a:chExt cx="2622699" cy="1378673"/>
            </a:xfrm>
            <a:grpFill/>
          </p:grpSpPr>
          <mc:AlternateContent xmlns:mc="http://schemas.openxmlformats.org/markup-compatibility/2006" xmlns:a14="http://schemas.microsoft.com/office/drawing/2010/main">
            <mc:Choice Requires="a14">
              <p:sp>
                <p:nvSpPr>
                  <p:cNvPr id="38" name="Rectangular Callout 37"/>
                  <p:cNvSpPr/>
                  <p:nvPr/>
                </p:nvSpPr>
                <p:spPr>
                  <a:xfrm>
                    <a:off x="685800" y="990600"/>
                    <a:ext cx="2546499" cy="914400"/>
                  </a:xfrm>
                  <a:prstGeom prst="wedgeRectCallout">
                    <a:avLst>
                      <a:gd name="adj1" fmla="val 39906"/>
                      <a:gd name="adj2" fmla="val 155524"/>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GB" sz="2000" b="1" i="1" dirty="0" smtClean="0">
                                  <a:solidFill>
                                    <a:schemeClr val="tx1"/>
                                  </a:solidFill>
                                  <a:latin typeface="Cambria Math" panose="02040503050406030204" pitchFamily="18" charset="0"/>
                                </a:rPr>
                              </m:ctrlPr>
                            </m:fPr>
                            <m:num>
                              <m:r>
                                <a:rPr lang="en-GB" sz="2000" b="1" i="1" dirty="0" smtClean="0">
                                  <a:solidFill>
                                    <a:schemeClr val="tx1"/>
                                  </a:solidFill>
                                  <a:latin typeface="Cambria Math"/>
                                </a:rPr>
                                <m:t>𝟏</m:t>
                              </m:r>
                            </m:num>
                            <m:den>
                              <m:r>
                                <a:rPr lang="en-GB" sz="2000" b="1" i="1" dirty="0" smtClean="0">
                                  <a:solidFill>
                                    <a:schemeClr val="tx1"/>
                                  </a:solidFill>
                                  <a:latin typeface="Cambria Math"/>
                                </a:rPr>
                                <m:t>𝒄</m:t>
                              </m:r>
                              <m:r>
                                <a:rPr lang="en-GB" sz="2000" b="1" i="1" dirty="0" smtClean="0">
                                  <a:solidFill>
                                    <a:schemeClr val="tx1"/>
                                  </a:solidFill>
                                  <a:latin typeface="Cambria Math"/>
                                </a:rPr>
                                <m:t>−</m:t>
                              </m:r>
                              <m:r>
                                <a:rPr lang="en-GB" sz="2000" b="1" i="1" dirty="0" smtClean="0">
                                  <a:solidFill>
                                    <a:schemeClr val="tx1"/>
                                  </a:solidFill>
                                  <a:latin typeface="Cambria Math"/>
                                </a:rPr>
                                <m:t>𝟏</m:t>
                              </m:r>
                            </m:den>
                          </m:f>
                          <m:nary>
                            <m:naryPr>
                              <m:chr m:val="∑"/>
                              <m:subHide m:val="on"/>
                              <m:supHide m:val="on"/>
                              <m:ctrlPr>
                                <a:rPr lang="en-GB" sz="2000" b="1" i="1" dirty="0" smtClean="0">
                                  <a:solidFill>
                                    <a:schemeClr val="tx1"/>
                                  </a:solidFill>
                                  <a:latin typeface="Cambria Math" panose="02040503050406030204" pitchFamily="18" charset="0"/>
                                </a:rPr>
                              </m:ctrlPr>
                            </m:naryPr>
                            <m:sub/>
                            <m:sup/>
                            <m:e>
                              <m:sSub>
                                <m:sSubPr>
                                  <m:ctrlPr>
                                    <a:rPr lang="en-GB" sz="2000" b="1" i="1" dirty="0" smtClean="0">
                                      <a:solidFill>
                                        <a:schemeClr val="tx1"/>
                                      </a:solidFill>
                                      <a:latin typeface="Cambria Math" panose="02040503050406030204" pitchFamily="18" charset="0"/>
                                    </a:rPr>
                                  </m:ctrlPr>
                                </m:sSubPr>
                                <m:e>
                                  <m:r>
                                    <a:rPr lang="en-GB" sz="2000" b="1" i="1" dirty="0" smtClean="0">
                                      <a:solidFill>
                                        <a:schemeClr val="tx1"/>
                                      </a:solidFill>
                                      <a:latin typeface="Cambria Math"/>
                                    </a:rPr>
                                    <m:t>𝒏</m:t>
                                  </m:r>
                                </m:e>
                                <m:sub>
                                  <m:r>
                                    <a:rPr lang="en-GB" sz="2000" b="1" i="1" dirty="0" smtClean="0">
                                      <a:solidFill>
                                        <a:schemeClr val="tx1"/>
                                      </a:solidFill>
                                      <a:latin typeface="Cambria Math"/>
                                    </a:rPr>
                                    <m:t>𝒋</m:t>
                                  </m:r>
                                </m:sub>
                              </m:sSub>
                              <m:sSup>
                                <m:sSupPr>
                                  <m:ctrlPr>
                                    <a:rPr lang="en-GB" sz="2000" b="1" i="1" dirty="0" smtClean="0">
                                      <a:solidFill>
                                        <a:schemeClr val="tx1"/>
                                      </a:solidFill>
                                      <a:latin typeface="Cambria Math" panose="02040503050406030204" pitchFamily="18" charset="0"/>
                                    </a:rPr>
                                  </m:ctrlPr>
                                </m:sSupPr>
                                <m:e>
                                  <m:d>
                                    <m:dPr>
                                      <m:ctrlPr>
                                        <a:rPr lang="en-GB" sz="2000" b="1" i="1" dirty="0">
                                          <a:solidFill>
                                            <a:schemeClr val="tx1"/>
                                          </a:solidFill>
                                          <a:latin typeface="Cambria Math" panose="02040503050406030204" pitchFamily="18" charset="0"/>
                                        </a:rPr>
                                      </m:ctrlPr>
                                    </m:dPr>
                                    <m:e>
                                      <m:sSub>
                                        <m:sSubPr>
                                          <m:ctrlPr>
                                            <a:rPr lang="en-GB" sz="2000" b="1" i="1" dirty="0">
                                              <a:solidFill>
                                                <a:schemeClr val="tx1"/>
                                              </a:solidFill>
                                              <a:latin typeface="Cambria Math" panose="02040503050406030204" pitchFamily="18" charset="0"/>
                                            </a:rPr>
                                          </m:ctrlPr>
                                        </m:sSubPr>
                                        <m:e>
                                          <m:acc>
                                            <m:accPr>
                                              <m:chr m:val="̅"/>
                                              <m:ctrlPr>
                                                <a:rPr lang="en-GB" sz="2000" b="1" i="1" dirty="0">
                                                  <a:solidFill>
                                                    <a:schemeClr val="tx1"/>
                                                  </a:solidFill>
                                                  <a:latin typeface="Cambria Math" panose="02040503050406030204" pitchFamily="18" charset="0"/>
                                                </a:rPr>
                                              </m:ctrlPr>
                                            </m:accPr>
                                            <m:e>
                                              <m:r>
                                                <a:rPr lang="en-GB" sz="2000" b="1" i="1" dirty="0">
                                                  <a:solidFill>
                                                    <a:schemeClr val="tx1"/>
                                                  </a:solidFill>
                                                  <a:latin typeface="Cambria Math"/>
                                                </a:rPr>
                                                <m:t>𝑿</m:t>
                                              </m:r>
                                            </m:e>
                                          </m:acc>
                                        </m:e>
                                        <m:sub>
                                          <m:r>
                                            <a:rPr lang="en-GB" sz="2000" b="1" i="1" dirty="0">
                                              <a:solidFill>
                                                <a:schemeClr val="tx1"/>
                                              </a:solidFill>
                                              <a:latin typeface="Cambria Math"/>
                                            </a:rPr>
                                            <m:t>𝒋</m:t>
                                          </m:r>
                                        </m:sub>
                                      </m:sSub>
                                      <m:r>
                                        <a:rPr lang="en-GB" sz="2000" b="1" i="1" dirty="0">
                                          <a:solidFill>
                                            <a:schemeClr val="tx1"/>
                                          </a:solidFill>
                                          <a:latin typeface="Cambria Math"/>
                                        </a:rPr>
                                        <m:t>−</m:t>
                                      </m:r>
                                      <m:acc>
                                        <m:accPr>
                                          <m:chr m:val="̿"/>
                                          <m:ctrlPr>
                                            <a:rPr lang="en-GB" sz="2000" b="1" i="1" dirty="0">
                                              <a:solidFill>
                                                <a:schemeClr val="tx1"/>
                                              </a:solidFill>
                                              <a:latin typeface="Cambria Math" panose="02040503050406030204" pitchFamily="18" charset="0"/>
                                            </a:rPr>
                                          </m:ctrlPr>
                                        </m:accPr>
                                        <m:e>
                                          <m:r>
                                            <a:rPr lang="en-GB" sz="2000" b="1" i="1" dirty="0">
                                              <a:solidFill>
                                                <a:schemeClr val="tx1"/>
                                              </a:solidFill>
                                              <a:latin typeface="Cambria Math"/>
                                            </a:rPr>
                                            <m:t>𝑿</m:t>
                                          </m:r>
                                        </m:e>
                                      </m:acc>
                                    </m:e>
                                  </m:d>
                                </m:e>
                                <m:sup>
                                  <m:r>
                                    <a:rPr lang="en-GB" sz="2000" b="1" i="1" dirty="0" smtClean="0">
                                      <a:solidFill>
                                        <a:schemeClr val="tx1"/>
                                      </a:solidFill>
                                      <a:latin typeface="Cambria Math"/>
                                    </a:rPr>
                                    <m:t>𝟐</m:t>
                                  </m:r>
                                </m:sup>
                              </m:sSup>
                            </m:e>
                          </m:nary>
                        </m:oMath>
                      </m:oMathPara>
                    </a14:m>
                    <a:endParaRPr lang="en-GB" sz="2000" b="1" dirty="0">
                      <a:solidFill>
                        <a:schemeClr val="tx1"/>
                      </a:solidFill>
                    </a:endParaRPr>
                  </a:p>
                </p:txBody>
              </p:sp>
            </mc:Choice>
            <mc:Fallback xmlns="">
              <p:sp>
                <p:nvSpPr>
                  <p:cNvPr id="38" name="Rectangular Callout 37"/>
                  <p:cNvSpPr>
                    <a:spLocks noRot="1" noChangeAspect="1" noMove="1" noResize="1" noEditPoints="1" noAdjustHandles="1" noChangeArrowheads="1" noChangeShapeType="1" noTextEdit="1"/>
                  </p:cNvSpPr>
                  <p:nvPr/>
                </p:nvSpPr>
                <p:spPr>
                  <a:xfrm>
                    <a:off x="685800" y="990600"/>
                    <a:ext cx="2546499" cy="914400"/>
                  </a:xfrm>
                  <a:prstGeom prst="wedgeRectCallout">
                    <a:avLst>
                      <a:gd name="adj1" fmla="val 39906"/>
                      <a:gd name="adj2" fmla="val 155524"/>
                    </a:avLst>
                  </a:prstGeom>
                  <a:blipFill rotWithShape="1">
                    <a:blip r:embed="rId8"/>
                    <a:stretch>
                      <a:fillRect/>
                    </a:stretch>
                  </a:blipFill>
                  <a:ln>
                    <a:noFill/>
                  </a:ln>
                </p:spPr>
                <p:txBody>
                  <a:bodyPr/>
                  <a:lstStyle/>
                  <a:p>
                    <a:r>
                      <a:rPr lang="en-GB">
                        <a:noFill/>
                      </a:rPr>
                      <a:t> </a:t>
                    </a:r>
                  </a:p>
                </p:txBody>
              </p:sp>
            </mc:Fallback>
          </mc:AlternateContent>
          <p:sp>
            <p:nvSpPr>
              <p:cNvPr id="40" name="Rectangle 39"/>
              <p:cNvSpPr/>
              <p:nvPr/>
            </p:nvSpPr>
            <p:spPr>
              <a:xfrm>
                <a:off x="609600" y="1784498"/>
                <a:ext cx="968535" cy="584775"/>
              </a:xfrm>
              <a:prstGeom prst="rect">
                <a:avLst/>
              </a:prstGeom>
              <a:noFill/>
              <a:ln>
                <a:noFill/>
              </a:ln>
            </p:spPr>
            <p:txBody>
              <a:bodyPr wrap="none">
                <a:spAutoFit/>
              </a:bodyPr>
              <a:lstStyle/>
              <a:p>
                <a:r>
                  <a:rPr lang="en-GB" altLang="en-US" sz="3200" b="1" dirty="0"/>
                  <a:t>MSB</a:t>
                </a:r>
                <a:endParaRPr lang="en-GB" sz="3200" b="1" dirty="0"/>
              </a:p>
            </p:txBody>
          </p:sp>
        </p:grpSp>
        <mc:AlternateContent xmlns:mc="http://schemas.openxmlformats.org/markup-compatibility/2006" xmlns:a14="http://schemas.microsoft.com/office/drawing/2010/main">
          <mc:Choice Requires="a14">
            <p:sp>
              <p:nvSpPr>
                <p:cNvPr id="47" name="Rectangular Callout 46"/>
                <p:cNvSpPr/>
                <p:nvPr/>
              </p:nvSpPr>
              <p:spPr>
                <a:xfrm>
                  <a:off x="685800" y="990600"/>
                  <a:ext cx="2546499" cy="914400"/>
                </a:xfrm>
                <a:prstGeom prst="wedgeRectCallout">
                  <a:avLst>
                    <a:gd name="adj1" fmla="val 98778"/>
                    <a:gd name="adj2" fmla="val 146222"/>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GB" sz="2000" b="1" i="1" dirty="0" smtClean="0">
                                <a:solidFill>
                                  <a:schemeClr val="tx1"/>
                                </a:solidFill>
                                <a:latin typeface="Cambria Math" panose="02040503050406030204" pitchFamily="18" charset="0"/>
                              </a:rPr>
                            </m:ctrlPr>
                          </m:fPr>
                          <m:num>
                            <m:r>
                              <a:rPr lang="en-GB" sz="2000" b="1" i="1" dirty="0" smtClean="0">
                                <a:solidFill>
                                  <a:schemeClr val="tx1"/>
                                </a:solidFill>
                                <a:latin typeface="Cambria Math"/>
                              </a:rPr>
                              <m:t>𝟏</m:t>
                            </m:r>
                          </m:num>
                          <m:den>
                            <m:r>
                              <a:rPr lang="en-GB" sz="2000" b="1" i="1" dirty="0" smtClean="0">
                                <a:solidFill>
                                  <a:schemeClr val="tx1"/>
                                </a:solidFill>
                                <a:latin typeface="Cambria Math"/>
                              </a:rPr>
                              <m:t>𝒄</m:t>
                            </m:r>
                            <m:r>
                              <a:rPr lang="en-GB" sz="2000" b="1" i="1" dirty="0" smtClean="0">
                                <a:solidFill>
                                  <a:schemeClr val="tx1"/>
                                </a:solidFill>
                                <a:latin typeface="Cambria Math"/>
                              </a:rPr>
                              <m:t>−</m:t>
                            </m:r>
                            <m:r>
                              <a:rPr lang="en-GB" sz="2000" b="1" i="1" dirty="0" smtClean="0">
                                <a:solidFill>
                                  <a:schemeClr val="tx1"/>
                                </a:solidFill>
                                <a:latin typeface="Cambria Math"/>
                              </a:rPr>
                              <m:t>𝟏</m:t>
                            </m:r>
                          </m:den>
                        </m:f>
                        <m:nary>
                          <m:naryPr>
                            <m:chr m:val="∑"/>
                            <m:subHide m:val="on"/>
                            <m:supHide m:val="on"/>
                            <m:ctrlPr>
                              <a:rPr lang="en-GB" sz="2000" b="1" i="1" dirty="0" smtClean="0">
                                <a:solidFill>
                                  <a:schemeClr val="tx1"/>
                                </a:solidFill>
                                <a:latin typeface="Cambria Math" panose="02040503050406030204" pitchFamily="18" charset="0"/>
                              </a:rPr>
                            </m:ctrlPr>
                          </m:naryPr>
                          <m:sub/>
                          <m:sup/>
                          <m:e>
                            <m:sSub>
                              <m:sSubPr>
                                <m:ctrlPr>
                                  <a:rPr lang="en-GB" sz="2000" b="1" i="1" dirty="0" smtClean="0">
                                    <a:solidFill>
                                      <a:schemeClr val="tx1"/>
                                    </a:solidFill>
                                    <a:latin typeface="Cambria Math" panose="02040503050406030204" pitchFamily="18" charset="0"/>
                                  </a:rPr>
                                </m:ctrlPr>
                              </m:sSubPr>
                              <m:e>
                                <m:r>
                                  <a:rPr lang="en-GB" sz="2000" b="1" i="1" dirty="0" smtClean="0">
                                    <a:solidFill>
                                      <a:schemeClr val="tx1"/>
                                    </a:solidFill>
                                    <a:latin typeface="Cambria Math"/>
                                  </a:rPr>
                                  <m:t>𝒏</m:t>
                                </m:r>
                              </m:e>
                              <m:sub>
                                <m:r>
                                  <a:rPr lang="en-GB" sz="2000" b="1" i="1" dirty="0" smtClean="0">
                                    <a:solidFill>
                                      <a:schemeClr val="tx1"/>
                                    </a:solidFill>
                                    <a:latin typeface="Cambria Math"/>
                                  </a:rPr>
                                  <m:t>𝒋</m:t>
                                </m:r>
                              </m:sub>
                            </m:sSub>
                            <m:sSup>
                              <m:sSupPr>
                                <m:ctrlPr>
                                  <a:rPr lang="en-GB" sz="2000" b="1" i="1" dirty="0" smtClean="0">
                                    <a:solidFill>
                                      <a:schemeClr val="tx1"/>
                                    </a:solidFill>
                                    <a:latin typeface="Cambria Math" panose="02040503050406030204" pitchFamily="18" charset="0"/>
                                  </a:rPr>
                                </m:ctrlPr>
                              </m:sSupPr>
                              <m:e>
                                <m:d>
                                  <m:dPr>
                                    <m:ctrlPr>
                                      <a:rPr lang="en-GB" sz="2000" b="1" i="1" dirty="0">
                                        <a:solidFill>
                                          <a:schemeClr val="tx1"/>
                                        </a:solidFill>
                                        <a:latin typeface="Cambria Math" panose="02040503050406030204" pitchFamily="18" charset="0"/>
                                      </a:rPr>
                                    </m:ctrlPr>
                                  </m:dPr>
                                  <m:e>
                                    <m:sSub>
                                      <m:sSubPr>
                                        <m:ctrlPr>
                                          <a:rPr lang="en-GB" sz="2000" b="1" i="1" dirty="0">
                                            <a:solidFill>
                                              <a:schemeClr val="tx1"/>
                                            </a:solidFill>
                                            <a:latin typeface="Cambria Math" panose="02040503050406030204" pitchFamily="18" charset="0"/>
                                          </a:rPr>
                                        </m:ctrlPr>
                                      </m:sSubPr>
                                      <m:e>
                                        <m:acc>
                                          <m:accPr>
                                            <m:chr m:val="̅"/>
                                            <m:ctrlPr>
                                              <a:rPr lang="en-GB" sz="2000" b="1" i="1" dirty="0">
                                                <a:solidFill>
                                                  <a:schemeClr val="tx1"/>
                                                </a:solidFill>
                                                <a:latin typeface="Cambria Math" panose="02040503050406030204" pitchFamily="18" charset="0"/>
                                              </a:rPr>
                                            </m:ctrlPr>
                                          </m:accPr>
                                          <m:e>
                                            <m:r>
                                              <a:rPr lang="en-GB" sz="2000" b="1" i="1" dirty="0">
                                                <a:solidFill>
                                                  <a:schemeClr val="tx1"/>
                                                </a:solidFill>
                                                <a:latin typeface="Cambria Math"/>
                                              </a:rPr>
                                              <m:t>𝑿</m:t>
                                            </m:r>
                                          </m:e>
                                        </m:acc>
                                      </m:e>
                                      <m:sub>
                                        <m:r>
                                          <a:rPr lang="en-GB" sz="2000" b="1" i="1" dirty="0">
                                            <a:solidFill>
                                              <a:schemeClr val="tx1"/>
                                            </a:solidFill>
                                            <a:latin typeface="Cambria Math"/>
                                          </a:rPr>
                                          <m:t>𝒋</m:t>
                                        </m:r>
                                      </m:sub>
                                    </m:sSub>
                                    <m:r>
                                      <a:rPr lang="en-GB" sz="2000" b="1" i="1" dirty="0">
                                        <a:solidFill>
                                          <a:schemeClr val="tx1"/>
                                        </a:solidFill>
                                        <a:latin typeface="Cambria Math"/>
                                      </a:rPr>
                                      <m:t>−</m:t>
                                    </m:r>
                                    <m:acc>
                                      <m:accPr>
                                        <m:chr m:val="̿"/>
                                        <m:ctrlPr>
                                          <a:rPr lang="en-GB" sz="2000" b="1" i="1" dirty="0">
                                            <a:solidFill>
                                              <a:schemeClr val="tx1"/>
                                            </a:solidFill>
                                            <a:latin typeface="Cambria Math" panose="02040503050406030204" pitchFamily="18" charset="0"/>
                                          </a:rPr>
                                        </m:ctrlPr>
                                      </m:accPr>
                                      <m:e>
                                        <m:r>
                                          <a:rPr lang="en-GB" sz="2000" b="1" i="1" dirty="0">
                                            <a:solidFill>
                                              <a:schemeClr val="tx1"/>
                                            </a:solidFill>
                                            <a:latin typeface="Cambria Math"/>
                                          </a:rPr>
                                          <m:t>𝑿</m:t>
                                        </m:r>
                                      </m:e>
                                    </m:acc>
                                  </m:e>
                                </m:d>
                              </m:e>
                              <m:sup>
                                <m:r>
                                  <a:rPr lang="en-GB" sz="2000" b="1" i="1" dirty="0" smtClean="0">
                                    <a:solidFill>
                                      <a:schemeClr val="tx1"/>
                                    </a:solidFill>
                                    <a:latin typeface="Cambria Math"/>
                                  </a:rPr>
                                  <m:t>𝟐</m:t>
                                </m:r>
                              </m:sup>
                            </m:sSup>
                          </m:e>
                        </m:nary>
                      </m:oMath>
                    </m:oMathPara>
                  </a14:m>
                  <a:endParaRPr lang="en-GB" sz="2000" b="1" dirty="0">
                    <a:solidFill>
                      <a:schemeClr val="tx1"/>
                    </a:solidFill>
                  </a:endParaRPr>
                </a:p>
              </p:txBody>
            </p:sp>
          </mc:Choice>
          <mc:Fallback xmlns="">
            <p:sp>
              <p:nvSpPr>
                <p:cNvPr id="47" name="Rectangular Callout 46"/>
                <p:cNvSpPr>
                  <a:spLocks noRot="1" noChangeAspect="1" noMove="1" noResize="1" noEditPoints="1" noAdjustHandles="1" noChangeArrowheads="1" noChangeShapeType="1" noTextEdit="1"/>
                </p:cNvSpPr>
                <p:nvPr/>
              </p:nvSpPr>
              <p:spPr>
                <a:xfrm>
                  <a:off x="685800" y="990600"/>
                  <a:ext cx="2546499" cy="914400"/>
                </a:xfrm>
                <a:prstGeom prst="wedgeRectCallout">
                  <a:avLst>
                    <a:gd name="adj1" fmla="val 98778"/>
                    <a:gd name="adj2" fmla="val 146222"/>
                  </a:avLst>
                </a:prstGeom>
                <a:blipFill rotWithShape="1">
                  <a:blip r:embed="rId9"/>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9" name="Rectangular Callout 48"/>
                <p:cNvSpPr/>
                <p:nvPr/>
              </p:nvSpPr>
              <p:spPr>
                <a:xfrm>
                  <a:off x="685800" y="990600"/>
                  <a:ext cx="2546499" cy="914400"/>
                </a:xfrm>
                <a:prstGeom prst="wedgeRectCallout">
                  <a:avLst>
                    <a:gd name="adj1" fmla="val 89175"/>
                    <a:gd name="adj2" fmla="val 167152"/>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GB" sz="2000" b="1" i="1" dirty="0" smtClean="0">
                                <a:solidFill>
                                  <a:schemeClr val="tx1"/>
                                </a:solidFill>
                                <a:latin typeface="Cambria Math" panose="02040503050406030204" pitchFamily="18" charset="0"/>
                              </a:rPr>
                            </m:ctrlPr>
                          </m:fPr>
                          <m:num>
                            <m:r>
                              <a:rPr lang="en-GB" sz="2000" b="1" i="1" dirty="0" smtClean="0">
                                <a:solidFill>
                                  <a:schemeClr val="tx1"/>
                                </a:solidFill>
                                <a:latin typeface="Cambria Math"/>
                              </a:rPr>
                              <m:t>𝟏</m:t>
                            </m:r>
                          </m:num>
                          <m:den>
                            <m:r>
                              <a:rPr lang="en-GB" sz="2000" b="1" i="1" dirty="0" smtClean="0">
                                <a:solidFill>
                                  <a:schemeClr val="tx1"/>
                                </a:solidFill>
                                <a:latin typeface="Cambria Math"/>
                              </a:rPr>
                              <m:t>𝒄</m:t>
                            </m:r>
                            <m:r>
                              <a:rPr lang="en-GB" sz="2000" b="1" i="1" dirty="0" smtClean="0">
                                <a:solidFill>
                                  <a:schemeClr val="tx1"/>
                                </a:solidFill>
                                <a:latin typeface="Cambria Math"/>
                              </a:rPr>
                              <m:t>−</m:t>
                            </m:r>
                            <m:r>
                              <a:rPr lang="en-GB" sz="2000" b="1" i="1" dirty="0" smtClean="0">
                                <a:solidFill>
                                  <a:schemeClr val="tx1"/>
                                </a:solidFill>
                                <a:latin typeface="Cambria Math"/>
                              </a:rPr>
                              <m:t>𝟏</m:t>
                            </m:r>
                          </m:den>
                        </m:f>
                        <m:nary>
                          <m:naryPr>
                            <m:chr m:val="∑"/>
                            <m:subHide m:val="on"/>
                            <m:supHide m:val="on"/>
                            <m:ctrlPr>
                              <a:rPr lang="en-GB" sz="2000" b="1" i="1" dirty="0" smtClean="0">
                                <a:solidFill>
                                  <a:schemeClr val="tx1"/>
                                </a:solidFill>
                                <a:latin typeface="Cambria Math" panose="02040503050406030204" pitchFamily="18" charset="0"/>
                              </a:rPr>
                            </m:ctrlPr>
                          </m:naryPr>
                          <m:sub/>
                          <m:sup/>
                          <m:e>
                            <m:sSub>
                              <m:sSubPr>
                                <m:ctrlPr>
                                  <a:rPr lang="en-GB" sz="2000" b="1" i="1" dirty="0" smtClean="0">
                                    <a:solidFill>
                                      <a:schemeClr val="tx1"/>
                                    </a:solidFill>
                                    <a:latin typeface="Cambria Math" panose="02040503050406030204" pitchFamily="18" charset="0"/>
                                  </a:rPr>
                                </m:ctrlPr>
                              </m:sSubPr>
                              <m:e>
                                <m:r>
                                  <a:rPr lang="en-GB" sz="2000" b="1" i="1" dirty="0" smtClean="0">
                                    <a:solidFill>
                                      <a:schemeClr val="tx1"/>
                                    </a:solidFill>
                                    <a:latin typeface="Cambria Math"/>
                                  </a:rPr>
                                  <m:t>𝒏</m:t>
                                </m:r>
                              </m:e>
                              <m:sub>
                                <m:r>
                                  <a:rPr lang="en-GB" sz="2000" b="1" i="1" dirty="0" smtClean="0">
                                    <a:solidFill>
                                      <a:schemeClr val="tx1"/>
                                    </a:solidFill>
                                    <a:latin typeface="Cambria Math"/>
                                  </a:rPr>
                                  <m:t>𝒋</m:t>
                                </m:r>
                              </m:sub>
                            </m:sSub>
                            <m:sSup>
                              <m:sSupPr>
                                <m:ctrlPr>
                                  <a:rPr lang="en-GB" sz="2000" b="1" i="1" dirty="0" smtClean="0">
                                    <a:solidFill>
                                      <a:schemeClr val="tx1"/>
                                    </a:solidFill>
                                    <a:latin typeface="Cambria Math" panose="02040503050406030204" pitchFamily="18" charset="0"/>
                                  </a:rPr>
                                </m:ctrlPr>
                              </m:sSupPr>
                              <m:e>
                                <m:d>
                                  <m:dPr>
                                    <m:ctrlPr>
                                      <a:rPr lang="en-GB" sz="2000" b="1" i="1" dirty="0">
                                        <a:solidFill>
                                          <a:schemeClr val="tx1"/>
                                        </a:solidFill>
                                        <a:latin typeface="Cambria Math" panose="02040503050406030204" pitchFamily="18" charset="0"/>
                                      </a:rPr>
                                    </m:ctrlPr>
                                  </m:dPr>
                                  <m:e>
                                    <m:sSub>
                                      <m:sSubPr>
                                        <m:ctrlPr>
                                          <a:rPr lang="en-GB" sz="2000" b="1" i="1" dirty="0">
                                            <a:solidFill>
                                              <a:schemeClr val="tx1"/>
                                            </a:solidFill>
                                            <a:latin typeface="Cambria Math" panose="02040503050406030204" pitchFamily="18" charset="0"/>
                                          </a:rPr>
                                        </m:ctrlPr>
                                      </m:sSubPr>
                                      <m:e>
                                        <m:acc>
                                          <m:accPr>
                                            <m:chr m:val="̅"/>
                                            <m:ctrlPr>
                                              <a:rPr lang="en-GB" sz="2000" b="1" i="1" dirty="0">
                                                <a:solidFill>
                                                  <a:schemeClr val="tx1"/>
                                                </a:solidFill>
                                                <a:latin typeface="Cambria Math" panose="02040503050406030204" pitchFamily="18" charset="0"/>
                                              </a:rPr>
                                            </m:ctrlPr>
                                          </m:accPr>
                                          <m:e>
                                            <m:r>
                                              <a:rPr lang="en-GB" sz="2000" b="1" i="1" dirty="0">
                                                <a:solidFill>
                                                  <a:schemeClr val="tx1"/>
                                                </a:solidFill>
                                                <a:latin typeface="Cambria Math"/>
                                              </a:rPr>
                                              <m:t>𝑿</m:t>
                                            </m:r>
                                          </m:e>
                                        </m:acc>
                                      </m:e>
                                      <m:sub>
                                        <m:r>
                                          <a:rPr lang="en-GB" sz="2000" b="1" i="1" dirty="0">
                                            <a:solidFill>
                                              <a:schemeClr val="tx1"/>
                                            </a:solidFill>
                                            <a:latin typeface="Cambria Math"/>
                                          </a:rPr>
                                          <m:t>𝒋</m:t>
                                        </m:r>
                                      </m:sub>
                                    </m:sSub>
                                    <m:r>
                                      <a:rPr lang="en-GB" sz="2000" b="1" i="1" dirty="0">
                                        <a:solidFill>
                                          <a:schemeClr val="tx1"/>
                                        </a:solidFill>
                                        <a:latin typeface="Cambria Math"/>
                                      </a:rPr>
                                      <m:t>−</m:t>
                                    </m:r>
                                    <m:acc>
                                      <m:accPr>
                                        <m:chr m:val="̿"/>
                                        <m:ctrlPr>
                                          <a:rPr lang="en-GB" sz="2000" b="1" i="1" dirty="0">
                                            <a:solidFill>
                                              <a:schemeClr val="tx1"/>
                                            </a:solidFill>
                                            <a:latin typeface="Cambria Math" panose="02040503050406030204" pitchFamily="18" charset="0"/>
                                          </a:rPr>
                                        </m:ctrlPr>
                                      </m:accPr>
                                      <m:e>
                                        <m:r>
                                          <a:rPr lang="en-GB" sz="2000" b="1" i="1" dirty="0">
                                            <a:solidFill>
                                              <a:schemeClr val="tx1"/>
                                            </a:solidFill>
                                            <a:latin typeface="Cambria Math"/>
                                          </a:rPr>
                                          <m:t>𝑿</m:t>
                                        </m:r>
                                      </m:e>
                                    </m:acc>
                                  </m:e>
                                </m:d>
                              </m:e>
                              <m:sup>
                                <m:r>
                                  <a:rPr lang="en-GB" sz="2000" b="1" i="1" dirty="0" smtClean="0">
                                    <a:solidFill>
                                      <a:schemeClr val="tx1"/>
                                    </a:solidFill>
                                    <a:latin typeface="Cambria Math"/>
                                  </a:rPr>
                                  <m:t>𝟐</m:t>
                                </m:r>
                              </m:sup>
                            </m:sSup>
                          </m:e>
                        </m:nary>
                      </m:oMath>
                    </m:oMathPara>
                  </a14:m>
                  <a:endParaRPr lang="en-GB" sz="2000" b="1" dirty="0">
                    <a:solidFill>
                      <a:schemeClr val="tx1"/>
                    </a:solidFill>
                  </a:endParaRPr>
                </a:p>
              </p:txBody>
            </p:sp>
          </mc:Choice>
          <mc:Fallback xmlns="">
            <p:sp>
              <p:nvSpPr>
                <p:cNvPr id="49" name="Rectangular Callout 48"/>
                <p:cNvSpPr>
                  <a:spLocks noRot="1" noChangeAspect="1" noMove="1" noResize="1" noEditPoints="1" noAdjustHandles="1" noChangeArrowheads="1" noChangeShapeType="1" noTextEdit="1"/>
                </p:cNvSpPr>
                <p:nvPr/>
              </p:nvSpPr>
              <p:spPr>
                <a:xfrm>
                  <a:off x="685800" y="990600"/>
                  <a:ext cx="2546499" cy="914400"/>
                </a:xfrm>
                <a:prstGeom prst="wedgeRectCallout">
                  <a:avLst>
                    <a:gd name="adj1" fmla="val 89175"/>
                    <a:gd name="adj2" fmla="val 167152"/>
                  </a:avLst>
                </a:prstGeom>
                <a:blipFill rotWithShape="1">
                  <a:blip r:embed="rId10"/>
                  <a:stretch>
                    <a:fillRect/>
                  </a:stretch>
                </a:blipFill>
                <a:ln>
                  <a:noFill/>
                </a:ln>
              </p:spPr>
              <p:txBody>
                <a:bodyPr/>
                <a:lstStyle/>
                <a:p>
                  <a:r>
                    <a:rPr lang="en-GB">
                      <a:noFill/>
                    </a:rPr>
                    <a:t> </a:t>
                  </a:r>
                </a:p>
              </p:txBody>
            </p:sp>
          </mc:Fallback>
        </mc:AlternateContent>
      </p:grpSp>
    </p:spTree>
    <p:extLst>
      <p:ext uri="{BB962C8B-B14F-4D97-AF65-F5344CB8AC3E}">
        <p14:creationId xmlns:p14="http://schemas.microsoft.com/office/powerpoint/2010/main" val="15962005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altLang="en-US" dirty="0"/>
              <a:t>Question 2</a:t>
            </a:r>
            <a:endParaRPr lang="en-GB" dirty="0"/>
          </a:p>
        </p:txBody>
      </p:sp>
      <p:grpSp>
        <p:nvGrpSpPr>
          <p:cNvPr id="2" name="Group 1"/>
          <p:cNvGrpSpPr/>
          <p:nvPr/>
        </p:nvGrpSpPr>
        <p:grpSpPr>
          <a:xfrm>
            <a:off x="381000" y="2405277"/>
            <a:ext cx="7772400" cy="2014323"/>
            <a:chOff x="685800" y="1591336"/>
            <a:chExt cx="7772400" cy="1211263"/>
          </a:xfrm>
        </p:grpSpPr>
        <p:sp>
          <p:nvSpPr>
            <p:cNvPr id="6" name="Freeform 2"/>
            <p:cNvSpPr>
              <a:spLocks/>
            </p:cNvSpPr>
            <p:nvPr/>
          </p:nvSpPr>
          <p:spPr bwMode="auto">
            <a:xfrm>
              <a:off x="1676400" y="1905000"/>
              <a:ext cx="1828800" cy="833438"/>
            </a:xfrm>
            <a:custGeom>
              <a:avLst/>
              <a:gdLst>
                <a:gd name="T0" fmla="*/ 24 w 2586"/>
                <a:gd name="T1" fmla="*/ 1168 h 1178"/>
                <a:gd name="T2" fmla="*/ 79 w 2586"/>
                <a:gd name="T3" fmla="*/ 1144 h 1178"/>
                <a:gd name="T4" fmla="*/ 152 w 2586"/>
                <a:gd name="T5" fmla="*/ 1108 h 1178"/>
                <a:gd name="T6" fmla="*/ 234 w 2586"/>
                <a:gd name="T7" fmla="*/ 1065 h 1178"/>
                <a:gd name="T8" fmla="*/ 319 w 2586"/>
                <a:gd name="T9" fmla="*/ 1020 h 1178"/>
                <a:gd name="T10" fmla="*/ 398 w 2586"/>
                <a:gd name="T11" fmla="*/ 976 h 1178"/>
                <a:gd name="T12" fmla="*/ 462 w 2586"/>
                <a:gd name="T13" fmla="*/ 938 h 1178"/>
                <a:gd name="T14" fmla="*/ 504 w 2586"/>
                <a:gd name="T15" fmla="*/ 910 h 1178"/>
                <a:gd name="T16" fmla="*/ 539 w 2586"/>
                <a:gd name="T17" fmla="*/ 877 h 1178"/>
                <a:gd name="T18" fmla="*/ 576 w 2586"/>
                <a:gd name="T19" fmla="*/ 836 h 1178"/>
                <a:gd name="T20" fmla="*/ 613 w 2586"/>
                <a:gd name="T21" fmla="*/ 791 h 1178"/>
                <a:gd name="T22" fmla="*/ 647 w 2586"/>
                <a:gd name="T23" fmla="*/ 742 h 1178"/>
                <a:gd name="T24" fmla="*/ 699 w 2586"/>
                <a:gd name="T25" fmla="*/ 655 h 1178"/>
                <a:gd name="T26" fmla="*/ 754 w 2586"/>
                <a:gd name="T27" fmla="*/ 556 h 1178"/>
                <a:gd name="T28" fmla="*/ 807 w 2586"/>
                <a:gd name="T29" fmla="*/ 456 h 1178"/>
                <a:gd name="T30" fmla="*/ 861 w 2586"/>
                <a:gd name="T31" fmla="*/ 355 h 1178"/>
                <a:gd name="T32" fmla="*/ 898 w 2586"/>
                <a:gd name="T33" fmla="*/ 287 h 1178"/>
                <a:gd name="T34" fmla="*/ 932 w 2586"/>
                <a:gd name="T35" fmla="*/ 231 h 1178"/>
                <a:gd name="T36" fmla="*/ 973 w 2586"/>
                <a:gd name="T37" fmla="*/ 176 h 1178"/>
                <a:gd name="T38" fmla="*/ 1018 w 2586"/>
                <a:gd name="T39" fmla="*/ 124 h 1178"/>
                <a:gd name="T40" fmla="*/ 1067 w 2586"/>
                <a:gd name="T41" fmla="*/ 78 h 1178"/>
                <a:gd name="T42" fmla="*/ 1119 w 2586"/>
                <a:gd name="T43" fmla="*/ 41 h 1178"/>
                <a:gd name="T44" fmla="*/ 1174 w 2586"/>
                <a:gd name="T45" fmla="*/ 14 h 1178"/>
                <a:gd name="T46" fmla="*/ 1231 w 2586"/>
                <a:gd name="T47" fmla="*/ 1 h 1178"/>
                <a:gd name="T48" fmla="*/ 1288 w 2586"/>
                <a:gd name="T49" fmla="*/ 2 h 1178"/>
                <a:gd name="T50" fmla="*/ 1341 w 2586"/>
                <a:gd name="T51" fmla="*/ 11 h 1178"/>
                <a:gd name="T52" fmla="*/ 1390 w 2586"/>
                <a:gd name="T53" fmla="*/ 29 h 1178"/>
                <a:gd name="T54" fmla="*/ 1437 w 2586"/>
                <a:gd name="T55" fmla="*/ 57 h 1178"/>
                <a:gd name="T56" fmla="*/ 1483 w 2586"/>
                <a:gd name="T57" fmla="*/ 96 h 1178"/>
                <a:gd name="T58" fmla="*/ 1530 w 2586"/>
                <a:gd name="T59" fmla="*/ 145 h 1178"/>
                <a:gd name="T60" fmla="*/ 1578 w 2586"/>
                <a:gd name="T61" fmla="*/ 204 h 1178"/>
                <a:gd name="T62" fmla="*/ 1630 w 2586"/>
                <a:gd name="T63" fmla="*/ 275 h 1178"/>
                <a:gd name="T64" fmla="*/ 1693 w 2586"/>
                <a:gd name="T65" fmla="*/ 379 h 1178"/>
                <a:gd name="T66" fmla="*/ 1746 w 2586"/>
                <a:gd name="T67" fmla="*/ 498 h 1178"/>
                <a:gd name="T68" fmla="*/ 1797 w 2586"/>
                <a:gd name="T69" fmla="*/ 622 h 1178"/>
                <a:gd name="T70" fmla="*/ 1853 w 2586"/>
                <a:gd name="T71" fmla="*/ 741 h 1178"/>
                <a:gd name="T72" fmla="*/ 1885 w 2586"/>
                <a:gd name="T73" fmla="*/ 791 h 1178"/>
                <a:gd name="T74" fmla="*/ 1913 w 2586"/>
                <a:gd name="T75" fmla="*/ 823 h 1178"/>
                <a:gd name="T76" fmla="*/ 1949 w 2586"/>
                <a:gd name="T77" fmla="*/ 860 h 1178"/>
                <a:gd name="T78" fmla="*/ 1989 w 2586"/>
                <a:gd name="T79" fmla="*/ 896 h 1178"/>
                <a:gd name="T80" fmla="*/ 2033 w 2586"/>
                <a:gd name="T81" fmla="*/ 932 h 1178"/>
                <a:gd name="T82" fmla="*/ 2078 w 2586"/>
                <a:gd name="T83" fmla="*/ 967 h 1178"/>
                <a:gd name="T84" fmla="*/ 2123 w 2586"/>
                <a:gd name="T85" fmla="*/ 998 h 1178"/>
                <a:gd name="T86" fmla="*/ 2164 w 2586"/>
                <a:gd name="T87" fmla="*/ 1024 h 1178"/>
                <a:gd name="T88" fmla="*/ 2209 w 2586"/>
                <a:gd name="T89" fmla="*/ 1048 h 1178"/>
                <a:gd name="T90" fmla="*/ 2262 w 2586"/>
                <a:gd name="T91" fmla="*/ 1073 h 1178"/>
                <a:gd name="T92" fmla="*/ 2318 w 2586"/>
                <a:gd name="T93" fmla="*/ 1098 h 1178"/>
                <a:gd name="T94" fmla="*/ 2377 w 2586"/>
                <a:gd name="T95" fmla="*/ 1122 h 1178"/>
                <a:gd name="T96" fmla="*/ 2435 w 2586"/>
                <a:gd name="T97" fmla="*/ 1142 h 1178"/>
                <a:gd name="T98" fmla="*/ 2489 w 2586"/>
                <a:gd name="T99" fmla="*/ 1159 h 1178"/>
                <a:gd name="T100" fmla="*/ 2537 w 2586"/>
                <a:gd name="T101" fmla="*/ 1171 h 1178"/>
                <a:gd name="T102" fmla="*/ 2577 w 2586"/>
                <a:gd name="T103" fmla="*/ 1176 h 1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86" h="1178">
                  <a:moveTo>
                    <a:pt x="0" y="1177"/>
                  </a:moveTo>
                  <a:lnTo>
                    <a:pt x="6" y="1175"/>
                  </a:lnTo>
                  <a:lnTo>
                    <a:pt x="14" y="1172"/>
                  </a:lnTo>
                  <a:lnTo>
                    <a:pt x="24" y="1168"/>
                  </a:lnTo>
                  <a:lnTo>
                    <a:pt x="36" y="1164"/>
                  </a:lnTo>
                  <a:lnTo>
                    <a:pt x="48" y="1158"/>
                  </a:lnTo>
                  <a:lnTo>
                    <a:pt x="63" y="1151"/>
                  </a:lnTo>
                  <a:lnTo>
                    <a:pt x="79" y="1144"/>
                  </a:lnTo>
                  <a:lnTo>
                    <a:pt x="96" y="1136"/>
                  </a:lnTo>
                  <a:lnTo>
                    <a:pt x="114" y="1127"/>
                  </a:lnTo>
                  <a:lnTo>
                    <a:pt x="132" y="1117"/>
                  </a:lnTo>
                  <a:lnTo>
                    <a:pt x="152" y="1108"/>
                  </a:lnTo>
                  <a:lnTo>
                    <a:pt x="171" y="1098"/>
                  </a:lnTo>
                  <a:lnTo>
                    <a:pt x="193" y="1087"/>
                  </a:lnTo>
                  <a:lnTo>
                    <a:pt x="213" y="1076"/>
                  </a:lnTo>
                  <a:lnTo>
                    <a:pt x="234" y="1065"/>
                  </a:lnTo>
                  <a:lnTo>
                    <a:pt x="256" y="1054"/>
                  </a:lnTo>
                  <a:lnTo>
                    <a:pt x="277" y="1042"/>
                  </a:lnTo>
                  <a:lnTo>
                    <a:pt x="298" y="1031"/>
                  </a:lnTo>
                  <a:lnTo>
                    <a:pt x="319" y="1020"/>
                  </a:lnTo>
                  <a:lnTo>
                    <a:pt x="340" y="1008"/>
                  </a:lnTo>
                  <a:lnTo>
                    <a:pt x="360" y="998"/>
                  </a:lnTo>
                  <a:lnTo>
                    <a:pt x="379" y="986"/>
                  </a:lnTo>
                  <a:lnTo>
                    <a:pt x="398" y="976"/>
                  </a:lnTo>
                  <a:lnTo>
                    <a:pt x="416" y="966"/>
                  </a:lnTo>
                  <a:lnTo>
                    <a:pt x="432" y="955"/>
                  </a:lnTo>
                  <a:lnTo>
                    <a:pt x="448" y="947"/>
                  </a:lnTo>
                  <a:lnTo>
                    <a:pt x="462" y="938"/>
                  </a:lnTo>
                  <a:lnTo>
                    <a:pt x="475" y="930"/>
                  </a:lnTo>
                  <a:lnTo>
                    <a:pt x="486" y="922"/>
                  </a:lnTo>
                  <a:lnTo>
                    <a:pt x="496" y="916"/>
                  </a:lnTo>
                  <a:lnTo>
                    <a:pt x="504" y="910"/>
                  </a:lnTo>
                  <a:lnTo>
                    <a:pt x="509" y="905"/>
                  </a:lnTo>
                  <a:lnTo>
                    <a:pt x="520" y="896"/>
                  </a:lnTo>
                  <a:lnTo>
                    <a:pt x="529" y="888"/>
                  </a:lnTo>
                  <a:lnTo>
                    <a:pt x="539" y="877"/>
                  </a:lnTo>
                  <a:lnTo>
                    <a:pt x="549" y="868"/>
                  </a:lnTo>
                  <a:lnTo>
                    <a:pt x="558" y="857"/>
                  </a:lnTo>
                  <a:lnTo>
                    <a:pt x="567" y="847"/>
                  </a:lnTo>
                  <a:lnTo>
                    <a:pt x="576" y="836"/>
                  </a:lnTo>
                  <a:lnTo>
                    <a:pt x="586" y="826"/>
                  </a:lnTo>
                  <a:lnTo>
                    <a:pt x="595" y="814"/>
                  </a:lnTo>
                  <a:lnTo>
                    <a:pt x="604" y="803"/>
                  </a:lnTo>
                  <a:lnTo>
                    <a:pt x="613" y="791"/>
                  </a:lnTo>
                  <a:lnTo>
                    <a:pt x="621" y="779"/>
                  </a:lnTo>
                  <a:lnTo>
                    <a:pt x="629" y="767"/>
                  </a:lnTo>
                  <a:lnTo>
                    <a:pt x="638" y="755"/>
                  </a:lnTo>
                  <a:lnTo>
                    <a:pt x="647" y="742"/>
                  </a:lnTo>
                  <a:lnTo>
                    <a:pt x="654" y="730"/>
                  </a:lnTo>
                  <a:lnTo>
                    <a:pt x="670" y="704"/>
                  </a:lnTo>
                  <a:lnTo>
                    <a:pt x="685" y="679"/>
                  </a:lnTo>
                  <a:lnTo>
                    <a:pt x="699" y="655"/>
                  </a:lnTo>
                  <a:lnTo>
                    <a:pt x="713" y="630"/>
                  </a:lnTo>
                  <a:lnTo>
                    <a:pt x="727" y="605"/>
                  </a:lnTo>
                  <a:lnTo>
                    <a:pt x="741" y="580"/>
                  </a:lnTo>
                  <a:lnTo>
                    <a:pt x="754" y="556"/>
                  </a:lnTo>
                  <a:lnTo>
                    <a:pt x="767" y="531"/>
                  </a:lnTo>
                  <a:lnTo>
                    <a:pt x="781" y="507"/>
                  </a:lnTo>
                  <a:lnTo>
                    <a:pt x="794" y="482"/>
                  </a:lnTo>
                  <a:lnTo>
                    <a:pt x="807" y="456"/>
                  </a:lnTo>
                  <a:lnTo>
                    <a:pt x="820" y="431"/>
                  </a:lnTo>
                  <a:lnTo>
                    <a:pt x="834" y="406"/>
                  </a:lnTo>
                  <a:lnTo>
                    <a:pt x="847" y="380"/>
                  </a:lnTo>
                  <a:lnTo>
                    <a:pt x="861" y="355"/>
                  </a:lnTo>
                  <a:lnTo>
                    <a:pt x="875" y="327"/>
                  </a:lnTo>
                  <a:lnTo>
                    <a:pt x="882" y="314"/>
                  </a:lnTo>
                  <a:lnTo>
                    <a:pt x="889" y="300"/>
                  </a:lnTo>
                  <a:lnTo>
                    <a:pt x="898" y="287"/>
                  </a:lnTo>
                  <a:lnTo>
                    <a:pt x="906" y="273"/>
                  </a:lnTo>
                  <a:lnTo>
                    <a:pt x="914" y="259"/>
                  </a:lnTo>
                  <a:lnTo>
                    <a:pt x="923" y="245"/>
                  </a:lnTo>
                  <a:lnTo>
                    <a:pt x="932" y="231"/>
                  </a:lnTo>
                  <a:lnTo>
                    <a:pt x="942" y="217"/>
                  </a:lnTo>
                  <a:lnTo>
                    <a:pt x="952" y="203"/>
                  </a:lnTo>
                  <a:lnTo>
                    <a:pt x="962" y="189"/>
                  </a:lnTo>
                  <a:lnTo>
                    <a:pt x="973" y="176"/>
                  </a:lnTo>
                  <a:lnTo>
                    <a:pt x="984" y="162"/>
                  </a:lnTo>
                  <a:lnTo>
                    <a:pt x="995" y="149"/>
                  </a:lnTo>
                  <a:lnTo>
                    <a:pt x="1006" y="136"/>
                  </a:lnTo>
                  <a:lnTo>
                    <a:pt x="1018" y="124"/>
                  </a:lnTo>
                  <a:lnTo>
                    <a:pt x="1030" y="112"/>
                  </a:lnTo>
                  <a:lnTo>
                    <a:pt x="1042" y="100"/>
                  </a:lnTo>
                  <a:lnTo>
                    <a:pt x="1054" y="89"/>
                  </a:lnTo>
                  <a:lnTo>
                    <a:pt x="1067" y="78"/>
                  </a:lnTo>
                  <a:lnTo>
                    <a:pt x="1079" y="68"/>
                  </a:lnTo>
                  <a:lnTo>
                    <a:pt x="1093" y="58"/>
                  </a:lnTo>
                  <a:lnTo>
                    <a:pt x="1105" y="49"/>
                  </a:lnTo>
                  <a:lnTo>
                    <a:pt x="1119" y="41"/>
                  </a:lnTo>
                  <a:lnTo>
                    <a:pt x="1132" y="33"/>
                  </a:lnTo>
                  <a:lnTo>
                    <a:pt x="1146" y="26"/>
                  </a:lnTo>
                  <a:lnTo>
                    <a:pt x="1160" y="20"/>
                  </a:lnTo>
                  <a:lnTo>
                    <a:pt x="1174" y="14"/>
                  </a:lnTo>
                  <a:lnTo>
                    <a:pt x="1188" y="10"/>
                  </a:lnTo>
                  <a:lnTo>
                    <a:pt x="1202" y="6"/>
                  </a:lnTo>
                  <a:lnTo>
                    <a:pt x="1217" y="2"/>
                  </a:lnTo>
                  <a:lnTo>
                    <a:pt x="1231" y="1"/>
                  </a:lnTo>
                  <a:lnTo>
                    <a:pt x="1246" y="0"/>
                  </a:lnTo>
                  <a:lnTo>
                    <a:pt x="1260" y="0"/>
                  </a:lnTo>
                  <a:lnTo>
                    <a:pt x="1274" y="1"/>
                  </a:lnTo>
                  <a:lnTo>
                    <a:pt x="1288" y="2"/>
                  </a:lnTo>
                  <a:lnTo>
                    <a:pt x="1302" y="2"/>
                  </a:lnTo>
                  <a:lnTo>
                    <a:pt x="1315" y="5"/>
                  </a:lnTo>
                  <a:lnTo>
                    <a:pt x="1328" y="7"/>
                  </a:lnTo>
                  <a:lnTo>
                    <a:pt x="1341" y="11"/>
                  </a:lnTo>
                  <a:lnTo>
                    <a:pt x="1353" y="14"/>
                  </a:lnTo>
                  <a:lnTo>
                    <a:pt x="1365" y="18"/>
                  </a:lnTo>
                  <a:lnTo>
                    <a:pt x="1378" y="24"/>
                  </a:lnTo>
                  <a:lnTo>
                    <a:pt x="1390" y="29"/>
                  </a:lnTo>
                  <a:lnTo>
                    <a:pt x="1401" y="36"/>
                  </a:lnTo>
                  <a:lnTo>
                    <a:pt x="1413" y="42"/>
                  </a:lnTo>
                  <a:lnTo>
                    <a:pt x="1425" y="50"/>
                  </a:lnTo>
                  <a:lnTo>
                    <a:pt x="1437" y="57"/>
                  </a:lnTo>
                  <a:lnTo>
                    <a:pt x="1449" y="66"/>
                  </a:lnTo>
                  <a:lnTo>
                    <a:pt x="1460" y="75"/>
                  </a:lnTo>
                  <a:lnTo>
                    <a:pt x="1472" y="85"/>
                  </a:lnTo>
                  <a:lnTo>
                    <a:pt x="1483" y="96"/>
                  </a:lnTo>
                  <a:lnTo>
                    <a:pt x="1495" y="107"/>
                  </a:lnTo>
                  <a:lnTo>
                    <a:pt x="1506" y="118"/>
                  </a:lnTo>
                  <a:lnTo>
                    <a:pt x="1518" y="131"/>
                  </a:lnTo>
                  <a:lnTo>
                    <a:pt x="1530" y="145"/>
                  </a:lnTo>
                  <a:lnTo>
                    <a:pt x="1542" y="158"/>
                  </a:lnTo>
                  <a:lnTo>
                    <a:pt x="1554" y="173"/>
                  </a:lnTo>
                  <a:lnTo>
                    <a:pt x="1566" y="188"/>
                  </a:lnTo>
                  <a:lnTo>
                    <a:pt x="1578" y="204"/>
                  </a:lnTo>
                  <a:lnTo>
                    <a:pt x="1591" y="221"/>
                  </a:lnTo>
                  <a:lnTo>
                    <a:pt x="1604" y="238"/>
                  </a:lnTo>
                  <a:lnTo>
                    <a:pt x="1617" y="256"/>
                  </a:lnTo>
                  <a:lnTo>
                    <a:pt x="1630" y="275"/>
                  </a:lnTo>
                  <a:lnTo>
                    <a:pt x="1644" y="295"/>
                  </a:lnTo>
                  <a:lnTo>
                    <a:pt x="1661" y="322"/>
                  </a:lnTo>
                  <a:lnTo>
                    <a:pt x="1678" y="350"/>
                  </a:lnTo>
                  <a:lnTo>
                    <a:pt x="1693" y="379"/>
                  </a:lnTo>
                  <a:lnTo>
                    <a:pt x="1707" y="407"/>
                  </a:lnTo>
                  <a:lnTo>
                    <a:pt x="1721" y="437"/>
                  </a:lnTo>
                  <a:lnTo>
                    <a:pt x="1734" y="468"/>
                  </a:lnTo>
                  <a:lnTo>
                    <a:pt x="1746" y="498"/>
                  </a:lnTo>
                  <a:lnTo>
                    <a:pt x="1760" y="529"/>
                  </a:lnTo>
                  <a:lnTo>
                    <a:pt x="1772" y="560"/>
                  </a:lnTo>
                  <a:lnTo>
                    <a:pt x="1784" y="590"/>
                  </a:lnTo>
                  <a:lnTo>
                    <a:pt x="1797" y="622"/>
                  </a:lnTo>
                  <a:lnTo>
                    <a:pt x="1810" y="651"/>
                  </a:lnTo>
                  <a:lnTo>
                    <a:pt x="1824" y="681"/>
                  </a:lnTo>
                  <a:lnTo>
                    <a:pt x="1838" y="711"/>
                  </a:lnTo>
                  <a:lnTo>
                    <a:pt x="1853" y="741"/>
                  </a:lnTo>
                  <a:lnTo>
                    <a:pt x="1869" y="769"/>
                  </a:lnTo>
                  <a:lnTo>
                    <a:pt x="1874" y="775"/>
                  </a:lnTo>
                  <a:lnTo>
                    <a:pt x="1878" y="783"/>
                  </a:lnTo>
                  <a:lnTo>
                    <a:pt x="1885" y="791"/>
                  </a:lnTo>
                  <a:lnTo>
                    <a:pt x="1890" y="798"/>
                  </a:lnTo>
                  <a:lnTo>
                    <a:pt x="1897" y="807"/>
                  </a:lnTo>
                  <a:lnTo>
                    <a:pt x="1905" y="815"/>
                  </a:lnTo>
                  <a:lnTo>
                    <a:pt x="1913" y="823"/>
                  </a:lnTo>
                  <a:lnTo>
                    <a:pt x="1921" y="832"/>
                  </a:lnTo>
                  <a:lnTo>
                    <a:pt x="1930" y="841"/>
                  </a:lnTo>
                  <a:lnTo>
                    <a:pt x="1938" y="851"/>
                  </a:lnTo>
                  <a:lnTo>
                    <a:pt x="1949" y="860"/>
                  </a:lnTo>
                  <a:lnTo>
                    <a:pt x="1958" y="869"/>
                  </a:lnTo>
                  <a:lnTo>
                    <a:pt x="1968" y="878"/>
                  </a:lnTo>
                  <a:lnTo>
                    <a:pt x="1979" y="887"/>
                  </a:lnTo>
                  <a:lnTo>
                    <a:pt x="1989" y="896"/>
                  </a:lnTo>
                  <a:lnTo>
                    <a:pt x="2000" y="905"/>
                  </a:lnTo>
                  <a:lnTo>
                    <a:pt x="2010" y="914"/>
                  </a:lnTo>
                  <a:lnTo>
                    <a:pt x="2022" y="924"/>
                  </a:lnTo>
                  <a:lnTo>
                    <a:pt x="2033" y="932"/>
                  </a:lnTo>
                  <a:lnTo>
                    <a:pt x="2044" y="941"/>
                  </a:lnTo>
                  <a:lnTo>
                    <a:pt x="2055" y="951"/>
                  </a:lnTo>
                  <a:lnTo>
                    <a:pt x="2067" y="959"/>
                  </a:lnTo>
                  <a:lnTo>
                    <a:pt x="2078" y="967"/>
                  </a:lnTo>
                  <a:lnTo>
                    <a:pt x="2089" y="975"/>
                  </a:lnTo>
                  <a:lnTo>
                    <a:pt x="2101" y="983"/>
                  </a:lnTo>
                  <a:lnTo>
                    <a:pt x="2111" y="991"/>
                  </a:lnTo>
                  <a:lnTo>
                    <a:pt x="2123" y="998"/>
                  </a:lnTo>
                  <a:lnTo>
                    <a:pt x="2133" y="1005"/>
                  </a:lnTo>
                  <a:lnTo>
                    <a:pt x="2144" y="1012"/>
                  </a:lnTo>
                  <a:lnTo>
                    <a:pt x="2154" y="1017"/>
                  </a:lnTo>
                  <a:lnTo>
                    <a:pt x="2164" y="1024"/>
                  </a:lnTo>
                  <a:lnTo>
                    <a:pt x="2174" y="1029"/>
                  </a:lnTo>
                  <a:lnTo>
                    <a:pt x="2185" y="1036"/>
                  </a:lnTo>
                  <a:lnTo>
                    <a:pt x="2197" y="1041"/>
                  </a:lnTo>
                  <a:lnTo>
                    <a:pt x="2209" y="1048"/>
                  </a:lnTo>
                  <a:lnTo>
                    <a:pt x="2222" y="1054"/>
                  </a:lnTo>
                  <a:lnTo>
                    <a:pt x="2234" y="1060"/>
                  </a:lnTo>
                  <a:lnTo>
                    <a:pt x="2249" y="1066"/>
                  </a:lnTo>
                  <a:lnTo>
                    <a:pt x="2262" y="1073"/>
                  </a:lnTo>
                  <a:lnTo>
                    <a:pt x="2275" y="1079"/>
                  </a:lnTo>
                  <a:lnTo>
                    <a:pt x="2290" y="1085"/>
                  </a:lnTo>
                  <a:lnTo>
                    <a:pt x="2305" y="1092"/>
                  </a:lnTo>
                  <a:lnTo>
                    <a:pt x="2318" y="1098"/>
                  </a:lnTo>
                  <a:lnTo>
                    <a:pt x="2333" y="1104"/>
                  </a:lnTo>
                  <a:lnTo>
                    <a:pt x="2348" y="1109"/>
                  </a:lnTo>
                  <a:lnTo>
                    <a:pt x="2362" y="1116"/>
                  </a:lnTo>
                  <a:lnTo>
                    <a:pt x="2377" y="1122"/>
                  </a:lnTo>
                  <a:lnTo>
                    <a:pt x="2392" y="1127"/>
                  </a:lnTo>
                  <a:lnTo>
                    <a:pt x="2407" y="1132"/>
                  </a:lnTo>
                  <a:lnTo>
                    <a:pt x="2421" y="1137"/>
                  </a:lnTo>
                  <a:lnTo>
                    <a:pt x="2435" y="1142"/>
                  </a:lnTo>
                  <a:lnTo>
                    <a:pt x="2448" y="1146"/>
                  </a:lnTo>
                  <a:lnTo>
                    <a:pt x="2463" y="1151"/>
                  </a:lnTo>
                  <a:lnTo>
                    <a:pt x="2476" y="1156"/>
                  </a:lnTo>
                  <a:lnTo>
                    <a:pt x="2489" y="1159"/>
                  </a:lnTo>
                  <a:lnTo>
                    <a:pt x="2502" y="1162"/>
                  </a:lnTo>
                  <a:lnTo>
                    <a:pt x="2514" y="1165"/>
                  </a:lnTo>
                  <a:lnTo>
                    <a:pt x="2526" y="1169"/>
                  </a:lnTo>
                  <a:lnTo>
                    <a:pt x="2537" y="1171"/>
                  </a:lnTo>
                  <a:lnTo>
                    <a:pt x="2548" y="1173"/>
                  </a:lnTo>
                  <a:lnTo>
                    <a:pt x="2558" y="1175"/>
                  </a:lnTo>
                  <a:lnTo>
                    <a:pt x="2568" y="1176"/>
                  </a:lnTo>
                  <a:lnTo>
                    <a:pt x="2577" y="1176"/>
                  </a:lnTo>
                  <a:lnTo>
                    <a:pt x="2585" y="1177"/>
                  </a:lnTo>
                </a:path>
              </a:pathLst>
            </a:custGeom>
            <a:noFill/>
            <a:ln w="50800" cap="rnd"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7" name="Freeform 3"/>
            <p:cNvSpPr>
              <a:spLocks/>
            </p:cNvSpPr>
            <p:nvPr/>
          </p:nvSpPr>
          <p:spPr bwMode="auto">
            <a:xfrm>
              <a:off x="685800" y="1591336"/>
              <a:ext cx="7772400" cy="1211263"/>
            </a:xfrm>
            <a:custGeom>
              <a:avLst/>
              <a:gdLst>
                <a:gd name="T0" fmla="*/ 0 w 4195"/>
                <a:gd name="T1" fmla="*/ 0 h 1819"/>
                <a:gd name="T2" fmla="*/ 0 w 4195"/>
                <a:gd name="T3" fmla="*/ 1818 h 1819"/>
                <a:gd name="T4" fmla="*/ 4194 w 4195"/>
                <a:gd name="T5" fmla="*/ 1818 h 1819"/>
              </a:gdLst>
              <a:ahLst/>
              <a:cxnLst>
                <a:cxn ang="0">
                  <a:pos x="T0" y="T1"/>
                </a:cxn>
                <a:cxn ang="0">
                  <a:pos x="T2" y="T3"/>
                </a:cxn>
                <a:cxn ang="0">
                  <a:pos x="T4" y="T5"/>
                </a:cxn>
              </a:cxnLst>
              <a:rect l="0" t="0" r="r" b="b"/>
              <a:pathLst>
                <a:path w="4195" h="1819">
                  <a:moveTo>
                    <a:pt x="0" y="0"/>
                  </a:moveTo>
                  <a:lnTo>
                    <a:pt x="0" y="1818"/>
                  </a:lnTo>
                  <a:lnTo>
                    <a:pt x="4194" y="1818"/>
                  </a:lnTo>
                </a:path>
              </a:pathLst>
            </a:custGeom>
            <a:noFill/>
            <a:ln w="508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8" name="Freeform 4"/>
            <p:cNvSpPr>
              <a:spLocks/>
            </p:cNvSpPr>
            <p:nvPr/>
          </p:nvSpPr>
          <p:spPr bwMode="auto">
            <a:xfrm>
              <a:off x="4038600" y="1905000"/>
              <a:ext cx="1828800" cy="833438"/>
            </a:xfrm>
            <a:custGeom>
              <a:avLst/>
              <a:gdLst>
                <a:gd name="T0" fmla="*/ 24 w 2586"/>
                <a:gd name="T1" fmla="*/ 1168 h 1178"/>
                <a:gd name="T2" fmla="*/ 79 w 2586"/>
                <a:gd name="T3" fmla="*/ 1144 h 1178"/>
                <a:gd name="T4" fmla="*/ 152 w 2586"/>
                <a:gd name="T5" fmla="*/ 1108 h 1178"/>
                <a:gd name="T6" fmla="*/ 234 w 2586"/>
                <a:gd name="T7" fmla="*/ 1065 h 1178"/>
                <a:gd name="T8" fmla="*/ 319 w 2586"/>
                <a:gd name="T9" fmla="*/ 1020 h 1178"/>
                <a:gd name="T10" fmla="*/ 398 w 2586"/>
                <a:gd name="T11" fmla="*/ 976 h 1178"/>
                <a:gd name="T12" fmla="*/ 462 w 2586"/>
                <a:gd name="T13" fmla="*/ 938 h 1178"/>
                <a:gd name="T14" fmla="*/ 504 w 2586"/>
                <a:gd name="T15" fmla="*/ 910 h 1178"/>
                <a:gd name="T16" fmla="*/ 539 w 2586"/>
                <a:gd name="T17" fmla="*/ 877 h 1178"/>
                <a:gd name="T18" fmla="*/ 576 w 2586"/>
                <a:gd name="T19" fmla="*/ 836 h 1178"/>
                <a:gd name="T20" fmla="*/ 613 w 2586"/>
                <a:gd name="T21" fmla="*/ 791 h 1178"/>
                <a:gd name="T22" fmla="*/ 647 w 2586"/>
                <a:gd name="T23" fmla="*/ 742 h 1178"/>
                <a:gd name="T24" fmla="*/ 699 w 2586"/>
                <a:gd name="T25" fmla="*/ 655 h 1178"/>
                <a:gd name="T26" fmla="*/ 754 w 2586"/>
                <a:gd name="T27" fmla="*/ 556 h 1178"/>
                <a:gd name="T28" fmla="*/ 807 w 2586"/>
                <a:gd name="T29" fmla="*/ 456 h 1178"/>
                <a:gd name="T30" fmla="*/ 861 w 2586"/>
                <a:gd name="T31" fmla="*/ 355 h 1178"/>
                <a:gd name="T32" fmla="*/ 898 w 2586"/>
                <a:gd name="T33" fmla="*/ 287 h 1178"/>
                <a:gd name="T34" fmla="*/ 932 w 2586"/>
                <a:gd name="T35" fmla="*/ 231 h 1178"/>
                <a:gd name="T36" fmla="*/ 973 w 2586"/>
                <a:gd name="T37" fmla="*/ 176 h 1178"/>
                <a:gd name="T38" fmla="*/ 1018 w 2586"/>
                <a:gd name="T39" fmla="*/ 124 h 1178"/>
                <a:gd name="T40" fmla="*/ 1067 w 2586"/>
                <a:gd name="T41" fmla="*/ 78 h 1178"/>
                <a:gd name="T42" fmla="*/ 1119 w 2586"/>
                <a:gd name="T43" fmla="*/ 41 h 1178"/>
                <a:gd name="T44" fmla="*/ 1174 w 2586"/>
                <a:gd name="T45" fmla="*/ 14 h 1178"/>
                <a:gd name="T46" fmla="*/ 1231 w 2586"/>
                <a:gd name="T47" fmla="*/ 1 h 1178"/>
                <a:gd name="T48" fmla="*/ 1288 w 2586"/>
                <a:gd name="T49" fmla="*/ 2 h 1178"/>
                <a:gd name="T50" fmla="*/ 1341 w 2586"/>
                <a:gd name="T51" fmla="*/ 11 h 1178"/>
                <a:gd name="T52" fmla="*/ 1390 w 2586"/>
                <a:gd name="T53" fmla="*/ 29 h 1178"/>
                <a:gd name="T54" fmla="*/ 1437 w 2586"/>
                <a:gd name="T55" fmla="*/ 57 h 1178"/>
                <a:gd name="T56" fmla="*/ 1483 w 2586"/>
                <a:gd name="T57" fmla="*/ 96 h 1178"/>
                <a:gd name="T58" fmla="*/ 1530 w 2586"/>
                <a:gd name="T59" fmla="*/ 145 h 1178"/>
                <a:gd name="T60" fmla="*/ 1578 w 2586"/>
                <a:gd name="T61" fmla="*/ 204 h 1178"/>
                <a:gd name="T62" fmla="*/ 1630 w 2586"/>
                <a:gd name="T63" fmla="*/ 275 h 1178"/>
                <a:gd name="T64" fmla="*/ 1693 w 2586"/>
                <a:gd name="T65" fmla="*/ 379 h 1178"/>
                <a:gd name="T66" fmla="*/ 1746 w 2586"/>
                <a:gd name="T67" fmla="*/ 498 h 1178"/>
                <a:gd name="T68" fmla="*/ 1797 w 2586"/>
                <a:gd name="T69" fmla="*/ 622 h 1178"/>
                <a:gd name="T70" fmla="*/ 1853 w 2586"/>
                <a:gd name="T71" fmla="*/ 741 h 1178"/>
                <a:gd name="T72" fmla="*/ 1885 w 2586"/>
                <a:gd name="T73" fmla="*/ 791 h 1178"/>
                <a:gd name="T74" fmla="*/ 1913 w 2586"/>
                <a:gd name="T75" fmla="*/ 823 h 1178"/>
                <a:gd name="T76" fmla="*/ 1949 w 2586"/>
                <a:gd name="T77" fmla="*/ 860 h 1178"/>
                <a:gd name="T78" fmla="*/ 1989 w 2586"/>
                <a:gd name="T79" fmla="*/ 896 h 1178"/>
                <a:gd name="T80" fmla="*/ 2033 w 2586"/>
                <a:gd name="T81" fmla="*/ 932 h 1178"/>
                <a:gd name="T82" fmla="*/ 2078 w 2586"/>
                <a:gd name="T83" fmla="*/ 967 h 1178"/>
                <a:gd name="T84" fmla="*/ 2123 w 2586"/>
                <a:gd name="T85" fmla="*/ 998 h 1178"/>
                <a:gd name="T86" fmla="*/ 2164 w 2586"/>
                <a:gd name="T87" fmla="*/ 1024 h 1178"/>
                <a:gd name="T88" fmla="*/ 2209 w 2586"/>
                <a:gd name="T89" fmla="*/ 1048 h 1178"/>
                <a:gd name="T90" fmla="*/ 2262 w 2586"/>
                <a:gd name="T91" fmla="*/ 1073 h 1178"/>
                <a:gd name="T92" fmla="*/ 2318 w 2586"/>
                <a:gd name="T93" fmla="*/ 1098 h 1178"/>
                <a:gd name="T94" fmla="*/ 2377 w 2586"/>
                <a:gd name="T95" fmla="*/ 1122 h 1178"/>
                <a:gd name="T96" fmla="*/ 2435 w 2586"/>
                <a:gd name="T97" fmla="*/ 1142 h 1178"/>
                <a:gd name="T98" fmla="*/ 2489 w 2586"/>
                <a:gd name="T99" fmla="*/ 1159 h 1178"/>
                <a:gd name="T100" fmla="*/ 2537 w 2586"/>
                <a:gd name="T101" fmla="*/ 1171 h 1178"/>
                <a:gd name="T102" fmla="*/ 2577 w 2586"/>
                <a:gd name="T103" fmla="*/ 1176 h 1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86" h="1178">
                  <a:moveTo>
                    <a:pt x="0" y="1177"/>
                  </a:moveTo>
                  <a:lnTo>
                    <a:pt x="6" y="1175"/>
                  </a:lnTo>
                  <a:lnTo>
                    <a:pt x="14" y="1172"/>
                  </a:lnTo>
                  <a:lnTo>
                    <a:pt x="24" y="1168"/>
                  </a:lnTo>
                  <a:lnTo>
                    <a:pt x="36" y="1164"/>
                  </a:lnTo>
                  <a:lnTo>
                    <a:pt x="48" y="1158"/>
                  </a:lnTo>
                  <a:lnTo>
                    <a:pt x="63" y="1151"/>
                  </a:lnTo>
                  <a:lnTo>
                    <a:pt x="79" y="1144"/>
                  </a:lnTo>
                  <a:lnTo>
                    <a:pt x="96" y="1136"/>
                  </a:lnTo>
                  <a:lnTo>
                    <a:pt x="114" y="1127"/>
                  </a:lnTo>
                  <a:lnTo>
                    <a:pt x="132" y="1117"/>
                  </a:lnTo>
                  <a:lnTo>
                    <a:pt x="152" y="1108"/>
                  </a:lnTo>
                  <a:lnTo>
                    <a:pt x="171" y="1098"/>
                  </a:lnTo>
                  <a:lnTo>
                    <a:pt x="193" y="1087"/>
                  </a:lnTo>
                  <a:lnTo>
                    <a:pt x="213" y="1076"/>
                  </a:lnTo>
                  <a:lnTo>
                    <a:pt x="234" y="1065"/>
                  </a:lnTo>
                  <a:lnTo>
                    <a:pt x="256" y="1054"/>
                  </a:lnTo>
                  <a:lnTo>
                    <a:pt x="277" y="1042"/>
                  </a:lnTo>
                  <a:lnTo>
                    <a:pt x="298" y="1031"/>
                  </a:lnTo>
                  <a:lnTo>
                    <a:pt x="319" y="1020"/>
                  </a:lnTo>
                  <a:lnTo>
                    <a:pt x="340" y="1008"/>
                  </a:lnTo>
                  <a:lnTo>
                    <a:pt x="360" y="998"/>
                  </a:lnTo>
                  <a:lnTo>
                    <a:pt x="379" y="986"/>
                  </a:lnTo>
                  <a:lnTo>
                    <a:pt x="398" y="976"/>
                  </a:lnTo>
                  <a:lnTo>
                    <a:pt x="416" y="966"/>
                  </a:lnTo>
                  <a:lnTo>
                    <a:pt x="432" y="955"/>
                  </a:lnTo>
                  <a:lnTo>
                    <a:pt x="448" y="947"/>
                  </a:lnTo>
                  <a:lnTo>
                    <a:pt x="462" y="938"/>
                  </a:lnTo>
                  <a:lnTo>
                    <a:pt x="475" y="930"/>
                  </a:lnTo>
                  <a:lnTo>
                    <a:pt x="486" y="922"/>
                  </a:lnTo>
                  <a:lnTo>
                    <a:pt x="496" y="916"/>
                  </a:lnTo>
                  <a:lnTo>
                    <a:pt x="504" y="910"/>
                  </a:lnTo>
                  <a:lnTo>
                    <a:pt x="509" y="905"/>
                  </a:lnTo>
                  <a:lnTo>
                    <a:pt x="520" y="896"/>
                  </a:lnTo>
                  <a:lnTo>
                    <a:pt x="529" y="888"/>
                  </a:lnTo>
                  <a:lnTo>
                    <a:pt x="539" y="877"/>
                  </a:lnTo>
                  <a:lnTo>
                    <a:pt x="549" y="868"/>
                  </a:lnTo>
                  <a:lnTo>
                    <a:pt x="558" y="857"/>
                  </a:lnTo>
                  <a:lnTo>
                    <a:pt x="567" y="847"/>
                  </a:lnTo>
                  <a:lnTo>
                    <a:pt x="576" y="836"/>
                  </a:lnTo>
                  <a:lnTo>
                    <a:pt x="586" y="826"/>
                  </a:lnTo>
                  <a:lnTo>
                    <a:pt x="595" y="814"/>
                  </a:lnTo>
                  <a:lnTo>
                    <a:pt x="604" y="803"/>
                  </a:lnTo>
                  <a:lnTo>
                    <a:pt x="613" y="791"/>
                  </a:lnTo>
                  <a:lnTo>
                    <a:pt x="621" y="779"/>
                  </a:lnTo>
                  <a:lnTo>
                    <a:pt x="629" y="767"/>
                  </a:lnTo>
                  <a:lnTo>
                    <a:pt x="638" y="755"/>
                  </a:lnTo>
                  <a:lnTo>
                    <a:pt x="647" y="742"/>
                  </a:lnTo>
                  <a:lnTo>
                    <a:pt x="654" y="730"/>
                  </a:lnTo>
                  <a:lnTo>
                    <a:pt x="670" y="704"/>
                  </a:lnTo>
                  <a:lnTo>
                    <a:pt x="685" y="679"/>
                  </a:lnTo>
                  <a:lnTo>
                    <a:pt x="699" y="655"/>
                  </a:lnTo>
                  <a:lnTo>
                    <a:pt x="713" y="630"/>
                  </a:lnTo>
                  <a:lnTo>
                    <a:pt x="727" y="605"/>
                  </a:lnTo>
                  <a:lnTo>
                    <a:pt x="741" y="580"/>
                  </a:lnTo>
                  <a:lnTo>
                    <a:pt x="754" y="556"/>
                  </a:lnTo>
                  <a:lnTo>
                    <a:pt x="767" y="531"/>
                  </a:lnTo>
                  <a:lnTo>
                    <a:pt x="781" y="507"/>
                  </a:lnTo>
                  <a:lnTo>
                    <a:pt x="794" y="482"/>
                  </a:lnTo>
                  <a:lnTo>
                    <a:pt x="807" y="456"/>
                  </a:lnTo>
                  <a:lnTo>
                    <a:pt x="820" y="431"/>
                  </a:lnTo>
                  <a:lnTo>
                    <a:pt x="834" y="406"/>
                  </a:lnTo>
                  <a:lnTo>
                    <a:pt x="847" y="380"/>
                  </a:lnTo>
                  <a:lnTo>
                    <a:pt x="861" y="355"/>
                  </a:lnTo>
                  <a:lnTo>
                    <a:pt x="875" y="327"/>
                  </a:lnTo>
                  <a:lnTo>
                    <a:pt x="882" y="314"/>
                  </a:lnTo>
                  <a:lnTo>
                    <a:pt x="889" y="300"/>
                  </a:lnTo>
                  <a:lnTo>
                    <a:pt x="898" y="287"/>
                  </a:lnTo>
                  <a:lnTo>
                    <a:pt x="906" y="273"/>
                  </a:lnTo>
                  <a:lnTo>
                    <a:pt x="914" y="259"/>
                  </a:lnTo>
                  <a:lnTo>
                    <a:pt x="923" y="245"/>
                  </a:lnTo>
                  <a:lnTo>
                    <a:pt x="932" y="231"/>
                  </a:lnTo>
                  <a:lnTo>
                    <a:pt x="942" y="217"/>
                  </a:lnTo>
                  <a:lnTo>
                    <a:pt x="952" y="203"/>
                  </a:lnTo>
                  <a:lnTo>
                    <a:pt x="962" y="189"/>
                  </a:lnTo>
                  <a:lnTo>
                    <a:pt x="973" y="176"/>
                  </a:lnTo>
                  <a:lnTo>
                    <a:pt x="984" y="162"/>
                  </a:lnTo>
                  <a:lnTo>
                    <a:pt x="995" y="149"/>
                  </a:lnTo>
                  <a:lnTo>
                    <a:pt x="1006" y="136"/>
                  </a:lnTo>
                  <a:lnTo>
                    <a:pt x="1018" y="124"/>
                  </a:lnTo>
                  <a:lnTo>
                    <a:pt x="1030" y="112"/>
                  </a:lnTo>
                  <a:lnTo>
                    <a:pt x="1042" y="100"/>
                  </a:lnTo>
                  <a:lnTo>
                    <a:pt x="1054" y="89"/>
                  </a:lnTo>
                  <a:lnTo>
                    <a:pt x="1067" y="78"/>
                  </a:lnTo>
                  <a:lnTo>
                    <a:pt x="1079" y="68"/>
                  </a:lnTo>
                  <a:lnTo>
                    <a:pt x="1093" y="58"/>
                  </a:lnTo>
                  <a:lnTo>
                    <a:pt x="1105" y="49"/>
                  </a:lnTo>
                  <a:lnTo>
                    <a:pt x="1119" y="41"/>
                  </a:lnTo>
                  <a:lnTo>
                    <a:pt x="1132" y="33"/>
                  </a:lnTo>
                  <a:lnTo>
                    <a:pt x="1146" y="26"/>
                  </a:lnTo>
                  <a:lnTo>
                    <a:pt x="1160" y="20"/>
                  </a:lnTo>
                  <a:lnTo>
                    <a:pt x="1174" y="14"/>
                  </a:lnTo>
                  <a:lnTo>
                    <a:pt x="1188" y="10"/>
                  </a:lnTo>
                  <a:lnTo>
                    <a:pt x="1202" y="6"/>
                  </a:lnTo>
                  <a:lnTo>
                    <a:pt x="1217" y="2"/>
                  </a:lnTo>
                  <a:lnTo>
                    <a:pt x="1231" y="1"/>
                  </a:lnTo>
                  <a:lnTo>
                    <a:pt x="1246" y="0"/>
                  </a:lnTo>
                  <a:lnTo>
                    <a:pt x="1260" y="0"/>
                  </a:lnTo>
                  <a:lnTo>
                    <a:pt x="1274" y="1"/>
                  </a:lnTo>
                  <a:lnTo>
                    <a:pt x="1288" y="2"/>
                  </a:lnTo>
                  <a:lnTo>
                    <a:pt x="1302" y="2"/>
                  </a:lnTo>
                  <a:lnTo>
                    <a:pt x="1315" y="5"/>
                  </a:lnTo>
                  <a:lnTo>
                    <a:pt x="1328" y="7"/>
                  </a:lnTo>
                  <a:lnTo>
                    <a:pt x="1341" y="11"/>
                  </a:lnTo>
                  <a:lnTo>
                    <a:pt x="1353" y="14"/>
                  </a:lnTo>
                  <a:lnTo>
                    <a:pt x="1365" y="18"/>
                  </a:lnTo>
                  <a:lnTo>
                    <a:pt x="1378" y="24"/>
                  </a:lnTo>
                  <a:lnTo>
                    <a:pt x="1390" y="29"/>
                  </a:lnTo>
                  <a:lnTo>
                    <a:pt x="1401" y="36"/>
                  </a:lnTo>
                  <a:lnTo>
                    <a:pt x="1413" y="42"/>
                  </a:lnTo>
                  <a:lnTo>
                    <a:pt x="1425" y="50"/>
                  </a:lnTo>
                  <a:lnTo>
                    <a:pt x="1437" y="57"/>
                  </a:lnTo>
                  <a:lnTo>
                    <a:pt x="1449" y="66"/>
                  </a:lnTo>
                  <a:lnTo>
                    <a:pt x="1460" y="75"/>
                  </a:lnTo>
                  <a:lnTo>
                    <a:pt x="1472" y="85"/>
                  </a:lnTo>
                  <a:lnTo>
                    <a:pt x="1483" y="96"/>
                  </a:lnTo>
                  <a:lnTo>
                    <a:pt x="1495" y="107"/>
                  </a:lnTo>
                  <a:lnTo>
                    <a:pt x="1506" y="118"/>
                  </a:lnTo>
                  <a:lnTo>
                    <a:pt x="1518" y="131"/>
                  </a:lnTo>
                  <a:lnTo>
                    <a:pt x="1530" y="145"/>
                  </a:lnTo>
                  <a:lnTo>
                    <a:pt x="1542" y="158"/>
                  </a:lnTo>
                  <a:lnTo>
                    <a:pt x="1554" y="173"/>
                  </a:lnTo>
                  <a:lnTo>
                    <a:pt x="1566" y="188"/>
                  </a:lnTo>
                  <a:lnTo>
                    <a:pt x="1578" y="204"/>
                  </a:lnTo>
                  <a:lnTo>
                    <a:pt x="1591" y="221"/>
                  </a:lnTo>
                  <a:lnTo>
                    <a:pt x="1604" y="238"/>
                  </a:lnTo>
                  <a:lnTo>
                    <a:pt x="1617" y="256"/>
                  </a:lnTo>
                  <a:lnTo>
                    <a:pt x="1630" y="275"/>
                  </a:lnTo>
                  <a:lnTo>
                    <a:pt x="1644" y="295"/>
                  </a:lnTo>
                  <a:lnTo>
                    <a:pt x="1661" y="322"/>
                  </a:lnTo>
                  <a:lnTo>
                    <a:pt x="1678" y="350"/>
                  </a:lnTo>
                  <a:lnTo>
                    <a:pt x="1693" y="379"/>
                  </a:lnTo>
                  <a:lnTo>
                    <a:pt x="1707" y="407"/>
                  </a:lnTo>
                  <a:lnTo>
                    <a:pt x="1721" y="437"/>
                  </a:lnTo>
                  <a:lnTo>
                    <a:pt x="1734" y="468"/>
                  </a:lnTo>
                  <a:lnTo>
                    <a:pt x="1746" y="498"/>
                  </a:lnTo>
                  <a:lnTo>
                    <a:pt x="1760" y="529"/>
                  </a:lnTo>
                  <a:lnTo>
                    <a:pt x="1772" y="560"/>
                  </a:lnTo>
                  <a:lnTo>
                    <a:pt x="1784" y="590"/>
                  </a:lnTo>
                  <a:lnTo>
                    <a:pt x="1797" y="622"/>
                  </a:lnTo>
                  <a:lnTo>
                    <a:pt x="1810" y="651"/>
                  </a:lnTo>
                  <a:lnTo>
                    <a:pt x="1824" y="681"/>
                  </a:lnTo>
                  <a:lnTo>
                    <a:pt x="1838" y="711"/>
                  </a:lnTo>
                  <a:lnTo>
                    <a:pt x="1853" y="741"/>
                  </a:lnTo>
                  <a:lnTo>
                    <a:pt x="1869" y="769"/>
                  </a:lnTo>
                  <a:lnTo>
                    <a:pt x="1874" y="775"/>
                  </a:lnTo>
                  <a:lnTo>
                    <a:pt x="1878" y="783"/>
                  </a:lnTo>
                  <a:lnTo>
                    <a:pt x="1885" y="791"/>
                  </a:lnTo>
                  <a:lnTo>
                    <a:pt x="1890" y="798"/>
                  </a:lnTo>
                  <a:lnTo>
                    <a:pt x="1897" y="807"/>
                  </a:lnTo>
                  <a:lnTo>
                    <a:pt x="1905" y="815"/>
                  </a:lnTo>
                  <a:lnTo>
                    <a:pt x="1913" y="823"/>
                  </a:lnTo>
                  <a:lnTo>
                    <a:pt x="1921" y="832"/>
                  </a:lnTo>
                  <a:lnTo>
                    <a:pt x="1930" y="841"/>
                  </a:lnTo>
                  <a:lnTo>
                    <a:pt x="1938" y="851"/>
                  </a:lnTo>
                  <a:lnTo>
                    <a:pt x="1949" y="860"/>
                  </a:lnTo>
                  <a:lnTo>
                    <a:pt x="1958" y="869"/>
                  </a:lnTo>
                  <a:lnTo>
                    <a:pt x="1968" y="878"/>
                  </a:lnTo>
                  <a:lnTo>
                    <a:pt x="1979" y="887"/>
                  </a:lnTo>
                  <a:lnTo>
                    <a:pt x="1989" y="896"/>
                  </a:lnTo>
                  <a:lnTo>
                    <a:pt x="2000" y="905"/>
                  </a:lnTo>
                  <a:lnTo>
                    <a:pt x="2010" y="914"/>
                  </a:lnTo>
                  <a:lnTo>
                    <a:pt x="2022" y="924"/>
                  </a:lnTo>
                  <a:lnTo>
                    <a:pt x="2033" y="932"/>
                  </a:lnTo>
                  <a:lnTo>
                    <a:pt x="2044" y="941"/>
                  </a:lnTo>
                  <a:lnTo>
                    <a:pt x="2055" y="951"/>
                  </a:lnTo>
                  <a:lnTo>
                    <a:pt x="2067" y="959"/>
                  </a:lnTo>
                  <a:lnTo>
                    <a:pt x="2078" y="967"/>
                  </a:lnTo>
                  <a:lnTo>
                    <a:pt x="2089" y="975"/>
                  </a:lnTo>
                  <a:lnTo>
                    <a:pt x="2101" y="983"/>
                  </a:lnTo>
                  <a:lnTo>
                    <a:pt x="2111" y="991"/>
                  </a:lnTo>
                  <a:lnTo>
                    <a:pt x="2123" y="998"/>
                  </a:lnTo>
                  <a:lnTo>
                    <a:pt x="2133" y="1005"/>
                  </a:lnTo>
                  <a:lnTo>
                    <a:pt x="2144" y="1012"/>
                  </a:lnTo>
                  <a:lnTo>
                    <a:pt x="2154" y="1017"/>
                  </a:lnTo>
                  <a:lnTo>
                    <a:pt x="2164" y="1024"/>
                  </a:lnTo>
                  <a:lnTo>
                    <a:pt x="2174" y="1029"/>
                  </a:lnTo>
                  <a:lnTo>
                    <a:pt x="2185" y="1036"/>
                  </a:lnTo>
                  <a:lnTo>
                    <a:pt x="2197" y="1041"/>
                  </a:lnTo>
                  <a:lnTo>
                    <a:pt x="2209" y="1048"/>
                  </a:lnTo>
                  <a:lnTo>
                    <a:pt x="2222" y="1054"/>
                  </a:lnTo>
                  <a:lnTo>
                    <a:pt x="2234" y="1060"/>
                  </a:lnTo>
                  <a:lnTo>
                    <a:pt x="2249" y="1066"/>
                  </a:lnTo>
                  <a:lnTo>
                    <a:pt x="2262" y="1073"/>
                  </a:lnTo>
                  <a:lnTo>
                    <a:pt x="2275" y="1079"/>
                  </a:lnTo>
                  <a:lnTo>
                    <a:pt x="2290" y="1085"/>
                  </a:lnTo>
                  <a:lnTo>
                    <a:pt x="2305" y="1092"/>
                  </a:lnTo>
                  <a:lnTo>
                    <a:pt x="2318" y="1098"/>
                  </a:lnTo>
                  <a:lnTo>
                    <a:pt x="2333" y="1104"/>
                  </a:lnTo>
                  <a:lnTo>
                    <a:pt x="2348" y="1109"/>
                  </a:lnTo>
                  <a:lnTo>
                    <a:pt x="2362" y="1116"/>
                  </a:lnTo>
                  <a:lnTo>
                    <a:pt x="2377" y="1122"/>
                  </a:lnTo>
                  <a:lnTo>
                    <a:pt x="2392" y="1127"/>
                  </a:lnTo>
                  <a:lnTo>
                    <a:pt x="2407" y="1132"/>
                  </a:lnTo>
                  <a:lnTo>
                    <a:pt x="2421" y="1137"/>
                  </a:lnTo>
                  <a:lnTo>
                    <a:pt x="2435" y="1142"/>
                  </a:lnTo>
                  <a:lnTo>
                    <a:pt x="2448" y="1146"/>
                  </a:lnTo>
                  <a:lnTo>
                    <a:pt x="2463" y="1151"/>
                  </a:lnTo>
                  <a:lnTo>
                    <a:pt x="2476" y="1156"/>
                  </a:lnTo>
                  <a:lnTo>
                    <a:pt x="2489" y="1159"/>
                  </a:lnTo>
                  <a:lnTo>
                    <a:pt x="2502" y="1162"/>
                  </a:lnTo>
                  <a:lnTo>
                    <a:pt x="2514" y="1165"/>
                  </a:lnTo>
                  <a:lnTo>
                    <a:pt x="2526" y="1169"/>
                  </a:lnTo>
                  <a:lnTo>
                    <a:pt x="2537" y="1171"/>
                  </a:lnTo>
                  <a:lnTo>
                    <a:pt x="2548" y="1173"/>
                  </a:lnTo>
                  <a:lnTo>
                    <a:pt x="2558" y="1175"/>
                  </a:lnTo>
                  <a:lnTo>
                    <a:pt x="2568" y="1176"/>
                  </a:lnTo>
                  <a:lnTo>
                    <a:pt x="2577" y="1176"/>
                  </a:lnTo>
                  <a:lnTo>
                    <a:pt x="2585" y="1177"/>
                  </a:lnTo>
                </a:path>
              </a:pathLst>
            </a:custGeom>
            <a:noFill/>
            <a:ln w="508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9" name="Freeform 5"/>
            <p:cNvSpPr>
              <a:spLocks/>
            </p:cNvSpPr>
            <p:nvPr/>
          </p:nvSpPr>
          <p:spPr bwMode="auto">
            <a:xfrm>
              <a:off x="4876800" y="1905000"/>
              <a:ext cx="1828800" cy="833438"/>
            </a:xfrm>
            <a:custGeom>
              <a:avLst/>
              <a:gdLst>
                <a:gd name="T0" fmla="*/ 24 w 2586"/>
                <a:gd name="T1" fmla="*/ 1168 h 1178"/>
                <a:gd name="T2" fmla="*/ 79 w 2586"/>
                <a:gd name="T3" fmla="*/ 1144 h 1178"/>
                <a:gd name="T4" fmla="*/ 152 w 2586"/>
                <a:gd name="T5" fmla="*/ 1108 h 1178"/>
                <a:gd name="T6" fmla="*/ 234 w 2586"/>
                <a:gd name="T7" fmla="*/ 1065 h 1178"/>
                <a:gd name="T8" fmla="*/ 319 w 2586"/>
                <a:gd name="T9" fmla="*/ 1020 h 1178"/>
                <a:gd name="T10" fmla="*/ 398 w 2586"/>
                <a:gd name="T11" fmla="*/ 976 h 1178"/>
                <a:gd name="T12" fmla="*/ 462 w 2586"/>
                <a:gd name="T13" fmla="*/ 938 h 1178"/>
                <a:gd name="T14" fmla="*/ 504 w 2586"/>
                <a:gd name="T15" fmla="*/ 910 h 1178"/>
                <a:gd name="T16" fmla="*/ 539 w 2586"/>
                <a:gd name="T17" fmla="*/ 877 h 1178"/>
                <a:gd name="T18" fmla="*/ 576 w 2586"/>
                <a:gd name="T19" fmla="*/ 836 h 1178"/>
                <a:gd name="T20" fmla="*/ 613 w 2586"/>
                <a:gd name="T21" fmla="*/ 791 h 1178"/>
                <a:gd name="T22" fmla="*/ 647 w 2586"/>
                <a:gd name="T23" fmla="*/ 742 h 1178"/>
                <a:gd name="T24" fmla="*/ 699 w 2586"/>
                <a:gd name="T25" fmla="*/ 655 h 1178"/>
                <a:gd name="T26" fmla="*/ 754 w 2586"/>
                <a:gd name="T27" fmla="*/ 556 h 1178"/>
                <a:gd name="T28" fmla="*/ 807 w 2586"/>
                <a:gd name="T29" fmla="*/ 456 h 1178"/>
                <a:gd name="T30" fmla="*/ 861 w 2586"/>
                <a:gd name="T31" fmla="*/ 355 h 1178"/>
                <a:gd name="T32" fmla="*/ 898 w 2586"/>
                <a:gd name="T33" fmla="*/ 287 h 1178"/>
                <a:gd name="T34" fmla="*/ 932 w 2586"/>
                <a:gd name="T35" fmla="*/ 231 h 1178"/>
                <a:gd name="T36" fmla="*/ 973 w 2586"/>
                <a:gd name="T37" fmla="*/ 176 h 1178"/>
                <a:gd name="T38" fmla="*/ 1018 w 2586"/>
                <a:gd name="T39" fmla="*/ 124 h 1178"/>
                <a:gd name="T40" fmla="*/ 1067 w 2586"/>
                <a:gd name="T41" fmla="*/ 78 h 1178"/>
                <a:gd name="T42" fmla="*/ 1119 w 2586"/>
                <a:gd name="T43" fmla="*/ 41 h 1178"/>
                <a:gd name="T44" fmla="*/ 1174 w 2586"/>
                <a:gd name="T45" fmla="*/ 14 h 1178"/>
                <a:gd name="T46" fmla="*/ 1231 w 2586"/>
                <a:gd name="T47" fmla="*/ 1 h 1178"/>
                <a:gd name="T48" fmla="*/ 1288 w 2586"/>
                <a:gd name="T49" fmla="*/ 2 h 1178"/>
                <a:gd name="T50" fmla="*/ 1341 w 2586"/>
                <a:gd name="T51" fmla="*/ 11 h 1178"/>
                <a:gd name="T52" fmla="*/ 1390 w 2586"/>
                <a:gd name="T53" fmla="*/ 29 h 1178"/>
                <a:gd name="T54" fmla="*/ 1437 w 2586"/>
                <a:gd name="T55" fmla="*/ 57 h 1178"/>
                <a:gd name="T56" fmla="*/ 1483 w 2586"/>
                <a:gd name="T57" fmla="*/ 96 h 1178"/>
                <a:gd name="T58" fmla="*/ 1530 w 2586"/>
                <a:gd name="T59" fmla="*/ 145 h 1178"/>
                <a:gd name="T60" fmla="*/ 1578 w 2586"/>
                <a:gd name="T61" fmla="*/ 204 h 1178"/>
                <a:gd name="T62" fmla="*/ 1630 w 2586"/>
                <a:gd name="T63" fmla="*/ 275 h 1178"/>
                <a:gd name="T64" fmla="*/ 1693 w 2586"/>
                <a:gd name="T65" fmla="*/ 379 h 1178"/>
                <a:gd name="T66" fmla="*/ 1746 w 2586"/>
                <a:gd name="T67" fmla="*/ 498 h 1178"/>
                <a:gd name="T68" fmla="*/ 1797 w 2586"/>
                <a:gd name="T69" fmla="*/ 622 h 1178"/>
                <a:gd name="T70" fmla="*/ 1853 w 2586"/>
                <a:gd name="T71" fmla="*/ 741 h 1178"/>
                <a:gd name="T72" fmla="*/ 1885 w 2586"/>
                <a:gd name="T73" fmla="*/ 791 h 1178"/>
                <a:gd name="T74" fmla="*/ 1913 w 2586"/>
                <a:gd name="T75" fmla="*/ 823 h 1178"/>
                <a:gd name="T76" fmla="*/ 1949 w 2586"/>
                <a:gd name="T77" fmla="*/ 860 h 1178"/>
                <a:gd name="T78" fmla="*/ 1989 w 2586"/>
                <a:gd name="T79" fmla="*/ 896 h 1178"/>
                <a:gd name="T80" fmla="*/ 2033 w 2586"/>
                <a:gd name="T81" fmla="*/ 932 h 1178"/>
                <a:gd name="T82" fmla="*/ 2078 w 2586"/>
                <a:gd name="T83" fmla="*/ 967 h 1178"/>
                <a:gd name="T84" fmla="*/ 2123 w 2586"/>
                <a:gd name="T85" fmla="*/ 998 h 1178"/>
                <a:gd name="T86" fmla="*/ 2164 w 2586"/>
                <a:gd name="T87" fmla="*/ 1024 h 1178"/>
                <a:gd name="T88" fmla="*/ 2209 w 2586"/>
                <a:gd name="T89" fmla="*/ 1048 h 1178"/>
                <a:gd name="T90" fmla="*/ 2262 w 2586"/>
                <a:gd name="T91" fmla="*/ 1073 h 1178"/>
                <a:gd name="T92" fmla="*/ 2318 w 2586"/>
                <a:gd name="T93" fmla="*/ 1098 h 1178"/>
                <a:gd name="T94" fmla="*/ 2377 w 2586"/>
                <a:gd name="T95" fmla="*/ 1122 h 1178"/>
                <a:gd name="T96" fmla="*/ 2435 w 2586"/>
                <a:gd name="T97" fmla="*/ 1142 h 1178"/>
                <a:gd name="T98" fmla="*/ 2489 w 2586"/>
                <a:gd name="T99" fmla="*/ 1159 h 1178"/>
                <a:gd name="T100" fmla="*/ 2537 w 2586"/>
                <a:gd name="T101" fmla="*/ 1171 h 1178"/>
                <a:gd name="T102" fmla="*/ 2577 w 2586"/>
                <a:gd name="T103" fmla="*/ 1176 h 1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86" h="1178">
                  <a:moveTo>
                    <a:pt x="0" y="1177"/>
                  </a:moveTo>
                  <a:lnTo>
                    <a:pt x="6" y="1175"/>
                  </a:lnTo>
                  <a:lnTo>
                    <a:pt x="14" y="1172"/>
                  </a:lnTo>
                  <a:lnTo>
                    <a:pt x="24" y="1168"/>
                  </a:lnTo>
                  <a:lnTo>
                    <a:pt x="36" y="1164"/>
                  </a:lnTo>
                  <a:lnTo>
                    <a:pt x="48" y="1158"/>
                  </a:lnTo>
                  <a:lnTo>
                    <a:pt x="63" y="1151"/>
                  </a:lnTo>
                  <a:lnTo>
                    <a:pt x="79" y="1144"/>
                  </a:lnTo>
                  <a:lnTo>
                    <a:pt x="96" y="1136"/>
                  </a:lnTo>
                  <a:lnTo>
                    <a:pt x="114" y="1127"/>
                  </a:lnTo>
                  <a:lnTo>
                    <a:pt x="132" y="1117"/>
                  </a:lnTo>
                  <a:lnTo>
                    <a:pt x="152" y="1108"/>
                  </a:lnTo>
                  <a:lnTo>
                    <a:pt x="171" y="1098"/>
                  </a:lnTo>
                  <a:lnTo>
                    <a:pt x="193" y="1087"/>
                  </a:lnTo>
                  <a:lnTo>
                    <a:pt x="213" y="1076"/>
                  </a:lnTo>
                  <a:lnTo>
                    <a:pt x="234" y="1065"/>
                  </a:lnTo>
                  <a:lnTo>
                    <a:pt x="256" y="1054"/>
                  </a:lnTo>
                  <a:lnTo>
                    <a:pt x="277" y="1042"/>
                  </a:lnTo>
                  <a:lnTo>
                    <a:pt x="298" y="1031"/>
                  </a:lnTo>
                  <a:lnTo>
                    <a:pt x="319" y="1020"/>
                  </a:lnTo>
                  <a:lnTo>
                    <a:pt x="340" y="1008"/>
                  </a:lnTo>
                  <a:lnTo>
                    <a:pt x="360" y="998"/>
                  </a:lnTo>
                  <a:lnTo>
                    <a:pt x="379" y="986"/>
                  </a:lnTo>
                  <a:lnTo>
                    <a:pt x="398" y="976"/>
                  </a:lnTo>
                  <a:lnTo>
                    <a:pt x="416" y="966"/>
                  </a:lnTo>
                  <a:lnTo>
                    <a:pt x="432" y="955"/>
                  </a:lnTo>
                  <a:lnTo>
                    <a:pt x="448" y="947"/>
                  </a:lnTo>
                  <a:lnTo>
                    <a:pt x="462" y="938"/>
                  </a:lnTo>
                  <a:lnTo>
                    <a:pt x="475" y="930"/>
                  </a:lnTo>
                  <a:lnTo>
                    <a:pt x="486" y="922"/>
                  </a:lnTo>
                  <a:lnTo>
                    <a:pt x="496" y="916"/>
                  </a:lnTo>
                  <a:lnTo>
                    <a:pt x="504" y="910"/>
                  </a:lnTo>
                  <a:lnTo>
                    <a:pt x="509" y="905"/>
                  </a:lnTo>
                  <a:lnTo>
                    <a:pt x="520" y="896"/>
                  </a:lnTo>
                  <a:lnTo>
                    <a:pt x="529" y="888"/>
                  </a:lnTo>
                  <a:lnTo>
                    <a:pt x="539" y="877"/>
                  </a:lnTo>
                  <a:lnTo>
                    <a:pt x="549" y="868"/>
                  </a:lnTo>
                  <a:lnTo>
                    <a:pt x="558" y="857"/>
                  </a:lnTo>
                  <a:lnTo>
                    <a:pt x="567" y="847"/>
                  </a:lnTo>
                  <a:lnTo>
                    <a:pt x="576" y="836"/>
                  </a:lnTo>
                  <a:lnTo>
                    <a:pt x="586" y="826"/>
                  </a:lnTo>
                  <a:lnTo>
                    <a:pt x="595" y="814"/>
                  </a:lnTo>
                  <a:lnTo>
                    <a:pt x="604" y="803"/>
                  </a:lnTo>
                  <a:lnTo>
                    <a:pt x="613" y="791"/>
                  </a:lnTo>
                  <a:lnTo>
                    <a:pt x="621" y="779"/>
                  </a:lnTo>
                  <a:lnTo>
                    <a:pt x="629" y="767"/>
                  </a:lnTo>
                  <a:lnTo>
                    <a:pt x="638" y="755"/>
                  </a:lnTo>
                  <a:lnTo>
                    <a:pt x="647" y="742"/>
                  </a:lnTo>
                  <a:lnTo>
                    <a:pt x="654" y="730"/>
                  </a:lnTo>
                  <a:lnTo>
                    <a:pt x="670" y="704"/>
                  </a:lnTo>
                  <a:lnTo>
                    <a:pt x="685" y="679"/>
                  </a:lnTo>
                  <a:lnTo>
                    <a:pt x="699" y="655"/>
                  </a:lnTo>
                  <a:lnTo>
                    <a:pt x="713" y="630"/>
                  </a:lnTo>
                  <a:lnTo>
                    <a:pt x="727" y="605"/>
                  </a:lnTo>
                  <a:lnTo>
                    <a:pt x="741" y="580"/>
                  </a:lnTo>
                  <a:lnTo>
                    <a:pt x="754" y="556"/>
                  </a:lnTo>
                  <a:lnTo>
                    <a:pt x="767" y="531"/>
                  </a:lnTo>
                  <a:lnTo>
                    <a:pt x="781" y="507"/>
                  </a:lnTo>
                  <a:lnTo>
                    <a:pt x="794" y="482"/>
                  </a:lnTo>
                  <a:lnTo>
                    <a:pt x="807" y="456"/>
                  </a:lnTo>
                  <a:lnTo>
                    <a:pt x="820" y="431"/>
                  </a:lnTo>
                  <a:lnTo>
                    <a:pt x="834" y="406"/>
                  </a:lnTo>
                  <a:lnTo>
                    <a:pt x="847" y="380"/>
                  </a:lnTo>
                  <a:lnTo>
                    <a:pt x="861" y="355"/>
                  </a:lnTo>
                  <a:lnTo>
                    <a:pt x="875" y="327"/>
                  </a:lnTo>
                  <a:lnTo>
                    <a:pt x="882" y="314"/>
                  </a:lnTo>
                  <a:lnTo>
                    <a:pt x="889" y="300"/>
                  </a:lnTo>
                  <a:lnTo>
                    <a:pt x="898" y="287"/>
                  </a:lnTo>
                  <a:lnTo>
                    <a:pt x="906" y="273"/>
                  </a:lnTo>
                  <a:lnTo>
                    <a:pt x="914" y="259"/>
                  </a:lnTo>
                  <a:lnTo>
                    <a:pt x="923" y="245"/>
                  </a:lnTo>
                  <a:lnTo>
                    <a:pt x="932" y="231"/>
                  </a:lnTo>
                  <a:lnTo>
                    <a:pt x="942" y="217"/>
                  </a:lnTo>
                  <a:lnTo>
                    <a:pt x="952" y="203"/>
                  </a:lnTo>
                  <a:lnTo>
                    <a:pt x="962" y="189"/>
                  </a:lnTo>
                  <a:lnTo>
                    <a:pt x="973" y="176"/>
                  </a:lnTo>
                  <a:lnTo>
                    <a:pt x="984" y="162"/>
                  </a:lnTo>
                  <a:lnTo>
                    <a:pt x="995" y="149"/>
                  </a:lnTo>
                  <a:lnTo>
                    <a:pt x="1006" y="136"/>
                  </a:lnTo>
                  <a:lnTo>
                    <a:pt x="1018" y="124"/>
                  </a:lnTo>
                  <a:lnTo>
                    <a:pt x="1030" y="112"/>
                  </a:lnTo>
                  <a:lnTo>
                    <a:pt x="1042" y="100"/>
                  </a:lnTo>
                  <a:lnTo>
                    <a:pt x="1054" y="89"/>
                  </a:lnTo>
                  <a:lnTo>
                    <a:pt x="1067" y="78"/>
                  </a:lnTo>
                  <a:lnTo>
                    <a:pt x="1079" y="68"/>
                  </a:lnTo>
                  <a:lnTo>
                    <a:pt x="1093" y="58"/>
                  </a:lnTo>
                  <a:lnTo>
                    <a:pt x="1105" y="49"/>
                  </a:lnTo>
                  <a:lnTo>
                    <a:pt x="1119" y="41"/>
                  </a:lnTo>
                  <a:lnTo>
                    <a:pt x="1132" y="33"/>
                  </a:lnTo>
                  <a:lnTo>
                    <a:pt x="1146" y="26"/>
                  </a:lnTo>
                  <a:lnTo>
                    <a:pt x="1160" y="20"/>
                  </a:lnTo>
                  <a:lnTo>
                    <a:pt x="1174" y="14"/>
                  </a:lnTo>
                  <a:lnTo>
                    <a:pt x="1188" y="10"/>
                  </a:lnTo>
                  <a:lnTo>
                    <a:pt x="1202" y="6"/>
                  </a:lnTo>
                  <a:lnTo>
                    <a:pt x="1217" y="2"/>
                  </a:lnTo>
                  <a:lnTo>
                    <a:pt x="1231" y="1"/>
                  </a:lnTo>
                  <a:lnTo>
                    <a:pt x="1246" y="0"/>
                  </a:lnTo>
                  <a:lnTo>
                    <a:pt x="1260" y="0"/>
                  </a:lnTo>
                  <a:lnTo>
                    <a:pt x="1274" y="1"/>
                  </a:lnTo>
                  <a:lnTo>
                    <a:pt x="1288" y="2"/>
                  </a:lnTo>
                  <a:lnTo>
                    <a:pt x="1302" y="2"/>
                  </a:lnTo>
                  <a:lnTo>
                    <a:pt x="1315" y="5"/>
                  </a:lnTo>
                  <a:lnTo>
                    <a:pt x="1328" y="7"/>
                  </a:lnTo>
                  <a:lnTo>
                    <a:pt x="1341" y="11"/>
                  </a:lnTo>
                  <a:lnTo>
                    <a:pt x="1353" y="14"/>
                  </a:lnTo>
                  <a:lnTo>
                    <a:pt x="1365" y="18"/>
                  </a:lnTo>
                  <a:lnTo>
                    <a:pt x="1378" y="24"/>
                  </a:lnTo>
                  <a:lnTo>
                    <a:pt x="1390" y="29"/>
                  </a:lnTo>
                  <a:lnTo>
                    <a:pt x="1401" y="36"/>
                  </a:lnTo>
                  <a:lnTo>
                    <a:pt x="1413" y="42"/>
                  </a:lnTo>
                  <a:lnTo>
                    <a:pt x="1425" y="50"/>
                  </a:lnTo>
                  <a:lnTo>
                    <a:pt x="1437" y="57"/>
                  </a:lnTo>
                  <a:lnTo>
                    <a:pt x="1449" y="66"/>
                  </a:lnTo>
                  <a:lnTo>
                    <a:pt x="1460" y="75"/>
                  </a:lnTo>
                  <a:lnTo>
                    <a:pt x="1472" y="85"/>
                  </a:lnTo>
                  <a:lnTo>
                    <a:pt x="1483" y="96"/>
                  </a:lnTo>
                  <a:lnTo>
                    <a:pt x="1495" y="107"/>
                  </a:lnTo>
                  <a:lnTo>
                    <a:pt x="1506" y="118"/>
                  </a:lnTo>
                  <a:lnTo>
                    <a:pt x="1518" y="131"/>
                  </a:lnTo>
                  <a:lnTo>
                    <a:pt x="1530" y="145"/>
                  </a:lnTo>
                  <a:lnTo>
                    <a:pt x="1542" y="158"/>
                  </a:lnTo>
                  <a:lnTo>
                    <a:pt x="1554" y="173"/>
                  </a:lnTo>
                  <a:lnTo>
                    <a:pt x="1566" y="188"/>
                  </a:lnTo>
                  <a:lnTo>
                    <a:pt x="1578" y="204"/>
                  </a:lnTo>
                  <a:lnTo>
                    <a:pt x="1591" y="221"/>
                  </a:lnTo>
                  <a:lnTo>
                    <a:pt x="1604" y="238"/>
                  </a:lnTo>
                  <a:lnTo>
                    <a:pt x="1617" y="256"/>
                  </a:lnTo>
                  <a:lnTo>
                    <a:pt x="1630" y="275"/>
                  </a:lnTo>
                  <a:lnTo>
                    <a:pt x="1644" y="295"/>
                  </a:lnTo>
                  <a:lnTo>
                    <a:pt x="1661" y="322"/>
                  </a:lnTo>
                  <a:lnTo>
                    <a:pt x="1678" y="350"/>
                  </a:lnTo>
                  <a:lnTo>
                    <a:pt x="1693" y="379"/>
                  </a:lnTo>
                  <a:lnTo>
                    <a:pt x="1707" y="407"/>
                  </a:lnTo>
                  <a:lnTo>
                    <a:pt x="1721" y="437"/>
                  </a:lnTo>
                  <a:lnTo>
                    <a:pt x="1734" y="468"/>
                  </a:lnTo>
                  <a:lnTo>
                    <a:pt x="1746" y="498"/>
                  </a:lnTo>
                  <a:lnTo>
                    <a:pt x="1760" y="529"/>
                  </a:lnTo>
                  <a:lnTo>
                    <a:pt x="1772" y="560"/>
                  </a:lnTo>
                  <a:lnTo>
                    <a:pt x="1784" y="590"/>
                  </a:lnTo>
                  <a:lnTo>
                    <a:pt x="1797" y="622"/>
                  </a:lnTo>
                  <a:lnTo>
                    <a:pt x="1810" y="651"/>
                  </a:lnTo>
                  <a:lnTo>
                    <a:pt x="1824" y="681"/>
                  </a:lnTo>
                  <a:lnTo>
                    <a:pt x="1838" y="711"/>
                  </a:lnTo>
                  <a:lnTo>
                    <a:pt x="1853" y="741"/>
                  </a:lnTo>
                  <a:lnTo>
                    <a:pt x="1869" y="769"/>
                  </a:lnTo>
                  <a:lnTo>
                    <a:pt x="1874" y="775"/>
                  </a:lnTo>
                  <a:lnTo>
                    <a:pt x="1878" y="783"/>
                  </a:lnTo>
                  <a:lnTo>
                    <a:pt x="1885" y="791"/>
                  </a:lnTo>
                  <a:lnTo>
                    <a:pt x="1890" y="798"/>
                  </a:lnTo>
                  <a:lnTo>
                    <a:pt x="1897" y="807"/>
                  </a:lnTo>
                  <a:lnTo>
                    <a:pt x="1905" y="815"/>
                  </a:lnTo>
                  <a:lnTo>
                    <a:pt x="1913" y="823"/>
                  </a:lnTo>
                  <a:lnTo>
                    <a:pt x="1921" y="832"/>
                  </a:lnTo>
                  <a:lnTo>
                    <a:pt x="1930" y="841"/>
                  </a:lnTo>
                  <a:lnTo>
                    <a:pt x="1938" y="851"/>
                  </a:lnTo>
                  <a:lnTo>
                    <a:pt x="1949" y="860"/>
                  </a:lnTo>
                  <a:lnTo>
                    <a:pt x="1958" y="869"/>
                  </a:lnTo>
                  <a:lnTo>
                    <a:pt x="1968" y="878"/>
                  </a:lnTo>
                  <a:lnTo>
                    <a:pt x="1979" y="887"/>
                  </a:lnTo>
                  <a:lnTo>
                    <a:pt x="1989" y="896"/>
                  </a:lnTo>
                  <a:lnTo>
                    <a:pt x="2000" y="905"/>
                  </a:lnTo>
                  <a:lnTo>
                    <a:pt x="2010" y="914"/>
                  </a:lnTo>
                  <a:lnTo>
                    <a:pt x="2022" y="924"/>
                  </a:lnTo>
                  <a:lnTo>
                    <a:pt x="2033" y="932"/>
                  </a:lnTo>
                  <a:lnTo>
                    <a:pt x="2044" y="941"/>
                  </a:lnTo>
                  <a:lnTo>
                    <a:pt x="2055" y="951"/>
                  </a:lnTo>
                  <a:lnTo>
                    <a:pt x="2067" y="959"/>
                  </a:lnTo>
                  <a:lnTo>
                    <a:pt x="2078" y="967"/>
                  </a:lnTo>
                  <a:lnTo>
                    <a:pt x="2089" y="975"/>
                  </a:lnTo>
                  <a:lnTo>
                    <a:pt x="2101" y="983"/>
                  </a:lnTo>
                  <a:lnTo>
                    <a:pt x="2111" y="991"/>
                  </a:lnTo>
                  <a:lnTo>
                    <a:pt x="2123" y="998"/>
                  </a:lnTo>
                  <a:lnTo>
                    <a:pt x="2133" y="1005"/>
                  </a:lnTo>
                  <a:lnTo>
                    <a:pt x="2144" y="1012"/>
                  </a:lnTo>
                  <a:lnTo>
                    <a:pt x="2154" y="1017"/>
                  </a:lnTo>
                  <a:lnTo>
                    <a:pt x="2164" y="1024"/>
                  </a:lnTo>
                  <a:lnTo>
                    <a:pt x="2174" y="1029"/>
                  </a:lnTo>
                  <a:lnTo>
                    <a:pt x="2185" y="1036"/>
                  </a:lnTo>
                  <a:lnTo>
                    <a:pt x="2197" y="1041"/>
                  </a:lnTo>
                  <a:lnTo>
                    <a:pt x="2209" y="1048"/>
                  </a:lnTo>
                  <a:lnTo>
                    <a:pt x="2222" y="1054"/>
                  </a:lnTo>
                  <a:lnTo>
                    <a:pt x="2234" y="1060"/>
                  </a:lnTo>
                  <a:lnTo>
                    <a:pt x="2249" y="1066"/>
                  </a:lnTo>
                  <a:lnTo>
                    <a:pt x="2262" y="1073"/>
                  </a:lnTo>
                  <a:lnTo>
                    <a:pt x="2275" y="1079"/>
                  </a:lnTo>
                  <a:lnTo>
                    <a:pt x="2290" y="1085"/>
                  </a:lnTo>
                  <a:lnTo>
                    <a:pt x="2305" y="1092"/>
                  </a:lnTo>
                  <a:lnTo>
                    <a:pt x="2318" y="1098"/>
                  </a:lnTo>
                  <a:lnTo>
                    <a:pt x="2333" y="1104"/>
                  </a:lnTo>
                  <a:lnTo>
                    <a:pt x="2348" y="1109"/>
                  </a:lnTo>
                  <a:lnTo>
                    <a:pt x="2362" y="1116"/>
                  </a:lnTo>
                  <a:lnTo>
                    <a:pt x="2377" y="1122"/>
                  </a:lnTo>
                  <a:lnTo>
                    <a:pt x="2392" y="1127"/>
                  </a:lnTo>
                  <a:lnTo>
                    <a:pt x="2407" y="1132"/>
                  </a:lnTo>
                  <a:lnTo>
                    <a:pt x="2421" y="1137"/>
                  </a:lnTo>
                  <a:lnTo>
                    <a:pt x="2435" y="1142"/>
                  </a:lnTo>
                  <a:lnTo>
                    <a:pt x="2448" y="1146"/>
                  </a:lnTo>
                  <a:lnTo>
                    <a:pt x="2463" y="1151"/>
                  </a:lnTo>
                  <a:lnTo>
                    <a:pt x="2476" y="1156"/>
                  </a:lnTo>
                  <a:lnTo>
                    <a:pt x="2489" y="1159"/>
                  </a:lnTo>
                  <a:lnTo>
                    <a:pt x="2502" y="1162"/>
                  </a:lnTo>
                  <a:lnTo>
                    <a:pt x="2514" y="1165"/>
                  </a:lnTo>
                  <a:lnTo>
                    <a:pt x="2526" y="1169"/>
                  </a:lnTo>
                  <a:lnTo>
                    <a:pt x="2537" y="1171"/>
                  </a:lnTo>
                  <a:lnTo>
                    <a:pt x="2548" y="1173"/>
                  </a:lnTo>
                  <a:lnTo>
                    <a:pt x="2558" y="1175"/>
                  </a:lnTo>
                  <a:lnTo>
                    <a:pt x="2568" y="1176"/>
                  </a:lnTo>
                  <a:lnTo>
                    <a:pt x="2577" y="1176"/>
                  </a:lnTo>
                  <a:lnTo>
                    <a:pt x="2585" y="1177"/>
                  </a:lnTo>
                </a:path>
              </a:pathLst>
            </a:custGeom>
            <a:noFill/>
            <a:ln w="50800" cap="rnd" cmpd="sng">
              <a:solidFill>
                <a:srgbClr val="02B67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nvGrpSpPr>
          <p:cNvPr id="19" name="Group 18"/>
          <p:cNvGrpSpPr/>
          <p:nvPr/>
        </p:nvGrpSpPr>
        <p:grpSpPr>
          <a:xfrm>
            <a:off x="3841899" y="1655135"/>
            <a:ext cx="392287" cy="2764465"/>
            <a:chOff x="3841899" y="1883735"/>
            <a:chExt cx="392287" cy="2764465"/>
          </a:xfrm>
        </p:grpSpPr>
        <p:cxnSp>
          <p:nvCxnSpPr>
            <p:cNvPr id="10" name="Straight Connector 9"/>
            <p:cNvCxnSpPr/>
            <p:nvPr/>
          </p:nvCxnSpPr>
          <p:spPr>
            <a:xfrm flipV="1">
              <a:off x="4038600" y="2286000"/>
              <a:ext cx="0" cy="2362200"/>
            </a:xfrm>
            <a:prstGeom prst="line">
              <a:avLst/>
            </a:prstGeom>
            <a:ln>
              <a:prstDash val="sysDash"/>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13" name="TextBox 12"/>
                <p:cNvSpPr txBox="1"/>
                <p:nvPr/>
              </p:nvSpPr>
              <p:spPr>
                <a:xfrm>
                  <a:off x="3841899" y="1883735"/>
                  <a:ext cx="392287" cy="39241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GB" i="1" dirty="0">
                                <a:latin typeface="Cambria Math" panose="02040503050406030204" pitchFamily="18" charset="0"/>
                              </a:rPr>
                            </m:ctrlPr>
                          </m:accPr>
                          <m:e>
                            <m:r>
                              <a:rPr lang="en-GB" i="1" dirty="0">
                                <a:latin typeface="Cambria Math"/>
                              </a:rPr>
                              <m:t>𝑋</m:t>
                            </m:r>
                          </m:e>
                        </m:acc>
                      </m:oMath>
                    </m:oMathPara>
                  </a14:m>
                  <a:endParaRPr lang="en-GB" dirty="0"/>
                </a:p>
              </p:txBody>
            </p:sp>
          </mc:Choice>
          <mc:Fallback xmlns="">
            <p:sp>
              <p:nvSpPr>
                <p:cNvPr id="13" name="TextBox 12"/>
                <p:cNvSpPr txBox="1">
                  <a:spLocks noRot="1" noChangeAspect="1" noMove="1" noResize="1" noEditPoints="1" noAdjustHandles="1" noChangeArrowheads="1" noChangeShapeType="1" noTextEdit="1"/>
                </p:cNvSpPr>
                <p:nvPr/>
              </p:nvSpPr>
              <p:spPr>
                <a:xfrm>
                  <a:off x="3841899" y="1883735"/>
                  <a:ext cx="392287" cy="392415"/>
                </a:xfrm>
                <a:prstGeom prst="rect">
                  <a:avLst/>
                </a:prstGeom>
                <a:blipFill rotWithShape="1">
                  <a:blip r:embed="rId3"/>
                  <a:stretch>
                    <a:fillRect t="-12500" r="-16923"/>
                  </a:stretch>
                </a:blipFill>
              </p:spPr>
              <p:txBody>
                <a:bodyPr/>
                <a:lstStyle/>
                <a:p>
                  <a:r>
                    <a:rPr lang="en-GB">
                      <a:noFill/>
                    </a:rPr>
                    <a:t> </a:t>
                  </a:r>
                </a:p>
              </p:txBody>
            </p:sp>
          </mc:Fallback>
        </mc:AlternateContent>
      </p:grpSp>
      <p:grpSp>
        <p:nvGrpSpPr>
          <p:cNvPr id="43" name="Group 42"/>
          <p:cNvGrpSpPr/>
          <p:nvPr/>
        </p:nvGrpSpPr>
        <p:grpSpPr>
          <a:xfrm>
            <a:off x="2111680" y="2209800"/>
            <a:ext cx="3684250" cy="2209800"/>
            <a:chOff x="2111680" y="2438400"/>
            <a:chExt cx="3684250" cy="2209800"/>
          </a:xfrm>
        </p:grpSpPr>
        <p:grpSp>
          <p:nvGrpSpPr>
            <p:cNvPr id="20" name="Group 19"/>
            <p:cNvGrpSpPr/>
            <p:nvPr/>
          </p:nvGrpSpPr>
          <p:grpSpPr>
            <a:xfrm>
              <a:off x="2111680" y="2438400"/>
              <a:ext cx="478529" cy="2209800"/>
              <a:chOff x="3874913" y="1883735"/>
              <a:chExt cx="478529" cy="2764465"/>
            </a:xfrm>
          </p:grpSpPr>
          <p:cxnSp>
            <p:nvCxnSpPr>
              <p:cNvPr id="21" name="Straight Connector 20"/>
              <p:cNvCxnSpPr/>
              <p:nvPr/>
            </p:nvCxnSpPr>
            <p:spPr>
              <a:xfrm flipV="1">
                <a:off x="4038600" y="2286000"/>
                <a:ext cx="0" cy="2362200"/>
              </a:xfrm>
              <a:prstGeom prst="line">
                <a:avLst/>
              </a:prstGeom>
              <a:ln>
                <a:solidFill>
                  <a:srgbClr val="FF0000"/>
                </a:solidFill>
                <a:prstDash val="sysDot"/>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22" name="TextBox 21"/>
                  <p:cNvSpPr txBox="1"/>
                  <p:nvPr/>
                </p:nvSpPr>
                <p:spPr>
                  <a:xfrm>
                    <a:off x="3874913" y="1883735"/>
                    <a:ext cx="478529" cy="462035"/>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i="1" dirty="0" smtClean="0">
                                  <a:solidFill>
                                    <a:srgbClr val="FF0000"/>
                                  </a:solidFill>
                                  <a:latin typeface="Cambria Math" panose="02040503050406030204" pitchFamily="18" charset="0"/>
                                </a:rPr>
                              </m:ctrlPr>
                            </m:sSubPr>
                            <m:e>
                              <m:acc>
                                <m:accPr>
                                  <m:chr m:val="̅"/>
                                  <m:ctrlPr>
                                    <a:rPr lang="en-GB" i="1" dirty="0">
                                      <a:solidFill>
                                        <a:srgbClr val="FF0000"/>
                                      </a:solidFill>
                                      <a:latin typeface="Cambria Math" panose="02040503050406030204" pitchFamily="18" charset="0"/>
                                    </a:rPr>
                                  </m:ctrlPr>
                                </m:accPr>
                                <m:e>
                                  <m:r>
                                    <a:rPr lang="en-GB" b="0" i="1" dirty="0" smtClean="0">
                                      <a:solidFill>
                                        <a:srgbClr val="FF0000"/>
                                      </a:solidFill>
                                      <a:latin typeface="Cambria Math"/>
                                    </a:rPr>
                                    <m:t>𝑋</m:t>
                                  </m:r>
                                </m:e>
                              </m:acc>
                            </m:e>
                            <m:sub>
                              <m:r>
                                <a:rPr lang="en-GB" b="0" i="1" dirty="0" smtClean="0">
                                  <a:solidFill>
                                    <a:srgbClr val="FF0000"/>
                                  </a:solidFill>
                                  <a:latin typeface="Cambria Math"/>
                                </a:rPr>
                                <m:t>1</m:t>
                              </m:r>
                            </m:sub>
                          </m:sSub>
                        </m:oMath>
                      </m:oMathPara>
                    </a14:m>
                    <a:endParaRPr lang="en-GB" dirty="0">
                      <a:solidFill>
                        <a:srgbClr val="FF0000"/>
                      </a:solidFill>
                    </a:endParaRPr>
                  </a:p>
                </p:txBody>
              </p:sp>
            </mc:Choice>
            <mc:Fallback xmlns="">
              <p:sp>
                <p:nvSpPr>
                  <p:cNvPr id="22" name="TextBox 21"/>
                  <p:cNvSpPr txBox="1">
                    <a:spLocks noRot="1" noChangeAspect="1" noMove="1" noResize="1" noEditPoints="1" noAdjustHandles="1" noChangeArrowheads="1" noChangeShapeType="1" noTextEdit="1"/>
                  </p:cNvSpPr>
                  <p:nvPr/>
                </p:nvSpPr>
                <p:spPr>
                  <a:xfrm>
                    <a:off x="3874913" y="1883735"/>
                    <a:ext cx="478529" cy="462035"/>
                  </a:xfrm>
                  <a:prstGeom prst="rect">
                    <a:avLst/>
                  </a:prstGeom>
                  <a:blipFill rotWithShape="1">
                    <a:blip r:embed="rId4"/>
                    <a:stretch>
                      <a:fillRect r="-2532"/>
                    </a:stretch>
                  </a:blipFill>
                  <a:ln>
                    <a:noFill/>
                  </a:ln>
                </p:spPr>
                <p:txBody>
                  <a:bodyPr/>
                  <a:lstStyle/>
                  <a:p>
                    <a:r>
                      <a:rPr lang="en-GB">
                        <a:noFill/>
                      </a:rPr>
                      <a:t> </a:t>
                    </a:r>
                  </a:p>
                </p:txBody>
              </p:sp>
            </mc:Fallback>
          </mc:AlternateContent>
        </p:grpSp>
        <p:grpSp>
          <p:nvGrpSpPr>
            <p:cNvPr id="23" name="Group 22"/>
            <p:cNvGrpSpPr/>
            <p:nvPr/>
          </p:nvGrpSpPr>
          <p:grpSpPr>
            <a:xfrm>
              <a:off x="4463247" y="2438400"/>
              <a:ext cx="483850" cy="2209800"/>
              <a:chOff x="3874913" y="1883735"/>
              <a:chExt cx="483850" cy="2764465"/>
            </a:xfrm>
          </p:grpSpPr>
          <p:cxnSp>
            <p:nvCxnSpPr>
              <p:cNvPr id="24" name="Straight Connector 23"/>
              <p:cNvCxnSpPr/>
              <p:nvPr/>
            </p:nvCxnSpPr>
            <p:spPr>
              <a:xfrm flipV="1">
                <a:off x="4038600" y="2286000"/>
                <a:ext cx="0" cy="2362200"/>
              </a:xfrm>
              <a:prstGeom prst="line">
                <a:avLst/>
              </a:prstGeom>
              <a:ln>
                <a:solidFill>
                  <a:schemeClr val="accent1"/>
                </a:solidFill>
                <a:prstDash val="sysDot"/>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25" name="TextBox 24"/>
                  <p:cNvSpPr txBox="1"/>
                  <p:nvPr/>
                </p:nvSpPr>
                <p:spPr>
                  <a:xfrm>
                    <a:off x="3874913" y="1883735"/>
                    <a:ext cx="483850" cy="462035"/>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i="1" dirty="0" smtClean="0">
                                  <a:solidFill>
                                    <a:schemeClr val="tx2"/>
                                  </a:solidFill>
                                  <a:latin typeface="Cambria Math" panose="02040503050406030204" pitchFamily="18" charset="0"/>
                                </a:rPr>
                              </m:ctrlPr>
                            </m:sSubPr>
                            <m:e>
                              <m:acc>
                                <m:accPr>
                                  <m:chr m:val="̅"/>
                                  <m:ctrlPr>
                                    <a:rPr lang="en-GB" i="1" dirty="0">
                                      <a:solidFill>
                                        <a:schemeClr val="tx2"/>
                                      </a:solidFill>
                                      <a:latin typeface="Cambria Math" panose="02040503050406030204" pitchFamily="18" charset="0"/>
                                    </a:rPr>
                                  </m:ctrlPr>
                                </m:accPr>
                                <m:e>
                                  <m:r>
                                    <a:rPr lang="en-GB" i="1" dirty="0">
                                      <a:solidFill>
                                        <a:schemeClr val="tx2"/>
                                      </a:solidFill>
                                      <a:latin typeface="Cambria Math"/>
                                    </a:rPr>
                                    <m:t>𝑋</m:t>
                                  </m:r>
                                </m:e>
                              </m:acc>
                            </m:e>
                            <m:sub>
                              <m:r>
                                <a:rPr lang="en-GB" b="0" i="1" dirty="0" smtClean="0">
                                  <a:solidFill>
                                    <a:schemeClr val="tx2"/>
                                  </a:solidFill>
                                  <a:latin typeface="Cambria Math"/>
                                </a:rPr>
                                <m:t>2</m:t>
                              </m:r>
                            </m:sub>
                          </m:sSub>
                        </m:oMath>
                      </m:oMathPara>
                    </a14:m>
                    <a:endParaRPr lang="en-GB" dirty="0">
                      <a:solidFill>
                        <a:schemeClr val="tx2"/>
                      </a:solidFill>
                    </a:endParaRPr>
                  </a:p>
                </p:txBody>
              </p:sp>
            </mc:Choice>
            <mc:Fallback xmlns="">
              <p:sp>
                <p:nvSpPr>
                  <p:cNvPr id="25" name="TextBox 24"/>
                  <p:cNvSpPr txBox="1">
                    <a:spLocks noRot="1" noChangeAspect="1" noMove="1" noResize="1" noEditPoints="1" noAdjustHandles="1" noChangeArrowheads="1" noChangeShapeType="1" noTextEdit="1"/>
                  </p:cNvSpPr>
                  <p:nvPr/>
                </p:nvSpPr>
                <p:spPr>
                  <a:xfrm>
                    <a:off x="3874913" y="1883735"/>
                    <a:ext cx="483850" cy="462035"/>
                  </a:xfrm>
                  <a:prstGeom prst="rect">
                    <a:avLst/>
                  </a:prstGeom>
                  <a:blipFill rotWithShape="1">
                    <a:blip r:embed="rId5"/>
                    <a:stretch>
                      <a:fillRect r="-2500"/>
                    </a:stretch>
                  </a:blipFill>
                  <a:ln>
                    <a:noFill/>
                  </a:ln>
                </p:spPr>
                <p:txBody>
                  <a:bodyPr/>
                  <a:lstStyle/>
                  <a:p>
                    <a:r>
                      <a:rPr lang="en-GB">
                        <a:noFill/>
                      </a:rPr>
                      <a:t> </a:t>
                    </a:r>
                  </a:p>
                </p:txBody>
              </p:sp>
            </mc:Fallback>
          </mc:AlternateContent>
        </p:grpSp>
        <p:grpSp>
          <p:nvGrpSpPr>
            <p:cNvPr id="26" name="Group 25"/>
            <p:cNvGrpSpPr/>
            <p:nvPr/>
          </p:nvGrpSpPr>
          <p:grpSpPr>
            <a:xfrm>
              <a:off x="5312080" y="2438400"/>
              <a:ext cx="483850" cy="2209800"/>
              <a:chOff x="3874913" y="1883735"/>
              <a:chExt cx="483850" cy="2764465"/>
            </a:xfrm>
          </p:grpSpPr>
          <p:cxnSp>
            <p:nvCxnSpPr>
              <p:cNvPr id="27" name="Straight Connector 26"/>
              <p:cNvCxnSpPr/>
              <p:nvPr/>
            </p:nvCxnSpPr>
            <p:spPr>
              <a:xfrm flipV="1">
                <a:off x="4038600" y="2286000"/>
                <a:ext cx="0" cy="2362200"/>
              </a:xfrm>
              <a:prstGeom prst="line">
                <a:avLst/>
              </a:prstGeom>
              <a:ln>
                <a:solidFill>
                  <a:srgbClr val="00B050"/>
                </a:solidFill>
                <a:prstDash val="sysDot"/>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28" name="TextBox 27"/>
                  <p:cNvSpPr txBox="1"/>
                  <p:nvPr/>
                </p:nvSpPr>
                <p:spPr>
                  <a:xfrm>
                    <a:off x="3874913" y="1883735"/>
                    <a:ext cx="483850" cy="462035"/>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i="1" dirty="0" smtClean="0">
                                  <a:solidFill>
                                    <a:srgbClr val="00B050"/>
                                  </a:solidFill>
                                  <a:latin typeface="Cambria Math" panose="02040503050406030204" pitchFamily="18" charset="0"/>
                                </a:rPr>
                              </m:ctrlPr>
                            </m:sSubPr>
                            <m:e>
                              <m:acc>
                                <m:accPr>
                                  <m:chr m:val="̅"/>
                                  <m:ctrlPr>
                                    <a:rPr lang="en-GB" i="1" dirty="0">
                                      <a:solidFill>
                                        <a:srgbClr val="00B050"/>
                                      </a:solidFill>
                                      <a:latin typeface="Cambria Math" panose="02040503050406030204" pitchFamily="18" charset="0"/>
                                    </a:rPr>
                                  </m:ctrlPr>
                                </m:accPr>
                                <m:e>
                                  <m:r>
                                    <a:rPr lang="en-GB" i="1" dirty="0">
                                      <a:solidFill>
                                        <a:srgbClr val="00B050"/>
                                      </a:solidFill>
                                      <a:latin typeface="Cambria Math"/>
                                    </a:rPr>
                                    <m:t>𝑋</m:t>
                                  </m:r>
                                </m:e>
                              </m:acc>
                            </m:e>
                            <m:sub>
                              <m:r>
                                <a:rPr lang="en-GB" b="0" i="1" dirty="0" smtClean="0">
                                  <a:solidFill>
                                    <a:srgbClr val="00B050"/>
                                  </a:solidFill>
                                  <a:latin typeface="Cambria Math"/>
                                </a:rPr>
                                <m:t>3</m:t>
                              </m:r>
                            </m:sub>
                          </m:sSub>
                        </m:oMath>
                      </m:oMathPara>
                    </a14:m>
                    <a:endParaRPr lang="en-GB" dirty="0">
                      <a:solidFill>
                        <a:srgbClr val="00B050"/>
                      </a:solidFill>
                    </a:endParaRPr>
                  </a:p>
                </p:txBody>
              </p:sp>
            </mc:Choice>
            <mc:Fallback xmlns="">
              <p:sp>
                <p:nvSpPr>
                  <p:cNvPr id="28" name="TextBox 27"/>
                  <p:cNvSpPr txBox="1">
                    <a:spLocks noRot="1" noChangeAspect="1" noMove="1" noResize="1" noEditPoints="1" noAdjustHandles="1" noChangeArrowheads="1" noChangeShapeType="1" noTextEdit="1"/>
                  </p:cNvSpPr>
                  <p:nvPr/>
                </p:nvSpPr>
                <p:spPr>
                  <a:xfrm>
                    <a:off x="3874913" y="1883735"/>
                    <a:ext cx="483850" cy="462035"/>
                  </a:xfrm>
                  <a:prstGeom prst="rect">
                    <a:avLst/>
                  </a:prstGeom>
                  <a:blipFill rotWithShape="1">
                    <a:blip r:embed="rId6"/>
                    <a:stretch>
                      <a:fillRect r="-2500"/>
                    </a:stretch>
                  </a:blipFill>
                  <a:ln>
                    <a:noFill/>
                  </a:ln>
                </p:spPr>
                <p:txBody>
                  <a:bodyPr/>
                  <a:lstStyle/>
                  <a:p>
                    <a:r>
                      <a:rPr lang="en-GB">
                        <a:noFill/>
                      </a:rPr>
                      <a:t> </a:t>
                    </a:r>
                  </a:p>
                </p:txBody>
              </p:sp>
            </mc:Fallback>
          </mc:AlternateContent>
        </p:grpSp>
      </p:grpSp>
      <p:grpSp>
        <p:nvGrpSpPr>
          <p:cNvPr id="42" name="Group 41"/>
          <p:cNvGrpSpPr/>
          <p:nvPr/>
        </p:nvGrpSpPr>
        <p:grpSpPr>
          <a:xfrm>
            <a:off x="1860699" y="3810000"/>
            <a:ext cx="4002180" cy="0"/>
            <a:chOff x="1860699" y="4038600"/>
            <a:chExt cx="4002180" cy="0"/>
          </a:xfrm>
        </p:grpSpPr>
        <p:cxnSp>
          <p:nvCxnSpPr>
            <p:cNvPr id="30" name="Straight Arrow Connector 29"/>
            <p:cNvCxnSpPr/>
            <p:nvPr/>
          </p:nvCxnSpPr>
          <p:spPr>
            <a:xfrm flipH="1">
              <a:off x="1860699" y="4038600"/>
              <a:ext cx="789378" cy="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flipH="1">
              <a:off x="4222899" y="4038600"/>
              <a:ext cx="789378" cy="0"/>
            </a:xfrm>
            <a:prstGeom prst="straightConnector1">
              <a:avLst/>
            </a:prstGeom>
            <a:ln>
              <a:solidFill>
                <a:srgbClr val="0070C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flipH="1">
              <a:off x="5073501" y="4038600"/>
              <a:ext cx="789378" cy="0"/>
            </a:xfrm>
            <a:prstGeom prst="straightConnector1">
              <a:avLst/>
            </a:prstGeom>
            <a:ln>
              <a:solidFill>
                <a:srgbClr val="00B050"/>
              </a:solidFill>
              <a:headEnd type="arrow"/>
              <a:tailEnd type="arrow"/>
            </a:ln>
          </p:spPr>
          <p:style>
            <a:lnRef idx="1">
              <a:schemeClr val="accent1"/>
            </a:lnRef>
            <a:fillRef idx="0">
              <a:schemeClr val="accent1"/>
            </a:fillRef>
            <a:effectRef idx="0">
              <a:schemeClr val="accent1"/>
            </a:effectRef>
            <a:fontRef idx="minor">
              <a:schemeClr val="tx1"/>
            </a:fontRef>
          </p:style>
        </p:cxnSp>
      </p:grpSp>
      <p:grpSp>
        <p:nvGrpSpPr>
          <p:cNvPr id="41" name="Group 40"/>
          <p:cNvGrpSpPr/>
          <p:nvPr/>
        </p:nvGrpSpPr>
        <p:grpSpPr>
          <a:xfrm>
            <a:off x="2286000" y="2579132"/>
            <a:ext cx="3182190" cy="164068"/>
            <a:chOff x="2286000" y="2807732"/>
            <a:chExt cx="3182190" cy="164068"/>
          </a:xfrm>
        </p:grpSpPr>
        <p:cxnSp>
          <p:nvCxnSpPr>
            <p:cNvPr id="35" name="Straight Arrow Connector 34"/>
            <p:cNvCxnSpPr/>
            <p:nvPr/>
          </p:nvCxnSpPr>
          <p:spPr>
            <a:xfrm flipH="1">
              <a:off x="2286000" y="2895600"/>
              <a:ext cx="1752600" cy="0"/>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H="1">
              <a:off x="4038600" y="2971800"/>
              <a:ext cx="1429590" cy="0"/>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H="1">
              <a:off x="4038600" y="2807732"/>
              <a:ext cx="578988" cy="0"/>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grpSp>
      <p:grpSp>
        <p:nvGrpSpPr>
          <p:cNvPr id="15" name="Group 14"/>
          <p:cNvGrpSpPr/>
          <p:nvPr/>
        </p:nvGrpSpPr>
        <p:grpSpPr>
          <a:xfrm>
            <a:off x="6167679" y="1371600"/>
            <a:ext cx="2855632" cy="1775555"/>
            <a:chOff x="6167679" y="1600200"/>
            <a:chExt cx="2855632" cy="1775555"/>
          </a:xfrm>
          <a:solidFill>
            <a:schemeClr val="tx2">
              <a:lumMod val="20000"/>
              <a:lumOff val="80000"/>
            </a:schemeClr>
          </a:solidFill>
        </p:grpSpPr>
        <p:grpSp>
          <p:nvGrpSpPr>
            <p:cNvPr id="4" name="Group 3"/>
            <p:cNvGrpSpPr/>
            <p:nvPr/>
          </p:nvGrpSpPr>
          <p:grpSpPr>
            <a:xfrm>
              <a:off x="6167679" y="2078169"/>
              <a:ext cx="2855632" cy="1297586"/>
              <a:chOff x="6015279" y="1614768"/>
              <a:chExt cx="2325963" cy="1297586"/>
            </a:xfrm>
            <a:grpFill/>
          </p:grpSpPr>
          <p:sp>
            <p:nvSpPr>
              <p:cNvPr id="44" name="Rectangular Callout 43"/>
              <p:cNvSpPr/>
              <p:nvPr/>
            </p:nvSpPr>
            <p:spPr>
              <a:xfrm>
                <a:off x="6015279" y="1614768"/>
                <a:ext cx="2325963" cy="1295400"/>
              </a:xfrm>
              <a:prstGeom prst="wedgeRectCallout">
                <a:avLst>
                  <a:gd name="adj1" fmla="val -107405"/>
                  <a:gd name="adj2" fmla="val 99982"/>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dirty="0">
                  <a:solidFill>
                    <a:schemeClr val="tx1"/>
                  </a:solidFill>
                </a:endParaRPr>
              </a:p>
            </p:txBody>
          </p:sp>
          <p:sp>
            <p:nvSpPr>
              <p:cNvPr id="31" name="Rectangular Callout 30"/>
              <p:cNvSpPr/>
              <p:nvPr/>
            </p:nvSpPr>
            <p:spPr>
              <a:xfrm>
                <a:off x="6015279" y="1614768"/>
                <a:ext cx="2325963" cy="1295400"/>
              </a:xfrm>
              <a:prstGeom prst="wedgeRectCallout">
                <a:avLst>
                  <a:gd name="adj1" fmla="val -69891"/>
                  <a:gd name="adj2" fmla="val 96699"/>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2" name="Rectangular Callout 31"/>
                  <p:cNvSpPr/>
                  <p:nvPr/>
                </p:nvSpPr>
                <p:spPr>
                  <a:xfrm>
                    <a:off x="6015279" y="1616954"/>
                    <a:ext cx="2325963" cy="1295400"/>
                  </a:xfrm>
                  <a:prstGeom prst="wedgeRectCallout">
                    <a:avLst>
                      <a:gd name="adj1" fmla="val -181199"/>
                      <a:gd name="adj2" fmla="val 97518"/>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GB" sz="2000" b="1" i="1" dirty="0" smtClean="0">
                                  <a:solidFill>
                                    <a:schemeClr val="tx1"/>
                                  </a:solidFill>
                                  <a:latin typeface="Cambria Math" panose="02040503050406030204" pitchFamily="18" charset="0"/>
                                </a:rPr>
                              </m:ctrlPr>
                            </m:fPr>
                            <m:num>
                              <m:r>
                                <a:rPr lang="en-GB" sz="2000" b="1" i="1" dirty="0">
                                  <a:solidFill>
                                    <a:schemeClr val="tx1"/>
                                  </a:solidFill>
                                  <a:latin typeface="Cambria Math"/>
                                </a:rPr>
                                <m:t>𝟏</m:t>
                              </m:r>
                            </m:num>
                            <m:den>
                              <m:r>
                                <a:rPr lang="en-GB" sz="2000" b="1" i="1" dirty="0" smtClean="0">
                                  <a:solidFill>
                                    <a:schemeClr val="tx1"/>
                                  </a:solidFill>
                                  <a:latin typeface="Cambria Math"/>
                                </a:rPr>
                                <m:t>𝒏</m:t>
                              </m:r>
                              <m:r>
                                <a:rPr lang="en-GB" sz="2000" b="1" i="1" dirty="0">
                                  <a:solidFill>
                                    <a:schemeClr val="tx1"/>
                                  </a:solidFill>
                                  <a:latin typeface="Cambria Math"/>
                                </a:rPr>
                                <m:t>−</m:t>
                              </m:r>
                              <m:r>
                                <a:rPr lang="en-GB" sz="2000" b="1" i="1" dirty="0" smtClean="0">
                                  <a:solidFill>
                                    <a:schemeClr val="tx1"/>
                                  </a:solidFill>
                                  <a:latin typeface="Cambria Math"/>
                                </a:rPr>
                                <m:t>𝒄</m:t>
                              </m:r>
                            </m:den>
                          </m:f>
                          <m:nary>
                            <m:naryPr>
                              <m:chr m:val="∑"/>
                              <m:ctrlPr>
                                <a:rPr lang="en-GB" sz="2000" b="1" i="1" smtClean="0">
                                  <a:solidFill>
                                    <a:schemeClr val="tx1"/>
                                  </a:solidFill>
                                  <a:latin typeface="Cambria Math" panose="02040503050406030204" pitchFamily="18" charset="0"/>
                                </a:rPr>
                              </m:ctrlPr>
                            </m:naryPr>
                            <m:sub>
                              <m:r>
                                <m:rPr>
                                  <m:brk m:alnAt="23"/>
                                </m:rPr>
                                <a:rPr lang="en-GB" sz="2000" b="1" i="1" smtClean="0">
                                  <a:solidFill>
                                    <a:schemeClr val="tx1"/>
                                  </a:solidFill>
                                  <a:latin typeface="Cambria Math"/>
                                </a:rPr>
                                <m:t>𝒋</m:t>
                              </m:r>
                              <m:r>
                                <a:rPr lang="en-GB" sz="2000" b="1" i="1" smtClean="0">
                                  <a:solidFill>
                                    <a:schemeClr val="tx1"/>
                                  </a:solidFill>
                                  <a:latin typeface="Cambria Math"/>
                                </a:rPr>
                                <m:t>=</m:t>
                              </m:r>
                              <m:r>
                                <a:rPr lang="en-GB" sz="2000" b="1" i="1" smtClean="0">
                                  <a:solidFill>
                                    <a:schemeClr val="tx1"/>
                                  </a:solidFill>
                                  <a:latin typeface="Cambria Math"/>
                                </a:rPr>
                                <m:t>𝟏</m:t>
                              </m:r>
                            </m:sub>
                            <m:sup>
                              <m:r>
                                <a:rPr lang="en-GB" sz="2000" b="1" i="1" smtClean="0">
                                  <a:solidFill>
                                    <a:schemeClr val="tx1"/>
                                  </a:solidFill>
                                  <a:latin typeface="Cambria Math"/>
                                </a:rPr>
                                <m:t>𝒄</m:t>
                              </m:r>
                            </m:sup>
                            <m:e>
                              <m:nary>
                                <m:naryPr>
                                  <m:chr m:val="∑"/>
                                  <m:ctrlPr>
                                    <a:rPr lang="en-GB" sz="2000" b="1" i="1">
                                      <a:solidFill>
                                        <a:schemeClr val="tx1"/>
                                      </a:solidFill>
                                      <a:latin typeface="Cambria Math" panose="02040503050406030204" pitchFamily="18" charset="0"/>
                                    </a:rPr>
                                  </m:ctrlPr>
                                </m:naryPr>
                                <m:sub>
                                  <m:r>
                                    <a:rPr lang="en-GB" sz="2000" b="1" i="1" smtClean="0">
                                      <a:solidFill>
                                        <a:schemeClr val="tx1"/>
                                      </a:solidFill>
                                      <a:latin typeface="Cambria Math"/>
                                    </a:rPr>
                                    <m:t>𝒊</m:t>
                                  </m:r>
                                  <m:r>
                                    <a:rPr lang="en-GB" sz="2000" b="1" i="1">
                                      <a:solidFill>
                                        <a:schemeClr val="tx1"/>
                                      </a:solidFill>
                                      <a:latin typeface="Cambria Math"/>
                                    </a:rPr>
                                    <m:t>=</m:t>
                                  </m:r>
                                  <m:r>
                                    <a:rPr lang="en-GB" sz="2000" b="1" i="1">
                                      <a:solidFill>
                                        <a:schemeClr val="tx1"/>
                                      </a:solidFill>
                                      <a:latin typeface="Cambria Math"/>
                                    </a:rPr>
                                    <m:t>𝟏</m:t>
                                  </m:r>
                                </m:sub>
                                <m:sup>
                                  <m:sSub>
                                    <m:sSubPr>
                                      <m:ctrlPr>
                                        <a:rPr lang="en-GB" sz="2000" b="1" i="1" smtClean="0">
                                          <a:solidFill>
                                            <a:schemeClr val="tx1"/>
                                          </a:solidFill>
                                          <a:latin typeface="Cambria Math" panose="02040503050406030204" pitchFamily="18" charset="0"/>
                                        </a:rPr>
                                      </m:ctrlPr>
                                    </m:sSubPr>
                                    <m:e>
                                      <m:r>
                                        <a:rPr lang="en-GB" sz="2000" b="1" i="1" smtClean="0">
                                          <a:solidFill>
                                            <a:schemeClr val="tx1"/>
                                          </a:solidFill>
                                          <a:latin typeface="Cambria Math"/>
                                        </a:rPr>
                                        <m:t>𝒏</m:t>
                                      </m:r>
                                    </m:e>
                                    <m:sub>
                                      <m:r>
                                        <a:rPr lang="en-GB" sz="2000" b="1" i="1" smtClean="0">
                                          <a:solidFill>
                                            <a:schemeClr val="tx1"/>
                                          </a:solidFill>
                                          <a:latin typeface="Cambria Math"/>
                                        </a:rPr>
                                        <m:t>𝒋</m:t>
                                      </m:r>
                                    </m:sub>
                                  </m:sSub>
                                </m:sup>
                                <m:e>
                                  <m:sSup>
                                    <m:sSupPr>
                                      <m:ctrlPr>
                                        <a:rPr lang="en-GB" sz="2000" b="1" i="1" dirty="0">
                                          <a:solidFill>
                                            <a:schemeClr val="tx1"/>
                                          </a:solidFill>
                                          <a:latin typeface="Cambria Math" panose="02040503050406030204" pitchFamily="18" charset="0"/>
                                        </a:rPr>
                                      </m:ctrlPr>
                                    </m:sSupPr>
                                    <m:e>
                                      <m:d>
                                        <m:dPr>
                                          <m:ctrlPr>
                                            <a:rPr lang="en-GB" sz="2000" b="1" i="1" dirty="0">
                                              <a:solidFill>
                                                <a:schemeClr val="tx1"/>
                                              </a:solidFill>
                                              <a:latin typeface="Cambria Math" panose="02040503050406030204" pitchFamily="18" charset="0"/>
                                            </a:rPr>
                                          </m:ctrlPr>
                                        </m:dPr>
                                        <m:e>
                                          <m:sSub>
                                            <m:sSubPr>
                                              <m:ctrlPr>
                                                <a:rPr lang="en-GB" sz="2000" b="1" i="1" dirty="0">
                                                  <a:solidFill>
                                                    <a:schemeClr val="tx1"/>
                                                  </a:solidFill>
                                                  <a:latin typeface="Cambria Math" panose="02040503050406030204" pitchFamily="18" charset="0"/>
                                                </a:rPr>
                                              </m:ctrlPr>
                                            </m:sSubPr>
                                            <m:e>
                                              <m:sSub>
                                                <m:sSubPr>
                                                  <m:ctrlPr>
                                                    <a:rPr lang="en-GB" sz="2000" b="1" i="1" dirty="0">
                                                      <a:solidFill>
                                                        <a:schemeClr val="tx1"/>
                                                      </a:solidFill>
                                                      <a:latin typeface="Cambria Math" panose="02040503050406030204" pitchFamily="18" charset="0"/>
                                                    </a:rPr>
                                                  </m:ctrlPr>
                                                </m:sSubPr>
                                                <m:e>
                                                  <m:r>
                                                    <a:rPr lang="en-GB" sz="2000" b="1" i="1" dirty="0">
                                                      <a:solidFill>
                                                        <a:schemeClr val="tx1"/>
                                                      </a:solidFill>
                                                      <a:latin typeface="Cambria Math"/>
                                                    </a:rPr>
                                                    <m:t>𝑿</m:t>
                                                  </m:r>
                                                </m:e>
                                                <m:sub>
                                                  <m:r>
                                                    <a:rPr lang="en-GB" sz="2000" b="1" i="1" dirty="0">
                                                      <a:solidFill>
                                                        <a:schemeClr val="tx1"/>
                                                      </a:solidFill>
                                                      <a:latin typeface="Cambria Math"/>
                                                    </a:rPr>
                                                    <m:t>𝒊𝒋</m:t>
                                                  </m:r>
                                                </m:sub>
                                              </m:sSub>
                                              <m:r>
                                                <a:rPr lang="en-GB" sz="2000" b="1" i="1" dirty="0">
                                                  <a:solidFill>
                                                    <a:schemeClr val="tx1"/>
                                                  </a:solidFill>
                                                  <a:latin typeface="Cambria Math"/>
                                                </a:rPr>
                                                <m:t>−</m:t>
                                              </m:r>
                                              <m:acc>
                                                <m:accPr>
                                                  <m:chr m:val="̅"/>
                                                  <m:ctrlPr>
                                                    <a:rPr lang="en-GB" sz="2000" b="1" i="1" dirty="0">
                                                      <a:solidFill>
                                                        <a:schemeClr val="tx1"/>
                                                      </a:solidFill>
                                                      <a:latin typeface="Cambria Math" panose="02040503050406030204" pitchFamily="18" charset="0"/>
                                                    </a:rPr>
                                                  </m:ctrlPr>
                                                </m:accPr>
                                                <m:e>
                                                  <m:r>
                                                    <a:rPr lang="en-GB" sz="2000" b="1" i="1" dirty="0">
                                                      <a:solidFill>
                                                        <a:schemeClr val="tx1"/>
                                                      </a:solidFill>
                                                      <a:latin typeface="Cambria Math"/>
                                                    </a:rPr>
                                                    <m:t>𝑿</m:t>
                                                  </m:r>
                                                </m:e>
                                              </m:acc>
                                            </m:e>
                                            <m:sub>
                                              <m:r>
                                                <a:rPr lang="en-GB" sz="2000" b="1" i="1" dirty="0">
                                                  <a:solidFill>
                                                    <a:schemeClr val="tx1"/>
                                                  </a:solidFill>
                                                  <a:latin typeface="Cambria Math"/>
                                                </a:rPr>
                                                <m:t>𝒋</m:t>
                                              </m:r>
                                            </m:sub>
                                          </m:sSub>
                                        </m:e>
                                      </m:d>
                                    </m:e>
                                    <m:sup>
                                      <m:r>
                                        <a:rPr lang="en-GB" sz="2000" b="1" i="1" dirty="0">
                                          <a:solidFill>
                                            <a:schemeClr val="tx1"/>
                                          </a:solidFill>
                                          <a:latin typeface="Cambria Math"/>
                                        </a:rPr>
                                        <m:t>𝟐</m:t>
                                      </m:r>
                                    </m:sup>
                                  </m:sSup>
                                </m:e>
                              </m:nary>
                              <m:r>
                                <m:rPr>
                                  <m:nor/>
                                </m:rPr>
                                <a:rPr lang="en-GB" sz="2000" b="1" dirty="0">
                                  <a:solidFill>
                                    <a:schemeClr val="tx1"/>
                                  </a:solidFill>
                                </a:rPr>
                                <m:t> </m:t>
                              </m:r>
                            </m:e>
                          </m:nary>
                        </m:oMath>
                      </m:oMathPara>
                    </a14:m>
                    <a:endParaRPr lang="en-GB" sz="2000" b="1" dirty="0">
                      <a:solidFill>
                        <a:schemeClr val="tx1"/>
                      </a:solidFill>
                    </a:endParaRPr>
                  </a:p>
                </p:txBody>
              </p:sp>
            </mc:Choice>
            <mc:Fallback xmlns="">
              <p:sp>
                <p:nvSpPr>
                  <p:cNvPr id="32" name="Rectangular Callout 31"/>
                  <p:cNvSpPr>
                    <a:spLocks noRot="1" noChangeAspect="1" noMove="1" noResize="1" noEditPoints="1" noAdjustHandles="1" noChangeArrowheads="1" noChangeShapeType="1" noTextEdit="1"/>
                  </p:cNvSpPr>
                  <p:nvPr/>
                </p:nvSpPr>
                <p:spPr>
                  <a:xfrm>
                    <a:off x="6015279" y="1616954"/>
                    <a:ext cx="2325963" cy="1295400"/>
                  </a:xfrm>
                  <a:prstGeom prst="wedgeRectCallout">
                    <a:avLst>
                      <a:gd name="adj1" fmla="val -181199"/>
                      <a:gd name="adj2" fmla="val 97518"/>
                    </a:avLst>
                  </a:prstGeom>
                  <a:blipFill rotWithShape="1">
                    <a:blip r:embed="rId7"/>
                    <a:stretch>
                      <a:fillRect/>
                    </a:stretch>
                  </a:blipFill>
                  <a:ln>
                    <a:noFill/>
                  </a:ln>
                </p:spPr>
                <p:txBody>
                  <a:bodyPr/>
                  <a:lstStyle/>
                  <a:p>
                    <a:r>
                      <a:rPr lang="en-GB">
                        <a:noFill/>
                      </a:rPr>
                      <a:t> </a:t>
                    </a:r>
                  </a:p>
                </p:txBody>
              </p:sp>
            </mc:Fallback>
          </mc:AlternateContent>
        </p:grpSp>
        <p:sp>
          <p:nvSpPr>
            <p:cNvPr id="5" name="Rectangle 4"/>
            <p:cNvSpPr/>
            <p:nvPr/>
          </p:nvSpPr>
          <p:spPr>
            <a:xfrm>
              <a:off x="7709223" y="1600200"/>
              <a:ext cx="1106585" cy="584775"/>
            </a:xfrm>
            <a:prstGeom prst="rect">
              <a:avLst/>
            </a:prstGeom>
            <a:noFill/>
            <a:ln>
              <a:noFill/>
            </a:ln>
          </p:spPr>
          <p:txBody>
            <a:bodyPr wrap="none">
              <a:spAutoFit/>
            </a:bodyPr>
            <a:lstStyle/>
            <a:p>
              <a:r>
                <a:rPr lang="en-GB" altLang="en-US" sz="3200" b="1" dirty="0"/>
                <a:t>MSW</a:t>
              </a:r>
              <a:endParaRPr lang="en-GB" sz="3200" b="1" dirty="0"/>
            </a:p>
          </p:txBody>
        </p:sp>
      </p:grpSp>
      <p:grpSp>
        <p:nvGrpSpPr>
          <p:cNvPr id="14" name="Group 13"/>
          <p:cNvGrpSpPr/>
          <p:nvPr/>
        </p:nvGrpSpPr>
        <p:grpSpPr>
          <a:xfrm>
            <a:off x="609600" y="762000"/>
            <a:ext cx="2622699" cy="1378673"/>
            <a:chOff x="609600" y="990600"/>
            <a:chExt cx="2622699" cy="1378673"/>
          </a:xfrm>
          <a:solidFill>
            <a:schemeClr val="tx2">
              <a:lumMod val="20000"/>
              <a:lumOff val="80000"/>
            </a:schemeClr>
          </a:solidFill>
        </p:grpSpPr>
        <p:grpSp>
          <p:nvGrpSpPr>
            <p:cNvPr id="12" name="Group 11"/>
            <p:cNvGrpSpPr/>
            <p:nvPr/>
          </p:nvGrpSpPr>
          <p:grpSpPr>
            <a:xfrm>
              <a:off x="609600" y="990600"/>
              <a:ext cx="2622699" cy="1378673"/>
              <a:chOff x="609600" y="990600"/>
              <a:chExt cx="2622699" cy="1378673"/>
            </a:xfrm>
            <a:grpFill/>
          </p:grpSpPr>
          <mc:AlternateContent xmlns:mc="http://schemas.openxmlformats.org/markup-compatibility/2006" xmlns:a14="http://schemas.microsoft.com/office/drawing/2010/main">
            <mc:Choice Requires="a14">
              <p:sp>
                <p:nvSpPr>
                  <p:cNvPr id="38" name="Rectangular Callout 37"/>
                  <p:cNvSpPr/>
                  <p:nvPr/>
                </p:nvSpPr>
                <p:spPr>
                  <a:xfrm>
                    <a:off x="685800" y="990600"/>
                    <a:ext cx="2546499" cy="914400"/>
                  </a:xfrm>
                  <a:prstGeom prst="wedgeRectCallout">
                    <a:avLst>
                      <a:gd name="adj1" fmla="val 39906"/>
                      <a:gd name="adj2" fmla="val 155524"/>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GB" sz="2000" b="1" i="1" dirty="0" smtClean="0">
                                  <a:solidFill>
                                    <a:schemeClr val="tx1"/>
                                  </a:solidFill>
                                  <a:latin typeface="Cambria Math" panose="02040503050406030204" pitchFamily="18" charset="0"/>
                                </a:rPr>
                              </m:ctrlPr>
                            </m:fPr>
                            <m:num>
                              <m:r>
                                <a:rPr lang="en-GB" sz="2000" b="1" i="1" dirty="0" smtClean="0">
                                  <a:solidFill>
                                    <a:schemeClr val="tx1"/>
                                  </a:solidFill>
                                  <a:latin typeface="Cambria Math"/>
                                </a:rPr>
                                <m:t>𝟏</m:t>
                              </m:r>
                            </m:num>
                            <m:den>
                              <m:r>
                                <a:rPr lang="en-GB" sz="2000" b="1" i="1" dirty="0" smtClean="0">
                                  <a:solidFill>
                                    <a:schemeClr val="tx1"/>
                                  </a:solidFill>
                                  <a:latin typeface="Cambria Math"/>
                                </a:rPr>
                                <m:t>𝒄</m:t>
                              </m:r>
                              <m:r>
                                <a:rPr lang="en-GB" sz="2000" b="1" i="1" dirty="0" smtClean="0">
                                  <a:solidFill>
                                    <a:schemeClr val="tx1"/>
                                  </a:solidFill>
                                  <a:latin typeface="Cambria Math"/>
                                </a:rPr>
                                <m:t>−</m:t>
                              </m:r>
                              <m:r>
                                <a:rPr lang="en-GB" sz="2000" b="1" i="1" dirty="0" smtClean="0">
                                  <a:solidFill>
                                    <a:schemeClr val="tx1"/>
                                  </a:solidFill>
                                  <a:latin typeface="Cambria Math"/>
                                </a:rPr>
                                <m:t>𝟏</m:t>
                              </m:r>
                            </m:den>
                          </m:f>
                          <m:nary>
                            <m:naryPr>
                              <m:chr m:val="∑"/>
                              <m:subHide m:val="on"/>
                              <m:supHide m:val="on"/>
                              <m:ctrlPr>
                                <a:rPr lang="en-GB" sz="2000" b="1" i="1" dirty="0" smtClean="0">
                                  <a:solidFill>
                                    <a:schemeClr val="tx1"/>
                                  </a:solidFill>
                                  <a:latin typeface="Cambria Math" panose="02040503050406030204" pitchFamily="18" charset="0"/>
                                </a:rPr>
                              </m:ctrlPr>
                            </m:naryPr>
                            <m:sub/>
                            <m:sup/>
                            <m:e>
                              <m:sSub>
                                <m:sSubPr>
                                  <m:ctrlPr>
                                    <a:rPr lang="en-GB" sz="2000" b="1" i="1" dirty="0" smtClean="0">
                                      <a:solidFill>
                                        <a:schemeClr val="tx1"/>
                                      </a:solidFill>
                                      <a:latin typeface="Cambria Math" panose="02040503050406030204" pitchFamily="18" charset="0"/>
                                    </a:rPr>
                                  </m:ctrlPr>
                                </m:sSubPr>
                                <m:e>
                                  <m:r>
                                    <a:rPr lang="en-GB" sz="2000" b="1" i="1" dirty="0" smtClean="0">
                                      <a:solidFill>
                                        <a:schemeClr val="tx1"/>
                                      </a:solidFill>
                                      <a:latin typeface="Cambria Math"/>
                                    </a:rPr>
                                    <m:t>𝒏</m:t>
                                  </m:r>
                                </m:e>
                                <m:sub>
                                  <m:r>
                                    <a:rPr lang="en-GB" sz="2000" b="1" i="1" dirty="0" smtClean="0">
                                      <a:solidFill>
                                        <a:schemeClr val="tx1"/>
                                      </a:solidFill>
                                      <a:latin typeface="Cambria Math"/>
                                    </a:rPr>
                                    <m:t>𝒋</m:t>
                                  </m:r>
                                </m:sub>
                              </m:sSub>
                              <m:sSup>
                                <m:sSupPr>
                                  <m:ctrlPr>
                                    <a:rPr lang="en-GB" sz="2000" b="1" i="1" dirty="0" smtClean="0">
                                      <a:solidFill>
                                        <a:schemeClr val="tx1"/>
                                      </a:solidFill>
                                      <a:latin typeface="Cambria Math" panose="02040503050406030204" pitchFamily="18" charset="0"/>
                                    </a:rPr>
                                  </m:ctrlPr>
                                </m:sSupPr>
                                <m:e>
                                  <m:d>
                                    <m:dPr>
                                      <m:ctrlPr>
                                        <a:rPr lang="en-GB" sz="2000" b="1" i="1" dirty="0">
                                          <a:solidFill>
                                            <a:schemeClr val="tx1"/>
                                          </a:solidFill>
                                          <a:latin typeface="Cambria Math" panose="02040503050406030204" pitchFamily="18" charset="0"/>
                                        </a:rPr>
                                      </m:ctrlPr>
                                    </m:dPr>
                                    <m:e>
                                      <m:sSub>
                                        <m:sSubPr>
                                          <m:ctrlPr>
                                            <a:rPr lang="en-GB" sz="2000" b="1" i="1" dirty="0">
                                              <a:solidFill>
                                                <a:schemeClr val="tx1"/>
                                              </a:solidFill>
                                              <a:latin typeface="Cambria Math" panose="02040503050406030204" pitchFamily="18" charset="0"/>
                                            </a:rPr>
                                          </m:ctrlPr>
                                        </m:sSubPr>
                                        <m:e>
                                          <m:acc>
                                            <m:accPr>
                                              <m:chr m:val="̅"/>
                                              <m:ctrlPr>
                                                <a:rPr lang="en-GB" sz="2000" b="1" i="1" dirty="0">
                                                  <a:solidFill>
                                                    <a:schemeClr val="tx1"/>
                                                  </a:solidFill>
                                                  <a:latin typeface="Cambria Math" panose="02040503050406030204" pitchFamily="18" charset="0"/>
                                                </a:rPr>
                                              </m:ctrlPr>
                                            </m:accPr>
                                            <m:e>
                                              <m:r>
                                                <a:rPr lang="en-GB" sz="2000" b="1" i="1" dirty="0">
                                                  <a:solidFill>
                                                    <a:schemeClr val="tx1"/>
                                                  </a:solidFill>
                                                  <a:latin typeface="Cambria Math"/>
                                                </a:rPr>
                                                <m:t>𝑿</m:t>
                                              </m:r>
                                            </m:e>
                                          </m:acc>
                                        </m:e>
                                        <m:sub>
                                          <m:r>
                                            <a:rPr lang="en-GB" sz="2000" b="1" i="1" dirty="0">
                                              <a:solidFill>
                                                <a:schemeClr val="tx1"/>
                                              </a:solidFill>
                                              <a:latin typeface="Cambria Math"/>
                                            </a:rPr>
                                            <m:t>𝒋</m:t>
                                          </m:r>
                                        </m:sub>
                                      </m:sSub>
                                      <m:r>
                                        <a:rPr lang="en-GB" sz="2000" b="1" i="1" dirty="0">
                                          <a:solidFill>
                                            <a:schemeClr val="tx1"/>
                                          </a:solidFill>
                                          <a:latin typeface="Cambria Math"/>
                                        </a:rPr>
                                        <m:t>−</m:t>
                                      </m:r>
                                      <m:acc>
                                        <m:accPr>
                                          <m:chr m:val="̿"/>
                                          <m:ctrlPr>
                                            <a:rPr lang="en-GB" sz="2000" b="1" i="1" dirty="0">
                                              <a:solidFill>
                                                <a:schemeClr val="tx1"/>
                                              </a:solidFill>
                                              <a:latin typeface="Cambria Math" panose="02040503050406030204" pitchFamily="18" charset="0"/>
                                            </a:rPr>
                                          </m:ctrlPr>
                                        </m:accPr>
                                        <m:e>
                                          <m:r>
                                            <a:rPr lang="en-GB" sz="2000" b="1" i="1" dirty="0">
                                              <a:solidFill>
                                                <a:schemeClr val="tx1"/>
                                              </a:solidFill>
                                              <a:latin typeface="Cambria Math"/>
                                            </a:rPr>
                                            <m:t>𝑿</m:t>
                                          </m:r>
                                        </m:e>
                                      </m:acc>
                                    </m:e>
                                  </m:d>
                                </m:e>
                                <m:sup>
                                  <m:r>
                                    <a:rPr lang="en-GB" sz="2000" b="1" i="1" dirty="0" smtClean="0">
                                      <a:solidFill>
                                        <a:schemeClr val="tx1"/>
                                      </a:solidFill>
                                      <a:latin typeface="Cambria Math"/>
                                    </a:rPr>
                                    <m:t>𝟐</m:t>
                                  </m:r>
                                </m:sup>
                              </m:sSup>
                            </m:e>
                          </m:nary>
                        </m:oMath>
                      </m:oMathPara>
                    </a14:m>
                    <a:endParaRPr lang="en-GB" sz="2000" b="1" dirty="0">
                      <a:solidFill>
                        <a:schemeClr val="tx1"/>
                      </a:solidFill>
                    </a:endParaRPr>
                  </a:p>
                </p:txBody>
              </p:sp>
            </mc:Choice>
            <mc:Fallback xmlns="">
              <p:sp>
                <p:nvSpPr>
                  <p:cNvPr id="38" name="Rectangular Callout 37"/>
                  <p:cNvSpPr>
                    <a:spLocks noRot="1" noChangeAspect="1" noMove="1" noResize="1" noEditPoints="1" noAdjustHandles="1" noChangeArrowheads="1" noChangeShapeType="1" noTextEdit="1"/>
                  </p:cNvSpPr>
                  <p:nvPr/>
                </p:nvSpPr>
                <p:spPr>
                  <a:xfrm>
                    <a:off x="685800" y="990600"/>
                    <a:ext cx="2546499" cy="914400"/>
                  </a:xfrm>
                  <a:prstGeom prst="wedgeRectCallout">
                    <a:avLst>
                      <a:gd name="adj1" fmla="val 39906"/>
                      <a:gd name="adj2" fmla="val 155524"/>
                    </a:avLst>
                  </a:prstGeom>
                  <a:blipFill rotWithShape="1">
                    <a:blip r:embed="rId8"/>
                    <a:stretch>
                      <a:fillRect/>
                    </a:stretch>
                  </a:blipFill>
                  <a:ln>
                    <a:noFill/>
                  </a:ln>
                </p:spPr>
                <p:txBody>
                  <a:bodyPr/>
                  <a:lstStyle/>
                  <a:p>
                    <a:r>
                      <a:rPr lang="en-GB">
                        <a:noFill/>
                      </a:rPr>
                      <a:t> </a:t>
                    </a:r>
                  </a:p>
                </p:txBody>
              </p:sp>
            </mc:Fallback>
          </mc:AlternateContent>
          <p:sp>
            <p:nvSpPr>
              <p:cNvPr id="40" name="Rectangle 39"/>
              <p:cNvSpPr/>
              <p:nvPr/>
            </p:nvSpPr>
            <p:spPr>
              <a:xfrm>
                <a:off x="609600" y="1784498"/>
                <a:ext cx="968535" cy="584775"/>
              </a:xfrm>
              <a:prstGeom prst="rect">
                <a:avLst/>
              </a:prstGeom>
              <a:noFill/>
              <a:ln>
                <a:noFill/>
              </a:ln>
            </p:spPr>
            <p:txBody>
              <a:bodyPr wrap="none">
                <a:spAutoFit/>
              </a:bodyPr>
              <a:lstStyle/>
              <a:p>
                <a:r>
                  <a:rPr lang="en-GB" altLang="en-US" sz="3200" b="1" dirty="0"/>
                  <a:t>MSB</a:t>
                </a:r>
                <a:endParaRPr lang="en-GB" sz="3200" b="1" dirty="0"/>
              </a:p>
            </p:txBody>
          </p:sp>
        </p:grpSp>
        <mc:AlternateContent xmlns:mc="http://schemas.openxmlformats.org/markup-compatibility/2006" xmlns:a14="http://schemas.microsoft.com/office/drawing/2010/main">
          <mc:Choice Requires="a14">
            <p:sp>
              <p:nvSpPr>
                <p:cNvPr id="47" name="Rectangular Callout 46"/>
                <p:cNvSpPr/>
                <p:nvPr/>
              </p:nvSpPr>
              <p:spPr>
                <a:xfrm>
                  <a:off x="685800" y="990600"/>
                  <a:ext cx="2546499" cy="914400"/>
                </a:xfrm>
                <a:prstGeom prst="wedgeRectCallout">
                  <a:avLst>
                    <a:gd name="adj1" fmla="val 98778"/>
                    <a:gd name="adj2" fmla="val 146222"/>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GB" sz="2000" b="1" i="1" dirty="0" smtClean="0">
                                <a:solidFill>
                                  <a:schemeClr val="tx1"/>
                                </a:solidFill>
                                <a:latin typeface="Cambria Math" panose="02040503050406030204" pitchFamily="18" charset="0"/>
                              </a:rPr>
                            </m:ctrlPr>
                          </m:fPr>
                          <m:num>
                            <m:r>
                              <a:rPr lang="en-GB" sz="2000" b="1" i="1" dirty="0" smtClean="0">
                                <a:solidFill>
                                  <a:schemeClr val="tx1"/>
                                </a:solidFill>
                                <a:latin typeface="Cambria Math"/>
                              </a:rPr>
                              <m:t>𝟏</m:t>
                            </m:r>
                          </m:num>
                          <m:den>
                            <m:r>
                              <a:rPr lang="en-GB" sz="2000" b="1" i="1" dirty="0" smtClean="0">
                                <a:solidFill>
                                  <a:schemeClr val="tx1"/>
                                </a:solidFill>
                                <a:latin typeface="Cambria Math"/>
                              </a:rPr>
                              <m:t>𝒄</m:t>
                            </m:r>
                            <m:r>
                              <a:rPr lang="en-GB" sz="2000" b="1" i="1" dirty="0" smtClean="0">
                                <a:solidFill>
                                  <a:schemeClr val="tx1"/>
                                </a:solidFill>
                                <a:latin typeface="Cambria Math"/>
                              </a:rPr>
                              <m:t>−</m:t>
                            </m:r>
                            <m:r>
                              <a:rPr lang="en-GB" sz="2000" b="1" i="1" dirty="0" smtClean="0">
                                <a:solidFill>
                                  <a:schemeClr val="tx1"/>
                                </a:solidFill>
                                <a:latin typeface="Cambria Math"/>
                              </a:rPr>
                              <m:t>𝟏</m:t>
                            </m:r>
                          </m:den>
                        </m:f>
                        <m:nary>
                          <m:naryPr>
                            <m:chr m:val="∑"/>
                            <m:subHide m:val="on"/>
                            <m:supHide m:val="on"/>
                            <m:ctrlPr>
                              <a:rPr lang="en-GB" sz="2000" b="1" i="1" dirty="0" smtClean="0">
                                <a:solidFill>
                                  <a:schemeClr val="tx1"/>
                                </a:solidFill>
                                <a:latin typeface="Cambria Math" panose="02040503050406030204" pitchFamily="18" charset="0"/>
                              </a:rPr>
                            </m:ctrlPr>
                          </m:naryPr>
                          <m:sub/>
                          <m:sup/>
                          <m:e>
                            <m:sSub>
                              <m:sSubPr>
                                <m:ctrlPr>
                                  <a:rPr lang="en-GB" sz="2000" b="1" i="1" dirty="0" smtClean="0">
                                    <a:solidFill>
                                      <a:schemeClr val="tx1"/>
                                    </a:solidFill>
                                    <a:latin typeface="Cambria Math" panose="02040503050406030204" pitchFamily="18" charset="0"/>
                                  </a:rPr>
                                </m:ctrlPr>
                              </m:sSubPr>
                              <m:e>
                                <m:r>
                                  <a:rPr lang="en-GB" sz="2000" b="1" i="1" dirty="0" smtClean="0">
                                    <a:solidFill>
                                      <a:schemeClr val="tx1"/>
                                    </a:solidFill>
                                    <a:latin typeface="Cambria Math"/>
                                  </a:rPr>
                                  <m:t>𝒏</m:t>
                                </m:r>
                              </m:e>
                              <m:sub>
                                <m:r>
                                  <a:rPr lang="en-GB" sz="2000" b="1" i="1" dirty="0" smtClean="0">
                                    <a:solidFill>
                                      <a:schemeClr val="tx1"/>
                                    </a:solidFill>
                                    <a:latin typeface="Cambria Math"/>
                                  </a:rPr>
                                  <m:t>𝒋</m:t>
                                </m:r>
                              </m:sub>
                            </m:sSub>
                            <m:sSup>
                              <m:sSupPr>
                                <m:ctrlPr>
                                  <a:rPr lang="en-GB" sz="2000" b="1" i="1" dirty="0" smtClean="0">
                                    <a:solidFill>
                                      <a:schemeClr val="tx1"/>
                                    </a:solidFill>
                                    <a:latin typeface="Cambria Math" panose="02040503050406030204" pitchFamily="18" charset="0"/>
                                  </a:rPr>
                                </m:ctrlPr>
                              </m:sSupPr>
                              <m:e>
                                <m:d>
                                  <m:dPr>
                                    <m:ctrlPr>
                                      <a:rPr lang="en-GB" sz="2000" b="1" i="1" dirty="0">
                                        <a:solidFill>
                                          <a:schemeClr val="tx1"/>
                                        </a:solidFill>
                                        <a:latin typeface="Cambria Math" panose="02040503050406030204" pitchFamily="18" charset="0"/>
                                      </a:rPr>
                                    </m:ctrlPr>
                                  </m:dPr>
                                  <m:e>
                                    <m:sSub>
                                      <m:sSubPr>
                                        <m:ctrlPr>
                                          <a:rPr lang="en-GB" sz="2000" b="1" i="1" dirty="0">
                                            <a:solidFill>
                                              <a:schemeClr val="tx1"/>
                                            </a:solidFill>
                                            <a:latin typeface="Cambria Math" panose="02040503050406030204" pitchFamily="18" charset="0"/>
                                          </a:rPr>
                                        </m:ctrlPr>
                                      </m:sSubPr>
                                      <m:e>
                                        <m:acc>
                                          <m:accPr>
                                            <m:chr m:val="̅"/>
                                            <m:ctrlPr>
                                              <a:rPr lang="en-GB" sz="2000" b="1" i="1" dirty="0">
                                                <a:solidFill>
                                                  <a:schemeClr val="tx1"/>
                                                </a:solidFill>
                                                <a:latin typeface="Cambria Math" panose="02040503050406030204" pitchFamily="18" charset="0"/>
                                              </a:rPr>
                                            </m:ctrlPr>
                                          </m:accPr>
                                          <m:e>
                                            <m:r>
                                              <a:rPr lang="en-GB" sz="2000" b="1" i="1" dirty="0">
                                                <a:solidFill>
                                                  <a:schemeClr val="tx1"/>
                                                </a:solidFill>
                                                <a:latin typeface="Cambria Math"/>
                                              </a:rPr>
                                              <m:t>𝑿</m:t>
                                            </m:r>
                                          </m:e>
                                        </m:acc>
                                      </m:e>
                                      <m:sub>
                                        <m:r>
                                          <a:rPr lang="en-GB" sz="2000" b="1" i="1" dirty="0">
                                            <a:solidFill>
                                              <a:schemeClr val="tx1"/>
                                            </a:solidFill>
                                            <a:latin typeface="Cambria Math"/>
                                          </a:rPr>
                                          <m:t>𝒋</m:t>
                                        </m:r>
                                      </m:sub>
                                    </m:sSub>
                                    <m:r>
                                      <a:rPr lang="en-GB" sz="2000" b="1" i="1" dirty="0">
                                        <a:solidFill>
                                          <a:schemeClr val="tx1"/>
                                        </a:solidFill>
                                        <a:latin typeface="Cambria Math"/>
                                      </a:rPr>
                                      <m:t>−</m:t>
                                    </m:r>
                                    <m:acc>
                                      <m:accPr>
                                        <m:chr m:val="̿"/>
                                        <m:ctrlPr>
                                          <a:rPr lang="en-GB" sz="2000" b="1" i="1" dirty="0">
                                            <a:solidFill>
                                              <a:schemeClr val="tx1"/>
                                            </a:solidFill>
                                            <a:latin typeface="Cambria Math" panose="02040503050406030204" pitchFamily="18" charset="0"/>
                                          </a:rPr>
                                        </m:ctrlPr>
                                      </m:accPr>
                                      <m:e>
                                        <m:r>
                                          <a:rPr lang="en-GB" sz="2000" b="1" i="1" dirty="0">
                                            <a:solidFill>
                                              <a:schemeClr val="tx1"/>
                                            </a:solidFill>
                                            <a:latin typeface="Cambria Math"/>
                                          </a:rPr>
                                          <m:t>𝑿</m:t>
                                        </m:r>
                                      </m:e>
                                    </m:acc>
                                  </m:e>
                                </m:d>
                              </m:e>
                              <m:sup>
                                <m:r>
                                  <a:rPr lang="en-GB" sz="2000" b="1" i="1" dirty="0" smtClean="0">
                                    <a:solidFill>
                                      <a:schemeClr val="tx1"/>
                                    </a:solidFill>
                                    <a:latin typeface="Cambria Math"/>
                                  </a:rPr>
                                  <m:t>𝟐</m:t>
                                </m:r>
                              </m:sup>
                            </m:sSup>
                          </m:e>
                        </m:nary>
                      </m:oMath>
                    </m:oMathPara>
                  </a14:m>
                  <a:endParaRPr lang="en-GB" sz="2000" b="1" dirty="0">
                    <a:solidFill>
                      <a:schemeClr val="tx1"/>
                    </a:solidFill>
                  </a:endParaRPr>
                </a:p>
              </p:txBody>
            </p:sp>
          </mc:Choice>
          <mc:Fallback xmlns="">
            <p:sp>
              <p:nvSpPr>
                <p:cNvPr id="47" name="Rectangular Callout 46"/>
                <p:cNvSpPr>
                  <a:spLocks noRot="1" noChangeAspect="1" noMove="1" noResize="1" noEditPoints="1" noAdjustHandles="1" noChangeArrowheads="1" noChangeShapeType="1" noTextEdit="1"/>
                </p:cNvSpPr>
                <p:nvPr/>
              </p:nvSpPr>
              <p:spPr>
                <a:xfrm>
                  <a:off x="685800" y="990600"/>
                  <a:ext cx="2546499" cy="914400"/>
                </a:xfrm>
                <a:prstGeom prst="wedgeRectCallout">
                  <a:avLst>
                    <a:gd name="adj1" fmla="val 98778"/>
                    <a:gd name="adj2" fmla="val 146222"/>
                  </a:avLst>
                </a:prstGeom>
                <a:blipFill rotWithShape="1">
                  <a:blip r:embed="rId9"/>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9" name="Rectangular Callout 48"/>
                <p:cNvSpPr/>
                <p:nvPr/>
              </p:nvSpPr>
              <p:spPr>
                <a:xfrm>
                  <a:off x="685800" y="990600"/>
                  <a:ext cx="2546499" cy="914400"/>
                </a:xfrm>
                <a:prstGeom prst="wedgeRectCallout">
                  <a:avLst>
                    <a:gd name="adj1" fmla="val 89175"/>
                    <a:gd name="adj2" fmla="val 167152"/>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GB" sz="2000" b="1" i="1" dirty="0" smtClean="0">
                                <a:solidFill>
                                  <a:schemeClr val="tx1"/>
                                </a:solidFill>
                                <a:latin typeface="Cambria Math" panose="02040503050406030204" pitchFamily="18" charset="0"/>
                              </a:rPr>
                            </m:ctrlPr>
                          </m:fPr>
                          <m:num>
                            <m:r>
                              <a:rPr lang="en-GB" sz="2000" b="1" i="1" dirty="0" smtClean="0">
                                <a:solidFill>
                                  <a:schemeClr val="tx1"/>
                                </a:solidFill>
                                <a:latin typeface="Cambria Math"/>
                              </a:rPr>
                              <m:t>𝟏</m:t>
                            </m:r>
                          </m:num>
                          <m:den>
                            <m:r>
                              <a:rPr lang="en-GB" sz="2000" b="1" i="1" dirty="0" smtClean="0">
                                <a:solidFill>
                                  <a:schemeClr val="tx1"/>
                                </a:solidFill>
                                <a:latin typeface="Cambria Math"/>
                              </a:rPr>
                              <m:t>𝒄</m:t>
                            </m:r>
                            <m:r>
                              <a:rPr lang="en-GB" sz="2000" b="1" i="1" dirty="0" smtClean="0">
                                <a:solidFill>
                                  <a:schemeClr val="tx1"/>
                                </a:solidFill>
                                <a:latin typeface="Cambria Math"/>
                              </a:rPr>
                              <m:t>−</m:t>
                            </m:r>
                            <m:r>
                              <a:rPr lang="en-GB" sz="2000" b="1" i="1" dirty="0" smtClean="0">
                                <a:solidFill>
                                  <a:schemeClr val="tx1"/>
                                </a:solidFill>
                                <a:latin typeface="Cambria Math"/>
                              </a:rPr>
                              <m:t>𝟏</m:t>
                            </m:r>
                          </m:den>
                        </m:f>
                        <m:nary>
                          <m:naryPr>
                            <m:chr m:val="∑"/>
                            <m:subHide m:val="on"/>
                            <m:supHide m:val="on"/>
                            <m:ctrlPr>
                              <a:rPr lang="en-GB" sz="2000" b="1" i="1" dirty="0" smtClean="0">
                                <a:solidFill>
                                  <a:schemeClr val="tx1"/>
                                </a:solidFill>
                                <a:latin typeface="Cambria Math" panose="02040503050406030204" pitchFamily="18" charset="0"/>
                              </a:rPr>
                            </m:ctrlPr>
                          </m:naryPr>
                          <m:sub/>
                          <m:sup/>
                          <m:e>
                            <m:sSub>
                              <m:sSubPr>
                                <m:ctrlPr>
                                  <a:rPr lang="en-GB" sz="2000" b="1" i="1" dirty="0" smtClean="0">
                                    <a:solidFill>
                                      <a:schemeClr val="tx1"/>
                                    </a:solidFill>
                                    <a:latin typeface="Cambria Math" panose="02040503050406030204" pitchFamily="18" charset="0"/>
                                  </a:rPr>
                                </m:ctrlPr>
                              </m:sSubPr>
                              <m:e>
                                <m:r>
                                  <a:rPr lang="en-GB" sz="2000" b="1" i="1" dirty="0" smtClean="0">
                                    <a:solidFill>
                                      <a:schemeClr val="tx1"/>
                                    </a:solidFill>
                                    <a:latin typeface="Cambria Math"/>
                                  </a:rPr>
                                  <m:t>𝒏</m:t>
                                </m:r>
                              </m:e>
                              <m:sub>
                                <m:r>
                                  <a:rPr lang="en-GB" sz="2000" b="1" i="1" dirty="0" smtClean="0">
                                    <a:solidFill>
                                      <a:schemeClr val="tx1"/>
                                    </a:solidFill>
                                    <a:latin typeface="Cambria Math"/>
                                  </a:rPr>
                                  <m:t>𝒋</m:t>
                                </m:r>
                              </m:sub>
                            </m:sSub>
                            <m:sSup>
                              <m:sSupPr>
                                <m:ctrlPr>
                                  <a:rPr lang="en-GB" sz="2000" b="1" i="1" dirty="0" smtClean="0">
                                    <a:solidFill>
                                      <a:schemeClr val="tx1"/>
                                    </a:solidFill>
                                    <a:latin typeface="Cambria Math" panose="02040503050406030204" pitchFamily="18" charset="0"/>
                                  </a:rPr>
                                </m:ctrlPr>
                              </m:sSupPr>
                              <m:e>
                                <m:d>
                                  <m:dPr>
                                    <m:ctrlPr>
                                      <a:rPr lang="en-GB" sz="2000" b="1" i="1" dirty="0">
                                        <a:solidFill>
                                          <a:schemeClr val="tx1"/>
                                        </a:solidFill>
                                        <a:latin typeface="Cambria Math" panose="02040503050406030204" pitchFamily="18" charset="0"/>
                                      </a:rPr>
                                    </m:ctrlPr>
                                  </m:dPr>
                                  <m:e>
                                    <m:sSub>
                                      <m:sSubPr>
                                        <m:ctrlPr>
                                          <a:rPr lang="en-GB" sz="2000" b="1" i="1" dirty="0">
                                            <a:solidFill>
                                              <a:schemeClr val="tx1"/>
                                            </a:solidFill>
                                            <a:latin typeface="Cambria Math" panose="02040503050406030204" pitchFamily="18" charset="0"/>
                                          </a:rPr>
                                        </m:ctrlPr>
                                      </m:sSubPr>
                                      <m:e>
                                        <m:acc>
                                          <m:accPr>
                                            <m:chr m:val="̅"/>
                                            <m:ctrlPr>
                                              <a:rPr lang="en-GB" sz="2000" b="1" i="1" dirty="0">
                                                <a:solidFill>
                                                  <a:schemeClr val="tx1"/>
                                                </a:solidFill>
                                                <a:latin typeface="Cambria Math" panose="02040503050406030204" pitchFamily="18" charset="0"/>
                                              </a:rPr>
                                            </m:ctrlPr>
                                          </m:accPr>
                                          <m:e>
                                            <m:r>
                                              <a:rPr lang="en-GB" sz="2000" b="1" i="1" dirty="0">
                                                <a:solidFill>
                                                  <a:schemeClr val="tx1"/>
                                                </a:solidFill>
                                                <a:latin typeface="Cambria Math"/>
                                              </a:rPr>
                                              <m:t>𝑿</m:t>
                                            </m:r>
                                          </m:e>
                                        </m:acc>
                                      </m:e>
                                      <m:sub>
                                        <m:r>
                                          <a:rPr lang="en-GB" sz="2000" b="1" i="1" dirty="0">
                                            <a:solidFill>
                                              <a:schemeClr val="tx1"/>
                                            </a:solidFill>
                                            <a:latin typeface="Cambria Math"/>
                                          </a:rPr>
                                          <m:t>𝒋</m:t>
                                        </m:r>
                                      </m:sub>
                                    </m:sSub>
                                    <m:r>
                                      <a:rPr lang="en-GB" sz="2000" b="1" i="1" dirty="0">
                                        <a:solidFill>
                                          <a:schemeClr val="tx1"/>
                                        </a:solidFill>
                                        <a:latin typeface="Cambria Math"/>
                                      </a:rPr>
                                      <m:t>−</m:t>
                                    </m:r>
                                    <m:acc>
                                      <m:accPr>
                                        <m:chr m:val="̿"/>
                                        <m:ctrlPr>
                                          <a:rPr lang="en-GB" sz="2000" b="1" i="1" dirty="0">
                                            <a:solidFill>
                                              <a:schemeClr val="tx1"/>
                                            </a:solidFill>
                                            <a:latin typeface="Cambria Math" panose="02040503050406030204" pitchFamily="18" charset="0"/>
                                          </a:rPr>
                                        </m:ctrlPr>
                                      </m:accPr>
                                      <m:e>
                                        <m:r>
                                          <a:rPr lang="en-GB" sz="2000" b="1" i="1" dirty="0">
                                            <a:solidFill>
                                              <a:schemeClr val="tx1"/>
                                            </a:solidFill>
                                            <a:latin typeface="Cambria Math"/>
                                          </a:rPr>
                                          <m:t>𝑿</m:t>
                                        </m:r>
                                      </m:e>
                                    </m:acc>
                                  </m:e>
                                </m:d>
                              </m:e>
                              <m:sup>
                                <m:r>
                                  <a:rPr lang="en-GB" sz="2000" b="1" i="1" dirty="0" smtClean="0">
                                    <a:solidFill>
                                      <a:schemeClr val="tx1"/>
                                    </a:solidFill>
                                    <a:latin typeface="Cambria Math"/>
                                  </a:rPr>
                                  <m:t>𝟐</m:t>
                                </m:r>
                              </m:sup>
                            </m:sSup>
                          </m:e>
                        </m:nary>
                      </m:oMath>
                    </m:oMathPara>
                  </a14:m>
                  <a:endParaRPr lang="en-GB" sz="2000" b="1" dirty="0">
                    <a:solidFill>
                      <a:schemeClr val="tx1"/>
                    </a:solidFill>
                  </a:endParaRPr>
                </a:p>
              </p:txBody>
            </p:sp>
          </mc:Choice>
          <mc:Fallback xmlns="">
            <p:sp>
              <p:nvSpPr>
                <p:cNvPr id="49" name="Rectangular Callout 48"/>
                <p:cNvSpPr>
                  <a:spLocks noRot="1" noChangeAspect="1" noMove="1" noResize="1" noEditPoints="1" noAdjustHandles="1" noChangeArrowheads="1" noChangeShapeType="1" noTextEdit="1"/>
                </p:cNvSpPr>
                <p:nvPr/>
              </p:nvSpPr>
              <p:spPr>
                <a:xfrm>
                  <a:off x="685800" y="990600"/>
                  <a:ext cx="2546499" cy="914400"/>
                </a:xfrm>
                <a:prstGeom prst="wedgeRectCallout">
                  <a:avLst>
                    <a:gd name="adj1" fmla="val 89175"/>
                    <a:gd name="adj2" fmla="val 167152"/>
                  </a:avLst>
                </a:prstGeom>
                <a:blipFill rotWithShape="1">
                  <a:blip r:embed="rId10"/>
                  <a:stretch>
                    <a:fillRect/>
                  </a:stretch>
                </a:blipFill>
                <a:ln>
                  <a:noFill/>
                </a:ln>
              </p:spPr>
              <p:txBody>
                <a:bodyPr/>
                <a:lstStyle/>
                <a:p>
                  <a:r>
                    <a:rPr lang="en-GB">
                      <a:noFill/>
                    </a:rPr>
                    <a:t> </a:t>
                  </a:r>
                </a:p>
              </p:txBody>
            </p:sp>
          </mc:Fallback>
        </mc:AlternateContent>
      </p:grpSp>
      <p:sp>
        <p:nvSpPr>
          <p:cNvPr id="52" name="TextBox 51">
            <a:extLst>
              <a:ext uri="{FF2B5EF4-FFF2-40B4-BE49-F238E27FC236}">
                <a16:creationId xmlns:a16="http://schemas.microsoft.com/office/drawing/2014/main" id="{FB13DB2C-0EAB-6DC5-6069-62227C82DBDB}"/>
              </a:ext>
            </a:extLst>
          </p:cNvPr>
          <p:cNvSpPr txBox="1"/>
          <p:nvPr/>
        </p:nvSpPr>
        <p:spPr>
          <a:xfrm>
            <a:off x="501500" y="4611231"/>
            <a:ext cx="8032899" cy="2246769"/>
          </a:xfrm>
          <a:prstGeom prst="rect">
            <a:avLst/>
          </a:prstGeom>
          <a:noFill/>
        </p:spPr>
        <p:txBody>
          <a:bodyPr wrap="square">
            <a:spAutoFit/>
          </a:bodyPr>
          <a:lstStyle/>
          <a:p>
            <a:pPr marL="457200" indent="-457200">
              <a:buAutoNum type="arabicParenR"/>
            </a:pPr>
            <a:r>
              <a:rPr lang="en-GB" sz="2000" dirty="0"/>
              <a:t>If the variance between groups (i.e., MSB) is very large, are the means of these three groups more likely to be equal?</a:t>
            </a:r>
          </a:p>
          <a:p>
            <a:pPr marL="457200" indent="-457200">
              <a:buAutoNum type="arabicParenR"/>
            </a:pPr>
            <a:r>
              <a:rPr lang="en-GB" sz="2000" dirty="0"/>
              <a:t>If the variance within each group (i.e., MSW) is very large, are the means of these three groups more likely to be equal?</a:t>
            </a:r>
          </a:p>
          <a:p>
            <a:pPr marL="457200" indent="-457200">
              <a:buAutoNum type="arabicParenR"/>
            </a:pPr>
            <a:r>
              <a:rPr lang="en-GB" sz="2000" dirty="0"/>
              <a:t>If we increase the sample size in each group, are the means of these three groups more likely to be equal?</a:t>
            </a:r>
          </a:p>
          <a:p>
            <a:pPr marL="457200" indent="-457200">
              <a:buAutoNum type="arabicParenR"/>
            </a:pPr>
            <a:endParaRPr lang="en-GB" sz="2000" dirty="0"/>
          </a:p>
        </p:txBody>
      </p:sp>
    </p:spTree>
    <p:extLst>
      <p:ext uri="{BB962C8B-B14F-4D97-AF65-F5344CB8AC3E}">
        <p14:creationId xmlns:p14="http://schemas.microsoft.com/office/powerpoint/2010/main" val="27208101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altLang="en-US" dirty="0"/>
              <a:t>Question 2</a:t>
            </a:r>
            <a:endParaRPr lang="en-GB" dirty="0"/>
          </a:p>
        </p:txBody>
      </p:sp>
      <p:grpSp>
        <p:nvGrpSpPr>
          <p:cNvPr id="2" name="Group 1"/>
          <p:cNvGrpSpPr/>
          <p:nvPr/>
        </p:nvGrpSpPr>
        <p:grpSpPr>
          <a:xfrm>
            <a:off x="381000" y="2405277"/>
            <a:ext cx="7772400" cy="2014323"/>
            <a:chOff x="685800" y="1591336"/>
            <a:chExt cx="7772400" cy="1211263"/>
          </a:xfrm>
        </p:grpSpPr>
        <p:sp>
          <p:nvSpPr>
            <p:cNvPr id="6" name="Freeform 2"/>
            <p:cNvSpPr>
              <a:spLocks/>
            </p:cNvSpPr>
            <p:nvPr/>
          </p:nvSpPr>
          <p:spPr bwMode="auto">
            <a:xfrm>
              <a:off x="1676400" y="1905000"/>
              <a:ext cx="1828800" cy="833438"/>
            </a:xfrm>
            <a:custGeom>
              <a:avLst/>
              <a:gdLst>
                <a:gd name="T0" fmla="*/ 24 w 2586"/>
                <a:gd name="T1" fmla="*/ 1168 h 1178"/>
                <a:gd name="T2" fmla="*/ 79 w 2586"/>
                <a:gd name="T3" fmla="*/ 1144 h 1178"/>
                <a:gd name="T4" fmla="*/ 152 w 2586"/>
                <a:gd name="T5" fmla="*/ 1108 h 1178"/>
                <a:gd name="T6" fmla="*/ 234 w 2586"/>
                <a:gd name="T7" fmla="*/ 1065 h 1178"/>
                <a:gd name="T8" fmla="*/ 319 w 2586"/>
                <a:gd name="T9" fmla="*/ 1020 h 1178"/>
                <a:gd name="T10" fmla="*/ 398 w 2586"/>
                <a:gd name="T11" fmla="*/ 976 h 1178"/>
                <a:gd name="T12" fmla="*/ 462 w 2586"/>
                <a:gd name="T13" fmla="*/ 938 h 1178"/>
                <a:gd name="T14" fmla="*/ 504 w 2586"/>
                <a:gd name="T15" fmla="*/ 910 h 1178"/>
                <a:gd name="T16" fmla="*/ 539 w 2586"/>
                <a:gd name="T17" fmla="*/ 877 h 1178"/>
                <a:gd name="T18" fmla="*/ 576 w 2586"/>
                <a:gd name="T19" fmla="*/ 836 h 1178"/>
                <a:gd name="T20" fmla="*/ 613 w 2586"/>
                <a:gd name="T21" fmla="*/ 791 h 1178"/>
                <a:gd name="T22" fmla="*/ 647 w 2586"/>
                <a:gd name="T23" fmla="*/ 742 h 1178"/>
                <a:gd name="T24" fmla="*/ 699 w 2586"/>
                <a:gd name="T25" fmla="*/ 655 h 1178"/>
                <a:gd name="T26" fmla="*/ 754 w 2586"/>
                <a:gd name="T27" fmla="*/ 556 h 1178"/>
                <a:gd name="T28" fmla="*/ 807 w 2586"/>
                <a:gd name="T29" fmla="*/ 456 h 1178"/>
                <a:gd name="T30" fmla="*/ 861 w 2586"/>
                <a:gd name="T31" fmla="*/ 355 h 1178"/>
                <a:gd name="T32" fmla="*/ 898 w 2586"/>
                <a:gd name="T33" fmla="*/ 287 h 1178"/>
                <a:gd name="T34" fmla="*/ 932 w 2586"/>
                <a:gd name="T35" fmla="*/ 231 h 1178"/>
                <a:gd name="T36" fmla="*/ 973 w 2586"/>
                <a:gd name="T37" fmla="*/ 176 h 1178"/>
                <a:gd name="T38" fmla="*/ 1018 w 2586"/>
                <a:gd name="T39" fmla="*/ 124 h 1178"/>
                <a:gd name="T40" fmla="*/ 1067 w 2586"/>
                <a:gd name="T41" fmla="*/ 78 h 1178"/>
                <a:gd name="T42" fmla="*/ 1119 w 2586"/>
                <a:gd name="T43" fmla="*/ 41 h 1178"/>
                <a:gd name="T44" fmla="*/ 1174 w 2586"/>
                <a:gd name="T45" fmla="*/ 14 h 1178"/>
                <a:gd name="T46" fmla="*/ 1231 w 2586"/>
                <a:gd name="T47" fmla="*/ 1 h 1178"/>
                <a:gd name="T48" fmla="*/ 1288 w 2586"/>
                <a:gd name="T49" fmla="*/ 2 h 1178"/>
                <a:gd name="T50" fmla="*/ 1341 w 2586"/>
                <a:gd name="T51" fmla="*/ 11 h 1178"/>
                <a:gd name="T52" fmla="*/ 1390 w 2586"/>
                <a:gd name="T53" fmla="*/ 29 h 1178"/>
                <a:gd name="T54" fmla="*/ 1437 w 2586"/>
                <a:gd name="T55" fmla="*/ 57 h 1178"/>
                <a:gd name="T56" fmla="*/ 1483 w 2586"/>
                <a:gd name="T57" fmla="*/ 96 h 1178"/>
                <a:gd name="T58" fmla="*/ 1530 w 2586"/>
                <a:gd name="T59" fmla="*/ 145 h 1178"/>
                <a:gd name="T60" fmla="*/ 1578 w 2586"/>
                <a:gd name="T61" fmla="*/ 204 h 1178"/>
                <a:gd name="T62" fmla="*/ 1630 w 2586"/>
                <a:gd name="T63" fmla="*/ 275 h 1178"/>
                <a:gd name="T64" fmla="*/ 1693 w 2586"/>
                <a:gd name="T65" fmla="*/ 379 h 1178"/>
                <a:gd name="T66" fmla="*/ 1746 w 2586"/>
                <a:gd name="T67" fmla="*/ 498 h 1178"/>
                <a:gd name="T68" fmla="*/ 1797 w 2586"/>
                <a:gd name="T69" fmla="*/ 622 h 1178"/>
                <a:gd name="T70" fmla="*/ 1853 w 2586"/>
                <a:gd name="T71" fmla="*/ 741 h 1178"/>
                <a:gd name="T72" fmla="*/ 1885 w 2586"/>
                <a:gd name="T73" fmla="*/ 791 h 1178"/>
                <a:gd name="T74" fmla="*/ 1913 w 2586"/>
                <a:gd name="T75" fmla="*/ 823 h 1178"/>
                <a:gd name="T76" fmla="*/ 1949 w 2586"/>
                <a:gd name="T77" fmla="*/ 860 h 1178"/>
                <a:gd name="T78" fmla="*/ 1989 w 2586"/>
                <a:gd name="T79" fmla="*/ 896 h 1178"/>
                <a:gd name="T80" fmla="*/ 2033 w 2586"/>
                <a:gd name="T81" fmla="*/ 932 h 1178"/>
                <a:gd name="T82" fmla="*/ 2078 w 2586"/>
                <a:gd name="T83" fmla="*/ 967 h 1178"/>
                <a:gd name="T84" fmla="*/ 2123 w 2586"/>
                <a:gd name="T85" fmla="*/ 998 h 1178"/>
                <a:gd name="T86" fmla="*/ 2164 w 2586"/>
                <a:gd name="T87" fmla="*/ 1024 h 1178"/>
                <a:gd name="T88" fmla="*/ 2209 w 2586"/>
                <a:gd name="T89" fmla="*/ 1048 h 1178"/>
                <a:gd name="T90" fmla="*/ 2262 w 2586"/>
                <a:gd name="T91" fmla="*/ 1073 h 1178"/>
                <a:gd name="T92" fmla="*/ 2318 w 2586"/>
                <a:gd name="T93" fmla="*/ 1098 h 1178"/>
                <a:gd name="T94" fmla="*/ 2377 w 2586"/>
                <a:gd name="T95" fmla="*/ 1122 h 1178"/>
                <a:gd name="T96" fmla="*/ 2435 w 2586"/>
                <a:gd name="T97" fmla="*/ 1142 h 1178"/>
                <a:gd name="T98" fmla="*/ 2489 w 2586"/>
                <a:gd name="T99" fmla="*/ 1159 h 1178"/>
                <a:gd name="T100" fmla="*/ 2537 w 2586"/>
                <a:gd name="T101" fmla="*/ 1171 h 1178"/>
                <a:gd name="T102" fmla="*/ 2577 w 2586"/>
                <a:gd name="T103" fmla="*/ 1176 h 1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86" h="1178">
                  <a:moveTo>
                    <a:pt x="0" y="1177"/>
                  </a:moveTo>
                  <a:lnTo>
                    <a:pt x="6" y="1175"/>
                  </a:lnTo>
                  <a:lnTo>
                    <a:pt x="14" y="1172"/>
                  </a:lnTo>
                  <a:lnTo>
                    <a:pt x="24" y="1168"/>
                  </a:lnTo>
                  <a:lnTo>
                    <a:pt x="36" y="1164"/>
                  </a:lnTo>
                  <a:lnTo>
                    <a:pt x="48" y="1158"/>
                  </a:lnTo>
                  <a:lnTo>
                    <a:pt x="63" y="1151"/>
                  </a:lnTo>
                  <a:lnTo>
                    <a:pt x="79" y="1144"/>
                  </a:lnTo>
                  <a:lnTo>
                    <a:pt x="96" y="1136"/>
                  </a:lnTo>
                  <a:lnTo>
                    <a:pt x="114" y="1127"/>
                  </a:lnTo>
                  <a:lnTo>
                    <a:pt x="132" y="1117"/>
                  </a:lnTo>
                  <a:lnTo>
                    <a:pt x="152" y="1108"/>
                  </a:lnTo>
                  <a:lnTo>
                    <a:pt x="171" y="1098"/>
                  </a:lnTo>
                  <a:lnTo>
                    <a:pt x="193" y="1087"/>
                  </a:lnTo>
                  <a:lnTo>
                    <a:pt x="213" y="1076"/>
                  </a:lnTo>
                  <a:lnTo>
                    <a:pt x="234" y="1065"/>
                  </a:lnTo>
                  <a:lnTo>
                    <a:pt x="256" y="1054"/>
                  </a:lnTo>
                  <a:lnTo>
                    <a:pt x="277" y="1042"/>
                  </a:lnTo>
                  <a:lnTo>
                    <a:pt x="298" y="1031"/>
                  </a:lnTo>
                  <a:lnTo>
                    <a:pt x="319" y="1020"/>
                  </a:lnTo>
                  <a:lnTo>
                    <a:pt x="340" y="1008"/>
                  </a:lnTo>
                  <a:lnTo>
                    <a:pt x="360" y="998"/>
                  </a:lnTo>
                  <a:lnTo>
                    <a:pt x="379" y="986"/>
                  </a:lnTo>
                  <a:lnTo>
                    <a:pt x="398" y="976"/>
                  </a:lnTo>
                  <a:lnTo>
                    <a:pt x="416" y="966"/>
                  </a:lnTo>
                  <a:lnTo>
                    <a:pt x="432" y="955"/>
                  </a:lnTo>
                  <a:lnTo>
                    <a:pt x="448" y="947"/>
                  </a:lnTo>
                  <a:lnTo>
                    <a:pt x="462" y="938"/>
                  </a:lnTo>
                  <a:lnTo>
                    <a:pt x="475" y="930"/>
                  </a:lnTo>
                  <a:lnTo>
                    <a:pt x="486" y="922"/>
                  </a:lnTo>
                  <a:lnTo>
                    <a:pt x="496" y="916"/>
                  </a:lnTo>
                  <a:lnTo>
                    <a:pt x="504" y="910"/>
                  </a:lnTo>
                  <a:lnTo>
                    <a:pt x="509" y="905"/>
                  </a:lnTo>
                  <a:lnTo>
                    <a:pt x="520" y="896"/>
                  </a:lnTo>
                  <a:lnTo>
                    <a:pt x="529" y="888"/>
                  </a:lnTo>
                  <a:lnTo>
                    <a:pt x="539" y="877"/>
                  </a:lnTo>
                  <a:lnTo>
                    <a:pt x="549" y="868"/>
                  </a:lnTo>
                  <a:lnTo>
                    <a:pt x="558" y="857"/>
                  </a:lnTo>
                  <a:lnTo>
                    <a:pt x="567" y="847"/>
                  </a:lnTo>
                  <a:lnTo>
                    <a:pt x="576" y="836"/>
                  </a:lnTo>
                  <a:lnTo>
                    <a:pt x="586" y="826"/>
                  </a:lnTo>
                  <a:lnTo>
                    <a:pt x="595" y="814"/>
                  </a:lnTo>
                  <a:lnTo>
                    <a:pt x="604" y="803"/>
                  </a:lnTo>
                  <a:lnTo>
                    <a:pt x="613" y="791"/>
                  </a:lnTo>
                  <a:lnTo>
                    <a:pt x="621" y="779"/>
                  </a:lnTo>
                  <a:lnTo>
                    <a:pt x="629" y="767"/>
                  </a:lnTo>
                  <a:lnTo>
                    <a:pt x="638" y="755"/>
                  </a:lnTo>
                  <a:lnTo>
                    <a:pt x="647" y="742"/>
                  </a:lnTo>
                  <a:lnTo>
                    <a:pt x="654" y="730"/>
                  </a:lnTo>
                  <a:lnTo>
                    <a:pt x="670" y="704"/>
                  </a:lnTo>
                  <a:lnTo>
                    <a:pt x="685" y="679"/>
                  </a:lnTo>
                  <a:lnTo>
                    <a:pt x="699" y="655"/>
                  </a:lnTo>
                  <a:lnTo>
                    <a:pt x="713" y="630"/>
                  </a:lnTo>
                  <a:lnTo>
                    <a:pt x="727" y="605"/>
                  </a:lnTo>
                  <a:lnTo>
                    <a:pt x="741" y="580"/>
                  </a:lnTo>
                  <a:lnTo>
                    <a:pt x="754" y="556"/>
                  </a:lnTo>
                  <a:lnTo>
                    <a:pt x="767" y="531"/>
                  </a:lnTo>
                  <a:lnTo>
                    <a:pt x="781" y="507"/>
                  </a:lnTo>
                  <a:lnTo>
                    <a:pt x="794" y="482"/>
                  </a:lnTo>
                  <a:lnTo>
                    <a:pt x="807" y="456"/>
                  </a:lnTo>
                  <a:lnTo>
                    <a:pt x="820" y="431"/>
                  </a:lnTo>
                  <a:lnTo>
                    <a:pt x="834" y="406"/>
                  </a:lnTo>
                  <a:lnTo>
                    <a:pt x="847" y="380"/>
                  </a:lnTo>
                  <a:lnTo>
                    <a:pt x="861" y="355"/>
                  </a:lnTo>
                  <a:lnTo>
                    <a:pt x="875" y="327"/>
                  </a:lnTo>
                  <a:lnTo>
                    <a:pt x="882" y="314"/>
                  </a:lnTo>
                  <a:lnTo>
                    <a:pt x="889" y="300"/>
                  </a:lnTo>
                  <a:lnTo>
                    <a:pt x="898" y="287"/>
                  </a:lnTo>
                  <a:lnTo>
                    <a:pt x="906" y="273"/>
                  </a:lnTo>
                  <a:lnTo>
                    <a:pt x="914" y="259"/>
                  </a:lnTo>
                  <a:lnTo>
                    <a:pt x="923" y="245"/>
                  </a:lnTo>
                  <a:lnTo>
                    <a:pt x="932" y="231"/>
                  </a:lnTo>
                  <a:lnTo>
                    <a:pt x="942" y="217"/>
                  </a:lnTo>
                  <a:lnTo>
                    <a:pt x="952" y="203"/>
                  </a:lnTo>
                  <a:lnTo>
                    <a:pt x="962" y="189"/>
                  </a:lnTo>
                  <a:lnTo>
                    <a:pt x="973" y="176"/>
                  </a:lnTo>
                  <a:lnTo>
                    <a:pt x="984" y="162"/>
                  </a:lnTo>
                  <a:lnTo>
                    <a:pt x="995" y="149"/>
                  </a:lnTo>
                  <a:lnTo>
                    <a:pt x="1006" y="136"/>
                  </a:lnTo>
                  <a:lnTo>
                    <a:pt x="1018" y="124"/>
                  </a:lnTo>
                  <a:lnTo>
                    <a:pt x="1030" y="112"/>
                  </a:lnTo>
                  <a:lnTo>
                    <a:pt x="1042" y="100"/>
                  </a:lnTo>
                  <a:lnTo>
                    <a:pt x="1054" y="89"/>
                  </a:lnTo>
                  <a:lnTo>
                    <a:pt x="1067" y="78"/>
                  </a:lnTo>
                  <a:lnTo>
                    <a:pt x="1079" y="68"/>
                  </a:lnTo>
                  <a:lnTo>
                    <a:pt x="1093" y="58"/>
                  </a:lnTo>
                  <a:lnTo>
                    <a:pt x="1105" y="49"/>
                  </a:lnTo>
                  <a:lnTo>
                    <a:pt x="1119" y="41"/>
                  </a:lnTo>
                  <a:lnTo>
                    <a:pt x="1132" y="33"/>
                  </a:lnTo>
                  <a:lnTo>
                    <a:pt x="1146" y="26"/>
                  </a:lnTo>
                  <a:lnTo>
                    <a:pt x="1160" y="20"/>
                  </a:lnTo>
                  <a:lnTo>
                    <a:pt x="1174" y="14"/>
                  </a:lnTo>
                  <a:lnTo>
                    <a:pt x="1188" y="10"/>
                  </a:lnTo>
                  <a:lnTo>
                    <a:pt x="1202" y="6"/>
                  </a:lnTo>
                  <a:lnTo>
                    <a:pt x="1217" y="2"/>
                  </a:lnTo>
                  <a:lnTo>
                    <a:pt x="1231" y="1"/>
                  </a:lnTo>
                  <a:lnTo>
                    <a:pt x="1246" y="0"/>
                  </a:lnTo>
                  <a:lnTo>
                    <a:pt x="1260" y="0"/>
                  </a:lnTo>
                  <a:lnTo>
                    <a:pt x="1274" y="1"/>
                  </a:lnTo>
                  <a:lnTo>
                    <a:pt x="1288" y="2"/>
                  </a:lnTo>
                  <a:lnTo>
                    <a:pt x="1302" y="2"/>
                  </a:lnTo>
                  <a:lnTo>
                    <a:pt x="1315" y="5"/>
                  </a:lnTo>
                  <a:lnTo>
                    <a:pt x="1328" y="7"/>
                  </a:lnTo>
                  <a:lnTo>
                    <a:pt x="1341" y="11"/>
                  </a:lnTo>
                  <a:lnTo>
                    <a:pt x="1353" y="14"/>
                  </a:lnTo>
                  <a:lnTo>
                    <a:pt x="1365" y="18"/>
                  </a:lnTo>
                  <a:lnTo>
                    <a:pt x="1378" y="24"/>
                  </a:lnTo>
                  <a:lnTo>
                    <a:pt x="1390" y="29"/>
                  </a:lnTo>
                  <a:lnTo>
                    <a:pt x="1401" y="36"/>
                  </a:lnTo>
                  <a:lnTo>
                    <a:pt x="1413" y="42"/>
                  </a:lnTo>
                  <a:lnTo>
                    <a:pt x="1425" y="50"/>
                  </a:lnTo>
                  <a:lnTo>
                    <a:pt x="1437" y="57"/>
                  </a:lnTo>
                  <a:lnTo>
                    <a:pt x="1449" y="66"/>
                  </a:lnTo>
                  <a:lnTo>
                    <a:pt x="1460" y="75"/>
                  </a:lnTo>
                  <a:lnTo>
                    <a:pt x="1472" y="85"/>
                  </a:lnTo>
                  <a:lnTo>
                    <a:pt x="1483" y="96"/>
                  </a:lnTo>
                  <a:lnTo>
                    <a:pt x="1495" y="107"/>
                  </a:lnTo>
                  <a:lnTo>
                    <a:pt x="1506" y="118"/>
                  </a:lnTo>
                  <a:lnTo>
                    <a:pt x="1518" y="131"/>
                  </a:lnTo>
                  <a:lnTo>
                    <a:pt x="1530" y="145"/>
                  </a:lnTo>
                  <a:lnTo>
                    <a:pt x="1542" y="158"/>
                  </a:lnTo>
                  <a:lnTo>
                    <a:pt x="1554" y="173"/>
                  </a:lnTo>
                  <a:lnTo>
                    <a:pt x="1566" y="188"/>
                  </a:lnTo>
                  <a:lnTo>
                    <a:pt x="1578" y="204"/>
                  </a:lnTo>
                  <a:lnTo>
                    <a:pt x="1591" y="221"/>
                  </a:lnTo>
                  <a:lnTo>
                    <a:pt x="1604" y="238"/>
                  </a:lnTo>
                  <a:lnTo>
                    <a:pt x="1617" y="256"/>
                  </a:lnTo>
                  <a:lnTo>
                    <a:pt x="1630" y="275"/>
                  </a:lnTo>
                  <a:lnTo>
                    <a:pt x="1644" y="295"/>
                  </a:lnTo>
                  <a:lnTo>
                    <a:pt x="1661" y="322"/>
                  </a:lnTo>
                  <a:lnTo>
                    <a:pt x="1678" y="350"/>
                  </a:lnTo>
                  <a:lnTo>
                    <a:pt x="1693" y="379"/>
                  </a:lnTo>
                  <a:lnTo>
                    <a:pt x="1707" y="407"/>
                  </a:lnTo>
                  <a:lnTo>
                    <a:pt x="1721" y="437"/>
                  </a:lnTo>
                  <a:lnTo>
                    <a:pt x="1734" y="468"/>
                  </a:lnTo>
                  <a:lnTo>
                    <a:pt x="1746" y="498"/>
                  </a:lnTo>
                  <a:lnTo>
                    <a:pt x="1760" y="529"/>
                  </a:lnTo>
                  <a:lnTo>
                    <a:pt x="1772" y="560"/>
                  </a:lnTo>
                  <a:lnTo>
                    <a:pt x="1784" y="590"/>
                  </a:lnTo>
                  <a:lnTo>
                    <a:pt x="1797" y="622"/>
                  </a:lnTo>
                  <a:lnTo>
                    <a:pt x="1810" y="651"/>
                  </a:lnTo>
                  <a:lnTo>
                    <a:pt x="1824" y="681"/>
                  </a:lnTo>
                  <a:lnTo>
                    <a:pt x="1838" y="711"/>
                  </a:lnTo>
                  <a:lnTo>
                    <a:pt x="1853" y="741"/>
                  </a:lnTo>
                  <a:lnTo>
                    <a:pt x="1869" y="769"/>
                  </a:lnTo>
                  <a:lnTo>
                    <a:pt x="1874" y="775"/>
                  </a:lnTo>
                  <a:lnTo>
                    <a:pt x="1878" y="783"/>
                  </a:lnTo>
                  <a:lnTo>
                    <a:pt x="1885" y="791"/>
                  </a:lnTo>
                  <a:lnTo>
                    <a:pt x="1890" y="798"/>
                  </a:lnTo>
                  <a:lnTo>
                    <a:pt x="1897" y="807"/>
                  </a:lnTo>
                  <a:lnTo>
                    <a:pt x="1905" y="815"/>
                  </a:lnTo>
                  <a:lnTo>
                    <a:pt x="1913" y="823"/>
                  </a:lnTo>
                  <a:lnTo>
                    <a:pt x="1921" y="832"/>
                  </a:lnTo>
                  <a:lnTo>
                    <a:pt x="1930" y="841"/>
                  </a:lnTo>
                  <a:lnTo>
                    <a:pt x="1938" y="851"/>
                  </a:lnTo>
                  <a:lnTo>
                    <a:pt x="1949" y="860"/>
                  </a:lnTo>
                  <a:lnTo>
                    <a:pt x="1958" y="869"/>
                  </a:lnTo>
                  <a:lnTo>
                    <a:pt x="1968" y="878"/>
                  </a:lnTo>
                  <a:lnTo>
                    <a:pt x="1979" y="887"/>
                  </a:lnTo>
                  <a:lnTo>
                    <a:pt x="1989" y="896"/>
                  </a:lnTo>
                  <a:lnTo>
                    <a:pt x="2000" y="905"/>
                  </a:lnTo>
                  <a:lnTo>
                    <a:pt x="2010" y="914"/>
                  </a:lnTo>
                  <a:lnTo>
                    <a:pt x="2022" y="924"/>
                  </a:lnTo>
                  <a:lnTo>
                    <a:pt x="2033" y="932"/>
                  </a:lnTo>
                  <a:lnTo>
                    <a:pt x="2044" y="941"/>
                  </a:lnTo>
                  <a:lnTo>
                    <a:pt x="2055" y="951"/>
                  </a:lnTo>
                  <a:lnTo>
                    <a:pt x="2067" y="959"/>
                  </a:lnTo>
                  <a:lnTo>
                    <a:pt x="2078" y="967"/>
                  </a:lnTo>
                  <a:lnTo>
                    <a:pt x="2089" y="975"/>
                  </a:lnTo>
                  <a:lnTo>
                    <a:pt x="2101" y="983"/>
                  </a:lnTo>
                  <a:lnTo>
                    <a:pt x="2111" y="991"/>
                  </a:lnTo>
                  <a:lnTo>
                    <a:pt x="2123" y="998"/>
                  </a:lnTo>
                  <a:lnTo>
                    <a:pt x="2133" y="1005"/>
                  </a:lnTo>
                  <a:lnTo>
                    <a:pt x="2144" y="1012"/>
                  </a:lnTo>
                  <a:lnTo>
                    <a:pt x="2154" y="1017"/>
                  </a:lnTo>
                  <a:lnTo>
                    <a:pt x="2164" y="1024"/>
                  </a:lnTo>
                  <a:lnTo>
                    <a:pt x="2174" y="1029"/>
                  </a:lnTo>
                  <a:lnTo>
                    <a:pt x="2185" y="1036"/>
                  </a:lnTo>
                  <a:lnTo>
                    <a:pt x="2197" y="1041"/>
                  </a:lnTo>
                  <a:lnTo>
                    <a:pt x="2209" y="1048"/>
                  </a:lnTo>
                  <a:lnTo>
                    <a:pt x="2222" y="1054"/>
                  </a:lnTo>
                  <a:lnTo>
                    <a:pt x="2234" y="1060"/>
                  </a:lnTo>
                  <a:lnTo>
                    <a:pt x="2249" y="1066"/>
                  </a:lnTo>
                  <a:lnTo>
                    <a:pt x="2262" y="1073"/>
                  </a:lnTo>
                  <a:lnTo>
                    <a:pt x="2275" y="1079"/>
                  </a:lnTo>
                  <a:lnTo>
                    <a:pt x="2290" y="1085"/>
                  </a:lnTo>
                  <a:lnTo>
                    <a:pt x="2305" y="1092"/>
                  </a:lnTo>
                  <a:lnTo>
                    <a:pt x="2318" y="1098"/>
                  </a:lnTo>
                  <a:lnTo>
                    <a:pt x="2333" y="1104"/>
                  </a:lnTo>
                  <a:lnTo>
                    <a:pt x="2348" y="1109"/>
                  </a:lnTo>
                  <a:lnTo>
                    <a:pt x="2362" y="1116"/>
                  </a:lnTo>
                  <a:lnTo>
                    <a:pt x="2377" y="1122"/>
                  </a:lnTo>
                  <a:lnTo>
                    <a:pt x="2392" y="1127"/>
                  </a:lnTo>
                  <a:lnTo>
                    <a:pt x="2407" y="1132"/>
                  </a:lnTo>
                  <a:lnTo>
                    <a:pt x="2421" y="1137"/>
                  </a:lnTo>
                  <a:lnTo>
                    <a:pt x="2435" y="1142"/>
                  </a:lnTo>
                  <a:lnTo>
                    <a:pt x="2448" y="1146"/>
                  </a:lnTo>
                  <a:lnTo>
                    <a:pt x="2463" y="1151"/>
                  </a:lnTo>
                  <a:lnTo>
                    <a:pt x="2476" y="1156"/>
                  </a:lnTo>
                  <a:lnTo>
                    <a:pt x="2489" y="1159"/>
                  </a:lnTo>
                  <a:lnTo>
                    <a:pt x="2502" y="1162"/>
                  </a:lnTo>
                  <a:lnTo>
                    <a:pt x="2514" y="1165"/>
                  </a:lnTo>
                  <a:lnTo>
                    <a:pt x="2526" y="1169"/>
                  </a:lnTo>
                  <a:lnTo>
                    <a:pt x="2537" y="1171"/>
                  </a:lnTo>
                  <a:lnTo>
                    <a:pt x="2548" y="1173"/>
                  </a:lnTo>
                  <a:lnTo>
                    <a:pt x="2558" y="1175"/>
                  </a:lnTo>
                  <a:lnTo>
                    <a:pt x="2568" y="1176"/>
                  </a:lnTo>
                  <a:lnTo>
                    <a:pt x="2577" y="1176"/>
                  </a:lnTo>
                  <a:lnTo>
                    <a:pt x="2585" y="1177"/>
                  </a:lnTo>
                </a:path>
              </a:pathLst>
            </a:custGeom>
            <a:noFill/>
            <a:ln w="50800" cap="rnd"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7" name="Freeform 3"/>
            <p:cNvSpPr>
              <a:spLocks/>
            </p:cNvSpPr>
            <p:nvPr/>
          </p:nvSpPr>
          <p:spPr bwMode="auto">
            <a:xfrm>
              <a:off x="685800" y="1591336"/>
              <a:ext cx="7772400" cy="1211263"/>
            </a:xfrm>
            <a:custGeom>
              <a:avLst/>
              <a:gdLst>
                <a:gd name="T0" fmla="*/ 0 w 4195"/>
                <a:gd name="T1" fmla="*/ 0 h 1819"/>
                <a:gd name="T2" fmla="*/ 0 w 4195"/>
                <a:gd name="T3" fmla="*/ 1818 h 1819"/>
                <a:gd name="T4" fmla="*/ 4194 w 4195"/>
                <a:gd name="T5" fmla="*/ 1818 h 1819"/>
              </a:gdLst>
              <a:ahLst/>
              <a:cxnLst>
                <a:cxn ang="0">
                  <a:pos x="T0" y="T1"/>
                </a:cxn>
                <a:cxn ang="0">
                  <a:pos x="T2" y="T3"/>
                </a:cxn>
                <a:cxn ang="0">
                  <a:pos x="T4" y="T5"/>
                </a:cxn>
              </a:cxnLst>
              <a:rect l="0" t="0" r="r" b="b"/>
              <a:pathLst>
                <a:path w="4195" h="1819">
                  <a:moveTo>
                    <a:pt x="0" y="0"/>
                  </a:moveTo>
                  <a:lnTo>
                    <a:pt x="0" y="1818"/>
                  </a:lnTo>
                  <a:lnTo>
                    <a:pt x="4194" y="1818"/>
                  </a:lnTo>
                </a:path>
              </a:pathLst>
            </a:custGeom>
            <a:noFill/>
            <a:ln w="508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8" name="Freeform 4"/>
            <p:cNvSpPr>
              <a:spLocks/>
            </p:cNvSpPr>
            <p:nvPr/>
          </p:nvSpPr>
          <p:spPr bwMode="auto">
            <a:xfrm>
              <a:off x="4038600" y="1905000"/>
              <a:ext cx="1828800" cy="833438"/>
            </a:xfrm>
            <a:custGeom>
              <a:avLst/>
              <a:gdLst>
                <a:gd name="T0" fmla="*/ 24 w 2586"/>
                <a:gd name="T1" fmla="*/ 1168 h 1178"/>
                <a:gd name="T2" fmla="*/ 79 w 2586"/>
                <a:gd name="T3" fmla="*/ 1144 h 1178"/>
                <a:gd name="T4" fmla="*/ 152 w 2586"/>
                <a:gd name="T5" fmla="*/ 1108 h 1178"/>
                <a:gd name="T6" fmla="*/ 234 w 2586"/>
                <a:gd name="T7" fmla="*/ 1065 h 1178"/>
                <a:gd name="T8" fmla="*/ 319 w 2586"/>
                <a:gd name="T9" fmla="*/ 1020 h 1178"/>
                <a:gd name="T10" fmla="*/ 398 w 2586"/>
                <a:gd name="T11" fmla="*/ 976 h 1178"/>
                <a:gd name="T12" fmla="*/ 462 w 2586"/>
                <a:gd name="T13" fmla="*/ 938 h 1178"/>
                <a:gd name="T14" fmla="*/ 504 w 2586"/>
                <a:gd name="T15" fmla="*/ 910 h 1178"/>
                <a:gd name="T16" fmla="*/ 539 w 2586"/>
                <a:gd name="T17" fmla="*/ 877 h 1178"/>
                <a:gd name="T18" fmla="*/ 576 w 2586"/>
                <a:gd name="T19" fmla="*/ 836 h 1178"/>
                <a:gd name="T20" fmla="*/ 613 w 2586"/>
                <a:gd name="T21" fmla="*/ 791 h 1178"/>
                <a:gd name="T22" fmla="*/ 647 w 2586"/>
                <a:gd name="T23" fmla="*/ 742 h 1178"/>
                <a:gd name="T24" fmla="*/ 699 w 2586"/>
                <a:gd name="T25" fmla="*/ 655 h 1178"/>
                <a:gd name="T26" fmla="*/ 754 w 2586"/>
                <a:gd name="T27" fmla="*/ 556 h 1178"/>
                <a:gd name="T28" fmla="*/ 807 w 2586"/>
                <a:gd name="T29" fmla="*/ 456 h 1178"/>
                <a:gd name="T30" fmla="*/ 861 w 2586"/>
                <a:gd name="T31" fmla="*/ 355 h 1178"/>
                <a:gd name="T32" fmla="*/ 898 w 2586"/>
                <a:gd name="T33" fmla="*/ 287 h 1178"/>
                <a:gd name="T34" fmla="*/ 932 w 2586"/>
                <a:gd name="T35" fmla="*/ 231 h 1178"/>
                <a:gd name="T36" fmla="*/ 973 w 2586"/>
                <a:gd name="T37" fmla="*/ 176 h 1178"/>
                <a:gd name="T38" fmla="*/ 1018 w 2586"/>
                <a:gd name="T39" fmla="*/ 124 h 1178"/>
                <a:gd name="T40" fmla="*/ 1067 w 2586"/>
                <a:gd name="T41" fmla="*/ 78 h 1178"/>
                <a:gd name="T42" fmla="*/ 1119 w 2586"/>
                <a:gd name="T43" fmla="*/ 41 h 1178"/>
                <a:gd name="T44" fmla="*/ 1174 w 2586"/>
                <a:gd name="T45" fmla="*/ 14 h 1178"/>
                <a:gd name="T46" fmla="*/ 1231 w 2586"/>
                <a:gd name="T47" fmla="*/ 1 h 1178"/>
                <a:gd name="T48" fmla="*/ 1288 w 2586"/>
                <a:gd name="T49" fmla="*/ 2 h 1178"/>
                <a:gd name="T50" fmla="*/ 1341 w 2586"/>
                <a:gd name="T51" fmla="*/ 11 h 1178"/>
                <a:gd name="T52" fmla="*/ 1390 w 2586"/>
                <a:gd name="T53" fmla="*/ 29 h 1178"/>
                <a:gd name="T54" fmla="*/ 1437 w 2586"/>
                <a:gd name="T55" fmla="*/ 57 h 1178"/>
                <a:gd name="T56" fmla="*/ 1483 w 2586"/>
                <a:gd name="T57" fmla="*/ 96 h 1178"/>
                <a:gd name="T58" fmla="*/ 1530 w 2586"/>
                <a:gd name="T59" fmla="*/ 145 h 1178"/>
                <a:gd name="T60" fmla="*/ 1578 w 2586"/>
                <a:gd name="T61" fmla="*/ 204 h 1178"/>
                <a:gd name="T62" fmla="*/ 1630 w 2586"/>
                <a:gd name="T63" fmla="*/ 275 h 1178"/>
                <a:gd name="T64" fmla="*/ 1693 w 2586"/>
                <a:gd name="T65" fmla="*/ 379 h 1178"/>
                <a:gd name="T66" fmla="*/ 1746 w 2586"/>
                <a:gd name="T67" fmla="*/ 498 h 1178"/>
                <a:gd name="T68" fmla="*/ 1797 w 2586"/>
                <a:gd name="T69" fmla="*/ 622 h 1178"/>
                <a:gd name="T70" fmla="*/ 1853 w 2586"/>
                <a:gd name="T71" fmla="*/ 741 h 1178"/>
                <a:gd name="T72" fmla="*/ 1885 w 2586"/>
                <a:gd name="T73" fmla="*/ 791 h 1178"/>
                <a:gd name="T74" fmla="*/ 1913 w 2586"/>
                <a:gd name="T75" fmla="*/ 823 h 1178"/>
                <a:gd name="T76" fmla="*/ 1949 w 2586"/>
                <a:gd name="T77" fmla="*/ 860 h 1178"/>
                <a:gd name="T78" fmla="*/ 1989 w 2586"/>
                <a:gd name="T79" fmla="*/ 896 h 1178"/>
                <a:gd name="T80" fmla="*/ 2033 w 2586"/>
                <a:gd name="T81" fmla="*/ 932 h 1178"/>
                <a:gd name="T82" fmla="*/ 2078 w 2586"/>
                <a:gd name="T83" fmla="*/ 967 h 1178"/>
                <a:gd name="T84" fmla="*/ 2123 w 2586"/>
                <a:gd name="T85" fmla="*/ 998 h 1178"/>
                <a:gd name="T86" fmla="*/ 2164 w 2586"/>
                <a:gd name="T87" fmla="*/ 1024 h 1178"/>
                <a:gd name="T88" fmla="*/ 2209 w 2586"/>
                <a:gd name="T89" fmla="*/ 1048 h 1178"/>
                <a:gd name="T90" fmla="*/ 2262 w 2586"/>
                <a:gd name="T91" fmla="*/ 1073 h 1178"/>
                <a:gd name="T92" fmla="*/ 2318 w 2586"/>
                <a:gd name="T93" fmla="*/ 1098 h 1178"/>
                <a:gd name="T94" fmla="*/ 2377 w 2586"/>
                <a:gd name="T95" fmla="*/ 1122 h 1178"/>
                <a:gd name="T96" fmla="*/ 2435 w 2586"/>
                <a:gd name="T97" fmla="*/ 1142 h 1178"/>
                <a:gd name="T98" fmla="*/ 2489 w 2586"/>
                <a:gd name="T99" fmla="*/ 1159 h 1178"/>
                <a:gd name="T100" fmla="*/ 2537 w 2586"/>
                <a:gd name="T101" fmla="*/ 1171 h 1178"/>
                <a:gd name="T102" fmla="*/ 2577 w 2586"/>
                <a:gd name="T103" fmla="*/ 1176 h 1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86" h="1178">
                  <a:moveTo>
                    <a:pt x="0" y="1177"/>
                  </a:moveTo>
                  <a:lnTo>
                    <a:pt x="6" y="1175"/>
                  </a:lnTo>
                  <a:lnTo>
                    <a:pt x="14" y="1172"/>
                  </a:lnTo>
                  <a:lnTo>
                    <a:pt x="24" y="1168"/>
                  </a:lnTo>
                  <a:lnTo>
                    <a:pt x="36" y="1164"/>
                  </a:lnTo>
                  <a:lnTo>
                    <a:pt x="48" y="1158"/>
                  </a:lnTo>
                  <a:lnTo>
                    <a:pt x="63" y="1151"/>
                  </a:lnTo>
                  <a:lnTo>
                    <a:pt x="79" y="1144"/>
                  </a:lnTo>
                  <a:lnTo>
                    <a:pt x="96" y="1136"/>
                  </a:lnTo>
                  <a:lnTo>
                    <a:pt x="114" y="1127"/>
                  </a:lnTo>
                  <a:lnTo>
                    <a:pt x="132" y="1117"/>
                  </a:lnTo>
                  <a:lnTo>
                    <a:pt x="152" y="1108"/>
                  </a:lnTo>
                  <a:lnTo>
                    <a:pt x="171" y="1098"/>
                  </a:lnTo>
                  <a:lnTo>
                    <a:pt x="193" y="1087"/>
                  </a:lnTo>
                  <a:lnTo>
                    <a:pt x="213" y="1076"/>
                  </a:lnTo>
                  <a:lnTo>
                    <a:pt x="234" y="1065"/>
                  </a:lnTo>
                  <a:lnTo>
                    <a:pt x="256" y="1054"/>
                  </a:lnTo>
                  <a:lnTo>
                    <a:pt x="277" y="1042"/>
                  </a:lnTo>
                  <a:lnTo>
                    <a:pt x="298" y="1031"/>
                  </a:lnTo>
                  <a:lnTo>
                    <a:pt x="319" y="1020"/>
                  </a:lnTo>
                  <a:lnTo>
                    <a:pt x="340" y="1008"/>
                  </a:lnTo>
                  <a:lnTo>
                    <a:pt x="360" y="998"/>
                  </a:lnTo>
                  <a:lnTo>
                    <a:pt x="379" y="986"/>
                  </a:lnTo>
                  <a:lnTo>
                    <a:pt x="398" y="976"/>
                  </a:lnTo>
                  <a:lnTo>
                    <a:pt x="416" y="966"/>
                  </a:lnTo>
                  <a:lnTo>
                    <a:pt x="432" y="955"/>
                  </a:lnTo>
                  <a:lnTo>
                    <a:pt x="448" y="947"/>
                  </a:lnTo>
                  <a:lnTo>
                    <a:pt x="462" y="938"/>
                  </a:lnTo>
                  <a:lnTo>
                    <a:pt x="475" y="930"/>
                  </a:lnTo>
                  <a:lnTo>
                    <a:pt x="486" y="922"/>
                  </a:lnTo>
                  <a:lnTo>
                    <a:pt x="496" y="916"/>
                  </a:lnTo>
                  <a:lnTo>
                    <a:pt x="504" y="910"/>
                  </a:lnTo>
                  <a:lnTo>
                    <a:pt x="509" y="905"/>
                  </a:lnTo>
                  <a:lnTo>
                    <a:pt x="520" y="896"/>
                  </a:lnTo>
                  <a:lnTo>
                    <a:pt x="529" y="888"/>
                  </a:lnTo>
                  <a:lnTo>
                    <a:pt x="539" y="877"/>
                  </a:lnTo>
                  <a:lnTo>
                    <a:pt x="549" y="868"/>
                  </a:lnTo>
                  <a:lnTo>
                    <a:pt x="558" y="857"/>
                  </a:lnTo>
                  <a:lnTo>
                    <a:pt x="567" y="847"/>
                  </a:lnTo>
                  <a:lnTo>
                    <a:pt x="576" y="836"/>
                  </a:lnTo>
                  <a:lnTo>
                    <a:pt x="586" y="826"/>
                  </a:lnTo>
                  <a:lnTo>
                    <a:pt x="595" y="814"/>
                  </a:lnTo>
                  <a:lnTo>
                    <a:pt x="604" y="803"/>
                  </a:lnTo>
                  <a:lnTo>
                    <a:pt x="613" y="791"/>
                  </a:lnTo>
                  <a:lnTo>
                    <a:pt x="621" y="779"/>
                  </a:lnTo>
                  <a:lnTo>
                    <a:pt x="629" y="767"/>
                  </a:lnTo>
                  <a:lnTo>
                    <a:pt x="638" y="755"/>
                  </a:lnTo>
                  <a:lnTo>
                    <a:pt x="647" y="742"/>
                  </a:lnTo>
                  <a:lnTo>
                    <a:pt x="654" y="730"/>
                  </a:lnTo>
                  <a:lnTo>
                    <a:pt x="670" y="704"/>
                  </a:lnTo>
                  <a:lnTo>
                    <a:pt x="685" y="679"/>
                  </a:lnTo>
                  <a:lnTo>
                    <a:pt x="699" y="655"/>
                  </a:lnTo>
                  <a:lnTo>
                    <a:pt x="713" y="630"/>
                  </a:lnTo>
                  <a:lnTo>
                    <a:pt x="727" y="605"/>
                  </a:lnTo>
                  <a:lnTo>
                    <a:pt x="741" y="580"/>
                  </a:lnTo>
                  <a:lnTo>
                    <a:pt x="754" y="556"/>
                  </a:lnTo>
                  <a:lnTo>
                    <a:pt x="767" y="531"/>
                  </a:lnTo>
                  <a:lnTo>
                    <a:pt x="781" y="507"/>
                  </a:lnTo>
                  <a:lnTo>
                    <a:pt x="794" y="482"/>
                  </a:lnTo>
                  <a:lnTo>
                    <a:pt x="807" y="456"/>
                  </a:lnTo>
                  <a:lnTo>
                    <a:pt x="820" y="431"/>
                  </a:lnTo>
                  <a:lnTo>
                    <a:pt x="834" y="406"/>
                  </a:lnTo>
                  <a:lnTo>
                    <a:pt x="847" y="380"/>
                  </a:lnTo>
                  <a:lnTo>
                    <a:pt x="861" y="355"/>
                  </a:lnTo>
                  <a:lnTo>
                    <a:pt x="875" y="327"/>
                  </a:lnTo>
                  <a:lnTo>
                    <a:pt x="882" y="314"/>
                  </a:lnTo>
                  <a:lnTo>
                    <a:pt x="889" y="300"/>
                  </a:lnTo>
                  <a:lnTo>
                    <a:pt x="898" y="287"/>
                  </a:lnTo>
                  <a:lnTo>
                    <a:pt x="906" y="273"/>
                  </a:lnTo>
                  <a:lnTo>
                    <a:pt x="914" y="259"/>
                  </a:lnTo>
                  <a:lnTo>
                    <a:pt x="923" y="245"/>
                  </a:lnTo>
                  <a:lnTo>
                    <a:pt x="932" y="231"/>
                  </a:lnTo>
                  <a:lnTo>
                    <a:pt x="942" y="217"/>
                  </a:lnTo>
                  <a:lnTo>
                    <a:pt x="952" y="203"/>
                  </a:lnTo>
                  <a:lnTo>
                    <a:pt x="962" y="189"/>
                  </a:lnTo>
                  <a:lnTo>
                    <a:pt x="973" y="176"/>
                  </a:lnTo>
                  <a:lnTo>
                    <a:pt x="984" y="162"/>
                  </a:lnTo>
                  <a:lnTo>
                    <a:pt x="995" y="149"/>
                  </a:lnTo>
                  <a:lnTo>
                    <a:pt x="1006" y="136"/>
                  </a:lnTo>
                  <a:lnTo>
                    <a:pt x="1018" y="124"/>
                  </a:lnTo>
                  <a:lnTo>
                    <a:pt x="1030" y="112"/>
                  </a:lnTo>
                  <a:lnTo>
                    <a:pt x="1042" y="100"/>
                  </a:lnTo>
                  <a:lnTo>
                    <a:pt x="1054" y="89"/>
                  </a:lnTo>
                  <a:lnTo>
                    <a:pt x="1067" y="78"/>
                  </a:lnTo>
                  <a:lnTo>
                    <a:pt x="1079" y="68"/>
                  </a:lnTo>
                  <a:lnTo>
                    <a:pt x="1093" y="58"/>
                  </a:lnTo>
                  <a:lnTo>
                    <a:pt x="1105" y="49"/>
                  </a:lnTo>
                  <a:lnTo>
                    <a:pt x="1119" y="41"/>
                  </a:lnTo>
                  <a:lnTo>
                    <a:pt x="1132" y="33"/>
                  </a:lnTo>
                  <a:lnTo>
                    <a:pt x="1146" y="26"/>
                  </a:lnTo>
                  <a:lnTo>
                    <a:pt x="1160" y="20"/>
                  </a:lnTo>
                  <a:lnTo>
                    <a:pt x="1174" y="14"/>
                  </a:lnTo>
                  <a:lnTo>
                    <a:pt x="1188" y="10"/>
                  </a:lnTo>
                  <a:lnTo>
                    <a:pt x="1202" y="6"/>
                  </a:lnTo>
                  <a:lnTo>
                    <a:pt x="1217" y="2"/>
                  </a:lnTo>
                  <a:lnTo>
                    <a:pt x="1231" y="1"/>
                  </a:lnTo>
                  <a:lnTo>
                    <a:pt x="1246" y="0"/>
                  </a:lnTo>
                  <a:lnTo>
                    <a:pt x="1260" y="0"/>
                  </a:lnTo>
                  <a:lnTo>
                    <a:pt x="1274" y="1"/>
                  </a:lnTo>
                  <a:lnTo>
                    <a:pt x="1288" y="2"/>
                  </a:lnTo>
                  <a:lnTo>
                    <a:pt x="1302" y="2"/>
                  </a:lnTo>
                  <a:lnTo>
                    <a:pt x="1315" y="5"/>
                  </a:lnTo>
                  <a:lnTo>
                    <a:pt x="1328" y="7"/>
                  </a:lnTo>
                  <a:lnTo>
                    <a:pt x="1341" y="11"/>
                  </a:lnTo>
                  <a:lnTo>
                    <a:pt x="1353" y="14"/>
                  </a:lnTo>
                  <a:lnTo>
                    <a:pt x="1365" y="18"/>
                  </a:lnTo>
                  <a:lnTo>
                    <a:pt x="1378" y="24"/>
                  </a:lnTo>
                  <a:lnTo>
                    <a:pt x="1390" y="29"/>
                  </a:lnTo>
                  <a:lnTo>
                    <a:pt x="1401" y="36"/>
                  </a:lnTo>
                  <a:lnTo>
                    <a:pt x="1413" y="42"/>
                  </a:lnTo>
                  <a:lnTo>
                    <a:pt x="1425" y="50"/>
                  </a:lnTo>
                  <a:lnTo>
                    <a:pt x="1437" y="57"/>
                  </a:lnTo>
                  <a:lnTo>
                    <a:pt x="1449" y="66"/>
                  </a:lnTo>
                  <a:lnTo>
                    <a:pt x="1460" y="75"/>
                  </a:lnTo>
                  <a:lnTo>
                    <a:pt x="1472" y="85"/>
                  </a:lnTo>
                  <a:lnTo>
                    <a:pt x="1483" y="96"/>
                  </a:lnTo>
                  <a:lnTo>
                    <a:pt x="1495" y="107"/>
                  </a:lnTo>
                  <a:lnTo>
                    <a:pt x="1506" y="118"/>
                  </a:lnTo>
                  <a:lnTo>
                    <a:pt x="1518" y="131"/>
                  </a:lnTo>
                  <a:lnTo>
                    <a:pt x="1530" y="145"/>
                  </a:lnTo>
                  <a:lnTo>
                    <a:pt x="1542" y="158"/>
                  </a:lnTo>
                  <a:lnTo>
                    <a:pt x="1554" y="173"/>
                  </a:lnTo>
                  <a:lnTo>
                    <a:pt x="1566" y="188"/>
                  </a:lnTo>
                  <a:lnTo>
                    <a:pt x="1578" y="204"/>
                  </a:lnTo>
                  <a:lnTo>
                    <a:pt x="1591" y="221"/>
                  </a:lnTo>
                  <a:lnTo>
                    <a:pt x="1604" y="238"/>
                  </a:lnTo>
                  <a:lnTo>
                    <a:pt x="1617" y="256"/>
                  </a:lnTo>
                  <a:lnTo>
                    <a:pt x="1630" y="275"/>
                  </a:lnTo>
                  <a:lnTo>
                    <a:pt x="1644" y="295"/>
                  </a:lnTo>
                  <a:lnTo>
                    <a:pt x="1661" y="322"/>
                  </a:lnTo>
                  <a:lnTo>
                    <a:pt x="1678" y="350"/>
                  </a:lnTo>
                  <a:lnTo>
                    <a:pt x="1693" y="379"/>
                  </a:lnTo>
                  <a:lnTo>
                    <a:pt x="1707" y="407"/>
                  </a:lnTo>
                  <a:lnTo>
                    <a:pt x="1721" y="437"/>
                  </a:lnTo>
                  <a:lnTo>
                    <a:pt x="1734" y="468"/>
                  </a:lnTo>
                  <a:lnTo>
                    <a:pt x="1746" y="498"/>
                  </a:lnTo>
                  <a:lnTo>
                    <a:pt x="1760" y="529"/>
                  </a:lnTo>
                  <a:lnTo>
                    <a:pt x="1772" y="560"/>
                  </a:lnTo>
                  <a:lnTo>
                    <a:pt x="1784" y="590"/>
                  </a:lnTo>
                  <a:lnTo>
                    <a:pt x="1797" y="622"/>
                  </a:lnTo>
                  <a:lnTo>
                    <a:pt x="1810" y="651"/>
                  </a:lnTo>
                  <a:lnTo>
                    <a:pt x="1824" y="681"/>
                  </a:lnTo>
                  <a:lnTo>
                    <a:pt x="1838" y="711"/>
                  </a:lnTo>
                  <a:lnTo>
                    <a:pt x="1853" y="741"/>
                  </a:lnTo>
                  <a:lnTo>
                    <a:pt x="1869" y="769"/>
                  </a:lnTo>
                  <a:lnTo>
                    <a:pt x="1874" y="775"/>
                  </a:lnTo>
                  <a:lnTo>
                    <a:pt x="1878" y="783"/>
                  </a:lnTo>
                  <a:lnTo>
                    <a:pt x="1885" y="791"/>
                  </a:lnTo>
                  <a:lnTo>
                    <a:pt x="1890" y="798"/>
                  </a:lnTo>
                  <a:lnTo>
                    <a:pt x="1897" y="807"/>
                  </a:lnTo>
                  <a:lnTo>
                    <a:pt x="1905" y="815"/>
                  </a:lnTo>
                  <a:lnTo>
                    <a:pt x="1913" y="823"/>
                  </a:lnTo>
                  <a:lnTo>
                    <a:pt x="1921" y="832"/>
                  </a:lnTo>
                  <a:lnTo>
                    <a:pt x="1930" y="841"/>
                  </a:lnTo>
                  <a:lnTo>
                    <a:pt x="1938" y="851"/>
                  </a:lnTo>
                  <a:lnTo>
                    <a:pt x="1949" y="860"/>
                  </a:lnTo>
                  <a:lnTo>
                    <a:pt x="1958" y="869"/>
                  </a:lnTo>
                  <a:lnTo>
                    <a:pt x="1968" y="878"/>
                  </a:lnTo>
                  <a:lnTo>
                    <a:pt x="1979" y="887"/>
                  </a:lnTo>
                  <a:lnTo>
                    <a:pt x="1989" y="896"/>
                  </a:lnTo>
                  <a:lnTo>
                    <a:pt x="2000" y="905"/>
                  </a:lnTo>
                  <a:lnTo>
                    <a:pt x="2010" y="914"/>
                  </a:lnTo>
                  <a:lnTo>
                    <a:pt x="2022" y="924"/>
                  </a:lnTo>
                  <a:lnTo>
                    <a:pt x="2033" y="932"/>
                  </a:lnTo>
                  <a:lnTo>
                    <a:pt x="2044" y="941"/>
                  </a:lnTo>
                  <a:lnTo>
                    <a:pt x="2055" y="951"/>
                  </a:lnTo>
                  <a:lnTo>
                    <a:pt x="2067" y="959"/>
                  </a:lnTo>
                  <a:lnTo>
                    <a:pt x="2078" y="967"/>
                  </a:lnTo>
                  <a:lnTo>
                    <a:pt x="2089" y="975"/>
                  </a:lnTo>
                  <a:lnTo>
                    <a:pt x="2101" y="983"/>
                  </a:lnTo>
                  <a:lnTo>
                    <a:pt x="2111" y="991"/>
                  </a:lnTo>
                  <a:lnTo>
                    <a:pt x="2123" y="998"/>
                  </a:lnTo>
                  <a:lnTo>
                    <a:pt x="2133" y="1005"/>
                  </a:lnTo>
                  <a:lnTo>
                    <a:pt x="2144" y="1012"/>
                  </a:lnTo>
                  <a:lnTo>
                    <a:pt x="2154" y="1017"/>
                  </a:lnTo>
                  <a:lnTo>
                    <a:pt x="2164" y="1024"/>
                  </a:lnTo>
                  <a:lnTo>
                    <a:pt x="2174" y="1029"/>
                  </a:lnTo>
                  <a:lnTo>
                    <a:pt x="2185" y="1036"/>
                  </a:lnTo>
                  <a:lnTo>
                    <a:pt x="2197" y="1041"/>
                  </a:lnTo>
                  <a:lnTo>
                    <a:pt x="2209" y="1048"/>
                  </a:lnTo>
                  <a:lnTo>
                    <a:pt x="2222" y="1054"/>
                  </a:lnTo>
                  <a:lnTo>
                    <a:pt x="2234" y="1060"/>
                  </a:lnTo>
                  <a:lnTo>
                    <a:pt x="2249" y="1066"/>
                  </a:lnTo>
                  <a:lnTo>
                    <a:pt x="2262" y="1073"/>
                  </a:lnTo>
                  <a:lnTo>
                    <a:pt x="2275" y="1079"/>
                  </a:lnTo>
                  <a:lnTo>
                    <a:pt x="2290" y="1085"/>
                  </a:lnTo>
                  <a:lnTo>
                    <a:pt x="2305" y="1092"/>
                  </a:lnTo>
                  <a:lnTo>
                    <a:pt x="2318" y="1098"/>
                  </a:lnTo>
                  <a:lnTo>
                    <a:pt x="2333" y="1104"/>
                  </a:lnTo>
                  <a:lnTo>
                    <a:pt x="2348" y="1109"/>
                  </a:lnTo>
                  <a:lnTo>
                    <a:pt x="2362" y="1116"/>
                  </a:lnTo>
                  <a:lnTo>
                    <a:pt x="2377" y="1122"/>
                  </a:lnTo>
                  <a:lnTo>
                    <a:pt x="2392" y="1127"/>
                  </a:lnTo>
                  <a:lnTo>
                    <a:pt x="2407" y="1132"/>
                  </a:lnTo>
                  <a:lnTo>
                    <a:pt x="2421" y="1137"/>
                  </a:lnTo>
                  <a:lnTo>
                    <a:pt x="2435" y="1142"/>
                  </a:lnTo>
                  <a:lnTo>
                    <a:pt x="2448" y="1146"/>
                  </a:lnTo>
                  <a:lnTo>
                    <a:pt x="2463" y="1151"/>
                  </a:lnTo>
                  <a:lnTo>
                    <a:pt x="2476" y="1156"/>
                  </a:lnTo>
                  <a:lnTo>
                    <a:pt x="2489" y="1159"/>
                  </a:lnTo>
                  <a:lnTo>
                    <a:pt x="2502" y="1162"/>
                  </a:lnTo>
                  <a:lnTo>
                    <a:pt x="2514" y="1165"/>
                  </a:lnTo>
                  <a:lnTo>
                    <a:pt x="2526" y="1169"/>
                  </a:lnTo>
                  <a:lnTo>
                    <a:pt x="2537" y="1171"/>
                  </a:lnTo>
                  <a:lnTo>
                    <a:pt x="2548" y="1173"/>
                  </a:lnTo>
                  <a:lnTo>
                    <a:pt x="2558" y="1175"/>
                  </a:lnTo>
                  <a:lnTo>
                    <a:pt x="2568" y="1176"/>
                  </a:lnTo>
                  <a:lnTo>
                    <a:pt x="2577" y="1176"/>
                  </a:lnTo>
                  <a:lnTo>
                    <a:pt x="2585" y="1177"/>
                  </a:lnTo>
                </a:path>
              </a:pathLst>
            </a:custGeom>
            <a:noFill/>
            <a:ln w="508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9" name="Freeform 5"/>
            <p:cNvSpPr>
              <a:spLocks/>
            </p:cNvSpPr>
            <p:nvPr/>
          </p:nvSpPr>
          <p:spPr bwMode="auto">
            <a:xfrm>
              <a:off x="4876800" y="1905000"/>
              <a:ext cx="1828800" cy="833438"/>
            </a:xfrm>
            <a:custGeom>
              <a:avLst/>
              <a:gdLst>
                <a:gd name="T0" fmla="*/ 24 w 2586"/>
                <a:gd name="T1" fmla="*/ 1168 h 1178"/>
                <a:gd name="T2" fmla="*/ 79 w 2586"/>
                <a:gd name="T3" fmla="*/ 1144 h 1178"/>
                <a:gd name="T4" fmla="*/ 152 w 2586"/>
                <a:gd name="T5" fmla="*/ 1108 h 1178"/>
                <a:gd name="T6" fmla="*/ 234 w 2586"/>
                <a:gd name="T7" fmla="*/ 1065 h 1178"/>
                <a:gd name="T8" fmla="*/ 319 w 2586"/>
                <a:gd name="T9" fmla="*/ 1020 h 1178"/>
                <a:gd name="T10" fmla="*/ 398 w 2586"/>
                <a:gd name="T11" fmla="*/ 976 h 1178"/>
                <a:gd name="T12" fmla="*/ 462 w 2586"/>
                <a:gd name="T13" fmla="*/ 938 h 1178"/>
                <a:gd name="T14" fmla="*/ 504 w 2586"/>
                <a:gd name="T15" fmla="*/ 910 h 1178"/>
                <a:gd name="T16" fmla="*/ 539 w 2586"/>
                <a:gd name="T17" fmla="*/ 877 h 1178"/>
                <a:gd name="T18" fmla="*/ 576 w 2586"/>
                <a:gd name="T19" fmla="*/ 836 h 1178"/>
                <a:gd name="T20" fmla="*/ 613 w 2586"/>
                <a:gd name="T21" fmla="*/ 791 h 1178"/>
                <a:gd name="T22" fmla="*/ 647 w 2586"/>
                <a:gd name="T23" fmla="*/ 742 h 1178"/>
                <a:gd name="T24" fmla="*/ 699 w 2586"/>
                <a:gd name="T25" fmla="*/ 655 h 1178"/>
                <a:gd name="T26" fmla="*/ 754 w 2586"/>
                <a:gd name="T27" fmla="*/ 556 h 1178"/>
                <a:gd name="T28" fmla="*/ 807 w 2586"/>
                <a:gd name="T29" fmla="*/ 456 h 1178"/>
                <a:gd name="T30" fmla="*/ 861 w 2586"/>
                <a:gd name="T31" fmla="*/ 355 h 1178"/>
                <a:gd name="T32" fmla="*/ 898 w 2586"/>
                <a:gd name="T33" fmla="*/ 287 h 1178"/>
                <a:gd name="T34" fmla="*/ 932 w 2586"/>
                <a:gd name="T35" fmla="*/ 231 h 1178"/>
                <a:gd name="T36" fmla="*/ 973 w 2586"/>
                <a:gd name="T37" fmla="*/ 176 h 1178"/>
                <a:gd name="T38" fmla="*/ 1018 w 2586"/>
                <a:gd name="T39" fmla="*/ 124 h 1178"/>
                <a:gd name="T40" fmla="*/ 1067 w 2586"/>
                <a:gd name="T41" fmla="*/ 78 h 1178"/>
                <a:gd name="T42" fmla="*/ 1119 w 2586"/>
                <a:gd name="T43" fmla="*/ 41 h 1178"/>
                <a:gd name="T44" fmla="*/ 1174 w 2586"/>
                <a:gd name="T45" fmla="*/ 14 h 1178"/>
                <a:gd name="T46" fmla="*/ 1231 w 2586"/>
                <a:gd name="T47" fmla="*/ 1 h 1178"/>
                <a:gd name="T48" fmla="*/ 1288 w 2586"/>
                <a:gd name="T49" fmla="*/ 2 h 1178"/>
                <a:gd name="T50" fmla="*/ 1341 w 2586"/>
                <a:gd name="T51" fmla="*/ 11 h 1178"/>
                <a:gd name="T52" fmla="*/ 1390 w 2586"/>
                <a:gd name="T53" fmla="*/ 29 h 1178"/>
                <a:gd name="T54" fmla="*/ 1437 w 2586"/>
                <a:gd name="T55" fmla="*/ 57 h 1178"/>
                <a:gd name="T56" fmla="*/ 1483 w 2586"/>
                <a:gd name="T57" fmla="*/ 96 h 1178"/>
                <a:gd name="T58" fmla="*/ 1530 w 2586"/>
                <a:gd name="T59" fmla="*/ 145 h 1178"/>
                <a:gd name="T60" fmla="*/ 1578 w 2586"/>
                <a:gd name="T61" fmla="*/ 204 h 1178"/>
                <a:gd name="T62" fmla="*/ 1630 w 2586"/>
                <a:gd name="T63" fmla="*/ 275 h 1178"/>
                <a:gd name="T64" fmla="*/ 1693 w 2586"/>
                <a:gd name="T65" fmla="*/ 379 h 1178"/>
                <a:gd name="T66" fmla="*/ 1746 w 2586"/>
                <a:gd name="T67" fmla="*/ 498 h 1178"/>
                <a:gd name="T68" fmla="*/ 1797 w 2586"/>
                <a:gd name="T69" fmla="*/ 622 h 1178"/>
                <a:gd name="T70" fmla="*/ 1853 w 2586"/>
                <a:gd name="T71" fmla="*/ 741 h 1178"/>
                <a:gd name="T72" fmla="*/ 1885 w 2586"/>
                <a:gd name="T73" fmla="*/ 791 h 1178"/>
                <a:gd name="T74" fmla="*/ 1913 w 2586"/>
                <a:gd name="T75" fmla="*/ 823 h 1178"/>
                <a:gd name="T76" fmla="*/ 1949 w 2586"/>
                <a:gd name="T77" fmla="*/ 860 h 1178"/>
                <a:gd name="T78" fmla="*/ 1989 w 2586"/>
                <a:gd name="T79" fmla="*/ 896 h 1178"/>
                <a:gd name="T80" fmla="*/ 2033 w 2586"/>
                <a:gd name="T81" fmla="*/ 932 h 1178"/>
                <a:gd name="T82" fmla="*/ 2078 w 2586"/>
                <a:gd name="T83" fmla="*/ 967 h 1178"/>
                <a:gd name="T84" fmla="*/ 2123 w 2586"/>
                <a:gd name="T85" fmla="*/ 998 h 1178"/>
                <a:gd name="T86" fmla="*/ 2164 w 2586"/>
                <a:gd name="T87" fmla="*/ 1024 h 1178"/>
                <a:gd name="T88" fmla="*/ 2209 w 2586"/>
                <a:gd name="T89" fmla="*/ 1048 h 1178"/>
                <a:gd name="T90" fmla="*/ 2262 w 2586"/>
                <a:gd name="T91" fmla="*/ 1073 h 1178"/>
                <a:gd name="T92" fmla="*/ 2318 w 2586"/>
                <a:gd name="T93" fmla="*/ 1098 h 1178"/>
                <a:gd name="T94" fmla="*/ 2377 w 2586"/>
                <a:gd name="T95" fmla="*/ 1122 h 1178"/>
                <a:gd name="T96" fmla="*/ 2435 w 2586"/>
                <a:gd name="T97" fmla="*/ 1142 h 1178"/>
                <a:gd name="T98" fmla="*/ 2489 w 2586"/>
                <a:gd name="T99" fmla="*/ 1159 h 1178"/>
                <a:gd name="T100" fmla="*/ 2537 w 2586"/>
                <a:gd name="T101" fmla="*/ 1171 h 1178"/>
                <a:gd name="T102" fmla="*/ 2577 w 2586"/>
                <a:gd name="T103" fmla="*/ 1176 h 1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86" h="1178">
                  <a:moveTo>
                    <a:pt x="0" y="1177"/>
                  </a:moveTo>
                  <a:lnTo>
                    <a:pt x="6" y="1175"/>
                  </a:lnTo>
                  <a:lnTo>
                    <a:pt x="14" y="1172"/>
                  </a:lnTo>
                  <a:lnTo>
                    <a:pt x="24" y="1168"/>
                  </a:lnTo>
                  <a:lnTo>
                    <a:pt x="36" y="1164"/>
                  </a:lnTo>
                  <a:lnTo>
                    <a:pt x="48" y="1158"/>
                  </a:lnTo>
                  <a:lnTo>
                    <a:pt x="63" y="1151"/>
                  </a:lnTo>
                  <a:lnTo>
                    <a:pt x="79" y="1144"/>
                  </a:lnTo>
                  <a:lnTo>
                    <a:pt x="96" y="1136"/>
                  </a:lnTo>
                  <a:lnTo>
                    <a:pt x="114" y="1127"/>
                  </a:lnTo>
                  <a:lnTo>
                    <a:pt x="132" y="1117"/>
                  </a:lnTo>
                  <a:lnTo>
                    <a:pt x="152" y="1108"/>
                  </a:lnTo>
                  <a:lnTo>
                    <a:pt x="171" y="1098"/>
                  </a:lnTo>
                  <a:lnTo>
                    <a:pt x="193" y="1087"/>
                  </a:lnTo>
                  <a:lnTo>
                    <a:pt x="213" y="1076"/>
                  </a:lnTo>
                  <a:lnTo>
                    <a:pt x="234" y="1065"/>
                  </a:lnTo>
                  <a:lnTo>
                    <a:pt x="256" y="1054"/>
                  </a:lnTo>
                  <a:lnTo>
                    <a:pt x="277" y="1042"/>
                  </a:lnTo>
                  <a:lnTo>
                    <a:pt x="298" y="1031"/>
                  </a:lnTo>
                  <a:lnTo>
                    <a:pt x="319" y="1020"/>
                  </a:lnTo>
                  <a:lnTo>
                    <a:pt x="340" y="1008"/>
                  </a:lnTo>
                  <a:lnTo>
                    <a:pt x="360" y="998"/>
                  </a:lnTo>
                  <a:lnTo>
                    <a:pt x="379" y="986"/>
                  </a:lnTo>
                  <a:lnTo>
                    <a:pt x="398" y="976"/>
                  </a:lnTo>
                  <a:lnTo>
                    <a:pt x="416" y="966"/>
                  </a:lnTo>
                  <a:lnTo>
                    <a:pt x="432" y="955"/>
                  </a:lnTo>
                  <a:lnTo>
                    <a:pt x="448" y="947"/>
                  </a:lnTo>
                  <a:lnTo>
                    <a:pt x="462" y="938"/>
                  </a:lnTo>
                  <a:lnTo>
                    <a:pt x="475" y="930"/>
                  </a:lnTo>
                  <a:lnTo>
                    <a:pt x="486" y="922"/>
                  </a:lnTo>
                  <a:lnTo>
                    <a:pt x="496" y="916"/>
                  </a:lnTo>
                  <a:lnTo>
                    <a:pt x="504" y="910"/>
                  </a:lnTo>
                  <a:lnTo>
                    <a:pt x="509" y="905"/>
                  </a:lnTo>
                  <a:lnTo>
                    <a:pt x="520" y="896"/>
                  </a:lnTo>
                  <a:lnTo>
                    <a:pt x="529" y="888"/>
                  </a:lnTo>
                  <a:lnTo>
                    <a:pt x="539" y="877"/>
                  </a:lnTo>
                  <a:lnTo>
                    <a:pt x="549" y="868"/>
                  </a:lnTo>
                  <a:lnTo>
                    <a:pt x="558" y="857"/>
                  </a:lnTo>
                  <a:lnTo>
                    <a:pt x="567" y="847"/>
                  </a:lnTo>
                  <a:lnTo>
                    <a:pt x="576" y="836"/>
                  </a:lnTo>
                  <a:lnTo>
                    <a:pt x="586" y="826"/>
                  </a:lnTo>
                  <a:lnTo>
                    <a:pt x="595" y="814"/>
                  </a:lnTo>
                  <a:lnTo>
                    <a:pt x="604" y="803"/>
                  </a:lnTo>
                  <a:lnTo>
                    <a:pt x="613" y="791"/>
                  </a:lnTo>
                  <a:lnTo>
                    <a:pt x="621" y="779"/>
                  </a:lnTo>
                  <a:lnTo>
                    <a:pt x="629" y="767"/>
                  </a:lnTo>
                  <a:lnTo>
                    <a:pt x="638" y="755"/>
                  </a:lnTo>
                  <a:lnTo>
                    <a:pt x="647" y="742"/>
                  </a:lnTo>
                  <a:lnTo>
                    <a:pt x="654" y="730"/>
                  </a:lnTo>
                  <a:lnTo>
                    <a:pt x="670" y="704"/>
                  </a:lnTo>
                  <a:lnTo>
                    <a:pt x="685" y="679"/>
                  </a:lnTo>
                  <a:lnTo>
                    <a:pt x="699" y="655"/>
                  </a:lnTo>
                  <a:lnTo>
                    <a:pt x="713" y="630"/>
                  </a:lnTo>
                  <a:lnTo>
                    <a:pt x="727" y="605"/>
                  </a:lnTo>
                  <a:lnTo>
                    <a:pt x="741" y="580"/>
                  </a:lnTo>
                  <a:lnTo>
                    <a:pt x="754" y="556"/>
                  </a:lnTo>
                  <a:lnTo>
                    <a:pt x="767" y="531"/>
                  </a:lnTo>
                  <a:lnTo>
                    <a:pt x="781" y="507"/>
                  </a:lnTo>
                  <a:lnTo>
                    <a:pt x="794" y="482"/>
                  </a:lnTo>
                  <a:lnTo>
                    <a:pt x="807" y="456"/>
                  </a:lnTo>
                  <a:lnTo>
                    <a:pt x="820" y="431"/>
                  </a:lnTo>
                  <a:lnTo>
                    <a:pt x="834" y="406"/>
                  </a:lnTo>
                  <a:lnTo>
                    <a:pt x="847" y="380"/>
                  </a:lnTo>
                  <a:lnTo>
                    <a:pt x="861" y="355"/>
                  </a:lnTo>
                  <a:lnTo>
                    <a:pt x="875" y="327"/>
                  </a:lnTo>
                  <a:lnTo>
                    <a:pt x="882" y="314"/>
                  </a:lnTo>
                  <a:lnTo>
                    <a:pt x="889" y="300"/>
                  </a:lnTo>
                  <a:lnTo>
                    <a:pt x="898" y="287"/>
                  </a:lnTo>
                  <a:lnTo>
                    <a:pt x="906" y="273"/>
                  </a:lnTo>
                  <a:lnTo>
                    <a:pt x="914" y="259"/>
                  </a:lnTo>
                  <a:lnTo>
                    <a:pt x="923" y="245"/>
                  </a:lnTo>
                  <a:lnTo>
                    <a:pt x="932" y="231"/>
                  </a:lnTo>
                  <a:lnTo>
                    <a:pt x="942" y="217"/>
                  </a:lnTo>
                  <a:lnTo>
                    <a:pt x="952" y="203"/>
                  </a:lnTo>
                  <a:lnTo>
                    <a:pt x="962" y="189"/>
                  </a:lnTo>
                  <a:lnTo>
                    <a:pt x="973" y="176"/>
                  </a:lnTo>
                  <a:lnTo>
                    <a:pt x="984" y="162"/>
                  </a:lnTo>
                  <a:lnTo>
                    <a:pt x="995" y="149"/>
                  </a:lnTo>
                  <a:lnTo>
                    <a:pt x="1006" y="136"/>
                  </a:lnTo>
                  <a:lnTo>
                    <a:pt x="1018" y="124"/>
                  </a:lnTo>
                  <a:lnTo>
                    <a:pt x="1030" y="112"/>
                  </a:lnTo>
                  <a:lnTo>
                    <a:pt x="1042" y="100"/>
                  </a:lnTo>
                  <a:lnTo>
                    <a:pt x="1054" y="89"/>
                  </a:lnTo>
                  <a:lnTo>
                    <a:pt x="1067" y="78"/>
                  </a:lnTo>
                  <a:lnTo>
                    <a:pt x="1079" y="68"/>
                  </a:lnTo>
                  <a:lnTo>
                    <a:pt x="1093" y="58"/>
                  </a:lnTo>
                  <a:lnTo>
                    <a:pt x="1105" y="49"/>
                  </a:lnTo>
                  <a:lnTo>
                    <a:pt x="1119" y="41"/>
                  </a:lnTo>
                  <a:lnTo>
                    <a:pt x="1132" y="33"/>
                  </a:lnTo>
                  <a:lnTo>
                    <a:pt x="1146" y="26"/>
                  </a:lnTo>
                  <a:lnTo>
                    <a:pt x="1160" y="20"/>
                  </a:lnTo>
                  <a:lnTo>
                    <a:pt x="1174" y="14"/>
                  </a:lnTo>
                  <a:lnTo>
                    <a:pt x="1188" y="10"/>
                  </a:lnTo>
                  <a:lnTo>
                    <a:pt x="1202" y="6"/>
                  </a:lnTo>
                  <a:lnTo>
                    <a:pt x="1217" y="2"/>
                  </a:lnTo>
                  <a:lnTo>
                    <a:pt x="1231" y="1"/>
                  </a:lnTo>
                  <a:lnTo>
                    <a:pt x="1246" y="0"/>
                  </a:lnTo>
                  <a:lnTo>
                    <a:pt x="1260" y="0"/>
                  </a:lnTo>
                  <a:lnTo>
                    <a:pt x="1274" y="1"/>
                  </a:lnTo>
                  <a:lnTo>
                    <a:pt x="1288" y="2"/>
                  </a:lnTo>
                  <a:lnTo>
                    <a:pt x="1302" y="2"/>
                  </a:lnTo>
                  <a:lnTo>
                    <a:pt x="1315" y="5"/>
                  </a:lnTo>
                  <a:lnTo>
                    <a:pt x="1328" y="7"/>
                  </a:lnTo>
                  <a:lnTo>
                    <a:pt x="1341" y="11"/>
                  </a:lnTo>
                  <a:lnTo>
                    <a:pt x="1353" y="14"/>
                  </a:lnTo>
                  <a:lnTo>
                    <a:pt x="1365" y="18"/>
                  </a:lnTo>
                  <a:lnTo>
                    <a:pt x="1378" y="24"/>
                  </a:lnTo>
                  <a:lnTo>
                    <a:pt x="1390" y="29"/>
                  </a:lnTo>
                  <a:lnTo>
                    <a:pt x="1401" y="36"/>
                  </a:lnTo>
                  <a:lnTo>
                    <a:pt x="1413" y="42"/>
                  </a:lnTo>
                  <a:lnTo>
                    <a:pt x="1425" y="50"/>
                  </a:lnTo>
                  <a:lnTo>
                    <a:pt x="1437" y="57"/>
                  </a:lnTo>
                  <a:lnTo>
                    <a:pt x="1449" y="66"/>
                  </a:lnTo>
                  <a:lnTo>
                    <a:pt x="1460" y="75"/>
                  </a:lnTo>
                  <a:lnTo>
                    <a:pt x="1472" y="85"/>
                  </a:lnTo>
                  <a:lnTo>
                    <a:pt x="1483" y="96"/>
                  </a:lnTo>
                  <a:lnTo>
                    <a:pt x="1495" y="107"/>
                  </a:lnTo>
                  <a:lnTo>
                    <a:pt x="1506" y="118"/>
                  </a:lnTo>
                  <a:lnTo>
                    <a:pt x="1518" y="131"/>
                  </a:lnTo>
                  <a:lnTo>
                    <a:pt x="1530" y="145"/>
                  </a:lnTo>
                  <a:lnTo>
                    <a:pt x="1542" y="158"/>
                  </a:lnTo>
                  <a:lnTo>
                    <a:pt x="1554" y="173"/>
                  </a:lnTo>
                  <a:lnTo>
                    <a:pt x="1566" y="188"/>
                  </a:lnTo>
                  <a:lnTo>
                    <a:pt x="1578" y="204"/>
                  </a:lnTo>
                  <a:lnTo>
                    <a:pt x="1591" y="221"/>
                  </a:lnTo>
                  <a:lnTo>
                    <a:pt x="1604" y="238"/>
                  </a:lnTo>
                  <a:lnTo>
                    <a:pt x="1617" y="256"/>
                  </a:lnTo>
                  <a:lnTo>
                    <a:pt x="1630" y="275"/>
                  </a:lnTo>
                  <a:lnTo>
                    <a:pt x="1644" y="295"/>
                  </a:lnTo>
                  <a:lnTo>
                    <a:pt x="1661" y="322"/>
                  </a:lnTo>
                  <a:lnTo>
                    <a:pt x="1678" y="350"/>
                  </a:lnTo>
                  <a:lnTo>
                    <a:pt x="1693" y="379"/>
                  </a:lnTo>
                  <a:lnTo>
                    <a:pt x="1707" y="407"/>
                  </a:lnTo>
                  <a:lnTo>
                    <a:pt x="1721" y="437"/>
                  </a:lnTo>
                  <a:lnTo>
                    <a:pt x="1734" y="468"/>
                  </a:lnTo>
                  <a:lnTo>
                    <a:pt x="1746" y="498"/>
                  </a:lnTo>
                  <a:lnTo>
                    <a:pt x="1760" y="529"/>
                  </a:lnTo>
                  <a:lnTo>
                    <a:pt x="1772" y="560"/>
                  </a:lnTo>
                  <a:lnTo>
                    <a:pt x="1784" y="590"/>
                  </a:lnTo>
                  <a:lnTo>
                    <a:pt x="1797" y="622"/>
                  </a:lnTo>
                  <a:lnTo>
                    <a:pt x="1810" y="651"/>
                  </a:lnTo>
                  <a:lnTo>
                    <a:pt x="1824" y="681"/>
                  </a:lnTo>
                  <a:lnTo>
                    <a:pt x="1838" y="711"/>
                  </a:lnTo>
                  <a:lnTo>
                    <a:pt x="1853" y="741"/>
                  </a:lnTo>
                  <a:lnTo>
                    <a:pt x="1869" y="769"/>
                  </a:lnTo>
                  <a:lnTo>
                    <a:pt x="1874" y="775"/>
                  </a:lnTo>
                  <a:lnTo>
                    <a:pt x="1878" y="783"/>
                  </a:lnTo>
                  <a:lnTo>
                    <a:pt x="1885" y="791"/>
                  </a:lnTo>
                  <a:lnTo>
                    <a:pt x="1890" y="798"/>
                  </a:lnTo>
                  <a:lnTo>
                    <a:pt x="1897" y="807"/>
                  </a:lnTo>
                  <a:lnTo>
                    <a:pt x="1905" y="815"/>
                  </a:lnTo>
                  <a:lnTo>
                    <a:pt x="1913" y="823"/>
                  </a:lnTo>
                  <a:lnTo>
                    <a:pt x="1921" y="832"/>
                  </a:lnTo>
                  <a:lnTo>
                    <a:pt x="1930" y="841"/>
                  </a:lnTo>
                  <a:lnTo>
                    <a:pt x="1938" y="851"/>
                  </a:lnTo>
                  <a:lnTo>
                    <a:pt x="1949" y="860"/>
                  </a:lnTo>
                  <a:lnTo>
                    <a:pt x="1958" y="869"/>
                  </a:lnTo>
                  <a:lnTo>
                    <a:pt x="1968" y="878"/>
                  </a:lnTo>
                  <a:lnTo>
                    <a:pt x="1979" y="887"/>
                  </a:lnTo>
                  <a:lnTo>
                    <a:pt x="1989" y="896"/>
                  </a:lnTo>
                  <a:lnTo>
                    <a:pt x="2000" y="905"/>
                  </a:lnTo>
                  <a:lnTo>
                    <a:pt x="2010" y="914"/>
                  </a:lnTo>
                  <a:lnTo>
                    <a:pt x="2022" y="924"/>
                  </a:lnTo>
                  <a:lnTo>
                    <a:pt x="2033" y="932"/>
                  </a:lnTo>
                  <a:lnTo>
                    <a:pt x="2044" y="941"/>
                  </a:lnTo>
                  <a:lnTo>
                    <a:pt x="2055" y="951"/>
                  </a:lnTo>
                  <a:lnTo>
                    <a:pt x="2067" y="959"/>
                  </a:lnTo>
                  <a:lnTo>
                    <a:pt x="2078" y="967"/>
                  </a:lnTo>
                  <a:lnTo>
                    <a:pt x="2089" y="975"/>
                  </a:lnTo>
                  <a:lnTo>
                    <a:pt x="2101" y="983"/>
                  </a:lnTo>
                  <a:lnTo>
                    <a:pt x="2111" y="991"/>
                  </a:lnTo>
                  <a:lnTo>
                    <a:pt x="2123" y="998"/>
                  </a:lnTo>
                  <a:lnTo>
                    <a:pt x="2133" y="1005"/>
                  </a:lnTo>
                  <a:lnTo>
                    <a:pt x="2144" y="1012"/>
                  </a:lnTo>
                  <a:lnTo>
                    <a:pt x="2154" y="1017"/>
                  </a:lnTo>
                  <a:lnTo>
                    <a:pt x="2164" y="1024"/>
                  </a:lnTo>
                  <a:lnTo>
                    <a:pt x="2174" y="1029"/>
                  </a:lnTo>
                  <a:lnTo>
                    <a:pt x="2185" y="1036"/>
                  </a:lnTo>
                  <a:lnTo>
                    <a:pt x="2197" y="1041"/>
                  </a:lnTo>
                  <a:lnTo>
                    <a:pt x="2209" y="1048"/>
                  </a:lnTo>
                  <a:lnTo>
                    <a:pt x="2222" y="1054"/>
                  </a:lnTo>
                  <a:lnTo>
                    <a:pt x="2234" y="1060"/>
                  </a:lnTo>
                  <a:lnTo>
                    <a:pt x="2249" y="1066"/>
                  </a:lnTo>
                  <a:lnTo>
                    <a:pt x="2262" y="1073"/>
                  </a:lnTo>
                  <a:lnTo>
                    <a:pt x="2275" y="1079"/>
                  </a:lnTo>
                  <a:lnTo>
                    <a:pt x="2290" y="1085"/>
                  </a:lnTo>
                  <a:lnTo>
                    <a:pt x="2305" y="1092"/>
                  </a:lnTo>
                  <a:lnTo>
                    <a:pt x="2318" y="1098"/>
                  </a:lnTo>
                  <a:lnTo>
                    <a:pt x="2333" y="1104"/>
                  </a:lnTo>
                  <a:lnTo>
                    <a:pt x="2348" y="1109"/>
                  </a:lnTo>
                  <a:lnTo>
                    <a:pt x="2362" y="1116"/>
                  </a:lnTo>
                  <a:lnTo>
                    <a:pt x="2377" y="1122"/>
                  </a:lnTo>
                  <a:lnTo>
                    <a:pt x="2392" y="1127"/>
                  </a:lnTo>
                  <a:lnTo>
                    <a:pt x="2407" y="1132"/>
                  </a:lnTo>
                  <a:lnTo>
                    <a:pt x="2421" y="1137"/>
                  </a:lnTo>
                  <a:lnTo>
                    <a:pt x="2435" y="1142"/>
                  </a:lnTo>
                  <a:lnTo>
                    <a:pt x="2448" y="1146"/>
                  </a:lnTo>
                  <a:lnTo>
                    <a:pt x="2463" y="1151"/>
                  </a:lnTo>
                  <a:lnTo>
                    <a:pt x="2476" y="1156"/>
                  </a:lnTo>
                  <a:lnTo>
                    <a:pt x="2489" y="1159"/>
                  </a:lnTo>
                  <a:lnTo>
                    <a:pt x="2502" y="1162"/>
                  </a:lnTo>
                  <a:lnTo>
                    <a:pt x="2514" y="1165"/>
                  </a:lnTo>
                  <a:lnTo>
                    <a:pt x="2526" y="1169"/>
                  </a:lnTo>
                  <a:lnTo>
                    <a:pt x="2537" y="1171"/>
                  </a:lnTo>
                  <a:lnTo>
                    <a:pt x="2548" y="1173"/>
                  </a:lnTo>
                  <a:lnTo>
                    <a:pt x="2558" y="1175"/>
                  </a:lnTo>
                  <a:lnTo>
                    <a:pt x="2568" y="1176"/>
                  </a:lnTo>
                  <a:lnTo>
                    <a:pt x="2577" y="1176"/>
                  </a:lnTo>
                  <a:lnTo>
                    <a:pt x="2585" y="1177"/>
                  </a:lnTo>
                </a:path>
              </a:pathLst>
            </a:custGeom>
            <a:noFill/>
            <a:ln w="50800" cap="rnd" cmpd="sng">
              <a:solidFill>
                <a:srgbClr val="02B67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nvGrpSpPr>
          <p:cNvPr id="19" name="Group 18"/>
          <p:cNvGrpSpPr/>
          <p:nvPr/>
        </p:nvGrpSpPr>
        <p:grpSpPr>
          <a:xfrm>
            <a:off x="3841899" y="1655135"/>
            <a:ext cx="392287" cy="2764465"/>
            <a:chOff x="3841899" y="1883735"/>
            <a:chExt cx="392287" cy="2764465"/>
          </a:xfrm>
        </p:grpSpPr>
        <p:cxnSp>
          <p:nvCxnSpPr>
            <p:cNvPr id="10" name="Straight Connector 9"/>
            <p:cNvCxnSpPr/>
            <p:nvPr/>
          </p:nvCxnSpPr>
          <p:spPr>
            <a:xfrm flipV="1">
              <a:off x="4038600" y="2286000"/>
              <a:ext cx="0" cy="2362200"/>
            </a:xfrm>
            <a:prstGeom prst="line">
              <a:avLst/>
            </a:prstGeom>
            <a:ln>
              <a:prstDash val="sysDash"/>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13" name="TextBox 12"/>
                <p:cNvSpPr txBox="1"/>
                <p:nvPr/>
              </p:nvSpPr>
              <p:spPr>
                <a:xfrm>
                  <a:off x="3841899" y="1883735"/>
                  <a:ext cx="392287" cy="39241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GB" i="1" dirty="0">
                                <a:latin typeface="Cambria Math" panose="02040503050406030204" pitchFamily="18" charset="0"/>
                              </a:rPr>
                            </m:ctrlPr>
                          </m:accPr>
                          <m:e>
                            <m:r>
                              <a:rPr lang="en-GB" i="1" dirty="0">
                                <a:latin typeface="Cambria Math"/>
                              </a:rPr>
                              <m:t>𝑋</m:t>
                            </m:r>
                          </m:e>
                        </m:acc>
                      </m:oMath>
                    </m:oMathPara>
                  </a14:m>
                  <a:endParaRPr lang="en-GB" dirty="0"/>
                </a:p>
              </p:txBody>
            </p:sp>
          </mc:Choice>
          <mc:Fallback xmlns="">
            <p:sp>
              <p:nvSpPr>
                <p:cNvPr id="13" name="TextBox 12"/>
                <p:cNvSpPr txBox="1">
                  <a:spLocks noRot="1" noChangeAspect="1" noMove="1" noResize="1" noEditPoints="1" noAdjustHandles="1" noChangeArrowheads="1" noChangeShapeType="1" noTextEdit="1"/>
                </p:cNvSpPr>
                <p:nvPr/>
              </p:nvSpPr>
              <p:spPr>
                <a:xfrm>
                  <a:off x="3841899" y="1883735"/>
                  <a:ext cx="392287" cy="392415"/>
                </a:xfrm>
                <a:prstGeom prst="rect">
                  <a:avLst/>
                </a:prstGeom>
                <a:blipFill rotWithShape="1">
                  <a:blip r:embed="rId3"/>
                  <a:stretch>
                    <a:fillRect t="-12500" r="-16923"/>
                  </a:stretch>
                </a:blipFill>
              </p:spPr>
              <p:txBody>
                <a:bodyPr/>
                <a:lstStyle/>
                <a:p>
                  <a:r>
                    <a:rPr lang="en-GB">
                      <a:noFill/>
                    </a:rPr>
                    <a:t> </a:t>
                  </a:r>
                </a:p>
              </p:txBody>
            </p:sp>
          </mc:Fallback>
        </mc:AlternateContent>
      </p:grpSp>
      <p:grpSp>
        <p:nvGrpSpPr>
          <p:cNvPr id="43" name="Group 42"/>
          <p:cNvGrpSpPr/>
          <p:nvPr/>
        </p:nvGrpSpPr>
        <p:grpSpPr>
          <a:xfrm>
            <a:off x="2111680" y="2209800"/>
            <a:ext cx="3684250" cy="2209800"/>
            <a:chOff x="2111680" y="2438400"/>
            <a:chExt cx="3684250" cy="2209800"/>
          </a:xfrm>
        </p:grpSpPr>
        <p:grpSp>
          <p:nvGrpSpPr>
            <p:cNvPr id="20" name="Group 19"/>
            <p:cNvGrpSpPr/>
            <p:nvPr/>
          </p:nvGrpSpPr>
          <p:grpSpPr>
            <a:xfrm>
              <a:off x="2111680" y="2438400"/>
              <a:ext cx="478529" cy="2209800"/>
              <a:chOff x="3874913" y="1883735"/>
              <a:chExt cx="478529" cy="2764465"/>
            </a:xfrm>
          </p:grpSpPr>
          <p:cxnSp>
            <p:nvCxnSpPr>
              <p:cNvPr id="21" name="Straight Connector 20"/>
              <p:cNvCxnSpPr/>
              <p:nvPr/>
            </p:nvCxnSpPr>
            <p:spPr>
              <a:xfrm flipV="1">
                <a:off x="4038600" y="2286000"/>
                <a:ext cx="0" cy="2362200"/>
              </a:xfrm>
              <a:prstGeom prst="line">
                <a:avLst/>
              </a:prstGeom>
              <a:ln>
                <a:solidFill>
                  <a:srgbClr val="FF0000"/>
                </a:solidFill>
                <a:prstDash val="sysDot"/>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22" name="TextBox 21"/>
                  <p:cNvSpPr txBox="1"/>
                  <p:nvPr/>
                </p:nvSpPr>
                <p:spPr>
                  <a:xfrm>
                    <a:off x="3874913" y="1883735"/>
                    <a:ext cx="478529" cy="462035"/>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i="1" dirty="0" smtClean="0">
                                  <a:solidFill>
                                    <a:srgbClr val="FF0000"/>
                                  </a:solidFill>
                                  <a:latin typeface="Cambria Math" panose="02040503050406030204" pitchFamily="18" charset="0"/>
                                </a:rPr>
                              </m:ctrlPr>
                            </m:sSubPr>
                            <m:e>
                              <m:acc>
                                <m:accPr>
                                  <m:chr m:val="̅"/>
                                  <m:ctrlPr>
                                    <a:rPr lang="en-GB" i="1" dirty="0">
                                      <a:solidFill>
                                        <a:srgbClr val="FF0000"/>
                                      </a:solidFill>
                                      <a:latin typeface="Cambria Math" panose="02040503050406030204" pitchFamily="18" charset="0"/>
                                    </a:rPr>
                                  </m:ctrlPr>
                                </m:accPr>
                                <m:e>
                                  <m:r>
                                    <a:rPr lang="en-GB" b="0" i="1" dirty="0" smtClean="0">
                                      <a:solidFill>
                                        <a:srgbClr val="FF0000"/>
                                      </a:solidFill>
                                      <a:latin typeface="Cambria Math"/>
                                    </a:rPr>
                                    <m:t>𝑋</m:t>
                                  </m:r>
                                </m:e>
                              </m:acc>
                            </m:e>
                            <m:sub>
                              <m:r>
                                <a:rPr lang="en-GB" b="0" i="1" dirty="0" smtClean="0">
                                  <a:solidFill>
                                    <a:srgbClr val="FF0000"/>
                                  </a:solidFill>
                                  <a:latin typeface="Cambria Math"/>
                                </a:rPr>
                                <m:t>1</m:t>
                              </m:r>
                            </m:sub>
                          </m:sSub>
                        </m:oMath>
                      </m:oMathPara>
                    </a14:m>
                    <a:endParaRPr lang="en-GB" dirty="0">
                      <a:solidFill>
                        <a:srgbClr val="FF0000"/>
                      </a:solidFill>
                    </a:endParaRPr>
                  </a:p>
                </p:txBody>
              </p:sp>
            </mc:Choice>
            <mc:Fallback xmlns="">
              <p:sp>
                <p:nvSpPr>
                  <p:cNvPr id="22" name="TextBox 21"/>
                  <p:cNvSpPr txBox="1">
                    <a:spLocks noRot="1" noChangeAspect="1" noMove="1" noResize="1" noEditPoints="1" noAdjustHandles="1" noChangeArrowheads="1" noChangeShapeType="1" noTextEdit="1"/>
                  </p:cNvSpPr>
                  <p:nvPr/>
                </p:nvSpPr>
                <p:spPr>
                  <a:xfrm>
                    <a:off x="3874913" y="1883735"/>
                    <a:ext cx="478529" cy="462035"/>
                  </a:xfrm>
                  <a:prstGeom prst="rect">
                    <a:avLst/>
                  </a:prstGeom>
                  <a:blipFill rotWithShape="1">
                    <a:blip r:embed="rId4"/>
                    <a:stretch>
                      <a:fillRect r="-2532"/>
                    </a:stretch>
                  </a:blipFill>
                  <a:ln>
                    <a:noFill/>
                  </a:ln>
                </p:spPr>
                <p:txBody>
                  <a:bodyPr/>
                  <a:lstStyle/>
                  <a:p>
                    <a:r>
                      <a:rPr lang="en-GB">
                        <a:noFill/>
                      </a:rPr>
                      <a:t> </a:t>
                    </a:r>
                  </a:p>
                </p:txBody>
              </p:sp>
            </mc:Fallback>
          </mc:AlternateContent>
        </p:grpSp>
        <p:grpSp>
          <p:nvGrpSpPr>
            <p:cNvPr id="23" name="Group 22"/>
            <p:cNvGrpSpPr/>
            <p:nvPr/>
          </p:nvGrpSpPr>
          <p:grpSpPr>
            <a:xfrm>
              <a:off x="4463247" y="2438400"/>
              <a:ext cx="483850" cy="2209800"/>
              <a:chOff x="3874913" y="1883735"/>
              <a:chExt cx="483850" cy="2764465"/>
            </a:xfrm>
          </p:grpSpPr>
          <p:cxnSp>
            <p:nvCxnSpPr>
              <p:cNvPr id="24" name="Straight Connector 23"/>
              <p:cNvCxnSpPr/>
              <p:nvPr/>
            </p:nvCxnSpPr>
            <p:spPr>
              <a:xfrm flipV="1">
                <a:off x="4038600" y="2286000"/>
                <a:ext cx="0" cy="2362200"/>
              </a:xfrm>
              <a:prstGeom prst="line">
                <a:avLst/>
              </a:prstGeom>
              <a:ln>
                <a:solidFill>
                  <a:schemeClr val="accent1"/>
                </a:solidFill>
                <a:prstDash val="sysDot"/>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25" name="TextBox 24"/>
                  <p:cNvSpPr txBox="1"/>
                  <p:nvPr/>
                </p:nvSpPr>
                <p:spPr>
                  <a:xfrm>
                    <a:off x="3874913" y="1883735"/>
                    <a:ext cx="483850" cy="462035"/>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i="1" dirty="0" smtClean="0">
                                  <a:solidFill>
                                    <a:schemeClr val="tx2"/>
                                  </a:solidFill>
                                  <a:latin typeface="Cambria Math" panose="02040503050406030204" pitchFamily="18" charset="0"/>
                                </a:rPr>
                              </m:ctrlPr>
                            </m:sSubPr>
                            <m:e>
                              <m:acc>
                                <m:accPr>
                                  <m:chr m:val="̅"/>
                                  <m:ctrlPr>
                                    <a:rPr lang="en-GB" i="1" dirty="0">
                                      <a:solidFill>
                                        <a:schemeClr val="tx2"/>
                                      </a:solidFill>
                                      <a:latin typeface="Cambria Math" panose="02040503050406030204" pitchFamily="18" charset="0"/>
                                    </a:rPr>
                                  </m:ctrlPr>
                                </m:accPr>
                                <m:e>
                                  <m:r>
                                    <a:rPr lang="en-GB" i="1" dirty="0">
                                      <a:solidFill>
                                        <a:schemeClr val="tx2"/>
                                      </a:solidFill>
                                      <a:latin typeface="Cambria Math"/>
                                    </a:rPr>
                                    <m:t>𝑋</m:t>
                                  </m:r>
                                </m:e>
                              </m:acc>
                            </m:e>
                            <m:sub>
                              <m:r>
                                <a:rPr lang="en-GB" b="0" i="1" dirty="0" smtClean="0">
                                  <a:solidFill>
                                    <a:schemeClr val="tx2"/>
                                  </a:solidFill>
                                  <a:latin typeface="Cambria Math"/>
                                </a:rPr>
                                <m:t>2</m:t>
                              </m:r>
                            </m:sub>
                          </m:sSub>
                        </m:oMath>
                      </m:oMathPara>
                    </a14:m>
                    <a:endParaRPr lang="en-GB" dirty="0">
                      <a:solidFill>
                        <a:schemeClr val="tx2"/>
                      </a:solidFill>
                    </a:endParaRPr>
                  </a:p>
                </p:txBody>
              </p:sp>
            </mc:Choice>
            <mc:Fallback xmlns="">
              <p:sp>
                <p:nvSpPr>
                  <p:cNvPr id="25" name="TextBox 24"/>
                  <p:cNvSpPr txBox="1">
                    <a:spLocks noRot="1" noChangeAspect="1" noMove="1" noResize="1" noEditPoints="1" noAdjustHandles="1" noChangeArrowheads="1" noChangeShapeType="1" noTextEdit="1"/>
                  </p:cNvSpPr>
                  <p:nvPr/>
                </p:nvSpPr>
                <p:spPr>
                  <a:xfrm>
                    <a:off x="3874913" y="1883735"/>
                    <a:ext cx="483850" cy="462035"/>
                  </a:xfrm>
                  <a:prstGeom prst="rect">
                    <a:avLst/>
                  </a:prstGeom>
                  <a:blipFill rotWithShape="1">
                    <a:blip r:embed="rId5"/>
                    <a:stretch>
                      <a:fillRect r="-2500"/>
                    </a:stretch>
                  </a:blipFill>
                  <a:ln>
                    <a:noFill/>
                  </a:ln>
                </p:spPr>
                <p:txBody>
                  <a:bodyPr/>
                  <a:lstStyle/>
                  <a:p>
                    <a:r>
                      <a:rPr lang="en-GB">
                        <a:noFill/>
                      </a:rPr>
                      <a:t> </a:t>
                    </a:r>
                  </a:p>
                </p:txBody>
              </p:sp>
            </mc:Fallback>
          </mc:AlternateContent>
        </p:grpSp>
        <p:grpSp>
          <p:nvGrpSpPr>
            <p:cNvPr id="26" name="Group 25"/>
            <p:cNvGrpSpPr/>
            <p:nvPr/>
          </p:nvGrpSpPr>
          <p:grpSpPr>
            <a:xfrm>
              <a:off x="5312080" y="2438400"/>
              <a:ext cx="483850" cy="2209800"/>
              <a:chOff x="3874913" y="1883735"/>
              <a:chExt cx="483850" cy="2764465"/>
            </a:xfrm>
          </p:grpSpPr>
          <p:cxnSp>
            <p:nvCxnSpPr>
              <p:cNvPr id="27" name="Straight Connector 26"/>
              <p:cNvCxnSpPr/>
              <p:nvPr/>
            </p:nvCxnSpPr>
            <p:spPr>
              <a:xfrm flipV="1">
                <a:off x="4038600" y="2286000"/>
                <a:ext cx="0" cy="2362200"/>
              </a:xfrm>
              <a:prstGeom prst="line">
                <a:avLst/>
              </a:prstGeom>
              <a:ln>
                <a:solidFill>
                  <a:srgbClr val="00B050"/>
                </a:solidFill>
                <a:prstDash val="sysDot"/>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28" name="TextBox 27"/>
                  <p:cNvSpPr txBox="1"/>
                  <p:nvPr/>
                </p:nvSpPr>
                <p:spPr>
                  <a:xfrm>
                    <a:off x="3874913" y="1883735"/>
                    <a:ext cx="483850" cy="462035"/>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i="1" dirty="0" smtClean="0">
                                  <a:solidFill>
                                    <a:srgbClr val="00B050"/>
                                  </a:solidFill>
                                  <a:latin typeface="Cambria Math" panose="02040503050406030204" pitchFamily="18" charset="0"/>
                                </a:rPr>
                              </m:ctrlPr>
                            </m:sSubPr>
                            <m:e>
                              <m:acc>
                                <m:accPr>
                                  <m:chr m:val="̅"/>
                                  <m:ctrlPr>
                                    <a:rPr lang="en-GB" i="1" dirty="0">
                                      <a:solidFill>
                                        <a:srgbClr val="00B050"/>
                                      </a:solidFill>
                                      <a:latin typeface="Cambria Math" panose="02040503050406030204" pitchFamily="18" charset="0"/>
                                    </a:rPr>
                                  </m:ctrlPr>
                                </m:accPr>
                                <m:e>
                                  <m:r>
                                    <a:rPr lang="en-GB" i="1" dirty="0">
                                      <a:solidFill>
                                        <a:srgbClr val="00B050"/>
                                      </a:solidFill>
                                      <a:latin typeface="Cambria Math"/>
                                    </a:rPr>
                                    <m:t>𝑋</m:t>
                                  </m:r>
                                </m:e>
                              </m:acc>
                            </m:e>
                            <m:sub>
                              <m:r>
                                <a:rPr lang="en-GB" b="0" i="1" dirty="0" smtClean="0">
                                  <a:solidFill>
                                    <a:srgbClr val="00B050"/>
                                  </a:solidFill>
                                  <a:latin typeface="Cambria Math"/>
                                </a:rPr>
                                <m:t>3</m:t>
                              </m:r>
                            </m:sub>
                          </m:sSub>
                        </m:oMath>
                      </m:oMathPara>
                    </a14:m>
                    <a:endParaRPr lang="en-GB" dirty="0">
                      <a:solidFill>
                        <a:srgbClr val="00B050"/>
                      </a:solidFill>
                    </a:endParaRPr>
                  </a:p>
                </p:txBody>
              </p:sp>
            </mc:Choice>
            <mc:Fallback xmlns="">
              <p:sp>
                <p:nvSpPr>
                  <p:cNvPr id="28" name="TextBox 27"/>
                  <p:cNvSpPr txBox="1">
                    <a:spLocks noRot="1" noChangeAspect="1" noMove="1" noResize="1" noEditPoints="1" noAdjustHandles="1" noChangeArrowheads="1" noChangeShapeType="1" noTextEdit="1"/>
                  </p:cNvSpPr>
                  <p:nvPr/>
                </p:nvSpPr>
                <p:spPr>
                  <a:xfrm>
                    <a:off x="3874913" y="1883735"/>
                    <a:ext cx="483850" cy="462035"/>
                  </a:xfrm>
                  <a:prstGeom prst="rect">
                    <a:avLst/>
                  </a:prstGeom>
                  <a:blipFill rotWithShape="1">
                    <a:blip r:embed="rId6"/>
                    <a:stretch>
                      <a:fillRect r="-2500"/>
                    </a:stretch>
                  </a:blipFill>
                  <a:ln>
                    <a:noFill/>
                  </a:ln>
                </p:spPr>
                <p:txBody>
                  <a:bodyPr/>
                  <a:lstStyle/>
                  <a:p>
                    <a:r>
                      <a:rPr lang="en-GB">
                        <a:noFill/>
                      </a:rPr>
                      <a:t> </a:t>
                    </a:r>
                  </a:p>
                </p:txBody>
              </p:sp>
            </mc:Fallback>
          </mc:AlternateContent>
        </p:grpSp>
      </p:grpSp>
      <p:grpSp>
        <p:nvGrpSpPr>
          <p:cNvPr id="42" name="Group 41"/>
          <p:cNvGrpSpPr/>
          <p:nvPr/>
        </p:nvGrpSpPr>
        <p:grpSpPr>
          <a:xfrm>
            <a:off x="1860699" y="3810000"/>
            <a:ext cx="4002180" cy="0"/>
            <a:chOff x="1860699" y="4038600"/>
            <a:chExt cx="4002180" cy="0"/>
          </a:xfrm>
        </p:grpSpPr>
        <p:cxnSp>
          <p:nvCxnSpPr>
            <p:cNvPr id="30" name="Straight Arrow Connector 29"/>
            <p:cNvCxnSpPr/>
            <p:nvPr/>
          </p:nvCxnSpPr>
          <p:spPr>
            <a:xfrm flipH="1">
              <a:off x="1860699" y="4038600"/>
              <a:ext cx="789378" cy="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flipH="1">
              <a:off x="4222899" y="4038600"/>
              <a:ext cx="789378" cy="0"/>
            </a:xfrm>
            <a:prstGeom prst="straightConnector1">
              <a:avLst/>
            </a:prstGeom>
            <a:ln>
              <a:solidFill>
                <a:srgbClr val="0070C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flipH="1">
              <a:off x="5073501" y="4038600"/>
              <a:ext cx="789378" cy="0"/>
            </a:xfrm>
            <a:prstGeom prst="straightConnector1">
              <a:avLst/>
            </a:prstGeom>
            <a:ln>
              <a:solidFill>
                <a:srgbClr val="00B050"/>
              </a:solidFill>
              <a:headEnd type="arrow"/>
              <a:tailEnd type="arrow"/>
            </a:ln>
          </p:spPr>
          <p:style>
            <a:lnRef idx="1">
              <a:schemeClr val="accent1"/>
            </a:lnRef>
            <a:fillRef idx="0">
              <a:schemeClr val="accent1"/>
            </a:fillRef>
            <a:effectRef idx="0">
              <a:schemeClr val="accent1"/>
            </a:effectRef>
            <a:fontRef idx="minor">
              <a:schemeClr val="tx1"/>
            </a:fontRef>
          </p:style>
        </p:cxnSp>
      </p:grpSp>
      <p:grpSp>
        <p:nvGrpSpPr>
          <p:cNvPr id="41" name="Group 40"/>
          <p:cNvGrpSpPr/>
          <p:nvPr/>
        </p:nvGrpSpPr>
        <p:grpSpPr>
          <a:xfrm>
            <a:off x="2286000" y="2579132"/>
            <a:ext cx="3182190" cy="164068"/>
            <a:chOff x="2286000" y="2807732"/>
            <a:chExt cx="3182190" cy="164068"/>
          </a:xfrm>
        </p:grpSpPr>
        <p:cxnSp>
          <p:nvCxnSpPr>
            <p:cNvPr id="35" name="Straight Arrow Connector 34"/>
            <p:cNvCxnSpPr/>
            <p:nvPr/>
          </p:nvCxnSpPr>
          <p:spPr>
            <a:xfrm flipH="1">
              <a:off x="2286000" y="2895600"/>
              <a:ext cx="1752600" cy="0"/>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H="1">
              <a:off x="4038600" y="2971800"/>
              <a:ext cx="1429590" cy="0"/>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H="1">
              <a:off x="4038600" y="2807732"/>
              <a:ext cx="578988" cy="0"/>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grpSp>
      <p:grpSp>
        <p:nvGrpSpPr>
          <p:cNvPr id="15" name="Group 14"/>
          <p:cNvGrpSpPr/>
          <p:nvPr/>
        </p:nvGrpSpPr>
        <p:grpSpPr>
          <a:xfrm>
            <a:off x="6167679" y="1371600"/>
            <a:ext cx="2855632" cy="1775555"/>
            <a:chOff x="6167679" y="1600200"/>
            <a:chExt cx="2855632" cy="1775555"/>
          </a:xfrm>
          <a:solidFill>
            <a:schemeClr val="tx2">
              <a:lumMod val="20000"/>
              <a:lumOff val="80000"/>
            </a:schemeClr>
          </a:solidFill>
        </p:grpSpPr>
        <p:grpSp>
          <p:nvGrpSpPr>
            <p:cNvPr id="4" name="Group 3"/>
            <p:cNvGrpSpPr/>
            <p:nvPr/>
          </p:nvGrpSpPr>
          <p:grpSpPr>
            <a:xfrm>
              <a:off x="6167679" y="2078169"/>
              <a:ext cx="2855632" cy="1297586"/>
              <a:chOff x="6015279" y="1614768"/>
              <a:chExt cx="2325963" cy="1297586"/>
            </a:xfrm>
            <a:grpFill/>
          </p:grpSpPr>
          <p:sp>
            <p:nvSpPr>
              <p:cNvPr id="44" name="Rectangular Callout 43"/>
              <p:cNvSpPr/>
              <p:nvPr/>
            </p:nvSpPr>
            <p:spPr>
              <a:xfrm>
                <a:off x="6015279" y="1614768"/>
                <a:ext cx="2325963" cy="1295400"/>
              </a:xfrm>
              <a:prstGeom prst="wedgeRectCallout">
                <a:avLst>
                  <a:gd name="adj1" fmla="val -107405"/>
                  <a:gd name="adj2" fmla="val 99982"/>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dirty="0">
                  <a:solidFill>
                    <a:schemeClr val="tx1"/>
                  </a:solidFill>
                </a:endParaRPr>
              </a:p>
            </p:txBody>
          </p:sp>
          <p:sp>
            <p:nvSpPr>
              <p:cNvPr id="31" name="Rectangular Callout 30"/>
              <p:cNvSpPr/>
              <p:nvPr/>
            </p:nvSpPr>
            <p:spPr>
              <a:xfrm>
                <a:off x="6015279" y="1614768"/>
                <a:ext cx="2325963" cy="1295400"/>
              </a:xfrm>
              <a:prstGeom prst="wedgeRectCallout">
                <a:avLst>
                  <a:gd name="adj1" fmla="val -69891"/>
                  <a:gd name="adj2" fmla="val 96699"/>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dirty="0">
                  <a:solidFill>
                    <a:schemeClr val="tx1"/>
                  </a:solidFill>
                </a:endParaRPr>
              </a:p>
            </p:txBody>
          </p:sp>
          <mc:AlternateContent xmlns:mc="http://schemas.openxmlformats.org/markup-compatibility/2006" xmlns:a14="http://schemas.microsoft.com/office/drawing/2010/main">
            <mc:Choice Requires="a14">
              <p:sp>
                <p:nvSpPr>
                  <p:cNvPr id="32" name="Rectangular Callout 31"/>
                  <p:cNvSpPr/>
                  <p:nvPr/>
                </p:nvSpPr>
                <p:spPr>
                  <a:xfrm>
                    <a:off x="6015279" y="1616954"/>
                    <a:ext cx="2325963" cy="1295400"/>
                  </a:xfrm>
                  <a:prstGeom prst="wedgeRectCallout">
                    <a:avLst>
                      <a:gd name="adj1" fmla="val -181199"/>
                      <a:gd name="adj2" fmla="val 97518"/>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GB" sz="2000" b="1" i="1" dirty="0" smtClean="0">
                                  <a:solidFill>
                                    <a:schemeClr val="tx1"/>
                                  </a:solidFill>
                                  <a:latin typeface="Cambria Math" panose="02040503050406030204" pitchFamily="18" charset="0"/>
                                </a:rPr>
                              </m:ctrlPr>
                            </m:fPr>
                            <m:num>
                              <m:r>
                                <a:rPr lang="en-GB" sz="2000" b="1" i="1" dirty="0">
                                  <a:solidFill>
                                    <a:schemeClr val="tx1"/>
                                  </a:solidFill>
                                  <a:latin typeface="Cambria Math"/>
                                </a:rPr>
                                <m:t>𝟏</m:t>
                              </m:r>
                            </m:num>
                            <m:den>
                              <m:r>
                                <a:rPr lang="en-GB" sz="2000" b="1" i="1" dirty="0" smtClean="0">
                                  <a:solidFill>
                                    <a:schemeClr val="tx1"/>
                                  </a:solidFill>
                                  <a:latin typeface="Cambria Math"/>
                                </a:rPr>
                                <m:t>𝒏</m:t>
                              </m:r>
                              <m:r>
                                <a:rPr lang="en-GB" sz="2000" b="1" i="1" dirty="0">
                                  <a:solidFill>
                                    <a:schemeClr val="tx1"/>
                                  </a:solidFill>
                                  <a:latin typeface="Cambria Math"/>
                                </a:rPr>
                                <m:t>−</m:t>
                              </m:r>
                              <m:r>
                                <a:rPr lang="en-GB" sz="2000" b="1" i="1" dirty="0" smtClean="0">
                                  <a:solidFill>
                                    <a:schemeClr val="tx1"/>
                                  </a:solidFill>
                                  <a:latin typeface="Cambria Math"/>
                                </a:rPr>
                                <m:t>𝒄</m:t>
                              </m:r>
                            </m:den>
                          </m:f>
                          <m:nary>
                            <m:naryPr>
                              <m:chr m:val="∑"/>
                              <m:ctrlPr>
                                <a:rPr lang="en-GB" sz="2000" b="1" i="1" smtClean="0">
                                  <a:solidFill>
                                    <a:schemeClr val="tx1"/>
                                  </a:solidFill>
                                  <a:latin typeface="Cambria Math" panose="02040503050406030204" pitchFamily="18" charset="0"/>
                                </a:rPr>
                              </m:ctrlPr>
                            </m:naryPr>
                            <m:sub>
                              <m:r>
                                <m:rPr>
                                  <m:brk m:alnAt="23"/>
                                </m:rPr>
                                <a:rPr lang="en-GB" sz="2000" b="1" i="1" smtClean="0">
                                  <a:solidFill>
                                    <a:schemeClr val="tx1"/>
                                  </a:solidFill>
                                  <a:latin typeface="Cambria Math"/>
                                </a:rPr>
                                <m:t>𝒋</m:t>
                              </m:r>
                              <m:r>
                                <a:rPr lang="en-GB" sz="2000" b="1" i="1" smtClean="0">
                                  <a:solidFill>
                                    <a:schemeClr val="tx1"/>
                                  </a:solidFill>
                                  <a:latin typeface="Cambria Math"/>
                                </a:rPr>
                                <m:t>=</m:t>
                              </m:r>
                              <m:r>
                                <a:rPr lang="en-GB" sz="2000" b="1" i="1" smtClean="0">
                                  <a:solidFill>
                                    <a:schemeClr val="tx1"/>
                                  </a:solidFill>
                                  <a:latin typeface="Cambria Math"/>
                                </a:rPr>
                                <m:t>𝟏</m:t>
                              </m:r>
                            </m:sub>
                            <m:sup>
                              <m:r>
                                <a:rPr lang="en-GB" sz="2000" b="1" i="1" smtClean="0">
                                  <a:solidFill>
                                    <a:schemeClr val="tx1"/>
                                  </a:solidFill>
                                  <a:latin typeface="Cambria Math"/>
                                </a:rPr>
                                <m:t>𝒄</m:t>
                              </m:r>
                            </m:sup>
                            <m:e>
                              <m:nary>
                                <m:naryPr>
                                  <m:chr m:val="∑"/>
                                  <m:ctrlPr>
                                    <a:rPr lang="en-GB" sz="2000" b="1" i="1">
                                      <a:solidFill>
                                        <a:schemeClr val="tx1"/>
                                      </a:solidFill>
                                      <a:latin typeface="Cambria Math" panose="02040503050406030204" pitchFamily="18" charset="0"/>
                                    </a:rPr>
                                  </m:ctrlPr>
                                </m:naryPr>
                                <m:sub>
                                  <m:r>
                                    <a:rPr lang="en-GB" sz="2000" b="1" i="1" smtClean="0">
                                      <a:solidFill>
                                        <a:schemeClr val="tx1"/>
                                      </a:solidFill>
                                      <a:latin typeface="Cambria Math"/>
                                    </a:rPr>
                                    <m:t>𝒊</m:t>
                                  </m:r>
                                  <m:r>
                                    <a:rPr lang="en-GB" sz="2000" b="1" i="1">
                                      <a:solidFill>
                                        <a:schemeClr val="tx1"/>
                                      </a:solidFill>
                                      <a:latin typeface="Cambria Math"/>
                                    </a:rPr>
                                    <m:t>=</m:t>
                                  </m:r>
                                  <m:r>
                                    <a:rPr lang="en-GB" sz="2000" b="1" i="1">
                                      <a:solidFill>
                                        <a:schemeClr val="tx1"/>
                                      </a:solidFill>
                                      <a:latin typeface="Cambria Math"/>
                                    </a:rPr>
                                    <m:t>𝟏</m:t>
                                  </m:r>
                                </m:sub>
                                <m:sup>
                                  <m:sSub>
                                    <m:sSubPr>
                                      <m:ctrlPr>
                                        <a:rPr lang="en-GB" sz="2000" b="1" i="1" smtClean="0">
                                          <a:solidFill>
                                            <a:schemeClr val="tx1"/>
                                          </a:solidFill>
                                          <a:latin typeface="Cambria Math" panose="02040503050406030204" pitchFamily="18" charset="0"/>
                                        </a:rPr>
                                      </m:ctrlPr>
                                    </m:sSubPr>
                                    <m:e>
                                      <m:r>
                                        <a:rPr lang="en-GB" sz="2000" b="1" i="1" smtClean="0">
                                          <a:solidFill>
                                            <a:schemeClr val="tx1"/>
                                          </a:solidFill>
                                          <a:latin typeface="Cambria Math"/>
                                        </a:rPr>
                                        <m:t>𝒏</m:t>
                                      </m:r>
                                    </m:e>
                                    <m:sub>
                                      <m:r>
                                        <a:rPr lang="en-GB" sz="2000" b="1" i="1" smtClean="0">
                                          <a:solidFill>
                                            <a:schemeClr val="tx1"/>
                                          </a:solidFill>
                                          <a:latin typeface="Cambria Math"/>
                                        </a:rPr>
                                        <m:t>𝒋</m:t>
                                      </m:r>
                                    </m:sub>
                                  </m:sSub>
                                </m:sup>
                                <m:e>
                                  <m:sSup>
                                    <m:sSupPr>
                                      <m:ctrlPr>
                                        <a:rPr lang="en-GB" sz="2000" b="1" i="1" dirty="0">
                                          <a:solidFill>
                                            <a:schemeClr val="tx1"/>
                                          </a:solidFill>
                                          <a:latin typeface="Cambria Math" panose="02040503050406030204" pitchFamily="18" charset="0"/>
                                        </a:rPr>
                                      </m:ctrlPr>
                                    </m:sSupPr>
                                    <m:e>
                                      <m:d>
                                        <m:dPr>
                                          <m:ctrlPr>
                                            <a:rPr lang="en-GB" sz="2000" b="1" i="1" dirty="0">
                                              <a:solidFill>
                                                <a:schemeClr val="tx1"/>
                                              </a:solidFill>
                                              <a:latin typeface="Cambria Math" panose="02040503050406030204" pitchFamily="18" charset="0"/>
                                            </a:rPr>
                                          </m:ctrlPr>
                                        </m:dPr>
                                        <m:e>
                                          <m:sSub>
                                            <m:sSubPr>
                                              <m:ctrlPr>
                                                <a:rPr lang="en-GB" sz="2000" b="1" i="1" dirty="0">
                                                  <a:solidFill>
                                                    <a:schemeClr val="tx1"/>
                                                  </a:solidFill>
                                                  <a:latin typeface="Cambria Math" panose="02040503050406030204" pitchFamily="18" charset="0"/>
                                                </a:rPr>
                                              </m:ctrlPr>
                                            </m:sSubPr>
                                            <m:e>
                                              <m:sSub>
                                                <m:sSubPr>
                                                  <m:ctrlPr>
                                                    <a:rPr lang="en-GB" sz="2000" b="1" i="1" dirty="0">
                                                      <a:solidFill>
                                                        <a:schemeClr val="tx1"/>
                                                      </a:solidFill>
                                                      <a:latin typeface="Cambria Math" panose="02040503050406030204" pitchFamily="18" charset="0"/>
                                                    </a:rPr>
                                                  </m:ctrlPr>
                                                </m:sSubPr>
                                                <m:e>
                                                  <m:r>
                                                    <a:rPr lang="en-GB" sz="2000" b="1" i="1" dirty="0">
                                                      <a:solidFill>
                                                        <a:schemeClr val="tx1"/>
                                                      </a:solidFill>
                                                      <a:latin typeface="Cambria Math"/>
                                                    </a:rPr>
                                                    <m:t>𝑿</m:t>
                                                  </m:r>
                                                </m:e>
                                                <m:sub>
                                                  <m:r>
                                                    <a:rPr lang="en-GB" sz="2000" b="1" i="1" dirty="0">
                                                      <a:solidFill>
                                                        <a:schemeClr val="tx1"/>
                                                      </a:solidFill>
                                                      <a:latin typeface="Cambria Math"/>
                                                    </a:rPr>
                                                    <m:t>𝒊𝒋</m:t>
                                                  </m:r>
                                                </m:sub>
                                              </m:sSub>
                                              <m:r>
                                                <a:rPr lang="en-GB" sz="2000" b="1" i="1" dirty="0">
                                                  <a:solidFill>
                                                    <a:schemeClr val="tx1"/>
                                                  </a:solidFill>
                                                  <a:latin typeface="Cambria Math"/>
                                                </a:rPr>
                                                <m:t>−</m:t>
                                              </m:r>
                                              <m:acc>
                                                <m:accPr>
                                                  <m:chr m:val="̅"/>
                                                  <m:ctrlPr>
                                                    <a:rPr lang="en-GB" sz="2000" b="1" i="1" dirty="0">
                                                      <a:solidFill>
                                                        <a:schemeClr val="tx1"/>
                                                      </a:solidFill>
                                                      <a:latin typeface="Cambria Math" panose="02040503050406030204" pitchFamily="18" charset="0"/>
                                                    </a:rPr>
                                                  </m:ctrlPr>
                                                </m:accPr>
                                                <m:e>
                                                  <m:r>
                                                    <a:rPr lang="en-GB" sz="2000" b="1" i="1" dirty="0">
                                                      <a:solidFill>
                                                        <a:schemeClr val="tx1"/>
                                                      </a:solidFill>
                                                      <a:latin typeface="Cambria Math"/>
                                                    </a:rPr>
                                                    <m:t>𝑿</m:t>
                                                  </m:r>
                                                </m:e>
                                              </m:acc>
                                            </m:e>
                                            <m:sub>
                                              <m:r>
                                                <a:rPr lang="en-GB" sz="2000" b="1" i="1" dirty="0">
                                                  <a:solidFill>
                                                    <a:schemeClr val="tx1"/>
                                                  </a:solidFill>
                                                  <a:latin typeface="Cambria Math"/>
                                                </a:rPr>
                                                <m:t>𝒋</m:t>
                                              </m:r>
                                            </m:sub>
                                          </m:sSub>
                                        </m:e>
                                      </m:d>
                                    </m:e>
                                    <m:sup>
                                      <m:r>
                                        <a:rPr lang="en-GB" sz="2000" b="1" i="1" dirty="0">
                                          <a:solidFill>
                                            <a:schemeClr val="tx1"/>
                                          </a:solidFill>
                                          <a:latin typeface="Cambria Math"/>
                                        </a:rPr>
                                        <m:t>𝟐</m:t>
                                      </m:r>
                                    </m:sup>
                                  </m:sSup>
                                </m:e>
                              </m:nary>
                              <m:r>
                                <m:rPr>
                                  <m:nor/>
                                </m:rPr>
                                <a:rPr lang="en-GB" sz="2000" b="1" dirty="0">
                                  <a:solidFill>
                                    <a:schemeClr val="tx1"/>
                                  </a:solidFill>
                                </a:rPr>
                                <m:t> </m:t>
                              </m:r>
                            </m:e>
                          </m:nary>
                        </m:oMath>
                      </m:oMathPara>
                    </a14:m>
                    <a:endParaRPr lang="en-GB" sz="2000" b="1" dirty="0">
                      <a:solidFill>
                        <a:schemeClr val="tx1"/>
                      </a:solidFill>
                    </a:endParaRPr>
                  </a:p>
                </p:txBody>
              </p:sp>
            </mc:Choice>
            <mc:Fallback xmlns="">
              <p:sp>
                <p:nvSpPr>
                  <p:cNvPr id="32" name="Rectangular Callout 31"/>
                  <p:cNvSpPr>
                    <a:spLocks noRot="1" noChangeAspect="1" noMove="1" noResize="1" noEditPoints="1" noAdjustHandles="1" noChangeArrowheads="1" noChangeShapeType="1" noTextEdit="1"/>
                  </p:cNvSpPr>
                  <p:nvPr/>
                </p:nvSpPr>
                <p:spPr>
                  <a:xfrm>
                    <a:off x="6015279" y="1616954"/>
                    <a:ext cx="2325963" cy="1295400"/>
                  </a:xfrm>
                  <a:prstGeom prst="wedgeRectCallout">
                    <a:avLst>
                      <a:gd name="adj1" fmla="val -181199"/>
                      <a:gd name="adj2" fmla="val 97518"/>
                    </a:avLst>
                  </a:prstGeom>
                  <a:blipFill rotWithShape="1">
                    <a:blip r:embed="rId7"/>
                    <a:stretch>
                      <a:fillRect/>
                    </a:stretch>
                  </a:blipFill>
                  <a:ln>
                    <a:noFill/>
                  </a:ln>
                </p:spPr>
                <p:txBody>
                  <a:bodyPr/>
                  <a:lstStyle/>
                  <a:p>
                    <a:r>
                      <a:rPr lang="en-GB">
                        <a:noFill/>
                      </a:rPr>
                      <a:t> </a:t>
                    </a:r>
                  </a:p>
                </p:txBody>
              </p:sp>
            </mc:Fallback>
          </mc:AlternateContent>
        </p:grpSp>
        <p:sp>
          <p:nvSpPr>
            <p:cNvPr id="5" name="Rectangle 4"/>
            <p:cNvSpPr/>
            <p:nvPr/>
          </p:nvSpPr>
          <p:spPr>
            <a:xfrm>
              <a:off x="7709223" y="1600200"/>
              <a:ext cx="1106585" cy="584775"/>
            </a:xfrm>
            <a:prstGeom prst="rect">
              <a:avLst/>
            </a:prstGeom>
            <a:noFill/>
            <a:ln>
              <a:noFill/>
            </a:ln>
          </p:spPr>
          <p:txBody>
            <a:bodyPr wrap="none">
              <a:spAutoFit/>
            </a:bodyPr>
            <a:lstStyle/>
            <a:p>
              <a:r>
                <a:rPr lang="en-GB" altLang="en-US" sz="3200" b="1" dirty="0"/>
                <a:t>MSW</a:t>
              </a:r>
              <a:endParaRPr lang="en-GB" sz="3200" b="1" dirty="0"/>
            </a:p>
          </p:txBody>
        </p:sp>
      </p:grpSp>
      <p:grpSp>
        <p:nvGrpSpPr>
          <p:cNvPr id="14" name="Group 13"/>
          <p:cNvGrpSpPr/>
          <p:nvPr/>
        </p:nvGrpSpPr>
        <p:grpSpPr>
          <a:xfrm>
            <a:off x="609600" y="762000"/>
            <a:ext cx="2622699" cy="1378673"/>
            <a:chOff x="609600" y="990600"/>
            <a:chExt cx="2622699" cy="1378673"/>
          </a:xfrm>
          <a:solidFill>
            <a:schemeClr val="tx2">
              <a:lumMod val="20000"/>
              <a:lumOff val="80000"/>
            </a:schemeClr>
          </a:solidFill>
        </p:grpSpPr>
        <p:grpSp>
          <p:nvGrpSpPr>
            <p:cNvPr id="12" name="Group 11"/>
            <p:cNvGrpSpPr/>
            <p:nvPr/>
          </p:nvGrpSpPr>
          <p:grpSpPr>
            <a:xfrm>
              <a:off x="609600" y="990600"/>
              <a:ext cx="2622699" cy="1378673"/>
              <a:chOff x="609600" y="990600"/>
              <a:chExt cx="2622699" cy="1378673"/>
            </a:xfrm>
            <a:grpFill/>
          </p:grpSpPr>
          <mc:AlternateContent xmlns:mc="http://schemas.openxmlformats.org/markup-compatibility/2006" xmlns:a14="http://schemas.microsoft.com/office/drawing/2010/main">
            <mc:Choice Requires="a14">
              <p:sp>
                <p:nvSpPr>
                  <p:cNvPr id="38" name="Rectangular Callout 37"/>
                  <p:cNvSpPr/>
                  <p:nvPr/>
                </p:nvSpPr>
                <p:spPr>
                  <a:xfrm>
                    <a:off x="685800" y="990600"/>
                    <a:ext cx="2546499" cy="914400"/>
                  </a:xfrm>
                  <a:prstGeom prst="wedgeRectCallout">
                    <a:avLst>
                      <a:gd name="adj1" fmla="val 39906"/>
                      <a:gd name="adj2" fmla="val 155524"/>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GB" sz="2000" b="1" i="1" dirty="0" smtClean="0">
                                  <a:solidFill>
                                    <a:schemeClr val="tx1"/>
                                  </a:solidFill>
                                  <a:latin typeface="Cambria Math" panose="02040503050406030204" pitchFamily="18" charset="0"/>
                                </a:rPr>
                              </m:ctrlPr>
                            </m:fPr>
                            <m:num>
                              <m:r>
                                <a:rPr lang="en-GB" sz="2000" b="1" i="1" dirty="0" smtClean="0">
                                  <a:solidFill>
                                    <a:schemeClr val="tx1"/>
                                  </a:solidFill>
                                  <a:latin typeface="Cambria Math"/>
                                </a:rPr>
                                <m:t>𝟏</m:t>
                              </m:r>
                            </m:num>
                            <m:den>
                              <m:r>
                                <a:rPr lang="en-GB" sz="2000" b="1" i="1" dirty="0" smtClean="0">
                                  <a:solidFill>
                                    <a:schemeClr val="tx1"/>
                                  </a:solidFill>
                                  <a:latin typeface="Cambria Math"/>
                                </a:rPr>
                                <m:t>𝒄</m:t>
                              </m:r>
                              <m:r>
                                <a:rPr lang="en-GB" sz="2000" b="1" i="1" dirty="0" smtClean="0">
                                  <a:solidFill>
                                    <a:schemeClr val="tx1"/>
                                  </a:solidFill>
                                  <a:latin typeface="Cambria Math"/>
                                </a:rPr>
                                <m:t>−</m:t>
                              </m:r>
                              <m:r>
                                <a:rPr lang="en-GB" sz="2000" b="1" i="1" dirty="0" smtClean="0">
                                  <a:solidFill>
                                    <a:schemeClr val="tx1"/>
                                  </a:solidFill>
                                  <a:latin typeface="Cambria Math"/>
                                </a:rPr>
                                <m:t>𝟏</m:t>
                              </m:r>
                            </m:den>
                          </m:f>
                          <m:nary>
                            <m:naryPr>
                              <m:chr m:val="∑"/>
                              <m:subHide m:val="on"/>
                              <m:supHide m:val="on"/>
                              <m:ctrlPr>
                                <a:rPr lang="en-GB" sz="2000" b="1" i="1" dirty="0" smtClean="0">
                                  <a:solidFill>
                                    <a:schemeClr val="tx1"/>
                                  </a:solidFill>
                                  <a:latin typeface="Cambria Math" panose="02040503050406030204" pitchFamily="18" charset="0"/>
                                </a:rPr>
                              </m:ctrlPr>
                            </m:naryPr>
                            <m:sub/>
                            <m:sup/>
                            <m:e>
                              <m:sSub>
                                <m:sSubPr>
                                  <m:ctrlPr>
                                    <a:rPr lang="en-GB" sz="2000" b="1" i="1" dirty="0" smtClean="0">
                                      <a:solidFill>
                                        <a:schemeClr val="tx1"/>
                                      </a:solidFill>
                                      <a:latin typeface="Cambria Math" panose="02040503050406030204" pitchFamily="18" charset="0"/>
                                    </a:rPr>
                                  </m:ctrlPr>
                                </m:sSubPr>
                                <m:e>
                                  <m:r>
                                    <a:rPr lang="en-GB" sz="2000" b="1" i="1" dirty="0" smtClean="0">
                                      <a:solidFill>
                                        <a:schemeClr val="tx1"/>
                                      </a:solidFill>
                                      <a:latin typeface="Cambria Math"/>
                                    </a:rPr>
                                    <m:t>𝒏</m:t>
                                  </m:r>
                                </m:e>
                                <m:sub>
                                  <m:r>
                                    <a:rPr lang="en-GB" sz="2000" b="1" i="1" dirty="0" smtClean="0">
                                      <a:solidFill>
                                        <a:schemeClr val="tx1"/>
                                      </a:solidFill>
                                      <a:latin typeface="Cambria Math"/>
                                    </a:rPr>
                                    <m:t>𝒋</m:t>
                                  </m:r>
                                </m:sub>
                              </m:sSub>
                              <m:sSup>
                                <m:sSupPr>
                                  <m:ctrlPr>
                                    <a:rPr lang="en-GB" sz="2000" b="1" i="1" dirty="0" smtClean="0">
                                      <a:solidFill>
                                        <a:schemeClr val="tx1"/>
                                      </a:solidFill>
                                      <a:latin typeface="Cambria Math" panose="02040503050406030204" pitchFamily="18" charset="0"/>
                                    </a:rPr>
                                  </m:ctrlPr>
                                </m:sSupPr>
                                <m:e>
                                  <m:d>
                                    <m:dPr>
                                      <m:ctrlPr>
                                        <a:rPr lang="en-GB" sz="2000" b="1" i="1" dirty="0">
                                          <a:solidFill>
                                            <a:schemeClr val="tx1"/>
                                          </a:solidFill>
                                          <a:latin typeface="Cambria Math" panose="02040503050406030204" pitchFamily="18" charset="0"/>
                                        </a:rPr>
                                      </m:ctrlPr>
                                    </m:dPr>
                                    <m:e>
                                      <m:sSub>
                                        <m:sSubPr>
                                          <m:ctrlPr>
                                            <a:rPr lang="en-GB" sz="2000" b="1" i="1" dirty="0">
                                              <a:solidFill>
                                                <a:schemeClr val="tx1"/>
                                              </a:solidFill>
                                              <a:latin typeface="Cambria Math" panose="02040503050406030204" pitchFamily="18" charset="0"/>
                                            </a:rPr>
                                          </m:ctrlPr>
                                        </m:sSubPr>
                                        <m:e>
                                          <m:acc>
                                            <m:accPr>
                                              <m:chr m:val="̅"/>
                                              <m:ctrlPr>
                                                <a:rPr lang="en-GB" sz="2000" b="1" i="1" dirty="0">
                                                  <a:solidFill>
                                                    <a:schemeClr val="tx1"/>
                                                  </a:solidFill>
                                                  <a:latin typeface="Cambria Math" panose="02040503050406030204" pitchFamily="18" charset="0"/>
                                                </a:rPr>
                                              </m:ctrlPr>
                                            </m:accPr>
                                            <m:e>
                                              <m:r>
                                                <a:rPr lang="en-GB" sz="2000" b="1" i="1" dirty="0">
                                                  <a:solidFill>
                                                    <a:schemeClr val="tx1"/>
                                                  </a:solidFill>
                                                  <a:latin typeface="Cambria Math"/>
                                                </a:rPr>
                                                <m:t>𝑿</m:t>
                                              </m:r>
                                            </m:e>
                                          </m:acc>
                                        </m:e>
                                        <m:sub>
                                          <m:r>
                                            <a:rPr lang="en-GB" sz="2000" b="1" i="1" dirty="0">
                                              <a:solidFill>
                                                <a:schemeClr val="tx1"/>
                                              </a:solidFill>
                                              <a:latin typeface="Cambria Math"/>
                                            </a:rPr>
                                            <m:t>𝒋</m:t>
                                          </m:r>
                                        </m:sub>
                                      </m:sSub>
                                      <m:r>
                                        <a:rPr lang="en-GB" sz="2000" b="1" i="1" dirty="0">
                                          <a:solidFill>
                                            <a:schemeClr val="tx1"/>
                                          </a:solidFill>
                                          <a:latin typeface="Cambria Math"/>
                                        </a:rPr>
                                        <m:t>−</m:t>
                                      </m:r>
                                      <m:acc>
                                        <m:accPr>
                                          <m:chr m:val="̿"/>
                                          <m:ctrlPr>
                                            <a:rPr lang="en-GB" sz="2000" b="1" i="1" dirty="0">
                                              <a:solidFill>
                                                <a:schemeClr val="tx1"/>
                                              </a:solidFill>
                                              <a:latin typeface="Cambria Math" panose="02040503050406030204" pitchFamily="18" charset="0"/>
                                            </a:rPr>
                                          </m:ctrlPr>
                                        </m:accPr>
                                        <m:e>
                                          <m:r>
                                            <a:rPr lang="en-GB" sz="2000" b="1" i="1" dirty="0">
                                              <a:solidFill>
                                                <a:schemeClr val="tx1"/>
                                              </a:solidFill>
                                              <a:latin typeface="Cambria Math"/>
                                            </a:rPr>
                                            <m:t>𝑿</m:t>
                                          </m:r>
                                        </m:e>
                                      </m:acc>
                                    </m:e>
                                  </m:d>
                                </m:e>
                                <m:sup>
                                  <m:r>
                                    <a:rPr lang="en-GB" sz="2000" b="1" i="1" dirty="0" smtClean="0">
                                      <a:solidFill>
                                        <a:schemeClr val="tx1"/>
                                      </a:solidFill>
                                      <a:latin typeface="Cambria Math"/>
                                    </a:rPr>
                                    <m:t>𝟐</m:t>
                                  </m:r>
                                </m:sup>
                              </m:sSup>
                            </m:e>
                          </m:nary>
                        </m:oMath>
                      </m:oMathPara>
                    </a14:m>
                    <a:endParaRPr lang="en-GB" sz="2000" b="1" dirty="0">
                      <a:solidFill>
                        <a:schemeClr val="tx1"/>
                      </a:solidFill>
                    </a:endParaRPr>
                  </a:p>
                </p:txBody>
              </p:sp>
            </mc:Choice>
            <mc:Fallback xmlns="">
              <p:sp>
                <p:nvSpPr>
                  <p:cNvPr id="38" name="Rectangular Callout 37"/>
                  <p:cNvSpPr>
                    <a:spLocks noRot="1" noChangeAspect="1" noMove="1" noResize="1" noEditPoints="1" noAdjustHandles="1" noChangeArrowheads="1" noChangeShapeType="1" noTextEdit="1"/>
                  </p:cNvSpPr>
                  <p:nvPr/>
                </p:nvSpPr>
                <p:spPr>
                  <a:xfrm>
                    <a:off x="685800" y="990600"/>
                    <a:ext cx="2546499" cy="914400"/>
                  </a:xfrm>
                  <a:prstGeom prst="wedgeRectCallout">
                    <a:avLst>
                      <a:gd name="adj1" fmla="val 39906"/>
                      <a:gd name="adj2" fmla="val 155524"/>
                    </a:avLst>
                  </a:prstGeom>
                  <a:blipFill rotWithShape="1">
                    <a:blip r:embed="rId8"/>
                    <a:stretch>
                      <a:fillRect/>
                    </a:stretch>
                  </a:blipFill>
                  <a:ln>
                    <a:noFill/>
                  </a:ln>
                </p:spPr>
                <p:txBody>
                  <a:bodyPr/>
                  <a:lstStyle/>
                  <a:p>
                    <a:r>
                      <a:rPr lang="en-GB">
                        <a:noFill/>
                      </a:rPr>
                      <a:t> </a:t>
                    </a:r>
                  </a:p>
                </p:txBody>
              </p:sp>
            </mc:Fallback>
          </mc:AlternateContent>
          <p:sp>
            <p:nvSpPr>
              <p:cNvPr id="40" name="Rectangle 39"/>
              <p:cNvSpPr/>
              <p:nvPr/>
            </p:nvSpPr>
            <p:spPr>
              <a:xfrm>
                <a:off x="609600" y="1784498"/>
                <a:ext cx="968535" cy="584775"/>
              </a:xfrm>
              <a:prstGeom prst="rect">
                <a:avLst/>
              </a:prstGeom>
              <a:noFill/>
              <a:ln>
                <a:noFill/>
              </a:ln>
            </p:spPr>
            <p:txBody>
              <a:bodyPr wrap="none">
                <a:spAutoFit/>
              </a:bodyPr>
              <a:lstStyle/>
              <a:p>
                <a:r>
                  <a:rPr lang="en-GB" altLang="en-US" sz="3200" b="1" dirty="0"/>
                  <a:t>MSB</a:t>
                </a:r>
                <a:endParaRPr lang="en-GB" sz="3200" b="1" dirty="0"/>
              </a:p>
            </p:txBody>
          </p:sp>
        </p:grpSp>
        <mc:AlternateContent xmlns:mc="http://schemas.openxmlformats.org/markup-compatibility/2006" xmlns:a14="http://schemas.microsoft.com/office/drawing/2010/main">
          <mc:Choice Requires="a14">
            <p:sp>
              <p:nvSpPr>
                <p:cNvPr id="47" name="Rectangular Callout 46"/>
                <p:cNvSpPr/>
                <p:nvPr/>
              </p:nvSpPr>
              <p:spPr>
                <a:xfrm>
                  <a:off x="685800" y="990600"/>
                  <a:ext cx="2546499" cy="914400"/>
                </a:xfrm>
                <a:prstGeom prst="wedgeRectCallout">
                  <a:avLst>
                    <a:gd name="adj1" fmla="val 98778"/>
                    <a:gd name="adj2" fmla="val 146222"/>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GB" sz="2000" b="1" i="1" dirty="0" smtClean="0">
                                <a:solidFill>
                                  <a:schemeClr val="tx1"/>
                                </a:solidFill>
                                <a:latin typeface="Cambria Math" panose="02040503050406030204" pitchFamily="18" charset="0"/>
                              </a:rPr>
                            </m:ctrlPr>
                          </m:fPr>
                          <m:num>
                            <m:r>
                              <a:rPr lang="en-GB" sz="2000" b="1" i="1" dirty="0" smtClean="0">
                                <a:solidFill>
                                  <a:schemeClr val="tx1"/>
                                </a:solidFill>
                                <a:latin typeface="Cambria Math"/>
                              </a:rPr>
                              <m:t>𝟏</m:t>
                            </m:r>
                          </m:num>
                          <m:den>
                            <m:r>
                              <a:rPr lang="en-GB" sz="2000" b="1" i="1" dirty="0" smtClean="0">
                                <a:solidFill>
                                  <a:schemeClr val="tx1"/>
                                </a:solidFill>
                                <a:latin typeface="Cambria Math"/>
                              </a:rPr>
                              <m:t>𝒄</m:t>
                            </m:r>
                            <m:r>
                              <a:rPr lang="en-GB" sz="2000" b="1" i="1" dirty="0" smtClean="0">
                                <a:solidFill>
                                  <a:schemeClr val="tx1"/>
                                </a:solidFill>
                                <a:latin typeface="Cambria Math"/>
                              </a:rPr>
                              <m:t>−</m:t>
                            </m:r>
                            <m:r>
                              <a:rPr lang="en-GB" sz="2000" b="1" i="1" dirty="0" smtClean="0">
                                <a:solidFill>
                                  <a:schemeClr val="tx1"/>
                                </a:solidFill>
                                <a:latin typeface="Cambria Math"/>
                              </a:rPr>
                              <m:t>𝟏</m:t>
                            </m:r>
                          </m:den>
                        </m:f>
                        <m:nary>
                          <m:naryPr>
                            <m:chr m:val="∑"/>
                            <m:subHide m:val="on"/>
                            <m:supHide m:val="on"/>
                            <m:ctrlPr>
                              <a:rPr lang="en-GB" sz="2000" b="1" i="1" dirty="0" smtClean="0">
                                <a:solidFill>
                                  <a:schemeClr val="tx1"/>
                                </a:solidFill>
                                <a:latin typeface="Cambria Math" panose="02040503050406030204" pitchFamily="18" charset="0"/>
                              </a:rPr>
                            </m:ctrlPr>
                          </m:naryPr>
                          <m:sub/>
                          <m:sup/>
                          <m:e>
                            <m:sSub>
                              <m:sSubPr>
                                <m:ctrlPr>
                                  <a:rPr lang="en-GB" sz="2000" b="1" i="1" dirty="0" smtClean="0">
                                    <a:solidFill>
                                      <a:schemeClr val="tx1"/>
                                    </a:solidFill>
                                    <a:latin typeface="Cambria Math" panose="02040503050406030204" pitchFamily="18" charset="0"/>
                                  </a:rPr>
                                </m:ctrlPr>
                              </m:sSubPr>
                              <m:e>
                                <m:r>
                                  <a:rPr lang="en-GB" sz="2000" b="1" i="1" dirty="0" smtClean="0">
                                    <a:solidFill>
                                      <a:schemeClr val="tx1"/>
                                    </a:solidFill>
                                    <a:latin typeface="Cambria Math"/>
                                  </a:rPr>
                                  <m:t>𝒏</m:t>
                                </m:r>
                              </m:e>
                              <m:sub>
                                <m:r>
                                  <a:rPr lang="en-GB" sz="2000" b="1" i="1" dirty="0" smtClean="0">
                                    <a:solidFill>
                                      <a:schemeClr val="tx1"/>
                                    </a:solidFill>
                                    <a:latin typeface="Cambria Math"/>
                                  </a:rPr>
                                  <m:t>𝒋</m:t>
                                </m:r>
                              </m:sub>
                            </m:sSub>
                            <m:sSup>
                              <m:sSupPr>
                                <m:ctrlPr>
                                  <a:rPr lang="en-GB" sz="2000" b="1" i="1" dirty="0" smtClean="0">
                                    <a:solidFill>
                                      <a:schemeClr val="tx1"/>
                                    </a:solidFill>
                                    <a:latin typeface="Cambria Math" panose="02040503050406030204" pitchFamily="18" charset="0"/>
                                  </a:rPr>
                                </m:ctrlPr>
                              </m:sSupPr>
                              <m:e>
                                <m:d>
                                  <m:dPr>
                                    <m:ctrlPr>
                                      <a:rPr lang="en-GB" sz="2000" b="1" i="1" dirty="0">
                                        <a:solidFill>
                                          <a:schemeClr val="tx1"/>
                                        </a:solidFill>
                                        <a:latin typeface="Cambria Math" panose="02040503050406030204" pitchFamily="18" charset="0"/>
                                      </a:rPr>
                                    </m:ctrlPr>
                                  </m:dPr>
                                  <m:e>
                                    <m:sSub>
                                      <m:sSubPr>
                                        <m:ctrlPr>
                                          <a:rPr lang="en-GB" sz="2000" b="1" i="1" dirty="0">
                                            <a:solidFill>
                                              <a:schemeClr val="tx1"/>
                                            </a:solidFill>
                                            <a:latin typeface="Cambria Math" panose="02040503050406030204" pitchFamily="18" charset="0"/>
                                          </a:rPr>
                                        </m:ctrlPr>
                                      </m:sSubPr>
                                      <m:e>
                                        <m:acc>
                                          <m:accPr>
                                            <m:chr m:val="̅"/>
                                            <m:ctrlPr>
                                              <a:rPr lang="en-GB" sz="2000" b="1" i="1" dirty="0">
                                                <a:solidFill>
                                                  <a:schemeClr val="tx1"/>
                                                </a:solidFill>
                                                <a:latin typeface="Cambria Math" panose="02040503050406030204" pitchFamily="18" charset="0"/>
                                              </a:rPr>
                                            </m:ctrlPr>
                                          </m:accPr>
                                          <m:e>
                                            <m:r>
                                              <a:rPr lang="en-GB" sz="2000" b="1" i="1" dirty="0">
                                                <a:solidFill>
                                                  <a:schemeClr val="tx1"/>
                                                </a:solidFill>
                                                <a:latin typeface="Cambria Math"/>
                                              </a:rPr>
                                              <m:t>𝑿</m:t>
                                            </m:r>
                                          </m:e>
                                        </m:acc>
                                      </m:e>
                                      <m:sub>
                                        <m:r>
                                          <a:rPr lang="en-GB" sz="2000" b="1" i="1" dirty="0">
                                            <a:solidFill>
                                              <a:schemeClr val="tx1"/>
                                            </a:solidFill>
                                            <a:latin typeface="Cambria Math"/>
                                          </a:rPr>
                                          <m:t>𝒋</m:t>
                                        </m:r>
                                      </m:sub>
                                    </m:sSub>
                                    <m:r>
                                      <a:rPr lang="en-GB" sz="2000" b="1" i="1" dirty="0">
                                        <a:solidFill>
                                          <a:schemeClr val="tx1"/>
                                        </a:solidFill>
                                        <a:latin typeface="Cambria Math"/>
                                      </a:rPr>
                                      <m:t>−</m:t>
                                    </m:r>
                                    <m:acc>
                                      <m:accPr>
                                        <m:chr m:val="̿"/>
                                        <m:ctrlPr>
                                          <a:rPr lang="en-GB" sz="2000" b="1" i="1" dirty="0">
                                            <a:solidFill>
                                              <a:schemeClr val="tx1"/>
                                            </a:solidFill>
                                            <a:latin typeface="Cambria Math" panose="02040503050406030204" pitchFamily="18" charset="0"/>
                                          </a:rPr>
                                        </m:ctrlPr>
                                      </m:accPr>
                                      <m:e>
                                        <m:r>
                                          <a:rPr lang="en-GB" sz="2000" b="1" i="1" dirty="0">
                                            <a:solidFill>
                                              <a:schemeClr val="tx1"/>
                                            </a:solidFill>
                                            <a:latin typeface="Cambria Math"/>
                                          </a:rPr>
                                          <m:t>𝑿</m:t>
                                        </m:r>
                                      </m:e>
                                    </m:acc>
                                  </m:e>
                                </m:d>
                              </m:e>
                              <m:sup>
                                <m:r>
                                  <a:rPr lang="en-GB" sz="2000" b="1" i="1" dirty="0" smtClean="0">
                                    <a:solidFill>
                                      <a:schemeClr val="tx1"/>
                                    </a:solidFill>
                                    <a:latin typeface="Cambria Math"/>
                                  </a:rPr>
                                  <m:t>𝟐</m:t>
                                </m:r>
                              </m:sup>
                            </m:sSup>
                          </m:e>
                        </m:nary>
                      </m:oMath>
                    </m:oMathPara>
                  </a14:m>
                  <a:endParaRPr lang="en-GB" sz="2000" b="1" dirty="0">
                    <a:solidFill>
                      <a:schemeClr val="tx1"/>
                    </a:solidFill>
                  </a:endParaRPr>
                </a:p>
              </p:txBody>
            </p:sp>
          </mc:Choice>
          <mc:Fallback xmlns="">
            <p:sp>
              <p:nvSpPr>
                <p:cNvPr id="47" name="Rectangular Callout 46"/>
                <p:cNvSpPr>
                  <a:spLocks noRot="1" noChangeAspect="1" noMove="1" noResize="1" noEditPoints="1" noAdjustHandles="1" noChangeArrowheads="1" noChangeShapeType="1" noTextEdit="1"/>
                </p:cNvSpPr>
                <p:nvPr/>
              </p:nvSpPr>
              <p:spPr>
                <a:xfrm>
                  <a:off x="685800" y="990600"/>
                  <a:ext cx="2546499" cy="914400"/>
                </a:xfrm>
                <a:prstGeom prst="wedgeRectCallout">
                  <a:avLst>
                    <a:gd name="adj1" fmla="val 98778"/>
                    <a:gd name="adj2" fmla="val 146222"/>
                  </a:avLst>
                </a:prstGeom>
                <a:blipFill rotWithShape="1">
                  <a:blip r:embed="rId9"/>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9" name="Rectangular Callout 48"/>
                <p:cNvSpPr/>
                <p:nvPr/>
              </p:nvSpPr>
              <p:spPr>
                <a:xfrm>
                  <a:off x="685800" y="990600"/>
                  <a:ext cx="2546499" cy="914400"/>
                </a:xfrm>
                <a:prstGeom prst="wedgeRectCallout">
                  <a:avLst>
                    <a:gd name="adj1" fmla="val 89175"/>
                    <a:gd name="adj2" fmla="val 167152"/>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GB" sz="2000" b="1" i="1" dirty="0" smtClean="0">
                                <a:solidFill>
                                  <a:schemeClr val="tx1"/>
                                </a:solidFill>
                                <a:latin typeface="Cambria Math" panose="02040503050406030204" pitchFamily="18" charset="0"/>
                              </a:rPr>
                            </m:ctrlPr>
                          </m:fPr>
                          <m:num>
                            <m:r>
                              <a:rPr lang="en-GB" sz="2000" b="1" i="1" dirty="0" smtClean="0">
                                <a:solidFill>
                                  <a:schemeClr val="tx1"/>
                                </a:solidFill>
                                <a:latin typeface="Cambria Math"/>
                              </a:rPr>
                              <m:t>𝟏</m:t>
                            </m:r>
                          </m:num>
                          <m:den>
                            <m:r>
                              <a:rPr lang="en-GB" sz="2000" b="1" i="1" dirty="0" smtClean="0">
                                <a:solidFill>
                                  <a:schemeClr val="tx1"/>
                                </a:solidFill>
                                <a:latin typeface="Cambria Math"/>
                              </a:rPr>
                              <m:t>𝒄</m:t>
                            </m:r>
                            <m:r>
                              <a:rPr lang="en-GB" sz="2000" b="1" i="1" dirty="0" smtClean="0">
                                <a:solidFill>
                                  <a:schemeClr val="tx1"/>
                                </a:solidFill>
                                <a:latin typeface="Cambria Math"/>
                              </a:rPr>
                              <m:t>−</m:t>
                            </m:r>
                            <m:r>
                              <a:rPr lang="en-GB" sz="2000" b="1" i="1" dirty="0" smtClean="0">
                                <a:solidFill>
                                  <a:schemeClr val="tx1"/>
                                </a:solidFill>
                                <a:latin typeface="Cambria Math"/>
                              </a:rPr>
                              <m:t>𝟏</m:t>
                            </m:r>
                          </m:den>
                        </m:f>
                        <m:nary>
                          <m:naryPr>
                            <m:chr m:val="∑"/>
                            <m:subHide m:val="on"/>
                            <m:supHide m:val="on"/>
                            <m:ctrlPr>
                              <a:rPr lang="en-GB" sz="2000" b="1" i="1" dirty="0" smtClean="0">
                                <a:solidFill>
                                  <a:schemeClr val="tx1"/>
                                </a:solidFill>
                                <a:latin typeface="Cambria Math" panose="02040503050406030204" pitchFamily="18" charset="0"/>
                              </a:rPr>
                            </m:ctrlPr>
                          </m:naryPr>
                          <m:sub/>
                          <m:sup/>
                          <m:e>
                            <m:sSub>
                              <m:sSubPr>
                                <m:ctrlPr>
                                  <a:rPr lang="en-GB" sz="2000" b="1" i="1" dirty="0" smtClean="0">
                                    <a:solidFill>
                                      <a:schemeClr val="tx1"/>
                                    </a:solidFill>
                                    <a:latin typeface="Cambria Math" panose="02040503050406030204" pitchFamily="18" charset="0"/>
                                  </a:rPr>
                                </m:ctrlPr>
                              </m:sSubPr>
                              <m:e>
                                <m:r>
                                  <a:rPr lang="en-GB" sz="2000" b="1" i="1" dirty="0" smtClean="0">
                                    <a:solidFill>
                                      <a:schemeClr val="tx1"/>
                                    </a:solidFill>
                                    <a:latin typeface="Cambria Math"/>
                                  </a:rPr>
                                  <m:t>𝒏</m:t>
                                </m:r>
                              </m:e>
                              <m:sub>
                                <m:r>
                                  <a:rPr lang="en-GB" sz="2000" b="1" i="1" dirty="0" smtClean="0">
                                    <a:solidFill>
                                      <a:schemeClr val="tx1"/>
                                    </a:solidFill>
                                    <a:latin typeface="Cambria Math"/>
                                  </a:rPr>
                                  <m:t>𝒋</m:t>
                                </m:r>
                              </m:sub>
                            </m:sSub>
                            <m:sSup>
                              <m:sSupPr>
                                <m:ctrlPr>
                                  <a:rPr lang="en-GB" sz="2000" b="1" i="1" dirty="0" smtClean="0">
                                    <a:solidFill>
                                      <a:schemeClr val="tx1"/>
                                    </a:solidFill>
                                    <a:latin typeface="Cambria Math" panose="02040503050406030204" pitchFamily="18" charset="0"/>
                                  </a:rPr>
                                </m:ctrlPr>
                              </m:sSupPr>
                              <m:e>
                                <m:d>
                                  <m:dPr>
                                    <m:ctrlPr>
                                      <a:rPr lang="en-GB" sz="2000" b="1" i="1" dirty="0">
                                        <a:solidFill>
                                          <a:schemeClr val="tx1"/>
                                        </a:solidFill>
                                        <a:latin typeface="Cambria Math" panose="02040503050406030204" pitchFamily="18" charset="0"/>
                                      </a:rPr>
                                    </m:ctrlPr>
                                  </m:dPr>
                                  <m:e>
                                    <m:sSub>
                                      <m:sSubPr>
                                        <m:ctrlPr>
                                          <a:rPr lang="en-GB" sz="2000" b="1" i="1" dirty="0">
                                            <a:solidFill>
                                              <a:schemeClr val="tx1"/>
                                            </a:solidFill>
                                            <a:latin typeface="Cambria Math" panose="02040503050406030204" pitchFamily="18" charset="0"/>
                                          </a:rPr>
                                        </m:ctrlPr>
                                      </m:sSubPr>
                                      <m:e>
                                        <m:acc>
                                          <m:accPr>
                                            <m:chr m:val="̅"/>
                                            <m:ctrlPr>
                                              <a:rPr lang="en-GB" sz="2000" b="1" i="1" dirty="0">
                                                <a:solidFill>
                                                  <a:schemeClr val="tx1"/>
                                                </a:solidFill>
                                                <a:latin typeface="Cambria Math" panose="02040503050406030204" pitchFamily="18" charset="0"/>
                                              </a:rPr>
                                            </m:ctrlPr>
                                          </m:accPr>
                                          <m:e>
                                            <m:r>
                                              <a:rPr lang="en-GB" sz="2000" b="1" i="1" dirty="0">
                                                <a:solidFill>
                                                  <a:schemeClr val="tx1"/>
                                                </a:solidFill>
                                                <a:latin typeface="Cambria Math"/>
                                              </a:rPr>
                                              <m:t>𝑿</m:t>
                                            </m:r>
                                          </m:e>
                                        </m:acc>
                                      </m:e>
                                      <m:sub>
                                        <m:r>
                                          <a:rPr lang="en-GB" sz="2000" b="1" i="1" dirty="0">
                                            <a:solidFill>
                                              <a:schemeClr val="tx1"/>
                                            </a:solidFill>
                                            <a:latin typeface="Cambria Math"/>
                                          </a:rPr>
                                          <m:t>𝒋</m:t>
                                        </m:r>
                                      </m:sub>
                                    </m:sSub>
                                    <m:r>
                                      <a:rPr lang="en-GB" sz="2000" b="1" i="1" dirty="0">
                                        <a:solidFill>
                                          <a:schemeClr val="tx1"/>
                                        </a:solidFill>
                                        <a:latin typeface="Cambria Math"/>
                                      </a:rPr>
                                      <m:t>−</m:t>
                                    </m:r>
                                    <m:acc>
                                      <m:accPr>
                                        <m:chr m:val="̿"/>
                                        <m:ctrlPr>
                                          <a:rPr lang="en-GB" sz="2000" b="1" i="1" dirty="0">
                                            <a:solidFill>
                                              <a:schemeClr val="tx1"/>
                                            </a:solidFill>
                                            <a:latin typeface="Cambria Math" panose="02040503050406030204" pitchFamily="18" charset="0"/>
                                          </a:rPr>
                                        </m:ctrlPr>
                                      </m:accPr>
                                      <m:e>
                                        <m:r>
                                          <a:rPr lang="en-GB" sz="2000" b="1" i="1" dirty="0">
                                            <a:solidFill>
                                              <a:schemeClr val="tx1"/>
                                            </a:solidFill>
                                            <a:latin typeface="Cambria Math"/>
                                          </a:rPr>
                                          <m:t>𝑿</m:t>
                                        </m:r>
                                      </m:e>
                                    </m:acc>
                                  </m:e>
                                </m:d>
                              </m:e>
                              <m:sup>
                                <m:r>
                                  <a:rPr lang="en-GB" sz="2000" b="1" i="1" dirty="0" smtClean="0">
                                    <a:solidFill>
                                      <a:schemeClr val="tx1"/>
                                    </a:solidFill>
                                    <a:latin typeface="Cambria Math"/>
                                  </a:rPr>
                                  <m:t>𝟐</m:t>
                                </m:r>
                              </m:sup>
                            </m:sSup>
                          </m:e>
                        </m:nary>
                      </m:oMath>
                    </m:oMathPara>
                  </a14:m>
                  <a:endParaRPr lang="en-GB" sz="2000" b="1" dirty="0">
                    <a:solidFill>
                      <a:schemeClr val="tx1"/>
                    </a:solidFill>
                  </a:endParaRPr>
                </a:p>
              </p:txBody>
            </p:sp>
          </mc:Choice>
          <mc:Fallback xmlns="">
            <p:sp>
              <p:nvSpPr>
                <p:cNvPr id="49" name="Rectangular Callout 48"/>
                <p:cNvSpPr>
                  <a:spLocks noRot="1" noChangeAspect="1" noMove="1" noResize="1" noEditPoints="1" noAdjustHandles="1" noChangeArrowheads="1" noChangeShapeType="1" noTextEdit="1"/>
                </p:cNvSpPr>
                <p:nvPr/>
              </p:nvSpPr>
              <p:spPr>
                <a:xfrm>
                  <a:off x="685800" y="990600"/>
                  <a:ext cx="2546499" cy="914400"/>
                </a:xfrm>
                <a:prstGeom prst="wedgeRectCallout">
                  <a:avLst>
                    <a:gd name="adj1" fmla="val 89175"/>
                    <a:gd name="adj2" fmla="val 167152"/>
                  </a:avLst>
                </a:prstGeom>
                <a:blipFill rotWithShape="1">
                  <a:blip r:embed="rId10"/>
                  <a:stretch>
                    <a:fillRect/>
                  </a:stretch>
                </a:blipFill>
                <a:ln>
                  <a:noFill/>
                </a:ln>
              </p:spPr>
              <p:txBody>
                <a:bodyPr/>
                <a:lstStyle/>
                <a:p>
                  <a:r>
                    <a:rPr lang="en-GB">
                      <a:noFill/>
                    </a:rPr>
                    <a:t> </a:t>
                  </a:r>
                </a:p>
              </p:txBody>
            </p:sp>
          </mc:Fallback>
        </mc:AlternateContent>
      </p:grpSp>
      <p:sp>
        <p:nvSpPr>
          <p:cNvPr id="52" name="TextBox 51">
            <a:extLst>
              <a:ext uri="{FF2B5EF4-FFF2-40B4-BE49-F238E27FC236}">
                <a16:creationId xmlns:a16="http://schemas.microsoft.com/office/drawing/2014/main" id="{FB13DB2C-0EAB-6DC5-6069-62227C82DBDB}"/>
              </a:ext>
            </a:extLst>
          </p:cNvPr>
          <p:cNvSpPr txBox="1"/>
          <p:nvPr/>
        </p:nvSpPr>
        <p:spPr>
          <a:xfrm>
            <a:off x="501500" y="4611231"/>
            <a:ext cx="8032899" cy="2246769"/>
          </a:xfrm>
          <a:prstGeom prst="rect">
            <a:avLst/>
          </a:prstGeom>
          <a:noFill/>
        </p:spPr>
        <p:txBody>
          <a:bodyPr wrap="square">
            <a:spAutoFit/>
          </a:bodyPr>
          <a:lstStyle/>
          <a:p>
            <a:pPr marL="457200" indent="-457200">
              <a:buAutoNum type="arabicParenR"/>
            </a:pPr>
            <a:r>
              <a:rPr lang="en-GB" sz="2000" dirty="0"/>
              <a:t>If the variance between groups (i.e., MSB) is very large, are the means of these three groups more likely to be equal? </a:t>
            </a:r>
            <a:r>
              <a:rPr lang="en-GB" sz="2000" dirty="0">
                <a:solidFill>
                  <a:srgbClr val="FF0000"/>
                </a:solidFill>
              </a:rPr>
              <a:t>No</a:t>
            </a:r>
          </a:p>
          <a:p>
            <a:pPr marL="457200" indent="-457200">
              <a:buAutoNum type="arabicParenR"/>
            </a:pPr>
            <a:r>
              <a:rPr lang="en-GB" sz="2000" dirty="0"/>
              <a:t>If the variance within each group (i.e., MSW) is very large, are the means of these three groups more likely to be equal? </a:t>
            </a:r>
            <a:r>
              <a:rPr lang="en-GB" sz="2000" dirty="0">
                <a:solidFill>
                  <a:srgbClr val="FF0000"/>
                </a:solidFill>
              </a:rPr>
              <a:t>Yes</a:t>
            </a:r>
          </a:p>
          <a:p>
            <a:pPr marL="457200" indent="-457200">
              <a:buAutoNum type="arabicParenR"/>
            </a:pPr>
            <a:r>
              <a:rPr lang="en-GB" sz="2000" dirty="0"/>
              <a:t>If we increase the sample size in each group, are the means of these three groups more likely to be equal? </a:t>
            </a:r>
            <a:r>
              <a:rPr lang="en-GB" sz="2000" dirty="0">
                <a:solidFill>
                  <a:srgbClr val="FF0000"/>
                </a:solidFill>
              </a:rPr>
              <a:t>No</a:t>
            </a:r>
          </a:p>
          <a:p>
            <a:pPr marL="457200" indent="-457200">
              <a:buAutoNum type="arabicParenR"/>
            </a:pPr>
            <a:endParaRPr lang="en-GB" sz="2000" dirty="0"/>
          </a:p>
        </p:txBody>
      </p:sp>
    </p:spTree>
    <p:extLst>
      <p:ext uri="{BB962C8B-B14F-4D97-AF65-F5344CB8AC3E}">
        <p14:creationId xmlns:p14="http://schemas.microsoft.com/office/powerpoint/2010/main" val="41642610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altLang="en-US" dirty="0"/>
              <a:t>One-way ANOVA</a:t>
            </a:r>
            <a:endParaRPr lang="en-GB" dirty="0"/>
          </a:p>
        </p:txBody>
      </p:sp>
      <p:grpSp>
        <p:nvGrpSpPr>
          <p:cNvPr id="5" name="Group 4"/>
          <p:cNvGrpSpPr/>
          <p:nvPr/>
        </p:nvGrpSpPr>
        <p:grpSpPr>
          <a:xfrm>
            <a:off x="1514905" y="1552624"/>
            <a:ext cx="5266895" cy="2257376"/>
            <a:chOff x="1514905" y="1552624"/>
            <a:chExt cx="5266895" cy="2257376"/>
          </a:xfrm>
        </p:grpSpPr>
        <p:grpSp>
          <p:nvGrpSpPr>
            <p:cNvPr id="17" name="Group 16"/>
            <p:cNvGrpSpPr/>
            <p:nvPr/>
          </p:nvGrpSpPr>
          <p:grpSpPr>
            <a:xfrm>
              <a:off x="1514905" y="1552624"/>
              <a:ext cx="5266895" cy="2257376"/>
              <a:chOff x="1066800" y="1905000"/>
              <a:chExt cx="5266895" cy="2257376"/>
            </a:xfrm>
          </p:grpSpPr>
          <p:grpSp>
            <p:nvGrpSpPr>
              <p:cNvPr id="45" name="Group 44"/>
              <p:cNvGrpSpPr/>
              <p:nvPr/>
            </p:nvGrpSpPr>
            <p:grpSpPr>
              <a:xfrm>
                <a:off x="2819400" y="1905000"/>
                <a:ext cx="3514295" cy="2257376"/>
                <a:chOff x="3232299" y="4541500"/>
                <a:chExt cx="2831980" cy="1680293"/>
              </a:xfrm>
            </p:grpSpPr>
            <p:grpSp>
              <p:nvGrpSpPr>
                <p:cNvPr id="46" name="Group 45"/>
                <p:cNvGrpSpPr/>
                <p:nvPr/>
              </p:nvGrpSpPr>
              <p:grpSpPr>
                <a:xfrm>
                  <a:off x="3232299" y="4541500"/>
                  <a:ext cx="2831980" cy="1680293"/>
                  <a:chOff x="3232299" y="4541500"/>
                  <a:chExt cx="2831980" cy="1680293"/>
                </a:xfrm>
              </p:grpSpPr>
              <mc:AlternateContent xmlns:mc="http://schemas.openxmlformats.org/markup-compatibility/2006" xmlns:a14="http://schemas.microsoft.com/office/drawing/2010/main">
                <mc:Choice Requires="a14">
                  <p:sp>
                    <p:nvSpPr>
                      <p:cNvPr id="50" name="TextBox 49"/>
                      <p:cNvSpPr txBox="1"/>
                      <p:nvPr/>
                    </p:nvSpPr>
                    <p:spPr>
                      <a:xfrm>
                        <a:off x="3232299" y="5334000"/>
                        <a:ext cx="2831980" cy="887793"/>
                      </a:xfrm>
                      <a:prstGeom prst="rect">
                        <a:avLst/>
                      </a:prstGeom>
                      <a:noFill/>
                    </p:spPr>
                    <p:txBody>
                      <a:bodyPr wrap="none" rtlCol="0">
                        <a:spAutoFit/>
                      </a:bodyPr>
                      <a:lstStyle/>
                      <a:p>
                        <a:pPr/>
                        <a14:m>
                          <m:oMathPara xmlns:m="http://schemas.openxmlformats.org/officeDocument/2006/math">
                            <m:oMathParaPr>
                              <m:jc m:val="center"/>
                            </m:oMathParaPr>
                            <m:oMath xmlns:m="http://schemas.openxmlformats.org/officeDocument/2006/math">
                              <m:f>
                                <m:fPr>
                                  <m:ctrlPr>
                                    <a:rPr lang="en-GB" sz="2400" b="1" i="1" dirty="0" smtClean="0">
                                      <a:solidFill>
                                        <a:schemeClr val="bg1"/>
                                      </a:solidFill>
                                      <a:latin typeface="Cambria Math" panose="02040503050406030204" pitchFamily="18" charset="0"/>
                                    </a:rPr>
                                  </m:ctrlPr>
                                </m:fPr>
                                <m:num>
                                  <m:r>
                                    <a:rPr lang="en-GB" sz="2400" b="1" i="1" dirty="0">
                                      <a:solidFill>
                                        <a:schemeClr val="bg1"/>
                                      </a:solidFill>
                                      <a:latin typeface="Cambria Math"/>
                                    </a:rPr>
                                    <m:t>𝟏</m:t>
                                  </m:r>
                                </m:num>
                                <m:den>
                                  <m:r>
                                    <a:rPr lang="en-GB" sz="2400" b="1" i="1" dirty="0">
                                      <a:solidFill>
                                        <a:schemeClr val="bg1"/>
                                      </a:solidFill>
                                      <a:latin typeface="Cambria Math"/>
                                    </a:rPr>
                                    <m:t>𝒏</m:t>
                                  </m:r>
                                  <m:r>
                                    <a:rPr lang="en-GB" sz="2400" b="1" i="1" dirty="0">
                                      <a:solidFill>
                                        <a:schemeClr val="bg1"/>
                                      </a:solidFill>
                                      <a:latin typeface="Cambria Math"/>
                                    </a:rPr>
                                    <m:t>−</m:t>
                                  </m:r>
                                  <m:r>
                                    <a:rPr lang="en-GB" sz="2400" b="1" i="1" dirty="0">
                                      <a:solidFill>
                                        <a:schemeClr val="bg1"/>
                                      </a:solidFill>
                                      <a:latin typeface="Cambria Math"/>
                                    </a:rPr>
                                    <m:t>𝒄</m:t>
                                  </m:r>
                                </m:den>
                              </m:f>
                              <m:nary>
                                <m:naryPr>
                                  <m:chr m:val="∑"/>
                                  <m:ctrlPr>
                                    <a:rPr lang="en-GB" sz="2400" b="1" i="1">
                                      <a:solidFill>
                                        <a:schemeClr val="bg1"/>
                                      </a:solidFill>
                                      <a:latin typeface="Cambria Math" panose="02040503050406030204" pitchFamily="18" charset="0"/>
                                    </a:rPr>
                                  </m:ctrlPr>
                                </m:naryPr>
                                <m:sub>
                                  <m:r>
                                    <m:rPr>
                                      <m:brk m:alnAt="23"/>
                                    </m:rPr>
                                    <a:rPr lang="en-GB" sz="2400" b="1" i="1">
                                      <a:solidFill>
                                        <a:schemeClr val="bg1"/>
                                      </a:solidFill>
                                      <a:latin typeface="Cambria Math"/>
                                    </a:rPr>
                                    <m:t>𝒋</m:t>
                                  </m:r>
                                  <m:r>
                                    <a:rPr lang="en-GB" sz="2400" b="1" i="1">
                                      <a:solidFill>
                                        <a:schemeClr val="bg1"/>
                                      </a:solidFill>
                                      <a:latin typeface="Cambria Math"/>
                                    </a:rPr>
                                    <m:t>=</m:t>
                                  </m:r>
                                  <m:r>
                                    <a:rPr lang="en-GB" sz="2400" b="1" i="1">
                                      <a:solidFill>
                                        <a:schemeClr val="bg1"/>
                                      </a:solidFill>
                                      <a:latin typeface="Cambria Math"/>
                                    </a:rPr>
                                    <m:t>𝟏</m:t>
                                  </m:r>
                                </m:sub>
                                <m:sup>
                                  <m:r>
                                    <a:rPr lang="en-GB" sz="2400" b="1" i="1">
                                      <a:solidFill>
                                        <a:schemeClr val="bg1"/>
                                      </a:solidFill>
                                      <a:latin typeface="Cambria Math"/>
                                    </a:rPr>
                                    <m:t>𝒌</m:t>
                                  </m:r>
                                </m:sup>
                                <m:e>
                                  <m:nary>
                                    <m:naryPr>
                                      <m:chr m:val="∑"/>
                                      <m:ctrlPr>
                                        <a:rPr lang="en-GB" sz="2400" b="1" i="1">
                                          <a:solidFill>
                                            <a:schemeClr val="bg1"/>
                                          </a:solidFill>
                                          <a:latin typeface="Cambria Math" panose="02040503050406030204" pitchFamily="18" charset="0"/>
                                        </a:rPr>
                                      </m:ctrlPr>
                                    </m:naryPr>
                                    <m:sub>
                                      <m:r>
                                        <a:rPr lang="en-GB" sz="2400" b="1" i="1">
                                          <a:solidFill>
                                            <a:schemeClr val="bg1"/>
                                          </a:solidFill>
                                          <a:latin typeface="Cambria Math"/>
                                        </a:rPr>
                                        <m:t>𝒊</m:t>
                                      </m:r>
                                      <m:r>
                                        <a:rPr lang="en-GB" sz="2400" b="1" i="1">
                                          <a:solidFill>
                                            <a:schemeClr val="bg1"/>
                                          </a:solidFill>
                                          <a:latin typeface="Cambria Math"/>
                                        </a:rPr>
                                        <m:t>=</m:t>
                                      </m:r>
                                      <m:r>
                                        <a:rPr lang="en-GB" sz="2400" b="1" i="1">
                                          <a:solidFill>
                                            <a:schemeClr val="bg1"/>
                                          </a:solidFill>
                                          <a:latin typeface="Cambria Math"/>
                                        </a:rPr>
                                        <m:t>𝟏</m:t>
                                      </m:r>
                                    </m:sub>
                                    <m:sup>
                                      <m:sSub>
                                        <m:sSubPr>
                                          <m:ctrlPr>
                                            <a:rPr lang="en-GB" sz="2400" b="1" i="1">
                                              <a:solidFill>
                                                <a:schemeClr val="bg1"/>
                                              </a:solidFill>
                                              <a:latin typeface="Cambria Math" panose="02040503050406030204" pitchFamily="18" charset="0"/>
                                            </a:rPr>
                                          </m:ctrlPr>
                                        </m:sSubPr>
                                        <m:e>
                                          <m:r>
                                            <a:rPr lang="en-GB" sz="2400" b="1" i="1">
                                              <a:solidFill>
                                                <a:schemeClr val="bg1"/>
                                              </a:solidFill>
                                              <a:latin typeface="Cambria Math"/>
                                            </a:rPr>
                                            <m:t>𝒏</m:t>
                                          </m:r>
                                        </m:e>
                                        <m:sub>
                                          <m:r>
                                            <a:rPr lang="en-GB" sz="2400" b="1" i="1">
                                              <a:solidFill>
                                                <a:schemeClr val="bg1"/>
                                              </a:solidFill>
                                              <a:latin typeface="Cambria Math"/>
                                            </a:rPr>
                                            <m:t>𝒋</m:t>
                                          </m:r>
                                        </m:sub>
                                      </m:sSub>
                                    </m:sup>
                                    <m:e>
                                      <m:sSup>
                                        <m:sSupPr>
                                          <m:ctrlPr>
                                            <a:rPr lang="en-GB" sz="2400" b="1" i="1" dirty="0">
                                              <a:solidFill>
                                                <a:schemeClr val="bg1"/>
                                              </a:solidFill>
                                              <a:latin typeface="Cambria Math" panose="02040503050406030204" pitchFamily="18" charset="0"/>
                                            </a:rPr>
                                          </m:ctrlPr>
                                        </m:sSupPr>
                                        <m:e>
                                          <m:d>
                                            <m:dPr>
                                              <m:ctrlPr>
                                                <a:rPr lang="en-GB" sz="2400" b="1" i="1" dirty="0">
                                                  <a:solidFill>
                                                    <a:schemeClr val="bg1"/>
                                                  </a:solidFill>
                                                  <a:latin typeface="Cambria Math" panose="02040503050406030204" pitchFamily="18" charset="0"/>
                                                </a:rPr>
                                              </m:ctrlPr>
                                            </m:dPr>
                                            <m:e>
                                              <m:sSub>
                                                <m:sSubPr>
                                                  <m:ctrlPr>
                                                    <a:rPr lang="en-GB" sz="2400" b="1" i="1" dirty="0">
                                                      <a:solidFill>
                                                        <a:schemeClr val="bg1"/>
                                                      </a:solidFill>
                                                      <a:latin typeface="Cambria Math" panose="02040503050406030204" pitchFamily="18" charset="0"/>
                                                    </a:rPr>
                                                  </m:ctrlPr>
                                                </m:sSubPr>
                                                <m:e>
                                                  <m:sSub>
                                                    <m:sSubPr>
                                                      <m:ctrlPr>
                                                        <a:rPr lang="en-GB" sz="2400" b="1" i="1" dirty="0">
                                                          <a:solidFill>
                                                            <a:schemeClr val="bg1"/>
                                                          </a:solidFill>
                                                          <a:latin typeface="Cambria Math" panose="02040503050406030204" pitchFamily="18" charset="0"/>
                                                        </a:rPr>
                                                      </m:ctrlPr>
                                                    </m:sSubPr>
                                                    <m:e>
                                                      <m:r>
                                                        <a:rPr lang="en-GB" sz="2400" b="1" i="1" dirty="0">
                                                          <a:solidFill>
                                                            <a:schemeClr val="bg1"/>
                                                          </a:solidFill>
                                                          <a:latin typeface="Cambria Math"/>
                                                        </a:rPr>
                                                        <m:t>𝑿</m:t>
                                                      </m:r>
                                                    </m:e>
                                                    <m:sub>
                                                      <m:r>
                                                        <a:rPr lang="en-GB" sz="2400" b="1" i="1" dirty="0">
                                                          <a:solidFill>
                                                            <a:schemeClr val="bg1"/>
                                                          </a:solidFill>
                                                          <a:latin typeface="Cambria Math"/>
                                                        </a:rPr>
                                                        <m:t>𝒊𝒋</m:t>
                                                      </m:r>
                                                    </m:sub>
                                                  </m:sSub>
                                                  <m:r>
                                                    <a:rPr lang="en-GB" sz="2400" b="1" i="1" dirty="0">
                                                      <a:solidFill>
                                                        <a:schemeClr val="bg1"/>
                                                      </a:solidFill>
                                                      <a:latin typeface="Cambria Math"/>
                                                    </a:rPr>
                                                    <m:t>−</m:t>
                                                  </m:r>
                                                  <m:acc>
                                                    <m:accPr>
                                                      <m:chr m:val="̅"/>
                                                      <m:ctrlPr>
                                                        <a:rPr lang="en-GB" sz="2400" b="1" i="1" dirty="0">
                                                          <a:solidFill>
                                                            <a:schemeClr val="bg1"/>
                                                          </a:solidFill>
                                                          <a:latin typeface="Cambria Math" panose="02040503050406030204" pitchFamily="18" charset="0"/>
                                                        </a:rPr>
                                                      </m:ctrlPr>
                                                    </m:accPr>
                                                    <m:e>
                                                      <m:r>
                                                        <a:rPr lang="en-GB" sz="2400" b="1" i="1" dirty="0">
                                                          <a:solidFill>
                                                            <a:schemeClr val="bg1"/>
                                                          </a:solidFill>
                                                          <a:latin typeface="Cambria Math"/>
                                                        </a:rPr>
                                                        <m:t>𝑿</m:t>
                                                      </m:r>
                                                    </m:e>
                                                  </m:acc>
                                                </m:e>
                                                <m:sub>
                                                  <m:r>
                                                    <a:rPr lang="en-GB" sz="2400" b="1" i="1" dirty="0">
                                                      <a:solidFill>
                                                        <a:schemeClr val="bg1"/>
                                                      </a:solidFill>
                                                      <a:latin typeface="Cambria Math"/>
                                                    </a:rPr>
                                                    <m:t>𝒋</m:t>
                                                  </m:r>
                                                </m:sub>
                                              </m:sSub>
                                            </m:e>
                                          </m:d>
                                        </m:e>
                                        <m:sup>
                                          <m:r>
                                            <a:rPr lang="en-GB" sz="2400" b="1" i="1" dirty="0">
                                              <a:solidFill>
                                                <a:schemeClr val="bg1"/>
                                              </a:solidFill>
                                              <a:latin typeface="Cambria Math"/>
                                            </a:rPr>
                                            <m:t>𝟐</m:t>
                                          </m:r>
                                        </m:sup>
                                      </m:sSup>
                                    </m:e>
                                  </m:nary>
                                  <m:r>
                                    <m:rPr>
                                      <m:nor/>
                                    </m:rPr>
                                    <a:rPr lang="en-GB" sz="2400" b="1" dirty="0">
                                      <a:solidFill>
                                        <a:schemeClr val="bg1"/>
                                      </a:solidFill>
                                    </a:rPr>
                                    <m:t> </m:t>
                                  </m:r>
                                </m:e>
                              </m:nary>
                            </m:oMath>
                          </m:oMathPara>
                        </a14:m>
                        <a:endParaRPr lang="en-GB" sz="2400" dirty="0">
                          <a:solidFill>
                            <a:schemeClr val="bg1"/>
                          </a:solidFill>
                        </a:endParaRPr>
                      </a:p>
                    </p:txBody>
                  </p:sp>
                </mc:Choice>
                <mc:Fallback xmlns="">
                  <p:sp>
                    <p:nvSpPr>
                      <p:cNvPr id="50" name="TextBox 49"/>
                      <p:cNvSpPr txBox="1">
                        <a:spLocks noRot="1" noChangeAspect="1" noMove="1" noResize="1" noEditPoints="1" noAdjustHandles="1" noChangeArrowheads="1" noChangeShapeType="1" noTextEdit="1"/>
                      </p:cNvSpPr>
                      <p:nvPr/>
                    </p:nvSpPr>
                    <p:spPr>
                      <a:xfrm>
                        <a:off x="3232299" y="5334000"/>
                        <a:ext cx="2831980" cy="887793"/>
                      </a:xfrm>
                      <a:prstGeom prst="rect">
                        <a:avLst/>
                      </a:prstGeom>
                      <a:blipFill rotWithShape="1">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1" name="Rectangle 50"/>
                      <p:cNvSpPr/>
                      <p:nvPr/>
                    </p:nvSpPr>
                    <p:spPr>
                      <a:xfrm>
                        <a:off x="3288681" y="4541500"/>
                        <a:ext cx="2487697" cy="734442"/>
                      </a:xfrm>
                      <a:prstGeom prst="rect">
                        <a:avLst/>
                      </a:prstGeom>
                    </p:spPr>
                    <p:txBody>
                      <a:bodyPr wrap="none">
                        <a:spAutoFit/>
                      </a:bodyPr>
                      <a:lstStyle/>
                      <a:p>
                        <a:pPr algn="ctr"/>
                        <a14:m>
                          <m:oMathPara xmlns:m="http://schemas.openxmlformats.org/officeDocument/2006/math">
                            <m:oMathParaPr>
                              <m:jc m:val="center"/>
                            </m:oMathParaPr>
                            <m:oMath xmlns:m="http://schemas.openxmlformats.org/officeDocument/2006/math">
                              <m:f>
                                <m:fPr>
                                  <m:ctrlPr>
                                    <a:rPr lang="en-GB" sz="2400" b="1" i="1" dirty="0" smtClean="0">
                                      <a:solidFill>
                                        <a:schemeClr val="bg1"/>
                                      </a:solidFill>
                                      <a:latin typeface="Cambria Math" panose="02040503050406030204" pitchFamily="18" charset="0"/>
                                    </a:rPr>
                                  </m:ctrlPr>
                                </m:fPr>
                                <m:num>
                                  <m:r>
                                    <a:rPr lang="en-GB" sz="2400" b="1" i="1" dirty="0">
                                      <a:solidFill>
                                        <a:schemeClr val="bg1"/>
                                      </a:solidFill>
                                      <a:latin typeface="Cambria Math"/>
                                    </a:rPr>
                                    <m:t>𝟏</m:t>
                                  </m:r>
                                </m:num>
                                <m:den>
                                  <m:r>
                                    <a:rPr lang="en-GB" sz="2400" b="1" i="1" dirty="0">
                                      <a:solidFill>
                                        <a:schemeClr val="bg1"/>
                                      </a:solidFill>
                                      <a:latin typeface="Cambria Math"/>
                                    </a:rPr>
                                    <m:t>𝒄</m:t>
                                  </m:r>
                                  <m:r>
                                    <a:rPr lang="en-GB" sz="2400" b="1" i="1" dirty="0">
                                      <a:solidFill>
                                        <a:schemeClr val="bg1"/>
                                      </a:solidFill>
                                      <a:latin typeface="Cambria Math"/>
                                    </a:rPr>
                                    <m:t>−</m:t>
                                  </m:r>
                                  <m:r>
                                    <a:rPr lang="en-GB" sz="2400" b="1" i="1" dirty="0">
                                      <a:solidFill>
                                        <a:schemeClr val="bg1"/>
                                      </a:solidFill>
                                      <a:latin typeface="Cambria Math"/>
                                    </a:rPr>
                                    <m:t>𝟏</m:t>
                                  </m:r>
                                </m:den>
                              </m:f>
                              <m:nary>
                                <m:naryPr>
                                  <m:chr m:val="∑"/>
                                  <m:subHide m:val="on"/>
                                  <m:supHide m:val="on"/>
                                  <m:ctrlPr>
                                    <a:rPr lang="en-GB" sz="2400" b="1" i="1" dirty="0">
                                      <a:solidFill>
                                        <a:schemeClr val="bg1"/>
                                      </a:solidFill>
                                      <a:latin typeface="Cambria Math" panose="02040503050406030204" pitchFamily="18" charset="0"/>
                                    </a:rPr>
                                  </m:ctrlPr>
                                </m:naryPr>
                                <m:sub/>
                                <m:sup/>
                                <m:e>
                                  <m:sSub>
                                    <m:sSubPr>
                                      <m:ctrlPr>
                                        <a:rPr lang="en-GB" sz="2400" b="1" i="1" dirty="0">
                                          <a:solidFill>
                                            <a:schemeClr val="bg1"/>
                                          </a:solidFill>
                                          <a:latin typeface="Cambria Math" panose="02040503050406030204" pitchFamily="18" charset="0"/>
                                        </a:rPr>
                                      </m:ctrlPr>
                                    </m:sSubPr>
                                    <m:e>
                                      <m:r>
                                        <a:rPr lang="en-GB" sz="2400" b="1" i="1" dirty="0">
                                          <a:solidFill>
                                            <a:schemeClr val="bg1"/>
                                          </a:solidFill>
                                          <a:latin typeface="Cambria Math"/>
                                        </a:rPr>
                                        <m:t>𝒏</m:t>
                                      </m:r>
                                    </m:e>
                                    <m:sub>
                                      <m:r>
                                        <a:rPr lang="en-GB" sz="2400" b="1" i="1" dirty="0">
                                          <a:solidFill>
                                            <a:schemeClr val="bg1"/>
                                          </a:solidFill>
                                          <a:latin typeface="Cambria Math"/>
                                        </a:rPr>
                                        <m:t>𝒋</m:t>
                                      </m:r>
                                    </m:sub>
                                  </m:sSub>
                                  <m:sSup>
                                    <m:sSupPr>
                                      <m:ctrlPr>
                                        <a:rPr lang="en-GB" sz="2400" b="1" i="1" dirty="0">
                                          <a:solidFill>
                                            <a:schemeClr val="bg1"/>
                                          </a:solidFill>
                                          <a:latin typeface="Cambria Math" panose="02040503050406030204" pitchFamily="18" charset="0"/>
                                        </a:rPr>
                                      </m:ctrlPr>
                                    </m:sSupPr>
                                    <m:e>
                                      <m:d>
                                        <m:dPr>
                                          <m:ctrlPr>
                                            <a:rPr lang="en-GB" sz="2400" b="1" i="1" dirty="0">
                                              <a:solidFill>
                                                <a:schemeClr val="bg1"/>
                                              </a:solidFill>
                                              <a:latin typeface="Cambria Math" panose="02040503050406030204" pitchFamily="18" charset="0"/>
                                            </a:rPr>
                                          </m:ctrlPr>
                                        </m:dPr>
                                        <m:e>
                                          <m:sSub>
                                            <m:sSubPr>
                                              <m:ctrlPr>
                                                <a:rPr lang="en-GB" sz="2400" b="1" i="1" dirty="0">
                                                  <a:solidFill>
                                                    <a:schemeClr val="bg1"/>
                                                  </a:solidFill>
                                                  <a:latin typeface="Cambria Math" panose="02040503050406030204" pitchFamily="18" charset="0"/>
                                                </a:rPr>
                                              </m:ctrlPr>
                                            </m:sSubPr>
                                            <m:e>
                                              <m:acc>
                                                <m:accPr>
                                                  <m:chr m:val="̅"/>
                                                  <m:ctrlPr>
                                                    <a:rPr lang="en-GB" sz="2400" b="1" i="1" dirty="0">
                                                      <a:solidFill>
                                                        <a:schemeClr val="bg1"/>
                                                      </a:solidFill>
                                                      <a:latin typeface="Cambria Math" panose="02040503050406030204" pitchFamily="18" charset="0"/>
                                                    </a:rPr>
                                                  </m:ctrlPr>
                                                </m:accPr>
                                                <m:e>
                                                  <m:r>
                                                    <a:rPr lang="en-GB" sz="2400" b="1" i="1" dirty="0">
                                                      <a:solidFill>
                                                        <a:schemeClr val="bg1"/>
                                                      </a:solidFill>
                                                      <a:latin typeface="Cambria Math"/>
                                                    </a:rPr>
                                                    <m:t>𝑿</m:t>
                                                  </m:r>
                                                </m:e>
                                              </m:acc>
                                            </m:e>
                                            <m:sub>
                                              <m:r>
                                                <a:rPr lang="en-GB" sz="2400" b="1" i="1" dirty="0">
                                                  <a:solidFill>
                                                    <a:schemeClr val="bg1"/>
                                                  </a:solidFill>
                                                  <a:latin typeface="Cambria Math"/>
                                                </a:rPr>
                                                <m:t>𝒋</m:t>
                                              </m:r>
                                            </m:sub>
                                          </m:sSub>
                                          <m:r>
                                            <a:rPr lang="en-GB" sz="2400" b="1" i="1" dirty="0">
                                              <a:solidFill>
                                                <a:schemeClr val="bg1"/>
                                              </a:solidFill>
                                              <a:latin typeface="Cambria Math"/>
                                            </a:rPr>
                                            <m:t>−</m:t>
                                          </m:r>
                                          <m:acc>
                                            <m:accPr>
                                              <m:chr m:val="̿"/>
                                              <m:ctrlPr>
                                                <a:rPr lang="en-GB" sz="2400" b="1" i="1" dirty="0">
                                                  <a:solidFill>
                                                    <a:schemeClr val="bg1"/>
                                                  </a:solidFill>
                                                  <a:latin typeface="Cambria Math" panose="02040503050406030204" pitchFamily="18" charset="0"/>
                                                </a:rPr>
                                              </m:ctrlPr>
                                            </m:accPr>
                                            <m:e>
                                              <m:r>
                                                <a:rPr lang="en-GB" sz="2400" b="1" i="1" dirty="0">
                                                  <a:solidFill>
                                                    <a:schemeClr val="bg1"/>
                                                  </a:solidFill>
                                                  <a:latin typeface="Cambria Math"/>
                                                </a:rPr>
                                                <m:t>𝑿</m:t>
                                              </m:r>
                                            </m:e>
                                          </m:acc>
                                        </m:e>
                                      </m:d>
                                    </m:e>
                                    <m:sup>
                                      <m:r>
                                        <a:rPr lang="en-GB" sz="2400" b="1" i="1" dirty="0">
                                          <a:solidFill>
                                            <a:schemeClr val="bg1"/>
                                          </a:solidFill>
                                          <a:latin typeface="Cambria Math"/>
                                        </a:rPr>
                                        <m:t>𝟐</m:t>
                                      </m:r>
                                    </m:sup>
                                  </m:sSup>
                                </m:e>
                              </m:nary>
                            </m:oMath>
                          </m:oMathPara>
                        </a14:m>
                        <a:endParaRPr lang="en-GB" sz="2400" b="1" dirty="0">
                          <a:solidFill>
                            <a:schemeClr val="bg1"/>
                          </a:solidFill>
                        </a:endParaRPr>
                      </a:p>
                    </p:txBody>
                  </p:sp>
                </mc:Choice>
                <mc:Fallback xmlns="">
                  <p:sp>
                    <p:nvSpPr>
                      <p:cNvPr id="51" name="Rectangle 50"/>
                      <p:cNvSpPr>
                        <a:spLocks noRot="1" noChangeAspect="1" noMove="1" noResize="1" noEditPoints="1" noAdjustHandles="1" noChangeArrowheads="1" noChangeShapeType="1" noTextEdit="1"/>
                      </p:cNvSpPr>
                      <p:nvPr/>
                    </p:nvSpPr>
                    <p:spPr>
                      <a:xfrm>
                        <a:off x="3288681" y="4541500"/>
                        <a:ext cx="2487697" cy="734442"/>
                      </a:xfrm>
                      <a:prstGeom prst="rect">
                        <a:avLst/>
                      </a:prstGeom>
                      <a:blipFill rotWithShape="1">
                        <a:blip r:embed="rId9"/>
                        <a:stretch>
                          <a:fillRect/>
                        </a:stretch>
                      </a:blipFill>
                    </p:spPr>
                    <p:txBody>
                      <a:bodyPr/>
                      <a:lstStyle/>
                      <a:p>
                        <a:r>
                          <a:rPr lang="en-GB">
                            <a:noFill/>
                          </a:rPr>
                          <a:t> </a:t>
                        </a:r>
                      </a:p>
                    </p:txBody>
                  </p:sp>
                </mc:Fallback>
              </mc:AlternateContent>
            </p:grpSp>
            <p:cxnSp>
              <p:nvCxnSpPr>
                <p:cNvPr id="48" name="Straight Connector 47"/>
                <p:cNvCxnSpPr/>
                <p:nvPr/>
              </p:nvCxnSpPr>
              <p:spPr>
                <a:xfrm>
                  <a:off x="3232299" y="5304594"/>
                  <a:ext cx="2482701" cy="0"/>
                </a:xfrm>
                <a:prstGeom prst="line">
                  <a:avLst/>
                </a:prstGeom>
              </p:spPr>
              <p:style>
                <a:lnRef idx="2">
                  <a:schemeClr val="dk1"/>
                </a:lnRef>
                <a:fillRef idx="0">
                  <a:schemeClr val="dk1"/>
                </a:fillRef>
                <a:effectRef idx="1">
                  <a:schemeClr val="dk1"/>
                </a:effectRef>
                <a:fontRef idx="minor">
                  <a:schemeClr val="tx1"/>
                </a:fontRef>
              </p:style>
            </p:cxnSp>
          </p:grpSp>
          <mc:AlternateContent xmlns:mc="http://schemas.openxmlformats.org/markup-compatibility/2006" xmlns:a14="http://schemas.microsoft.com/office/drawing/2010/main">
            <mc:Choice Requires="a14">
              <p:sp>
                <p:nvSpPr>
                  <p:cNvPr id="16" name="TextBox 15"/>
                  <p:cNvSpPr txBox="1"/>
                  <p:nvPr/>
                </p:nvSpPr>
                <p:spPr>
                  <a:xfrm>
                    <a:off x="1066800" y="2582884"/>
                    <a:ext cx="1158329" cy="7078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4000" b="0" i="1" smtClean="0">
                              <a:latin typeface="Cambria Math"/>
                            </a:rPr>
                            <m:t>𝐹</m:t>
                          </m:r>
                          <m:r>
                            <a:rPr lang="en-GB" sz="4000" b="0" i="1" smtClean="0">
                              <a:latin typeface="Cambria Math"/>
                            </a:rPr>
                            <m:t>=</m:t>
                          </m:r>
                        </m:oMath>
                      </m:oMathPara>
                    </a14:m>
                    <a:endParaRPr lang="en-GB" sz="4000" dirty="0"/>
                  </a:p>
                </p:txBody>
              </p:sp>
            </mc:Choice>
            <mc:Fallback xmlns="">
              <p:sp>
                <p:nvSpPr>
                  <p:cNvPr id="16" name="TextBox 15"/>
                  <p:cNvSpPr txBox="1">
                    <a:spLocks noRot="1" noChangeAspect="1" noMove="1" noResize="1" noEditPoints="1" noAdjustHandles="1" noChangeArrowheads="1" noChangeShapeType="1" noTextEdit="1"/>
                  </p:cNvSpPr>
                  <p:nvPr/>
                </p:nvSpPr>
                <p:spPr>
                  <a:xfrm>
                    <a:off x="1066800" y="2582884"/>
                    <a:ext cx="1158329" cy="707886"/>
                  </a:xfrm>
                  <a:prstGeom prst="rect">
                    <a:avLst/>
                  </a:prstGeom>
                  <a:blipFill>
                    <a:blip r:embed="rId10"/>
                    <a:stretch>
                      <a:fillRect/>
                    </a:stretch>
                  </a:blipFill>
                </p:spPr>
                <p:txBody>
                  <a:bodyPr/>
                  <a:lstStyle/>
                  <a:p>
                    <a:r>
                      <a:rPr lang="en-GB">
                        <a:noFill/>
                      </a:rPr>
                      <a:t> </a:t>
                    </a:r>
                  </a:p>
                </p:txBody>
              </p:sp>
            </mc:Fallback>
          </mc:AlternateContent>
        </p:grpSp>
        <p:sp>
          <p:nvSpPr>
            <p:cNvPr id="2" name="Rectangle 1"/>
            <p:cNvSpPr/>
            <p:nvPr/>
          </p:nvSpPr>
          <p:spPr>
            <a:xfrm>
              <a:off x="4038600" y="2819400"/>
              <a:ext cx="1336648" cy="707886"/>
            </a:xfrm>
            <a:prstGeom prst="rect">
              <a:avLst/>
            </a:prstGeom>
          </p:spPr>
          <p:txBody>
            <a:bodyPr wrap="none">
              <a:spAutoFit/>
            </a:bodyPr>
            <a:lstStyle/>
            <a:p>
              <a:r>
                <a:rPr lang="en-GB" altLang="en-US" sz="4000" b="1" dirty="0"/>
                <a:t>MSW</a:t>
              </a:r>
              <a:endParaRPr lang="en-GB" sz="4000" dirty="0"/>
            </a:p>
          </p:txBody>
        </p:sp>
        <p:sp>
          <p:nvSpPr>
            <p:cNvPr id="4" name="Rectangle 3"/>
            <p:cNvSpPr/>
            <p:nvPr/>
          </p:nvSpPr>
          <p:spPr>
            <a:xfrm>
              <a:off x="4114800" y="1722989"/>
              <a:ext cx="1162498" cy="707886"/>
            </a:xfrm>
            <a:prstGeom prst="rect">
              <a:avLst/>
            </a:prstGeom>
          </p:spPr>
          <p:txBody>
            <a:bodyPr wrap="none">
              <a:spAutoFit/>
            </a:bodyPr>
            <a:lstStyle/>
            <a:p>
              <a:r>
                <a:rPr lang="en-GB" altLang="en-US" sz="4000" b="1" dirty="0"/>
                <a:t>MSB</a:t>
              </a:r>
              <a:endParaRPr lang="en-GB" dirty="0"/>
            </a:p>
          </p:txBody>
        </p:sp>
      </p:grpSp>
      <p:sp>
        <p:nvSpPr>
          <p:cNvPr id="7" name="TextBox 6">
            <a:extLst>
              <a:ext uri="{FF2B5EF4-FFF2-40B4-BE49-F238E27FC236}">
                <a16:creationId xmlns:a16="http://schemas.microsoft.com/office/drawing/2014/main" id="{6642931C-C2FE-C302-3317-E4EEF59D22D6}"/>
              </a:ext>
            </a:extLst>
          </p:cNvPr>
          <p:cNvSpPr txBox="1"/>
          <p:nvPr/>
        </p:nvSpPr>
        <p:spPr>
          <a:xfrm>
            <a:off x="533400" y="1170856"/>
            <a:ext cx="4572000" cy="369332"/>
          </a:xfrm>
          <a:prstGeom prst="rect">
            <a:avLst/>
          </a:prstGeom>
          <a:noFill/>
        </p:spPr>
        <p:txBody>
          <a:bodyPr wrap="square">
            <a:spAutoFit/>
          </a:bodyPr>
          <a:lstStyle/>
          <a:p>
            <a:r>
              <a:rPr lang="en-GB" b="1" dirty="0"/>
              <a:t>Step 2. Test Statistic</a:t>
            </a:r>
          </a:p>
        </p:txBody>
      </p:sp>
      <p:pic>
        <p:nvPicPr>
          <p:cNvPr id="9" name="Picture 2" descr="ANOVA Test Statistic F Combines Between Within Variance">
            <a:extLst>
              <a:ext uri="{FF2B5EF4-FFF2-40B4-BE49-F238E27FC236}">
                <a16:creationId xmlns:a16="http://schemas.microsoft.com/office/drawing/2014/main" id="{7680F7C7-2025-4C40-7E94-D1A367FD051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0144" y="3710136"/>
            <a:ext cx="7429500" cy="2971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98525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altLang="en-US" dirty="0"/>
              <a:t>One-way ANOVA</a:t>
            </a:r>
            <a:endParaRPr lang="en-GB" dirty="0"/>
          </a:p>
        </p:txBody>
      </p:sp>
      <p:grpSp>
        <p:nvGrpSpPr>
          <p:cNvPr id="5" name="Group 4"/>
          <p:cNvGrpSpPr/>
          <p:nvPr/>
        </p:nvGrpSpPr>
        <p:grpSpPr>
          <a:xfrm>
            <a:off x="1514905" y="1552624"/>
            <a:ext cx="5266895" cy="2257376"/>
            <a:chOff x="1514905" y="1552624"/>
            <a:chExt cx="5266895" cy="2257376"/>
          </a:xfrm>
        </p:grpSpPr>
        <p:grpSp>
          <p:nvGrpSpPr>
            <p:cNvPr id="17" name="Group 16"/>
            <p:cNvGrpSpPr/>
            <p:nvPr/>
          </p:nvGrpSpPr>
          <p:grpSpPr>
            <a:xfrm>
              <a:off x="1514905" y="1552624"/>
              <a:ext cx="5266895" cy="2257376"/>
              <a:chOff x="1066800" y="1905000"/>
              <a:chExt cx="5266895" cy="2257376"/>
            </a:xfrm>
          </p:grpSpPr>
          <p:grpSp>
            <p:nvGrpSpPr>
              <p:cNvPr id="45" name="Group 44"/>
              <p:cNvGrpSpPr/>
              <p:nvPr/>
            </p:nvGrpSpPr>
            <p:grpSpPr>
              <a:xfrm>
                <a:off x="2819400" y="1905000"/>
                <a:ext cx="3514295" cy="2257376"/>
                <a:chOff x="3232299" y="4541500"/>
                <a:chExt cx="2831980" cy="1680293"/>
              </a:xfrm>
            </p:grpSpPr>
            <p:grpSp>
              <p:nvGrpSpPr>
                <p:cNvPr id="46" name="Group 45"/>
                <p:cNvGrpSpPr/>
                <p:nvPr/>
              </p:nvGrpSpPr>
              <p:grpSpPr>
                <a:xfrm>
                  <a:off x="3232299" y="4541500"/>
                  <a:ext cx="2831980" cy="1680293"/>
                  <a:chOff x="3232299" y="4541500"/>
                  <a:chExt cx="2831980" cy="1680293"/>
                </a:xfrm>
              </p:grpSpPr>
              <mc:AlternateContent xmlns:mc="http://schemas.openxmlformats.org/markup-compatibility/2006" xmlns:a14="http://schemas.microsoft.com/office/drawing/2010/main">
                <mc:Choice Requires="a14">
                  <p:sp>
                    <p:nvSpPr>
                      <p:cNvPr id="50" name="TextBox 49"/>
                      <p:cNvSpPr txBox="1"/>
                      <p:nvPr/>
                    </p:nvSpPr>
                    <p:spPr>
                      <a:xfrm>
                        <a:off x="3232299" y="5334000"/>
                        <a:ext cx="2831980" cy="887793"/>
                      </a:xfrm>
                      <a:prstGeom prst="rect">
                        <a:avLst/>
                      </a:prstGeom>
                      <a:noFill/>
                    </p:spPr>
                    <p:txBody>
                      <a:bodyPr wrap="none" rtlCol="0">
                        <a:spAutoFit/>
                      </a:bodyPr>
                      <a:lstStyle/>
                      <a:p>
                        <a:pPr/>
                        <a14:m>
                          <m:oMathPara xmlns:m="http://schemas.openxmlformats.org/officeDocument/2006/math">
                            <m:oMathParaPr>
                              <m:jc m:val="center"/>
                            </m:oMathParaPr>
                            <m:oMath xmlns:m="http://schemas.openxmlformats.org/officeDocument/2006/math">
                              <m:f>
                                <m:fPr>
                                  <m:ctrlPr>
                                    <a:rPr lang="en-GB" sz="2400" b="1" i="1" dirty="0" smtClean="0">
                                      <a:solidFill>
                                        <a:schemeClr val="bg1"/>
                                      </a:solidFill>
                                      <a:latin typeface="Cambria Math" panose="02040503050406030204" pitchFamily="18" charset="0"/>
                                    </a:rPr>
                                  </m:ctrlPr>
                                </m:fPr>
                                <m:num>
                                  <m:r>
                                    <a:rPr lang="en-GB" sz="2400" b="1" i="1" dirty="0">
                                      <a:solidFill>
                                        <a:schemeClr val="bg1"/>
                                      </a:solidFill>
                                      <a:latin typeface="Cambria Math"/>
                                    </a:rPr>
                                    <m:t>𝟏</m:t>
                                  </m:r>
                                </m:num>
                                <m:den>
                                  <m:r>
                                    <a:rPr lang="en-GB" sz="2400" b="1" i="1" dirty="0">
                                      <a:solidFill>
                                        <a:schemeClr val="bg1"/>
                                      </a:solidFill>
                                      <a:latin typeface="Cambria Math"/>
                                    </a:rPr>
                                    <m:t>𝒏</m:t>
                                  </m:r>
                                  <m:r>
                                    <a:rPr lang="en-GB" sz="2400" b="1" i="1" dirty="0">
                                      <a:solidFill>
                                        <a:schemeClr val="bg1"/>
                                      </a:solidFill>
                                      <a:latin typeface="Cambria Math"/>
                                    </a:rPr>
                                    <m:t>−</m:t>
                                  </m:r>
                                  <m:r>
                                    <a:rPr lang="en-GB" sz="2400" b="1" i="1" dirty="0">
                                      <a:solidFill>
                                        <a:schemeClr val="bg1"/>
                                      </a:solidFill>
                                      <a:latin typeface="Cambria Math"/>
                                    </a:rPr>
                                    <m:t>𝒄</m:t>
                                  </m:r>
                                </m:den>
                              </m:f>
                              <m:nary>
                                <m:naryPr>
                                  <m:chr m:val="∑"/>
                                  <m:ctrlPr>
                                    <a:rPr lang="en-GB" sz="2400" b="1" i="1">
                                      <a:solidFill>
                                        <a:schemeClr val="bg1"/>
                                      </a:solidFill>
                                      <a:latin typeface="Cambria Math" panose="02040503050406030204" pitchFamily="18" charset="0"/>
                                    </a:rPr>
                                  </m:ctrlPr>
                                </m:naryPr>
                                <m:sub>
                                  <m:r>
                                    <m:rPr>
                                      <m:brk m:alnAt="23"/>
                                    </m:rPr>
                                    <a:rPr lang="en-GB" sz="2400" b="1" i="1">
                                      <a:solidFill>
                                        <a:schemeClr val="bg1"/>
                                      </a:solidFill>
                                      <a:latin typeface="Cambria Math"/>
                                    </a:rPr>
                                    <m:t>𝒋</m:t>
                                  </m:r>
                                  <m:r>
                                    <a:rPr lang="en-GB" sz="2400" b="1" i="1">
                                      <a:solidFill>
                                        <a:schemeClr val="bg1"/>
                                      </a:solidFill>
                                      <a:latin typeface="Cambria Math"/>
                                    </a:rPr>
                                    <m:t>=</m:t>
                                  </m:r>
                                  <m:r>
                                    <a:rPr lang="en-GB" sz="2400" b="1" i="1">
                                      <a:solidFill>
                                        <a:schemeClr val="bg1"/>
                                      </a:solidFill>
                                      <a:latin typeface="Cambria Math"/>
                                    </a:rPr>
                                    <m:t>𝟏</m:t>
                                  </m:r>
                                </m:sub>
                                <m:sup>
                                  <m:r>
                                    <a:rPr lang="en-GB" sz="2400" b="1" i="1">
                                      <a:solidFill>
                                        <a:schemeClr val="bg1"/>
                                      </a:solidFill>
                                      <a:latin typeface="Cambria Math"/>
                                    </a:rPr>
                                    <m:t>𝒌</m:t>
                                  </m:r>
                                </m:sup>
                                <m:e>
                                  <m:nary>
                                    <m:naryPr>
                                      <m:chr m:val="∑"/>
                                      <m:ctrlPr>
                                        <a:rPr lang="en-GB" sz="2400" b="1" i="1">
                                          <a:solidFill>
                                            <a:schemeClr val="bg1"/>
                                          </a:solidFill>
                                          <a:latin typeface="Cambria Math" panose="02040503050406030204" pitchFamily="18" charset="0"/>
                                        </a:rPr>
                                      </m:ctrlPr>
                                    </m:naryPr>
                                    <m:sub>
                                      <m:r>
                                        <a:rPr lang="en-GB" sz="2400" b="1" i="1">
                                          <a:solidFill>
                                            <a:schemeClr val="bg1"/>
                                          </a:solidFill>
                                          <a:latin typeface="Cambria Math"/>
                                        </a:rPr>
                                        <m:t>𝒊</m:t>
                                      </m:r>
                                      <m:r>
                                        <a:rPr lang="en-GB" sz="2400" b="1" i="1">
                                          <a:solidFill>
                                            <a:schemeClr val="bg1"/>
                                          </a:solidFill>
                                          <a:latin typeface="Cambria Math"/>
                                        </a:rPr>
                                        <m:t>=</m:t>
                                      </m:r>
                                      <m:r>
                                        <a:rPr lang="en-GB" sz="2400" b="1" i="1">
                                          <a:solidFill>
                                            <a:schemeClr val="bg1"/>
                                          </a:solidFill>
                                          <a:latin typeface="Cambria Math"/>
                                        </a:rPr>
                                        <m:t>𝟏</m:t>
                                      </m:r>
                                    </m:sub>
                                    <m:sup>
                                      <m:sSub>
                                        <m:sSubPr>
                                          <m:ctrlPr>
                                            <a:rPr lang="en-GB" sz="2400" b="1" i="1">
                                              <a:solidFill>
                                                <a:schemeClr val="bg1"/>
                                              </a:solidFill>
                                              <a:latin typeface="Cambria Math" panose="02040503050406030204" pitchFamily="18" charset="0"/>
                                            </a:rPr>
                                          </m:ctrlPr>
                                        </m:sSubPr>
                                        <m:e>
                                          <m:r>
                                            <a:rPr lang="en-GB" sz="2400" b="1" i="1">
                                              <a:solidFill>
                                                <a:schemeClr val="bg1"/>
                                              </a:solidFill>
                                              <a:latin typeface="Cambria Math"/>
                                            </a:rPr>
                                            <m:t>𝒏</m:t>
                                          </m:r>
                                        </m:e>
                                        <m:sub>
                                          <m:r>
                                            <a:rPr lang="en-GB" sz="2400" b="1" i="1">
                                              <a:solidFill>
                                                <a:schemeClr val="bg1"/>
                                              </a:solidFill>
                                              <a:latin typeface="Cambria Math"/>
                                            </a:rPr>
                                            <m:t>𝒋</m:t>
                                          </m:r>
                                        </m:sub>
                                      </m:sSub>
                                    </m:sup>
                                    <m:e>
                                      <m:sSup>
                                        <m:sSupPr>
                                          <m:ctrlPr>
                                            <a:rPr lang="en-GB" sz="2400" b="1" i="1" dirty="0">
                                              <a:solidFill>
                                                <a:schemeClr val="bg1"/>
                                              </a:solidFill>
                                              <a:latin typeface="Cambria Math" panose="02040503050406030204" pitchFamily="18" charset="0"/>
                                            </a:rPr>
                                          </m:ctrlPr>
                                        </m:sSupPr>
                                        <m:e>
                                          <m:d>
                                            <m:dPr>
                                              <m:ctrlPr>
                                                <a:rPr lang="en-GB" sz="2400" b="1" i="1" dirty="0">
                                                  <a:solidFill>
                                                    <a:schemeClr val="bg1"/>
                                                  </a:solidFill>
                                                  <a:latin typeface="Cambria Math" panose="02040503050406030204" pitchFamily="18" charset="0"/>
                                                </a:rPr>
                                              </m:ctrlPr>
                                            </m:dPr>
                                            <m:e>
                                              <m:sSub>
                                                <m:sSubPr>
                                                  <m:ctrlPr>
                                                    <a:rPr lang="en-GB" sz="2400" b="1" i="1" dirty="0">
                                                      <a:solidFill>
                                                        <a:schemeClr val="bg1"/>
                                                      </a:solidFill>
                                                      <a:latin typeface="Cambria Math" panose="02040503050406030204" pitchFamily="18" charset="0"/>
                                                    </a:rPr>
                                                  </m:ctrlPr>
                                                </m:sSubPr>
                                                <m:e>
                                                  <m:sSub>
                                                    <m:sSubPr>
                                                      <m:ctrlPr>
                                                        <a:rPr lang="en-GB" sz="2400" b="1" i="1" dirty="0">
                                                          <a:solidFill>
                                                            <a:schemeClr val="bg1"/>
                                                          </a:solidFill>
                                                          <a:latin typeface="Cambria Math" panose="02040503050406030204" pitchFamily="18" charset="0"/>
                                                        </a:rPr>
                                                      </m:ctrlPr>
                                                    </m:sSubPr>
                                                    <m:e>
                                                      <m:r>
                                                        <a:rPr lang="en-GB" sz="2400" b="1" i="1" dirty="0">
                                                          <a:solidFill>
                                                            <a:schemeClr val="bg1"/>
                                                          </a:solidFill>
                                                          <a:latin typeface="Cambria Math"/>
                                                        </a:rPr>
                                                        <m:t>𝑿</m:t>
                                                      </m:r>
                                                    </m:e>
                                                    <m:sub>
                                                      <m:r>
                                                        <a:rPr lang="en-GB" sz="2400" b="1" i="1" dirty="0">
                                                          <a:solidFill>
                                                            <a:schemeClr val="bg1"/>
                                                          </a:solidFill>
                                                          <a:latin typeface="Cambria Math"/>
                                                        </a:rPr>
                                                        <m:t>𝒊𝒋</m:t>
                                                      </m:r>
                                                    </m:sub>
                                                  </m:sSub>
                                                  <m:r>
                                                    <a:rPr lang="en-GB" sz="2400" b="1" i="1" dirty="0">
                                                      <a:solidFill>
                                                        <a:schemeClr val="bg1"/>
                                                      </a:solidFill>
                                                      <a:latin typeface="Cambria Math"/>
                                                    </a:rPr>
                                                    <m:t>−</m:t>
                                                  </m:r>
                                                  <m:acc>
                                                    <m:accPr>
                                                      <m:chr m:val="̅"/>
                                                      <m:ctrlPr>
                                                        <a:rPr lang="en-GB" sz="2400" b="1" i="1" dirty="0">
                                                          <a:solidFill>
                                                            <a:schemeClr val="bg1"/>
                                                          </a:solidFill>
                                                          <a:latin typeface="Cambria Math" panose="02040503050406030204" pitchFamily="18" charset="0"/>
                                                        </a:rPr>
                                                      </m:ctrlPr>
                                                    </m:accPr>
                                                    <m:e>
                                                      <m:r>
                                                        <a:rPr lang="en-GB" sz="2400" b="1" i="1" dirty="0">
                                                          <a:solidFill>
                                                            <a:schemeClr val="bg1"/>
                                                          </a:solidFill>
                                                          <a:latin typeface="Cambria Math"/>
                                                        </a:rPr>
                                                        <m:t>𝑿</m:t>
                                                      </m:r>
                                                    </m:e>
                                                  </m:acc>
                                                </m:e>
                                                <m:sub>
                                                  <m:r>
                                                    <a:rPr lang="en-GB" sz="2400" b="1" i="1" dirty="0">
                                                      <a:solidFill>
                                                        <a:schemeClr val="bg1"/>
                                                      </a:solidFill>
                                                      <a:latin typeface="Cambria Math"/>
                                                    </a:rPr>
                                                    <m:t>𝒋</m:t>
                                                  </m:r>
                                                </m:sub>
                                              </m:sSub>
                                            </m:e>
                                          </m:d>
                                        </m:e>
                                        <m:sup>
                                          <m:r>
                                            <a:rPr lang="en-GB" sz="2400" b="1" i="1" dirty="0">
                                              <a:solidFill>
                                                <a:schemeClr val="bg1"/>
                                              </a:solidFill>
                                              <a:latin typeface="Cambria Math"/>
                                            </a:rPr>
                                            <m:t>𝟐</m:t>
                                          </m:r>
                                        </m:sup>
                                      </m:sSup>
                                    </m:e>
                                  </m:nary>
                                  <m:r>
                                    <m:rPr>
                                      <m:nor/>
                                    </m:rPr>
                                    <a:rPr lang="en-GB" sz="2400" b="1" dirty="0">
                                      <a:solidFill>
                                        <a:schemeClr val="bg1"/>
                                      </a:solidFill>
                                    </a:rPr>
                                    <m:t> </m:t>
                                  </m:r>
                                </m:e>
                              </m:nary>
                            </m:oMath>
                          </m:oMathPara>
                        </a14:m>
                        <a:endParaRPr lang="en-GB" sz="2400" dirty="0">
                          <a:solidFill>
                            <a:schemeClr val="bg1"/>
                          </a:solidFill>
                        </a:endParaRPr>
                      </a:p>
                    </p:txBody>
                  </p:sp>
                </mc:Choice>
                <mc:Fallback xmlns="">
                  <p:sp>
                    <p:nvSpPr>
                      <p:cNvPr id="50" name="TextBox 49"/>
                      <p:cNvSpPr txBox="1">
                        <a:spLocks noRot="1" noChangeAspect="1" noMove="1" noResize="1" noEditPoints="1" noAdjustHandles="1" noChangeArrowheads="1" noChangeShapeType="1" noTextEdit="1"/>
                      </p:cNvSpPr>
                      <p:nvPr/>
                    </p:nvSpPr>
                    <p:spPr>
                      <a:xfrm>
                        <a:off x="3232299" y="5334000"/>
                        <a:ext cx="2831980" cy="887793"/>
                      </a:xfrm>
                      <a:prstGeom prst="rect">
                        <a:avLst/>
                      </a:prstGeom>
                      <a:blipFill rotWithShape="1">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1" name="Rectangle 50"/>
                      <p:cNvSpPr/>
                      <p:nvPr/>
                    </p:nvSpPr>
                    <p:spPr>
                      <a:xfrm>
                        <a:off x="3288681" y="4541500"/>
                        <a:ext cx="2487697" cy="734442"/>
                      </a:xfrm>
                      <a:prstGeom prst="rect">
                        <a:avLst/>
                      </a:prstGeom>
                    </p:spPr>
                    <p:txBody>
                      <a:bodyPr wrap="none">
                        <a:spAutoFit/>
                      </a:bodyPr>
                      <a:lstStyle/>
                      <a:p>
                        <a:pPr algn="ctr"/>
                        <a14:m>
                          <m:oMathPara xmlns:m="http://schemas.openxmlformats.org/officeDocument/2006/math">
                            <m:oMathParaPr>
                              <m:jc m:val="center"/>
                            </m:oMathParaPr>
                            <m:oMath xmlns:m="http://schemas.openxmlformats.org/officeDocument/2006/math">
                              <m:f>
                                <m:fPr>
                                  <m:ctrlPr>
                                    <a:rPr lang="en-GB" sz="2400" b="1" i="1" dirty="0" smtClean="0">
                                      <a:solidFill>
                                        <a:schemeClr val="bg1"/>
                                      </a:solidFill>
                                      <a:latin typeface="Cambria Math" panose="02040503050406030204" pitchFamily="18" charset="0"/>
                                    </a:rPr>
                                  </m:ctrlPr>
                                </m:fPr>
                                <m:num>
                                  <m:r>
                                    <a:rPr lang="en-GB" sz="2400" b="1" i="1" dirty="0">
                                      <a:solidFill>
                                        <a:schemeClr val="bg1"/>
                                      </a:solidFill>
                                      <a:latin typeface="Cambria Math"/>
                                    </a:rPr>
                                    <m:t>𝟏</m:t>
                                  </m:r>
                                </m:num>
                                <m:den>
                                  <m:r>
                                    <a:rPr lang="en-GB" sz="2400" b="1" i="1" dirty="0">
                                      <a:solidFill>
                                        <a:schemeClr val="bg1"/>
                                      </a:solidFill>
                                      <a:latin typeface="Cambria Math"/>
                                    </a:rPr>
                                    <m:t>𝒄</m:t>
                                  </m:r>
                                  <m:r>
                                    <a:rPr lang="en-GB" sz="2400" b="1" i="1" dirty="0">
                                      <a:solidFill>
                                        <a:schemeClr val="bg1"/>
                                      </a:solidFill>
                                      <a:latin typeface="Cambria Math"/>
                                    </a:rPr>
                                    <m:t>−</m:t>
                                  </m:r>
                                  <m:r>
                                    <a:rPr lang="en-GB" sz="2400" b="1" i="1" dirty="0">
                                      <a:solidFill>
                                        <a:schemeClr val="bg1"/>
                                      </a:solidFill>
                                      <a:latin typeface="Cambria Math"/>
                                    </a:rPr>
                                    <m:t>𝟏</m:t>
                                  </m:r>
                                </m:den>
                              </m:f>
                              <m:nary>
                                <m:naryPr>
                                  <m:chr m:val="∑"/>
                                  <m:subHide m:val="on"/>
                                  <m:supHide m:val="on"/>
                                  <m:ctrlPr>
                                    <a:rPr lang="en-GB" sz="2400" b="1" i="1" dirty="0">
                                      <a:solidFill>
                                        <a:schemeClr val="bg1"/>
                                      </a:solidFill>
                                      <a:latin typeface="Cambria Math" panose="02040503050406030204" pitchFamily="18" charset="0"/>
                                    </a:rPr>
                                  </m:ctrlPr>
                                </m:naryPr>
                                <m:sub/>
                                <m:sup/>
                                <m:e>
                                  <m:sSub>
                                    <m:sSubPr>
                                      <m:ctrlPr>
                                        <a:rPr lang="en-GB" sz="2400" b="1" i="1" dirty="0">
                                          <a:solidFill>
                                            <a:schemeClr val="bg1"/>
                                          </a:solidFill>
                                          <a:latin typeface="Cambria Math" panose="02040503050406030204" pitchFamily="18" charset="0"/>
                                        </a:rPr>
                                      </m:ctrlPr>
                                    </m:sSubPr>
                                    <m:e>
                                      <m:r>
                                        <a:rPr lang="en-GB" sz="2400" b="1" i="1" dirty="0">
                                          <a:solidFill>
                                            <a:schemeClr val="bg1"/>
                                          </a:solidFill>
                                          <a:latin typeface="Cambria Math"/>
                                        </a:rPr>
                                        <m:t>𝒏</m:t>
                                      </m:r>
                                    </m:e>
                                    <m:sub>
                                      <m:r>
                                        <a:rPr lang="en-GB" sz="2400" b="1" i="1" dirty="0">
                                          <a:solidFill>
                                            <a:schemeClr val="bg1"/>
                                          </a:solidFill>
                                          <a:latin typeface="Cambria Math"/>
                                        </a:rPr>
                                        <m:t>𝒋</m:t>
                                      </m:r>
                                    </m:sub>
                                  </m:sSub>
                                  <m:sSup>
                                    <m:sSupPr>
                                      <m:ctrlPr>
                                        <a:rPr lang="en-GB" sz="2400" b="1" i="1" dirty="0">
                                          <a:solidFill>
                                            <a:schemeClr val="bg1"/>
                                          </a:solidFill>
                                          <a:latin typeface="Cambria Math" panose="02040503050406030204" pitchFamily="18" charset="0"/>
                                        </a:rPr>
                                      </m:ctrlPr>
                                    </m:sSupPr>
                                    <m:e>
                                      <m:d>
                                        <m:dPr>
                                          <m:ctrlPr>
                                            <a:rPr lang="en-GB" sz="2400" b="1" i="1" dirty="0">
                                              <a:solidFill>
                                                <a:schemeClr val="bg1"/>
                                              </a:solidFill>
                                              <a:latin typeface="Cambria Math" panose="02040503050406030204" pitchFamily="18" charset="0"/>
                                            </a:rPr>
                                          </m:ctrlPr>
                                        </m:dPr>
                                        <m:e>
                                          <m:sSub>
                                            <m:sSubPr>
                                              <m:ctrlPr>
                                                <a:rPr lang="en-GB" sz="2400" b="1" i="1" dirty="0">
                                                  <a:solidFill>
                                                    <a:schemeClr val="bg1"/>
                                                  </a:solidFill>
                                                  <a:latin typeface="Cambria Math" panose="02040503050406030204" pitchFamily="18" charset="0"/>
                                                </a:rPr>
                                              </m:ctrlPr>
                                            </m:sSubPr>
                                            <m:e>
                                              <m:acc>
                                                <m:accPr>
                                                  <m:chr m:val="̅"/>
                                                  <m:ctrlPr>
                                                    <a:rPr lang="en-GB" sz="2400" b="1" i="1" dirty="0">
                                                      <a:solidFill>
                                                        <a:schemeClr val="bg1"/>
                                                      </a:solidFill>
                                                      <a:latin typeface="Cambria Math" panose="02040503050406030204" pitchFamily="18" charset="0"/>
                                                    </a:rPr>
                                                  </m:ctrlPr>
                                                </m:accPr>
                                                <m:e>
                                                  <m:r>
                                                    <a:rPr lang="en-GB" sz="2400" b="1" i="1" dirty="0">
                                                      <a:solidFill>
                                                        <a:schemeClr val="bg1"/>
                                                      </a:solidFill>
                                                      <a:latin typeface="Cambria Math"/>
                                                    </a:rPr>
                                                    <m:t>𝑿</m:t>
                                                  </m:r>
                                                </m:e>
                                              </m:acc>
                                            </m:e>
                                            <m:sub>
                                              <m:r>
                                                <a:rPr lang="en-GB" sz="2400" b="1" i="1" dirty="0">
                                                  <a:solidFill>
                                                    <a:schemeClr val="bg1"/>
                                                  </a:solidFill>
                                                  <a:latin typeface="Cambria Math"/>
                                                </a:rPr>
                                                <m:t>𝒋</m:t>
                                              </m:r>
                                            </m:sub>
                                          </m:sSub>
                                          <m:r>
                                            <a:rPr lang="en-GB" sz="2400" b="1" i="1" dirty="0">
                                              <a:solidFill>
                                                <a:schemeClr val="bg1"/>
                                              </a:solidFill>
                                              <a:latin typeface="Cambria Math"/>
                                            </a:rPr>
                                            <m:t>−</m:t>
                                          </m:r>
                                          <m:acc>
                                            <m:accPr>
                                              <m:chr m:val="̿"/>
                                              <m:ctrlPr>
                                                <a:rPr lang="en-GB" sz="2400" b="1" i="1" dirty="0">
                                                  <a:solidFill>
                                                    <a:schemeClr val="bg1"/>
                                                  </a:solidFill>
                                                  <a:latin typeface="Cambria Math" panose="02040503050406030204" pitchFamily="18" charset="0"/>
                                                </a:rPr>
                                              </m:ctrlPr>
                                            </m:accPr>
                                            <m:e>
                                              <m:r>
                                                <a:rPr lang="en-GB" sz="2400" b="1" i="1" dirty="0">
                                                  <a:solidFill>
                                                    <a:schemeClr val="bg1"/>
                                                  </a:solidFill>
                                                  <a:latin typeface="Cambria Math"/>
                                                </a:rPr>
                                                <m:t>𝑿</m:t>
                                              </m:r>
                                            </m:e>
                                          </m:acc>
                                        </m:e>
                                      </m:d>
                                    </m:e>
                                    <m:sup>
                                      <m:r>
                                        <a:rPr lang="en-GB" sz="2400" b="1" i="1" dirty="0">
                                          <a:solidFill>
                                            <a:schemeClr val="bg1"/>
                                          </a:solidFill>
                                          <a:latin typeface="Cambria Math"/>
                                        </a:rPr>
                                        <m:t>𝟐</m:t>
                                      </m:r>
                                    </m:sup>
                                  </m:sSup>
                                </m:e>
                              </m:nary>
                            </m:oMath>
                          </m:oMathPara>
                        </a14:m>
                        <a:endParaRPr lang="en-GB" sz="2400" b="1" dirty="0">
                          <a:solidFill>
                            <a:schemeClr val="bg1"/>
                          </a:solidFill>
                        </a:endParaRPr>
                      </a:p>
                    </p:txBody>
                  </p:sp>
                </mc:Choice>
                <mc:Fallback xmlns="">
                  <p:sp>
                    <p:nvSpPr>
                      <p:cNvPr id="51" name="Rectangle 50"/>
                      <p:cNvSpPr>
                        <a:spLocks noRot="1" noChangeAspect="1" noMove="1" noResize="1" noEditPoints="1" noAdjustHandles="1" noChangeArrowheads="1" noChangeShapeType="1" noTextEdit="1"/>
                      </p:cNvSpPr>
                      <p:nvPr/>
                    </p:nvSpPr>
                    <p:spPr>
                      <a:xfrm>
                        <a:off x="3288681" y="4541500"/>
                        <a:ext cx="2487697" cy="734442"/>
                      </a:xfrm>
                      <a:prstGeom prst="rect">
                        <a:avLst/>
                      </a:prstGeom>
                      <a:blipFill rotWithShape="1">
                        <a:blip r:embed="rId9"/>
                        <a:stretch>
                          <a:fillRect/>
                        </a:stretch>
                      </a:blipFill>
                    </p:spPr>
                    <p:txBody>
                      <a:bodyPr/>
                      <a:lstStyle/>
                      <a:p>
                        <a:r>
                          <a:rPr lang="en-GB">
                            <a:noFill/>
                          </a:rPr>
                          <a:t> </a:t>
                        </a:r>
                      </a:p>
                    </p:txBody>
                  </p:sp>
                </mc:Fallback>
              </mc:AlternateContent>
            </p:grpSp>
            <p:cxnSp>
              <p:nvCxnSpPr>
                <p:cNvPr id="48" name="Straight Connector 47"/>
                <p:cNvCxnSpPr/>
                <p:nvPr/>
              </p:nvCxnSpPr>
              <p:spPr>
                <a:xfrm>
                  <a:off x="3232299" y="5304594"/>
                  <a:ext cx="2482701" cy="0"/>
                </a:xfrm>
                <a:prstGeom prst="line">
                  <a:avLst/>
                </a:prstGeom>
              </p:spPr>
              <p:style>
                <a:lnRef idx="2">
                  <a:schemeClr val="dk1"/>
                </a:lnRef>
                <a:fillRef idx="0">
                  <a:schemeClr val="dk1"/>
                </a:fillRef>
                <a:effectRef idx="1">
                  <a:schemeClr val="dk1"/>
                </a:effectRef>
                <a:fontRef idx="minor">
                  <a:schemeClr val="tx1"/>
                </a:fontRef>
              </p:style>
            </p:cxnSp>
          </p:grpSp>
          <mc:AlternateContent xmlns:mc="http://schemas.openxmlformats.org/markup-compatibility/2006" xmlns:a14="http://schemas.microsoft.com/office/drawing/2010/main">
            <mc:Choice Requires="a14">
              <p:sp>
                <p:nvSpPr>
                  <p:cNvPr id="16" name="TextBox 15"/>
                  <p:cNvSpPr txBox="1"/>
                  <p:nvPr/>
                </p:nvSpPr>
                <p:spPr>
                  <a:xfrm>
                    <a:off x="1066800" y="2582884"/>
                    <a:ext cx="1158329" cy="7078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4000" b="0" i="1" smtClean="0">
                              <a:latin typeface="Cambria Math"/>
                            </a:rPr>
                            <m:t>𝐹</m:t>
                          </m:r>
                          <m:r>
                            <a:rPr lang="en-GB" sz="4000" b="0" i="1" smtClean="0">
                              <a:latin typeface="Cambria Math"/>
                            </a:rPr>
                            <m:t>=</m:t>
                          </m:r>
                        </m:oMath>
                      </m:oMathPara>
                    </a14:m>
                    <a:endParaRPr lang="en-GB" sz="4000" dirty="0"/>
                  </a:p>
                </p:txBody>
              </p:sp>
            </mc:Choice>
            <mc:Fallback xmlns="">
              <p:sp>
                <p:nvSpPr>
                  <p:cNvPr id="16" name="TextBox 15"/>
                  <p:cNvSpPr txBox="1">
                    <a:spLocks noRot="1" noChangeAspect="1" noMove="1" noResize="1" noEditPoints="1" noAdjustHandles="1" noChangeArrowheads="1" noChangeShapeType="1" noTextEdit="1"/>
                  </p:cNvSpPr>
                  <p:nvPr/>
                </p:nvSpPr>
                <p:spPr>
                  <a:xfrm>
                    <a:off x="1066800" y="2582884"/>
                    <a:ext cx="1158329" cy="707886"/>
                  </a:xfrm>
                  <a:prstGeom prst="rect">
                    <a:avLst/>
                  </a:prstGeom>
                  <a:blipFill>
                    <a:blip r:embed="rId10"/>
                    <a:stretch>
                      <a:fillRect/>
                    </a:stretch>
                  </a:blipFill>
                </p:spPr>
                <p:txBody>
                  <a:bodyPr/>
                  <a:lstStyle/>
                  <a:p>
                    <a:r>
                      <a:rPr lang="en-GB">
                        <a:noFill/>
                      </a:rPr>
                      <a:t> </a:t>
                    </a:r>
                  </a:p>
                </p:txBody>
              </p:sp>
            </mc:Fallback>
          </mc:AlternateContent>
        </p:grpSp>
        <p:sp>
          <p:nvSpPr>
            <p:cNvPr id="2" name="Rectangle 1"/>
            <p:cNvSpPr/>
            <p:nvPr/>
          </p:nvSpPr>
          <p:spPr>
            <a:xfrm>
              <a:off x="4038600" y="2819400"/>
              <a:ext cx="1336648" cy="707886"/>
            </a:xfrm>
            <a:prstGeom prst="rect">
              <a:avLst/>
            </a:prstGeom>
          </p:spPr>
          <p:txBody>
            <a:bodyPr wrap="none">
              <a:spAutoFit/>
            </a:bodyPr>
            <a:lstStyle/>
            <a:p>
              <a:r>
                <a:rPr lang="en-GB" altLang="en-US" sz="4000" b="1" dirty="0"/>
                <a:t>MSW</a:t>
              </a:r>
              <a:endParaRPr lang="en-GB" sz="4000" dirty="0"/>
            </a:p>
          </p:txBody>
        </p:sp>
        <p:sp>
          <p:nvSpPr>
            <p:cNvPr id="4" name="Rectangle 3"/>
            <p:cNvSpPr/>
            <p:nvPr/>
          </p:nvSpPr>
          <p:spPr>
            <a:xfrm>
              <a:off x="4114800" y="1722989"/>
              <a:ext cx="1162498" cy="707886"/>
            </a:xfrm>
            <a:prstGeom prst="rect">
              <a:avLst/>
            </a:prstGeom>
          </p:spPr>
          <p:txBody>
            <a:bodyPr wrap="none">
              <a:spAutoFit/>
            </a:bodyPr>
            <a:lstStyle/>
            <a:p>
              <a:r>
                <a:rPr lang="en-GB" altLang="en-US" sz="4000" b="1" dirty="0"/>
                <a:t>MSB</a:t>
              </a:r>
              <a:endParaRPr lang="en-GB" dirty="0"/>
            </a:p>
          </p:txBody>
        </p:sp>
      </p:grpSp>
      <p:sp>
        <p:nvSpPr>
          <p:cNvPr id="7" name="TextBox 6">
            <a:extLst>
              <a:ext uri="{FF2B5EF4-FFF2-40B4-BE49-F238E27FC236}">
                <a16:creationId xmlns:a16="http://schemas.microsoft.com/office/drawing/2014/main" id="{6642931C-C2FE-C302-3317-E4EEF59D22D6}"/>
              </a:ext>
            </a:extLst>
          </p:cNvPr>
          <p:cNvSpPr txBox="1"/>
          <p:nvPr/>
        </p:nvSpPr>
        <p:spPr>
          <a:xfrm>
            <a:off x="533400" y="1170856"/>
            <a:ext cx="4572000" cy="369332"/>
          </a:xfrm>
          <a:prstGeom prst="rect">
            <a:avLst/>
          </a:prstGeom>
          <a:noFill/>
        </p:spPr>
        <p:txBody>
          <a:bodyPr wrap="square">
            <a:spAutoFit/>
          </a:bodyPr>
          <a:lstStyle/>
          <a:p>
            <a:r>
              <a:rPr lang="en-GB" b="1" dirty="0"/>
              <a:t>Step 2. Test Statistic</a:t>
            </a: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0E83EB28-1B24-B3FB-E510-33AA70013965}"/>
                  </a:ext>
                </a:extLst>
              </p:cNvPr>
              <p:cNvSpPr/>
              <p:nvPr/>
            </p:nvSpPr>
            <p:spPr>
              <a:xfrm>
                <a:off x="539262" y="4267200"/>
                <a:ext cx="7924800" cy="369332"/>
              </a:xfrm>
              <a:prstGeom prst="rect">
                <a:avLst/>
              </a:prstGeom>
            </p:spPr>
            <p:txBody>
              <a:bodyPr wrap="square">
                <a:spAutoFit/>
              </a:bodyPr>
              <a:lstStyle/>
              <a:p>
                <a:r>
                  <a:rPr lang="en-GB" altLang="en-US" b="1" dirty="0">
                    <a:solidFill>
                      <a:schemeClr val="tx1"/>
                    </a:solidFill>
                  </a:rPr>
                  <a:t>Step 3. Lookup F-table to find </a:t>
                </a:r>
                <a14:m>
                  <m:oMath xmlns:m="http://schemas.openxmlformats.org/officeDocument/2006/math">
                    <m:sSub>
                      <m:sSubPr>
                        <m:ctrlPr>
                          <a:rPr lang="en-US" altLang="en-US" b="1" i="1" dirty="0">
                            <a:solidFill>
                              <a:schemeClr val="tx1"/>
                            </a:solidFill>
                            <a:latin typeface="Cambria Math" panose="02040503050406030204" pitchFamily="18" charset="0"/>
                          </a:rPr>
                        </m:ctrlPr>
                      </m:sSubPr>
                      <m:e>
                        <m:r>
                          <a:rPr lang="en-GB" altLang="en-US" b="1" i="1" dirty="0" smtClean="0">
                            <a:solidFill>
                              <a:schemeClr val="tx1"/>
                            </a:solidFill>
                            <a:latin typeface="Cambria Math" panose="02040503050406030204" pitchFamily="18" charset="0"/>
                          </a:rPr>
                          <m:t>𝑭</m:t>
                        </m:r>
                      </m:e>
                      <m:sub>
                        <m:r>
                          <a:rPr lang="en-GB" altLang="en-US" b="1" i="1" dirty="0" smtClean="0">
                            <a:solidFill>
                              <a:schemeClr val="tx1"/>
                            </a:solidFill>
                            <a:latin typeface="Cambria Math" panose="02040503050406030204" pitchFamily="18" charset="0"/>
                          </a:rPr>
                          <m:t>𝒂</m:t>
                        </m:r>
                      </m:sub>
                    </m:sSub>
                  </m:oMath>
                </a14:m>
                <a:endParaRPr lang="en-GB" altLang="en-US" b="1" dirty="0">
                  <a:solidFill>
                    <a:schemeClr val="tx1"/>
                  </a:solidFill>
                </a:endParaRPr>
              </a:p>
            </p:txBody>
          </p:sp>
        </mc:Choice>
        <mc:Fallback xmlns="">
          <p:sp>
            <p:nvSpPr>
              <p:cNvPr id="13" name="Rectangle 12">
                <a:extLst>
                  <a:ext uri="{FF2B5EF4-FFF2-40B4-BE49-F238E27FC236}">
                    <a16:creationId xmlns:a16="http://schemas.microsoft.com/office/drawing/2014/main" id="{0E83EB28-1B24-B3FB-E510-33AA70013965}"/>
                  </a:ext>
                </a:extLst>
              </p:cNvPr>
              <p:cNvSpPr>
                <a:spLocks noRot="1" noChangeAspect="1" noMove="1" noResize="1" noEditPoints="1" noAdjustHandles="1" noChangeArrowheads="1" noChangeShapeType="1" noTextEdit="1"/>
              </p:cNvSpPr>
              <p:nvPr/>
            </p:nvSpPr>
            <p:spPr>
              <a:xfrm>
                <a:off x="539262" y="4267200"/>
                <a:ext cx="7924800" cy="369332"/>
              </a:xfrm>
              <a:prstGeom prst="rect">
                <a:avLst/>
              </a:prstGeom>
              <a:blipFill>
                <a:blip r:embed="rId11"/>
                <a:stretch>
                  <a:fillRect l="-615" t="-8197" b="-2459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C14A57D1-476E-FADB-9E39-062307A73BFF}"/>
                  </a:ext>
                </a:extLst>
              </p:cNvPr>
              <p:cNvSpPr/>
              <p:nvPr/>
            </p:nvSpPr>
            <p:spPr>
              <a:xfrm>
                <a:off x="533400" y="5105400"/>
                <a:ext cx="7924800" cy="923330"/>
              </a:xfrm>
              <a:prstGeom prst="rect">
                <a:avLst/>
              </a:prstGeom>
            </p:spPr>
            <p:txBody>
              <a:bodyPr wrap="square">
                <a:spAutoFit/>
              </a:bodyPr>
              <a:lstStyle/>
              <a:p>
                <a:r>
                  <a:rPr lang="en-GB" altLang="en-US" b="1" dirty="0">
                    <a:solidFill>
                      <a:schemeClr val="tx1"/>
                    </a:solidFill>
                  </a:rPr>
                  <a:t>Step 4. Reject or fail to reject null hypothesis:</a:t>
                </a:r>
              </a:p>
              <a:p>
                <a:endParaRPr lang="en-GB" altLang="en-US" b="1" dirty="0">
                  <a:solidFill>
                    <a:schemeClr val="tx1"/>
                  </a:solidFill>
                </a:endParaRPr>
              </a:p>
              <a:p>
                <a:r>
                  <a:rPr lang="en-GB" altLang="en-US" b="1" dirty="0">
                    <a:solidFill>
                      <a:schemeClr val="tx1"/>
                    </a:solidFill>
                  </a:rPr>
                  <a:t>Reject null hypothesis if </a:t>
                </a:r>
                <a14:m>
                  <m:oMath xmlns:m="http://schemas.openxmlformats.org/officeDocument/2006/math">
                    <m:r>
                      <a:rPr lang="en-GB" altLang="en-US" b="1" i="1" dirty="0" smtClean="0">
                        <a:solidFill>
                          <a:schemeClr val="tx1"/>
                        </a:solidFill>
                        <a:latin typeface="Cambria Math" panose="02040503050406030204" pitchFamily="18" charset="0"/>
                      </a:rPr>
                      <m:t>𝑭</m:t>
                    </m:r>
                    <m:r>
                      <a:rPr lang="en-GB" altLang="en-US" b="1" i="1" dirty="0">
                        <a:solidFill>
                          <a:schemeClr val="tx1"/>
                        </a:solidFill>
                        <a:latin typeface="Cambria Math" panose="02040503050406030204" pitchFamily="18" charset="0"/>
                      </a:rPr>
                      <m:t> </m:t>
                    </m:r>
                    <m:r>
                      <a:rPr lang="en-GB" altLang="en-US" b="1" i="1" dirty="0" smtClean="0">
                        <a:solidFill>
                          <a:schemeClr val="tx1"/>
                        </a:solidFill>
                        <a:latin typeface="Cambria Math" panose="02040503050406030204" pitchFamily="18" charset="0"/>
                      </a:rPr>
                      <m:t>&gt;</m:t>
                    </m:r>
                    <m:sSub>
                      <m:sSubPr>
                        <m:ctrlPr>
                          <a:rPr lang="en-US" altLang="en-US" b="1" i="1" dirty="0">
                            <a:solidFill>
                              <a:schemeClr val="tx1"/>
                            </a:solidFill>
                            <a:latin typeface="Cambria Math" panose="02040503050406030204" pitchFamily="18" charset="0"/>
                          </a:rPr>
                        </m:ctrlPr>
                      </m:sSubPr>
                      <m:e>
                        <m:r>
                          <a:rPr lang="en-GB" altLang="en-US" b="1" i="1" dirty="0" smtClean="0">
                            <a:solidFill>
                              <a:schemeClr val="tx1"/>
                            </a:solidFill>
                            <a:latin typeface="Cambria Math" panose="02040503050406030204" pitchFamily="18" charset="0"/>
                          </a:rPr>
                          <m:t>𝑭</m:t>
                        </m:r>
                      </m:e>
                      <m:sub>
                        <m:r>
                          <a:rPr lang="en-GB" altLang="en-US" b="1" i="1" dirty="0" smtClean="0">
                            <a:solidFill>
                              <a:schemeClr val="tx1"/>
                            </a:solidFill>
                            <a:latin typeface="Cambria Math" panose="02040503050406030204" pitchFamily="18" charset="0"/>
                          </a:rPr>
                          <m:t>𝒂</m:t>
                        </m:r>
                      </m:sub>
                    </m:sSub>
                  </m:oMath>
                </a14:m>
                <a:r>
                  <a:rPr lang="en-GB" altLang="en-US" b="1" dirty="0">
                    <a:solidFill>
                      <a:schemeClr val="tx1"/>
                    </a:solidFill>
                  </a:rPr>
                  <a:t> (or p-value &lt; 0.05)</a:t>
                </a:r>
              </a:p>
            </p:txBody>
          </p:sp>
        </mc:Choice>
        <mc:Fallback xmlns="">
          <p:sp>
            <p:nvSpPr>
              <p:cNvPr id="14" name="Rectangle 13">
                <a:extLst>
                  <a:ext uri="{FF2B5EF4-FFF2-40B4-BE49-F238E27FC236}">
                    <a16:creationId xmlns:a16="http://schemas.microsoft.com/office/drawing/2014/main" id="{C14A57D1-476E-FADB-9E39-062307A73BFF}"/>
                  </a:ext>
                </a:extLst>
              </p:cNvPr>
              <p:cNvSpPr>
                <a:spLocks noRot="1" noChangeAspect="1" noMove="1" noResize="1" noEditPoints="1" noAdjustHandles="1" noChangeArrowheads="1" noChangeShapeType="1" noTextEdit="1"/>
              </p:cNvSpPr>
              <p:nvPr/>
            </p:nvSpPr>
            <p:spPr>
              <a:xfrm>
                <a:off x="533400" y="5105400"/>
                <a:ext cx="7924800" cy="923330"/>
              </a:xfrm>
              <a:prstGeom prst="rect">
                <a:avLst/>
              </a:prstGeom>
              <a:blipFill>
                <a:blip r:embed="rId12"/>
                <a:stretch>
                  <a:fillRect l="-692" t="-3974" b="-9272"/>
                </a:stretch>
              </a:blipFill>
            </p:spPr>
            <p:txBody>
              <a:bodyPr/>
              <a:lstStyle/>
              <a:p>
                <a:r>
                  <a:rPr lang="en-GB">
                    <a:noFill/>
                  </a:rPr>
                  <a:t> </a:t>
                </a:r>
              </a:p>
            </p:txBody>
          </p:sp>
        </mc:Fallback>
      </mc:AlternateContent>
    </p:spTree>
    <p:extLst>
      <p:ext uri="{BB962C8B-B14F-4D97-AF65-F5344CB8AC3E}">
        <p14:creationId xmlns:p14="http://schemas.microsoft.com/office/powerpoint/2010/main" val="59016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143000"/>
            <a:ext cx="8390143" cy="3657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itle 2"/>
          <p:cNvSpPr>
            <a:spLocks noGrp="1"/>
          </p:cNvSpPr>
          <p:nvPr>
            <p:ph type="title"/>
          </p:nvPr>
        </p:nvSpPr>
        <p:spPr/>
        <p:txBody>
          <a:bodyPr/>
          <a:lstStyle/>
          <a:p>
            <a:r>
              <a:rPr lang="en-GB" altLang="en-US" dirty="0"/>
              <a:t>ANOVA Example 1</a:t>
            </a:r>
            <a:endParaRPr lang="en-GB" dirty="0"/>
          </a:p>
        </p:txBody>
      </p:sp>
      <mc:AlternateContent xmlns:mc="http://schemas.openxmlformats.org/markup-compatibility/2006" xmlns:a14="http://schemas.microsoft.com/office/drawing/2010/main">
        <mc:Choice Requires="a14">
          <p:sp>
            <p:nvSpPr>
              <p:cNvPr id="8" name="TextBox 7"/>
              <p:cNvSpPr txBox="1"/>
              <p:nvPr/>
            </p:nvSpPr>
            <p:spPr>
              <a:xfrm>
                <a:off x="6204423" y="225215"/>
                <a:ext cx="2636451" cy="1191816"/>
              </a:xfrm>
              <a:prstGeom prst="wedgeRoundRectCallout">
                <a:avLst>
                  <a:gd name="adj1" fmla="val -28930"/>
                  <a:gd name="adj2" fmla="val 269281"/>
                  <a:gd name="adj3" fmla="val 16667"/>
                </a:avLst>
              </a:prstGeom>
            </p:spPr>
            <p:style>
              <a:lnRef idx="2">
                <a:schemeClr val="accent3"/>
              </a:lnRef>
              <a:fillRef idx="1">
                <a:schemeClr val="lt1"/>
              </a:fillRef>
              <a:effectRef idx="0">
                <a:schemeClr val="accent3"/>
              </a:effectRef>
              <a:fontRef idx="minor">
                <a:schemeClr val="dk1"/>
              </a:fontRef>
            </p:style>
            <p:txBody>
              <a:bodyPr wrap="none" rtlCol="0">
                <a:spAutoFit/>
              </a:bodyPr>
              <a:lstStyle/>
              <a:p>
                <a:r>
                  <a:rPr lang="en-GB" sz="3200" dirty="0"/>
                  <a:t>p-value &lt; 0.05</a:t>
                </a:r>
              </a:p>
              <a:p>
                <a:r>
                  <a:rPr lang="en-GB" sz="3200" dirty="0"/>
                  <a:t>Reject </a:t>
                </a:r>
                <a14:m>
                  <m:oMath xmlns:m="http://schemas.openxmlformats.org/officeDocument/2006/math">
                    <m:sSub>
                      <m:sSubPr>
                        <m:ctrlPr>
                          <a:rPr lang="en-GB" sz="3200" b="1" i="1" dirty="0" smtClean="0">
                            <a:solidFill>
                              <a:schemeClr val="tx1"/>
                            </a:solidFill>
                            <a:latin typeface="Cambria Math" panose="02040503050406030204" pitchFamily="18" charset="0"/>
                          </a:rPr>
                        </m:ctrlPr>
                      </m:sSubPr>
                      <m:e>
                        <m:r>
                          <a:rPr lang="en-GB" sz="3200" b="1" i="1" dirty="0" smtClean="0">
                            <a:solidFill>
                              <a:schemeClr val="tx1"/>
                            </a:solidFill>
                            <a:latin typeface="Cambria Math" panose="02040503050406030204" pitchFamily="18" charset="0"/>
                          </a:rPr>
                          <m:t>𝑯</m:t>
                        </m:r>
                      </m:e>
                      <m:sub>
                        <m:r>
                          <a:rPr lang="en-GB" sz="3200" b="1" i="1" dirty="0" smtClean="0">
                            <a:solidFill>
                              <a:schemeClr val="tx1"/>
                            </a:solidFill>
                            <a:latin typeface="Cambria Math" panose="02040503050406030204" pitchFamily="18" charset="0"/>
                          </a:rPr>
                          <m:t>𝟎</m:t>
                        </m:r>
                      </m:sub>
                    </m:sSub>
                  </m:oMath>
                </a14:m>
                <a:endParaRPr lang="en-GB" sz="3200" dirty="0"/>
              </a:p>
            </p:txBody>
          </p:sp>
        </mc:Choice>
        <mc:Fallback xmlns="">
          <p:sp>
            <p:nvSpPr>
              <p:cNvPr id="8" name="TextBox 7"/>
              <p:cNvSpPr txBox="1">
                <a:spLocks noRot="1" noChangeAspect="1" noMove="1" noResize="1" noEditPoints="1" noAdjustHandles="1" noChangeArrowheads="1" noChangeShapeType="1" noTextEdit="1"/>
              </p:cNvSpPr>
              <p:nvPr/>
            </p:nvSpPr>
            <p:spPr>
              <a:xfrm>
                <a:off x="6204423" y="225215"/>
                <a:ext cx="2636451" cy="1191816"/>
              </a:xfrm>
              <a:prstGeom prst="wedgeRoundRectCallout">
                <a:avLst>
                  <a:gd name="adj1" fmla="val -28930"/>
                  <a:gd name="adj2" fmla="val 269281"/>
                  <a:gd name="adj3" fmla="val 16667"/>
                </a:avLst>
              </a:prstGeom>
              <a:blipFill>
                <a:blip r:embed="rId4"/>
                <a:stretch>
                  <a:fillRect l="-3211" t="-319" r="-3211"/>
                </a:stretch>
              </a:blipFill>
            </p:spPr>
            <p:txBody>
              <a:bodyPr/>
              <a:lstStyle/>
              <a:p>
                <a:r>
                  <a:rPr lang="en-GB">
                    <a:noFill/>
                  </a:rPr>
                  <a:t> </a:t>
                </a:r>
              </a:p>
            </p:txBody>
          </p:sp>
        </mc:Fallback>
      </mc:AlternateContent>
      <p:grpSp>
        <p:nvGrpSpPr>
          <p:cNvPr id="2" name="Group 1">
            <a:extLst>
              <a:ext uri="{FF2B5EF4-FFF2-40B4-BE49-F238E27FC236}">
                <a16:creationId xmlns:a16="http://schemas.microsoft.com/office/drawing/2014/main" id="{8CEFBFC4-0BCE-5ECA-1A73-6E202C1123CA}"/>
              </a:ext>
            </a:extLst>
          </p:cNvPr>
          <p:cNvGrpSpPr/>
          <p:nvPr/>
        </p:nvGrpSpPr>
        <p:grpSpPr>
          <a:xfrm>
            <a:off x="4190999" y="3100388"/>
            <a:ext cx="838201" cy="1916906"/>
            <a:chOff x="4114799" y="2945606"/>
            <a:chExt cx="838201" cy="1916906"/>
          </a:xfrm>
        </p:grpSpPr>
        <mc:AlternateContent xmlns:mc="http://schemas.openxmlformats.org/markup-compatibility/2006" xmlns:a14="http://schemas.microsoft.com/office/drawing/2010/main">
          <mc:Choice Requires="a14">
            <p:sp>
              <p:nvSpPr>
                <p:cNvPr id="4" name="Rectangular Callout 7">
                  <a:extLst>
                    <a:ext uri="{FF2B5EF4-FFF2-40B4-BE49-F238E27FC236}">
                      <a16:creationId xmlns:a16="http://schemas.microsoft.com/office/drawing/2014/main" id="{F1F1CD91-B81F-7710-A23E-9640AE97FD7D}"/>
                    </a:ext>
                  </a:extLst>
                </p:cNvPr>
                <p:cNvSpPr/>
                <p:nvPr/>
              </p:nvSpPr>
              <p:spPr>
                <a:xfrm>
                  <a:off x="4114799" y="2945606"/>
                  <a:ext cx="838201" cy="381000"/>
                </a:xfrm>
                <a:prstGeom prst="wedgeRectCallout">
                  <a:avLst>
                    <a:gd name="adj1" fmla="val -87602"/>
                    <a:gd name="adj2" fmla="val 210873"/>
                  </a:avLst>
                </a:prstGeom>
                <a:solidFill>
                  <a:schemeClr val="tx2">
                    <a:lumMod val="20000"/>
                    <a:lumOff val="8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GB" sz="2000" b="1" i="1" dirty="0">
                            <a:solidFill>
                              <a:schemeClr val="tx1"/>
                            </a:solidFill>
                            <a:latin typeface="Cambria Math"/>
                          </a:rPr>
                          <m:t>𝒄</m:t>
                        </m:r>
                        <m:r>
                          <a:rPr lang="en-GB" sz="2000" b="1" i="1" dirty="0">
                            <a:solidFill>
                              <a:schemeClr val="tx1"/>
                            </a:solidFill>
                            <a:latin typeface="Cambria Math"/>
                          </a:rPr>
                          <m:t>−</m:t>
                        </m:r>
                        <m:r>
                          <a:rPr lang="en-GB" sz="2000" b="1" i="1" dirty="0">
                            <a:solidFill>
                              <a:schemeClr val="tx1"/>
                            </a:solidFill>
                            <a:latin typeface="Cambria Math"/>
                          </a:rPr>
                          <m:t>𝟏</m:t>
                        </m:r>
                      </m:oMath>
                    </m:oMathPara>
                  </a14:m>
                  <a:endParaRPr lang="en-GB" sz="2000" b="1" dirty="0">
                    <a:solidFill>
                      <a:schemeClr val="tx1"/>
                    </a:solidFill>
                  </a:endParaRPr>
                </a:p>
              </p:txBody>
            </p:sp>
          </mc:Choice>
          <mc:Fallback xmlns="">
            <p:sp>
              <p:nvSpPr>
                <p:cNvPr id="8" name="Rectangular Callout 7"/>
                <p:cNvSpPr>
                  <a:spLocks noRot="1" noChangeAspect="1" noMove="1" noResize="1" noEditPoints="1" noAdjustHandles="1" noChangeArrowheads="1" noChangeShapeType="1" noTextEdit="1"/>
                </p:cNvSpPr>
                <p:nvPr/>
              </p:nvSpPr>
              <p:spPr>
                <a:xfrm>
                  <a:off x="4114799" y="2945606"/>
                  <a:ext cx="838201" cy="381000"/>
                </a:xfrm>
                <a:prstGeom prst="wedgeRectCallout">
                  <a:avLst>
                    <a:gd name="adj1" fmla="val -87602"/>
                    <a:gd name="adj2" fmla="val 210873"/>
                  </a:avLst>
                </a:prstGeom>
                <a:blipFill rotWithShape="1">
                  <a:blip r:embed="rId5"/>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Rectangular Callout 11">
                  <a:extLst>
                    <a:ext uri="{FF2B5EF4-FFF2-40B4-BE49-F238E27FC236}">
                      <a16:creationId xmlns:a16="http://schemas.microsoft.com/office/drawing/2014/main" id="{854F5CCF-8965-9F4D-49CF-80D3A5108D0F}"/>
                    </a:ext>
                  </a:extLst>
                </p:cNvPr>
                <p:cNvSpPr/>
                <p:nvPr/>
              </p:nvSpPr>
              <p:spPr>
                <a:xfrm>
                  <a:off x="4114799" y="4481512"/>
                  <a:ext cx="838201" cy="381000"/>
                </a:xfrm>
                <a:prstGeom prst="wedgeRectCallout">
                  <a:avLst>
                    <a:gd name="adj1" fmla="val -88871"/>
                    <a:gd name="adj2" fmla="val -104477"/>
                  </a:avLst>
                </a:prstGeom>
                <a:solidFill>
                  <a:schemeClr val="tx2">
                    <a:lumMod val="20000"/>
                    <a:lumOff val="8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GB" sz="2000" b="1" i="1" dirty="0" smtClean="0">
                            <a:solidFill>
                              <a:schemeClr val="tx1"/>
                            </a:solidFill>
                            <a:latin typeface="Cambria Math"/>
                          </a:rPr>
                          <m:t>𝒏</m:t>
                        </m:r>
                        <m:r>
                          <a:rPr lang="en-GB" sz="2000" b="1" i="1" dirty="0">
                            <a:solidFill>
                              <a:schemeClr val="tx1"/>
                            </a:solidFill>
                            <a:latin typeface="Cambria Math"/>
                          </a:rPr>
                          <m:t>−</m:t>
                        </m:r>
                        <m:r>
                          <a:rPr lang="en-GB" sz="2000" b="1" i="1" dirty="0" smtClean="0">
                            <a:solidFill>
                              <a:schemeClr val="tx1"/>
                            </a:solidFill>
                            <a:latin typeface="Cambria Math"/>
                          </a:rPr>
                          <m:t>𝒄</m:t>
                        </m:r>
                      </m:oMath>
                    </m:oMathPara>
                  </a14:m>
                  <a:endParaRPr lang="en-GB" sz="2000" b="1" dirty="0">
                    <a:solidFill>
                      <a:schemeClr val="tx1"/>
                    </a:solidFill>
                  </a:endParaRPr>
                </a:p>
              </p:txBody>
            </p:sp>
          </mc:Choice>
          <mc:Fallback xmlns="">
            <p:sp>
              <p:nvSpPr>
                <p:cNvPr id="12" name="Rectangular Callout 11"/>
                <p:cNvSpPr>
                  <a:spLocks noRot="1" noChangeAspect="1" noMove="1" noResize="1" noEditPoints="1" noAdjustHandles="1" noChangeArrowheads="1" noChangeShapeType="1" noTextEdit="1"/>
                </p:cNvSpPr>
                <p:nvPr/>
              </p:nvSpPr>
              <p:spPr>
                <a:xfrm>
                  <a:off x="4114799" y="4481512"/>
                  <a:ext cx="838201" cy="381000"/>
                </a:xfrm>
                <a:prstGeom prst="wedgeRectCallout">
                  <a:avLst>
                    <a:gd name="adj1" fmla="val -88871"/>
                    <a:gd name="adj2" fmla="val -104477"/>
                  </a:avLst>
                </a:prstGeom>
                <a:blipFill rotWithShape="1">
                  <a:blip r:embed="rId6"/>
                  <a:stretch>
                    <a:fillRect/>
                  </a:stretch>
                </a:blipFill>
                <a:ln>
                  <a:noFill/>
                </a:ln>
              </p:spPr>
              <p:txBody>
                <a:bodyPr/>
                <a:lstStyle/>
                <a:p>
                  <a:r>
                    <a:rPr lang="en-GB">
                      <a:noFill/>
                    </a:rPr>
                    <a:t> </a:t>
                  </a:r>
                </a:p>
              </p:txBody>
            </p:sp>
          </mc:Fallback>
        </mc:AlternateContent>
      </p:grpSp>
      <p:grpSp>
        <p:nvGrpSpPr>
          <p:cNvPr id="7" name="Group 6">
            <a:extLst>
              <a:ext uri="{FF2B5EF4-FFF2-40B4-BE49-F238E27FC236}">
                <a16:creationId xmlns:a16="http://schemas.microsoft.com/office/drawing/2014/main" id="{51B927A3-2DC4-AE27-A3F2-0C4037682E43}"/>
              </a:ext>
            </a:extLst>
          </p:cNvPr>
          <p:cNvGrpSpPr/>
          <p:nvPr/>
        </p:nvGrpSpPr>
        <p:grpSpPr>
          <a:xfrm>
            <a:off x="248093" y="2819400"/>
            <a:ext cx="1809307" cy="2512218"/>
            <a:chOff x="324293" y="2743200"/>
            <a:chExt cx="1809307" cy="2512218"/>
          </a:xfrm>
        </p:grpSpPr>
        <mc:AlternateContent xmlns:mc="http://schemas.openxmlformats.org/markup-compatibility/2006" xmlns:a14="http://schemas.microsoft.com/office/drawing/2010/main">
          <mc:Choice Requires="a14">
            <p:sp>
              <p:nvSpPr>
                <p:cNvPr id="9" name="Rectangular Callout 12">
                  <a:extLst>
                    <a:ext uri="{FF2B5EF4-FFF2-40B4-BE49-F238E27FC236}">
                      <a16:creationId xmlns:a16="http://schemas.microsoft.com/office/drawing/2014/main" id="{EB6C5A39-E11B-8B0F-3825-620ECDE6B065}"/>
                    </a:ext>
                  </a:extLst>
                </p:cNvPr>
                <p:cNvSpPr/>
                <p:nvPr/>
              </p:nvSpPr>
              <p:spPr>
                <a:xfrm>
                  <a:off x="324293" y="2743200"/>
                  <a:ext cx="1809307" cy="583406"/>
                </a:xfrm>
                <a:prstGeom prst="wedgeRectCallout">
                  <a:avLst>
                    <a:gd name="adj1" fmla="val 57134"/>
                    <a:gd name="adj2" fmla="val 161361"/>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en-GB" sz="1600" b="1" i="1" dirty="0" smtClean="0">
                                <a:solidFill>
                                  <a:schemeClr val="bg1"/>
                                </a:solidFill>
                                <a:latin typeface="Cambria Math" panose="02040503050406030204" pitchFamily="18" charset="0"/>
                              </a:rPr>
                            </m:ctrlPr>
                          </m:naryPr>
                          <m:sub/>
                          <m:sup/>
                          <m:e>
                            <m:sSub>
                              <m:sSubPr>
                                <m:ctrlPr>
                                  <a:rPr lang="en-GB" sz="1600" b="1" i="1" dirty="0" smtClean="0">
                                    <a:solidFill>
                                      <a:schemeClr val="bg1"/>
                                    </a:solidFill>
                                    <a:latin typeface="Cambria Math" panose="02040503050406030204" pitchFamily="18" charset="0"/>
                                  </a:rPr>
                                </m:ctrlPr>
                              </m:sSubPr>
                              <m:e>
                                <m:r>
                                  <a:rPr lang="en-GB" sz="1600" b="1" i="1" dirty="0" smtClean="0">
                                    <a:solidFill>
                                      <a:schemeClr val="bg1"/>
                                    </a:solidFill>
                                    <a:latin typeface="Cambria Math"/>
                                  </a:rPr>
                                  <m:t>𝒏</m:t>
                                </m:r>
                              </m:e>
                              <m:sub>
                                <m:r>
                                  <a:rPr lang="en-GB" sz="1600" b="1" i="1" dirty="0" smtClean="0">
                                    <a:solidFill>
                                      <a:schemeClr val="bg1"/>
                                    </a:solidFill>
                                    <a:latin typeface="Cambria Math"/>
                                  </a:rPr>
                                  <m:t>𝒋</m:t>
                                </m:r>
                              </m:sub>
                            </m:sSub>
                            <m:sSup>
                              <m:sSupPr>
                                <m:ctrlPr>
                                  <a:rPr lang="en-GB" sz="1600" b="1" i="1" dirty="0" smtClean="0">
                                    <a:solidFill>
                                      <a:schemeClr val="bg1"/>
                                    </a:solidFill>
                                    <a:latin typeface="Cambria Math" panose="02040503050406030204" pitchFamily="18" charset="0"/>
                                  </a:rPr>
                                </m:ctrlPr>
                              </m:sSupPr>
                              <m:e>
                                <m:d>
                                  <m:dPr>
                                    <m:ctrlPr>
                                      <a:rPr lang="en-GB" sz="1600" b="1" i="1" dirty="0">
                                        <a:solidFill>
                                          <a:schemeClr val="bg1"/>
                                        </a:solidFill>
                                        <a:latin typeface="Cambria Math" panose="02040503050406030204" pitchFamily="18" charset="0"/>
                                      </a:rPr>
                                    </m:ctrlPr>
                                  </m:dPr>
                                  <m:e>
                                    <m:sSub>
                                      <m:sSubPr>
                                        <m:ctrlPr>
                                          <a:rPr lang="en-GB" sz="1600" b="1" i="1" dirty="0">
                                            <a:solidFill>
                                              <a:schemeClr val="bg1"/>
                                            </a:solidFill>
                                            <a:latin typeface="Cambria Math" panose="02040503050406030204" pitchFamily="18" charset="0"/>
                                          </a:rPr>
                                        </m:ctrlPr>
                                      </m:sSubPr>
                                      <m:e>
                                        <m:acc>
                                          <m:accPr>
                                            <m:chr m:val="̅"/>
                                            <m:ctrlPr>
                                              <a:rPr lang="en-GB" sz="1600" b="1" i="1" dirty="0">
                                                <a:solidFill>
                                                  <a:schemeClr val="bg1"/>
                                                </a:solidFill>
                                                <a:latin typeface="Cambria Math" panose="02040503050406030204" pitchFamily="18" charset="0"/>
                                              </a:rPr>
                                            </m:ctrlPr>
                                          </m:accPr>
                                          <m:e>
                                            <m:r>
                                              <a:rPr lang="en-GB" sz="1600" b="1" i="1" dirty="0">
                                                <a:solidFill>
                                                  <a:schemeClr val="bg1"/>
                                                </a:solidFill>
                                                <a:latin typeface="Cambria Math"/>
                                              </a:rPr>
                                              <m:t>𝑿</m:t>
                                            </m:r>
                                          </m:e>
                                        </m:acc>
                                      </m:e>
                                      <m:sub>
                                        <m:r>
                                          <a:rPr lang="en-GB" sz="1600" b="1" i="1" dirty="0">
                                            <a:solidFill>
                                              <a:schemeClr val="bg1"/>
                                            </a:solidFill>
                                            <a:latin typeface="Cambria Math"/>
                                          </a:rPr>
                                          <m:t>𝒋</m:t>
                                        </m:r>
                                      </m:sub>
                                    </m:sSub>
                                    <m:r>
                                      <a:rPr lang="en-GB" sz="1600" b="1" i="1" dirty="0">
                                        <a:solidFill>
                                          <a:schemeClr val="bg1"/>
                                        </a:solidFill>
                                        <a:latin typeface="Cambria Math"/>
                                      </a:rPr>
                                      <m:t>−</m:t>
                                    </m:r>
                                    <m:acc>
                                      <m:accPr>
                                        <m:chr m:val="̿"/>
                                        <m:ctrlPr>
                                          <a:rPr lang="en-GB" sz="1600" b="1" i="1" dirty="0">
                                            <a:solidFill>
                                              <a:schemeClr val="bg1"/>
                                            </a:solidFill>
                                            <a:latin typeface="Cambria Math" panose="02040503050406030204" pitchFamily="18" charset="0"/>
                                          </a:rPr>
                                        </m:ctrlPr>
                                      </m:accPr>
                                      <m:e>
                                        <m:r>
                                          <a:rPr lang="en-GB" sz="1600" b="1" i="1" dirty="0">
                                            <a:solidFill>
                                              <a:schemeClr val="bg1"/>
                                            </a:solidFill>
                                            <a:latin typeface="Cambria Math"/>
                                          </a:rPr>
                                          <m:t>𝑿</m:t>
                                        </m:r>
                                      </m:e>
                                    </m:acc>
                                  </m:e>
                                </m:d>
                              </m:e>
                              <m:sup>
                                <m:r>
                                  <a:rPr lang="en-GB" sz="1600" b="1" i="1" dirty="0" smtClean="0">
                                    <a:solidFill>
                                      <a:schemeClr val="bg1"/>
                                    </a:solidFill>
                                    <a:latin typeface="Cambria Math"/>
                                  </a:rPr>
                                  <m:t>𝟐</m:t>
                                </m:r>
                              </m:sup>
                            </m:sSup>
                          </m:e>
                        </m:nary>
                      </m:oMath>
                    </m:oMathPara>
                  </a14:m>
                  <a:endParaRPr lang="en-GB" sz="1600" b="1" dirty="0">
                    <a:solidFill>
                      <a:schemeClr val="bg1"/>
                    </a:solidFill>
                  </a:endParaRPr>
                </a:p>
              </p:txBody>
            </p:sp>
          </mc:Choice>
          <mc:Fallback xmlns="">
            <p:sp>
              <p:nvSpPr>
                <p:cNvPr id="13" name="Rectangular Callout 12"/>
                <p:cNvSpPr>
                  <a:spLocks noRot="1" noChangeAspect="1" noMove="1" noResize="1" noEditPoints="1" noAdjustHandles="1" noChangeArrowheads="1" noChangeShapeType="1" noTextEdit="1"/>
                </p:cNvSpPr>
                <p:nvPr/>
              </p:nvSpPr>
              <p:spPr>
                <a:xfrm>
                  <a:off x="324293" y="2743200"/>
                  <a:ext cx="1809307" cy="583406"/>
                </a:xfrm>
                <a:prstGeom prst="wedgeRectCallout">
                  <a:avLst>
                    <a:gd name="adj1" fmla="val 57134"/>
                    <a:gd name="adj2" fmla="val 161361"/>
                  </a:avLst>
                </a:prstGeom>
                <a:blipFill rotWithShape="1">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Rectangular Callout 13">
                  <a:extLst>
                    <a:ext uri="{FF2B5EF4-FFF2-40B4-BE49-F238E27FC236}">
                      <a16:creationId xmlns:a16="http://schemas.microsoft.com/office/drawing/2014/main" id="{78BFF1E0-9BB6-21AE-3DA0-E6ADE31571D0}"/>
                    </a:ext>
                  </a:extLst>
                </p:cNvPr>
                <p:cNvSpPr/>
                <p:nvPr/>
              </p:nvSpPr>
              <p:spPr>
                <a:xfrm>
                  <a:off x="324293" y="4572000"/>
                  <a:ext cx="1809307" cy="683418"/>
                </a:xfrm>
                <a:prstGeom prst="wedgeRectCallout">
                  <a:avLst>
                    <a:gd name="adj1" fmla="val 60660"/>
                    <a:gd name="adj2" fmla="val -98322"/>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nary>
                          <m:naryPr>
                            <m:chr m:val="∑"/>
                            <m:ctrlPr>
                              <a:rPr lang="en-GB" sz="1400" b="1" i="1">
                                <a:latin typeface="Cambria Math" panose="02040503050406030204" pitchFamily="18" charset="0"/>
                              </a:rPr>
                            </m:ctrlPr>
                          </m:naryPr>
                          <m:sub>
                            <m:r>
                              <m:rPr>
                                <m:brk m:alnAt="23"/>
                              </m:rPr>
                              <a:rPr lang="en-GB" sz="1400" b="1" i="1">
                                <a:latin typeface="Cambria Math"/>
                              </a:rPr>
                              <m:t>𝒋</m:t>
                            </m:r>
                            <m:r>
                              <a:rPr lang="en-GB" sz="1400" b="1" i="1">
                                <a:latin typeface="Cambria Math"/>
                              </a:rPr>
                              <m:t>=</m:t>
                            </m:r>
                            <m:r>
                              <a:rPr lang="en-GB" sz="1400" b="1" i="1">
                                <a:latin typeface="Cambria Math"/>
                              </a:rPr>
                              <m:t>𝟏</m:t>
                            </m:r>
                          </m:sub>
                          <m:sup>
                            <m:r>
                              <a:rPr lang="en-GB" sz="1400" b="1" i="1">
                                <a:latin typeface="Cambria Math"/>
                              </a:rPr>
                              <m:t>𝒄</m:t>
                            </m:r>
                          </m:sup>
                          <m:e>
                            <m:nary>
                              <m:naryPr>
                                <m:chr m:val="∑"/>
                                <m:ctrlPr>
                                  <a:rPr lang="en-GB" sz="1400" b="1" i="1">
                                    <a:latin typeface="Cambria Math" panose="02040503050406030204" pitchFamily="18" charset="0"/>
                                  </a:rPr>
                                </m:ctrlPr>
                              </m:naryPr>
                              <m:sub>
                                <m:r>
                                  <a:rPr lang="en-GB" sz="1400" b="1" i="1">
                                    <a:latin typeface="Cambria Math"/>
                                  </a:rPr>
                                  <m:t>𝒊</m:t>
                                </m:r>
                                <m:r>
                                  <a:rPr lang="en-GB" sz="1400" b="1" i="1">
                                    <a:latin typeface="Cambria Math"/>
                                  </a:rPr>
                                  <m:t>=</m:t>
                                </m:r>
                                <m:r>
                                  <a:rPr lang="en-GB" sz="1400" b="1" i="1">
                                    <a:latin typeface="Cambria Math"/>
                                  </a:rPr>
                                  <m:t>𝟏</m:t>
                                </m:r>
                              </m:sub>
                              <m:sup>
                                <m:sSub>
                                  <m:sSubPr>
                                    <m:ctrlPr>
                                      <a:rPr lang="en-GB" sz="1400" b="1" i="1">
                                        <a:latin typeface="Cambria Math" panose="02040503050406030204" pitchFamily="18" charset="0"/>
                                      </a:rPr>
                                    </m:ctrlPr>
                                  </m:sSubPr>
                                  <m:e>
                                    <m:r>
                                      <a:rPr lang="en-GB" sz="1400" b="1" i="1">
                                        <a:latin typeface="Cambria Math"/>
                                      </a:rPr>
                                      <m:t>𝒏</m:t>
                                    </m:r>
                                  </m:e>
                                  <m:sub>
                                    <m:r>
                                      <a:rPr lang="en-GB" sz="1400" b="1" i="1">
                                        <a:latin typeface="Cambria Math"/>
                                      </a:rPr>
                                      <m:t>𝒋</m:t>
                                    </m:r>
                                  </m:sub>
                                </m:sSub>
                              </m:sup>
                              <m:e>
                                <m:sSup>
                                  <m:sSupPr>
                                    <m:ctrlPr>
                                      <a:rPr lang="en-GB" sz="1400" b="1" i="1" dirty="0">
                                        <a:solidFill>
                                          <a:schemeClr val="bg1"/>
                                        </a:solidFill>
                                        <a:latin typeface="Cambria Math" panose="02040503050406030204" pitchFamily="18" charset="0"/>
                                      </a:rPr>
                                    </m:ctrlPr>
                                  </m:sSupPr>
                                  <m:e>
                                    <m:d>
                                      <m:dPr>
                                        <m:ctrlPr>
                                          <a:rPr lang="en-GB" sz="1400" b="1" i="1" dirty="0">
                                            <a:solidFill>
                                              <a:schemeClr val="bg1"/>
                                            </a:solidFill>
                                            <a:latin typeface="Cambria Math" panose="02040503050406030204" pitchFamily="18" charset="0"/>
                                          </a:rPr>
                                        </m:ctrlPr>
                                      </m:dPr>
                                      <m:e>
                                        <m:sSub>
                                          <m:sSubPr>
                                            <m:ctrlPr>
                                              <a:rPr lang="en-GB" sz="1400" b="1" i="1" dirty="0">
                                                <a:solidFill>
                                                  <a:schemeClr val="bg1"/>
                                                </a:solidFill>
                                                <a:latin typeface="Cambria Math" panose="02040503050406030204" pitchFamily="18" charset="0"/>
                                              </a:rPr>
                                            </m:ctrlPr>
                                          </m:sSubPr>
                                          <m:e>
                                            <m:sSub>
                                              <m:sSubPr>
                                                <m:ctrlPr>
                                                  <a:rPr lang="en-GB" sz="1400" b="1" i="1" dirty="0">
                                                    <a:solidFill>
                                                      <a:schemeClr val="bg1"/>
                                                    </a:solidFill>
                                                    <a:latin typeface="Cambria Math" panose="02040503050406030204" pitchFamily="18" charset="0"/>
                                                  </a:rPr>
                                                </m:ctrlPr>
                                              </m:sSubPr>
                                              <m:e>
                                                <m:r>
                                                  <a:rPr lang="en-GB" sz="1400" b="1" i="1" dirty="0">
                                                    <a:solidFill>
                                                      <a:schemeClr val="bg1"/>
                                                    </a:solidFill>
                                                    <a:latin typeface="Cambria Math"/>
                                                  </a:rPr>
                                                  <m:t>𝑿</m:t>
                                                </m:r>
                                              </m:e>
                                              <m:sub>
                                                <m:r>
                                                  <a:rPr lang="en-GB" sz="1400" b="1" i="1" dirty="0">
                                                    <a:solidFill>
                                                      <a:schemeClr val="bg1"/>
                                                    </a:solidFill>
                                                    <a:latin typeface="Cambria Math"/>
                                                  </a:rPr>
                                                  <m:t>𝒊𝒋</m:t>
                                                </m:r>
                                              </m:sub>
                                            </m:sSub>
                                            <m:r>
                                              <a:rPr lang="en-GB" sz="1400" b="1" i="1" dirty="0">
                                                <a:solidFill>
                                                  <a:schemeClr val="bg1"/>
                                                </a:solidFill>
                                                <a:latin typeface="Cambria Math"/>
                                              </a:rPr>
                                              <m:t>−</m:t>
                                            </m:r>
                                            <m:acc>
                                              <m:accPr>
                                                <m:chr m:val="̅"/>
                                                <m:ctrlPr>
                                                  <a:rPr lang="en-GB" sz="1400" b="1" i="1" dirty="0">
                                                    <a:solidFill>
                                                      <a:schemeClr val="bg1"/>
                                                    </a:solidFill>
                                                    <a:latin typeface="Cambria Math" panose="02040503050406030204" pitchFamily="18" charset="0"/>
                                                  </a:rPr>
                                                </m:ctrlPr>
                                              </m:accPr>
                                              <m:e>
                                                <m:r>
                                                  <a:rPr lang="en-GB" sz="1400" b="1" i="1" dirty="0">
                                                    <a:solidFill>
                                                      <a:schemeClr val="bg1"/>
                                                    </a:solidFill>
                                                    <a:latin typeface="Cambria Math"/>
                                                  </a:rPr>
                                                  <m:t>𝑿</m:t>
                                                </m:r>
                                              </m:e>
                                            </m:acc>
                                          </m:e>
                                          <m:sub>
                                            <m:r>
                                              <a:rPr lang="en-GB" sz="1400" b="1" i="1" dirty="0">
                                                <a:solidFill>
                                                  <a:schemeClr val="bg1"/>
                                                </a:solidFill>
                                                <a:latin typeface="Cambria Math"/>
                                              </a:rPr>
                                              <m:t>𝒋</m:t>
                                            </m:r>
                                          </m:sub>
                                        </m:sSub>
                                      </m:e>
                                    </m:d>
                                  </m:e>
                                  <m:sup>
                                    <m:r>
                                      <a:rPr lang="en-GB" sz="1400" b="1" i="1" dirty="0">
                                        <a:solidFill>
                                          <a:schemeClr val="bg1"/>
                                        </a:solidFill>
                                        <a:latin typeface="Cambria Math"/>
                                      </a:rPr>
                                      <m:t>𝟐</m:t>
                                    </m:r>
                                  </m:sup>
                                </m:sSup>
                              </m:e>
                            </m:nary>
                            <m:r>
                              <m:rPr>
                                <m:nor/>
                              </m:rPr>
                              <a:rPr lang="en-GB" sz="1400" b="1" dirty="0"/>
                              <m:t> </m:t>
                            </m:r>
                          </m:e>
                        </m:nary>
                      </m:oMath>
                    </m:oMathPara>
                  </a14:m>
                  <a:endParaRPr lang="en-GB" sz="1400" b="1" dirty="0"/>
                </a:p>
              </p:txBody>
            </p:sp>
          </mc:Choice>
          <mc:Fallback xmlns="">
            <p:sp>
              <p:nvSpPr>
                <p:cNvPr id="14" name="Rectangular Callout 13"/>
                <p:cNvSpPr>
                  <a:spLocks noRot="1" noChangeAspect="1" noMove="1" noResize="1" noEditPoints="1" noAdjustHandles="1" noChangeArrowheads="1" noChangeShapeType="1" noTextEdit="1"/>
                </p:cNvSpPr>
                <p:nvPr/>
              </p:nvSpPr>
              <p:spPr>
                <a:xfrm>
                  <a:off x="324293" y="4572000"/>
                  <a:ext cx="1809307" cy="683418"/>
                </a:xfrm>
                <a:prstGeom prst="wedgeRectCallout">
                  <a:avLst>
                    <a:gd name="adj1" fmla="val 60660"/>
                    <a:gd name="adj2" fmla="val -98322"/>
                  </a:avLst>
                </a:prstGeom>
                <a:blipFill rotWithShape="1">
                  <a:blip r:embed="rId8"/>
                  <a:stretch>
                    <a:fillRect/>
                  </a:stretch>
                </a:blipFill>
              </p:spPr>
              <p:txBody>
                <a:bodyPr/>
                <a:lstStyle/>
                <a:p>
                  <a:r>
                    <a:rPr lang="en-GB">
                      <a:noFill/>
                    </a:rPr>
                    <a:t> </a:t>
                  </a:r>
                </a:p>
              </p:txBody>
            </p:sp>
          </mc:Fallback>
        </mc:AlternateContent>
      </p:grpSp>
    </p:spTree>
    <p:extLst>
      <p:ext uri="{BB962C8B-B14F-4D97-AF65-F5344CB8AC3E}">
        <p14:creationId xmlns:p14="http://schemas.microsoft.com/office/powerpoint/2010/main" val="562763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altLang="en-US" dirty="0"/>
              <a:t>Question 3</a:t>
            </a:r>
            <a:endParaRPr lang="en-GB" dirty="0"/>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762000"/>
            <a:ext cx="6481813" cy="34528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a:extLst>
              <a:ext uri="{FF2B5EF4-FFF2-40B4-BE49-F238E27FC236}">
                <a16:creationId xmlns:a16="http://schemas.microsoft.com/office/drawing/2014/main" id="{8C661239-0990-ADC7-160D-A8815E695727}"/>
              </a:ext>
            </a:extLst>
          </p:cNvPr>
          <p:cNvSpPr txBox="1">
            <a:spLocks/>
          </p:cNvSpPr>
          <p:nvPr/>
        </p:nvSpPr>
        <p:spPr>
          <a:xfrm>
            <a:off x="381000" y="4572000"/>
            <a:ext cx="8077200" cy="1981200"/>
          </a:xfrm>
          <a:prstGeom prst="rect">
            <a:avLst/>
          </a:prstGeom>
        </p:spPr>
        <p:txBody>
          <a:bodyPr vert="horz" lIns="91440" tIns="45720" rIns="91440" bIns="45720" rtlCol="0" anchor="t">
            <a:noAutofit/>
          </a:bodyPr>
          <a:lstStyle>
            <a:lvl1pPr algn="l" defTabSz="914400" rtl="0" eaLnBrk="1" latinLnBrk="0" hangingPunct="1">
              <a:spcBef>
                <a:spcPct val="0"/>
              </a:spcBef>
              <a:buNone/>
              <a:defRPr sz="3600" b="1" kern="1200">
                <a:solidFill>
                  <a:schemeClr val="tx1"/>
                </a:solidFill>
                <a:latin typeface="+mj-lt"/>
                <a:ea typeface="+mj-ea"/>
                <a:cs typeface="+mj-cs"/>
              </a:defRPr>
            </a:lvl1pPr>
          </a:lstStyle>
          <a:p>
            <a:r>
              <a:rPr lang="en-GB" sz="2400" b="0" dirty="0"/>
              <a:t>1) What is the null hypothesis for </a:t>
            </a:r>
            <a:r>
              <a:rPr lang="en-GB" sz="2400" b="0" dirty="0" err="1"/>
              <a:t>Levene’s</a:t>
            </a:r>
            <a:r>
              <a:rPr lang="en-GB" sz="2400" b="0" dirty="0"/>
              <a:t> test?</a:t>
            </a:r>
          </a:p>
          <a:p>
            <a:r>
              <a:rPr lang="en-GB" sz="2400" b="0" dirty="0"/>
              <a:t>2) What is the result of this </a:t>
            </a:r>
            <a:r>
              <a:rPr lang="en-GB" sz="2400" b="0" dirty="0" err="1"/>
              <a:t>Levene’s</a:t>
            </a:r>
            <a:r>
              <a:rPr lang="en-GB" sz="2400" b="0" dirty="0"/>
              <a:t> test?</a:t>
            </a:r>
          </a:p>
          <a:p>
            <a:r>
              <a:rPr lang="en-GB" sz="2400" b="0" dirty="0"/>
              <a:t>3) What is the null hypothesis for this test?</a:t>
            </a:r>
          </a:p>
          <a:p>
            <a:r>
              <a:rPr lang="en-GB" sz="2400" b="0" dirty="0"/>
              <a:t>4) What is the result of the test?</a:t>
            </a:r>
          </a:p>
          <a:p>
            <a:endParaRPr lang="en-GB" sz="2000" b="0" dirty="0"/>
          </a:p>
        </p:txBody>
      </p:sp>
    </p:spTree>
    <p:extLst>
      <p:ext uri="{BB962C8B-B14F-4D97-AF65-F5344CB8AC3E}">
        <p14:creationId xmlns:p14="http://schemas.microsoft.com/office/powerpoint/2010/main" val="36500997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altLang="en-US" dirty="0"/>
              <a:t>Question 3</a:t>
            </a:r>
            <a:endParaRPr lang="en-GB" dirty="0"/>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371600"/>
            <a:ext cx="6481813" cy="34528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6" name="Group 5"/>
          <p:cNvGrpSpPr/>
          <p:nvPr/>
        </p:nvGrpSpPr>
        <p:grpSpPr>
          <a:xfrm>
            <a:off x="4114799" y="3098006"/>
            <a:ext cx="838201" cy="1916906"/>
            <a:chOff x="4114799" y="2945606"/>
            <a:chExt cx="838201" cy="1916906"/>
          </a:xfrm>
        </p:grpSpPr>
        <mc:AlternateContent xmlns:mc="http://schemas.openxmlformats.org/markup-compatibility/2006" xmlns:a14="http://schemas.microsoft.com/office/drawing/2010/main">
          <mc:Choice Requires="a14">
            <p:sp>
              <p:nvSpPr>
                <p:cNvPr id="8" name="Rectangular Callout 7"/>
                <p:cNvSpPr/>
                <p:nvPr/>
              </p:nvSpPr>
              <p:spPr>
                <a:xfrm>
                  <a:off x="4114799" y="2945606"/>
                  <a:ext cx="838201" cy="381000"/>
                </a:xfrm>
                <a:prstGeom prst="wedgeRectCallout">
                  <a:avLst>
                    <a:gd name="adj1" fmla="val -87602"/>
                    <a:gd name="adj2" fmla="val 210873"/>
                  </a:avLst>
                </a:prstGeom>
                <a:solidFill>
                  <a:schemeClr val="tx2">
                    <a:lumMod val="20000"/>
                    <a:lumOff val="8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GB" sz="2000" b="1" i="1" dirty="0">
                            <a:solidFill>
                              <a:schemeClr val="tx1"/>
                            </a:solidFill>
                            <a:latin typeface="Cambria Math"/>
                          </a:rPr>
                          <m:t>𝒄</m:t>
                        </m:r>
                        <m:r>
                          <a:rPr lang="en-GB" sz="2000" b="1" i="1" dirty="0">
                            <a:solidFill>
                              <a:schemeClr val="tx1"/>
                            </a:solidFill>
                            <a:latin typeface="Cambria Math"/>
                          </a:rPr>
                          <m:t>−</m:t>
                        </m:r>
                        <m:r>
                          <a:rPr lang="en-GB" sz="2000" b="1" i="1" dirty="0">
                            <a:solidFill>
                              <a:schemeClr val="tx1"/>
                            </a:solidFill>
                            <a:latin typeface="Cambria Math"/>
                          </a:rPr>
                          <m:t>𝟏</m:t>
                        </m:r>
                      </m:oMath>
                    </m:oMathPara>
                  </a14:m>
                  <a:endParaRPr lang="en-GB" sz="2000" b="1" dirty="0">
                    <a:solidFill>
                      <a:schemeClr val="tx1"/>
                    </a:solidFill>
                  </a:endParaRPr>
                </a:p>
              </p:txBody>
            </p:sp>
          </mc:Choice>
          <mc:Fallback xmlns="">
            <p:sp>
              <p:nvSpPr>
                <p:cNvPr id="8" name="Rectangular Callout 7"/>
                <p:cNvSpPr>
                  <a:spLocks noRot="1" noChangeAspect="1" noMove="1" noResize="1" noEditPoints="1" noAdjustHandles="1" noChangeArrowheads="1" noChangeShapeType="1" noTextEdit="1"/>
                </p:cNvSpPr>
                <p:nvPr/>
              </p:nvSpPr>
              <p:spPr>
                <a:xfrm>
                  <a:off x="4114799" y="2945606"/>
                  <a:ext cx="838201" cy="381000"/>
                </a:xfrm>
                <a:prstGeom prst="wedgeRectCallout">
                  <a:avLst>
                    <a:gd name="adj1" fmla="val -87602"/>
                    <a:gd name="adj2" fmla="val 210873"/>
                  </a:avLst>
                </a:prstGeom>
                <a:blipFill rotWithShape="1">
                  <a:blip r:embed="rId4"/>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Rectangular Callout 11"/>
                <p:cNvSpPr/>
                <p:nvPr/>
              </p:nvSpPr>
              <p:spPr>
                <a:xfrm>
                  <a:off x="4114799" y="4481512"/>
                  <a:ext cx="838201" cy="381000"/>
                </a:xfrm>
                <a:prstGeom prst="wedgeRectCallout">
                  <a:avLst>
                    <a:gd name="adj1" fmla="val -88871"/>
                    <a:gd name="adj2" fmla="val -104477"/>
                  </a:avLst>
                </a:prstGeom>
                <a:solidFill>
                  <a:schemeClr val="tx2">
                    <a:lumMod val="20000"/>
                    <a:lumOff val="8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GB" sz="2000" b="1" i="1" dirty="0" smtClean="0">
                            <a:solidFill>
                              <a:schemeClr val="tx1"/>
                            </a:solidFill>
                            <a:latin typeface="Cambria Math"/>
                          </a:rPr>
                          <m:t>𝒏</m:t>
                        </m:r>
                        <m:r>
                          <a:rPr lang="en-GB" sz="2000" b="1" i="1" dirty="0">
                            <a:solidFill>
                              <a:schemeClr val="tx1"/>
                            </a:solidFill>
                            <a:latin typeface="Cambria Math"/>
                          </a:rPr>
                          <m:t>−</m:t>
                        </m:r>
                        <m:r>
                          <a:rPr lang="en-GB" sz="2000" b="1" i="1" dirty="0" smtClean="0">
                            <a:solidFill>
                              <a:schemeClr val="tx1"/>
                            </a:solidFill>
                            <a:latin typeface="Cambria Math"/>
                          </a:rPr>
                          <m:t>𝒄</m:t>
                        </m:r>
                      </m:oMath>
                    </m:oMathPara>
                  </a14:m>
                  <a:endParaRPr lang="en-GB" sz="2000" b="1" dirty="0">
                    <a:solidFill>
                      <a:schemeClr val="tx1"/>
                    </a:solidFill>
                  </a:endParaRPr>
                </a:p>
              </p:txBody>
            </p:sp>
          </mc:Choice>
          <mc:Fallback xmlns="">
            <p:sp>
              <p:nvSpPr>
                <p:cNvPr id="12" name="Rectangular Callout 11"/>
                <p:cNvSpPr>
                  <a:spLocks noRot="1" noChangeAspect="1" noMove="1" noResize="1" noEditPoints="1" noAdjustHandles="1" noChangeArrowheads="1" noChangeShapeType="1" noTextEdit="1"/>
                </p:cNvSpPr>
                <p:nvPr/>
              </p:nvSpPr>
              <p:spPr>
                <a:xfrm>
                  <a:off x="4114799" y="4481512"/>
                  <a:ext cx="838201" cy="381000"/>
                </a:xfrm>
                <a:prstGeom prst="wedgeRectCallout">
                  <a:avLst>
                    <a:gd name="adj1" fmla="val -88871"/>
                    <a:gd name="adj2" fmla="val -104477"/>
                  </a:avLst>
                </a:prstGeom>
                <a:blipFill rotWithShape="1">
                  <a:blip r:embed="rId5"/>
                  <a:stretch>
                    <a:fillRect/>
                  </a:stretch>
                </a:blipFill>
                <a:ln>
                  <a:noFill/>
                </a:ln>
              </p:spPr>
              <p:txBody>
                <a:bodyPr/>
                <a:lstStyle/>
                <a:p>
                  <a:r>
                    <a:rPr lang="en-GB">
                      <a:noFill/>
                    </a:rPr>
                    <a:t> </a:t>
                  </a:r>
                </a:p>
              </p:txBody>
            </p:sp>
          </mc:Fallback>
        </mc:AlternateContent>
      </p:grpSp>
      <p:grpSp>
        <p:nvGrpSpPr>
          <p:cNvPr id="5" name="Group 4"/>
          <p:cNvGrpSpPr/>
          <p:nvPr/>
        </p:nvGrpSpPr>
        <p:grpSpPr>
          <a:xfrm>
            <a:off x="324293" y="2895600"/>
            <a:ext cx="1809307" cy="2512218"/>
            <a:chOff x="324293" y="2743200"/>
            <a:chExt cx="1809307" cy="2512218"/>
          </a:xfrm>
        </p:grpSpPr>
        <mc:AlternateContent xmlns:mc="http://schemas.openxmlformats.org/markup-compatibility/2006" xmlns:a14="http://schemas.microsoft.com/office/drawing/2010/main">
          <mc:Choice Requires="a14">
            <p:sp>
              <p:nvSpPr>
                <p:cNvPr id="13" name="Rectangular Callout 12"/>
                <p:cNvSpPr/>
                <p:nvPr/>
              </p:nvSpPr>
              <p:spPr>
                <a:xfrm>
                  <a:off x="324293" y="2743200"/>
                  <a:ext cx="1809307" cy="583406"/>
                </a:xfrm>
                <a:prstGeom prst="wedgeRectCallout">
                  <a:avLst>
                    <a:gd name="adj1" fmla="val 57134"/>
                    <a:gd name="adj2" fmla="val 161361"/>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en-GB" sz="1600" b="1" i="1" dirty="0" smtClean="0">
                                <a:solidFill>
                                  <a:schemeClr val="bg1"/>
                                </a:solidFill>
                                <a:latin typeface="Cambria Math" panose="02040503050406030204" pitchFamily="18" charset="0"/>
                              </a:rPr>
                            </m:ctrlPr>
                          </m:naryPr>
                          <m:sub/>
                          <m:sup/>
                          <m:e>
                            <m:sSub>
                              <m:sSubPr>
                                <m:ctrlPr>
                                  <a:rPr lang="en-GB" sz="1600" b="1" i="1" dirty="0" smtClean="0">
                                    <a:solidFill>
                                      <a:schemeClr val="bg1"/>
                                    </a:solidFill>
                                    <a:latin typeface="Cambria Math" panose="02040503050406030204" pitchFamily="18" charset="0"/>
                                  </a:rPr>
                                </m:ctrlPr>
                              </m:sSubPr>
                              <m:e>
                                <m:r>
                                  <a:rPr lang="en-GB" sz="1600" b="1" i="1" dirty="0" smtClean="0">
                                    <a:solidFill>
                                      <a:schemeClr val="bg1"/>
                                    </a:solidFill>
                                    <a:latin typeface="Cambria Math"/>
                                  </a:rPr>
                                  <m:t>𝒏</m:t>
                                </m:r>
                              </m:e>
                              <m:sub>
                                <m:r>
                                  <a:rPr lang="en-GB" sz="1600" b="1" i="1" dirty="0" smtClean="0">
                                    <a:solidFill>
                                      <a:schemeClr val="bg1"/>
                                    </a:solidFill>
                                    <a:latin typeface="Cambria Math"/>
                                  </a:rPr>
                                  <m:t>𝒋</m:t>
                                </m:r>
                              </m:sub>
                            </m:sSub>
                            <m:sSup>
                              <m:sSupPr>
                                <m:ctrlPr>
                                  <a:rPr lang="en-GB" sz="1600" b="1" i="1" dirty="0" smtClean="0">
                                    <a:solidFill>
                                      <a:schemeClr val="bg1"/>
                                    </a:solidFill>
                                    <a:latin typeface="Cambria Math" panose="02040503050406030204" pitchFamily="18" charset="0"/>
                                  </a:rPr>
                                </m:ctrlPr>
                              </m:sSupPr>
                              <m:e>
                                <m:d>
                                  <m:dPr>
                                    <m:ctrlPr>
                                      <a:rPr lang="en-GB" sz="1600" b="1" i="1" dirty="0">
                                        <a:solidFill>
                                          <a:schemeClr val="bg1"/>
                                        </a:solidFill>
                                        <a:latin typeface="Cambria Math" panose="02040503050406030204" pitchFamily="18" charset="0"/>
                                      </a:rPr>
                                    </m:ctrlPr>
                                  </m:dPr>
                                  <m:e>
                                    <m:sSub>
                                      <m:sSubPr>
                                        <m:ctrlPr>
                                          <a:rPr lang="en-GB" sz="1600" b="1" i="1" dirty="0">
                                            <a:solidFill>
                                              <a:schemeClr val="bg1"/>
                                            </a:solidFill>
                                            <a:latin typeface="Cambria Math" panose="02040503050406030204" pitchFamily="18" charset="0"/>
                                          </a:rPr>
                                        </m:ctrlPr>
                                      </m:sSubPr>
                                      <m:e>
                                        <m:acc>
                                          <m:accPr>
                                            <m:chr m:val="̅"/>
                                            <m:ctrlPr>
                                              <a:rPr lang="en-GB" sz="1600" b="1" i="1" dirty="0">
                                                <a:solidFill>
                                                  <a:schemeClr val="bg1"/>
                                                </a:solidFill>
                                                <a:latin typeface="Cambria Math" panose="02040503050406030204" pitchFamily="18" charset="0"/>
                                              </a:rPr>
                                            </m:ctrlPr>
                                          </m:accPr>
                                          <m:e>
                                            <m:r>
                                              <a:rPr lang="en-GB" sz="1600" b="1" i="1" dirty="0">
                                                <a:solidFill>
                                                  <a:schemeClr val="bg1"/>
                                                </a:solidFill>
                                                <a:latin typeface="Cambria Math"/>
                                              </a:rPr>
                                              <m:t>𝑿</m:t>
                                            </m:r>
                                          </m:e>
                                        </m:acc>
                                      </m:e>
                                      <m:sub>
                                        <m:r>
                                          <a:rPr lang="en-GB" sz="1600" b="1" i="1" dirty="0">
                                            <a:solidFill>
                                              <a:schemeClr val="bg1"/>
                                            </a:solidFill>
                                            <a:latin typeface="Cambria Math"/>
                                          </a:rPr>
                                          <m:t>𝒋</m:t>
                                        </m:r>
                                      </m:sub>
                                    </m:sSub>
                                    <m:r>
                                      <a:rPr lang="en-GB" sz="1600" b="1" i="1" dirty="0">
                                        <a:solidFill>
                                          <a:schemeClr val="bg1"/>
                                        </a:solidFill>
                                        <a:latin typeface="Cambria Math"/>
                                      </a:rPr>
                                      <m:t>−</m:t>
                                    </m:r>
                                    <m:acc>
                                      <m:accPr>
                                        <m:chr m:val="̿"/>
                                        <m:ctrlPr>
                                          <a:rPr lang="en-GB" sz="1600" b="1" i="1" dirty="0">
                                            <a:solidFill>
                                              <a:schemeClr val="bg1"/>
                                            </a:solidFill>
                                            <a:latin typeface="Cambria Math" panose="02040503050406030204" pitchFamily="18" charset="0"/>
                                          </a:rPr>
                                        </m:ctrlPr>
                                      </m:accPr>
                                      <m:e>
                                        <m:r>
                                          <a:rPr lang="en-GB" sz="1600" b="1" i="1" dirty="0">
                                            <a:solidFill>
                                              <a:schemeClr val="bg1"/>
                                            </a:solidFill>
                                            <a:latin typeface="Cambria Math"/>
                                          </a:rPr>
                                          <m:t>𝑿</m:t>
                                        </m:r>
                                      </m:e>
                                    </m:acc>
                                  </m:e>
                                </m:d>
                              </m:e>
                              <m:sup>
                                <m:r>
                                  <a:rPr lang="en-GB" sz="1600" b="1" i="1" dirty="0" smtClean="0">
                                    <a:solidFill>
                                      <a:schemeClr val="bg1"/>
                                    </a:solidFill>
                                    <a:latin typeface="Cambria Math"/>
                                  </a:rPr>
                                  <m:t>𝟐</m:t>
                                </m:r>
                              </m:sup>
                            </m:sSup>
                          </m:e>
                        </m:nary>
                      </m:oMath>
                    </m:oMathPara>
                  </a14:m>
                  <a:endParaRPr lang="en-GB" sz="1600" b="1" dirty="0">
                    <a:solidFill>
                      <a:schemeClr val="bg1"/>
                    </a:solidFill>
                  </a:endParaRPr>
                </a:p>
              </p:txBody>
            </p:sp>
          </mc:Choice>
          <mc:Fallback xmlns="">
            <p:sp>
              <p:nvSpPr>
                <p:cNvPr id="13" name="Rectangular Callout 12"/>
                <p:cNvSpPr>
                  <a:spLocks noRot="1" noChangeAspect="1" noMove="1" noResize="1" noEditPoints="1" noAdjustHandles="1" noChangeArrowheads="1" noChangeShapeType="1" noTextEdit="1"/>
                </p:cNvSpPr>
                <p:nvPr/>
              </p:nvSpPr>
              <p:spPr>
                <a:xfrm>
                  <a:off x="324293" y="2743200"/>
                  <a:ext cx="1809307" cy="583406"/>
                </a:xfrm>
                <a:prstGeom prst="wedgeRectCallout">
                  <a:avLst>
                    <a:gd name="adj1" fmla="val 57134"/>
                    <a:gd name="adj2" fmla="val 161361"/>
                  </a:avLst>
                </a:prstGeom>
                <a:blipFill rotWithShape="1">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Rectangular Callout 13"/>
                <p:cNvSpPr/>
                <p:nvPr/>
              </p:nvSpPr>
              <p:spPr>
                <a:xfrm>
                  <a:off x="324293" y="4572000"/>
                  <a:ext cx="1809307" cy="683418"/>
                </a:xfrm>
                <a:prstGeom prst="wedgeRectCallout">
                  <a:avLst>
                    <a:gd name="adj1" fmla="val 60660"/>
                    <a:gd name="adj2" fmla="val -98322"/>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nary>
                          <m:naryPr>
                            <m:chr m:val="∑"/>
                            <m:ctrlPr>
                              <a:rPr lang="en-GB" sz="1400" b="1" i="1">
                                <a:latin typeface="Cambria Math" panose="02040503050406030204" pitchFamily="18" charset="0"/>
                              </a:rPr>
                            </m:ctrlPr>
                          </m:naryPr>
                          <m:sub>
                            <m:r>
                              <m:rPr>
                                <m:brk m:alnAt="23"/>
                              </m:rPr>
                              <a:rPr lang="en-GB" sz="1400" b="1" i="1">
                                <a:latin typeface="Cambria Math"/>
                              </a:rPr>
                              <m:t>𝒋</m:t>
                            </m:r>
                            <m:r>
                              <a:rPr lang="en-GB" sz="1400" b="1" i="1">
                                <a:latin typeface="Cambria Math"/>
                              </a:rPr>
                              <m:t>=</m:t>
                            </m:r>
                            <m:r>
                              <a:rPr lang="en-GB" sz="1400" b="1" i="1">
                                <a:latin typeface="Cambria Math"/>
                              </a:rPr>
                              <m:t>𝟏</m:t>
                            </m:r>
                          </m:sub>
                          <m:sup>
                            <m:r>
                              <a:rPr lang="en-GB" sz="1400" b="1" i="1">
                                <a:latin typeface="Cambria Math"/>
                              </a:rPr>
                              <m:t>𝒄</m:t>
                            </m:r>
                          </m:sup>
                          <m:e>
                            <m:nary>
                              <m:naryPr>
                                <m:chr m:val="∑"/>
                                <m:ctrlPr>
                                  <a:rPr lang="en-GB" sz="1400" b="1" i="1">
                                    <a:latin typeface="Cambria Math" panose="02040503050406030204" pitchFamily="18" charset="0"/>
                                  </a:rPr>
                                </m:ctrlPr>
                              </m:naryPr>
                              <m:sub>
                                <m:r>
                                  <a:rPr lang="en-GB" sz="1400" b="1" i="1">
                                    <a:latin typeface="Cambria Math"/>
                                  </a:rPr>
                                  <m:t>𝒊</m:t>
                                </m:r>
                                <m:r>
                                  <a:rPr lang="en-GB" sz="1400" b="1" i="1">
                                    <a:latin typeface="Cambria Math"/>
                                  </a:rPr>
                                  <m:t>=</m:t>
                                </m:r>
                                <m:r>
                                  <a:rPr lang="en-GB" sz="1400" b="1" i="1">
                                    <a:latin typeface="Cambria Math"/>
                                  </a:rPr>
                                  <m:t>𝟏</m:t>
                                </m:r>
                              </m:sub>
                              <m:sup>
                                <m:sSub>
                                  <m:sSubPr>
                                    <m:ctrlPr>
                                      <a:rPr lang="en-GB" sz="1400" b="1" i="1">
                                        <a:latin typeface="Cambria Math" panose="02040503050406030204" pitchFamily="18" charset="0"/>
                                      </a:rPr>
                                    </m:ctrlPr>
                                  </m:sSubPr>
                                  <m:e>
                                    <m:r>
                                      <a:rPr lang="en-GB" sz="1400" b="1" i="1">
                                        <a:latin typeface="Cambria Math"/>
                                      </a:rPr>
                                      <m:t>𝒏</m:t>
                                    </m:r>
                                  </m:e>
                                  <m:sub>
                                    <m:r>
                                      <a:rPr lang="en-GB" sz="1400" b="1" i="1">
                                        <a:latin typeface="Cambria Math"/>
                                      </a:rPr>
                                      <m:t>𝒋</m:t>
                                    </m:r>
                                  </m:sub>
                                </m:sSub>
                              </m:sup>
                              <m:e>
                                <m:sSup>
                                  <m:sSupPr>
                                    <m:ctrlPr>
                                      <a:rPr lang="en-GB" sz="1400" b="1" i="1" dirty="0">
                                        <a:solidFill>
                                          <a:schemeClr val="bg1"/>
                                        </a:solidFill>
                                        <a:latin typeface="Cambria Math" panose="02040503050406030204" pitchFamily="18" charset="0"/>
                                      </a:rPr>
                                    </m:ctrlPr>
                                  </m:sSupPr>
                                  <m:e>
                                    <m:d>
                                      <m:dPr>
                                        <m:ctrlPr>
                                          <a:rPr lang="en-GB" sz="1400" b="1" i="1" dirty="0">
                                            <a:solidFill>
                                              <a:schemeClr val="bg1"/>
                                            </a:solidFill>
                                            <a:latin typeface="Cambria Math" panose="02040503050406030204" pitchFamily="18" charset="0"/>
                                          </a:rPr>
                                        </m:ctrlPr>
                                      </m:dPr>
                                      <m:e>
                                        <m:sSub>
                                          <m:sSubPr>
                                            <m:ctrlPr>
                                              <a:rPr lang="en-GB" sz="1400" b="1" i="1" dirty="0">
                                                <a:solidFill>
                                                  <a:schemeClr val="bg1"/>
                                                </a:solidFill>
                                                <a:latin typeface="Cambria Math" panose="02040503050406030204" pitchFamily="18" charset="0"/>
                                              </a:rPr>
                                            </m:ctrlPr>
                                          </m:sSubPr>
                                          <m:e>
                                            <m:sSub>
                                              <m:sSubPr>
                                                <m:ctrlPr>
                                                  <a:rPr lang="en-GB" sz="1400" b="1" i="1" dirty="0">
                                                    <a:solidFill>
                                                      <a:schemeClr val="bg1"/>
                                                    </a:solidFill>
                                                    <a:latin typeface="Cambria Math" panose="02040503050406030204" pitchFamily="18" charset="0"/>
                                                  </a:rPr>
                                                </m:ctrlPr>
                                              </m:sSubPr>
                                              <m:e>
                                                <m:r>
                                                  <a:rPr lang="en-GB" sz="1400" b="1" i="1" dirty="0">
                                                    <a:solidFill>
                                                      <a:schemeClr val="bg1"/>
                                                    </a:solidFill>
                                                    <a:latin typeface="Cambria Math"/>
                                                  </a:rPr>
                                                  <m:t>𝑿</m:t>
                                                </m:r>
                                              </m:e>
                                              <m:sub>
                                                <m:r>
                                                  <a:rPr lang="en-GB" sz="1400" b="1" i="1" dirty="0">
                                                    <a:solidFill>
                                                      <a:schemeClr val="bg1"/>
                                                    </a:solidFill>
                                                    <a:latin typeface="Cambria Math"/>
                                                  </a:rPr>
                                                  <m:t>𝒊𝒋</m:t>
                                                </m:r>
                                              </m:sub>
                                            </m:sSub>
                                            <m:r>
                                              <a:rPr lang="en-GB" sz="1400" b="1" i="1" dirty="0">
                                                <a:solidFill>
                                                  <a:schemeClr val="bg1"/>
                                                </a:solidFill>
                                                <a:latin typeface="Cambria Math"/>
                                              </a:rPr>
                                              <m:t>−</m:t>
                                            </m:r>
                                            <m:acc>
                                              <m:accPr>
                                                <m:chr m:val="̅"/>
                                                <m:ctrlPr>
                                                  <a:rPr lang="en-GB" sz="1400" b="1" i="1" dirty="0">
                                                    <a:solidFill>
                                                      <a:schemeClr val="bg1"/>
                                                    </a:solidFill>
                                                    <a:latin typeface="Cambria Math" panose="02040503050406030204" pitchFamily="18" charset="0"/>
                                                  </a:rPr>
                                                </m:ctrlPr>
                                              </m:accPr>
                                              <m:e>
                                                <m:r>
                                                  <a:rPr lang="en-GB" sz="1400" b="1" i="1" dirty="0">
                                                    <a:solidFill>
                                                      <a:schemeClr val="bg1"/>
                                                    </a:solidFill>
                                                    <a:latin typeface="Cambria Math"/>
                                                  </a:rPr>
                                                  <m:t>𝑿</m:t>
                                                </m:r>
                                              </m:e>
                                            </m:acc>
                                          </m:e>
                                          <m:sub>
                                            <m:r>
                                              <a:rPr lang="en-GB" sz="1400" b="1" i="1" dirty="0">
                                                <a:solidFill>
                                                  <a:schemeClr val="bg1"/>
                                                </a:solidFill>
                                                <a:latin typeface="Cambria Math"/>
                                              </a:rPr>
                                              <m:t>𝒋</m:t>
                                            </m:r>
                                          </m:sub>
                                        </m:sSub>
                                      </m:e>
                                    </m:d>
                                  </m:e>
                                  <m:sup>
                                    <m:r>
                                      <a:rPr lang="en-GB" sz="1400" b="1" i="1" dirty="0">
                                        <a:solidFill>
                                          <a:schemeClr val="bg1"/>
                                        </a:solidFill>
                                        <a:latin typeface="Cambria Math"/>
                                      </a:rPr>
                                      <m:t>𝟐</m:t>
                                    </m:r>
                                  </m:sup>
                                </m:sSup>
                              </m:e>
                            </m:nary>
                            <m:r>
                              <m:rPr>
                                <m:nor/>
                              </m:rPr>
                              <a:rPr lang="en-GB" sz="1400" b="1" dirty="0"/>
                              <m:t> </m:t>
                            </m:r>
                          </m:e>
                        </m:nary>
                      </m:oMath>
                    </m:oMathPara>
                  </a14:m>
                  <a:endParaRPr lang="en-GB" sz="1400" b="1" dirty="0"/>
                </a:p>
              </p:txBody>
            </p:sp>
          </mc:Choice>
          <mc:Fallback xmlns="">
            <p:sp>
              <p:nvSpPr>
                <p:cNvPr id="14" name="Rectangular Callout 13"/>
                <p:cNvSpPr>
                  <a:spLocks noRot="1" noChangeAspect="1" noMove="1" noResize="1" noEditPoints="1" noAdjustHandles="1" noChangeArrowheads="1" noChangeShapeType="1" noTextEdit="1"/>
                </p:cNvSpPr>
                <p:nvPr/>
              </p:nvSpPr>
              <p:spPr>
                <a:xfrm>
                  <a:off x="324293" y="4572000"/>
                  <a:ext cx="1809307" cy="683418"/>
                </a:xfrm>
                <a:prstGeom prst="wedgeRectCallout">
                  <a:avLst>
                    <a:gd name="adj1" fmla="val 60660"/>
                    <a:gd name="adj2" fmla="val -98322"/>
                  </a:avLst>
                </a:prstGeom>
                <a:blipFill rotWithShape="1">
                  <a:blip r:embed="rId7"/>
                  <a:stretch>
                    <a:fillRect/>
                  </a:stretch>
                </a:blipFill>
              </p:spPr>
              <p:txBody>
                <a:bodyPr/>
                <a:lstStyle/>
                <a:p>
                  <a:r>
                    <a:rPr lang="en-GB">
                      <a:noFill/>
                    </a:rPr>
                    <a:t> </a:t>
                  </a:r>
                </a:p>
              </p:txBody>
            </p:sp>
          </mc:Fallback>
        </mc:AlternateContent>
      </p:grpSp>
      <p:grpSp>
        <p:nvGrpSpPr>
          <p:cNvPr id="18" name="Group 17"/>
          <p:cNvGrpSpPr/>
          <p:nvPr/>
        </p:nvGrpSpPr>
        <p:grpSpPr>
          <a:xfrm>
            <a:off x="3429000" y="711368"/>
            <a:ext cx="4803533" cy="2031832"/>
            <a:chOff x="3429000" y="558968"/>
            <a:chExt cx="4803533" cy="2031832"/>
          </a:xfrm>
        </p:grpSpPr>
        <p:sp>
          <p:nvSpPr>
            <p:cNvPr id="15" name="Rounded Rectangle 14"/>
            <p:cNvSpPr/>
            <p:nvPr/>
          </p:nvSpPr>
          <p:spPr>
            <a:xfrm>
              <a:off x="3429000" y="1905000"/>
              <a:ext cx="779469" cy="685800"/>
            </a:xfrm>
            <a:prstGeom prst="round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7" name="Text Box 8"/>
                <p:cNvSpPr txBox="1">
                  <a:spLocks noChangeArrowheads="1"/>
                </p:cNvSpPr>
                <p:nvPr/>
              </p:nvSpPr>
              <p:spPr bwMode="auto">
                <a:xfrm>
                  <a:off x="5070231" y="558968"/>
                  <a:ext cx="3162302" cy="1631216"/>
                </a:xfrm>
                <a:prstGeom prst="rect">
                  <a:avLst/>
                </a:prstGeom>
                <a:solidFill>
                  <a:schemeClr val="bg2"/>
                </a:solidFill>
                <a:ln>
                  <a:noFill/>
                </a:ln>
                <a:effectLst/>
              </p:spPr>
              <p:txBody>
                <a:bodyPr wrap="square">
                  <a:spAutoFit/>
                </a:bodyPr>
                <a:lstStyle/>
                <a:p>
                  <a:r>
                    <a:rPr lang="en-GB" altLang="en-US" sz="2000" b="1" dirty="0">
                      <a:solidFill>
                        <a:srgbClr val="FF0000"/>
                      </a:solidFill>
                    </a:rPr>
                    <a:t>1-2) </a:t>
                  </a:r>
                  <a14:m>
                    <m:oMath xmlns:m="http://schemas.openxmlformats.org/officeDocument/2006/math">
                      <m:sSub>
                        <m:sSubPr>
                          <m:ctrlPr>
                            <a:rPr lang="en-GB" sz="2000" b="1" i="1" dirty="0" smtClean="0">
                              <a:solidFill>
                                <a:srgbClr val="FF0000"/>
                              </a:solidFill>
                              <a:latin typeface="Cambria Math" panose="02040503050406030204" pitchFamily="18" charset="0"/>
                            </a:rPr>
                          </m:ctrlPr>
                        </m:sSubPr>
                        <m:e>
                          <m:r>
                            <a:rPr lang="en-GB" sz="2000" b="1" i="1" dirty="0" smtClean="0">
                              <a:solidFill>
                                <a:srgbClr val="FF0000"/>
                              </a:solidFill>
                              <a:latin typeface="Cambria Math" panose="02040503050406030204" pitchFamily="18" charset="0"/>
                            </a:rPr>
                            <m:t>𝑯</m:t>
                          </m:r>
                        </m:e>
                        <m:sub>
                          <m:r>
                            <a:rPr lang="en-GB" sz="2000" b="1" i="1" dirty="0" smtClean="0">
                              <a:solidFill>
                                <a:srgbClr val="FF0000"/>
                              </a:solidFill>
                              <a:latin typeface="Cambria Math" panose="02040503050406030204" pitchFamily="18" charset="0"/>
                            </a:rPr>
                            <m:t>𝟎</m:t>
                          </m:r>
                        </m:sub>
                      </m:sSub>
                    </m:oMath>
                  </a14:m>
                  <a:r>
                    <a:rPr lang="en-GB" altLang="en-US" sz="2000" b="1" dirty="0">
                      <a:solidFill>
                        <a:srgbClr val="FF0000"/>
                      </a:solidFill>
                    </a:rPr>
                    <a:t>: variances are equal</a:t>
                  </a:r>
                </a:p>
                <a:p>
                  <a:r>
                    <a:rPr lang="en-GB" altLang="en-US" sz="2000" b="1" dirty="0">
                      <a:solidFill>
                        <a:srgbClr val="FF0000"/>
                      </a:solidFill>
                    </a:rPr>
                    <a:t>p-value &gt; 0.05</a:t>
                  </a:r>
                </a:p>
                <a:p>
                  <a:r>
                    <a:rPr lang="en-GB" altLang="en-US" sz="2000" b="1" dirty="0">
                      <a:solidFill>
                        <a:srgbClr val="FF0000"/>
                      </a:solidFill>
                    </a:rPr>
                    <a:t>We do not have sufficient evidence that variances are different</a:t>
                  </a:r>
                  <a:endParaRPr lang="en-US" altLang="en-US" sz="2000" b="1" dirty="0">
                    <a:solidFill>
                      <a:srgbClr val="FF0000"/>
                    </a:solidFill>
                  </a:endParaRPr>
                </a:p>
              </p:txBody>
            </p:sp>
          </mc:Choice>
          <mc:Fallback xmlns="">
            <p:sp>
              <p:nvSpPr>
                <p:cNvPr id="17" name="Text Box 8"/>
                <p:cNvSpPr txBox="1">
                  <a:spLocks noRot="1" noChangeAspect="1" noMove="1" noResize="1" noEditPoints="1" noAdjustHandles="1" noChangeArrowheads="1" noChangeShapeType="1" noTextEdit="1"/>
                </p:cNvSpPr>
                <p:nvPr/>
              </p:nvSpPr>
              <p:spPr bwMode="auto">
                <a:xfrm>
                  <a:off x="5070231" y="558968"/>
                  <a:ext cx="3162302" cy="1631216"/>
                </a:xfrm>
                <a:prstGeom prst="rect">
                  <a:avLst/>
                </a:prstGeom>
                <a:blipFill>
                  <a:blip r:embed="rId8"/>
                  <a:stretch>
                    <a:fillRect l="-2124" t="-2247" r="-1737" b="-5993"/>
                  </a:stretch>
                </a:blipFill>
                <a:ln>
                  <a:noFill/>
                </a:ln>
                <a:effectLst/>
              </p:spPr>
              <p:txBody>
                <a:bodyPr/>
                <a:lstStyle/>
                <a:p>
                  <a:r>
                    <a:rPr lang="en-GB">
                      <a:noFill/>
                    </a:rPr>
                    <a:t> </a:t>
                  </a:r>
                </a:p>
              </p:txBody>
            </p:sp>
          </mc:Fallback>
        </mc:AlternateContent>
        <p:cxnSp>
          <p:nvCxnSpPr>
            <p:cNvPr id="16" name="Straight Arrow Connector 15"/>
            <p:cNvCxnSpPr>
              <a:stCxn id="15" idx="3"/>
              <a:endCxn id="17" idx="1"/>
            </p:cNvCxnSpPr>
            <p:nvPr/>
          </p:nvCxnSpPr>
          <p:spPr>
            <a:xfrm flipV="1">
              <a:off x="4208469" y="1374576"/>
              <a:ext cx="861762" cy="87332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7AE17C72-2756-1EE7-733F-D22C6D928849}"/>
              </a:ext>
            </a:extLst>
          </p:cNvPr>
          <p:cNvGrpSpPr/>
          <p:nvPr/>
        </p:nvGrpSpPr>
        <p:grpSpPr>
          <a:xfrm>
            <a:off x="4876800" y="3655218"/>
            <a:ext cx="3924302" cy="2931406"/>
            <a:chOff x="2428084" y="1905000"/>
            <a:chExt cx="3924302" cy="2931406"/>
          </a:xfrm>
        </p:grpSpPr>
        <p:sp>
          <p:nvSpPr>
            <p:cNvPr id="19" name="Rounded Rectangle 14">
              <a:extLst>
                <a:ext uri="{FF2B5EF4-FFF2-40B4-BE49-F238E27FC236}">
                  <a16:creationId xmlns:a16="http://schemas.microsoft.com/office/drawing/2014/main" id="{D3C61E8A-404C-60ED-CCF9-D9C4B3371925}"/>
                </a:ext>
              </a:extLst>
            </p:cNvPr>
            <p:cNvSpPr/>
            <p:nvPr/>
          </p:nvSpPr>
          <p:spPr>
            <a:xfrm>
              <a:off x="3429000" y="1905000"/>
              <a:ext cx="779469" cy="685800"/>
            </a:xfrm>
            <a:prstGeom prst="round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0" name="Text Box 8">
                  <a:extLst>
                    <a:ext uri="{FF2B5EF4-FFF2-40B4-BE49-F238E27FC236}">
                      <a16:creationId xmlns:a16="http://schemas.microsoft.com/office/drawing/2014/main" id="{C1639055-0AB6-EA01-7B06-3D0CB191A41D}"/>
                    </a:ext>
                  </a:extLst>
                </p:cNvPr>
                <p:cNvSpPr txBox="1">
                  <a:spLocks noChangeArrowheads="1"/>
                </p:cNvSpPr>
                <p:nvPr/>
              </p:nvSpPr>
              <p:spPr bwMode="auto">
                <a:xfrm>
                  <a:off x="2428084" y="3512967"/>
                  <a:ext cx="3924302" cy="1323439"/>
                </a:xfrm>
                <a:prstGeom prst="rect">
                  <a:avLst/>
                </a:prstGeom>
                <a:solidFill>
                  <a:schemeClr val="bg2"/>
                </a:solidFill>
                <a:ln>
                  <a:noFill/>
                </a:ln>
                <a:effectLst/>
              </p:spPr>
              <p:txBody>
                <a:bodyPr wrap="square">
                  <a:spAutoFit/>
                </a:bodyPr>
                <a:lstStyle/>
                <a:p>
                  <a:r>
                    <a:rPr lang="en-GB" altLang="en-US" sz="2000" b="1" dirty="0">
                      <a:solidFill>
                        <a:srgbClr val="FF0000"/>
                      </a:solidFill>
                    </a:rPr>
                    <a:t>3-4) </a:t>
                  </a:r>
                  <a14:m>
                    <m:oMath xmlns:m="http://schemas.openxmlformats.org/officeDocument/2006/math">
                      <m:sSub>
                        <m:sSubPr>
                          <m:ctrlPr>
                            <a:rPr lang="en-GB" sz="2000" b="1" i="1" dirty="0" smtClean="0">
                              <a:solidFill>
                                <a:srgbClr val="FF0000"/>
                              </a:solidFill>
                              <a:latin typeface="Cambria Math" panose="02040503050406030204" pitchFamily="18" charset="0"/>
                            </a:rPr>
                          </m:ctrlPr>
                        </m:sSubPr>
                        <m:e>
                          <m:r>
                            <a:rPr lang="en-GB" sz="2000" b="1" i="1" dirty="0" smtClean="0">
                              <a:solidFill>
                                <a:srgbClr val="FF0000"/>
                              </a:solidFill>
                              <a:latin typeface="Cambria Math" panose="02040503050406030204" pitchFamily="18" charset="0"/>
                            </a:rPr>
                            <m:t>𝑯</m:t>
                          </m:r>
                        </m:e>
                        <m:sub>
                          <m:r>
                            <a:rPr lang="en-GB" sz="2000" b="1" i="1" dirty="0" smtClean="0">
                              <a:solidFill>
                                <a:srgbClr val="FF0000"/>
                              </a:solidFill>
                              <a:latin typeface="Cambria Math" panose="02040503050406030204" pitchFamily="18" charset="0"/>
                            </a:rPr>
                            <m:t>𝟎</m:t>
                          </m:r>
                        </m:sub>
                      </m:sSub>
                      <m:r>
                        <a:rPr lang="en-GB" sz="2000" b="1" i="1" dirty="0" smtClean="0">
                          <a:solidFill>
                            <a:srgbClr val="FF0000"/>
                          </a:solidFill>
                          <a:latin typeface="Cambria Math" panose="02040503050406030204" pitchFamily="18" charset="0"/>
                        </a:rPr>
                        <m:t> </m:t>
                      </m:r>
                    </m:oMath>
                  </a14:m>
                  <a:r>
                    <a:rPr lang="en-GB" altLang="en-US" sz="2000" b="1" dirty="0">
                      <a:solidFill>
                        <a:srgbClr val="FF0000"/>
                      </a:solidFill>
                    </a:rPr>
                    <a:t>: mean values are equal</a:t>
                  </a:r>
                </a:p>
                <a:p>
                  <a:r>
                    <a:rPr lang="en-GB" altLang="en-US" sz="2000" b="1" dirty="0">
                      <a:solidFill>
                        <a:srgbClr val="FF0000"/>
                      </a:solidFill>
                    </a:rPr>
                    <a:t>p-value &gt; 0.05</a:t>
                  </a:r>
                </a:p>
                <a:p>
                  <a:r>
                    <a:rPr lang="en-GB" altLang="en-US" sz="2000" b="1" dirty="0">
                      <a:solidFill>
                        <a:srgbClr val="FF0000"/>
                      </a:solidFill>
                    </a:rPr>
                    <a:t>We do not have sufficient evidence that mean values are different</a:t>
                  </a:r>
                  <a:endParaRPr lang="en-US" altLang="en-US" sz="2000" b="1" dirty="0">
                    <a:solidFill>
                      <a:srgbClr val="FF0000"/>
                    </a:solidFill>
                  </a:endParaRPr>
                </a:p>
              </p:txBody>
            </p:sp>
          </mc:Choice>
          <mc:Fallback xmlns="">
            <p:sp>
              <p:nvSpPr>
                <p:cNvPr id="20" name="Text Box 8">
                  <a:extLst>
                    <a:ext uri="{FF2B5EF4-FFF2-40B4-BE49-F238E27FC236}">
                      <a16:creationId xmlns:a16="http://schemas.microsoft.com/office/drawing/2014/main" id="{C1639055-0AB6-EA01-7B06-3D0CB191A41D}"/>
                    </a:ext>
                  </a:extLst>
                </p:cNvPr>
                <p:cNvSpPr txBox="1">
                  <a:spLocks noRot="1" noChangeAspect="1" noMove="1" noResize="1" noEditPoints="1" noAdjustHandles="1" noChangeArrowheads="1" noChangeShapeType="1" noTextEdit="1"/>
                </p:cNvSpPr>
                <p:nvPr/>
              </p:nvSpPr>
              <p:spPr bwMode="auto">
                <a:xfrm>
                  <a:off x="2428084" y="3512967"/>
                  <a:ext cx="3924302" cy="1323439"/>
                </a:xfrm>
                <a:prstGeom prst="rect">
                  <a:avLst/>
                </a:prstGeom>
                <a:blipFill>
                  <a:blip r:embed="rId9"/>
                  <a:stretch>
                    <a:fillRect l="-1553" t="-2304" r="-1863" b="-7373"/>
                  </a:stretch>
                </a:blipFill>
                <a:ln>
                  <a:noFill/>
                </a:ln>
                <a:effectLst/>
              </p:spPr>
              <p:txBody>
                <a:bodyPr/>
                <a:lstStyle/>
                <a:p>
                  <a:r>
                    <a:rPr lang="en-GB">
                      <a:noFill/>
                    </a:rPr>
                    <a:t> </a:t>
                  </a:r>
                </a:p>
              </p:txBody>
            </p:sp>
          </mc:Fallback>
        </mc:AlternateContent>
        <p:cxnSp>
          <p:nvCxnSpPr>
            <p:cNvPr id="21" name="Straight Arrow Connector 20">
              <a:extLst>
                <a:ext uri="{FF2B5EF4-FFF2-40B4-BE49-F238E27FC236}">
                  <a16:creationId xmlns:a16="http://schemas.microsoft.com/office/drawing/2014/main" id="{CF4711E9-6914-136A-5821-B34542F48060}"/>
                </a:ext>
              </a:extLst>
            </p:cNvPr>
            <p:cNvCxnSpPr>
              <a:cxnSpLocks/>
              <a:stCxn id="19" idx="2"/>
              <a:endCxn id="20" idx="0"/>
            </p:cNvCxnSpPr>
            <p:nvPr/>
          </p:nvCxnSpPr>
          <p:spPr>
            <a:xfrm>
              <a:off x="3818735" y="2590800"/>
              <a:ext cx="571500" cy="922167"/>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55723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CA908-2AA6-40F0-A803-BBE642B257BA}"/>
              </a:ext>
            </a:extLst>
          </p:cNvPr>
          <p:cNvSpPr>
            <a:spLocks noGrp="1"/>
          </p:cNvSpPr>
          <p:nvPr>
            <p:ph type="title"/>
          </p:nvPr>
        </p:nvSpPr>
        <p:spPr/>
        <p:txBody>
          <a:bodyPr/>
          <a:lstStyle/>
          <a:p>
            <a:r>
              <a:rPr lang="en-GB" dirty="0"/>
              <a:t>Recall</a:t>
            </a:r>
          </a:p>
        </p:txBody>
      </p:sp>
      <p:sp>
        <p:nvSpPr>
          <p:cNvPr id="3" name="Rectangle 2">
            <a:extLst>
              <a:ext uri="{FF2B5EF4-FFF2-40B4-BE49-F238E27FC236}">
                <a16:creationId xmlns:a16="http://schemas.microsoft.com/office/drawing/2014/main" id="{1CFF4743-0FA5-421F-8451-197B0345391F}"/>
              </a:ext>
            </a:extLst>
          </p:cNvPr>
          <p:cNvSpPr/>
          <p:nvPr/>
        </p:nvSpPr>
        <p:spPr>
          <a:xfrm>
            <a:off x="457200" y="1371600"/>
            <a:ext cx="8229600" cy="1477328"/>
          </a:xfrm>
          <a:prstGeom prst="rect">
            <a:avLst/>
          </a:prstGeom>
        </p:spPr>
        <p:txBody>
          <a:bodyPr wrap="square">
            <a:spAutoFit/>
          </a:bodyPr>
          <a:lstStyle/>
          <a:p>
            <a:pPr algn="just"/>
            <a:r>
              <a:rPr lang="en-US" b="1" dirty="0"/>
              <a:t>We use </a:t>
            </a:r>
            <a:r>
              <a:rPr lang="en-US" b="1" dirty="0" err="1"/>
              <a:t>Levene’s</a:t>
            </a:r>
            <a:r>
              <a:rPr lang="en-US" b="1" dirty="0"/>
              <a:t> test to decide which multiple comparisons to use. If the result of the test is not significant (we cannot reject the null hypothesis that the variances in the groups are equal) we use Bonferroni, if it is significant we use Games-Howell</a:t>
            </a:r>
            <a:endParaRPr lang="en-GB" b="1" dirty="0">
              <a:solidFill>
                <a:srgbClr val="0B0318"/>
              </a:solidFill>
              <a:latin typeface="Roboto Slab"/>
            </a:endParaRPr>
          </a:p>
          <a:p>
            <a:pPr algn="just"/>
            <a:endParaRPr lang="en-GB" b="1" dirty="0">
              <a:solidFill>
                <a:srgbClr val="0B0318"/>
              </a:solidFill>
              <a:latin typeface="Roboto Slab"/>
            </a:endParaRPr>
          </a:p>
          <a:p>
            <a:pPr algn="just"/>
            <a:r>
              <a:rPr lang="en-GB" dirty="0">
                <a:solidFill>
                  <a:srgbClr val="0B0318"/>
                </a:solidFill>
                <a:latin typeface="Roboto Slab"/>
              </a:rPr>
              <a:t>Check the course textbook for “</a:t>
            </a:r>
            <a:r>
              <a:rPr lang="en-GB" dirty="0" err="1">
                <a:solidFill>
                  <a:srgbClr val="0B0318"/>
                </a:solidFill>
                <a:latin typeface="Roboto Slab"/>
              </a:rPr>
              <a:t>Levene</a:t>
            </a:r>
            <a:r>
              <a:rPr lang="en-GB" dirty="0">
                <a:solidFill>
                  <a:srgbClr val="0B0318"/>
                </a:solidFill>
                <a:latin typeface="Roboto Slab"/>
              </a:rPr>
              <a:t> test for homogeneity of variance”</a:t>
            </a:r>
            <a:endParaRPr lang="en-GB" dirty="0"/>
          </a:p>
        </p:txBody>
      </p:sp>
    </p:spTree>
    <p:extLst>
      <p:ext uri="{BB962C8B-B14F-4D97-AF65-F5344CB8AC3E}">
        <p14:creationId xmlns:p14="http://schemas.microsoft.com/office/powerpoint/2010/main" val="23619032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272" y="76200"/>
            <a:ext cx="8610600" cy="53654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GB" altLang="en-US" dirty="0"/>
              <a:t>ANOVA Example 3</a:t>
            </a:r>
            <a:endParaRPr lang="en-GB" dirty="0"/>
          </a:p>
        </p:txBody>
      </p:sp>
      <p:sp>
        <p:nvSpPr>
          <p:cNvPr id="9" name="Rounded Rectangle 8"/>
          <p:cNvSpPr/>
          <p:nvPr/>
        </p:nvSpPr>
        <p:spPr>
          <a:xfrm>
            <a:off x="8153400" y="762000"/>
            <a:ext cx="644396" cy="490574"/>
          </a:xfrm>
          <a:prstGeom prst="roundRect">
            <a:avLst/>
          </a:prstGeom>
          <a:solidFill>
            <a:srgbClr val="FF0000">
              <a:alpha val="12941"/>
            </a:srgb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ounded Rectangle 11"/>
          <p:cNvSpPr/>
          <p:nvPr/>
        </p:nvSpPr>
        <p:spPr>
          <a:xfrm>
            <a:off x="381000" y="3810000"/>
            <a:ext cx="1219200" cy="490574"/>
          </a:xfrm>
          <a:prstGeom prst="roundRect">
            <a:avLst/>
          </a:prstGeom>
          <a:solidFill>
            <a:srgbClr val="FF0000">
              <a:alpha val="12941"/>
            </a:srgb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F60C246D-AA4D-D009-AD23-156D9039EFFF}"/>
              </a:ext>
            </a:extLst>
          </p:cNvPr>
          <p:cNvSpPr txBox="1"/>
          <p:nvPr/>
        </p:nvSpPr>
        <p:spPr>
          <a:xfrm>
            <a:off x="381000" y="809900"/>
            <a:ext cx="2808885" cy="442674"/>
          </a:xfrm>
          <a:prstGeom prst="wedgeRoundRectCallout">
            <a:avLst>
              <a:gd name="adj1" fmla="val -38275"/>
              <a:gd name="adj2" fmla="val 356484"/>
              <a:gd name="adj3" fmla="val 16667"/>
            </a:avLst>
          </a:prstGeom>
        </p:spPr>
        <p:style>
          <a:lnRef idx="2">
            <a:schemeClr val="accent3"/>
          </a:lnRef>
          <a:fillRef idx="1">
            <a:schemeClr val="lt1"/>
          </a:fillRef>
          <a:effectRef idx="0">
            <a:schemeClr val="accent3"/>
          </a:effectRef>
          <a:fontRef idx="minor">
            <a:schemeClr val="dk1"/>
          </a:fontRef>
        </p:style>
        <p:txBody>
          <a:bodyPr wrap="none" rtlCol="0">
            <a:spAutoFit/>
          </a:bodyPr>
          <a:lstStyle/>
          <a:p>
            <a:r>
              <a:rPr lang="en-GB" sz="2000" dirty="0"/>
              <a:t>Equal variances assumed</a:t>
            </a:r>
          </a:p>
        </p:txBody>
      </p:sp>
      <p:sp>
        <p:nvSpPr>
          <p:cNvPr id="7" name="TextBox 6">
            <a:extLst>
              <a:ext uri="{FF2B5EF4-FFF2-40B4-BE49-F238E27FC236}">
                <a16:creationId xmlns:a16="http://schemas.microsoft.com/office/drawing/2014/main" id="{62611CD4-C74A-7D29-0DE8-20C7F7FA5D6E}"/>
              </a:ext>
            </a:extLst>
          </p:cNvPr>
          <p:cNvSpPr txBox="1"/>
          <p:nvPr/>
        </p:nvSpPr>
        <p:spPr>
          <a:xfrm>
            <a:off x="507340" y="5732659"/>
            <a:ext cx="3226460" cy="442674"/>
          </a:xfrm>
          <a:prstGeom prst="wedgeRoundRectCallout">
            <a:avLst>
              <a:gd name="adj1" fmla="val -39728"/>
              <a:gd name="adj2" fmla="val -387672"/>
              <a:gd name="adj3" fmla="val 16667"/>
            </a:avLst>
          </a:prstGeom>
        </p:spPr>
        <p:style>
          <a:lnRef idx="2">
            <a:schemeClr val="accent3"/>
          </a:lnRef>
          <a:fillRef idx="1">
            <a:schemeClr val="lt1"/>
          </a:fillRef>
          <a:effectRef idx="0">
            <a:schemeClr val="accent3"/>
          </a:effectRef>
          <a:fontRef idx="minor">
            <a:schemeClr val="dk1"/>
          </a:fontRef>
        </p:style>
        <p:txBody>
          <a:bodyPr wrap="none" rtlCol="0">
            <a:spAutoFit/>
          </a:bodyPr>
          <a:lstStyle/>
          <a:p>
            <a:r>
              <a:rPr lang="en-GB" sz="2000" dirty="0"/>
              <a:t>Equal variances not assumed</a:t>
            </a:r>
          </a:p>
        </p:txBody>
      </p:sp>
      <p:sp>
        <p:nvSpPr>
          <p:cNvPr id="8" name="TextBox 7">
            <a:extLst>
              <a:ext uri="{FF2B5EF4-FFF2-40B4-BE49-F238E27FC236}">
                <a16:creationId xmlns:a16="http://schemas.microsoft.com/office/drawing/2014/main" id="{50298CD6-E0F6-882D-9CC0-859F88FF437B}"/>
              </a:ext>
            </a:extLst>
          </p:cNvPr>
          <p:cNvSpPr txBox="1"/>
          <p:nvPr/>
        </p:nvSpPr>
        <p:spPr>
          <a:xfrm>
            <a:off x="5638891" y="1416367"/>
            <a:ext cx="2406638" cy="715089"/>
          </a:xfrm>
          <a:prstGeom prst="wedgeRoundRectCallout">
            <a:avLst>
              <a:gd name="adj1" fmla="val 58969"/>
              <a:gd name="adj2" fmla="val -101662"/>
              <a:gd name="adj3" fmla="val 16667"/>
            </a:avLst>
          </a:prstGeom>
        </p:spPr>
        <p:style>
          <a:lnRef idx="2">
            <a:schemeClr val="accent3"/>
          </a:lnRef>
          <a:fillRef idx="1">
            <a:schemeClr val="lt1"/>
          </a:fillRef>
          <a:effectRef idx="0">
            <a:schemeClr val="accent3"/>
          </a:effectRef>
          <a:fontRef idx="minor">
            <a:schemeClr val="dk1"/>
          </a:fontRef>
        </p:style>
        <p:txBody>
          <a:bodyPr wrap="none" rtlCol="0">
            <a:spAutoFit/>
          </a:bodyPr>
          <a:lstStyle/>
          <a:p>
            <a:r>
              <a:rPr lang="en-GB" dirty="0"/>
              <a:t>p-value &lt; 0.05</a:t>
            </a:r>
          </a:p>
          <a:p>
            <a:r>
              <a:rPr lang="en-GB" dirty="0"/>
              <a:t>variances are different</a:t>
            </a:r>
          </a:p>
        </p:txBody>
      </p:sp>
    </p:spTree>
    <p:extLst>
      <p:ext uri="{BB962C8B-B14F-4D97-AF65-F5344CB8AC3E}">
        <p14:creationId xmlns:p14="http://schemas.microsoft.com/office/powerpoint/2010/main" val="2485637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5" grpId="0" animBg="1"/>
      <p:bldP spid="7" grpId="0" animBg="1"/>
      <p:bldP spid="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272" y="44767"/>
            <a:ext cx="8610600" cy="53654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GB" altLang="en-US" dirty="0"/>
              <a:t>Question 4</a:t>
            </a:r>
            <a:endParaRPr lang="en-GB" dirty="0"/>
          </a:p>
        </p:txBody>
      </p:sp>
      <p:sp>
        <p:nvSpPr>
          <p:cNvPr id="3" name="Rounded Rectangle 11">
            <a:extLst>
              <a:ext uri="{FF2B5EF4-FFF2-40B4-BE49-F238E27FC236}">
                <a16:creationId xmlns:a16="http://schemas.microsoft.com/office/drawing/2014/main" id="{2DDC2066-C9C2-E2A2-F000-DE29E6BB3FC0}"/>
              </a:ext>
            </a:extLst>
          </p:cNvPr>
          <p:cNvSpPr/>
          <p:nvPr/>
        </p:nvSpPr>
        <p:spPr>
          <a:xfrm>
            <a:off x="1447800" y="3886200"/>
            <a:ext cx="2362200" cy="1295400"/>
          </a:xfrm>
          <a:prstGeom prst="roundRect">
            <a:avLst/>
          </a:prstGeom>
          <a:solidFill>
            <a:srgbClr val="FF0000">
              <a:alpha val="12941"/>
            </a:srgb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ed Rectangle 11">
            <a:extLst>
              <a:ext uri="{FF2B5EF4-FFF2-40B4-BE49-F238E27FC236}">
                <a16:creationId xmlns:a16="http://schemas.microsoft.com/office/drawing/2014/main" id="{A00437DA-8E57-AFDE-D402-633BEC72F1F1}"/>
              </a:ext>
            </a:extLst>
          </p:cNvPr>
          <p:cNvSpPr/>
          <p:nvPr/>
        </p:nvSpPr>
        <p:spPr>
          <a:xfrm>
            <a:off x="5534736" y="3892062"/>
            <a:ext cx="838200" cy="1295400"/>
          </a:xfrm>
          <a:prstGeom prst="roundRect">
            <a:avLst/>
          </a:prstGeom>
          <a:solidFill>
            <a:srgbClr val="FF0000">
              <a:alpha val="12941"/>
            </a:srgb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1">
            <a:extLst>
              <a:ext uri="{FF2B5EF4-FFF2-40B4-BE49-F238E27FC236}">
                <a16:creationId xmlns:a16="http://schemas.microsoft.com/office/drawing/2014/main" id="{F72AE6C4-E551-82C8-23A7-45B544A76D47}"/>
              </a:ext>
            </a:extLst>
          </p:cNvPr>
          <p:cNvSpPr txBox="1">
            <a:spLocks/>
          </p:cNvSpPr>
          <p:nvPr/>
        </p:nvSpPr>
        <p:spPr>
          <a:xfrm>
            <a:off x="381000" y="5606561"/>
            <a:ext cx="8077200" cy="1556239"/>
          </a:xfrm>
          <a:prstGeom prst="rect">
            <a:avLst/>
          </a:prstGeom>
        </p:spPr>
        <p:txBody>
          <a:bodyPr vert="horz" lIns="91440" tIns="45720" rIns="91440" bIns="45720" rtlCol="0" anchor="t">
            <a:noAutofit/>
          </a:bodyPr>
          <a:lstStyle>
            <a:lvl1pPr algn="l" defTabSz="914400" rtl="0" eaLnBrk="1" latinLnBrk="0" hangingPunct="1">
              <a:spcBef>
                <a:spcPct val="0"/>
              </a:spcBef>
              <a:buNone/>
              <a:defRPr sz="3600" b="1" kern="1200">
                <a:solidFill>
                  <a:schemeClr val="tx1"/>
                </a:solidFill>
                <a:latin typeface="+mj-lt"/>
                <a:ea typeface="+mj-ea"/>
                <a:cs typeface="+mj-cs"/>
              </a:defRPr>
            </a:lvl1pPr>
          </a:lstStyle>
          <a:p>
            <a:r>
              <a:rPr lang="en-GB" sz="2400" b="0" dirty="0"/>
              <a:t>What can we conclude from the red areas?</a:t>
            </a:r>
            <a:endParaRPr lang="en-GB" sz="2000" b="0" dirty="0"/>
          </a:p>
        </p:txBody>
      </p:sp>
    </p:spTree>
    <p:extLst>
      <p:ext uri="{BB962C8B-B14F-4D97-AF65-F5344CB8AC3E}">
        <p14:creationId xmlns:p14="http://schemas.microsoft.com/office/powerpoint/2010/main" val="26836275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26149"/>
          <a:stretch/>
        </p:blipFill>
        <p:spPr bwMode="auto">
          <a:xfrm>
            <a:off x="325272" y="1600200"/>
            <a:ext cx="8610600" cy="3962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GB" altLang="en-US" dirty="0"/>
              <a:t>Question 4</a:t>
            </a:r>
            <a:endParaRPr lang="en-GB" dirty="0"/>
          </a:p>
        </p:txBody>
      </p:sp>
      <p:sp>
        <p:nvSpPr>
          <p:cNvPr id="4" name="Rounded Rectangle 11">
            <a:extLst>
              <a:ext uri="{FF2B5EF4-FFF2-40B4-BE49-F238E27FC236}">
                <a16:creationId xmlns:a16="http://schemas.microsoft.com/office/drawing/2014/main" id="{A00437DA-8E57-AFDE-D402-633BEC72F1F1}"/>
              </a:ext>
            </a:extLst>
          </p:cNvPr>
          <p:cNvSpPr/>
          <p:nvPr/>
        </p:nvSpPr>
        <p:spPr>
          <a:xfrm>
            <a:off x="5534736" y="4095232"/>
            <a:ext cx="838200" cy="222738"/>
          </a:xfrm>
          <a:prstGeom prst="roundRect">
            <a:avLst/>
          </a:prstGeom>
          <a:solidFill>
            <a:srgbClr val="FF0000">
              <a:alpha val="12941"/>
            </a:srgb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up 10">
            <a:extLst>
              <a:ext uri="{FF2B5EF4-FFF2-40B4-BE49-F238E27FC236}">
                <a16:creationId xmlns:a16="http://schemas.microsoft.com/office/drawing/2014/main" id="{E5507F45-373A-1FC0-018E-C41D09F6ED26}"/>
              </a:ext>
            </a:extLst>
          </p:cNvPr>
          <p:cNvGrpSpPr/>
          <p:nvPr/>
        </p:nvGrpSpPr>
        <p:grpSpPr>
          <a:xfrm>
            <a:off x="3200400" y="118499"/>
            <a:ext cx="5052646" cy="3976733"/>
            <a:chOff x="751684" y="-1631719"/>
            <a:chExt cx="5052646" cy="3976733"/>
          </a:xfrm>
        </p:grpSpPr>
        <mc:AlternateContent xmlns:mc="http://schemas.openxmlformats.org/markup-compatibility/2006" xmlns:a14="http://schemas.microsoft.com/office/drawing/2010/main">
          <mc:Choice Requires="a14">
            <p:sp>
              <p:nvSpPr>
                <p:cNvPr id="13" name="Text Box 8">
                  <a:extLst>
                    <a:ext uri="{FF2B5EF4-FFF2-40B4-BE49-F238E27FC236}">
                      <a16:creationId xmlns:a16="http://schemas.microsoft.com/office/drawing/2014/main" id="{9F176D40-EB29-B4FC-149B-BBFACDF71260}"/>
                    </a:ext>
                  </a:extLst>
                </p:cNvPr>
                <p:cNvSpPr txBox="1">
                  <a:spLocks noChangeArrowheads="1"/>
                </p:cNvSpPr>
                <p:nvPr/>
              </p:nvSpPr>
              <p:spPr bwMode="auto">
                <a:xfrm>
                  <a:off x="751684" y="-1631719"/>
                  <a:ext cx="5052646" cy="1323439"/>
                </a:xfrm>
                <a:prstGeom prst="rect">
                  <a:avLst/>
                </a:prstGeom>
                <a:solidFill>
                  <a:schemeClr val="bg2"/>
                </a:solidFill>
                <a:ln>
                  <a:noFill/>
                </a:ln>
                <a:effectLst/>
              </p:spPr>
              <p:txBody>
                <a:bodyPr wrap="square">
                  <a:spAutoFit/>
                </a:bodyPr>
                <a:lstStyle/>
                <a:p>
                  <a14:m>
                    <m:oMath xmlns:m="http://schemas.openxmlformats.org/officeDocument/2006/math">
                      <m:sSub>
                        <m:sSubPr>
                          <m:ctrlPr>
                            <a:rPr lang="en-GB" sz="2000" b="1" i="1" dirty="0" smtClean="0">
                              <a:solidFill>
                                <a:srgbClr val="FF0000"/>
                              </a:solidFill>
                              <a:latin typeface="Cambria Math" panose="02040503050406030204" pitchFamily="18" charset="0"/>
                            </a:rPr>
                          </m:ctrlPr>
                        </m:sSubPr>
                        <m:e>
                          <m:r>
                            <a:rPr lang="en-GB" sz="2000" b="1" i="1" dirty="0" smtClean="0">
                              <a:solidFill>
                                <a:srgbClr val="FF0000"/>
                              </a:solidFill>
                              <a:latin typeface="Cambria Math" panose="02040503050406030204" pitchFamily="18" charset="0"/>
                            </a:rPr>
                            <m:t>𝑯</m:t>
                          </m:r>
                        </m:e>
                        <m:sub>
                          <m:r>
                            <a:rPr lang="en-GB" sz="2000" b="1" i="1" dirty="0" smtClean="0">
                              <a:solidFill>
                                <a:srgbClr val="FF0000"/>
                              </a:solidFill>
                              <a:latin typeface="Cambria Math" panose="02040503050406030204" pitchFamily="18" charset="0"/>
                            </a:rPr>
                            <m:t>𝟎</m:t>
                          </m:r>
                        </m:sub>
                      </m:sSub>
                      <m:r>
                        <a:rPr lang="en-GB" sz="2000" b="1" i="1" dirty="0" smtClean="0">
                          <a:solidFill>
                            <a:srgbClr val="FF0000"/>
                          </a:solidFill>
                          <a:latin typeface="Cambria Math" panose="02040503050406030204" pitchFamily="18" charset="0"/>
                        </a:rPr>
                        <m:t> </m:t>
                      </m:r>
                    </m:oMath>
                  </a14:m>
                  <a:r>
                    <a:rPr lang="en-GB" altLang="en-US" sz="2000" b="1" dirty="0">
                      <a:solidFill>
                        <a:srgbClr val="FF0000"/>
                      </a:solidFill>
                    </a:rPr>
                    <a:t>: mean values of group 1 and 2 are equal</a:t>
                  </a:r>
                </a:p>
                <a:p>
                  <a:r>
                    <a:rPr lang="en-GB" altLang="en-US" sz="2000" b="1" dirty="0">
                      <a:solidFill>
                        <a:srgbClr val="FF0000"/>
                      </a:solidFill>
                    </a:rPr>
                    <a:t>p-value &lt; 0.05</a:t>
                  </a:r>
                </a:p>
                <a:p>
                  <a:r>
                    <a:rPr lang="en-GB" altLang="en-US" sz="2000" b="1" dirty="0">
                      <a:solidFill>
                        <a:srgbClr val="FF0000"/>
                      </a:solidFill>
                    </a:rPr>
                    <a:t>We have sufficient evidence that mean values are different</a:t>
                  </a:r>
                  <a:endParaRPr lang="en-US" altLang="en-US" sz="2000" b="1" dirty="0">
                    <a:solidFill>
                      <a:srgbClr val="FF0000"/>
                    </a:solidFill>
                  </a:endParaRPr>
                </a:p>
              </p:txBody>
            </p:sp>
          </mc:Choice>
          <mc:Fallback xmlns="">
            <p:sp>
              <p:nvSpPr>
                <p:cNvPr id="13" name="Text Box 8">
                  <a:extLst>
                    <a:ext uri="{FF2B5EF4-FFF2-40B4-BE49-F238E27FC236}">
                      <a16:creationId xmlns:a16="http://schemas.microsoft.com/office/drawing/2014/main" id="{9F176D40-EB29-B4FC-149B-BBFACDF71260}"/>
                    </a:ext>
                  </a:extLst>
                </p:cNvPr>
                <p:cNvSpPr txBox="1">
                  <a:spLocks noRot="1" noChangeAspect="1" noMove="1" noResize="1" noEditPoints="1" noAdjustHandles="1" noChangeArrowheads="1" noChangeShapeType="1" noTextEdit="1"/>
                </p:cNvSpPr>
                <p:nvPr/>
              </p:nvSpPr>
              <p:spPr bwMode="auto">
                <a:xfrm>
                  <a:off x="751684" y="-1631719"/>
                  <a:ext cx="5052646" cy="1323439"/>
                </a:xfrm>
                <a:prstGeom prst="rect">
                  <a:avLst/>
                </a:prstGeom>
                <a:blipFill>
                  <a:blip r:embed="rId4"/>
                  <a:stretch>
                    <a:fillRect l="-1206" t="-2294" r="-1448" b="-6881"/>
                  </a:stretch>
                </a:blipFill>
                <a:ln>
                  <a:noFill/>
                </a:ln>
                <a:effectLst/>
              </p:spPr>
              <p:txBody>
                <a:bodyPr/>
                <a:lstStyle/>
                <a:p>
                  <a:r>
                    <a:rPr lang="en-GB">
                      <a:noFill/>
                    </a:rPr>
                    <a:t> </a:t>
                  </a:r>
                </a:p>
              </p:txBody>
            </p:sp>
          </mc:Fallback>
        </mc:AlternateContent>
        <p:cxnSp>
          <p:nvCxnSpPr>
            <p:cNvPr id="14" name="Straight Arrow Connector 13">
              <a:extLst>
                <a:ext uri="{FF2B5EF4-FFF2-40B4-BE49-F238E27FC236}">
                  <a16:creationId xmlns:a16="http://schemas.microsoft.com/office/drawing/2014/main" id="{CCB2B530-A9CB-5664-5642-DC4E7A40916F}"/>
                </a:ext>
              </a:extLst>
            </p:cNvPr>
            <p:cNvCxnSpPr>
              <a:cxnSpLocks/>
              <a:stCxn id="4" idx="0"/>
              <a:endCxn id="13" idx="2"/>
            </p:cNvCxnSpPr>
            <p:nvPr/>
          </p:nvCxnSpPr>
          <p:spPr>
            <a:xfrm flipH="1" flipV="1">
              <a:off x="3278007" y="-308280"/>
              <a:ext cx="227113" cy="265329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19" name="Rounded Rectangle 11">
            <a:extLst>
              <a:ext uri="{FF2B5EF4-FFF2-40B4-BE49-F238E27FC236}">
                <a16:creationId xmlns:a16="http://schemas.microsoft.com/office/drawing/2014/main" id="{6B4B89E6-DA82-427E-5BDA-F9DF5DC4B92E}"/>
              </a:ext>
            </a:extLst>
          </p:cNvPr>
          <p:cNvSpPr/>
          <p:nvPr/>
        </p:nvSpPr>
        <p:spPr>
          <a:xfrm>
            <a:off x="5534736" y="4704517"/>
            <a:ext cx="838200" cy="222738"/>
          </a:xfrm>
          <a:prstGeom prst="roundRect">
            <a:avLst/>
          </a:prstGeom>
          <a:solidFill>
            <a:srgbClr val="FF0000">
              <a:alpha val="12941"/>
            </a:srgb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0" name="Group 19">
            <a:extLst>
              <a:ext uri="{FF2B5EF4-FFF2-40B4-BE49-F238E27FC236}">
                <a16:creationId xmlns:a16="http://schemas.microsoft.com/office/drawing/2014/main" id="{3DAA6D41-93B6-F4B8-56B4-AFB8FA1572EA}"/>
              </a:ext>
            </a:extLst>
          </p:cNvPr>
          <p:cNvGrpSpPr/>
          <p:nvPr/>
        </p:nvGrpSpPr>
        <p:grpSpPr>
          <a:xfrm>
            <a:off x="3352800" y="4927255"/>
            <a:ext cx="5052646" cy="1806383"/>
            <a:chOff x="-1051439" y="3024637"/>
            <a:chExt cx="5052646" cy="1806383"/>
          </a:xfrm>
        </p:grpSpPr>
        <mc:AlternateContent xmlns:mc="http://schemas.openxmlformats.org/markup-compatibility/2006" xmlns:a14="http://schemas.microsoft.com/office/drawing/2010/main">
          <mc:Choice Requires="a14">
            <p:sp>
              <p:nvSpPr>
                <p:cNvPr id="21" name="Text Box 8">
                  <a:extLst>
                    <a:ext uri="{FF2B5EF4-FFF2-40B4-BE49-F238E27FC236}">
                      <a16:creationId xmlns:a16="http://schemas.microsoft.com/office/drawing/2014/main" id="{10A08193-AFB5-A01C-9C5B-4C1B2E16D0A6}"/>
                    </a:ext>
                  </a:extLst>
                </p:cNvPr>
                <p:cNvSpPr txBox="1">
                  <a:spLocks noChangeArrowheads="1"/>
                </p:cNvSpPr>
                <p:nvPr/>
              </p:nvSpPr>
              <p:spPr bwMode="auto">
                <a:xfrm>
                  <a:off x="-1051439" y="3507581"/>
                  <a:ext cx="5052646" cy="1323439"/>
                </a:xfrm>
                <a:prstGeom prst="rect">
                  <a:avLst/>
                </a:prstGeom>
                <a:solidFill>
                  <a:schemeClr val="bg2"/>
                </a:solidFill>
                <a:ln>
                  <a:noFill/>
                </a:ln>
                <a:effectLst/>
              </p:spPr>
              <p:txBody>
                <a:bodyPr wrap="square">
                  <a:spAutoFit/>
                </a:bodyPr>
                <a:lstStyle/>
                <a:p>
                  <a14:m>
                    <m:oMath xmlns:m="http://schemas.openxmlformats.org/officeDocument/2006/math">
                      <m:sSub>
                        <m:sSubPr>
                          <m:ctrlPr>
                            <a:rPr lang="en-GB" sz="2000" b="1" i="1" dirty="0" smtClean="0">
                              <a:solidFill>
                                <a:srgbClr val="FF0000"/>
                              </a:solidFill>
                              <a:latin typeface="Cambria Math" panose="02040503050406030204" pitchFamily="18" charset="0"/>
                            </a:rPr>
                          </m:ctrlPr>
                        </m:sSubPr>
                        <m:e>
                          <m:r>
                            <a:rPr lang="en-GB" sz="2000" b="1" i="1" dirty="0" smtClean="0">
                              <a:solidFill>
                                <a:srgbClr val="FF0000"/>
                              </a:solidFill>
                              <a:latin typeface="Cambria Math" panose="02040503050406030204" pitchFamily="18" charset="0"/>
                            </a:rPr>
                            <m:t>𝑯</m:t>
                          </m:r>
                        </m:e>
                        <m:sub>
                          <m:r>
                            <a:rPr lang="en-GB" sz="2000" b="1" i="1" dirty="0" smtClean="0">
                              <a:solidFill>
                                <a:srgbClr val="FF0000"/>
                              </a:solidFill>
                              <a:latin typeface="Cambria Math" panose="02040503050406030204" pitchFamily="18" charset="0"/>
                            </a:rPr>
                            <m:t>𝟎</m:t>
                          </m:r>
                        </m:sub>
                      </m:sSub>
                      <m:r>
                        <a:rPr lang="en-GB" sz="2000" b="1" i="1" dirty="0" smtClean="0">
                          <a:solidFill>
                            <a:srgbClr val="FF0000"/>
                          </a:solidFill>
                          <a:latin typeface="Cambria Math" panose="02040503050406030204" pitchFamily="18" charset="0"/>
                        </a:rPr>
                        <m:t> </m:t>
                      </m:r>
                    </m:oMath>
                  </a14:m>
                  <a:r>
                    <a:rPr lang="en-GB" altLang="en-US" sz="2000" b="1" dirty="0">
                      <a:solidFill>
                        <a:srgbClr val="FF0000"/>
                      </a:solidFill>
                    </a:rPr>
                    <a:t>: mean values of group 2 and 3 are equal</a:t>
                  </a:r>
                </a:p>
                <a:p>
                  <a:r>
                    <a:rPr lang="en-GB" altLang="en-US" sz="2000" b="1" dirty="0">
                      <a:solidFill>
                        <a:srgbClr val="FF0000"/>
                      </a:solidFill>
                    </a:rPr>
                    <a:t>p-value &lt; 0.05</a:t>
                  </a:r>
                </a:p>
                <a:p>
                  <a:r>
                    <a:rPr lang="en-GB" altLang="en-US" sz="2000" b="1" dirty="0">
                      <a:solidFill>
                        <a:srgbClr val="FF0000"/>
                      </a:solidFill>
                    </a:rPr>
                    <a:t>We have sufficient evidence that mean values are different</a:t>
                  </a:r>
                  <a:endParaRPr lang="en-US" altLang="en-US" sz="2000" b="1" dirty="0">
                    <a:solidFill>
                      <a:srgbClr val="FF0000"/>
                    </a:solidFill>
                  </a:endParaRPr>
                </a:p>
              </p:txBody>
            </p:sp>
          </mc:Choice>
          <mc:Fallback xmlns="">
            <p:sp>
              <p:nvSpPr>
                <p:cNvPr id="21" name="Text Box 8">
                  <a:extLst>
                    <a:ext uri="{FF2B5EF4-FFF2-40B4-BE49-F238E27FC236}">
                      <a16:creationId xmlns:a16="http://schemas.microsoft.com/office/drawing/2014/main" id="{10A08193-AFB5-A01C-9C5B-4C1B2E16D0A6}"/>
                    </a:ext>
                  </a:extLst>
                </p:cNvPr>
                <p:cNvSpPr txBox="1">
                  <a:spLocks noRot="1" noChangeAspect="1" noMove="1" noResize="1" noEditPoints="1" noAdjustHandles="1" noChangeArrowheads="1" noChangeShapeType="1" noTextEdit="1"/>
                </p:cNvSpPr>
                <p:nvPr/>
              </p:nvSpPr>
              <p:spPr bwMode="auto">
                <a:xfrm>
                  <a:off x="-1051439" y="3507581"/>
                  <a:ext cx="5052646" cy="1323439"/>
                </a:xfrm>
                <a:prstGeom prst="rect">
                  <a:avLst/>
                </a:prstGeom>
                <a:blipFill>
                  <a:blip r:embed="rId5"/>
                  <a:stretch>
                    <a:fillRect l="-1206" t="-2294" r="-1448" b="-6881"/>
                  </a:stretch>
                </a:blipFill>
                <a:ln>
                  <a:noFill/>
                </a:ln>
                <a:effectLst/>
              </p:spPr>
              <p:txBody>
                <a:bodyPr/>
                <a:lstStyle/>
                <a:p>
                  <a:r>
                    <a:rPr lang="en-GB">
                      <a:noFill/>
                    </a:rPr>
                    <a:t> </a:t>
                  </a:r>
                </a:p>
              </p:txBody>
            </p:sp>
          </mc:Fallback>
        </mc:AlternateContent>
        <p:cxnSp>
          <p:nvCxnSpPr>
            <p:cNvPr id="22" name="Straight Arrow Connector 21">
              <a:extLst>
                <a:ext uri="{FF2B5EF4-FFF2-40B4-BE49-F238E27FC236}">
                  <a16:creationId xmlns:a16="http://schemas.microsoft.com/office/drawing/2014/main" id="{29A240D1-9410-3851-11B7-4290C79F325B}"/>
                </a:ext>
              </a:extLst>
            </p:cNvPr>
            <p:cNvCxnSpPr>
              <a:cxnSpLocks/>
              <a:stCxn id="19" idx="2"/>
              <a:endCxn id="21" idx="0"/>
            </p:cNvCxnSpPr>
            <p:nvPr/>
          </p:nvCxnSpPr>
          <p:spPr>
            <a:xfrm flipH="1">
              <a:off x="1474884" y="3024637"/>
              <a:ext cx="74713" cy="48294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6140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9"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HYPOTHESIS TESTING</a:t>
            </a:r>
          </a:p>
        </p:txBody>
      </p:sp>
      <p:graphicFrame>
        <p:nvGraphicFramePr>
          <p:cNvPr id="7" name="Table 6"/>
          <p:cNvGraphicFramePr>
            <a:graphicFrameLocks noGrp="1"/>
          </p:cNvGraphicFramePr>
          <p:nvPr>
            <p:extLst>
              <p:ext uri="{D42A27DB-BD31-4B8C-83A1-F6EECF244321}">
                <p14:modId xmlns:p14="http://schemas.microsoft.com/office/powerpoint/2010/main" val="1293512054"/>
              </p:ext>
            </p:extLst>
          </p:nvPr>
        </p:nvGraphicFramePr>
        <p:xfrm>
          <a:off x="419912" y="1086256"/>
          <a:ext cx="7657287" cy="3684270"/>
        </p:xfrm>
        <a:graphic>
          <a:graphicData uri="http://schemas.openxmlformats.org/drawingml/2006/table">
            <a:tbl>
              <a:tblPr firstRow="1" firstCol="1">
                <a:tableStyleId>{8EC20E35-A176-4012-BC5E-935CFFF8708E}</a:tableStyleId>
              </a:tblPr>
              <a:tblGrid>
                <a:gridCol w="2552429">
                  <a:extLst>
                    <a:ext uri="{9D8B030D-6E8A-4147-A177-3AD203B41FA5}">
                      <a16:colId xmlns:a16="http://schemas.microsoft.com/office/drawing/2014/main" val="20000"/>
                    </a:ext>
                  </a:extLst>
                </a:gridCol>
                <a:gridCol w="2552429">
                  <a:extLst>
                    <a:ext uri="{9D8B030D-6E8A-4147-A177-3AD203B41FA5}">
                      <a16:colId xmlns:a16="http://schemas.microsoft.com/office/drawing/2014/main" val="20001"/>
                    </a:ext>
                  </a:extLst>
                </a:gridCol>
                <a:gridCol w="2552429">
                  <a:extLst>
                    <a:ext uri="{9D8B030D-6E8A-4147-A177-3AD203B41FA5}">
                      <a16:colId xmlns:a16="http://schemas.microsoft.com/office/drawing/2014/main" val="20002"/>
                    </a:ext>
                  </a:extLst>
                </a:gridCol>
              </a:tblGrid>
              <a:tr h="381000">
                <a:tc>
                  <a:txBody>
                    <a:bodyPr/>
                    <a:lstStyle/>
                    <a:p>
                      <a:pPr algn="ctr"/>
                      <a:endParaRPr lang="en-GB" dirty="0"/>
                    </a:p>
                  </a:txBody>
                  <a:tcPr anchor="ctr"/>
                </a:tc>
                <a:tc>
                  <a:txBody>
                    <a:bodyPr/>
                    <a:lstStyle/>
                    <a:p>
                      <a:pPr algn="ctr"/>
                      <a:r>
                        <a:rPr lang="en-GB" dirty="0"/>
                        <a:t>Categorical</a:t>
                      </a:r>
                    </a:p>
                  </a:txBody>
                  <a:tcPr anchor="ctr"/>
                </a:tc>
                <a:tc>
                  <a:txBody>
                    <a:bodyPr/>
                    <a:lstStyle/>
                    <a:p>
                      <a:pPr algn="ctr"/>
                      <a:r>
                        <a:rPr lang="en-GB" dirty="0"/>
                        <a:t>Scalar</a:t>
                      </a:r>
                    </a:p>
                  </a:txBody>
                  <a:tcPr anchor="ctr"/>
                </a:tc>
                <a:extLst>
                  <a:ext uri="{0D108BD9-81ED-4DB2-BD59-A6C34878D82A}">
                    <a16:rowId xmlns:a16="http://schemas.microsoft.com/office/drawing/2014/main" val="10000"/>
                  </a:ext>
                </a:extLst>
              </a:tr>
              <a:tr h="1047750">
                <a:tc>
                  <a:txBody>
                    <a:bodyPr/>
                    <a:lstStyle/>
                    <a:p>
                      <a:pPr algn="ctr"/>
                      <a:r>
                        <a:rPr lang="en-GB" b="0" dirty="0"/>
                        <a:t>Inference for </a:t>
                      </a:r>
                    </a:p>
                    <a:p>
                      <a:pPr algn="ctr"/>
                      <a:r>
                        <a:rPr lang="en-GB" sz="2400" dirty="0"/>
                        <a:t>One</a:t>
                      </a:r>
                      <a:r>
                        <a:rPr lang="en-GB" sz="2400" baseline="0" dirty="0"/>
                        <a:t> group</a:t>
                      </a:r>
                      <a:endParaRPr lang="en-GB" sz="2400" dirty="0"/>
                    </a:p>
                  </a:txBody>
                  <a:tcPr anchor="ctr"/>
                </a:tc>
                <a:tc>
                  <a:txBody>
                    <a:bodyPr/>
                    <a:lstStyle/>
                    <a:p>
                      <a:pPr algn="ctr"/>
                      <a:r>
                        <a:rPr lang="en-GB" sz="3200" b="1" dirty="0">
                          <a:solidFill>
                            <a:schemeClr val="bg1">
                              <a:lumMod val="85000"/>
                            </a:schemeClr>
                          </a:solidFill>
                        </a:rPr>
                        <a:t>Z Test</a:t>
                      </a:r>
                    </a:p>
                    <a:p>
                      <a:pPr algn="ctr"/>
                      <a:r>
                        <a:rPr lang="en-GB" sz="1800" dirty="0">
                          <a:solidFill>
                            <a:schemeClr val="bg1">
                              <a:lumMod val="85000"/>
                            </a:schemeClr>
                          </a:solidFill>
                        </a:rPr>
                        <a:t>for proportion</a:t>
                      </a:r>
                    </a:p>
                  </a:txBody>
                  <a:tcPr anchor="ctr"/>
                </a:tc>
                <a:tc>
                  <a:txBody>
                    <a:bodyPr/>
                    <a:lstStyle/>
                    <a:p>
                      <a:pPr algn="ctr"/>
                      <a:r>
                        <a:rPr lang="en-GB" sz="3200" b="1" dirty="0">
                          <a:solidFill>
                            <a:schemeClr val="bg1">
                              <a:lumMod val="85000"/>
                            </a:schemeClr>
                          </a:solidFill>
                        </a:rPr>
                        <a:t>t Test</a:t>
                      </a:r>
                    </a:p>
                    <a:p>
                      <a:pPr algn="ctr"/>
                      <a:r>
                        <a:rPr lang="en-GB" sz="1800" dirty="0">
                          <a:solidFill>
                            <a:schemeClr val="bg1">
                              <a:lumMod val="85000"/>
                            </a:schemeClr>
                          </a:solidFill>
                        </a:rPr>
                        <a:t>for mean</a:t>
                      </a:r>
                      <a:endParaRPr lang="en-GB" sz="2000" dirty="0">
                        <a:solidFill>
                          <a:schemeClr val="bg1">
                            <a:lumMod val="85000"/>
                          </a:schemeClr>
                        </a:solidFill>
                      </a:endParaRPr>
                    </a:p>
                  </a:txBody>
                  <a:tcPr anchor="ctr"/>
                </a:tc>
                <a:extLst>
                  <a:ext uri="{0D108BD9-81ED-4DB2-BD59-A6C34878D82A}">
                    <a16:rowId xmlns:a16="http://schemas.microsoft.com/office/drawing/2014/main" val="10001"/>
                  </a:ext>
                </a:extLst>
              </a:tr>
              <a:tr h="1047750">
                <a:tc>
                  <a:txBody>
                    <a:bodyPr/>
                    <a:lstStyle/>
                    <a:p>
                      <a:pPr algn="ctr"/>
                      <a:r>
                        <a:rPr lang="en-GB" b="0" dirty="0"/>
                        <a:t>Comparing</a:t>
                      </a:r>
                    </a:p>
                    <a:p>
                      <a:pPr algn="ctr"/>
                      <a:r>
                        <a:rPr lang="en-GB" sz="2400" dirty="0"/>
                        <a:t>Two groups</a:t>
                      </a:r>
                    </a:p>
                  </a:txBody>
                  <a:tcPr anchor="ctr"/>
                </a:tc>
                <a:tc>
                  <a:txBody>
                    <a:bodyPr/>
                    <a:lstStyle/>
                    <a:p>
                      <a:pPr algn="ctr"/>
                      <a:r>
                        <a:rPr lang="en-GB" sz="3200" b="1" dirty="0"/>
                        <a:t>Z Test</a:t>
                      </a:r>
                    </a:p>
                    <a:p>
                      <a:pPr algn="ctr"/>
                      <a:r>
                        <a:rPr lang="en-GB" sz="1800" dirty="0">
                          <a:solidFill>
                            <a:schemeClr val="tx1">
                              <a:lumMod val="65000"/>
                              <a:lumOff val="35000"/>
                            </a:schemeClr>
                          </a:solidFill>
                        </a:rPr>
                        <a:t>for difference in</a:t>
                      </a:r>
                    </a:p>
                    <a:p>
                      <a:pPr algn="ctr"/>
                      <a:r>
                        <a:rPr lang="en-GB" sz="1800" dirty="0">
                          <a:solidFill>
                            <a:schemeClr val="tx1">
                              <a:lumMod val="65000"/>
                              <a:lumOff val="35000"/>
                            </a:schemeClr>
                          </a:solidFill>
                        </a:rPr>
                        <a:t>two proportions</a:t>
                      </a:r>
                    </a:p>
                  </a:txBody>
                  <a:tcPr anchor="ctr">
                    <a:solidFill>
                      <a:schemeClr val="bg1">
                        <a:lumMod val="85000"/>
                      </a:schemeClr>
                    </a:solidFill>
                  </a:tcPr>
                </a:tc>
                <a:tc>
                  <a:txBody>
                    <a:bodyPr/>
                    <a:lstStyle/>
                    <a:p>
                      <a:pPr algn="ctr"/>
                      <a:r>
                        <a:rPr lang="en-GB" sz="3200" b="1" dirty="0">
                          <a:solidFill>
                            <a:schemeClr val="bg1">
                              <a:lumMod val="75000"/>
                            </a:schemeClr>
                          </a:solidFill>
                        </a:rPr>
                        <a:t>t Test</a:t>
                      </a:r>
                    </a:p>
                    <a:p>
                      <a:pPr algn="ctr"/>
                      <a:r>
                        <a:rPr lang="en-GB" sz="1800" dirty="0">
                          <a:solidFill>
                            <a:schemeClr val="bg1">
                              <a:lumMod val="75000"/>
                            </a:schemeClr>
                          </a:solidFill>
                        </a:rPr>
                        <a:t>for difference in</a:t>
                      </a:r>
                    </a:p>
                    <a:p>
                      <a:pPr algn="ctr"/>
                      <a:r>
                        <a:rPr lang="en-GB" sz="1800" dirty="0">
                          <a:solidFill>
                            <a:schemeClr val="bg1">
                              <a:lumMod val="75000"/>
                            </a:schemeClr>
                          </a:solidFill>
                        </a:rPr>
                        <a:t>two means</a:t>
                      </a:r>
                    </a:p>
                  </a:txBody>
                  <a:tcPr anchor="ctr">
                    <a:solidFill>
                      <a:schemeClr val="bg1">
                        <a:lumMod val="85000"/>
                      </a:schemeClr>
                    </a:solidFill>
                  </a:tcPr>
                </a:tc>
                <a:extLst>
                  <a:ext uri="{0D108BD9-81ED-4DB2-BD59-A6C34878D82A}">
                    <a16:rowId xmlns:a16="http://schemas.microsoft.com/office/drawing/2014/main" val="10002"/>
                  </a:ext>
                </a:extLst>
              </a:tr>
              <a:tr h="1047750">
                <a:tc>
                  <a:txBody>
                    <a:bodyPr/>
                    <a:lstStyle/>
                    <a:p>
                      <a:pPr algn="ctr"/>
                      <a:r>
                        <a:rPr lang="en-GB" b="0" dirty="0"/>
                        <a:t>Comparing</a:t>
                      </a:r>
                    </a:p>
                    <a:p>
                      <a:pPr algn="ctr"/>
                      <a:r>
                        <a:rPr lang="en-GB" sz="2400" b="1" dirty="0"/>
                        <a:t>Many groups</a:t>
                      </a:r>
                    </a:p>
                  </a:txBody>
                  <a:tcPr anchor="ctr"/>
                </a:tc>
                <a:tc>
                  <a:txBody>
                    <a:bodyPr/>
                    <a:lstStyle/>
                    <a:p>
                      <a:pPr algn="ctr"/>
                      <a:r>
                        <a:rPr lang="el-GR" sz="3200" b="1" dirty="0"/>
                        <a:t>χ</a:t>
                      </a:r>
                      <a:r>
                        <a:rPr lang="en-GB" sz="3200" b="1" baseline="30000" dirty="0"/>
                        <a:t>2</a:t>
                      </a:r>
                    </a:p>
                    <a:p>
                      <a:pPr algn="ctr"/>
                      <a:r>
                        <a:rPr lang="en-GB" sz="1800" dirty="0">
                          <a:solidFill>
                            <a:schemeClr val="tx1">
                              <a:lumMod val="65000"/>
                              <a:lumOff val="35000"/>
                            </a:schemeClr>
                          </a:solidFill>
                        </a:rPr>
                        <a:t>for difference among several proportions</a:t>
                      </a:r>
                      <a:endParaRPr lang="en-GB" sz="1800" baseline="30000" dirty="0"/>
                    </a:p>
                  </a:txBody>
                  <a:tcPr anchor="ctr"/>
                </a:tc>
                <a:tc>
                  <a:txBody>
                    <a:bodyPr/>
                    <a:lstStyle/>
                    <a:p>
                      <a:pPr algn="ctr"/>
                      <a:r>
                        <a:rPr lang="en-GB" sz="3200" b="1" dirty="0">
                          <a:solidFill>
                            <a:schemeClr val="bg1">
                              <a:lumMod val="85000"/>
                            </a:schemeClr>
                          </a:solidFill>
                        </a:rPr>
                        <a:t>ANOVA</a:t>
                      </a:r>
                    </a:p>
                    <a:p>
                      <a:pPr algn="ctr"/>
                      <a:r>
                        <a:rPr lang="en-GB" sz="1800" dirty="0">
                          <a:solidFill>
                            <a:schemeClr val="bg1">
                              <a:lumMod val="85000"/>
                            </a:schemeClr>
                          </a:solidFill>
                        </a:rPr>
                        <a:t>for comparing </a:t>
                      </a:r>
                    </a:p>
                    <a:p>
                      <a:pPr algn="ctr"/>
                      <a:r>
                        <a:rPr lang="en-GB" sz="1800" dirty="0">
                          <a:solidFill>
                            <a:schemeClr val="bg1">
                              <a:lumMod val="85000"/>
                            </a:schemeClr>
                          </a:solidFill>
                        </a:rPr>
                        <a:t>several means</a:t>
                      </a:r>
                    </a:p>
                  </a:txBody>
                  <a:tcPr anchor="ctr"/>
                </a:tc>
                <a:extLst>
                  <a:ext uri="{0D108BD9-81ED-4DB2-BD59-A6C34878D82A}">
                    <a16:rowId xmlns:a16="http://schemas.microsoft.com/office/drawing/2014/main" val="10003"/>
                  </a:ext>
                </a:extLst>
              </a:tr>
            </a:tbl>
          </a:graphicData>
        </a:graphic>
      </p:graphicFrame>
      <p:sp>
        <p:nvSpPr>
          <p:cNvPr id="8" name="TextBox 7"/>
          <p:cNvSpPr txBox="1"/>
          <p:nvPr/>
        </p:nvSpPr>
        <p:spPr>
          <a:xfrm>
            <a:off x="2957657" y="4724400"/>
            <a:ext cx="5119543" cy="338554"/>
          </a:xfrm>
          <a:prstGeom prst="rect">
            <a:avLst/>
          </a:prstGeom>
          <a:noFill/>
        </p:spPr>
        <p:txBody>
          <a:bodyPr wrap="none" rtlCol="0">
            <a:spAutoFit/>
          </a:bodyPr>
          <a:lstStyle/>
          <a:p>
            <a:r>
              <a:rPr lang="en-GB" sz="1600" dirty="0">
                <a:solidFill>
                  <a:schemeClr val="tx1">
                    <a:lumMod val="65000"/>
                    <a:lumOff val="35000"/>
                  </a:schemeClr>
                </a:solidFill>
              </a:rPr>
              <a:t>N.B.  This is only a subset of numerous statistical techniques</a:t>
            </a:r>
          </a:p>
        </p:txBody>
      </p:sp>
      <p:sp>
        <p:nvSpPr>
          <p:cNvPr id="9" name="Rounded Rectangle 8"/>
          <p:cNvSpPr/>
          <p:nvPr/>
        </p:nvSpPr>
        <p:spPr>
          <a:xfrm>
            <a:off x="3190672" y="1580744"/>
            <a:ext cx="2133600" cy="838200"/>
          </a:xfrm>
          <a:prstGeom prst="roundRect">
            <a:avLst/>
          </a:prstGeom>
          <a:noFill/>
          <a:ln w="762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ounded Rectangle 5"/>
          <p:cNvSpPr/>
          <p:nvPr/>
        </p:nvSpPr>
        <p:spPr>
          <a:xfrm>
            <a:off x="5715000" y="1580744"/>
            <a:ext cx="2133600" cy="838200"/>
          </a:xfrm>
          <a:prstGeom prst="roundRect">
            <a:avLst/>
          </a:prstGeom>
          <a:noFill/>
          <a:ln w="762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ounded Rectangle 10"/>
          <p:cNvSpPr/>
          <p:nvPr/>
        </p:nvSpPr>
        <p:spPr>
          <a:xfrm>
            <a:off x="5715000" y="2590800"/>
            <a:ext cx="2133600" cy="990600"/>
          </a:xfrm>
          <a:prstGeom prst="roundRect">
            <a:avLst/>
          </a:prstGeom>
          <a:noFill/>
          <a:ln w="762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ounded Rectangle 9"/>
          <p:cNvSpPr/>
          <p:nvPr/>
        </p:nvSpPr>
        <p:spPr>
          <a:xfrm>
            <a:off x="5715000" y="3733800"/>
            <a:ext cx="2133600" cy="990600"/>
          </a:xfrm>
          <a:prstGeom prst="roundRect">
            <a:avLst/>
          </a:prstGeom>
          <a:noFill/>
          <a:ln w="762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ounded Rectangle 11"/>
          <p:cNvSpPr/>
          <p:nvPr/>
        </p:nvSpPr>
        <p:spPr>
          <a:xfrm>
            <a:off x="3200400" y="3733800"/>
            <a:ext cx="2133600" cy="990600"/>
          </a:xfrm>
          <a:prstGeom prst="roundRect">
            <a:avLst/>
          </a:prstGeom>
          <a:noFill/>
          <a:ln w="762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7620211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9" name="Text Box 3"/>
          <p:cNvSpPr txBox="1">
            <a:spLocks noChangeArrowheads="1"/>
          </p:cNvSpPr>
          <p:nvPr/>
        </p:nvSpPr>
        <p:spPr bwMode="auto">
          <a:xfrm>
            <a:off x="304800" y="903238"/>
            <a:ext cx="58674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2400" dirty="0"/>
              <a:t>It is a </a:t>
            </a:r>
            <a:r>
              <a:rPr lang="en-GB" altLang="en-US" sz="2400" dirty="0">
                <a:solidFill>
                  <a:srgbClr val="333399"/>
                </a:solidFill>
              </a:rPr>
              <a:t>non-parametric </a:t>
            </a:r>
            <a:r>
              <a:rPr lang="en-GB" altLang="en-US" sz="2400" dirty="0"/>
              <a:t>technique </a:t>
            </a:r>
          </a:p>
          <a:p>
            <a:endParaRPr lang="en-GB" altLang="en-US" sz="2400" dirty="0"/>
          </a:p>
          <a:p>
            <a:r>
              <a:rPr lang="en-GB" altLang="en-US" sz="2400" dirty="0"/>
              <a:t>To test whether </a:t>
            </a:r>
            <a:r>
              <a:rPr lang="en-GB" altLang="en-US" sz="2400" b="1" dirty="0"/>
              <a:t>distributions</a:t>
            </a:r>
            <a:r>
              <a:rPr lang="en-GB" altLang="en-US" sz="2400" dirty="0"/>
              <a:t> across  </a:t>
            </a:r>
            <a:r>
              <a:rPr lang="en-GB" altLang="en-US" sz="2400" b="1" dirty="0"/>
              <a:t>categories</a:t>
            </a:r>
            <a:r>
              <a:rPr lang="en-GB" altLang="en-US" sz="2400" dirty="0"/>
              <a:t> are </a:t>
            </a:r>
            <a:r>
              <a:rPr lang="en-GB" altLang="en-US" sz="2400" b="1" dirty="0"/>
              <a:t>different</a:t>
            </a:r>
            <a:r>
              <a:rPr lang="en-GB" altLang="en-US" sz="2400" dirty="0"/>
              <a:t> </a:t>
            </a:r>
            <a:r>
              <a:rPr lang="en-GB" altLang="en-US" sz="2400" b="1" dirty="0"/>
              <a:t>to</a:t>
            </a:r>
            <a:r>
              <a:rPr lang="en-GB" altLang="en-US" sz="2400" dirty="0"/>
              <a:t> what is </a:t>
            </a:r>
            <a:r>
              <a:rPr lang="en-GB" altLang="en-US" sz="2400" b="1" dirty="0"/>
              <a:t>expected</a:t>
            </a:r>
          </a:p>
        </p:txBody>
      </p:sp>
      <p:sp>
        <p:nvSpPr>
          <p:cNvPr id="2" name="Title 1"/>
          <p:cNvSpPr>
            <a:spLocks noGrp="1"/>
          </p:cNvSpPr>
          <p:nvPr>
            <p:ph type="title"/>
          </p:nvPr>
        </p:nvSpPr>
        <p:spPr/>
        <p:txBody>
          <a:bodyPr/>
          <a:lstStyle/>
          <a:p>
            <a:r>
              <a:rPr lang="en-GB" altLang="en-US" dirty="0"/>
              <a:t>Chi Squared (</a:t>
            </a:r>
            <a:r>
              <a:rPr lang="en-GB" altLang="en-US" dirty="0">
                <a:sym typeface="Symbol" pitchFamily="18" charset="2"/>
              </a:rPr>
              <a:t></a:t>
            </a:r>
            <a:r>
              <a:rPr lang="en-GB" altLang="en-US" baseline="30000" dirty="0">
                <a:sym typeface="Symbol" pitchFamily="18" charset="2"/>
              </a:rPr>
              <a:t>2</a:t>
            </a:r>
            <a:r>
              <a:rPr lang="en-GB" altLang="en-US" dirty="0">
                <a:sym typeface="Symbol" pitchFamily="18" charset="2"/>
              </a:rPr>
              <a:t>) </a:t>
            </a:r>
            <a:endParaRPr lang="en-GB" dirty="0"/>
          </a:p>
        </p:txBody>
      </p:sp>
    </p:spTree>
    <p:extLst>
      <p:ext uri="{BB962C8B-B14F-4D97-AF65-F5344CB8AC3E}">
        <p14:creationId xmlns:p14="http://schemas.microsoft.com/office/powerpoint/2010/main" val="33269169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p:cNvSpPr/>
          <p:nvPr/>
        </p:nvSpPr>
        <p:spPr>
          <a:xfrm rot="20415716">
            <a:off x="1955623" y="4874865"/>
            <a:ext cx="1539460" cy="461665"/>
          </a:xfrm>
          <a:prstGeom prst="rect">
            <a:avLst/>
          </a:prstGeom>
        </p:spPr>
        <p:style>
          <a:lnRef idx="2">
            <a:schemeClr val="accent6"/>
          </a:lnRef>
          <a:fillRef idx="1">
            <a:schemeClr val="lt1"/>
          </a:fillRef>
          <a:effectRef idx="0">
            <a:schemeClr val="accent6"/>
          </a:effectRef>
          <a:fontRef idx="minor">
            <a:schemeClr val="dk1"/>
          </a:fontRef>
        </p:style>
        <p:txBody>
          <a:bodyPr wrap="none">
            <a:spAutoFit/>
          </a:bodyPr>
          <a:lstStyle/>
          <a:p>
            <a:pPr algn="ctr"/>
            <a:r>
              <a:rPr lang="en-GB" sz="2400" dirty="0"/>
              <a:t>Pearson’s r</a:t>
            </a:r>
          </a:p>
        </p:txBody>
      </p:sp>
      <p:sp>
        <p:nvSpPr>
          <p:cNvPr id="3" name="Title 2"/>
          <p:cNvSpPr>
            <a:spLocks noGrp="1"/>
          </p:cNvSpPr>
          <p:nvPr>
            <p:ph type="title"/>
          </p:nvPr>
        </p:nvSpPr>
        <p:spPr/>
        <p:txBody>
          <a:bodyPr/>
          <a:lstStyle/>
          <a:p>
            <a:r>
              <a:rPr lang="en-GB"/>
              <a:t>Parametric v Non-parametric Tests</a:t>
            </a:r>
            <a:endParaRPr lang="en-GB" dirty="0"/>
          </a:p>
        </p:txBody>
      </p:sp>
      <p:sp>
        <p:nvSpPr>
          <p:cNvPr id="4" name="Text Placeholder 3"/>
          <p:cNvSpPr>
            <a:spLocks noGrp="1"/>
          </p:cNvSpPr>
          <p:nvPr>
            <p:ph type="body" idx="1"/>
          </p:nvPr>
        </p:nvSpPr>
        <p:spPr>
          <a:xfrm>
            <a:off x="457200" y="895350"/>
            <a:ext cx="4040188" cy="639762"/>
          </a:xfrm>
        </p:spPr>
        <p:style>
          <a:lnRef idx="1">
            <a:schemeClr val="accent6"/>
          </a:lnRef>
          <a:fillRef idx="2">
            <a:schemeClr val="accent6"/>
          </a:fillRef>
          <a:effectRef idx="1">
            <a:schemeClr val="accent6"/>
          </a:effectRef>
          <a:fontRef idx="minor">
            <a:schemeClr val="dk1"/>
          </a:fontRef>
        </p:style>
        <p:txBody>
          <a:bodyPr/>
          <a:lstStyle/>
          <a:p>
            <a:r>
              <a:rPr lang="en-GB"/>
              <a:t>Parametric</a:t>
            </a:r>
            <a:endParaRPr lang="en-GB" dirty="0"/>
          </a:p>
        </p:txBody>
      </p:sp>
      <p:sp>
        <p:nvSpPr>
          <p:cNvPr id="5" name="Content Placeholder 4"/>
          <p:cNvSpPr>
            <a:spLocks noGrp="1"/>
          </p:cNvSpPr>
          <p:nvPr>
            <p:ph sz="half" idx="2"/>
          </p:nvPr>
        </p:nvSpPr>
        <p:spPr>
          <a:xfrm>
            <a:off x="457200" y="1535112"/>
            <a:ext cx="4040188" cy="2046288"/>
          </a:xfrm>
        </p:spPr>
        <p:txBody>
          <a:bodyPr>
            <a:normAutofit/>
          </a:bodyPr>
          <a:lstStyle/>
          <a:p>
            <a:pPr marL="0" indent="0">
              <a:buClr>
                <a:srgbClr val="333399"/>
              </a:buClr>
              <a:buNone/>
            </a:pPr>
            <a:r>
              <a:rPr lang="en-GB" altLang="en-US" dirty="0"/>
              <a:t>These assume you have either interval or ratio data</a:t>
            </a:r>
          </a:p>
          <a:p>
            <a:pPr marL="0" indent="0">
              <a:buClr>
                <a:srgbClr val="333399"/>
              </a:buClr>
              <a:buNone/>
            </a:pPr>
            <a:r>
              <a:rPr lang="en-GB" altLang="en-US" b="1" dirty="0"/>
              <a:t>They make assumptions about the distribution (normality, variances)</a:t>
            </a:r>
            <a:endParaRPr lang="en-GB" dirty="0"/>
          </a:p>
        </p:txBody>
      </p:sp>
      <p:sp>
        <p:nvSpPr>
          <p:cNvPr id="6" name="Text Placeholder 5"/>
          <p:cNvSpPr>
            <a:spLocks noGrp="1"/>
          </p:cNvSpPr>
          <p:nvPr>
            <p:ph type="body" sz="quarter" idx="3"/>
          </p:nvPr>
        </p:nvSpPr>
        <p:spPr>
          <a:xfrm>
            <a:off x="4645025" y="895350"/>
            <a:ext cx="4041775" cy="639762"/>
          </a:xfrm>
        </p:spPr>
        <p:style>
          <a:lnRef idx="1">
            <a:schemeClr val="accent5"/>
          </a:lnRef>
          <a:fillRef idx="2">
            <a:schemeClr val="accent5"/>
          </a:fillRef>
          <a:effectRef idx="1">
            <a:schemeClr val="accent5"/>
          </a:effectRef>
          <a:fontRef idx="minor">
            <a:schemeClr val="dk1"/>
          </a:fontRef>
        </p:style>
        <p:txBody>
          <a:bodyPr/>
          <a:lstStyle/>
          <a:p>
            <a:r>
              <a:rPr lang="en-GB"/>
              <a:t>Non-parametric</a:t>
            </a:r>
            <a:endParaRPr lang="en-GB" dirty="0"/>
          </a:p>
        </p:txBody>
      </p:sp>
      <p:sp>
        <p:nvSpPr>
          <p:cNvPr id="7" name="Content Placeholder 6"/>
          <p:cNvSpPr>
            <a:spLocks noGrp="1"/>
          </p:cNvSpPr>
          <p:nvPr>
            <p:ph sz="quarter" idx="4"/>
          </p:nvPr>
        </p:nvSpPr>
        <p:spPr>
          <a:xfrm>
            <a:off x="4645025" y="1535112"/>
            <a:ext cx="4041775" cy="2046288"/>
          </a:xfrm>
        </p:spPr>
        <p:txBody>
          <a:bodyPr>
            <a:normAutofit/>
          </a:bodyPr>
          <a:lstStyle/>
          <a:p>
            <a:pPr marL="0" indent="0">
              <a:buClr>
                <a:srgbClr val="333399"/>
              </a:buClr>
              <a:buNone/>
            </a:pPr>
            <a:r>
              <a:rPr lang="en-GB" altLang="en-US" b="1" dirty="0"/>
              <a:t>These make less assumptions about the data</a:t>
            </a:r>
          </a:p>
          <a:p>
            <a:pPr marL="0" indent="0">
              <a:buClr>
                <a:srgbClr val="333399"/>
              </a:buClr>
              <a:buNone/>
            </a:pPr>
            <a:r>
              <a:rPr lang="en-GB" altLang="en-US" dirty="0"/>
              <a:t>They are also known as “distribution free” statistics</a:t>
            </a:r>
          </a:p>
          <a:p>
            <a:pPr marL="0" indent="0">
              <a:buClr>
                <a:srgbClr val="333399"/>
              </a:buClr>
              <a:buNone/>
            </a:pPr>
            <a:endParaRPr lang="en-GB" dirty="0"/>
          </a:p>
          <a:p>
            <a:pPr marL="0" indent="0">
              <a:buClr>
                <a:srgbClr val="333399"/>
              </a:buClr>
              <a:buNone/>
            </a:pPr>
            <a:endParaRPr lang="en-GB" dirty="0"/>
          </a:p>
          <a:p>
            <a:pPr marL="0" indent="0">
              <a:buClr>
                <a:srgbClr val="333399"/>
              </a:buClr>
              <a:buNone/>
            </a:pPr>
            <a:endParaRPr lang="en-GB" dirty="0"/>
          </a:p>
        </p:txBody>
      </p:sp>
      <p:sp>
        <p:nvSpPr>
          <p:cNvPr id="13" name="Rectangle 12"/>
          <p:cNvSpPr/>
          <p:nvPr/>
        </p:nvSpPr>
        <p:spPr>
          <a:xfrm>
            <a:off x="2362200" y="925033"/>
            <a:ext cx="1981200" cy="584775"/>
          </a:xfrm>
          <a:prstGeom prst="rect">
            <a:avLst/>
          </a:prstGeom>
        </p:spPr>
        <p:txBody>
          <a:bodyPr wrap="square">
            <a:spAutoFit/>
          </a:bodyPr>
          <a:lstStyle/>
          <a:p>
            <a:pPr algn="r">
              <a:buClr>
                <a:srgbClr val="333399"/>
              </a:buClr>
            </a:pPr>
            <a:r>
              <a:rPr lang="en-GB" altLang="en-US" sz="1600" dirty="0">
                <a:solidFill>
                  <a:schemeClr val="accent6">
                    <a:lumMod val="75000"/>
                  </a:schemeClr>
                </a:solidFill>
              </a:rPr>
              <a:t>Parametric were developed first</a:t>
            </a:r>
          </a:p>
        </p:txBody>
      </p:sp>
      <p:sp>
        <p:nvSpPr>
          <p:cNvPr id="15" name="Rectangle 14"/>
          <p:cNvSpPr/>
          <p:nvPr/>
        </p:nvSpPr>
        <p:spPr>
          <a:xfrm>
            <a:off x="5001711" y="4642123"/>
            <a:ext cx="1697901" cy="369332"/>
          </a:xfrm>
          <a:prstGeom prst="rect">
            <a:avLst/>
          </a:prstGeom>
        </p:spPr>
        <p:style>
          <a:lnRef idx="2">
            <a:schemeClr val="accent5"/>
          </a:lnRef>
          <a:fillRef idx="1">
            <a:schemeClr val="lt1"/>
          </a:fillRef>
          <a:effectRef idx="0">
            <a:schemeClr val="accent5"/>
          </a:effectRef>
          <a:fontRef idx="minor">
            <a:schemeClr val="dk1"/>
          </a:fontRef>
        </p:style>
        <p:txBody>
          <a:bodyPr wrap="none">
            <a:spAutoFit/>
          </a:bodyPr>
          <a:lstStyle/>
          <a:p>
            <a:pPr algn="ctr"/>
            <a:r>
              <a:rPr lang="en-GB" dirty="0"/>
              <a:t>Spearman's Rho</a:t>
            </a:r>
          </a:p>
        </p:txBody>
      </p:sp>
      <p:sp>
        <p:nvSpPr>
          <p:cNvPr id="16" name="Rectangle 15"/>
          <p:cNvSpPr/>
          <p:nvPr/>
        </p:nvSpPr>
        <p:spPr>
          <a:xfrm>
            <a:off x="6853528" y="4823796"/>
            <a:ext cx="1396793" cy="369332"/>
          </a:xfrm>
          <a:prstGeom prst="rect">
            <a:avLst/>
          </a:prstGeom>
        </p:spPr>
        <p:style>
          <a:lnRef idx="2">
            <a:schemeClr val="accent5"/>
          </a:lnRef>
          <a:fillRef idx="1">
            <a:schemeClr val="lt1"/>
          </a:fillRef>
          <a:effectRef idx="0">
            <a:schemeClr val="accent5"/>
          </a:effectRef>
          <a:fontRef idx="minor">
            <a:schemeClr val="dk1"/>
          </a:fontRef>
        </p:style>
        <p:txBody>
          <a:bodyPr wrap="none">
            <a:spAutoFit/>
          </a:bodyPr>
          <a:lstStyle/>
          <a:p>
            <a:pPr algn="ctr"/>
            <a:r>
              <a:rPr lang="en-GB" dirty="0"/>
              <a:t>Kendall's Tau</a:t>
            </a:r>
          </a:p>
        </p:txBody>
      </p:sp>
      <p:sp>
        <p:nvSpPr>
          <p:cNvPr id="19" name="Rectangle 18"/>
          <p:cNvSpPr/>
          <p:nvPr/>
        </p:nvSpPr>
        <p:spPr>
          <a:xfrm>
            <a:off x="2743200" y="3810000"/>
            <a:ext cx="828689" cy="461665"/>
          </a:xfrm>
          <a:prstGeom prst="rect">
            <a:avLst/>
          </a:prstGeom>
        </p:spPr>
        <p:style>
          <a:lnRef idx="2">
            <a:schemeClr val="accent6"/>
          </a:lnRef>
          <a:fillRef idx="1">
            <a:schemeClr val="lt1"/>
          </a:fillRef>
          <a:effectRef idx="0">
            <a:schemeClr val="accent6"/>
          </a:effectRef>
          <a:fontRef idx="minor">
            <a:schemeClr val="dk1"/>
          </a:fontRef>
        </p:style>
        <p:txBody>
          <a:bodyPr wrap="none">
            <a:spAutoFit/>
          </a:bodyPr>
          <a:lstStyle/>
          <a:p>
            <a:pPr algn="ctr"/>
            <a:r>
              <a:rPr lang="en-GB" sz="2400" dirty="0"/>
              <a:t>t test</a:t>
            </a:r>
          </a:p>
        </p:txBody>
      </p:sp>
      <p:sp>
        <p:nvSpPr>
          <p:cNvPr id="20" name="Rectangle 19"/>
          <p:cNvSpPr/>
          <p:nvPr/>
        </p:nvSpPr>
        <p:spPr>
          <a:xfrm>
            <a:off x="1262796" y="4731463"/>
            <a:ext cx="1099404" cy="461665"/>
          </a:xfrm>
          <a:prstGeom prst="rect">
            <a:avLst/>
          </a:prstGeom>
        </p:spPr>
        <p:style>
          <a:lnRef idx="2">
            <a:schemeClr val="accent6"/>
          </a:lnRef>
          <a:fillRef idx="1">
            <a:schemeClr val="lt1"/>
          </a:fillRef>
          <a:effectRef idx="0">
            <a:schemeClr val="accent6"/>
          </a:effectRef>
          <a:fontRef idx="minor">
            <a:schemeClr val="dk1"/>
          </a:fontRef>
        </p:style>
        <p:txBody>
          <a:bodyPr wrap="none">
            <a:spAutoFit/>
          </a:bodyPr>
          <a:lstStyle/>
          <a:p>
            <a:pPr algn="ctr"/>
            <a:r>
              <a:rPr lang="en-GB" sz="2400" dirty="0"/>
              <a:t>ANOVA</a:t>
            </a:r>
          </a:p>
        </p:txBody>
      </p:sp>
      <p:sp>
        <p:nvSpPr>
          <p:cNvPr id="22" name="Rectangle 21"/>
          <p:cNvSpPr/>
          <p:nvPr/>
        </p:nvSpPr>
        <p:spPr>
          <a:xfrm>
            <a:off x="5967609" y="3376983"/>
            <a:ext cx="1960601" cy="369332"/>
          </a:xfrm>
          <a:prstGeom prst="rect">
            <a:avLst/>
          </a:prstGeom>
        </p:spPr>
        <p:style>
          <a:lnRef idx="2">
            <a:schemeClr val="accent5"/>
          </a:lnRef>
          <a:fillRef idx="1">
            <a:schemeClr val="lt1"/>
          </a:fillRef>
          <a:effectRef idx="0">
            <a:schemeClr val="accent5"/>
          </a:effectRef>
          <a:fontRef idx="minor">
            <a:schemeClr val="dk1"/>
          </a:fontRef>
        </p:style>
        <p:txBody>
          <a:bodyPr wrap="none">
            <a:spAutoFit/>
          </a:bodyPr>
          <a:lstStyle/>
          <a:p>
            <a:r>
              <a:rPr lang="en-US" altLang="en-US" dirty="0" err="1">
                <a:cs typeface="Arial" pitchFamily="34" charset="0"/>
              </a:rPr>
              <a:t>Kruskal</a:t>
            </a:r>
            <a:r>
              <a:rPr lang="en-US" altLang="en-US" dirty="0">
                <a:cs typeface="Arial" pitchFamily="34" charset="0"/>
              </a:rPr>
              <a:t>-Wallis Test </a:t>
            </a:r>
            <a:endParaRPr lang="en-GB" dirty="0"/>
          </a:p>
        </p:txBody>
      </p:sp>
      <p:sp>
        <p:nvSpPr>
          <p:cNvPr id="23" name="Rectangle 22"/>
          <p:cNvSpPr/>
          <p:nvPr/>
        </p:nvSpPr>
        <p:spPr>
          <a:xfrm>
            <a:off x="6979807" y="3811491"/>
            <a:ext cx="1554593" cy="369332"/>
          </a:xfrm>
          <a:prstGeom prst="rect">
            <a:avLst/>
          </a:prstGeom>
        </p:spPr>
        <p:style>
          <a:lnRef idx="2">
            <a:schemeClr val="accent5"/>
          </a:lnRef>
          <a:fillRef idx="1">
            <a:schemeClr val="lt1"/>
          </a:fillRef>
          <a:effectRef idx="0">
            <a:schemeClr val="accent5"/>
          </a:effectRef>
          <a:fontRef idx="minor">
            <a:schemeClr val="dk1"/>
          </a:fontRef>
        </p:style>
        <p:txBody>
          <a:bodyPr wrap="none">
            <a:spAutoFit/>
          </a:bodyPr>
          <a:lstStyle/>
          <a:p>
            <a:r>
              <a:rPr lang="en-US" altLang="en-US" dirty="0">
                <a:cs typeface="Arial" pitchFamily="34" charset="0"/>
              </a:rPr>
              <a:t>Friedman Test </a:t>
            </a:r>
            <a:endParaRPr lang="en-GB" dirty="0"/>
          </a:p>
        </p:txBody>
      </p:sp>
      <p:sp>
        <p:nvSpPr>
          <p:cNvPr id="24" name="Rectangle 23"/>
          <p:cNvSpPr/>
          <p:nvPr/>
        </p:nvSpPr>
        <p:spPr>
          <a:xfrm>
            <a:off x="5670669" y="5269468"/>
            <a:ext cx="2257541" cy="369332"/>
          </a:xfrm>
          <a:prstGeom prst="rect">
            <a:avLst/>
          </a:prstGeom>
        </p:spPr>
        <p:style>
          <a:lnRef idx="2">
            <a:schemeClr val="accent5"/>
          </a:lnRef>
          <a:fillRef idx="1">
            <a:schemeClr val="lt1"/>
          </a:fillRef>
          <a:effectRef idx="0">
            <a:schemeClr val="accent5"/>
          </a:effectRef>
          <a:fontRef idx="minor">
            <a:schemeClr val="dk1"/>
          </a:fontRef>
        </p:style>
        <p:txBody>
          <a:bodyPr wrap="none">
            <a:spAutoFit/>
          </a:bodyPr>
          <a:lstStyle/>
          <a:p>
            <a:r>
              <a:rPr lang="en-US" altLang="en-US" dirty="0">
                <a:cs typeface="Arial" pitchFamily="34" charset="0"/>
              </a:rPr>
              <a:t>Wilcoxon Signed-Rank</a:t>
            </a:r>
            <a:endParaRPr lang="en-GB" dirty="0"/>
          </a:p>
        </p:txBody>
      </p:sp>
      <p:sp>
        <p:nvSpPr>
          <p:cNvPr id="25" name="Rectangle 24"/>
          <p:cNvSpPr/>
          <p:nvPr/>
        </p:nvSpPr>
        <p:spPr>
          <a:xfrm>
            <a:off x="4811062" y="3949991"/>
            <a:ext cx="1703095" cy="369332"/>
          </a:xfrm>
          <a:prstGeom prst="rect">
            <a:avLst/>
          </a:prstGeom>
        </p:spPr>
        <p:style>
          <a:lnRef idx="2">
            <a:schemeClr val="accent5"/>
          </a:lnRef>
          <a:fillRef idx="1">
            <a:schemeClr val="lt1"/>
          </a:fillRef>
          <a:effectRef idx="0">
            <a:schemeClr val="accent5"/>
          </a:effectRef>
          <a:fontRef idx="minor">
            <a:schemeClr val="dk1"/>
          </a:fontRef>
        </p:style>
        <p:txBody>
          <a:bodyPr wrap="none">
            <a:spAutoFit/>
          </a:bodyPr>
          <a:lstStyle/>
          <a:p>
            <a:r>
              <a:rPr lang="en-US" altLang="en-US" dirty="0">
                <a:cs typeface="Arial" pitchFamily="34" charset="0"/>
              </a:rPr>
              <a:t>Fisher Exact test</a:t>
            </a:r>
            <a:endParaRPr lang="en-GB" dirty="0"/>
          </a:p>
        </p:txBody>
      </p:sp>
      <p:sp>
        <p:nvSpPr>
          <p:cNvPr id="17" name="Rectangle 16"/>
          <p:cNvSpPr/>
          <p:nvPr/>
        </p:nvSpPr>
        <p:spPr>
          <a:xfrm>
            <a:off x="5825431" y="4240522"/>
            <a:ext cx="1748364" cy="523220"/>
          </a:xfrm>
          <a:prstGeom prst="rect">
            <a:avLst/>
          </a:prstGeom>
        </p:spPr>
        <p:style>
          <a:lnRef idx="2">
            <a:schemeClr val="accent5"/>
          </a:lnRef>
          <a:fillRef idx="1">
            <a:schemeClr val="lt1"/>
          </a:fillRef>
          <a:effectRef idx="0">
            <a:schemeClr val="accent5"/>
          </a:effectRef>
          <a:fontRef idx="minor">
            <a:schemeClr val="dk1"/>
          </a:fontRef>
        </p:style>
        <p:txBody>
          <a:bodyPr wrap="none">
            <a:spAutoFit/>
          </a:bodyPr>
          <a:lstStyle/>
          <a:p>
            <a:pPr algn="ctr"/>
            <a:r>
              <a:rPr lang="en-GB" sz="2800" b="1" dirty="0"/>
              <a:t>Chi square</a:t>
            </a:r>
          </a:p>
        </p:txBody>
      </p:sp>
      <p:sp>
        <p:nvSpPr>
          <p:cNvPr id="18" name="Rectangle 17"/>
          <p:cNvSpPr/>
          <p:nvPr/>
        </p:nvSpPr>
        <p:spPr>
          <a:xfrm>
            <a:off x="2014925" y="4222268"/>
            <a:ext cx="1003416" cy="523220"/>
          </a:xfrm>
          <a:prstGeom prst="rect">
            <a:avLst/>
          </a:prstGeom>
        </p:spPr>
        <p:style>
          <a:lnRef idx="2">
            <a:schemeClr val="accent6"/>
          </a:lnRef>
          <a:fillRef idx="1">
            <a:schemeClr val="lt1"/>
          </a:fillRef>
          <a:effectRef idx="0">
            <a:schemeClr val="accent6"/>
          </a:effectRef>
          <a:fontRef idx="minor">
            <a:schemeClr val="dk1"/>
          </a:fontRef>
        </p:style>
        <p:txBody>
          <a:bodyPr wrap="none">
            <a:spAutoFit/>
          </a:bodyPr>
          <a:lstStyle/>
          <a:p>
            <a:pPr algn="ctr"/>
            <a:r>
              <a:rPr lang="en-GB" sz="2800" b="1" dirty="0"/>
              <a:t>Z test</a:t>
            </a:r>
          </a:p>
        </p:txBody>
      </p:sp>
    </p:spTree>
    <p:extLst>
      <p:ext uri="{BB962C8B-B14F-4D97-AF65-F5344CB8AC3E}">
        <p14:creationId xmlns:p14="http://schemas.microsoft.com/office/powerpoint/2010/main" val="19879063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82" name="Rectangle 6"/>
          <p:cNvSpPr>
            <a:spLocks noChangeArrowheads="1"/>
          </p:cNvSpPr>
          <p:nvPr/>
        </p:nvSpPr>
        <p:spPr bwMode="auto">
          <a:xfrm>
            <a:off x="304800" y="914400"/>
            <a:ext cx="76200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342900" indent="-342900">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indent="0">
              <a:spcBef>
                <a:spcPct val="20000"/>
              </a:spcBef>
              <a:buClr>
                <a:srgbClr val="333399"/>
              </a:buClr>
            </a:pPr>
            <a:r>
              <a:rPr lang="en-GB" altLang="en-US" dirty="0">
                <a:latin typeface="Avalon" pitchFamily="34" charset="0"/>
              </a:rPr>
              <a:t>Generally tests making </a:t>
            </a:r>
            <a:r>
              <a:rPr lang="en-GB" altLang="en-US" b="1" dirty="0">
                <a:latin typeface="Avalon" pitchFamily="34" charset="0"/>
              </a:rPr>
              <a:t>less assumptions are less powerful</a:t>
            </a:r>
            <a:r>
              <a:rPr lang="en-GB" altLang="en-US" dirty="0">
                <a:latin typeface="Avalon" pitchFamily="34" charset="0"/>
              </a:rPr>
              <a:t> in detecting affects</a:t>
            </a:r>
          </a:p>
        </p:txBody>
      </p:sp>
      <p:sp>
        <p:nvSpPr>
          <p:cNvPr id="2" name="Title 1"/>
          <p:cNvSpPr>
            <a:spLocks noGrp="1"/>
          </p:cNvSpPr>
          <p:nvPr>
            <p:ph type="title"/>
          </p:nvPr>
        </p:nvSpPr>
        <p:spPr/>
        <p:txBody>
          <a:bodyPr/>
          <a:lstStyle/>
          <a:p>
            <a:r>
              <a:rPr lang="en-GB" altLang="en-US" dirty="0"/>
              <a:t>Why do we still use parametric statistics?</a:t>
            </a:r>
            <a:endParaRPr lang="en-GB" dirty="0"/>
          </a:p>
        </p:txBody>
      </p:sp>
      <p:sp>
        <p:nvSpPr>
          <p:cNvPr id="5" name="Rectangle 6"/>
          <p:cNvSpPr>
            <a:spLocks noChangeArrowheads="1"/>
          </p:cNvSpPr>
          <p:nvPr/>
        </p:nvSpPr>
        <p:spPr bwMode="auto">
          <a:xfrm>
            <a:off x="304800" y="2133600"/>
            <a:ext cx="76200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342900" indent="-342900">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indent="0">
              <a:spcBef>
                <a:spcPct val="20000"/>
              </a:spcBef>
              <a:buClr>
                <a:srgbClr val="333399"/>
              </a:buClr>
            </a:pPr>
            <a:r>
              <a:rPr lang="en-GB" altLang="en-US" dirty="0">
                <a:latin typeface="Avalon" pitchFamily="34" charset="0"/>
              </a:rPr>
              <a:t>The </a:t>
            </a:r>
            <a:r>
              <a:rPr lang="en-GB" altLang="en-US" b="1" dirty="0">
                <a:latin typeface="Avalon" pitchFamily="34" charset="0"/>
              </a:rPr>
              <a:t>sophistication </a:t>
            </a:r>
            <a:r>
              <a:rPr lang="en-GB" altLang="en-US" dirty="0">
                <a:latin typeface="Avalon" pitchFamily="34" charset="0"/>
              </a:rPr>
              <a:t>of the tests available </a:t>
            </a:r>
            <a:r>
              <a:rPr lang="en-GB" altLang="en-US" b="1" dirty="0">
                <a:latin typeface="Avalon" pitchFamily="34" charset="0"/>
              </a:rPr>
              <a:t>is greater </a:t>
            </a:r>
            <a:r>
              <a:rPr lang="en-GB" altLang="en-US" dirty="0">
                <a:latin typeface="Avalon" pitchFamily="34" charset="0"/>
              </a:rPr>
              <a:t>and a </a:t>
            </a:r>
            <a:r>
              <a:rPr lang="en-GB" altLang="en-US" b="1" dirty="0">
                <a:latin typeface="Avalon" pitchFamily="34" charset="0"/>
              </a:rPr>
              <a:t>wider range of tests</a:t>
            </a:r>
            <a:r>
              <a:rPr lang="en-GB" altLang="en-US" dirty="0">
                <a:latin typeface="Avalon" pitchFamily="34" charset="0"/>
              </a:rPr>
              <a:t> are available in statistics software</a:t>
            </a:r>
          </a:p>
        </p:txBody>
      </p:sp>
      <p:sp>
        <p:nvSpPr>
          <p:cNvPr id="6" name="Rectangle 6"/>
          <p:cNvSpPr>
            <a:spLocks noChangeArrowheads="1"/>
          </p:cNvSpPr>
          <p:nvPr/>
        </p:nvSpPr>
        <p:spPr bwMode="auto">
          <a:xfrm>
            <a:off x="304800" y="3657600"/>
            <a:ext cx="76200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342900" indent="-342900">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indent="0">
              <a:spcBef>
                <a:spcPct val="20000"/>
              </a:spcBef>
              <a:buClr>
                <a:srgbClr val="333399"/>
              </a:buClr>
            </a:pPr>
            <a:r>
              <a:rPr lang="en-GB" altLang="en-US" dirty="0">
                <a:latin typeface="Avalon" pitchFamily="34" charset="0"/>
              </a:rPr>
              <a:t>Parametric statistics can, </a:t>
            </a:r>
            <a:r>
              <a:rPr lang="en-GB" altLang="en-US" b="1" dirty="0">
                <a:latin typeface="Avalon" pitchFamily="34" charset="0"/>
              </a:rPr>
              <a:t>in practice</a:t>
            </a:r>
            <a:r>
              <a:rPr lang="en-GB" altLang="en-US" dirty="0">
                <a:latin typeface="Avalon" pitchFamily="34" charset="0"/>
              </a:rPr>
              <a:t>, be </a:t>
            </a:r>
            <a:r>
              <a:rPr lang="en-GB" altLang="en-US" b="1" dirty="0">
                <a:latin typeface="Avalon" pitchFamily="34" charset="0"/>
              </a:rPr>
              <a:t>quite robust </a:t>
            </a:r>
            <a:r>
              <a:rPr lang="en-GB" altLang="en-US" dirty="0">
                <a:latin typeface="Avalon" pitchFamily="34" charset="0"/>
              </a:rPr>
              <a:t>to violations of their assumptions</a:t>
            </a:r>
          </a:p>
          <a:p>
            <a:pPr marL="0" indent="0">
              <a:spcBef>
                <a:spcPct val="20000"/>
              </a:spcBef>
              <a:buClr>
                <a:srgbClr val="333399"/>
              </a:buClr>
            </a:pPr>
            <a:endParaRPr lang="en-GB" altLang="en-US" dirty="0">
              <a:latin typeface="Avalon" pitchFamily="34" charset="0"/>
            </a:endParaRPr>
          </a:p>
        </p:txBody>
      </p:sp>
    </p:spTree>
    <p:extLst>
      <p:ext uri="{BB962C8B-B14F-4D97-AF65-F5344CB8AC3E}">
        <p14:creationId xmlns:p14="http://schemas.microsoft.com/office/powerpoint/2010/main" val="27410993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9" name="Text Box 5"/>
          <p:cNvSpPr txBox="1">
            <a:spLocks noChangeArrowheads="1"/>
          </p:cNvSpPr>
          <p:nvPr/>
        </p:nvSpPr>
        <p:spPr bwMode="auto">
          <a:xfrm>
            <a:off x="288925" y="838200"/>
            <a:ext cx="733107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2400" dirty="0"/>
              <a:t>In a market research survey customers were asked which of three potential new products they preferred</a:t>
            </a:r>
            <a:endParaRPr lang="en-GB" altLang="en-US" sz="3200" dirty="0">
              <a:effectLst>
                <a:outerShdw blurRad="38100" dist="38100" dir="2700000" algn="tl">
                  <a:srgbClr val="FFFFFF"/>
                </a:outerShdw>
              </a:effectLst>
            </a:endParaRPr>
          </a:p>
        </p:txBody>
      </p:sp>
      <p:sp>
        <p:nvSpPr>
          <p:cNvPr id="308230" name="Text Box 6"/>
          <p:cNvSpPr txBox="1">
            <a:spLocks noChangeArrowheads="1"/>
          </p:cNvSpPr>
          <p:nvPr/>
        </p:nvSpPr>
        <p:spPr bwMode="auto">
          <a:xfrm>
            <a:off x="288925" y="4106975"/>
            <a:ext cx="38686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400" b="1" dirty="0">
                <a:solidFill>
                  <a:schemeClr val="tx2"/>
                </a:solidFill>
              </a:rPr>
              <a:t>What is the Null Hypothesis?</a:t>
            </a:r>
          </a:p>
        </p:txBody>
      </p:sp>
      <p:sp>
        <p:nvSpPr>
          <p:cNvPr id="2" name="Title 1"/>
          <p:cNvSpPr>
            <a:spLocks noGrp="1"/>
          </p:cNvSpPr>
          <p:nvPr>
            <p:ph type="title"/>
          </p:nvPr>
        </p:nvSpPr>
        <p:spPr/>
        <p:txBody>
          <a:bodyPr/>
          <a:lstStyle/>
          <a:p>
            <a:r>
              <a:rPr lang="en-GB" altLang="en-US" dirty="0"/>
              <a:t>Chi Squared (</a:t>
            </a:r>
            <a:r>
              <a:rPr lang="en-GB" altLang="en-US" dirty="0">
                <a:sym typeface="Symbol" pitchFamily="18" charset="2"/>
              </a:rPr>
              <a:t></a:t>
            </a:r>
            <a:r>
              <a:rPr lang="en-GB" altLang="en-US" baseline="30000" dirty="0">
                <a:sym typeface="Symbol" pitchFamily="18" charset="2"/>
              </a:rPr>
              <a:t>2</a:t>
            </a:r>
            <a:r>
              <a:rPr lang="en-GB" altLang="en-US" dirty="0">
                <a:sym typeface="Symbol" pitchFamily="18" charset="2"/>
              </a:rPr>
              <a:t>) – ONE WAY</a:t>
            </a:r>
            <a:endParaRPr lang="en-GB" dirty="0"/>
          </a:p>
        </p:txBody>
      </p:sp>
      <p:graphicFrame>
        <p:nvGraphicFramePr>
          <p:cNvPr id="4" name="Table 3"/>
          <p:cNvGraphicFramePr>
            <a:graphicFrameLocks noGrp="1"/>
          </p:cNvGraphicFramePr>
          <p:nvPr>
            <p:extLst>
              <p:ext uri="{D42A27DB-BD31-4B8C-83A1-F6EECF244321}">
                <p14:modId xmlns:p14="http://schemas.microsoft.com/office/powerpoint/2010/main" val="4083889936"/>
              </p:ext>
            </p:extLst>
          </p:nvPr>
        </p:nvGraphicFramePr>
        <p:xfrm>
          <a:off x="685800" y="1828800"/>
          <a:ext cx="7620000" cy="1010920"/>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tblGrid>
              <a:tr h="370840">
                <a:tc>
                  <a:txBody>
                    <a:bodyPr/>
                    <a:lstStyle/>
                    <a:p>
                      <a:pPr algn="ctr"/>
                      <a:endParaRPr lang="en-GB" dirty="0"/>
                    </a:p>
                  </a:txBody>
                  <a:tcPr>
                    <a:noFill/>
                  </a:tcPr>
                </a:tc>
                <a:tc>
                  <a:txBody>
                    <a:bodyPr/>
                    <a:lstStyle/>
                    <a:p>
                      <a:pPr algn="ctr"/>
                      <a:endParaRPr lang="en-GB" dirty="0"/>
                    </a:p>
                  </a:txBody>
                  <a:tcPr/>
                </a:tc>
                <a:tc>
                  <a:txBody>
                    <a:bodyPr/>
                    <a:lstStyle/>
                    <a:p>
                      <a:pPr algn="ctr"/>
                      <a:r>
                        <a:rPr lang="en-GB" dirty="0"/>
                        <a:t>A</a:t>
                      </a:r>
                    </a:p>
                  </a:txBody>
                  <a:tcPr/>
                </a:tc>
                <a:tc>
                  <a:txBody>
                    <a:bodyPr/>
                    <a:lstStyle/>
                    <a:p>
                      <a:pPr algn="ctr"/>
                      <a:r>
                        <a:rPr lang="en-GB" dirty="0"/>
                        <a:t>B</a:t>
                      </a:r>
                    </a:p>
                  </a:txBody>
                  <a:tcPr/>
                </a:tc>
                <a:tc>
                  <a:txBody>
                    <a:bodyPr/>
                    <a:lstStyle/>
                    <a:p>
                      <a:pPr algn="ctr"/>
                      <a:r>
                        <a:rPr lang="en-GB" dirty="0"/>
                        <a:t>C</a:t>
                      </a:r>
                    </a:p>
                  </a:txBody>
                  <a:tcPr/>
                </a:tc>
                <a:extLst>
                  <a:ext uri="{0D108BD9-81ED-4DB2-BD59-A6C34878D82A}">
                    <a16:rowId xmlns:a16="http://schemas.microsoft.com/office/drawing/2014/main" val="10000"/>
                  </a:ext>
                </a:extLst>
              </a:tr>
              <a:tr h="370840">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GB" dirty="0"/>
                    </a:p>
                    <a:p>
                      <a:pPr algn="r"/>
                      <a:endParaRPr lang="en-GB" dirty="0">
                        <a:solidFill>
                          <a:schemeClr val="tx1"/>
                        </a:solidFill>
                      </a:endParaRPr>
                    </a:p>
                  </a:txBody>
                  <a:tcPr anchor="ctr">
                    <a:noFill/>
                  </a:tcPr>
                </a:tc>
                <a:tc>
                  <a:txBody>
                    <a:bodyPr/>
                    <a:lstStyle/>
                    <a:p>
                      <a:pPr algn="r"/>
                      <a:r>
                        <a:rPr lang="en-GB" sz="1800" dirty="0">
                          <a:solidFill>
                            <a:schemeClr val="tx1"/>
                          </a:solidFill>
                        </a:rPr>
                        <a:t>Number</a:t>
                      </a:r>
                      <a:r>
                        <a:rPr lang="en-GB" sz="1800" baseline="0" dirty="0">
                          <a:solidFill>
                            <a:schemeClr val="tx1"/>
                          </a:solidFill>
                        </a:rPr>
                        <a:t> of customers responded</a:t>
                      </a:r>
                      <a:endParaRPr lang="en-GB" sz="1800" b="1" dirty="0">
                        <a:solidFill>
                          <a:schemeClr val="tx1"/>
                        </a:solidFill>
                      </a:endParaRPr>
                    </a:p>
                  </a:txBody>
                  <a:tcPr anchor="ctr"/>
                </a:tc>
                <a:tc>
                  <a:txBody>
                    <a:bodyPr/>
                    <a:lstStyle/>
                    <a:p>
                      <a:pPr algn="ctr"/>
                      <a:r>
                        <a:rPr lang="en-GB" altLang="en-US" sz="2400" b="1" dirty="0">
                          <a:solidFill>
                            <a:schemeClr val="tx1"/>
                          </a:solidFill>
                        </a:rPr>
                        <a:t>270</a:t>
                      </a:r>
                      <a:endParaRPr lang="en-GB" sz="2400" b="1" dirty="0">
                        <a:solidFill>
                          <a:schemeClr val="tx1"/>
                        </a:solidFill>
                      </a:endParaRPr>
                    </a:p>
                  </a:txBody>
                  <a:tcPr anchor="ctr"/>
                </a:tc>
                <a:tc>
                  <a:txBody>
                    <a:bodyPr/>
                    <a:lstStyle/>
                    <a:p>
                      <a:pPr algn="ctr"/>
                      <a:r>
                        <a:rPr lang="en-GB" altLang="en-US" sz="2400" b="1" dirty="0">
                          <a:solidFill>
                            <a:schemeClr val="tx1"/>
                          </a:solidFill>
                        </a:rPr>
                        <a:t>286</a:t>
                      </a:r>
                      <a:endParaRPr lang="en-GB" sz="2400" b="1" dirty="0">
                        <a:solidFill>
                          <a:schemeClr val="tx1"/>
                        </a:solidFill>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altLang="en-US" sz="2400" b="1" dirty="0">
                          <a:solidFill>
                            <a:schemeClr val="tx1"/>
                          </a:solidFill>
                        </a:rPr>
                        <a:t>341</a:t>
                      </a:r>
                    </a:p>
                  </a:txBody>
                  <a:tcPr anchor="ctr"/>
                </a:tc>
                <a:extLst>
                  <a:ext uri="{0D108BD9-81ED-4DB2-BD59-A6C34878D82A}">
                    <a16:rowId xmlns:a16="http://schemas.microsoft.com/office/drawing/2014/main" val="10001"/>
                  </a:ext>
                </a:extLst>
              </a:tr>
            </a:tbl>
          </a:graphicData>
        </a:graphic>
      </p:graphicFrame>
      <p:sp>
        <p:nvSpPr>
          <p:cNvPr id="5" name="Rectangle 4"/>
          <p:cNvSpPr/>
          <p:nvPr/>
        </p:nvSpPr>
        <p:spPr>
          <a:xfrm>
            <a:off x="288925" y="4583668"/>
            <a:ext cx="5782417" cy="461665"/>
          </a:xfrm>
          <a:prstGeom prst="rect">
            <a:avLst/>
          </a:prstGeom>
        </p:spPr>
        <p:txBody>
          <a:bodyPr wrap="none">
            <a:spAutoFit/>
          </a:bodyPr>
          <a:lstStyle/>
          <a:p>
            <a:r>
              <a:rPr lang="en-GB" altLang="en-US" sz="2400" b="1" dirty="0">
                <a:solidFill>
                  <a:schemeClr val="bg1">
                    <a:lumMod val="85000"/>
                  </a:schemeClr>
                </a:solidFill>
              </a:rPr>
              <a:t>ANSWER: </a:t>
            </a:r>
            <a:r>
              <a:rPr lang="en-GB" altLang="en-US" sz="2400" b="1" dirty="0"/>
              <a:t>All products are equally attractive</a:t>
            </a:r>
          </a:p>
        </p:txBody>
      </p:sp>
      <p:sp>
        <p:nvSpPr>
          <p:cNvPr id="11" name="Rectangle 10"/>
          <p:cNvSpPr/>
          <p:nvPr/>
        </p:nvSpPr>
        <p:spPr>
          <a:xfrm>
            <a:off x="288925" y="3429000"/>
            <a:ext cx="5396927" cy="461665"/>
          </a:xfrm>
          <a:prstGeom prst="rect">
            <a:avLst/>
          </a:prstGeom>
        </p:spPr>
        <p:txBody>
          <a:bodyPr wrap="none">
            <a:spAutoFit/>
          </a:bodyPr>
          <a:lstStyle/>
          <a:p>
            <a:r>
              <a:rPr lang="en-GB" altLang="en-US" sz="2400" dirty="0"/>
              <a:t>Are the three products equally attractive?</a:t>
            </a:r>
          </a:p>
        </p:txBody>
      </p:sp>
      <p:graphicFrame>
        <p:nvGraphicFramePr>
          <p:cNvPr id="7" name="Table 6"/>
          <p:cNvGraphicFramePr>
            <a:graphicFrameLocks noGrp="1"/>
          </p:cNvGraphicFramePr>
          <p:nvPr>
            <p:extLst>
              <p:ext uri="{D42A27DB-BD31-4B8C-83A1-F6EECF244321}">
                <p14:modId xmlns:p14="http://schemas.microsoft.com/office/powerpoint/2010/main" val="3414321243"/>
              </p:ext>
            </p:extLst>
          </p:nvPr>
        </p:nvGraphicFramePr>
        <p:xfrm>
          <a:off x="685800" y="2865120"/>
          <a:ext cx="7620000" cy="640080"/>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tblGrid>
              <a:tr h="370840">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GB" dirty="0"/>
                    </a:p>
                    <a:p>
                      <a:pPr algn="r"/>
                      <a:endParaRPr lang="en-GB"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endParaRPr lang="en-GB" sz="1800" b="1"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en-GB" sz="2400" b="1"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GB" sz="2400" b="1" dirty="0">
                          <a:solidFill>
                            <a:schemeClr val="tx1"/>
                          </a:solidFill>
                        </a:rPr>
                        <a:t>TOTAL</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altLang="en-US" sz="2400" b="1" dirty="0">
                          <a:solidFill>
                            <a:schemeClr val="tx1"/>
                          </a:solidFill>
                        </a:rPr>
                        <a:t>897</a:t>
                      </a:r>
                    </a:p>
                  </a:txBody>
                  <a:tcPr anchor="ctr">
                    <a:lnL w="12700" cmpd="sng">
                      <a:noFill/>
                    </a:ln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645852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8230"/>
                                        </p:tgtEl>
                                        <p:attrNameLst>
                                          <p:attrName>style.visibility</p:attrName>
                                        </p:attrNameLst>
                                      </p:cBhvr>
                                      <p:to>
                                        <p:strVal val="visible"/>
                                      </p:to>
                                    </p:set>
                                    <p:animEffect transition="in" filter="fade">
                                      <p:cBhvr>
                                        <p:cTn id="7" dur="500"/>
                                        <p:tgtEl>
                                          <p:spTgt spid="3082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0" nodeType="clickEffect">
                                  <p:stCondLst>
                                    <p:cond delay="0"/>
                                  </p:stCondLst>
                                  <p:childTnLst>
                                    <p:animEffect transition="out" filter="fade">
                                      <p:cBhvr>
                                        <p:cTn id="16" dur="500"/>
                                        <p:tgtEl>
                                          <p:spTgt spid="308229"/>
                                        </p:tgtEl>
                                      </p:cBhvr>
                                    </p:animEffect>
                                    <p:set>
                                      <p:cBhvr>
                                        <p:cTn id="17" dur="1" fill="hold">
                                          <p:stCondLst>
                                            <p:cond delay="499"/>
                                          </p:stCondLst>
                                        </p:cTn>
                                        <p:tgtEl>
                                          <p:spTgt spid="308229"/>
                                        </p:tgtEl>
                                        <p:attrNameLst>
                                          <p:attrName>style.visibility</p:attrName>
                                        </p:attrNameLst>
                                      </p:cBhvr>
                                      <p:to>
                                        <p:strVal val="hidden"/>
                                      </p:to>
                                    </p:set>
                                  </p:childTnLst>
                                </p:cTn>
                              </p:par>
                              <p:par>
                                <p:cTn id="18" presetID="42" presetClass="path" presetSubtype="0" accel="50000" decel="50000" fill="hold" grpId="0" nodeType="withEffect">
                                  <p:stCondLst>
                                    <p:cond delay="0"/>
                                  </p:stCondLst>
                                  <p:childTnLst>
                                    <p:animMotion origin="layout" path="M 3.88889E-6 -4.81481E-6 L -0.00174 -0.378 " pathEditMode="relative" rAng="0" ptsTypes="AA">
                                      <p:cBhvr>
                                        <p:cTn id="19" dur="500" fill="hold"/>
                                        <p:tgtEl>
                                          <p:spTgt spid="11"/>
                                        </p:tgtEl>
                                        <p:attrNameLst>
                                          <p:attrName>ppt_x</p:attrName>
                                          <p:attrName>ppt_y</p:attrName>
                                        </p:attrNameLst>
                                      </p:cBhvr>
                                      <p:rCtr x="-87" y="-18912"/>
                                    </p:animMotion>
                                  </p:childTnLst>
                                </p:cTn>
                              </p:par>
                            </p:childTnLst>
                          </p:cTn>
                        </p:par>
                        <p:par>
                          <p:cTn id="20" fill="hold">
                            <p:stCondLst>
                              <p:cond delay="500"/>
                            </p:stCondLst>
                            <p:childTnLst>
                              <p:par>
                                <p:cTn id="21" presetID="10" presetClass="entr" presetSubtype="0" fill="hold" grpId="1"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xit" presetSubtype="0" fill="hold" grpId="1" nodeType="withEffect">
                                  <p:stCondLst>
                                    <p:cond delay="0"/>
                                  </p:stCondLst>
                                  <p:childTnLst>
                                    <p:animEffect transition="out" filter="fade">
                                      <p:cBhvr>
                                        <p:cTn id="25" dur="500"/>
                                        <p:tgtEl>
                                          <p:spTgt spid="308230"/>
                                        </p:tgtEl>
                                      </p:cBhvr>
                                    </p:animEffect>
                                    <p:set>
                                      <p:cBhvr>
                                        <p:cTn id="26" dur="1" fill="hold">
                                          <p:stCondLst>
                                            <p:cond delay="499"/>
                                          </p:stCondLst>
                                        </p:cTn>
                                        <p:tgtEl>
                                          <p:spTgt spid="308230"/>
                                        </p:tgtEl>
                                        <p:attrNameLst>
                                          <p:attrName>style.visibility</p:attrName>
                                        </p:attrNameLst>
                                      </p:cBhvr>
                                      <p:to>
                                        <p:strVal val="hidden"/>
                                      </p:to>
                                    </p:set>
                                  </p:childTnLst>
                                </p:cTn>
                              </p:par>
                              <p:par>
                                <p:cTn id="27" presetID="10" presetClass="exit" presetSubtype="0" fill="hold" grpId="1" nodeType="withEffect">
                                  <p:stCondLst>
                                    <p:cond delay="0"/>
                                  </p:stCondLst>
                                  <p:childTnLst>
                                    <p:animEffect transition="out" filter="fade">
                                      <p:cBhvr>
                                        <p:cTn id="28" dur="500"/>
                                        <p:tgtEl>
                                          <p:spTgt spid="5"/>
                                        </p:tgtEl>
                                      </p:cBhvr>
                                    </p:animEffect>
                                    <p:set>
                                      <p:cBhvr>
                                        <p:cTn id="29" dur="1" fill="hold">
                                          <p:stCondLst>
                                            <p:cond delay="499"/>
                                          </p:stCondLst>
                                        </p:cTn>
                                        <p:tgtEl>
                                          <p:spTgt spid="5"/>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229" grpId="0"/>
      <p:bldP spid="308230" grpId="0"/>
      <p:bldP spid="308230" grpId="1"/>
      <p:bldP spid="5" grpId="0"/>
      <p:bldP spid="5" grpId="1"/>
      <p:bldP spid="11" grpId="0"/>
      <p:bldP spid="11" grpId="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t>Chi Squared (</a:t>
            </a:r>
            <a:r>
              <a:rPr lang="en-GB" altLang="en-US" dirty="0">
                <a:sym typeface="Symbol" pitchFamily="18" charset="2"/>
              </a:rPr>
              <a:t></a:t>
            </a:r>
            <a:r>
              <a:rPr lang="en-GB" altLang="en-US" baseline="30000" dirty="0">
                <a:sym typeface="Symbol" pitchFamily="18" charset="2"/>
              </a:rPr>
              <a:t>2</a:t>
            </a:r>
            <a:r>
              <a:rPr lang="en-GB" altLang="en-US" dirty="0">
                <a:sym typeface="Symbol" pitchFamily="18" charset="2"/>
              </a:rPr>
              <a:t>)</a:t>
            </a:r>
            <a:endParaRPr lang="en-GB" dirty="0"/>
          </a:p>
        </p:txBody>
      </p:sp>
      <p:sp>
        <p:nvSpPr>
          <p:cNvPr id="8" name="Rectangle 7"/>
          <p:cNvSpPr/>
          <p:nvPr/>
        </p:nvSpPr>
        <p:spPr>
          <a:xfrm>
            <a:off x="288925" y="838200"/>
            <a:ext cx="5396927" cy="461665"/>
          </a:xfrm>
          <a:prstGeom prst="rect">
            <a:avLst/>
          </a:prstGeom>
        </p:spPr>
        <p:txBody>
          <a:bodyPr wrap="none">
            <a:spAutoFit/>
          </a:bodyPr>
          <a:lstStyle/>
          <a:p>
            <a:r>
              <a:rPr lang="en-GB" altLang="en-US" sz="2400" dirty="0"/>
              <a:t>Are the three products equally attractive?</a:t>
            </a:r>
          </a:p>
        </p:txBody>
      </p:sp>
      <mc:AlternateContent xmlns:mc="http://schemas.openxmlformats.org/markup-compatibility/2006" xmlns:a14="http://schemas.microsoft.com/office/drawing/2010/main">
        <mc:Choice Requires="a14">
          <p:graphicFrame>
            <p:nvGraphicFramePr>
              <p:cNvPr id="12" name="Table 11"/>
              <p:cNvGraphicFramePr>
                <a:graphicFrameLocks noGrp="1"/>
              </p:cNvGraphicFramePr>
              <p:nvPr>
                <p:extLst>
                  <p:ext uri="{D42A27DB-BD31-4B8C-83A1-F6EECF244321}">
                    <p14:modId xmlns:p14="http://schemas.microsoft.com/office/powerpoint/2010/main" val="2896188434"/>
                  </p:ext>
                </p:extLst>
              </p:nvPr>
            </p:nvGraphicFramePr>
            <p:xfrm>
              <a:off x="685800" y="1828800"/>
              <a:ext cx="7620000" cy="1651000"/>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tblGrid>
                  <a:tr h="370840">
                    <a:tc>
                      <a:txBody>
                        <a:bodyPr/>
                        <a:lstStyle/>
                        <a:p>
                          <a:pPr algn="ctr"/>
                          <a:endParaRPr lang="en-GB" dirty="0"/>
                        </a:p>
                      </a:txBody>
                      <a:tcPr>
                        <a:noFill/>
                      </a:tcPr>
                    </a:tc>
                    <a:tc>
                      <a:txBody>
                        <a:bodyPr/>
                        <a:lstStyle/>
                        <a:p>
                          <a:pPr algn="ctr"/>
                          <a:endParaRPr lang="en-GB" dirty="0"/>
                        </a:p>
                      </a:txBody>
                      <a:tcPr/>
                    </a:tc>
                    <a:tc>
                      <a:txBody>
                        <a:bodyPr/>
                        <a:lstStyle/>
                        <a:p>
                          <a:pPr algn="ctr"/>
                          <a:r>
                            <a:rPr lang="en-GB" dirty="0"/>
                            <a:t>A</a:t>
                          </a:r>
                        </a:p>
                      </a:txBody>
                      <a:tcPr/>
                    </a:tc>
                    <a:tc>
                      <a:txBody>
                        <a:bodyPr/>
                        <a:lstStyle/>
                        <a:p>
                          <a:pPr algn="ctr"/>
                          <a:r>
                            <a:rPr lang="en-GB" dirty="0"/>
                            <a:t>B</a:t>
                          </a:r>
                        </a:p>
                      </a:txBody>
                      <a:tcPr/>
                    </a:tc>
                    <a:tc>
                      <a:txBody>
                        <a:bodyPr/>
                        <a:lstStyle/>
                        <a:p>
                          <a:pPr algn="ctr"/>
                          <a:r>
                            <a:rPr lang="en-GB" dirty="0"/>
                            <a:t>C</a:t>
                          </a:r>
                        </a:p>
                      </a:txBody>
                      <a:tcPr/>
                    </a:tc>
                    <a:extLst>
                      <a:ext uri="{0D108BD9-81ED-4DB2-BD59-A6C34878D82A}">
                        <a16:rowId xmlns:a16="http://schemas.microsoft.com/office/drawing/2014/main" val="10000"/>
                      </a:ext>
                    </a:extLst>
                  </a:tr>
                  <a:tr h="640080">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GB" dirty="0"/>
                        </a:p>
                        <a:p>
                          <a:pPr algn="r"/>
                          <a:endParaRPr lang="en-GB" dirty="0">
                            <a:solidFill>
                              <a:schemeClr val="tx1"/>
                            </a:solidFill>
                          </a:endParaRPr>
                        </a:p>
                      </a:txBody>
                      <a:tcPr anchor="ctr">
                        <a:noFill/>
                      </a:tcPr>
                    </a:tc>
                    <a:tc>
                      <a:txBody>
                        <a:bodyPr/>
                        <a:lstStyle/>
                        <a:p>
                          <a:pPr algn="r"/>
                          <a:r>
                            <a:rPr lang="en-GB" sz="1800" dirty="0">
                              <a:solidFill>
                                <a:schemeClr val="tx1"/>
                              </a:solidFill>
                            </a:rPr>
                            <a:t>Number</a:t>
                          </a:r>
                          <a:r>
                            <a:rPr lang="en-GB" sz="1800" baseline="0" dirty="0">
                              <a:solidFill>
                                <a:schemeClr val="tx1"/>
                              </a:solidFill>
                            </a:rPr>
                            <a:t> of customers responded</a:t>
                          </a:r>
                          <a:endParaRPr lang="en-GB" sz="1800" b="1" dirty="0">
                            <a:solidFill>
                              <a:schemeClr val="tx1"/>
                            </a:solidFill>
                          </a:endParaRPr>
                        </a:p>
                      </a:txBody>
                      <a:tcPr anchor="ctr"/>
                    </a:tc>
                    <a:tc>
                      <a:txBody>
                        <a:bodyPr/>
                        <a:lstStyle/>
                        <a:p>
                          <a:pPr algn="ctr"/>
                          <a:r>
                            <a:rPr lang="en-GB" altLang="en-US" sz="2400" b="1" dirty="0">
                              <a:solidFill>
                                <a:schemeClr val="tx1"/>
                              </a:solidFill>
                            </a:rPr>
                            <a:t>270</a:t>
                          </a:r>
                          <a:endParaRPr lang="en-GB" sz="2400" b="1" dirty="0">
                            <a:solidFill>
                              <a:schemeClr val="tx1"/>
                            </a:solidFill>
                          </a:endParaRPr>
                        </a:p>
                      </a:txBody>
                      <a:tcPr anchor="ctr"/>
                    </a:tc>
                    <a:tc>
                      <a:txBody>
                        <a:bodyPr/>
                        <a:lstStyle/>
                        <a:p>
                          <a:pPr algn="ctr"/>
                          <a:r>
                            <a:rPr lang="en-GB" altLang="en-US" sz="2400" b="1" dirty="0">
                              <a:solidFill>
                                <a:schemeClr val="tx1"/>
                              </a:solidFill>
                            </a:rPr>
                            <a:t>286</a:t>
                          </a:r>
                          <a:endParaRPr lang="en-GB" sz="2400" b="1" dirty="0">
                            <a:solidFill>
                              <a:schemeClr val="tx1"/>
                            </a:solidFill>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altLang="en-US" sz="2400" b="1" dirty="0">
                              <a:solidFill>
                                <a:schemeClr val="tx1"/>
                              </a:solidFill>
                            </a:rPr>
                            <a:t>341</a:t>
                          </a:r>
                        </a:p>
                      </a:txBody>
                      <a:tcPr anchor="ctr"/>
                    </a:tc>
                    <a:extLst>
                      <a:ext uri="{0D108BD9-81ED-4DB2-BD59-A6C34878D82A}">
                        <a16:rowId xmlns:a16="http://schemas.microsoft.com/office/drawing/2014/main" val="10001"/>
                      </a:ext>
                    </a:extLst>
                  </a:tr>
                  <a:tr h="640080">
                    <a:tc>
                      <a:txBody>
                        <a:bodyPr/>
                        <a:lstStyle/>
                        <a:p>
                          <a:pPr algn="r"/>
                          <a:endParaRPr lang="en-GB" dirty="0">
                            <a:solidFill>
                              <a:schemeClr val="tx1"/>
                            </a:solidFill>
                          </a:endParaRPr>
                        </a:p>
                      </a:txBody>
                      <a:tcPr anchor="ctr">
                        <a:noFill/>
                      </a:tcPr>
                    </a:tc>
                    <a:tc>
                      <a:txBody>
                        <a:bodyPr/>
                        <a:lstStyle/>
                        <a:p>
                          <a:pPr algn="r"/>
                          <a:r>
                            <a:rPr lang="en-GB" sz="1800" b="1" dirty="0">
                              <a:solidFill>
                                <a:schemeClr val="accent2"/>
                              </a:solidFill>
                            </a:rPr>
                            <a:t>If all</a:t>
                          </a:r>
                          <a:r>
                            <a:rPr lang="en-GB" sz="1800" b="1" baseline="0" dirty="0">
                              <a:solidFill>
                                <a:schemeClr val="accent2"/>
                              </a:solidFill>
                            </a:rPr>
                            <a:t> products are equally attractive?</a:t>
                          </a:r>
                          <a:endParaRPr lang="en-GB" sz="1800" b="1" dirty="0">
                            <a:solidFill>
                              <a:schemeClr val="accent2"/>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box>
                                  <m:boxPr>
                                    <m:ctrlPr>
                                      <a:rPr lang="en-GB" sz="1800" b="0" i="1" smtClean="0">
                                        <a:solidFill>
                                          <a:schemeClr val="accent2"/>
                                        </a:solidFill>
                                        <a:latin typeface="Cambria Math" panose="02040503050406030204" pitchFamily="18" charset="0"/>
                                      </a:rPr>
                                    </m:ctrlPr>
                                  </m:boxPr>
                                  <m:e>
                                    <m:f>
                                      <m:fPr>
                                        <m:ctrlPr>
                                          <a:rPr lang="en-GB" sz="1800" b="0" i="1" smtClean="0">
                                            <a:solidFill>
                                              <a:schemeClr val="accent2"/>
                                            </a:solidFill>
                                            <a:latin typeface="Cambria Math" panose="02040503050406030204" pitchFamily="18" charset="0"/>
                                          </a:rPr>
                                        </m:ctrlPr>
                                      </m:fPr>
                                      <m:num>
                                        <m:r>
                                          <m:rPr>
                                            <m:sty m:val="p"/>
                                          </m:rPr>
                                          <a:rPr lang="en-GB" sz="1800" b="0" i="0" smtClean="0">
                                            <a:solidFill>
                                              <a:schemeClr val="accent2"/>
                                            </a:solidFill>
                                            <a:latin typeface="Cambria Math"/>
                                          </a:rPr>
                                          <m:t>total</m:t>
                                        </m:r>
                                      </m:num>
                                      <m:den>
                                        <m:r>
                                          <a:rPr lang="en-GB" sz="1800" b="0" i="0" smtClean="0">
                                            <a:solidFill>
                                              <a:schemeClr val="accent2"/>
                                            </a:solidFill>
                                            <a:latin typeface="Cambria Math"/>
                                          </a:rPr>
                                          <m:t>3</m:t>
                                        </m:r>
                                      </m:den>
                                    </m:f>
                                  </m:e>
                                </m:box>
                              </m:oMath>
                            </m:oMathPara>
                          </a14:m>
                          <a:endParaRPr lang="en-GB" sz="1800" b="0" i="0" dirty="0">
                            <a:solidFill>
                              <a:schemeClr val="accent2"/>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f>
                                  <m:fPr>
                                    <m:ctrlPr>
                                      <a:rPr lang="en-GB" sz="1800" b="0" i="1" smtClean="0">
                                        <a:solidFill>
                                          <a:schemeClr val="accent2"/>
                                        </a:solidFill>
                                        <a:latin typeface="Cambria Math" panose="02040503050406030204" pitchFamily="18" charset="0"/>
                                      </a:rPr>
                                    </m:ctrlPr>
                                  </m:fPr>
                                  <m:num>
                                    <m:r>
                                      <m:rPr>
                                        <m:sty m:val="p"/>
                                      </m:rPr>
                                      <a:rPr lang="en-GB" sz="1800" b="0" i="0" smtClean="0">
                                        <a:solidFill>
                                          <a:schemeClr val="accent2"/>
                                        </a:solidFill>
                                        <a:latin typeface="Cambria Math"/>
                                      </a:rPr>
                                      <m:t>total</m:t>
                                    </m:r>
                                  </m:num>
                                  <m:den>
                                    <m:r>
                                      <a:rPr lang="en-GB" sz="1800" b="0" i="0" smtClean="0">
                                        <a:solidFill>
                                          <a:schemeClr val="accent2"/>
                                        </a:solidFill>
                                        <a:latin typeface="Cambria Math"/>
                                      </a:rPr>
                                      <m:t>3</m:t>
                                    </m:r>
                                  </m:den>
                                </m:f>
                              </m:oMath>
                            </m:oMathPara>
                          </a14:m>
                          <a:endParaRPr lang="en-GB" sz="1800" b="0" i="0" dirty="0">
                            <a:solidFill>
                              <a:schemeClr val="accent2"/>
                            </a:solidFill>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GB" sz="1800" b="0" i="1" smtClean="0">
                                        <a:solidFill>
                                          <a:schemeClr val="accent2"/>
                                        </a:solidFill>
                                        <a:latin typeface="Cambria Math" panose="02040503050406030204" pitchFamily="18" charset="0"/>
                                      </a:rPr>
                                    </m:ctrlPr>
                                  </m:fPr>
                                  <m:num>
                                    <m:r>
                                      <m:rPr>
                                        <m:sty m:val="p"/>
                                      </m:rPr>
                                      <a:rPr lang="en-GB" sz="1800" b="0" i="0" smtClean="0">
                                        <a:solidFill>
                                          <a:schemeClr val="accent2"/>
                                        </a:solidFill>
                                        <a:latin typeface="Cambria Math"/>
                                      </a:rPr>
                                      <m:t>total</m:t>
                                    </m:r>
                                  </m:num>
                                  <m:den>
                                    <m:r>
                                      <a:rPr lang="en-GB" sz="1800" b="0" i="0" smtClean="0">
                                        <a:solidFill>
                                          <a:schemeClr val="accent2"/>
                                        </a:solidFill>
                                        <a:latin typeface="Cambria Math"/>
                                      </a:rPr>
                                      <m:t>3</m:t>
                                    </m:r>
                                  </m:den>
                                </m:f>
                              </m:oMath>
                            </m:oMathPara>
                          </a14:m>
                          <a:endParaRPr lang="en-GB" altLang="en-US" sz="1800" b="0" i="0" dirty="0">
                            <a:solidFill>
                              <a:schemeClr val="accent2"/>
                            </a:solidFill>
                          </a:endParaRPr>
                        </a:p>
                      </a:txBody>
                      <a:tcPr anchor="ctr"/>
                    </a:tc>
                    <a:extLst>
                      <a:ext uri="{0D108BD9-81ED-4DB2-BD59-A6C34878D82A}">
                        <a16:rowId xmlns:a16="http://schemas.microsoft.com/office/drawing/2014/main" val="10002"/>
                      </a:ext>
                    </a:extLst>
                  </a:tr>
                </a:tbl>
              </a:graphicData>
            </a:graphic>
          </p:graphicFrame>
        </mc:Choice>
        <mc:Fallback xmlns="">
          <p:graphicFrame>
            <p:nvGraphicFramePr>
              <p:cNvPr id="12" name="Table 11"/>
              <p:cNvGraphicFramePr>
                <a:graphicFrameLocks noGrp="1"/>
              </p:cNvGraphicFramePr>
              <p:nvPr>
                <p:extLst>
                  <p:ext uri="{D42A27DB-BD31-4B8C-83A1-F6EECF244321}">
                    <p14:modId xmlns:p14="http://schemas.microsoft.com/office/powerpoint/2010/main" val="2896188434"/>
                  </p:ext>
                </p:extLst>
              </p:nvPr>
            </p:nvGraphicFramePr>
            <p:xfrm>
              <a:off x="685800" y="1828800"/>
              <a:ext cx="7620000" cy="1651000"/>
            </p:xfrm>
            <a:graphic>
              <a:graphicData uri="http://schemas.openxmlformats.org/drawingml/2006/table">
                <a:tbl>
                  <a:tblPr firstRow="1" bandRow="1">
                    <a:tableStyleId>{5C22544A-7EE6-4342-B048-85BDC9FD1C3A}</a:tableStyleId>
                  </a:tblPr>
                  <a:tblGrid>
                    <a:gridCol w="1905000"/>
                    <a:gridCol w="2514600"/>
                    <a:gridCol w="1066800"/>
                    <a:gridCol w="1066800"/>
                    <a:gridCol w="1066800"/>
                  </a:tblGrid>
                  <a:tr h="370840">
                    <a:tc>
                      <a:txBody>
                        <a:bodyPr/>
                        <a:lstStyle/>
                        <a:p>
                          <a:pPr algn="ctr"/>
                          <a:endParaRPr lang="en-GB" dirty="0"/>
                        </a:p>
                      </a:txBody>
                      <a:tcPr>
                        <a:noFill/>
                      </a:tcPr>
                    </a:tc>
                    <a:tc>
                      <a:txBody>
                        <a:bodyPr/>
                        <a:lstStyle/>
                        <a:p>
                          <a:pPr algn="ctr"/>
                          <a:endParaRPr lang="en-GB" dirty="0"/>
                        </a:p>
                      </a:txBody>
                      <a:tcPr/>
                    </a:tc>
                    <a:tc>
                      <a:txBody>
                        <a:bodyPr/>
                        <a:lstStyle/>
                        <a:p>
                          <a:pPr algn="ctr"/>
                          <a:r>
                            <a:rPr lang="en-GB" dirty="0" smtClean="0"/>
                            <a:t>A</a:t>
                          </a:r>
                          <a:endParaRPr lang="en-GB" dirty="0"/>
                        </a:p>
                      </a:txBody>
                      <a:tcPr/>
                    </a:tc>
                    <a:tc>
                      <a:txBody>
                        <a:bodyPr/>
                        <a:lstStyle/>
                        <a:p>
                          <a:pPr algn="ctr"/>
                          <a:r>
                            <a:rPr lang="en-GB" dirty="0" smtClean="0"/>
                            <a:t>B</a:t>
                          </a:r>
                          <a:endParaRPr lang="en-GB" dirty="0"/>
                        </a:p>
                      </a:txBody>
                      <a:tcPr/>
                    </a:tc>
                    <a:tc>
                      <a:txBody>
                        <a:bodyPr/>
                        <a:lstStyle/>
                        <a:p>
                          <a:pPr algn="ctr"/>
                          <a:r>
                            <a:rPr lang="en-GB" dirty="0" smtClean="0"/>
                            <a:t>C</a:t>
                          </a:r>
                          <a:endParaRPr lang="en-GB" dirty="0"/>
                        </a:p>
                      </a:txBody>
                      <a:tcPr/>
                    </a:tc>
                  </a:tr>
                  <a:tr h="640080">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GB" dirty="0" smtClean="0"/>
                        </a:p>
                        <a:p>
                          <a:pPr algn="r"/>
                          <a:endParaRPr lang="en-GB" dirty="0">
                            <a:solidFill>
                              <a:schemeClr val="tx1"/>
                            </a:solidFill>
                          </a:endParaRPr>
                        </a:p>
                      </a:txBody>
                      <a:tcPr anchor="ctr">
                        <a:noFill/>
                      </a:tcPr>
                    </a:tc>
                    <a:tc>
                      <a:txBody>
                        <a:bodyPr/>
                        <a:lstStyle/>
                        <a:p>
                          <a:pPr algn="r"/>
                          <a:r>
                            <a:rPr lang="en-GB" sz="1800" dirty="0" smtClean="0">
                              <a:solidFill>
                                <a:schemeClr val="tx1"/>
                              </a:solidFill>
                            </a:rPr>
                            <a:t>Number</a:t>
                          </a:r>
                          <a:r>
                            <a:rPr lang="en-GB" sz="1800" baseline="0" dirty="0" smtClean="0">
                              <a:solidFill>
                                <a:schemeClr val="tx1"/>
                              </a:solidFill>
                            </a:rPr>
                            <a:t> of customers responded</a:t>
                          </a:r>
                          <a:endParaRPr lang="en-GB" sz="1800" b="1" dirty="0">
                            <a:solidFill>
                              <a:schemeClr val="tx1"/>
                            </a:solidFill>
                          </a:endParaRPr>
                        </a:p>
                      </a:txBody>
                      <a:tcPr anchor="ctr"/>
                    </a:tc>
                    <a:tc>
                      <a:txBody>
                        <a:bodyPr/>
                        <a:lstStyle/>
                        <a:p>
                          <a:pPr algn="ctr"/>
                          <a:r>
                            <a:rPr lang="en-GB" altLang="en-US" sz="2400" b="1" dirty="0" smtClean="0">
                              <a:solidFill>
                                <a:schemeClr val="tx1"/>
                              </a:solidFill>
                            </a:rPr>
                            <a:t>270</a:t>
                          </a:r>
                          <a:endParaRPr lang="en-GB" sz="2400" b="1" dirty="0">
                            <a:solidFill>
                              <a:schemeClr val="tx1"/>
                            </a:solidFill>
                          </a:endParaRPr>
                        </a:p>
                      </a:txBody>
                      <a:tcPr anchor="ctr"/>
                    </a:tc>
                    <a:tc>
                      <a:txBody>
                        <a:bodyPr/>
                        <a:lstStyle/>
                        <a:p>
                          <a:pPr algn="ctr"/>
                          <a:r>
                            <a:rPr lang="en-GB" altLang="en-US" sz="2400" b="1" dirty="0" smtClean="0">
                              <a:solidFill>
                                <a:schemeClr val="tx1"/>
                              </a:solidFill>
                            </a:rPr>
                            <a:t>286</a:t>
                          </a:r>
                          <a:endParaRPr lang="en-GB" sz="2400" b="1" dirty="0">
                            <a:solidFill>
                              <a:schemeClr val="tx1"/>
                            </a:solidFill>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altLang="en-US" sz="2400" b="1" dirty="0" smtClean="0">
                              <a:solidFill>
                                <a:schemeClr val="tx1"/>
                              </a:solidFill>
                            </a:rPr>
                            <a:t>341</a:t>
                          </a:r>
                        </a:p>
                      </a:txBody>
                      <a:tcPr anchor="ctr"/>
                    </a:tc>
                  </a:tr>
                  <a:tr h="640080">
                    <a:tc>
                      <a:txBody>
                        <a:bodyPr/>
                        <a:lstStyle/>
                        <a:p>
                          <a:pPr algn="r"/>
                          <a:endParaRPr lang="en-GB" dirty="0">
                            <a:solidFill>
                              <a:schemeClr val="tx1"/>
                            </a:solidFill>
                          </a:endParaRPr>
                        </a:p>
                      </a:txBody>
                      <a:tcPr anchor="ctr">
                        <a:noFill/>
                      </a:tcPr>
                    </a:tc>
                    <a:tc>
                      <a:txBody>
                        <a:bodyPr/>
                        <a:lstStyle/>
                        <a:p>
                          <a:pPr algn="r"/>
                          <a:r>
                            <a:rPr lang="en-GB" sz="1800" b="1" dirty="0" smtClean="0">
                              <a:solidFill>
                                <a:schemeClr val="accent2"/>
                              </a:solidFill>
                            </a:rPr>
                            <a:t>If all</a:t>
                          </a:r>
                          <a:r>
                            <a:rPr lang="en-GB" sz="1800" b="1" baseline="0" dirty="0" smtClean="0">
                              <a:solidFill>
                                <a:schemeClr val="accent2"/>
                              </a:solidFill>
                            </a:rPr>
                            <a:t> products are equally attractive?</a:t>
                          </a:r>
                          <a:endParaRPr lang="en-GB" sz="1800" b="1" dirty="0">
                            <a:solidFill>
                              <a:schemeClr val="accent2"/>
                            </a:solidFill>
                          </a:endParaRPr>
                        </a:p>
                      </a:txBody>
                      <a:tcPr anchor="ctr"/>
                    </a:tc>
                    <a:tc>
                      <a:txBody>
                        <a:bodyPr/>
                        <a:lstStyle/>
                        <a:p>
                          <a:endParaRPr lang="en-US"/>
                        </a:p>
                      </a:txBody>
                      <a:tcPr anchor="ctr">
                        <a:blipFill rotWithShape="1">
                          <a:blip r:embed="rId3"/>
                          <a:stretch>
                            <a:fillRect l="-414857" t="-162857" r="-200000" b="-15238"/>
                          </a:stretch>
                        </a:blipFill>
                      </a:tcPr>
                    </a:tc>
                    <a:tc>
                      <a:txBody>
                        <a:bodyPr/>
                        <a:lstStyle/>
                        <a:p>
                          <a:endParaRPr lang="en-US"/>
                        </a:p>
                      </a:txBody>
                      <a:tcPr anchor="ctr">
                        <a:blipFill rotWithShape="1">
                          <a:blip r:embed="rId3"/>
                          <a:stretch>
                            <a:fillRect l="-514857" t="-162857" r="-100000" b="-15238"/>
                          </a:stretch>
                        </a:blipFill>
                      </a:tcPr>
                    </a:tc>
                    <a:tc>
                      <a:txBody>
                        <a:bodyPr/>
                        <a:lstStyle/>
                        <a:p>
                          <a:endParaRPr lang="en-US"/>
                        </a:p>
                      </a:txBody>
                      <a:tcPr anchor="ctr">
                        <a:blipFill rotWithShape="1">
                          <a:blip r:embed="rId3"/>
                          <a:stretch>
                            <a:fillRect l="-614857" t="-162857" b="-15238"/>
                          </a:stretch>
                        </a:blipFill>
                      </a:tcPr>
                    </a:tc>
                  </a:tr>
                </a:tbl>
              </a:graphicData>
            </a:graphic>
          </p:graphicFrame>
        </mc:Fallback>
      </mc:AlternateContent>
      <p:graphicFrame>
        <p:nvGraphicFramePr>
          <p:cNvPr id="13" name="Table 12"/>
          <p:cNvGraphicFramePr>
            <a:graphicFrameLocks noGrp="1"/>
          </p:cNvGraphicFramePr>
          <p:nvPr>
            <p:extLst>
              <p:ext uri="{D42A27DB-BD31-4B8C-83A1-F6EECF244321}">
                <p14:modId xmlns:p14="http://schemas.microsoft.com/office/powerpoint/2010/main" val="2857633304"/>
              </p:ext>
            </p:extLst>
          </p:nvPr>
        </p:nvGraphicFramePr>
        <p:xfrm>
          <a:off x="685800" y="1828800"/>
          <a:ext cx="7620000" cy="1651000"/>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tblGrid>
              <a:tr h="370840">
                <a:tc>
                  <a:txBody>
                    <a:bodyPr/>
                    <a:lstStyle/>
                    <a:p>
                      <a:pPr algn="ctr"/>
                      <a:endParaRPr lang="en-GB" dirty="0"/>
                    </a:p>
                  </a:txBody>
                  <a:tcPr>
                    <a:noFill/>
                  </a:tcPr>
                </a:tc>
                <a:tc>
                  <a:txBody>
                    <a:bodyPr/>
                    <a:lstStyle/>
                    <a:p>
                      <a:pPr algn="ctr"/>
                      <a:endParaRPr lang="en-GB" dirty="0"/>
                    </a:p>
                  </a:txBody>
                  <a:tcPr/>
                </a:tc>
                <a:tc>
                  <a:txBody>
                    <a:bodyPr/>
                    <a:lstStyle/>
                    <a:p>
                      <a:pPr algn="ctr"/>
                      <a:r>
                        <a:rPr lang="en-GB" dirty="0"/>
                        <a:t>A</a:t>
                      </a:r>
                    </a:p>
                  </a:txBody>
                  <a:tcPr/>
                </a:tc>
                <a:tc>
                  <a:txBody>
                    <a:bodyPr/>
                    <a:lstStyle/>
                    <a:p>
                      <a:pPr algn="ctr"/>
                      <a:r>
                        <a:rPr lang="en-GB" dirty="0"/>
                        <a:t>B</a:t>
                      </a:r>
                    </a:p>
                  </a:txBody>
                  <a:tcPr/>
                </a:tc>
                <a:tc>
                  <a:txBody>
                    <a:bodyPr/>
                    <a:lstStyle/>
                    <a:p>
                      <a:pPr algn="ctr"/>
                      <a:r>
                        <a:rPr lang="en-GB" dirty="0"/>
                        <a:t>C</a:t>
                      </a:r>
                    </a:p>
                  </a:txBody>
                  <a:tcPr/>
                </a:tc>
                <a:extLst>
                  <a:ext uri="{0D108BD9-81ED-4DB2-BD59-A6C34878D82A}">
                    <a16:rowId xmlns:a16="http://schemas.microsoft.com/office/drawing/2014/main" val="10000"/>
                  </a:ext>
                </a:extLst>
              </a:tr>
              <a:tr h="370840">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GB" dirty="0"/>
                    </a:p>
                    <a:p>
                      <a:pPr algn="r"/>
                      <a:endParaRPr lang="en-GB" dirty="0">
                        <a:solidFill>
                          <a:schemeClr val="tx1"/>
                        </a:solidFill>
                      </a:endParaRPr>
                    </a:p>
                  </a:txBody>
                  <a:tcPr anchor="ctr">
                    <a:noFill/>
                  </a:tcPr>
                </a:tc>
                <a:tc>
                  <a:txBody>
                    <a:bodyPr/>
                    <a:lstStyle/>
                    <a:p>
                      <a:pPr algn="r"/>
                      <a:r>
                        <a:rPr lang="en-GB" sz="1800" dirty="0">
                          <a:solidFill>
                            <a:schemeClr val="tx1"/>
                          </a:solidFill>
                        </a:rPr>
                        <a:t>Number</a:t>
                      </a:r>
                      <a:r>
                        <a:rPr lang="en-GB" sz="1800" baseline="0" dirty="0">
                          <a:solidFill>
                            <a:schemeClr val="tx1"/>
                          </a:solidFill>
                        </a:rPr>
                        <a:t> of customers responded</a:t>
                      </a:r>
                      <a:endParaRPr lang="en-GB" sz="1800" b="1" dirty="0">
                        <a:solidFill>
                          <a:schemeClr val="tx1"/>
                        </a:solidFill>
                      </a:endParaRPr>
                    </a:p>
                  </a:txBody>
                  <a:tcPr anchor="ctr"/>
                </a:tc>
                <a:tc>
                  <a:txBody>
                    <a:bodyPr/>
                    <a:lstStyle/>
                    <a:p>
                      <a:pPr algn="ctr"/>
                      <a:r>
                        <a:rPr lang="en-GB" altLang="en-US" sz="2400" b="1" dirty="0">
                          <a:solidFill>
                            <a:schemeClr val="tx1"/>
                          </a:solidFill>
                        </a:rPr>
                        <a:t>270</a:t>
                      </a:r>
                      <a:endParaRPr lang="en-GB" sz="2400" b="1" dirty="0">
                        <a:solidFill>
                          <a:schemeClr val="tx1"/>
                        </a:solidFill>
                      </a:endParaRPr>
                    </a:p>
                  </a:txBody>
                  <a:tcPr anchor="ctr"/>
                </a:tc>
                <a:tc>
                  <a:txBody>
                    <a:bodyPr/>
                    <a:lstStyle/>
                    <a:p>
                      <a:pPr algn="ctr"/>
                      <a:r>
                        <a:rPr lang="en-GB" altLang="en-US" sz="2400" b="1" dirty="0">
                          <a:solidFill>
                            <a:schemeClr val="tx1"/>
                          </a:solidFill>
                        </a:rPr>
                        <a:t>286</a:t>
                      </a:r>
                      <a:endParaRPr lang="en-GB" sz="2400" b="1" dirty="0">
                        <a:solidFill>
                          <a:schemeClr val="tx1"/>
                        </a:solidFill>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altLang="en-US" sz="2400" b="1" dirty="0">
                          <a:solidFill>
                            <a:schemeClr val="tx1"/>
                          </a:solidFill>
                        </a:rPr>
                        <a:t>341</a:t>
                      </a:r>
                    </a:p>
                  </a:txBody>
                  <a:tcPr anchor="ctr"/>
                </a:tc>
                <a:extLst>
                  <a:ext uri="{0D108BD9-81ED-4DB2-BD59-A6C34878D82A}">
                    <a16:rowId xmlns:a16="http://schemas.microsoft.com/office/drawing/2014/main" val="10001"/>
                  </a:ext>
                </a:extLst>
              </a:tr>
              <a:tr h="370840">
                <a:tc>
                  <a:txBody>
                    <a:bodyPr/>
                    <a:lstStyle/>
                    <a:p>
                      <a:pPr algn="r"/>
                      <a:endParaRPr lang="en-GB" dirty="0">
                        <a:solidFill>
                          <a:schemeClr val="tx1"/>
                        </a:solidFill>
                      </a:endParaRPr>
                    </a:p>
                  </a:txBody>
                  <a:tcPr anchor="ctr">
                    <a:noFill/>
                  </a:tcPr>
                </a:tc>
                <a:tc>
                  <a:txBody>
                    <a:bodyPr/>
                    <a:lstStyle/>
                    <a:p>
                      <a:pPr algn="r"/>
                      <a:r>
                        <a:rPr lang="en-GB" sz="1800" b="1" dirty="0">
                          <a:solidFill>
                            <a:schemeClr val="accent2"/>
                          </a:solidFill>
                        </a:rPr>
                        <a:t>Expected number of customers responded</a:t>
                      </a:r>
                    </a:p>
                  </a:txBody>
                  <a:tcPr anchor="ctr"/>
                </a:tc>
                <a:tc>
                  <a:txBody>
                    <a:bodyPr/>
                    <a:lstStyle/>
                    <a:p>
                      <a:pPr algn="ctr"/>
                      <a:r>
                        <a:rPr lang="en-GB" sz="2400" b="1" dirty="0">
                          <a:solidFill>
                            <a:schemeClr val="accent2"/>
                          </a:solidFill>
                        </a:rPr>
                        <a:t>299</a:t>
                      </a:r>
                    </a:p>
                  </a:txBody>
                  <a:tcPr anchor="ctr"/>
                </a:tc>
                <a:tc>
                  <a:txBody>
                    <a:bodyPr/>
                    <a:lstStyle/>
                    <a:p>
                      <a:pPr algn="ctr"/>
                      <a:r>
                        <a:rPr lang="en-GB" sz="2400" b="1" dirty="0">
                          <a:solidFill>
                            <a:schemeClr val="accent2"/>
                          </a:solidFill>
                        </a:rPr>
                        <a:t>299</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altLang="en-US" sz="2400" b="1" dirty="0">
                          <a:solidFill>
                            <a:schemeClr val="accent2"/>
                          </a:solidFill>
                        </a:rPr>
                        <a:t>299</a:t>
                      </a:r>
                    </a:p>
                  </a:txBody>
                  <a:tcPr anchor="ctr"/>
                </a:tc>
                <a:extLst>
                  <a:ext uri="{0D108BD9-81ED-4DB2-BD59-A6C34878D82A}">
                    <a16:rowId xmlns:a16="http://schemas.microsoft.com/office/drawing/2014/main" val="10002"/>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3886631581"/>
              </p:ext>
            </p:extLst>
          </p:nvPr>
        </p:nvGraphicFramePr>
        <p:xfrm>
          <a:off x="685800" y="3488541"/>
          <a:ext cx="7620000" cy="365760"/>
        </p:xfrm>
        <a:graphic>
          <a:graphicData uri="http://schemas.openxmlformats.org/drawingml/2006/table">
            <a:tbl>
              <a:tblPr bandRow="1">
                <a:tableStyleId>{5C22544A-7EE6-4342-B048-85BDC9FD1C3A}</a:tableStyleId>
              </a:tblPr>
              <a:tblGrid>
                <a:gridCol w="19050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tblGrid>
              <a:tr h="0">
                <a:tc>
                  <a:txBody>
                    <a:bodyPr/>
                    <a:lstStyle/>
                    <a:p>
                      <a:pPr algn="r"/>
                      <a:endParaRPr lang="en-GB" sz="1800" dirty="0">
                        <a:solidFill>
                          <a:schemeClr val="tx1"/>
                        </a:solidFill>
                      </a:endParaRPr>
                    </a:p>
                  </a:txBody>
                  <a:tcPr anchor="ctr">
                    <a:noFill/>
                  </a:tcPr>
                </a:tc>
                <a:tc>
                  <a:txBody>
                    <a:bodyPr/>
                    <a:lstStyle/>
                    <a:p>
                      <a:pPr algn="r"/>
                      <a:r>
                        <a:rPr lang="en-GB" sz="1800" b="1" dirty="0">
                          <a:solidFill>
                            <a:schemeClr val="tx1"/>
                          </a:solidFill>
                        </a:rPr>
                        <a:t>Observed - Expected</a:t>
                      </a:r>
                    </a:p>
                  </a:txBody>
                  <a:tcPr anchor="ctr"/>
                </a:tc>
                <a:tc>
                  <a:txBody>
                    <a:bodyPr/>
                    <a:lstStyle/>
                    <a:p>
                      <a:pPr algn="ctr"/>
                      <a:r>
                        <a:rPr lang="en-GB" sz="1800" b="1" dirty="0">
                          <a:solidFill>
                            <a:schemeClr val="tx1"/>
                          </a:solidFill>
                        </a:rPr>
                        <a:t>-29</a:t>
                      </a:r>
                    </a:p>
                  </a:txBody>
                  <a:tcPr anchor="ctr"/>
                </a:tc>
                <a:tc>
                  <a:txBody>
                    <a:bodyPr/>
                    <a:lstStyle/>
                    <a:p>
                      <a:pPr algn="ctr"/>
                      <a:r>
                        <a:rPr lang="en-GB" sz="1800" b="1" dirty="0">
                          <a:solidFill>
                            <a:schemeClr val="tx1"/>
                          </a:solidFill>
                        </a:rPr>
                        <a:t>-13</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altLang="en-US" sz="1800" b="1" dirty="0">
                          <a:solidFill>
                            <a:schemeClr val="tx1"/>
                          </a:solidFill>
                        </a:rPr>
                        <a:t>42</a:t>
                      </a:r>
                    </a:p>
                  </a:txBody>
                  <a:tcPr anchor="ctr"/>
                </a:tc>
                <a:extLst>
                  <a:ext uri="{0D108BD9-81ED-4DB2-BD59-A6C34878D82A}">
                    <a16:rowId xmlns:a16="http://schemas.microsoft.com/office/drawing/2014/main" val="10000"/>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1024797564"/>
              </p:ext>
            </p:extLst>
          </p:nvPr>
        </p:nvGraphicFramePr>
        <p:xfrm>
          <a:off x="685800" y="3869541"/>
          <a:ext cx="7620000" cy="365760"/>
        </p:xfrm>
        <a:graphic>
          <a:graphicData uri="http://schemas.openxmlformats.org/drawingml/2006/table">
            <a:tbl>
              <a:tblPr>
                <a:tableStyleId>{5C22544A-7EE6-4342-B048-85BDC9FD1C3A}</a:tableStyleId>
              </a:tblPr>
              <a:tblGrid>
                <a:gridCol w="19050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tblGrid>
              <a:tr h="345913">
                <a:tc>
                  <a:txBody>
                    <a:bodyPr/>
                    <a:lstStyle/>
                    <a:p>
                      <a:pPr algn="r"/>
                      <a:endParaRPr lang="en-GB" sz="1800" dirty="0">
                        <a:solidFill>
                          <a:schemeClr val="tx1"/>
                        </a:solidFill>
                      </a:endParaRPr>
                    </a:p>
                  </a:txBody>
                  <a:tcPr anchor="ctr">
                    <a:noFill/>
                  </a:tcPr>
                </a:tc>
                <a:tc>
                  <a:txBody>
                    <a:bodyPr/>
                    <a:lstStyle/>
                    <a:p>
                      <a:pPr algn="r"/>
                      <a:r>
                        <a:rPr lang="en-GB" sz="1800" b="1" dirty="0">
                          <a:solidFill>
                            <a:schemeClr val="bg1">
                              <a:lumMod val="50000"/>
                            </a:schemeClr>
                          </a:solidFill>
                        </a:rPr>
                        <a:t>(Observed – Expected)</a:t>
                      </a:r>
                      <a:r>
                        <a:rPr lang="en-GB" sz="1800" b="1" baseline="30000" dirty="0">
                          <a:solidFill>
                            <a:schemeClr val="bg1">
                              <a:lumMod val="50000"/>
                            </a:schemeClr>
                          </a:solidFill>
                        </a:rPr>
                        <a:t>2</a:t>
                      </a:r>
                    </a:p>
                  </a:txBody>
                  <a:tcPr anchor="ctr"/>
                </a:tc>
                <a:tc>
                  <a:txBody>
                    <a:bodyPr/>
                    <a:lstStyle/>
                    <a:p>
                      <a:pPr algn="ctr"/>
                      <a:r>
                        <a:rPr lang="en-GB" sz="1800" b="1" dirty="0">
                          <a:solidFill>
                            <a:schemeClr val="bg1">
                              <a:lumMod val="50000"/>
                            </a:schemeClr>
                          </a:solidFill>
                        </a:rPr>
                        <a:t>841</a:t>
                      </a:r>
                    </a:p>
                  </a:txBody>
                  <a:tcPr anchor="ctr"/>
                </a:tc>
                <a:tc>
                  <a:txBody>
                    <a:bodyPr/>
                    <a:lstStyle/>
                    <a:p>
                      <a:pPr algn="ctr"/>
                      <a:r>
                        <a:rPr lang="en-GB" sz="1800" b="1" dirty="0">
                          <a:solidFill>
                            <a:schemeClr val="bg1">
                              <a:lumMod val="50000"/>
                            </a:schemeClr>
                          </a:solidFill>
                        </a:rPr>
                        <a:t>169</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altLang="en-US" sz="1800" b="1" dirty="0">
                          <a:solidFill>
                            <a:schemeClr val="bg1">
                              <a:lumMod val="50000"/>
                            </a:schemeClr>
                          </a:solidFill>
                        </a:rPr>
                        <a:t>1764</a:t>
                      </a:r>
                    </a:p>
                  </a:txBody>
                  <a:tcPr anchor="ct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graphicFrame>
            <p:nvGraphicFramePr>
              <p:cNvPr id="7" name="Table 6"/>
              <p:cNvGraphicFramePr>
                <a:graphicFrameLocks noGrp="1"/>
              </p:cNvGraphicFramePr>
              <p:nvPr>
                <p:extLst>
                  <p:ext uri="{D42A27DB-BD31-4B8C-83A1-F6EECF244321}">
                    <p14:modId xmlns:p14="http://schemas.microsoft.com/office/powerpoint/2010/main" val="2355140334"/>
                  </p:ext>
                </p:extLst>
              </p:nvPr>
            </p:nvGraphicFramePr>
            <p:xfrm>
              <a:off x="685800" y="1828800"/>
              <a:ext cx="1905000" cy="1651000"/>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20000"/>
                        </a:ext>
                      </a:extLst>
                    </a:gridCol>
                  </a:tblGrid>
                  <a:tr h="370840">
                    <a:tc>
                      <a:txBody>
                        <a:bodyPr/>
                        <a:lstStyle/>
                        <a:p>
                          <a:pPr algn="ctr"/>
                          <a:r>
                            <a:rPr lang="en-GB" dirty="0"/>
                            <a:t>Notations</a:t>
                          </a:r>
                        </a:p>
                      </a:txBody>
                      <a:tcPr/>
                    </a:tc>
                    <a:extLst>
                      <a:ext uri="{0D108BD9-81ED-4DB2-BD59-A6C34878D82A}">
                        <a16:rowId xmlns:a16="http://schemas.microsoft.com/office/drawing/2014/main" val="10000"/>
                      </a:ext>
                    </a:extLst>
                  </a:tr>
                  <a:tr h="640080">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right"/>
                              </m:oMathParaPr>
                              <m:oMath xmlns:m="http://schemas.openxmlformats.org/officeDocument/2006/math">
                                <m:sSub>
                                  <m:sSubPr>
                                    <m:ctrlPr>
                                      <a:rPr lang="en-GB" sz="3600" i="1" smtClean="0">
                                        <a:latin typeface="Cambria Math" panose="02040503050406030204" pitchFamily="18" charset="0"/>
                                      </a:rPr>
                                    </m:ctrlPr>
                                  </m:sSubPr>
                                  <m:e>
                                    <m:r>
                                      <a:rPr lang="en-GB" sz="3600" b="0" i="1" smtClean="0">
                                        <a:latin typeface="Cambria Math"/>
                                      </a:rPr>
                                      <m:t>𝑓</m:t>
                                    </m:r>
                                  </m:e>
                                  <m:sub>
                                    <m:r>
                                      <a:rPr lang="en-GB" sz="3600" b="0" i="1" smtClean="0">
                                        <a:latin typeface="Cambria Math"/>
                                      </a:rPr>
                                      <m:t>𝑜</m:t>
                                    </m:r>
                                  </m:sub>
                                </m:sSub>
                              </m:oMath>
                            </m:oMathPara>
                          </a14:m>
                          <a:endParaRPr lang="en-GB" sz="3600" dirty="0">
                            <a:solidFill>
                              <a:schemeClr val="tx1"/>
                            </a:solidFill>
                          </a:endParaRPr>
                        </a:p>
                      </a:txBody>
                      <a:tcPr anchor="ctr"/>
                    </a:tc>
                    <a:extLst>
                      <a:ext uri="{0D108BD9-81ED-4DB2-BD59-A6C34878D82A}">
                        <a16:rowId xmlns:a16="http://schemas.microsoft.com/office/drawing/2014/main" val="10001"/>
                      </a:ext>
                    </a:extLst>
                  </a:tr>
                  <a:tr h="640080">
                    <a:tc>
                      <a:txBody>
                        <a:bodyPr/>
                        <a:lstStyle/>
                        <a:p>
                          <a:pPr algn="r"/>
                          <a14:m>
                            <m:oMathPara xmlns:m="http://schemas.openxmlformats.org/officeDocument/2006/math">
                              <m:oMathParaPr>
                                <m:jc m:val="right"/>
                              </m:oMathParaPr>
                              <m:oMath xmlns:m="http://schemas.openxmlformats.org/officeDocument/2006/math">
                                <m:sSub>
                                  <m:sSubPr>
                                    <m:ctrlPr>
                                      <a:rPr lang="en-GB" sz="3600" i="1" smtClean="0">
                                        <a:latin typeface="Cambria Math" panose="02040503050406030204" pitchFamily="18" charset="0"/>
                                      </a:rPr>
                                    </m:ctrlPr>
                                  </m:sSubPr>
                                  <m:e>
                                    <m:r>
                                      <a:rPr lang="en-GB" sz="3600" b="0" i="1" smtClean="0">
                                        <a:latin typeface="Cambria Math"/>
                                      </a:rPr>
                                      <m:t>𝑓</m:t>
                                    </m:r>
                                  </m:e>
                                  <m:sub>
                                    <m:r>
                                      <a:rPr lang="en-GB" sz="3600" b="0" i="1" smtClean="0">
                                        <a:latin typeface="Cambria Math"/>
                                      </a:rPr>
                                      <m:t>𝑒</m:t>
                                    </m:r>
                                  </m:sub>
                                </m:sSub>
                              </m:oMath>
                            </m:oMathPara>
                          </a14:m>
                          <a:endParaRPr lang="en-GB" sz="3600" dirty="0">
                            <a:solidFill>
                              <a:schemeClr val="tx1"/>
                            </a:solidFill>
                          </a:endParaRPr>
                        </a:p>
                      </a:txBody>
                      <a:tcPr anchor="ctr"/>
                    </a:tc>
                    <a:extLst>
                      <a:ext uri="{0D108BD9-81ED-4DB2-BD59-A6C34878D82A}">
                        <a16:rowId xmlns:a16="http://schemas.microsoft.com/office/drawing/2014/main" val="10002"/>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2355140334"/>
                  </p:ext>
                </p:extLst>
              </p:nvPr>
            </p:nvGraphicFramePr>
            <p:xfrm>
              <a:off x="685800" y="1828800"/>
              <a:ext cx="1905000" cy="1651000"/>
            </p:xfrm>
            <a:graphic>
              <a:graphicData uri="http://schemas.openxmlformats.org/drawingml/2006/table">
                <a:tbl>
                  <a:tblPr firstRow="1" bandRow="1">
                    <a:tableStyleId>{5C22544A-7EE6-4342-B048-85BDC9FD1C3A}</a:tableStyleId>
                  </a:tblPr>
                  <a:tblGrid>
                    <a:gridCol w="1905000"/>
                  </a:tblGrid>
                  <a:tr h="370840">
                    <a:tc>
                      <a:txBody>
                        <a:bodyPr/>
                        <a:lstStyle/>
                        <a:p>
                          <a:pPr algn="ctr"/>
                          <a:r>
                            <a:rPr lang="en-GB" dirty="0" smtClean="0"/>
                            <a:t>Notations</a:t>
                          </a:r>
                          <a:endParaRPr lang="en-GB" dirty="0"/>
                        </a:p>
                      </a:txBody>
                      <a:tcPr/>
                    </a:tc>
                  </a:tr>
                  <a:tr h="640080">
                    <a:tc>
                      <a:txBody>
                        <a:bodyPr/>
                        <a:lstStyle/>
                        <a:p>
                          <a:endParaRPr lang="en-US"/>
                        </a:p>
                      </a:txBody>
                      <a:tcPr anchor="ctr">
                        <a:blipFill rotWithShape="1">
                          <a:blip r:embed="rId4"/>
                          <a:stretch>
                            <a:fillRect l="-321" t="-62857" b="-100000"/>
                          </a:stretch>
                        </a:blipFill>
                      </a:tcPr>
                    </a:tc>
                  </a:tr>
                  <a:tr h="640080">
                    <a:tc>
                      <a:txBody>
                        <a:bodyPr/>
                        <a:lstStyle/>
                        <a:p>
                          <a:endParaRPr lang="en-US"/>
                        </a:p>
                      </a:txBody>
                      <a:tcPr anchor="ctr">
                        <a:blipFill rotWithShape="1">
                          <a:blip r:embed="rId4"/>
                          <a:stretch>
                            <a:fillRect l="-321" t="-162857"/>
                          </a:stretch>
                        </a:blipFill>
                      </a:tcPr>
                    </a:tc>
                  </a:tr>
                </a:tbl>
              </a:graphicData>
            </a:graphic>
          </p:graphicFrame>
        </mc:Fallback>
      </mc:AlternateContent>
    </p:spTree>
    <p:extLst>
      <p:ext uri="{BB962C8B-B14F-4D97-AF65-F5344CB8AC3E}">
        <p14:creationId xmlns:p14="http://schemas.microsoft.com/office/powerpoint/2010/main" val="1424624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t>Chi Squared (</a:t>
            </a:r>
            <a:r>
              <a:rPr lang="en-GB" altLang="en-US" dirty="0">
                <a:sym typeface="Symbol" pitchFamily="18" charset="2"/>
              </a:rPr>
              <a:t></a:t>
            </a:r>
            <a:r>
              <a:rPr lang="en-GB" altLang="en-US" baseline="30000" dirty="0">
                <a:sym typeface="Symbol" pitchFamily="18" charset="2"/>
              </a:rPr>
              <a:t>2</a:t>
            </a:r>
            <a:r>
              <a:rPr lang="en-GB" altLang="en-US" dirty="0">
                <a:sym typeface="Symbol" pitchFamily="18" charset="2"/>
              </a:rPr>
              <a:t>)</a:t>
            </a:r>
            <a:endParaRPr lang="en-GB" dirty="0"/>
          </a:p>
        </p:txBody>
      </p:sp>
      <p:sp>
        <p:nvSpPr>
          <p:cNvPr id="8" name="Rectangle 7"/>
          <p:cNvSpPr/>
          <p:nvPr/>
        </p:nvSpPr>
        <p:spPr>
          <a:xfrm>
            <a:off x="288925" y="838200"/>
            <a:ext cx="5396927" cy="461665"/>
          </a:xfrm>
          <a:prstGeom prst="rect">
            <a:avLst/>
          </a:prstGeom>
        </p:spPr>
        <p:txBody>
          <a:bodyPr wrap="none">
            <a:spAutoFit/>
          </a:bodyPr>
          <a:lstStyle/>
          <a:p>
            <a:r>
              <a:rPr lang="en-GB" altLang="en-US" sz="2400" dirty="0"/>
              <a:t>Are the three products equally attractive?</a:t>
            </a:r>
          </a:p>
        </p:txBody>
      </p:sp>
      <mc:AlternateContent xmlns:mc="http://schemas.openxmlformats.org/markup-compatibility/2006" xmlns:a14="http://schemas.microsoft.com/office/drawing/2010/main">
        <mc:Choice Requires="a14">
          <p:graphicFrame>
            <p:nvGraphicFramePr>
              <p:cNvPr id="12" name="Table 11"/>
              <p:cNvGraphicFramePr>
                <a:graphicFrameLocks noGrp="1"/>
              </p:cNvGraphicFramePr>
              <p:nvPr>
                <p:extLst>
                  <p:ext uri="{D42A27DB-BD31-4B8C-83A1-F6EECF244321}">
                    <p14:modId xmlns:p14="http://schemas.microsoft.com/office/powerpoint/2010/main" val="347578385"/>
                  </p:ext>
                </p:extLst>
              </p:nvPr>
            </p:nvGraphicFramePr>
            <p:xfrm>
              <a:off x="685800" y="1828800"/>
              <a:ext cx="7620000" cy="1651000"/>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tblGrid>
                  <a:tr h="370840">
                    <a:tc>
                      <a:txBody>
                        <a:bodyPr/>
                        <a:lstStyle/>
                        <a:p>
                          <a:pPr algn="ctr"/>
                          <a:endParaRPr lang="en-GB" dirty="0"/>
                        </a:p>
                      </a:txBody>
                      <a:tcPr>
                        <a:noFill/>
                      </a:tcPr>
                    </a:tc>
                    <a:tc>
                      <a:txBody>
                        <a:bodyPr/>
                        <a:lstStyle/>
                        <a:p>
                          <a:pPr algn="ctr"/>
                          <a:endParaRPr lang="en-GB" dirty="0"/>
                        </a:p>
                      </a:txBody>
                      <a:tcPr/>
                    </a:tc>
                    <a:tc>
                      <a:txBody>
                        <a:bodyPr/>
                        <a:lstStyle/>
                        <a:p>
                          <a:pPr algn="ctr"/>
                          <a:r>
                            <a:rPr lang="en-GB" dirty="0"/>
                            <a:t>A</a:t>
                          </a:r>
                        </a:p>
                      </a:txBody>
                      <a:tcPr/>
                    </a:tc>
                    <a:tc>
                      <a:txBody>
                        <a:bodyPr/>
                        <a:lstStyle/>
                        <a:p>
                          <a:pPr algn="ctr"/>
                          <a:r>
                            <a:rPr lang="en-GB" dirty="0"/>
                            <a:t>B</a:t>
                          </a:r>
                        </a:p>
                      </a:txBody>
                      <a:tcPr/>
                    </a:tc>
                    <a:tc>
                      <a:txBody>
                        <a:bodyPr/>
                        <a:lstStyle/>
                        <a:p>
                          <a:pPr algn="ctr"/>
                          <a:r>
                            <a:rPr lang="en-GB" dirty="0"/>
                            <a:t>C</a:t>
                          </a:r>
                        </a:p>
                      </a:txBody>
                      <a:tcPr/>
                    </a:tc>
                    <a:extLst>
                      <a:ext uri="{0D108BD9-81ED-4DB2-BD59-A6C34878D82A}">
                        <a16:rowId xmlns:a16="http://schemas.microsoft.com/office/drawing/2014/main" val="10000"/>
                      </a:ext>
                    </a:extLst>
                  </a:tr>
                  <a:tr h="640080">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GB" dirty="0"/>
                        </a:p>
                        <a:p>
                          <a:pPr algn="r"/>
                          <a:endParaRPr lang="en-GB" dirty="0">
                            <a:solidFill>
                              <a:schemeClr val="tx1"/>
                            </a:solidFill>
                          </a:endParaRPr>
                        </a:p>
                      </a:txBody>
                      <a:tcPr anchor="ctr">
                        <a:noFill/>
                      </a:tcPr>
                    </a:tc>
                    <a:tc>
                      <a:txBody>
                        <a:bodyPr/>
                        <a:lstStyle/>
                        <a:p>
                          <a:pPr algn="r"/>
                          <a:r>
                            <a:rPr lang="en-GB" sz="1800" dirty="0">
                              <a:solidFill>
                                <a:schemeClr val="tx1"/>
                              </a:solidFill>
                            </a:rPr>
                            <a:t>Number</a:t>
                          </a:r>
                          <a:r>
                            <a:rPr lang="en-GB" sz="1800" baseline="0" dirty="0">
                              <a:solidFill>
                                <a:schemeClr val="tx1"/>
                              </a:solidFill>
                            </a:rPr>
                            <a:t> of customers responded</a:t>
                          </a:r>
                          <a:endParaRPr lang="en-GB" sz="1800" b="1" dirty="0">
                            <a:solidFill>
                              <a:schemeClr val="tx1"/>
                            </a:solidFill>
                          </a:endParaRPr>
                        </a:p>
                      </a:txBody>
                      <a:tcPr anchor="ctr"/>
                    </a:tc>
                    <a:tc>
                      <a:txBody>
                        <a:bodyPr/>
                        <a:lstStyle/>
                        <a:p>
                          <a:pPr algn="ctr"/>
                          <a:r>
                            <a:rPr lang="en-GB" altLang="en-US" sz="2400" b="1" dirty="0">
                              <a:solidFill>
                                <a:schemeClr val="tx1"/>
                              </a:solidFill>
                            </a:rPr>
                            <a:t>270</a:t>
                          </a:r>
                          <a:endParaRPr lang="en-GB" sz="2400" b="1" dirty="0">
                            <a:solidFill>
                              <a:schemeClr val="tx1"/>
                            </a:solidFill>
                          </a:endParaRPr>
                        </a:p>
                      </a:txBody>
                      <a:tcPr anchor="ctr"/>
                    </a:tc>
                    <a:tc>
                      <a:txBody>
                        <a:bodyPr/>
                        <a:lstStyle/>
                        <a:p>
                          <a:pPr algn="ctr"/>
                          <a:r>
                            <a:rPr lang="en-GB" altLang="en-US" sz="2400" b="1" dirty="0">
                              <a:solidFill>
                                <a:schemeClr val="tx1"/>
                              </a:solidFill>
                            </a:rPr>
                            <a:t>286</a:t>
                          </a:r>
                          <a:endParaRPr lang="en-GB" sz="2400" b="1" dirty="0">
                            <a:solidFill>
                              <a:schemeClr val="tx1"/>
                            </a:solidFill>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altLang="en-US" sz="2400" b="1" dirty="0">
                              <a:solidFill>
                                <a:schemeClr val="tx1"/>
                              </a:solidFill>
                            </a:rPr>
                            <a:t>341</a:t>
                          </a:r>
                        </a:p>
                      </a:txBody>
                      <a:tcPr anchor="ctr"/>
                    </a:tc>
                    <a:extLst>
                      <a:ext uri="{0D108BD9-81ED-4DB2-BD59-A6C34878D82A}">
                        <a16:rowId xmlns:a16="http://schemas.microsoft.com/office/drawing/2014/main" val="10001"/>
                      </a:ext>
                    </a:extLst>
                  </a:tr>
                  <a:tr h="640080">
                    <a:tc>
                      <a:txBody>
                        <a:bodyPr/>
                        <a:lstStyle/>
                        <a:p>
                          <a:pPr algn="r"/>
                          <a:endParaRPr lang="en-GB" dirty="0">
                            <a:solidFill>
                              <a:schemeClr val="tx1"/>
                            </a:solidFill>
                          </a:endParaRPr>
                        </a:p>
                      </a:txBody>
                      <a:tcPr anchor="ctr">
                        <a:noFill/>
                      </a:tcPr>
                    </a:tc>
                    <a:tc>
                      <a:txBody>
                        <a:bodyPr/>
                        <a:lstStyle/>
                        <a:p>
                          <a:pPr algn="r"/>
                          <a:r>
                            <a:rPr lang="en-GB" sz="1800" b="1" dirty="0">
                              <a:solidFill>
                                <a:schemeClr val="accent2"/>
                              </a:solidFill>
                            </a:rPr>
                            <a:t>If all</a:t>
                          </a:r>
                          <a:r>
                            <a:rPr lang="en-GB" sz="1800" b="1" baseline="0" dirty="0">
                              <a:solidFill>
                                <a:schemeClr val="accent2"/>
                              </a:solidFill>
                            </a:rPr>
                            <a:t> products are equally attractive?</a:t>
                          </a:r>
                          <a:endParaRPr lang="en-GB" sz="1800" b="1" dirty="0">
                            <a:solidFill>
                              <a:schemeClr val="accent2"/>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box>
                                  <m:boxPr>
                                    <m:ctrlPr>
                                      <a:rPr lang="en-GB" sz="1800" b="0" i="1" smtClean="0">
                                        <a:solidFill>
                                          <a:schemeClr val="accent2"/>
                                        </a:solidFill>
                                        <a:latin typeface="Cambria Math" panose="02040503050406030204" pitchFamily="18" charset="0"/>
                                      </a:rPr>
                                    </m:ctrlPr>
                                  </m:boxPr>
                                  <m:e>
                                    <m:f>
                                      <m:fPr>
                                        <m:ctrlPr>
                                          <a:rPr lang="en-GB" sz="1800" b="0" i="1" smtClean="0">
                                            <a:solidFill>
                                              <a:schemeClr val="accent2"/>
                                            </a:solidFill>
                                            <a:latin typeface="Cambria Math" panose="02040503050406030204" pitchFamily="18" charset="0"/>
                                          </a:rPr>
                                        </m:ctrlPr>
                                      </m:fPr>
                                      <m:num>
                                        <m:r>
                                          <m:rPr>
                                            <m:sty m:val="p"/>
                                          </m:rPr>
                                          <a:rPr lang="en-GB" sz="1800" b="0" i="0" smtClean="0">
                                            <a:solidFill>
                                              <a:schemeClr val="accent2"/>
                                            </a:solidFill>
                                            <a:latin typeface="Cambria Math"/>
                                          </a:rPr>
                                          <m:t>total</m:t>
                                        </m:r>
                                      </m:num>
                                      <m:den>
                                        <m:r>
                                          <a:rPr lang="en-GB" sz="1800" b="0" i="0" smtClean="0">
                                            <a:solidFill>
                                              <a:schemeClr val="accent2"/>
                                            </a:solidFill>
                                            <a:latin typeface="Cambria Math"/>
                                          </a:rPr>
                                          <m:t>3</m:t>
                                        </m:r>
                                      </m:den>
                                    </m:f>
                                  </m:e>
                                </m:box>
                              </m:oMath>
                            </m:oMathPara>
                          </a14:m>
                          <a:endParaRPr lang="en-GB" sz="1800" b="0" i="0" dirty="0">
                            <a:solidFill>
                              <a:schemeClr val="accent2"/>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f>
                                  <m:fPr>
                                    <m:ctrlPr>
                                      <a:rPr lang="en-GB" sz="1800" b="0" i="1" smtClean="0">
                                        <a:solidFill>
                                          <a:schemeClr val="accent2"/>
                                        </a:solidFill>
                                        <a:latin typeface="Cambria Math" panose="02040503050406030204" pitchFamily="18" charset="0"/>
                                      </a:rPr>
                                    </m:ctrlPr>
                                  </m:fPr>
                                  <m:num>
                                    <m:r>
                                      <m:rPr>
                                        <m:sty m:val="p"/>
                                      </m:rPr>
                                      <a:rPr lang="en-GB" sz="1800" b="0" i="0" smtClean="0">
                                        <a:solidFill>
                                          <a:schemeClr val="accent2"/>
                                        </a:solidFill>
                                        <a:latin typeface="Cambria Math"/>
                                      </a:rPr>
                                      <m:t>total</m:t>
                                    </m:r>
                                  </m:num>
                                  <m:den>
                                    <m:r>
                                      <a:rPr lang="en-GB" sz="1800" b="0" i="0" smtClean="0">
                                        <a:solidFill>
                                          <a:schemeClr val="accent2"/>
                                        </a:solidFill>
                                        <a:latin typeface="Cambria Math"/>
                                      </a:rPr>
                                      <m:t>3</m:t>
                                    </m:r>
                                  </m:den>
                                </m:f>
                              </m:oMath>
                            </m:oMathPara>
                          </a14:m>
                          <a:endParaRPr lang="en-GB" sz="1800" b="0" i="0" dirty="0">
                            <a:solidFill>
                              <a:schemeClr val="accent2"/>
                            </a:solidFill>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GB" sz="1800" b="0" i="1" smtClean="0">
                                        <a:solidFill>
                                          <a:schemeClr val="accent2"/>
                                        </a:solidFill>
                                        <a:latin typeface="Cambria Math" panose="02040503050406030204" pitchFamily="18" charset="0"/>
                                      </a:rPr>
                                    </m:ctrlPr>
                                  </m:fPr>
                                  <m:num>
                                    <m:r>
                                      <m:rPr>
                                        <m:sty m:val="p"/>
                                      </m:rPr>
                                      <a:rPr lang="en-GB" sz="1800" b="0" i="0" smtClean="0">
                                        <a:solidFill>
                                          <a:schemeClr val="accent2"/>
                                        </a:solidFill>
                                        <a:latin typeface="Cambria Math"/>
                                      </a:rPr>
                                      <m:t>total</m:t>
                                    </m:r>
                                  </m:num>
                                  <m:den>
                                    <m:r>
                                      <a:rPr lang="en-GB" sz="1800" b="0" i="0" smtClean="0">
                                        <a:solidFill>
                                          <a:schemeClr val="accent2"/>
                                        </a:solidFill>
                                        <a:latin typeface="Cambria Math"/>
                                      </a:rPr>
                                      <m:t>3</m:t>
                                    </m:r>
                                  </m:den>
                                </m:f>
                              </m:oMath>
                            </m:oMathPara>
                          </a14:m>
                          <a:endParaRPr lang="en-GB" altLang="en-US" sz="1800" b="0" i="0" dirty="0">
                            <a:solidFill>
                              <a:schemeClr val="accent2"/>
                            </a:solidFill>
                          </a:endParaRPr>
                        </a:p>
                      </a:txBody>
                      <a:tcPr anchor="ctr"/>
                    </a:tc>
                    <a:extLst>
                      <a:ext uri="{0D108BD9-81ED-4DB2-BD59-A6C34878D82A}">
                        <a16:rowId xmlns:a16="http://schemas.microsoft.com/office/drawing/2014/main" val="10002"/>
                      </a:ext>
                    </a:extLst>
                  </a:tr>
                </a:tbl>
              </a:graphicData>
            </a:graphic>
          </p:graphicFrame>
        </mc:Choice>
        <mc:Fallback xmlns="">
          <p:graphicFrame>
            <p:nvGraphicFramePr>
              <p:cNvPr id="12" name="Table 11"/>
              <p:cNvGraphicFramePr>
                <a:graphicFrameLocks noGrp="1"/>
              </p:cNvGraphicFramePr>
              <p:nvPr>
                <p:extLst>
                  <p:ext uri="{D42A27DB-BD31-4B8C-83A1-F6EECF244321}">
                    <p14:modId xmlns:p14="http://schemas.microsoft.com/office/powerpoint/2010/main" val="347578385"/>
                  </p:ext>
                </p:extLst>
              </p:nvPr>
            </p:nvGraphicFramePr>
            <p:xfrm>
              <a:off x="685800" y="1828800"/>
              <a:ext cx="7620000" cy="1651000"/>
            </p:xfrm>
            <a:graphic>
              <a:graphicData uri="http://schemas.openxmlformats.org/drawingml/2006/table">
                <a:tbl>
                  <a:tblPr firstRow="1" bandRow="1">
                    <a:tableStyleId>{5C22544A-7EE6-4342-B048-85BDC9FD1C3A}</a:tableStyleId>
                  </a:tblPr>
                  <a:tblGrid>
                    <a:gridCol w="1905000"/>
                    <a:gridCol w="2514600"/>
                    <a:gridCol w="1066800"/>
                    <a:gridCol w="1066800"/>
                    <a:gridCol w="1066800"/>
                  </a:tblGrid>
                  <a:tr h="370840">
                    <a:tc>
                      <a:txBody>
                        <a:bodyPr/>
                        <a:lstStyle/>
                        <a:p>
                          <a:pPr algn="ctr"/>
                          <a:endParaRPr lang="en-GB" dirty="0"/>
                        </a:p>
                      </a:txBody>
                      <a:tcPr>
                        <a:noFill/>
                      </a:tcPr>
                    </a:tc>
                    <a:tc>
                      <a:txBody>
                        <a:bodyPr/>
                        <a:lstStyle/>
                        <a:p>
                          <a:pPr algn="ctr"/>
                          <a:endParaRPr lang="en-GB" dirty="0"/>
                        </a:p>
                      </a:txBody>
                      <a:tcPr/>
                    </a:tc>
                    <a:tc>
                      <a:txBody>
                        <a:bodyPr/>
                        <a:lstStyle/>
                        <a:p>
                          <a:pPr algn="ctr"/>
                          <a:r>
                            <a:rPr lang="en-GB" dirty="0" smtClean="0"/>
                            <a:t>A</a:t>
                          </a:r>
                          <a:endParaRPr lang="en-GB" dirty="0"/>
                        </a:p>
                      </a:txBody>
                      <a:tcPr/>
                    </a:tc>
                    <a:tc>
                      <a:txBody>
                        <a:bodyPr/>
                        <a:lstStyle/>
                        <a:p>
                          <a:pPr algn="ctr"/>
                          <a:r>
                            <a:rPr lang="en-GB" dirty="0" smtClean="0"/>
                            <a:t>B</a:t>
                          </a:r>
                          <a:endParaRPr lang="en-GB" dirty="0"/>
                        </a:p>
                      </a:txBody>
                      <a:tcPr/>
                    </a:tc>
                    <a:tc>
                      <a:txBody>
                        <a:bodyPr/>
                        <a:lstStyle/>
                        <a:p>
                          <a:pPr algn="ctr"/>
                          <a:r>
                            <a:rPr lang="en-GB" dirty="0" smtClean="0"/>
                            <a:t>C</a:t>
                          </a:r>
                          <a:endParaRPr lang="en-GB" dirty="0"/>
                        </a:p>
                      </a:txBody>
                      <a:tcPr/>
                    </a:tc>
                  </a:tr>
                  <a:tr h="640080">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GB" dirty="0" smtClean="0"/>
                        </a:p>
                        <a:p>
                          <a:pPr algn="r"/>
                          <a:endParaRPr lang="en-GB" dirty="0">
                            <a:solidFill>
                              <a:schemeClr val="tx1"/>
                            </a:solidFill>
                          </a:endParaRPr>
                        </a:p>
                      </a:txBody>
                      <a:tcPr anchor="ctr">
                        <a:noFill/>
                      </a:tcPr>
                    </a:tc>
                    <a:tc>
                      <a:txBody>
                        <a:bodyPr/>
                        <a:lstStyle/>
                        <a:p>
                          <a:pPr algn="r"/>
                          <a:r>
                            <a:rPr lang="en-GB" sz="1800" dirty="0" smtClean="0">
                              <a:solidFill>
                                <a:schemeClr val="tx1"/>
                              </a:solidFill>
                            </a:rPr>
                            <a:t>Number</a:t>
                          </a:r>
                          <a:r>
                            <a:rPr lang="en-GB" sz="1800" baseline="0" dirty="0" smtClean="0">
                              <a:solidFill>
                                <a:schemeClr val="tx1"/>
                              </a:solidFill>
                            </a:rPr>
                            <a:t> of customers responded</a:t>
                          </a:r>
                          <a:endParaRPr lang="en-GB" sz="1800" b="1" dirty="0">
                            <a:solidFill>
                              <a:schemeClr val="tx1"/>
                            </a:solidFill>
                          </a:endParaRPr>
                        </a:p>
                      </a:txBody>
                      <a:tcPr anchor="ctr"/>
                    </a:tc>
                    <a:tc>
                      <a:txBody>
                        <a:bodyPr/>
                        <a:lstStyle/>
                        <a:p>
                          <a:pPr algn="ctr"/>
                          <a:r>
                            <a:rPr lang="en-GB" altLang="en-US" sz="2400" b="1" dirty="0" smtClean="0">
                              <a:solidFill>
                                <a:schemeClr val="tx1"/>
                              </a:solidFill>
                            </a:rPr>
                            <a:t>270</a:t>
                          </a:r>
                          <a:endParaRPr lang="en-GB" sz="2400" b="1" dirty="0">
                            <a:solidFill>
                              <a:schemeClr val="tx1"/>
                            </a:solidFill>
                          </a:endParaRPr>
                        </a:p>
                      </a:txBody>
                      <a:tcPr anchor="ctr"/>
                    </a:tc>
                    <a:tc>
                      <a:txBody>
                        <a:bodyPr/>
                        <a:lstStyle/>
                        <a:p>
                          <a:pPr algn="ctr"/>
                          <a:r>
                            <a:rPr lang="en-GB" altLang="en-US" sz="2400" b="1" dirty="0" smtClean="0">
                              <a:solidFill>
                                <a:schemeClr val="tx1"/>
                              </a:solidFill>
                            </a:rPr>
                            <a:t>286</a:t>
                          </a:r>
                          <a:endParaRPr lang="en-GB" sz="2400" b="1" dirty="0">
                            <a:solidFill>
                              <a:schemeClr val="tx1"/>
                            </a:solidFill>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altLang="en-US" sz="2400" b="1" dirty="0" smtClean="0">
                              <a:solidFill>
                                <a:schemeClr val="tx1"/>
                              </a:solidFill>
                            </a:rPr>
                            <a:t>341</a:t>
                          </a:r>
                        </a:p>
                      </a:txBody>
                      <a:tcPr anchor="ctr"/>
                    </a:tc>
                  </a:tr>
                  <a:tr h="640080">
                    <a:tc>
                      <a:txBody>
                        <a:bodyPr/>
                        <a:lstStyle/>
                        <a:p>
                          <a:pPr algn="r"/>
                          <a:endParaRPr lang="en-GB" dirty="0">
                            <a:solidFill>
                              <a:schemeClr val="tx1"/>
                            </a:solidFill>
                          </a:endParaRPr>
                        </a:p>
                      </a:txBody>
                      <a:tcPr anchor="ctr">
                        <a:noFill/>
                      </a:tcPr>
                    </a:tc>
                    <a:tc>
                      <a:txBody>
                        <a:bodyPr/>
                        <a:lstStyle/>
                        <a:p>
                          <a:pPr algn="r"/>
                          <a:r>
                            <a:rPr lang="en-GB" sz="1800" b="1" dirty="0" smtClean="0">
                              <a:solidFill>
                                <a:schemeClr val="accent2"/>
                              </a:solidFill>
                            </a:rPr>
                            <a:t>If all</a:t>
                          </a:r>
                          <a:r>
                            <a:rPr lang="en-GB" sz="1800" b="1" baseline="0" dirty="0" smtClean="0">
                              <a:solidFill>
                                <a:schemeClr val="accent2"/>
                              </a:solidFill>
                            </a:rPr>
                            <a:t> products are equally attractive?</a:t>
                          </a:r>
                          <a:endParaRPr lang="en-GB" sz="1800" b="1" dirty="0">
                            <a:solidFill>
                              <a:schemeClr val="accent2"/>
                            </a:solidFill>
                          </a:endParaRPr>
                        </a:p>
                      </a:txBody>
                      <a:tcPr anchor="ctr"/>
                    </a:tc>
                    <a:tc>
                      <a:txBody>
                        <a:bodyPr/>
                        <a:lstStyle/>
                        <a:p>
                          <a:endParaRPr lang="en-US"/>
                        </a:p>
                      </a:txBody>
                      <a:tcPr anchor="ctr">
                        <a:blipFill rotWithShape="1">
                          <a:blip r:embed="rId3"/>
                          <a:stretch>
                            <a:fillRect l="-414857" t="-162857" r="-200000" b="-15238"/>
                          </a:stretch>
                        </a:blipFill>
                      </a:tcPr>
                    </a:tc>
                    <a:tc>
                      <a:txBody>
                        <a:bodyPr/>
                        <a:lstStyle/>
                        <a:p>
                          <a:endParaRPr lang="en-US"/>
                        </a:p>
                      </a:txBody>
                      <a:tcPr anchor="ctr">
                        <a:blipFill rotWithShape="1">
                          <a:blip r:embed="rId3"/>
                          <a:stretch>
                            <a:fillRect l="-514857" t="-162857" r="-100000" b="-15238"/>
                          </a:stretch>
                        </a:blipFill>
                      </a:tcPr>
                    </a:tc>
                    <a:tc>
                      <a:txBody>
                        <a:bodyPr/>
                        <a:lstStyle/>
                        <a:p>
                          <a:endParaRPr lang="en-US"/>
                        </a:p>
                      </a:txBody>
                      <a:tcPr anchor="ctr">
                        <a:blipFill rotWithShape="1">
                          <a:blip r:embed="rId3"/>
                          <a:stretch>
                            <a:fillRect l="-614857" t="-162857" b="-15238"/>
                          </a:stretch>
                        </a:blipFill>
                      </a:tcPr>
                    </a:tc>
                  </a:tr>
                </a:tbl>
              </a:graphicData>
            </a:graphic>
          </p:graphicFrame>
        </mc:Fallback>
      </mc:AlternateContent>
      <p:graphicFrame>
        <p:nvGraphicFramePr>
          <p:cNvPr id="13" name="Table 12"/>
          <p:cNvGraphicFramePr>
            <a:graphicFrameLocks noGrp="1"/>
          </p:cNvGraphicFramePr>
          <p:nvPr>
            <p:extLst>
              <p:ext uri="{D42A27DB-BD31-4B8C-83A1-F6EECF244321}">
                <p14:modId xmlns:p14="http://schemas.microsoft.com/office/powerpoint/2010/main" val="2584343857"/>
              </p:ext>
            </p:extLst>
          </p:nvPr>
        </p:nvGraphicFramePr>
        <p:xfrm>
          <a:off x="685800" y="1828800"/>
          <a:ext cx="7620000" cy="1651000"/>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tblGrid>
              <a:tr h="370840">
                <a:tc>
                  <a:txBody>
                    <a:bodyPr/>
                    <a:lstStyle/>
                    <a:p>
                      <a:pPr algn="ctr"/>
                      <a:endParaRPr lang="en-GB" dirty="0"/>
                    </a:p>
                  </a:txBody>
                  <a:tcPr>
                    <a:noFill/>
                  </a:tcPr>
                </a:tc>
                <a:tc>
                  <a:txBody>
                    <a:bodyPr/>
                    <a:lstStyle/>
                    <a:p>
                      <a:pPr algn="ctr"/>
                      <a:endParaRPr lang="en-GB" dirty="0"/>
                    </a:p>
                  </a:txBody>
                  <a:tcPr/>
                </a:tc>
                <a:tc>
                  <a:txBody>
                    <a:bodyPr/>
                    <a:lstStyle/>
                    <a:p>
                      <a:pPr algn="ctr"/>
                      <a:r>
                        <a:rPr lang="en-GB" dirty="0"/>
                        <a:t>A</a:t>
                      </a:r>
                    </a:p>
                  </a:txBody>
                  <a:tcPr/>
                </a:tc>
                <a:tc>
                  <a:txBody>
                    <a:bodyPr/>
                    <a:lstStyle/>
                    <a:p>
                      <a:pPr algn="ctr"/>
                      <a:r>
                        <a:rPr lang="en-GB" dirty="0"/>
                        <a:t>B</a:t>
                      </a:r>
                    </a:p>
                  </a:txBody>
                  <a:tcPr/>
                </a:tc>
                <a:tc>
                  <a:txBody>
                    <a:bodyPr/>
                    <a:lstStyle/>
                    <a:p>
                      <a:pPr algn="ctr"/>
                      <a:r>
                        <a:rPr lang="en-GB" dirty="0"/>
                        <a:t>C</a:t>
                      </a:r>
                    </a:p>
                  </a:txBody>
                  <a:tcPr/>
                </a:tc>
                <a:extLst>
                  <a:ext uri="{0D108BD9-81ED-4DB2-BD59-A6C34878D82A}">
                    <a16:rowId xmlns:a16="http://schemas.microsoft.com/office/drawing/2014/main" val="10000"/>
                  </a:ext>
                </a:extLst>
              </a:tr>
              <a:tr h="370840">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GB" dirty="0"/>
                    </a:p>
                    <a:p>
                      <a:pPr algn="r"/>
                      <a:endParaRPr lang="en-GB" dirty="0">
                        <a:solidFill>
                          <a:schemeClr val="tx1"/>
                        </a:solidFill>
                      </a:endParaRPr>
                    </a:p>
                  </a:txBody>
                  <a:tcPr anchor="ctr">
                    <a:noFill/>
                  </a:tcPr>
                </a:tc>
                <a:tc>
                  <a:txBody>
                    <a:bodyPr/>
                    <a:lstStyle/>
                    <a:p>
                      <a:pPr algn="r"/>
                      <a:r>
                        <a:rPr lang="en-GB" sz="1800" dirty="0">
                          <a:solidFill>
                            <a:schemeClr val="tx1"/>
                          </a:solidFill>
                        </a:rPr>
                        <a:t>Number</a:t>
                      </a:r>
                      <a:r>
                        <a:rPr lang="en-GB" sz="1800" baseline="0" dirty="0">
                          <a:solidFill>
                            <a:schemeClr val="tx1"/>
                          </a:solidFill>
                        </a:rPr>
                        <a:t> of customers responded</a:t>
                      </a:r>
                      <a:endParaRPr lang="en-GB" sz="1800" b="1" dirty="0">
                        <a:solidFill>
                          <a:schemeClr val="tx1"/>
                        </a:solidFill>
                      </a:endParaRPr>
                    </a:p>
                  </a:txBody>
                  <a:tcPr anchor="ctr"/>
                </a:tc>
                <a:tc>
                  <a:txBody>
                    <a:bodyPr/>
                    <a:lstStyle/>
                    <a:p>
                      <a:pPr algn="ctr"/>
                      <a:r>
                        <a:rPr lang="en-GB" altLang="en-US" sz="2400" b="1" dirty="0">
                          <a:solidFill>
                            <a:schemeClr val="tx1"/>
                          </a:solidFill>
                        </a:rPr>
                        <a:t>270</a:t>
                      </a:r>
                      <a:endParaRPr lang="en-GB" sz="2400" b="1" dirty="0">
                        <a:solidFill>
                          <a:schemeClr val="tx1"/>
                        </a:solidFill>
                      </a:endParaRPr>
                    </a:p>
                  </a:txBody>
                  <a:tcPr anchor="ctr"/>
                </a:tc>
                <a:tc>
                  <a:txBody>
                    <a:bodyPr/>
                    <a:lstStyle/>
                    <a:p>
                      <a:pPr algn="ctr"/>
                      <a:r>
                        <a:rPr lang="en-GB" altLang="en-US" sz="2400" b="1" dirty="0">
                          <a:solidFill>
                            <a:schemeClr val="tx1"/>
                          </a:solidFill>
                        </a:rPr>
                        <a:t>286</a:t>
                      </a:r>
                      <a:endParaRPr lang="en-GB" sz="2400" b="1" dirty="0">
                        <a:solidFill>
                          <a:schemeClr val="tx1"/>
                        </a:solidFill>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altLang="en-US" sz="2400" b="1" dirty="0">
                          <a:solidFill>
                            <a:schemeClr val="tx1"/>
                          </a:solidFill>
                        </a:rPr>
                        <a:t>341</a:t>
                      </a:r>
                    </a:p>
                  </a:txBody>
                  <a:tcPr anchor="ctr"/>
                </a:tc>
                <a:extLst>
                  <a:ext uri="{0D108BD9-81ED-4DB2-BD59-A6C34878D82A}">
                    <a16:rowId xmlns:a16="http://schemas.microsoft.com/office/drawing/2014/main" val="10001"/>
                  </a:ext>
                </a:extLst>
              </a:tr>
              <a:tr h="370840">
                <a:tc>
                  <a:txBody>
                    <a:bodyPr/>
                    <a:lstStyle/>
                    <a:p>
                      <a:pPr algn="r"/>
                      <a:endParaRPr lang="en-GB" dirty="0">
                        <a:solidFill>
                          <a:schemeClr val="tx1"/>
                        </a:solidFill>
                      </a:endParaRPr>
                    </a:p>
                  </a:txBody>
                  <a:tcPr anchor="ctr">
                    <a:noFill/>
                  </a:tcPr>
                </a:tc>
                <a:tc>
                  <a:txBody>
                    <a:bodyPr/>
                    <a:lstStyle/>
                    <a:p>
                      <a:pPr algn="r"/>
                      <a:r>
                        <a:rPr lang="en-GB" sz="1800" b="1" dirty="0">
                          <a:solidFill>
                            <a:schemeClr val="accent2"/>
                          </a:solidFill>
                        </a:rPr>
                        <a:t>Expected number of customers responded</a:t>
                      </a:r>
                    </a:p>
                  </a:txBody>
                  <a:tcPr anchor="ctr"/>
                </a:tc>
                <a:tc>
                  <a:txBody>
                    <a:bodyPr/>
                    <a:lstStyle/>
                    <a:p>
                      <a:pPr algn="ctr"/>
                      <a:r>
                        <a:rPr lang="en-GB" sz="2400" b="1" dirty="0">
                          <a:solidFill>
                            <a:schemeClr val="accent2"/>
                          </a:solidFill>
                        </a:rPr>
                        <a:t>299</a:t>
                      </a:r>
                    </a:p>
                  </a:txBody>
                  <a:tcPr anchor="ctr"/>
                </a:tc>
                <a:tc>
                  <a:txBody>
                    <a:bodyPr/>
                    <a:lstStyle/>
                    <a:p>
                      <a:pPr algn="ctr"/>
                      <a:r>
                        <a:rPr lang="en-GB" sz="2400" b="1" dirty="0">
                          <a:solidFill>
                            <a:schemeClr val="accent2"/>
                          </a:solidFill>
                        </a:rPr>
                        <a:t>299</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altLang="en-US" sz="2400" b="1" dirty="0">
                          <a:solidFill>
                            <a:schemeClr val="accent2"/>
                          </a:solidFill>
                        </a:rPr>
                        <a:t>299</a:t>
                      </a:r>
                    </a:p>
                  </a:txBody>
                  <a:tcPr anchor="ct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graphicFrame>
            <p:nvGraphicFramePr>
              <p:cNvPr id="14" name="Table 13"/>
              <p:cNvGraphicFramePr>
                <a:graphicFrameLocks noGrp="1"/>
              </p:cNvGraphicFramePr>
              <p:nvPr>
                <p:extLst>
                  <p:ext uri="{D42A27DB-BD31-4B8C-83A1-F6EECF244321}">
                    <p14:modId xmlns:p14="http://schemas.microsoft.com/office/powerpoint/2010/main" val="207403825"/>
                  </p:ext>
                </p:extLst>
              </p:nvPr>
            </p:nvGraphicFramePr>
            <p:xfrm>
              <a:off x="685800" y="3488541"/>
              <a:ext cx="7620000" cy="365760"/>
            </p:xfrm>
            <a:graphic>
              <a:graphicData uri="http://schemas.openxmlformats.org/drawingml/2006/table">
                <a:tbl>
                  <a:tblPr bandRow="1">
                    <a:tableStyleId>{5C22544A-7EE6-4342-B048-85BDC9FD1C3A}</a:tableStyleId>
                  </a:tblPr>
                  <a:tblGrid>
                    <a:gridCol w="19050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tblGrid>
                  <a:tr h="365760">
                    <a:tc>
                      <a:txBody>
                        <a:bodyPr/>
                        <a:lstStyle/>
                        <a:p>
                          <a:pPr algn="r"/>
                          <a14:m>
                            <m:oMathPara xmlns:m="http://schemas.openxmlformats.org/officeDocument/2006/math">
                              <m:oMathParaPr>
                                <m:jc m:val="right"/>
                              </m:oMathParaPr>
                              <m:oMath xmlns:m="http://schemas.openxmlformats.org/officeDocument/2006/math">
                                <m:sSub>
                                  <m:sSubPr>
                                    <m:ctrlPr>
                                      <a:rPr lang="en-GB" sz="1800" i="1" smtClean="0">
                                        <a:solidFill>
                                          <a:schemeClr val="tx1"/>
                                        </a:solidFill>
                                        <a:latin typeface="Cambria Math" panose="02040503050406030204" pitchFamily="18" charset="0"/>
                                      </a:rPr>
                                    </m:ctrlPr>
                                  </m:sSubPr>
                                  <m:e>
                                    <m:r>
                                      <a:rPr lang="en-GB" sz="1800" b="0" i="1" smtClean="0">
                                        <a:solidFill>
                                          <a:schemeClr val="tx1"/>
                                        </a:solidFill>
                                        <a:latin typeface="Cambria Math"/>
                                      </a:rPr>
                                      <m:t>𝑓</m:t>
                                    </m:r>
                                  </m:e>
                                  <m:sub>
                                    <m:r>
                                      <a:rPr lang="en-GB" sz="1800" b="0" i="1" smtClean="0">
                                        <a:solidFill>
                                          <a:schemeClr val="tx1"/>
                                        </a:solidFill>
                                        <a:latin typeface="Cambria Math"/>
                                      </a:rPr>
                                      <m:t>𝑜</m:t>
                                    </m:r>
                                  </m:sub>
                                </m:sSub>
                                <m:r>
                                  <a:rPr lang="en-GB" sz="1800" b="0" i="1" smtClean="0">
                                    <a:solidFill>
                                      <a:schemeClr val="tx1"/>
                                    </a:solidFill>
                                    <a:latin typeface="Cambria Math"/>
                                  </a:rPr>
                                  <m:t>−</m:t>
                                </m:r>
                                <m:sSub>
                                  <m:sSubPr>
                                    <m:ctrlPr>
                                      <a:rPr lang="en-GB" sz="1800" i="1" smtClean="0">
                                        <a:solidFill>
                                          <a:schemeClr val="tx1"/>
                                        </a:solidFill>
                                        <a:latin typeface="Cambria Math" panose="02040503050406030204" pitchFamily="18" charset="0"/>
                                      </a:rPr>
                                    </m:ctrlPr>
                                  </m:sSubPr>
                                  <m:e>
                                    <m:r>
                                      <a:rPr lang="en-GB" sz="1800" b="0" i="1" smtClean="0">
                                        <a:solidFill>
                                          <a:schemeClr val="tx1"/>
                                        </a:solidFill>
                                        <a:latin typeface="Cambria Math"/>
                                      </a:rPr>
                                      <m:t>𝑓</m:t>
                                    </m:r>
                                  </m:e>
                                  <m:sub>
                                    <m:r>
                                      <a:rPr lang="en-GB" sz="1800" b="0" i="1" smtClean="0">
                                        <a:solidFill>
                                          <a:schemeClr val="tx1"/>
                                        </a:solidFill>
                                        <a:latin typeface="Cambria Math"/>
                                      </a:rPr>
                                      <m:t>𝑒</m:t>
                                    </m:r>
                                  </m:sub>
                                </m:sSub>
                              </m:oMath>
                            </m:oMathPara>
                          </a14:m>
                          <a:endParaRPr lang="en-GB" sz="1800" dirty="0">
                            <a:solidFill>
                              <a:schemeClr val="tx1"/>
                            </a:solidFill>
                          </a:endParaRPr>
                        </a:p>
                      </a:txBody>
                      <a:tcPr anchor="ctr"/>
                    </a:tc>
                    <a:tc>
                      <a:txBody>
                        <a:bodyPr/>
                        <a:lstStyle/>
                        <a:p>
                          <a:pPr algn="r"/>
                          <a:r>
                            <a:rPr lang="en-GB" sz="1800" b="1" dirty="0"/>
                            <a:t>Observed - Expected</a:t>
                          </a:r>
                          <a:endParaRPr lang="en-GB" sz="1800" b="1" dirty="0">
                            <a:solidFill>
                              <a:schemeClr val="tx1"/>
                            </a:solidFill>
                          </a:endParaRPr>
                        </a:p>
                      </a:txBody>
                      <a:tcPr anchor="ctr"/>
                    </a:tc>
                    <a:tc>
                      <a:txBody>
                        <a:bodyPr/>
                        <a:lstStyle/>
                        <a:p>
                          <a:pPr algn="ctr"/>
                          <a:r>
                            <a:rPr lang="en-GB" sz="1800" b="1" dirty="0"/>
                            <a:t>-29</a:t>
                          </a:r>
                          <a:endParaRPr lang="en-GB" sz="1800" b="1" dirty="0">
                            <a:solidFill>
                              <a:schemeClr val="tx1"/>
                            </a:solidFill>
                          </a:endParaRPr>
                        </a:p>
                      </a:txBody>
                      <a:tcPr anchor="ctr"/>
                    </a:tc>
                    <a:tc>
                      <a:txBody>
                        <a:bodyPr/>
                        <a:lstStyle/>
                        <a:p>
                          <a:pPr algn="ctr"/>
                          <a:r>
                            <a:rPr lang="en-GB" sz="1800" b="1" dirty="0"/>
                            <a:t>-13</a:t>
                          </a:r>
                          <a:endParaRPr lang="en-GB" sz="1800" b="1" dirty="0">
                            <a:solidFill>
                              <a:schemeClr val="tx1"/>
                            </a:solidFill>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altLang="en-US" sz="1800" b="1" dirty="0"/>
                            <a:t>42</a:t>
                          </a:r>
                          <a:endParaRPr lang="en-GB" altLang="en-US" sz="1800" b="1" dirty="0">
                            <a:solidFill>
                              <a:schemeClr val="tx1"/>
                            </a:solidFill>
                          </a:endParaRPr>
                        </a:p>
                      </a:txBody>
                      <a:tcPr anchor="ctr"/>
                    </a:tc>
                    <a:extLst>
                      <a:ext uri="{0D108BD9-81ED-4DB2-BD59-A6C34878D82A}">
                        <a16:rowId xmlns:a16="http://schemas.microsoft.com/office/drawing/2014/main" val="10000"/>
                      </a:ext>
                    </a:extLst>
                  </a:tr>
                </a:tbl>
              </a:graphicData>
            </a:graphic>
          </p:graphicFrame>
        </mc:Choice>
        <mc:Fallback xmlns="">
          <p:graphicFrame>
            <p:nvGraphicFramePr>
              <p:cNvPr id="14" name="Table 13"/>
              <p:cNvGraphicFramePr>
                <a:graphicFrameLocks noGrp="1"/>
              </p:cNvGraphicFramePr>
              <p:nvPr>
                <p:extLst>
                  <p:ext uri="{D42A27DB-BD31-4B8C-83A1-F6EECF244321}">
                    <p14:modId xmlns:p14="http://schemas.microsoft.com/office/powerpoint/2010/main" val="207403825"/>
                  </p:ext>
                </p:extLst>
              </p:nvPr>
            </p:nvGraphicFramePr>
            <p:xfrm>
              <a:off x="685800" y="3488541"/>
              <a:ext cx="7620000" cy="365760"/>
            </p:xfrm>
            <a:graphic>
              <a:graphicData uri="http://schemas.openxmlformats.org/drawingml/2006/table">
                <a:tbl>
                  <a:tblPr bandRow="1">
                    <a:tableStyleId>{5C22544A-7EE6-4342-B048-85BDC9FD1C3A}</a:tableStyleId>
                  </a:tblPr>
                  <a:tblGrid>
                    <a:gridCol w="1905000"/>
                    <a:gridCol w="2514600"/>
                    <a:gridCol w="1066800"/>
                    <a:gridCol w="1066800"/>
                    <a:gridCol w="1066800"/>
                  </a:tblGrid>
                  <a:tr h="365760">
                    <a:tc>
                      <a:txBody>
                        <a:bodyPr/>
                        <a:lstStyle/>
                        <a:p>
                          <a:endParaRPr lang="en-US"/>
                        </a:p>
                      </a:txBody>
                      <a:tcPr anchor="ctr">
                        <a:blipFill rotWithShape="1">
                          <a:blip r:embed="rId4"/>
                          <a:stretch>
                            <a:fillRect l="-319" t="-8333" r="-299361" b="-26667"/>
                          </a:stretch>
                        </a:blipFill>
                      </a:tcPr>
                    </a:tc>
                    <a:tc>
                      <a:txBody>
                        <a:bodyPr/>
                        <a:lstStyle/>
                        <a:p>
                          <a:pPr algn="r"/>
                          <a:r>
                            <a:rPr lang="en-GB" sz="1800" b="1" dirty="0" smtClean="0"/>
                            <a:t>Observed - Expected</a:t>
                          </a:r>
                          <a:endParaRPr lang="en-GB" sz="1800" b="1" dirty="0">
                            <a:solidFill>
                              <a:schemeClr val="tx1"/>
                            </a:solidFill>
                          </a:endParaRPr>
                        </a:p>
                      </a:txBody>
                      <a:tcPr anchor="ctr"/>
                    </a:tc>
                    <a:tc>
                      <a:txBody>
                        <a:bodyPr/>
                        <a:lstStyle/>
                        <a:p>
                          <a:pPr algn="ctr"/>
                          <a:r>
                            <a:rPr lang="en-GB" sz="1800" b="1" dirty="0" smtClean="0"/>
                            <a:t>-29</a:t>
                          </a:r>
                          <a:endParaRPr lang="en-GB" sz="1800" b="1" dirty="0">
                            <a:solidFill>
                              <a:schemeClr val="tx1"/>
                            </a:solidFill>
                          </a:endParaRPr>
                        </a:p>
                      </a:txBody>
                      <a:tcPr anchor="ctr"/>
                    </a:tc>
                    <a:tc>
                      <a:txBody>
                        <a:bodyPr/>
                        <a:lstStyle/>
                        <a:p>
                          <a:pPr algn="ctr"/>
                          <a:r>
                            <a:rPr lang="en-GB" sz="1800" b="1" dirty="0" smtClean="0"/>
                            <a:t>-13</a:t>
                          </a:r>
                          <a:endParaRPr lang="en-GB" sz="1800" b="1" dirty="0">
                            <a:solidFill>
                              <a:schemeClr val="tx1"/>
                            </a:solidFill>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altLang="en-US" sz="1800" b="1" dirty="0" smtClean="0"/>
                            <a:t>42</a:t>
                          </a:r>
                          <a:endParaRPr lang="en-GB" altLang="en-US" sz="1800" b="1" dirty="0" smtClean="0">
                            <a:solidFill>
                              <a:schemeClr val="tx1"/>
                            </a:solidFill>
                          </a:endParaRPr>
                        </a:p>
                      </a:txBody>
                      <a:tcPr anchor="ctr"/>
                    </a:tc>
                  </a:tr>
                </a:tbl>
              </a:graphicData>
            </a:graphic>
          </p:graphicFrame>
        </mc:Fallback>
      </mc:AlternateContent>
      <mc:AlternateContent xmlns:mc="http://schemas.openxmlformats.org/markup-compatibility/2006" xmlns:a14="http://schemas.microsoft.com/office/drawing/2010/main">
        <mc:Choice Requires="a14">
          <p:graphicFrame>
            <p:nvGraphicFramePr>
              <p:cNvPr id="15" name="Table 14"/>
              <p:cNvGraphicFramePr>
                <a:graphicFrameLocks noGrp="1"/>
              </p:cNvGraphicFramePr>
              <p:nvPr>
                <p:extLst>
                  <p:ext uri="{D42A27DB-BD31-4B8C-83A1-F6EECF244321}">
                    <p14:modId xmlns:p14="http://schemas.microsoft.com/office/powerpoint/2010/main" val="1739529419"/>
                  </p:ext>
                </p:extLst>
              </p:nvPr>
            </p:nvGraphicFramePr>
            <p:xfrm>
              <a:off x="685800" y="3866353"/>
              <a:ext cx="7620000" cy="365760"/>
            </p:xfrm>
            <a:graphic>
              <a:graphicData uri="http://schemas.openxmlformats.org/drawingml/2006/table">
                <a:tbl>
                  <a:tblPr>
                    <a:tableStyleId>{5C22544A-7EE6-4342-B048-85BDC9FD1C3A}</a:tableStyleId>
                  </a:tblPr>
                  <a:tblGrid>
                    <a:gridCol w="19050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tblGrid>
                  <a:tr h="365760">
                    <a:tc>
                      <a:txBody>
                        <a:bodyPr/>
                        <a:lstStyle/>
                        <a:p>
                          <a:pPr algn="r"/>
                          <a14:m>
                            <m:oMathPara xmlns:m="http://schemas.openxmlformats.org/officeDocument/2006/math">
                              <m:oMathParaPr>
                                <m:jc m:val="right"/>
                              </m:oMathParaPr>
                              <m:oMath xmlns:m="http://schemas.openxmlformats.org/officeDocument/2006/math">
                                <m:sSup>
                                  <m:sSupPr>
                                    <m:ctrlPr>
                                      <a:rPr lang="en-GB" sz="1800" i="1" smtClean="0">
                                        <a:solidFill>
                                          <a:schemeClr val="bg1">
                                            <a:lumMod val="50000"/>
                                          </a:schemeClr>
                                        </a:solidFill>
                                        <a:latin typeface="Cambria Math" panose="02040503050406030204" pitchFamily="18" charset="0"/>
                                      </a:rPr>
                                    </m:ctrlPr>
                                  </m:sSupPr>
                                  <m:e>
                                    <m:d>
                                      <m:dPr>
                                        <m:ctrlPr>
                                          <a:rPr lang="en-GB" sz="1800" i="1" smtClean="0">
                                            <a:solidFill>
                                              <a:schemeClr val="bg1">
                                                <a:lumMod val="50000"/>
                                              </a:schemeClr>
                                            </a:solidFill>
                                            <a:latin typeface="Cambria Math" panose="02040503050406030204" pitchFamily="18" charset="0"/>
                                          </a:rPr>
                                        </m:ctrlPr>
                                      </m:dPr>
                                      <m:e>
                                        <m:sSub>
                                          <m:sSubPr>
                                            <m:ctrlPr>
                                              <a:rPr lang="en-GB" sz="1800" i="1" smtClean="0">
                                                <a:solidFill>
                                                  <a:schemeClr val="bg1">
                                                    <a:lumMod val="50000"/>
                                                  </a:schemeClr>
                                                </a:solidFill>
                                                <a:latin typeface="Cambria Math" panose="02040503050406030204" pitchFamily="18" charset="0"/>
                                              </a:rPr>
                                            </m:ctrlPr>
                                          </m:sSubPr>
                                          <m:e>
                                            <m:r>
                                              <a:rPr lang="en-GB" sz="1800" b="0" i="1" smtClean="0">
                                                <a:solidFill>
                                                  <a:schemeClr val="bg1">
                                                    <a:lumMod val="50000"/>
                                                  </a:schemeClr>
                                                </a:solidFill>
                                                <a:latin typeface="Cambria Math"/>
                                              </a:rPr>
                                              <m:t>𝑓</m:t>
                                            </m:r>
                                          </m:e>
                                          <m:sub>
                                            <m:r>
                                              <a:rPr lang="en-GB" sz="1800" b="0" i="1" smtClean="0">
                                                <a:solidFill>
                                                  <a:schemeClr val="bg1">
                                                    <a:lumMod val="50000"/>
                                                  </a:schemeClr>
                                                </a:solidFill>
                                                <a:latin typeface="Cambria Math"/>
                                              </a:rPr>
                                              <m:t>𝑜</m:t>
                                            </m:r>
                                          </m:sub>
                                        </m:sSub>
                                        <m:r>
                                          <a:rPr lang="en-GB" sz="1800" b="0" i="1" smtClean="0">
                                            <a:solidFill>
                                              <a:schemeClr val="bg1">
                                                <a:lumMod val="50000"/>
                                              </a:schemeClr>
                                            </a:solidFill>
                                            <a:latin typeface="Cambria Math"/>
                                          </a:rPr>
                                          <m:t>−</m:t>
                                        </m:r>
                                        <m:sSub>
                                          <m:sSubPr>
                                            <m:ctrlPr>
                                              <a:rPr lang="en-GB" sz="1800" i="1" smtClean="0">
                                                <a:solidFill>
                                                  <a:schemeClr val="bg1">
                                                    <a:lumMod val="50000"/>
                                                  </a:schemeClr>
                                                </a:solidFill>
                                                <a:latin typeface="Cambria Math" panose="02040503050406030204" pitchFamily="18" charset="0"/>
                                              </a:rPr>
                                            </m:ctrlPr>
                                          </m:sSubPr>
                                          <m:e>
                                            <m:r>
                                              <a:rPr lang="en-GB" sz="1800" b="0" i="1" smtClean="0">
                                                <a:solidFill>
                                                  <a:schemeClr val="bg1">
                                                    <a:lumMod val="50000"/>
                                                  </a:schemeClr>
                                                </a:solidFill>
                                                <a:latin typeface="Cambria Math"/>
                                              </a:rPr>
                                              <m:t>𝑓</m:t>
                                            </m:r>
                                          </m:e>
                                          <m:sub>
                                            <m:r>
                                              <a:rPr lang="en-GB" sz="1800" b="0" i="1" smtClean="0">
                                                <a:solidFill>
                                                  <a:schemeClr val="bg1">
                                                    <a:lumMod val="50000"/>
                                                  </a:schemeClr>
                                                </a:solidFill>
                                                <a:latin typeface="Cambria Math"/>
                                              </a:rPr>
                                              <m:t>𝑒</m:t>
                                            </m:r>
                                          </m:sub>
                                        </m:sSub>
                                        <m:r>
                                          <m:rPr>
                                            <m:nor/>
                                          </m:rPr>
                                          <a:rPr lang="en-GB" sz="1800" dirty="0">
                                            <a:solidFill>
                                              <a:schemeClr val="bg1">
                                                <a:lumMod val="50000"/>
                                              </a:schemeClr>
                                            </a:solidFill>
                                          </a:rPr>
                                          <m:t> </m:t>
                                        </m:r>
                                      </m:e>
                                    </m:d>
                                  </m:e>
                                  <m:sup>
                                    <m:r>
                                      <a:rPr lang="en-GB" sz="1800" b="0" i="1" smtClean="0">
                                        <a:solidFill>
                                          <a:schemeClr val="bg1">
                                            <a:lumMod val="50000"/>
                                          </a:schemeClr>
                                        </a:solidFill>
                                        <a:latin typeface="Cambria Math"/>
                                      </a:rPr>
                                      <m:t>2</m:t>
                                    </m:r>
                                  </m:sup>
                                </m:sSup>
                              </m:oMath>
                            </m:oMathPara>
                          </a14:m>
                          <a:endParaRPr lang="en-GB" sz="1800" dirty="0">
                            <a:solidFill>
                              <a:schemeClr val="bg1">
                                <a:lumMod val="50000"/>
                              </a:schemeClr>
                            </a:solidFill>
                          </a:endParaRPr>
                        </a:p>
                      </a:txBody>
                      <a:tcPr anchor="ctr"/>
                    </a:tc>
                    <a:tc>
                      <a:txBody>
                        <a:bodyPr/>
                        <a:lstStyle/>
                        <a:p>
                          <a:pPr algn="r"/>
                          <a:r>
                            <a:rPr lang="en-GB" sz="1800" b="1" dirty="0">
                              <a:solidFill>
                                <a:schemeClr val="bg1">
                                  <a:lumMod val="50000"/>
                                </a:schemeClr>
                              </a:solidFill>
                            </a:rPr>
                            <a:t>(Observed – Expected)</a:t>
                          </a:r>
                          <a:r>
                            <a:rPr lang="en-GB" sz="1800" b="1" baseline="30000" dirty="0">
                              <a:solidFill>
                                <a:schemeClr val="bg1">
                                  <a:lumMod val="50000"/>
                                </a:schemeClr>
                              </a:solidFill>
                            </a:rPr>
                            <a:t>2</a:t>
                          </a:r>
                        </a:p>
                      </a:txBody>
                      <a:tcPr anchor="ctr"/>
                    </a:tc>
                    <a:tc>
                      <a:txBody>
                        <a:bodyPr/>
                        <a:lstStyle/>
                        <a:p>
                          <a:pPr algn="ctr"/>
                          <a:r>
                            <a:rPr lang="en-GB" sz="1800" b="1" dirty="0">
                              <a:solidFill>
                                <a:schemeClr val="bg1">
                                  <a:lumMod val="50000"/>
                                </a:schemeClr>
                              </a:solidFill>
                            </a:rPr>
                            <a:t>841</a:t>
                          </a:r>
                        </a:p>
                      </a:txBody>
                      <a:tcPr anchor="ctr"/>
                    </a:tc>
                    <a:tc>
                      <a:txBody>
                        <a:bodyPr/>
                        <a:lstStyle/>
                        <a:p>
                          <a:pPr algn="ctr"/>
                          <a:r>
                            <a:rPr lang="en-GB" sz="1800" b="1" dirty="0">
                              <a:solidFill>
                                <a:schemeClr val="bg1">
                                  <a:lumMod val="50000"/>
                                </a:schemeClr>
                              </a:solidFill>
                            </a:rPr>
                            <a:t>169</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altLang="en-US" sz="1800" b="1" dirty="0">
                              <a:solidFill>
                                <a:schemeClr val="bg1">
                                  <a:lumMod val="50000"/>
                                </a:schemeClr>
                              </a:solidFill>
                            </a:rPr>
                            <a:t>1764</a:t>
                          </a:r>
                        </a:p>
                      </a:txBody>
                      <a:tcPr anchor="ctr"/>
                    </a:tc>
                    <a:extLst>
                      <a:ext uri="{0D108BD9-81ED-4DB2-BD59-A6C34878D82A}">
                        <a16:rowId xmlns:a16="http://schemas.microsoft.com/office/drawing/2014/main" val="10000"/>
                      </a:ext>
                    </a:extLst>
                  </a:tr>
                </a:tbl>
              </a:graphicData>
            </a:graphic>
          </p:graphicFrame>
        </mc:Choice>
        <mc:Fallback xmlns="">
          <p:graphicFrame>
            <p:nvGraphicFramePr>
              <p:cNvPr id="15" name="Table 14"/>
              <p:cNvGraphicFramePr>
                <a:graphicFrameLocks noGrp="1"/>
              </p:cNvGraphicFramePr>
              <p:nvPr>
                <p:extLst>
                  <p:ext uri="{D42A27DB-BD31-4B8C-83A1-F6EECF244321}">
                    <p14:modId xmlns:p14="http://schemas.microsoft.com/office/powerpoint/2010/main" val="1739529419"/>
                  </p:ext>
                </p:extLst>
              </p:nvPr>
            </p:nvGraphicFramePr>
            <p:xfrm>
              <a:off x="685800" y="3866353"/>
              <a:ext cx="7620000" cy="365760"/>
            </p:xfrm>
            <a:graphic>
              <a:graphicData uri="http://schemas.openxmlformats.org/drawingml/2006/table">
                <a:tbl>
                  <a:tblPr>
                    <a:tableStyleId>{5C22544A-7EE6-4342-B048-85BDC9FD1C3A}</a:tableStyleId>
                  </a:tblPr>
                  <a:tblGrid>
                    <a:gridCol w="1905000"/>
                    <a:gridCol w="2514600"/>
                    <a:gridCol w="1066800"/>
                    <a:gridCol w="1066800"/>
                    <a:gridCol w="1066800"/>
                  </a:tblGrid>
                  <a:tr h="365760">
                    <a:tc>
                      <a:txBody>
                        <a:bodyPr/>
                        <a:lstStyle/>
                        <a:p>
                          <a:endParaRPr lang="en-US"/>
                        </a:p>
                      </a:txBody>
                      <a:tcPr anchor="ctr">
                        <a:blipFill rotWithShape="1">
                          <a:blip r:embed="rId5"/>
                          <a:stretch>
                            <a:fillRect l="-319" t="-8333" r="-299361" b="-26667"/>
                          </a:stretch>
                        </a:blipFill>
                      </a:tcPr>
                    </a:tc>
                    <a:tc>
                      <a:txBody>
                        <a:bodyPr/>
                        <a:lstStyle/>
                        <a:p>
                          <a:pPr algn="r"/>
                          <a:r>
                            <a:rPr lang="en-GB" sz="1800" b="1" dirty="0" smtClean="0">
                              <a:solidFill>
                                <a:schemeClr val="bg1">
                                  <a:lumMod val="50000"/>
                                </a:schemeClr>
                              </a:solidFill>
                            </a:rPr>
                            <a:t>(Observed – Expected)</a:t>
                          </a:r>
                          <a:r>
                            <a:rPr lang="en-GB" sz="1800" b="1" baseline="30000" dirty="0" smtClean="0">
                              <a:solidFill>
                                <a:schemeClr val="bg1">
                                  <a:lumMod val="50000"/>
                                </a:schemeClr>
                              </a:solidFill>
                            </a:rPr>
                            <a:t>2</a:t>
                          </a:r>
                          <a:endParaRPr lang="en-GB" sz="1800" b="1" baseline="30000" dirty="0">
                            <a:solidFill>
                              <a:schemeClr val="bg1">
                                <a:lumMod val="50000"/>
                              </a:schemeClr>
                            </a:solidFill>
                          </a:endParaRPr>
                        </a:p>
                      </a:txBody>
                      <a:tcPr anchor="ctr"/>
                    </a:tc>
                    <a:tc>
                      <a:txBody>
                        <a:bodyPr/>
                        <a:lstStyle/>
                        <a:p>
                          <a:pPr algn="ctr"/>
                          <a:r>
                            <a:rPr lang="en-GB" sz="1800" b="1" dirty="0" smtClean="0">
                              <a:solidFill>
                                <a:schemeClr val="bg1">
                                  <a:lumMod val="50000"/>
                                </a:schemeClr>
                              </a:solidFill>
                            </a:rPr>
                            <a:t>841</a:t>
                          </a:r>
                          <a:endParaRPr lang="en-GB" sz="1800" b="1" dirty="0">
                            <a:solidFill>
                              <a:schemeClr val="bg1">
                                <a:lumMod val="50000"/>
                              </a:schemeClr>
                            </a:solidFill>
                          </a:endParaRPr>
                        </a:p>
                      </a:txBody>
                      <a:tcPr anchor="ctr"/>
                    </a:tc>
                    <a:tc>
                      <a:txBody>
                        <a:bodyPr/>
                        <a:lstStyle/>
                        <a:p>
                          <a:pPr algn="ctr"/>
                          <a:r>
                            <a:rPr lang="en-GB" sz="1800" b="1" dirty="0" smtClean="0">
                              <a:solidFill>
                                <a:schemeClr val="bg1">
                                  <a:lumMod val="50000"/>
                                </a:schemeClr>
                              </a:solidFill>
                            </a:rPr>
                            <a:t>169</a:t>
                          </a:r>
                          <a:endParaRPr lang="en-GB" sz="1800" b="1" dirty="0">
                            <a:solidFill>
                              <a:schemeClr val="bg1">
                                <a:lumMod val="50000"/>
                              </a:schemeClr>
                            </a:solidFill>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altLang="en-US" sz="1800" b="1" dirty="0" smtClean="0">
                              <a:solidFill>
                                <a:schemeClr val="bg1">
                                  <a:lumMod val="50000"/>
                                </a:schemeClr>
                              </a:solidFill>
                            </a:rPr>
                            <a:t>1764</a:t>
                          </a:r>
                        </a:p>
                      </a:txBody>
                      <a:tcPr anchor="ctr"/>
                    </a:tc>
                  </a:tr>
                </a:tbl>
              </a:graphicData>
            </a:graphic>
          </p:graphicFrame>
        </mc:Fallback>
      </mc:AlternateContent>
      <mc:AlternateContent xmlns:mc="http://schemas.openxmlformats.org/markup-compatibility/2006" xmlns:a14="http://schemas.microsoft.com/office/drawing/2010/main">
        <mc:Choice Requires="a14">
          <p:graphicFrame>
            <p:nvGraphicFramePr>
              <p:cNvPr id="7" name="Table 6"/>
              <p:cNvGraphicFramePr>
                <a:graphicFrameLocks noGrp="1"/>
              </p:cNvGraphicFramePr>
              <p:nvPr>
                <p:extLst>
                  <p:ext uri="{D42A27DB-BD31-4B8C-83A1-F6EECF244321}">
                    <p14:modId xmlns:p14="http://schemas.microsoft.com/office/powerpoint/2010/main" val="505046223"/>
                  </p:ext>
                </p:extLst>
              </p:nvPr>
            </p:nvGraphicFramePr>
            <p:xfrm>
              <a:off x="685800" y="1828800"/>
              <a:ext cx="1905000" cy="1651000"/>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20000"/>
                        </a:ext>
                      </a:extLst>
                    </a:gridCol>
                  </a:tblGrid>
                  <a:tr h="370840">
                    <a:tc>
                      <a:txBody>
                        <a:bodyPr/>
                        <a:lstStyle/>
                        <a:p>
                          <a:pPr algn="ctr"/>
                          <a:r>
                            <a:rPr lang="en-GB" dirty="0"/>
                            <a:t>Notations</a:t>
                          </a:r>
                        </a:p>
                      </a:txBody>
                      <a:tcPr/>
                    </a:tc>
                    <a:extLst>
                      <a:ext uri="{0D108BD9-81ED-4DB2-BD59-A6C34878D82A}">
                        <a16:rowId xmlns:a16="http://schemas.microsoft.com/office/drawing/2014/main" val="10000"/>
                      </a:ext>
                    </a:extLst>
                  </a:tr>
                  <a:tr h="640080">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right"/>
                              </m:oMathParaPr>
                              <m:oMath xmlns:m="http://schemas.openxmlformats.org/officeDocument/2006/math">
                                <m:sSub>
                                  <m:sSubPr>
                                    <m:ctrlPr>
                                      <a:rPr lang="en-GB" sz="3600" i="1" smtClean="0">
                                        <a:latin typeface="Cambria Math" panose="02040503050406030204" pitchFamily="18" charset="0"/>
                                      </a:rPr>
                                    </m:ctrlPr>
                                  </m:sSubPr>
                                  <m:e>
                                    <m:r>
                                      <a:rPr lang="en-GB" sz="3600" b="0" i="1" smtClean="0">
                                        <a:latin typeface="Cambria Math"/>
                                      </a:rPr>
                                      <m:t>𝑓</m:t>
                                    </m:r>
                                  </m:e>
                                  <m:sub>
                                    <m:r>
                                      <a:rPr lang="en-GB" sz="3600" b="0" i="1" smtClean="0">
                                        <a:latin typeface="Cambria Math"/>
                                      </a:rPr>
                                      <m:t>𝑜</m:t>
                                    </m:r>
                                  </m:sub>
                                </m:sSub>
                              </m:oMath>
                            </m:oMathPara>
                          </a14:m>
                          <a:endParaRPr lang="en-GB" sz="3600" dirty="0">
                            <a:solidFill>
                              <a:schemeClr val="tx1"/>
                            </a:solidFill>
                          </a:endParaRPr>
                        </a:p>
                      </a:txBody>
                      <a:tcPr anchor="ctr"/>
                    </a:tc>
                    <a:extLst>
                      <a:ext uri="{0D108BD9-81ED-4DB2-BD59-A6C34878D82A}">
                        <a16:rowId xmlns:a16="http://schemas.microsoft.com/office/drawing/2014/main" val="10001"/>
                      </a:ext>
                    </a:extLst>
                  </a:tr>
                  <a:tr h="640080">
                    <a:tc>
                      <a:txBody>
                        <a:bodyPr/>
                        <a:lstStyle/>
                        <a:p>
                          <a:pPr algn="r"/>
                          <a14:m>
                            <m:oMathPara xmlns:m="http://schemas.openxmlformats.org/officeDocument/2006/math">
                              <m:oMathParaPr>
                                <m:jc m:val="right"/>
                              </m:oMathParaPr>
                              <m:oMath xmlns:m="http://schemas.openxmlformats.org/officeDocument/2006/math">
                                <m:sSub>
                                  <m:sSubPr>
                                    <m:ctrlPr>
                                      <a:rPr lang="en-GB" sz="3600" i="1" smtClean="0">
                                        <a:latin typeface="Cambria Math" panose="02040503050406030204" pitchFamily="18" charset="0"/>
                                      </a:rPr>
                                    </m:ctrlPr>
                                  </m:sSubPr>
                                  <m:e>
                                    <m:r>
                                      <a:rPr lang="en-GB" sz="3600" b="0" i="1" smtClean="0">
                                        <a:latin typeface="Cambria Math"/>
                                      </a:rPr>
                                      <m:t>𝑓</m:t>
                                    </m:r>
                                  </m:e>
                                  <m:sub>
                                    <m:r>
                                      <a:rPr lang="en-GB" sz="3600" b="0" i="1" smtClean="0">
                                        <a:latin typeface="Cambria Math"/>
                                      </a:rPr>
                                      <m:t>𝑒</m:t>
                                    </m:r>
                                  </m:sub>
                                </m:sSub>
                              </m:oMath>
                            </m:oMathPara>
                          </a14:m>
                          <a:endParaRPr lang="en-GB" sz="3600" dirty="0">
                            <a:solidFill>
                              <a:schemeClr val="tx1"/>
                            </a:solidFill>
                          </a:endParaRPr>
                        </a:p>
                      </a:txBody>
                      <a:tcPr anchor="ctr"/>
                    </a:tc>
                    <a:extLst>
                      <a:ext uri="{0D108BD9-81ED-4DB2-BD59-A6C34878D82A}">
                        <a16:rowId xmlns:a16="http://schemas.microsoft.com/office/drawing/2014/main" val="10002"/>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505046223"/>
                  </p:ext>
                </p:extLst>
              </p:nvPr>
            </p:nvGraphicFramePr>
            <p:xfrm>
              <a:off x="685800" y="1828800"/>
              <a:ext cx="1905000" cy="1651000"/>
            </p:xfrm>
            <a:graphic>
              <a:graphicData uri="http://schemas.openxmlformats.org/drawingml/2006/table">
                <a:tbl>
                  <a:tblPr firstRow="1" bandRow="1">
                    <a:tableStyleId>{5C22544A-7EE6-4342-B048-85BDC9FD1C3A}</a:tableStyleId>
                  </a:tblPr>
                  <a:tblGrid>
                    <a:gridCol w="1905000"/>
                  </a:tblGrid>
                  <a:tr h="370840">
                    <a:tc>
                      <a:txBody>
                        <a:bodyPr/>
                        <a:lstStyle/>
                        <a:p>
                          <a:pPr algn="ctr"/>
                          <a:r>
                            <a:rPr lang="en-GB" dirty="0" smtClean="0"/>
                            <a:t>Notations</a:t>
                          </a:r>
                          <a:endParaRPr lang="en-GB" dirty="0"/>
                        </a:p>
                      </a:txBody>
                      <a:tcPr/>
                    </a:tc>
                  </a:tr>
                  <a:tr h="640080">
                    <a:tc>
                      <a:txBody>
                        <a:bodyPr/>
                        <a:lstStyle/>
                        <a:p>
                          <a:endParaRPr lang="en-US"/>
                        </a:p>
                      </a:txBody>
                      <a:tcPr anchor="ctr">
                        <a:blipFill rotWithShape="1">
                          <a:blip r:embed="rId6"/>
                          <a:stretch>
                            <a:fillRect l="-321" t="-62857" b="-100000"/>
                          </a:stretch>
                        </a:blipFill>
                      </a:tcPr>
                    </a:tc>
                  </a:tr>
                  <a:tr h="640080">
                    <a:tc>
                      <a:txBody>
                        <a:bodyPr/>
                        <a:lstStyle/>
                        <a:p>
                          <a:endParaRPr lang="en-US"/>
                        </a:p>
                      </a:txBody>
                      <a:tcPr anchor="ctr">
                        <a:blipFill rotWithShape="1">
                          <a:blip r:embed="rId6"/>
                          <a:stretch>
                            <a:fillRect l="-321" t="-162857"/>
                          </a:stretch>
                        </a:blip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9" name="Table 8"/>
              <p:cNvGraphicFramePr>
                <a:graphicFrameLocks noGrp="1"/>
              </p:cNvGraphicFramePr>
              <p:nvPr>
                <p:extLst>
                  <p:ext uri="{D42A27DB-BD31-4B8C-83A1-F6EECF244321}">
                    <p14:modId xmlns:p14="http://schemas.microsoft.com/office/powerpoint/2010/main" val="1921751628"/>
                  </p:ext>
                </p:extLst>
              </p:nvPr>
            </p:nvGraphicFramePr>
            <p:xfrm>
              <a:off x="685800" y="4235301"/>
              <a:ext cx="7620000" cy="696976"/>
            </p:xfrm>
            <a:graphic>
              <a:graphicData uri="http://schemas.openxmlformats.org/drawingml/2006/table">
                <a:tbl>
                  <a:tblPr bandRow="1">
                    <a:tableStyleId>{5C22544A-7EE6-4342-B048-85BDC9FD1C3A}</a:tableStyleId>
                  </a:tblPr>
                  <a:tblGrid>
                    <a:gridCol w="19050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tblGrid>
                  <a:tr h="696976">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right"/>
                              </m:oMathParaPr>
                              <m:oMath xmlns:m="http://schemas.openxmlformats.org/officeDocument/2006/math">
                                <m:f>
                                  <m:fPr>
                                    <m:ctrlPr>
                                      <a:rPr lang="en-GB" i="1" smtClean="0">
                                        <a:latin typeface="Cambria Math" panose="02040503050406030204" pitchFamily="18" charset="0"/>
                                      </a:rPr>
                                    </m:ctrlPr>
                                  </m:fPr>
                                  <m:num>
                                    <m:sSup>
                                      <m:sSupPr>
                                        <m:ctrlPr>
                                          <a:rPr lang="en-GB" i="1">
                                            <a:latin typeface="Cambria Math" panose="02040503050406030204" pitchFamily="18" charset="0"/>
                                          </a:rPr>
                                        </m:ctrlPr>
                                      </m:sSupPr>
                                      <m:e>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b="1" i="1">
                                                    <a:latin typeface="Cambria Math"/>
                                                  </a:rPr>
                                                  <m:t>𝒇</m:t>
                                                </m:r>
                                              </m:e>
                                              <m:sub>
                                                <m:r>
                                                  <a:rPr lang="en-GB" b="1" i="1">
                                                    <a:latin typeface="Cambria Math"/>
                                                  </a:rPr>
                                                  <m:t>𝒐</m:t>
                                                </m:r>
                                              </m:sub>
                                            </m:sSub>
                                            <m:r>
                                              <a:rPr lang="en-GB" b="1" i="1">
                                                <a:latin typeface="Cambria Math"/>
                                              </a:rPr>
                                              <m:t>−</m:t>
                                            </m:r>
                                            <m:sSub>
                                              <m:sSubPr>
                                                <m:ctrlPr>
                                                  <a:rPr lang="en-GB" i="1">
                                                    <a:latin typeface="Cambria Math" panose="02040503050406030204" pitchFamily="18" charset="0"/>
                                                  </a:rPr>
                                                </m:ctrlPr>
                                              </m:sSubPr>
                                              <m:e>
                                                <m:r>
                                                  <a:rPr lang="en-GB" b="1" i="1">
                                                    <a:latin typeface="Cambria Math"/>
                                                  </a:rPr>
                                                  <m:t>𝒇</m:t>
                                                </m:r>
                                              </m:e>
                                              <m:sub>
                                                <m:r>
                                                  <a:rPr lang="en-GB" b="1" i="1">
                                                    <a:latin typeface="Cambria Math"/>
                                                  </a:rPr>
                                                  <m:t>𝒆</m:t>
                                                </m:r>
                                              </m:sub>
                                            </m:sSub>
                                          </m:e>
                                        </m:d>
                                      </m:e>
                                      <m:sup>
                                        <m:r>
                                          <a:rPr lang="en-GB" b="1" i="1">
                                            <a:latin typeface="Cambria Math"/>
                                          </a:rPr>
                                          <m:t>𝟐</m:t>
                                        </m:r>
                                      </m:sup>
                                    </m:sSup>
                                  </m:num>
                                  <m:den>
                                    <m:sSub>
                                      <m:sSubPr>
                                        <m:ctrlPr>
                                          <a:rPr lang="en-GB" i="1">
                                            <a:latin typeface="Cambria Math" panose="02040503050406030204" pitchFamily="18" charset="0"/>
                                          </a:rPr>
                                        </m:ctrlPr>
                                      </m:sSubPr>
                                      <m:e>
                                        <m:r>
                                          <a:rPr lang="en-GB" b="1" i="1">
                                            <a:latin typeface="Cambria Math"/>
                                          </a:rPr>
                                          <m:t>𝒇</m:t>
                                        </m:r>
                                      </m:e>
                                      <m:sub>
                                        <m:r>
                                          <a:rPr lang="en-GB" b="1" i="1">
                                            <a:latin typeface="Cambria Math"/>
                                          </a:rPr>
                                          <m:t>𝒆</m:t>
                                        </m:r>
                                      </m:sub>
                                    </m:sSub>
                                  </m:den>
                                </m:f>
                              </m:oMath>
                            </m:oMathPara>
                          </a14:m>
                          <a:endParaRPr lang="en-GB" dirty="0">
                            <a:solidFill>
                              <a:schemeClr val="tx1"/>
                            </a:solidFill>
                          </a:endParaRPr>
                        </a:p>
                      </a:txBody>
                      <a:tcPr anchor="c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800" b="1" u="sng" dirty="0">
                              <a:solidFill>
                                <a:schemeClr val="tx1"/>
                              </a:solidFill>
                            </a:rPr>
                            <a:t>(Observed – Expected)</a:t>
                          </a:r>
                          <a:r>
                            <a:rPr lang="en-GB" sz="1800" b="1" u="sng" baseline="30000" dirty="0">
                              <a:solidFill>
                                <a:schemeClr val="tx1"/>
                              </a:solidFill>
                            </a:rPr>
                            <a:t>2</a:t>
                          </a:r>
                        </a:p>
                        <a:p>
                          <a:pPr algn="ctr"/>
                          <a:r>
                            <a:rPr lang="en-GB" sz="1800" b="1" dirty="0">
                              <a:solidFill>
                                <a:schemeClr val="tx1"/>
                              </a:solidFill>
                            </a:rPr>
                            <a:t>Expected</a:t>
                          </a:r>
                        </a:p>
                      </a:txBody>
                      <a:tcPr anchor="ctr"/>
                    </a:tc>
                    <a:tc>
                      <a:txBody>
                        <a:bodyPr/>
                        <a:lstStyle/>
                        <a:p>
                          <a:pPr algn="ctr"/>
                          <a:r>
                            <a:rPr lang="en-GB" altLang="en-US" sz="2400" dirty="0"/>
                            <a:t>2.8127</a:t>
                          </a:r>
                          <a:endParaRPr lang="en-GB" sz="2400" b="1" dirty="0">
                            <a:solidFill>
                              <a:schemeClr val="tx1"/>
                            </a:solidFill>
                          </a:endParaRPr>
                        </a:p>
                      </a:txBody>
                      <a:tcPr anchor="ctr"/>
                    </a:tc>
                    <a:tc>
                      <a:txBody>
                        <a:bodyPr/>
                        <a:lstStyle/>
                        <a:p>
                          <a:pPr algn="ctr"/>
                          <a:r>
                            <a:rPr lang="en-GB" altLang="en-US" sz="2400" dirty="0"/>
                            <a:t>0.5652</a:t>
                          </a:r>
                          <a:endParaRPr lang="en-GB" sz="2400" b="1" dirty="0">
                            <a:solidFill>
                              <a:schemeClr val="tx1"/>
                            </a:solidFill>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altLang="en-US" sz="2400" dirty="0"/>
                            <a:t>5.8997</a:t>
                          </a:r>
                          <a:endParaRPr lang="en-GB" altLang="en-US" sz="2400" b="1" dirty="0">
                            <a:solidFill>
                              <a:schemeClr val="tx1"/>
                            </a:solidFill>
                          </a:endParaRPr>
                        </a:p>
                      </a:txBody>
                      <a:tcPr anchor="ctr"/>
                    </a:tc>
                    <a:extLst>
                      <a:ext uri="{0D108BD9-81ED-4DB2-BD59-A6C34878D82A}">
                        <a16:rowId xmlns:a16="http://schemas.microsoft.com/office/drawing/2014/main" val="10000"/>
                      </a:ext>
                    </a:extLst>
                  </a:tr>
                </a:tbl>
              </a:graphicData>
            </a:graphic>
          </p:graphicFrame>
        </mc:Choice>
        <mc:Fallback xmlns="">
          <p:graphicFrame>
            <p:nvGraphicFramePr>
              <p:cNvPr id="9" name="Table 8"/>
              <p:cNvGraphicFramePr>
                <a:graphicFrameLocks noGrp="1"/>
              </p:cNvGraphicFramePr>
              <p:nvPr>
                <p:extLst>
                  <p:ext uri="{D42A27DB-BD31-4B8C-83A1-F6EECF244321}">
                    <p14:modId xmlns:p14="http://schemas.microsoft.com/office/powerpoint/2010/main" val="1921751628"/>
                  </p:ext>
                </p:extLst>
              </p:nvPr>
            </p:nvGraphicFramePr>
            <p:xfrm>
              <a:off x="685800" y="4235301"/>
              <a:ext cx="7620000" cy="696976"/>
            </p:xfrm>
            <a:graphic>
              <a:graphicData uri="http://schemas.openxmlformats.org/drawingml/2006/table">
                <a:tbl>
                  <a:tblPr bandRow="1">
                    <a:tableStyleId>{5C22544A-7EE6-4342-B048-85BDC9FD1C3A}</a:tableStyleId>
                  </a:tblPr>
                  <a:tblGrid>
                    <a:gridCol w="1905000"/>
                    <a:gridCol w="2514600"/>
                    <a:gridCol w="1066800"/>
                    <a:gridCol w="1066800"/>
                    <a:gridCol w="1066800"/>
                  </a:tblGrid>
                  <a:tr h="696976">
                    <a:tc>
                      <a:txBody>
                        <a:bodyPr/>
                        <a:lstStyle/>
                        <a:p>
                          <a:endParaRPr lang="en-US"/>
                        </a:p>
                      </a:txBody>
                      <a:tcPr anchor="ctr">
                        <a:blipFill rotWithShape="1">
                          <a:blip r:embed="rId7"/>
                          <a:stretch>
                            <a:fillRect l="-319" t="-877" r="-299361" b="-9649"/>
                          </a:stretch>
                        </a:blip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800" b="1" u="sng" dirty="0" smtClean="0">
                              <a:solidFill>
                                <a:schemeClr val="tx1"/>
                              </a:solidFill>
                            </a:rPr>
                            <a:t>(Observed – Expected)</a:t>
                          </a:r>
                          <a:r>
                            <a:rPr lang="en-GB" sz="1800" b="1" u="sng" baseline="30000" dirty="0" smtClean="0">
                              <a:solidFill>
                                <a:schemeClr val="tx1"/>
                              </a:solidFill>
                            </a:rPr>
                            <a:t>2</a:t>
                          </a:r>
                        </a:p>
                        <a:p>
                          <a:pPr algn="ctr"/>
                          <a:r>
                            <a:rPr lang="en-GB" sz="1800" b="1" dirty="0" smtClean="0">
                              <a:solidFill>
                                <a:schemeClr val="tx1"/>
                              </a:solidFill>
                            </a:rPr>
                            <a:t>Expected</a:t>
                          </a:r>
                          <a:endParaRPr lang="en-GB" sz="1800" b="1" dirty="0">
                            <a:solidFill>
                              <a:schemeClr val="tx1"/>
                            </a:solidFill>
                          </a:endParaRPr>
                        </a:p>
                      </a:txBody>
                      <a:tcPr anchor="ctr"/>
                    </a:tc>
                    <a:tc>
                      <a:txBody>
                        <a:bodyPr/>
                        <a:lstStyle/>
                        <a:p>
                          <a:pPr algn="ctr"/>
                          <a:r>
                            <a:rPr lang="en-GB" altLang="en-US" sz="2400" dirty="0" smtClean="0"/>
                            <a:t>2.8127</a:t>
                          </a:r>
                          <a:endParaRPr lang="en-GB" sz="2400" b="1" dirty="0">
                            <a:solidFill>
                              <a:schemeClr val="tx1"/>
                            </a:solidFill>
                          </a:endParaRPr>
                        </a:p>
                      </a:txBody>
                      <a:tcPr anchor="ctr"/>
                    </a:tc>
                    <a:tc>
                      <a:txBody>
                        <a:bodyPr/>
                        <a:lstStyle/>
                        <a:p>
                          <a:pPr algn="ctr"/>
                          <a:r>
                            <a:rPr lang="en-GB" altLang="en-US" sz="2400" dirty="0" smtClean="0"/>
                            <a:t>0.5652</a:t>
                          </a:r>
                          <a:endParaRPr lang="en-GB" sz="2400" b="1" dirty="0">
                            <a:solidFill>
                              <a:schemeClr val="tx1"/>
                            </a:solidFill>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altLang="en-US" sz="2400" dirty="0" smtClean="0"/>
                            <a:t>5.8997</a:t>
                          </a:r>
                          <a:endParaRPr lang="en-GB" altLang="en-US" sz="2400" b="1" dirty="0" smtClean="0">
                            <a:solidFill>
                              <a:schemeClr val="tx1"/>
                            </a:solidFill>
                          </a:endParaRPr>
                        </a:p>
                      </a:txBody>
                      <a:tcPr anchor="ctr"/>
                    </a:tc>
                  </a:tr>
                </a:tbl>
              </a:graphicData>
            </a:graphic>
          </p:graphicFrame>
        </mc:Fallback>
      </mc:AlternateContent>
      <mc:AlternateContent xmlns:mc="http://schemas.openxmlformats.org/markup-compatibility/2006" xmlns:a14="http://schemas.microsoft.com/office/drawing/2010/main">
        <mc:Choice Requires="a14">
          <p:graphicFrame>
            <p:nvGraphicFramePr>
              <p:cNvPr id="18" name="Table 17"/>
              <p:cNvGraphicFramePr>
                <a:graphicFrameLocks noGrp="1"/>
              </p:cNvGraphicFramePr>
              <p:nvPr>
                <p:extLst>
                  <p:ext uri="{D42A27DB-BD31-4B8C-83A1-F6EECF244321}">
                    <p14:modId xmlns:p14="http://schemas.microsoft.com/office/powerpoint/2010/main" val="1565279342"/>
                  </p:ext>
                </p:extLst>
              </p:nvPr>
            </p:nvGraphicFramePr>
            <p:xfrm>
              <a:off x="685800" y="4953000"/>
              <a:ext cx="7620000" cy="457200"/>
            </p:xfrm>
            <a:graphic>
              <a:graphicData uri="http://schemas.openxmlformats.org/drawingml/2006/table">
                <a:tbl>
                  <a:tblPr>
                    <a:tableStyleId>{5C22544A-7EE6-4342-B048-85BDC9FD1C3A}</a:tableStyleId>
                  </a:tblPr>
                  <a:tblGrid>
                    <a:gridCol w="19050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457200">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GB" dirty="0">
                            <a:solidFill>
                              <a:schemeClr val="tx1"/>
                            </a:solidFill>
                          </a:endParaRPr>
                        </a:p>
                      </a:txBody>
                      <a:tcPr anchor="c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right"/>
                              </m:oMathParaPr>
                              <m:oMath xmlns:m="http://schemas.openxmlformats.org/officeDocument/2006/math">
                                <m:sSubSup>
                                  <m:sSubSupPr>
                                    <m:ctrlPr>
                                      <a:rPr lang="en-GB" b="1" i="1" smtClean="0">
                                        <a:latin typeface="Cambria Math" panose="02040503050406030204" pitchFamily="18" charset="0"/>
                                      </a:rPr>
                                    </m:ctrlPr>
                                  </m:sSubSupPr>
                                  <m:e>
                                    <m:r>
                                      <a:rPr lang="en-GB" b="1" i="1" smtClean="0">
                                        <a:latin typeface="Cambria Math"/>
                                      </a:rPr>
                                      <m:t>𝝌</m:t>
                                    </m:r>
                                  </m:e>
                                  <m:sub/>
                                  <m:sup>
                                    <m:r>
                                      <a:rPr lang="en-GB" b="1" i="1" smtClean="0">
                                        <a:latin typeface="Cambria Math"/>
                                      </a:rPr>
                                      <m:t>𝟐</m:t>
                                    </m:r>
                                  </m:sup>
                                </m:sSubSup>
                                <m:r>
                                  <a:rPr lang="en-GB" b="1" i="1" smtClean="0">
                                    <a:latin typeface="Cambria Math"/>
                                  </a:rPr>
                                  <m:t>=</m:t>
                                </m:r>
                              </m:oMath>
                            </m:oMathPara>
                          </a14:m>
                          <a:endParaRPr lang="en-GB" sz="1800" b="1" dirty="0">
                            <a:solidFill>
                              <a:schemeClr val="tx1"/>
                            </a:solidFill>
                          </a:endParaRPr>
                        </a:p>
                      </a:txBody>
                      <a:tcPr anchor="ctr"/>
                    </a:tc>
                    <a:tc>
                      <a:txBody>
                        <a:bodyPr/>
                        <a:lstStyle/>
                        <a:p>
                          <a:pPr algn="ctr"/>
                          <a:r>
                            <a:rPr lang="en-GB" altLang="en-US" sz="2400" dirty="0"/>
                            <a:t>9.2776 </a:t>
                          </a:r>
                          <a:endParaRPr lang="en-GB" sz="2400" b="1" dirty="0">
                            <a:solidFill>
                              <a:schemeClr val="tx1"/>
                            </a:solidFill>
                          </a:endParaRPr>
                        </a:p>
                      </a:txBody>
                      <a:tcPr anchor="ctr"/>
                    </a:tc>
                    <a:extLst>
                      <a:ext uri="{0D108BD9-81ED-4DB2-BD59-A6C34878D82A}">
                        <a16:rowId xmlns:a16="http://schemas.microsoft.com/office/drawing/2014/main" val="10000"/>
                      </a:ext>
                    </a:extLst>
                  </a:tr>
                </a:tbl>
              </a:graphicData>
            </a:graphic>
          </p:graphicFrame>
        </mc:Choice>
        <mc:Fallback xmlns="">
          <p:graphicFrame>
            <p:nvGraphicFramePr>
              <p:cNvPr id="18" name="Table 17"/>
              <p:cNvGraphicFramePr>
                <a:graphicFrameLocks noGrp="1"/>
              </p:cNvGraphicFramePr>
              <p:nvPr>
                <p:extLst>
                  <p:ext uri="{D42A27DB-BD31-4B8C-83A1-F6EECF244321}">
                    <p14:modId xmlns:p14="http://schemas.microsoft.com/office/powerpoint/2010/main" val="1565279342"/>
                  </p:ext>
                </p:extLst>
              </p:nvPr>
            </p:nvGraphicFramePr>
            <p:xfrm>
              <a:off x="685800" y="4953000"/>
              <a:ext cx="7620000" cy="457200"/>
            </p:xfrm>
            <a:graphic>
              <a:graphicData uri="http://schemas.openxmlformats.org/drawingml/2006/table">
                <a:tbl>
                  <a:tblPr>
                    <a:tableStyleId>{5C22544A-7EE6-4342-B048-85BDC9FD1C3A}</a:tableStyleId>
                  </a:tblPr>
                  <a:tblGrid>
                    <a:gridCol w="1905000"/>
                    <a:gridCol w="2514600"/>
                    <a:gridCol w="3200400"/>
                  </a:tblGrid>
                  <a:tr h="457200">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GB" dirty="0">
                            <a:solidFill>
                              <a:schemeClr val="tx1"/>
                            </a:solidFill>
                          </a:endParaRPr>
                        </a:p>
                      </a:txBody>
                      <a:tcPr anchor="ctr">
                        <a:noFill/>
                      </a:tcPr>
                    </a:tc>
                    <a:tc>
                      <a:txBody>
                        <a:bodyPr/>
                        <a:lstStyle/>
                        <a:p>
                          <a:endParaRPr lang="en-US"/>
                        </a:p>
                      </a:txBody>
                      <a:tcPr anchor="ctr">
                        <a:blipFill rotWithShape="1">
                          <a:blip r:embed="rId8"/>
                          <a:stretch>
                            <a:fillRect l="-76214" t="-10667" r="-127427" b="-29333"/>
                          </a:stretch>
                        </a:blipFill>
                      </a:tcPr>
                    </a:tc>
                    <a:tc>
                      <a:txBody>
                        <a:bodyPr/>
                        <a:lstStyle/>
                        <a:p>
                          <a:pPr algn="ctr"/>
                          <a:r>
                            <a:rPr lang="en-GB" altLang="en-US" sz="2400" dirty="0" smtClean="0"/>
                            <a:t>9.2776 </a:t>
                          </a:r>
                          <a:endParaRPr lang="en-GB" sz="2400" b="1" dirty="0">
                            <a:solidFill>
                              <a:schemeClr val="tx1"/>
                            </a:solidFill>
                          </a:endParaRPr>
                        </a:p>
                      </a:txBody>
                      <a:tcPr anchor="ctr"/>
                    </a:tc>
                  </a:tr>
                </a:tbl>
              </a:graphicData>
            </a:graphic>
          </p:graphicFrame>
        </mc:Fallback>
      </mc:AlternateContent>
    </p:spTree>
    <p:extLst>
      <p:ext uri="{BB962C8B-B14F-4D97-AF65-F5344CB8AC3E}">
        <p14:creationId xmlns:p14="http://schemas.microsoft.com/office/powerpoint/2010/main" val="1765755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t>Chi Squared (</a:t>
            </a:r>
            <a:r>
              <a:rPr lang="en-GB" altLang="en-US" dirty="0">
                <a:sym typeface="Symbol" pitchFamily="18" charset="2"/>
              </a:rPr>
              <a:t></a:t>
            </a:r>
            <a:r>
              <a:rPr lang="en-GB" altLang="en-US" baseline="30000" dirty="0">
                <a:sym typeface="Symbol" pitchFamily="18" charset="2"/>
              </a:rPr>
              <a:t>2</a:t>
            </a:r>
            <a:r>
              <a:rPr lang="en-GB" altLang="en-US" dirty="0">
                <a:sym typeface="Symbol" pitchFamily="18" charset="2"/>
              </a:rPr>
              <a:t>)</a:t>
            </a:r>
            <a:endParaRPr lang="en-GB" dirty="0"/>
          </a:p>
        </p:txBody>
      </p:sp>
      <mc:AlternateContent xmlns:mc="http://schemas.openxmlformats.org/markup-compatibility/2006" xmlns:a14="http://schemas.microsoft.com/office/drawing/2010/main">
        <mc:Choice Requires="a14">
          <p:sp>
            <p:nvSpPr>
              <p:cNvPr id="11" name="Rectangle 10"/>
              <p:cNvSpPr/>
              <p:nvPr/>
            </p:nvSpPr>
            <p:spPr>
              <a:xfrm>
                <a:off x="5130559" y="969637"/>
                <a:ext cx="3327641" cy="131459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GB" sz="2800" i="1">
                              <a:latin typeface="Cambria Math" panose="02040503050406030204" pitchFamily="18" charset="0"/>
                            </a:rPr>
                          </m:ctrlPr>
                        </m:sSupPr>
                        <m:e>
                          <m:r>
                            <a:rPr lang="en-GB" sz="2800" b="0" i="1">
                              <a:latin typeface="Cambria Math"/>
                            </a:rPr>
                            <m:t>𝜒</m:t>
                          </m:r>
                        </m:e>
                        <m:sup>
                          <m:r>
                            <a:rPr lang="en-GB" sz="2800" b="0" i="1">
                              <a:latin typeface="Cambria Math"/>
                            </a:rPr>
                            <m:t>2</m:t>
                          </m:r>
                        </m:sup>
                      </m:sSup>
                      <m:r>
                        <a:rPr lang="en-GB" sz="2800" b="0" i="1">
                          <a:latin typeface="Cambria Math"/>
                        </a:rPr>
                        <m:t>=</m:t>
                      </m:r>
                      <m:nary>
                        <m:naryPr>
                          <m:chr m:val="∑"/>
                          <m:limLoc m:val="undOvr"/>
                          <m:subHide m:val="on"/>
                          <m:supHide m:val="on"/>
                          <m:ctrlPr>
                            <a:rPr lang="en-GB" sz="2800" i="1">
                              <a:latin typeface="Cambria Math" panose="02040503050406030204" pitchFamily="18" charset="0"/>
                            </a:rPr>
                          </m:ctrlPr>
                        </m:naryPr>
                        <m:sub/>
                        <m:sup/>
                        <m:e>
                          <m:f>
                            <m:fPr>
                              <m:ctrlPr>
                                <a:rPr lang="en-GB" sz="2800" i="1">
                                  <a:latin typeface="Cambria Math" panose="02040503050406030204" pitchFamily="18" charset="0"/>
                                </a:rPr>
                              </m:ctrlPr>
                            </m:fPr>
                            <m:num>
                              <m:sSup>
                                <m:sSupPr>
                                  <m:ctrlPr>
                                    <a:rPr lang="en-GB" sz="2800" i="1">
                                      <a:latin typeface="Cambria Math" panose="02040503050406030204" pitchFamily="18" charset="0"/>
                                    </a:rPr>
                                  </m:ctrlPr>
                                </m:sSupPr>
                                <m:e>
                                  <m:d>
                                    <m:dPr>
                                      <m:ctrlPr>
                                        <a:rPr lang="en-GB" sz="2800" i="1">
                                          <a:latin typeface="Cambria Math" panose="02040503050406030204" pitchFamily="18" charset="0"/>
                                        </a:rPr>
                                      </m:ctrlPr>
                                    </m:dPr>
                                    <m:e>
                                      <m:sSub>
                                        <m:sSubPr>
                                          <m:ctrlPr>
                                            <a:rPr lang="en-GB" sz="2800" i="1">
                                              <a:latin typeface="Cambria Math" panose="02040503050406030204" pitchFamily="18" charset="0"/>
                                            </a:rPr>
                                          </m:ctrlPr>
                                        </m:sSubPr>
                                        <m:e>
                                          <m:r>
                                            <a:rPr lang="en-GB" sz="2800" b="0" i="1">
                                              <a:latin typeface="Cambria Math"/>
                                            </a:rPr>
                                            <m:t>𝑓</m:t>
                                          </m:r>
                                        </m:e>
                                        <m:sub>
                                          <m:r>
                                            <a:rPr lang="en-GB" sz="2800" b="0" i="1">
                                              <a:latin typeface="Cambria Math"/>
                                            </a:rPr>
                                            <m:t>𝑜</m:t>
                                          </m:r>
                                        </m:sub>
                                      </m:sSub>
                                      <m:r>
                                        <a:rPr lang="en-GB" sz="2800" b="0" i="1">
                                          <a:latin typeface="Cambria Math"/>
                                        </a:rPr>
                                        <m:t>−</m:t>
                                      </m:r>
                                      <m:sSub>
                                        <m:sSubPr>
                                          <m:ctrlPr>
                                            <a:rPr lang="en-GB" sz="2800" i="1">
                                              <a:latin typeface="Cambria Math" panose="02040503050406030204" pitchFamily="18" charset="0"/>
                                            </a:rPr>
                                          </m:ctrlPr>
                                        </m:sSubPr>
                                        <m:e>
                                          <m:r>
                                            <a:rPr lang="en-GB" sz="2800" b="0" i="1">
                                              <a:latin typeface="Cambria Math"/>
                                            </a:rPr>
                                            <m:t>𝑓</m:t>
                                          </m:r>
                                        </m:e>
                                        <m:sub>
                                          <m:r>
                                            <a:rPr lang="en-GB" sz="2800" b="0" i="1">
                                              <a:latin typeface="Cambria Math"/>
                                            </a:rPr>
                                            <m:t>𝑒</m:t>
                                          </m:r>
                                        </m:sub>
                                      </m:sSub>
                                    </m:e>
                                  </m:d>
                                </m:e>
                                <m:sup>
                                  <m:r>
                                    <a:rPr lang="en-GB" sz="2800" b="0" i="1">
                                      <a:latin typeface="Cambria Math"/>
                                    </a:rPr>
                                    <m:t>2</m:t>
                                  </m:r>
                                </m:sup>
                              </m:sSup>
                            </m:num>
                            <m:den>
                              <m:sSub>
                                <m:sSubPr>
                                  <m:ctrlPr>
                                    <a:rPr lang="en-GB" sz="2800" i="1">
                                      <a:latin typeface="Cambria Math" panose="02040503050406030204" pitchFamily="18" charset="0"/>
                                    </a:rPr>
                                  </m:ctrlPr>
                                </m:sSubPr>
                                <m:e>
                                  <m:r>
                                    <a:rPr lang="en-GB" sz="2800" b="0" i="1">
                                      <a:latin typeface="Cambria Math"/>
                                    </a:rPr>
                                    <m:t>𝑓</m:t>
                                  </m:r>
                                </m:e>
                                <m:sub>
                                  <m:r>
                                    <a:rPr lang="en-GB" sz="2800" b="0" i="1">
                                      <a:latin typeface="Cambria Math"/>
                                    </a:rPr>
                                    <m:t>𝑒</m:t>
                                  </m:r>
                                </m:sub>
                              </m:sSub>
                            </m:den>
                          </m:f>
                        </m:e>
                      </m:nary>
                    </m:oMath>
                  </m:oMathPara>
                </a14:m>
                <a:endParaRPr lang="en-GB" sz="2800" dirty="0"/>
              </a:p>
            </p:txBody>
          </p:sp>
        </mc:Choice>
        <mc:Fallback xmlns="">
          <p:sp>
            <p:nvSpPr>
              <p:cNvPr id="11" name="Rectangle 10"/>
              <p:cNvSpPr>
                <a:spLocks noRot="1" noChangeAspect="1" noMove="1" noResize="1" noEditPoints="1" noAdjustHandles="1" noChangeArrowheads="1" noChangeShapeType="1" noTextEdit="1"/>
              </p:cNvSpPr>
              <p:nvPr/>
            </p:nvSpPr>
            <p:spPr>
              <a:xfrm>
                <a:off x="5130559" y="969637"/>
                <a:ext cx="3327641" cy="1314591"/>
              </a:xfrm>
              <a:prstGeom prst="rect">
                <a:avLst/>
              </a:prstGeom>
              <a:blipFill rotWithShape="1">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 Box 3"/>
              <p:cNvSpPr txBox="1">
                <a:spLocks noChangeArrowheads="1"/>
              </p:cNvSpPr>
              <p:nvPr/>
            </p:nvSpPr>
            <p:spPr bwMode="auto">
              <a:xfrm>
                <a:off x="5156080" y="2286000"/>
                <a:ext cx="3276600" cy="1577996"/>
              </a:xfrm>
              <a:prstGeom prst="rect">
                <a:avLst/>
              </a:prstGeom>
              <a:solidFill>
                <a:schemeClr val="accent3">
                  <a:lumMod val="20000"/>
                  <a:lumOff val="80000"/>
                </a:schemeClr>
              </a:solidFill>
              <a:ln>
                <a:noFill/>
              </a:ln>
              <a:effectLst/>
            </p:spPr>
            <p:txBody>
              <a:bodyPr wrap="square">
                <a:spAutoFit/>
              </a:bodyPr>
              <a:lstStyle/>
              <a:p>
                <a:pPr algn="r"/>
                <a14:m>
                  <m:oMath xmlns:m="http://schemas.openxmlformats.org/officeDocument/2006/math">
                    <m:sSup>
                      <m:sSupPr>
                        <m:ctrlPr>
                          <a:rPr lang="en-GB" sz="2400" i="1">
                            <a:latin typeface="Cambria Math" panose="02040503050406030204" pitchFamily="18" charset="0"/>
                          </a:rPr>
                        </m:ctrlPr>
                      </m:sSupPr>
                      <m:e>
                        <m:r>
                          <a:rPr lang="en-GB" sz="2400" b="1" i="1">
                            <a:latin typeface="Cambria Math"/>
                          </a:rPr>
                          <m:t>𝝌</m:t>
                        </m:r>
                      </m:e>
                      <m:sup>
                        <m:r>
                          <a:rPr lang="en-GB" sz="2400" b="1" i="1">
                            <a:latin typeface="Cambria Math"/>
                          </a:rPr>
                          <m:t>𝟐</m:t>
                        </m:r>
                      </m:sup>
                    </m:sSup>
                  </m:oMath>
                </a14:m>
                <a:r>
                  <a:rPr lang="en-GB" altLang="en-US" sz="2400" dirty="0"/>
                  <a:t> distribution is a </a:t>
                </a:r>
                <a:r>
                  <a:rPr lang="en-GB" altLang="en-US" sz="2400" b="1" dirty="0"/>
                  <a:t>continuous probability distribution</a:t>
                </a:r>
                <a:r>
                  <a:rPr lang="en-GB" altLang="en-US" sz="2400" dirty="0"/>
                  <a:t>, like the normal distribution</a:t>
                </a:r>
              </a:p>
            </p:txBody>
          </p:sp>
        </mc:Choice>
        <mc:Fallback xmlns="">
          <p:sp>
            <p:nvSpPr>
              <p:cNvPr id="16" name="Text Box 3"/>
              <p:cNvSpPr txBox="1">
                <a:spLocks noRot="1" noChangeAspect="1" noMove="1" noResize="1" noEditPoints="1" noAdjustHandles="1" noChangeArrowheads="1" noChangeShapeType="1" noTextEdit="1"/>
              </p:cNvSpPr>
              <p:nvPr/>
            </p:nvSpPr>
            <p:spPr bwMode="auto">
              <a:xfrm>
                <a:off x="5156080" y="2286000"/>
                <a:ext cx="3276600" cy="1577996"/>
              </a:xfrm>
              <a:prstGeom prst="rect">
                <a:avLst/>
              </a:prstGeom>
              <a:blipFill rotWithShape="1">
                <a:blip r:embed="rId4"/>
                <a:stretch>
                  <a:fillRect t="-2317" r="-4842" b="-7722"/>
                </a:stretch>
              </a:blipFill>
              <a:ln>
                <a:noFill/>
              </a:ln>
              <a:effectLst/>
              <a:extLst/>
            </p:spPr>
            <p:txBody>
              <a:bodyPr/>
              <a:lstStyle/>
              <a:p>
                <a:r>
                  <a:rPr lang="en-GB">
                    <a:noFill/>
                  </a:rPr>
                  <a:t> </a:t>
                </a:r>
              </a:p>
            </p:txBody>
          </p:sp>
        </mc:Fallback>
      </mc:AlternateContent>
      <p:grpSp>
        <p:nvGrpSpPr>
          <p:cNvPr id="38" name="Group 37"/>
          <p:cNvGrpSpPr/>
          <p:nvPr/>
        </p:nvGrpSpPr>
        <p:grpSpPr>
          <a:xfrm>
            <a:off x="381000" y="2362200"/>
            <a:ext cx="4452340" cy="2667000"/>
            <a:chOff x="1033206" y="2133600"/>
            <a:chExt cx="7232907" cy="3201527"/>
          </a:xfrm>
        </p:grpSpPr>
        <p:sp>
          <p:nvSpPr>
            <p:cNvPr id="39" name="Freeform 5"/>
            <p:cNvSpPr>
              <a:spLocks/>
            </p:cNvSpPr>
            <p:nvPr/>
          </p:nvSpPr>
          <p:spPr bwMode="auto">
            <a:xfrm>
              <a:off x="4203700" y="4279900"/>
              <a:ext cx="2547938" cy="666750"/>
            </a:xfrm>
            <a:custGeom>
              <a:avLst/>
              <a:gdLst>
                <a:gd name="T0" fmla="*/ 8 w 997"/>
                <a:gd name="T1" fmla="*/ 261 h 261"/>
                <a:gd name="T2" fmla="*/ 0 w 997"/>
                <a:gd name="T3" fmla="*/ 0 h 261"/>
                <a:gd name="T4" fmla="*/ 102 w 997"/>
                <a:gd name="T5" fmla="*/ 83 h 261"/>
                <a:gd name="T6" fmla="*/ 174 w 997"/>
                <a:gd name="T7" fmla="*/ 128 h 261"/>
                <a:gd name="T8" fmla="*/ 223 w 997"/>
                <a:gd name="T9" fmla="*/ 149 h 261"/>
                <a:gd name="T10" fmla="*/ 249 w 997"/>
                <a:gd name="T11" fmla="*/ 155 h 261"/>
                <a:gd name="T12" fmla="*/ 322 w 997"/>
                <a:gd name="T13" fmla="*/ 176 h 261"/>
                <a:gd name="T14" fmla="*/ 363 w 997"/>
                <a:gd name="T15" fmla="*/ 180 h 261"/>
                <a:gd name="T16" fmla="*/ 448 w 997"/>
                <a:gd name="T17" fmla="*/ 201 h 261"/>
                <a:gd name="T18" fmla="*/ 594 w 997"/>
                <a:gd name="T19" fmla="*/ 221 h 261"/>
                <a:gd name="T20" fmla="*/ 997 w 997"/>
                <a:gd name="T21" fmla="*/ 240 h 261"/>
                <a:gd name="T22" fmla="*/ 996 w 997"/>
                <a:gd name="T23" fmla="*/ 260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97" h="261">
                  <a:moveTo>
                    <a:pt x="8" y="261"/>
                  </a:moveTo>
                  <a:lnTo>
                    <a:pt x="0" y="0"/>
                  </a:lnTo>
                  <a:lnTo>
                    <a:pt x="102" y="83"/>
                  </a:lnTo>
                  <a:lnTo>
                    <a:pt x="174" y="128"/>
                  </a:lnTo>
                  <a:lnTo>
                    <a:pt x="223" y="149"/>
                  </a:lnTo>
                  <a:lnTo>
                    <a:pt x="249" y="155"/>
                  </a:lnTo>
                  <a:lnTo>
                    <a:pt x="322" y="176"/>
                  </a:lnTo>
                  <a:lnTo>
                    <a:pt x="363" y="180"/>
                  </a:lnTo>
                  <a:lnTo>
                    <a:pt x="448" y="201"/>
                  </a:lnTo>
                  <a:lnTo>
                    <a:pt x="594" y="221"/>
                  </a:lnTo>
                  <a:lnTo>
                    <a:pt x="997" y="240"/>
                  </a:lnTo>
                  <a:lnTo>
                    <a:pt x="996" y="260"/>
                  </a:lnTo>
                </a:path>
              </a:pathLst>
            </a:custGeom>
            <a:solidFill>
              <a:srgbClr val="0099CC"/>
            </a:solidFill>
            <a:ln>
              <a:noFill/>
            </a:ln>
            <a:effectLst/>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GB"/>
            </a:p>
          </p:txBody>
        </p:sp>
        <p:sp>
          <p:nvSpPr>
            <p:cNvPr id="40" name="Freeform 6"/>
            <p:cNvSpPr>
              <a:spLocks/>
            </p:cNvSpPr>
            <p:nvPr/>
          </p:nvSpPr>
          <p:spPr bwMode="auto">
            <a:xfrm>
              <a:off x="1258888" y="2133600"/>
              <a:ext cx="6634162" cy="2820988"/>
            </a:xfrm>
            <a:custGeom>
              <a:avLst/>
              <a:gdLst>
                <a:gd name="T0" fmla="*/ 0 w 3388"/>
                <a:gd name="T1" fmla="*/ 0 h 1023"/>
                <a:gd name="T2" fmla="*/ 0 w 3388"/>
                <a:gd name="T3" fmla="*/ 1022 h 1023"/>
                <a:gd name="T4" fmla="*/ 3387 w 3388"/>
                <a:gd name="T5" fmla="*/ 1022 h 1023"/>
              </a:gdLst>
              <a:ahLst/>
              <a:cxnLst>
                <a:cxn ang="0">
                  <a:pos x="T0" y="T1"/>
                </a:cxn>
                <a:cxn ang="0">
                  <a:pos x="T2" y="T3"/>
                </a:cxn>
                <a:cxn ang="0">
                  <a:pos x="T4" y="T5"/>
                </a:cxn>
              </a:cxnLst>
              <a:rect l="0" t="0" r="r" b="b"/>
              <a:pathLst>
                <a:path w="3388" h="1023">
                  <a:moveTo>
                    <a:pt x="0" y="0"/>
                  </a:moveTo>
                  <a:lnTo>
                    <a:pt x="0" y="1022"/>
                  </a:lnTo>
                  <a:lnTo>
                    <a:pt x="3387" y="1022"/>
                  </a:lnTo>
                </a:path>
              </a:pathLst>
            </a:custGeom>
            <a:noFill/>
            <a:ln w="25400"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1" name="Rectangle 7"/>
            <p:cNvSpPr>
              <a:spLocks noChangeArrowheads="1"/>
            </p:cNvSpPr>
            <p:nvPr/>
          </p:nvSpPr>
          <p:spPr bwMode="auto">
            <a:xfrm>
              <a:off x="1033206" y="4696952"/>
              <a:ext cx="736600"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spcBef>
                  <a:spcPct val="50000"/>
                </a:spcBef>
              </a:pPr>
              <a:r>
                <a:rPr lang="en-US" altLang="en-US" b="0" dirty="0">
                  <a:latin typeface="Arial" charset="0"/>
                </a:rPr>
                <a:t>0</a:t>
              </a:r>
              <a:r>
                <a:rPr lang="en-US" altLang="en-US" sz="3600" dirty="0">
                  <a:latin typeface="Arial" charset="0"/>
                </a:rPr>
                <a:t> </a:t>
              </a:r>
            </a:p>
          </p:txBody>
        </p:sp>
        <p:sp>
          <p:nvSpPr>
            <p:cNvPr id="42" name="Line 8"/>
            <p:cNvSpPr>
              <a:spLocks noChangeShapeType="1"/>
            </p:cNvSpPr>
            <p:nvPr/>
          </p:nvSpPr>
          <p:spPr bwMode="auto">
            <a:xfrm>
              <a:off x="1489075" y="2868613"/>
              <a:ext cx="4763"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3" name="Freeform 9"/>
            <p:cNvSpPr>
              <a:spLocks/>
            </p:cNvSpPr>
            <p:nvPr/>
          </p:nvSpPr>
          <p:spPr bwMode="auto">
            <a:xfrm>
              <a:off x="1276350" y="2730500"/>
              <a:ext cx="6989763" cy="2241550"/>
            </a:xfrm>
            <a:custGeom>
              <a:avLst/>
              <a:gdLst>
                <a:gd name="T0" fmla="*/ 0 w 3492"/>
                <a:gd name="T1" fmla="*/ 1011 h 1021"/>
                <a:gd name="T2" fmla="*/ 162 w 3492"/>
                <a:gd name="T3" fmla="*/ 837 h 1021"/>
                <a:gd name="T4" fmla="*/ 714 w 3492"/>
                <a:gd name="T5" fmla="*/ 3 h 1021"/>
                <a:gd name="T6" fmla="*/ 1728 w 3492"/>
                <a:gd name="T7" fmla="*/ 855 h 1021"/>
                <a:gd name="T8" fmla="*/ 3492 w 3492"/>
                <a:gd name="T9" fmla="*/ 999 h 1021"/>
              </a:gdLst>
              <a:ahLst/>
              <a:cxnLst>
                <a:cxn ang="0">
                  <a:pos x="T0" y="T1"/>
                </a:cxn>
                <a:cxn ang="0">
                  <a:pos x="T2" y="T3"/>
                </a:cxn>
                <a:cxn ang="0">
                  <a:pos x="T4" y="T5"/>
                </a:cxn>
                <a:cxn ang="0">
                  <a:pos x="T6" y="T7"/>
                </a:cxn>
                <a:cxn ang="0">
                  <a:pos x="T8" y="T9"/>
                </a:cxn>
              </a:cxnLst>
              <a:rect l="0" t="0" r="r" b="b"/>
              <a:pathLst>
                <a:path w="3492" h="1021">
                  <a:moveTo>
                    <a:pt x="0" y="1011"/>
                  </a:moveTo>
                  <a:cubicBezTo>
                    <a:pt x="27" y="982"/>
                    <a:pt x="43" y="1005"/>
                    <a:pt x="162" y="837"/>
                  </a:cubicBezTo>
                  <a:cubicBezTo>
                    <a:pt x="281" y="669"/>
                    <a:pt x="453" y="0"/>
                    <a:pt x="714" y="3"/>
                  </a:cubicBezTo>
                  <a:cubicBezTo>
                    <a:pt x="975" y="6"/>
                    <a:pt x="1265" y="689"/>
                    <a:pt x="1728" y="855"/>
                  </a:cubicBezTo>
                  <a:cubicBezTo>
                    <a:pt x="2191" y="1021"/>
                    <a:pt x="3125" y="969"/>
                    <a:pt x="3492" y="999"/>
                  </a:cubicBezTo>
                </a:path>
              </a:pathLst>
            </a:custGeom>
            <a:noFill/>
            <a:ln w="38100" cap="flat" cmpd="sng">
              <a:solidFill>
                <a:srgbClr val="333399"/>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GB"/>
            </a:p>
          </p:txBody>
        </p:sp>
        <p:sp>
          <p:nvSpPr>
            <p:cNvPr id="44" name="Freeform 10"/>
            <p:cNvSpPr>
              <a:spLocks/>
            </p:cNvSpPr>
            <p:nvPr/>
          </p:nvSpPr>
          <p:spPr bwMode="auto">
            <a:xfrm>
              <a:off x="4206875" y="4300538"/>
              <a:ext cx="7938" cy="654050"/>
            </a:xfrm>
            <a:custGeom>
              <a:avLst/>
              <a:gdLst>
                <a:gd name="T0" fmla="*/ 0 w 3"/>
                <a:gd name="T1" fmla="*/ 0 h 256"/>
                <a:gd name="T2" fmla="*/ 3 w 3"/>
                <a:gd name="T3" fmla="*/ 256 h 256"/>
              </a:gdLst>
              <a:ahLst/>
              <a:cxnLst>
                <a:cxn ang="0">
                  <a:pos x="T0" y="T1"/>
                </a:cxn>
                <a:cxn ang="0">
                  <a:pos x="T2" y="T3"/>
                </a:cxn>
              </a:cxnLst>
              <a:rect l="0" t="0" r="r" b="b"/>
              <a:pathLst>
                <a:path w="3" h="256">
                  <a:moveTo>
                    <a:pt x="0" y="0"/>
                  </a:moveTo>
                  <a:lnTo>
                    <a:pt x="3" y="256"/>
                  </a:lnTo>
                </a:path>
              </a:pathLst>
            </a:custGeom>
            <a:noFill/>
            <a:ln w="19050">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GB"/>
            </a:p>
          </p:txBody>
        </p:sp>
        <p:sp>
          <p:nvSpPr>
            <p:cNvPr id="45" name="Line 11"/>
            <p:cNvSpPr>
              <a:spLocks noChangeShapeType="1"/>
            </p:cNvSpPr>
            <p:nvPr/>
          </p:nvSpPr>
          <p:spPr bwMode="auto">
            <a:xfrm flipH="1">
              <a:off x="4459288" y="4217988"/>
              <a:ext cx="368300" cy="490537"/>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GB"/>
            </a:p>
          </p:txBody>
        </p:sp>
        <p:sp>
          <p:nvSpPr>
            <p:cNvPr id="46" name="Text Box 12"/>
            <p:cNvSpPr txBox="1">
              <a:spLocks noChangeArrowheads="1"/>
            </p:cNvSpPr>
            <p:nvPr/>
          </p:nvSpPr>
          <p:spPr bwMode="auto">
            <a:xfrm>
              <a:off x="4705350" y="3727450"/>
              <a:ext cx="6127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000" b="0">
                  <a:latin typeface="Arial" charset="0"/>
                  <a:sym typeface="Symbol" pitchFamily="18" charset="2"/>
                </a:rPr>
                <a:t></a:t>
              </a:r>
              <a:endParaRPr lang="en-US" altLang="en-US" sz="2000" b="0" baseline="-25000">
                <a:latin typeface="Arial" charset="0"/>
                <a:sym typeface="Symbol" pitchFamily="18" charset="2"/>
              </a:endParaRPr>
            </a:p>
          </p:txBody>
        </p:sp>
      </p:grpSp>
      <mc:AlternateContent xmlns:mc="http://schemas.openxmlformats.org/markup-compatibility/2006" xmlns:a14="http://schemas.microsoft.com/office/drawing/2010/main">
        <mc:Choice Requires="a14">
          <p:sp>
            <p:nvSpPr>
              <p:cNvPr id="48" name="Rectangle 47"/>
              <p:cNvSpPr/>
              <p:nvPr/>
            </p:nvSpPr>
            <p:spPr>
              <a:xfrm>
                <a:off x="4311492" y="4724400"/>
                <a:ext cx="58849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GB" sz="2400" i="1">
                              <a:latin typeface="Cambria Math" panose="02040503050406030204" pitchFamily="18" charset="0"/>
                            </a:rPr>
                          </m:ctrlPr>
                        </m:sSupPr>
                        <m:e>
                          <m:r>
                            <a:rPr lang="en-GB" sz="2400" i="1">
                              <a:latin typeface="Cambria Math"/>
                            </a:rPr>
                            <m:t>𝜒</m:t>
                          </m:r>
                        </m:e>
                        <m:sup>
                          <m:r>
                            <a:rPr lang="en-GB" sz="2400" i="1">
                              <a:latin typeface="Cambria Math"/>
                            </a:rPr>
                            <m:t>2</m:t>
                          </m:r>
                        </m:sup>
                      </m:sSup>
                    </m:oMath>
                  </m:oMathPara>
                </a14:m>
                <a:endParaRPr lang="en-GB" sz="2400" dirty="0"/>
              </a:p>
            </p:txBody>
          </p:sp>
        </mc:Choice>
        <mc:Fallback xmlns="">
          <p:sp>
            <p:nvSpPr>
              <p:cNvPr id="48" name="Rectangle 47"/>
              <p:cNvSpPr>
                <a:spLocks noRot="1" noChangeAspect="1" noMove="1" noResize="1" noEditPoints="1" noAdjustHandles="1" noChangeArrowheads="1" noChangeShapeType="1" noTextEdit="1"/>
              </p:cNvSpPr>
              <p:nvPr/>
            </p:nvSpPr>
            <p:spPr>
              <a:xfrm>
                <a:off x="4311492" y="4724400"/>
                <a:ext cx="588494" cy="461665"/>
              </a:xfrm>
              <a:prstGeom prst="rect">
                <a:avLst/>
              </a:prstGeom>
              <a:blipFill rotWithShape="1">
                <a:blip r:embed="rId5"/>
                <a:stretch>
                  <a:fillRect b="-7895"/>
                </a:stretch>
              </a:blipFill>
            </p:spPr>
            <p:txBody>
              <a:bodyPr/>
              <a:lstStyle/>
              <a:p>
                <a:r>
                  <a:rPr lang="en-GB">
                    <a:noFill/>
                  </a:rPr>
                  <a:t> </a:t>
                </a:r>
              </a:p>
            </p:txBody>
          </p:sp>
        </mc:Fallback>
      </mc:AlternateContent>
    </p:spTree>
    <p:extLst>
      <p:ext uri="{BB962C8B-B14F-4D97-AF65-F5344CB8AC3E}">
        <p14:creationId xmlns:p14="http://schemas.microsoft.com/office/powerpoint/2010/main" val="42470868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t>Chi Squared (</a:t>
            </a:r>
            <a:r>
              <a:rPr lang="en-GB" altLang="en-US" dirty="0">
                <a:sym typeface="Symbol" pitchFamily="18" charset="2"/>
              </a:rPr>
              <a:t></a:t>
            </a:r>
            <a:r>
              <a:rPr lang="en-GB" altLang="en-US" baseline="30000" dirty="0">
                <a:sym typeface="Symbol" pitchFamily="18" charset="2"/>
              </a:rPr>
              <a:t>2</a:t>
            </a:r>
            <a:r>
              <a:rPr lang="en-GB" altLang="en-US" dirty="0">
                <a:sym typeface="Symbol" pitchFamily="18" charset="2"/>
              </a:rPr>
              <a:t>)</a:t>
            </a:r>
            <a:endParaRPr lang="en-GB" dirty="0"/>
          </a:p>
        </p:txBody>
      </p:sp>
      <mc:AlternateContent xmlns:mc="http://schemas.openxmlformats.org/markup-compatibility/2006" xmlns:a14="http://schemas.microsoft.com/office/drawing/2010/main">
        <mc:Choice Requires="a14">
          <p:sp>
            <p:nvSpPr>
              <p:cNvPr id="11" name="Rectangle 10"/>
              <p:cNvSpPr/>
              <p:nvPr/>
            </p:nvSpPr>
            <p:spPr>
              <a:xfrm>
                <a:off x="5130559" y="969637"/>
                <a:ext cx="3327641" cy="131459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GB" sz="2800" i="1">
                              <a:latin typeface="Cambria Math" panose="02040503050406030204" pitchFamily="18" charset="0"/>
                            </a:rPr>
                          </m:ctrlPr>
                        </m:sSupPr>
                        <m:e>
                          <m:r>
                            <a:rPr lang="en-GB" sz="2800" b="0" i="1">
                              <a:latin typeface="Cambria Math"/>
                            </a:rPr>
                            <m:t>𝜒</m:t>
                          </m:r>
                        </m:e>
                        <m:sup>
                          <m:r>
                            <a:rPr lang="en-GB" sz="2800" b="0" i="1">
                              <a:latin typeface="Cambria Math"/>
                            </a:rPr>
                            <m:t>2</m:t>
                          </m:r>
                        </m:sup>
                      </m:sSup>
                      <m:r>
                        <a:rPr lang="en-GB" sz="2800" b="0" i="1">
                          <a:latin typeface="Cambria Math"/>
                        </a:rPr>
                        <m:t>=</m:t>
                      </m:r>
                      <m:nary>
                        <m:naryPr>
                          <m:chr m:val="∑"/>
                          <m:limLoc m:val="undOvr"/>
                          <m:subHide m:val="on"/>
                          <m:supHide m:val="on"/>
                          <m:ctrlPr>
                            <a:rPr lang="en-GB" sz="2800" i="1">
                              <a:latin typeface="Cambria Math" panose="02040503050406030204" pitchFamily="18" charset="0"/>
                            </a:rPr>
                          </m:ctrlPr>
                        </m:naryPr>
                        <m:sub/>
                        <m:sup/>
                        <m:e>
                          <m:f>
                            <m:fPr>
                              <m:ctrlPr>
                                <a:rPr lang="en-GB" sz="2800" i="1">
                                  <a:latin typeface="Cambria Math" panose="02040503050406030204" pitchFamily="18" charset="0"/>
                                </a:rPr>
                              </m:ctrlPr>
                            </m:fPr>
                            <m:num>
                              <m:sSup>
                                <m:sSupPr>
                                  <m:ctrlPr>
                                    <a:rPr lang="en-GB" sz="2800" i="1">
                                      <a:latin typeface="Cambria Math" panose="02040503050406030204" pitchFamily="18" charset="0"/>
                                    </a:rPr>
                                  </m:ctrlPr>
                                </m:sSupPr>
                                <m:e>
                                  <m:d>
                                    <m:dPr>
                                      <m:ctrlPr>
                                        <a:rPr lang="en-GB" sz="2800" i="1">
                                          <a:latin typeface="Cambria Math" panose="02040503050406030204" pitchFamily="18" charset="0"/>
                                        </a:rPr>
                                      </m:ctrlPr>
                                    </m:dPr>
                                    <m:e>
                                      <m:sSub>
                                        <m:sSubPr>
                                          <m:ctrlPr>
                                            <a:rPr lang="en-GB" sz="2800" i="1">
                                              <a:latin typeface="Cambria Math" panose="02040503050406030204" pitchFamily="18" charset="0"/>
                                            </a:rPr>
                                          </m:ctrlPr>
                                        </m:sSubPr>
                                        <m:e>
                                          <m:r>
                                            <a:rPr lang="en-GB" sz="2800" b="0" i="1">
                                              <a:latin typeface="Cambria Math"/>
                                            </a:rPr>
                                            <m:t>𝑓</m:t>
                                          </m:r>
                                        </m:e>
                                        <m:sub>
                                          <m:r>
                                            <a:rPr lang="en-GB" sz="2800" b="0" i="1">
                                              <a:latin typeface="Cambria Math"/>
                                            </a:rPr>
                                            <m:t>𝑜</m:t>
                                          </m:r>
                                        </m:sub>
                                      </m:sSub>
                                      <m:r>
                                        <a:rPr lang="en-GB" sz="2800" b="0" i="1">
                                          <a:latin typeface="Cambria Math"/>
                                        </a:rPr>
                                        <m:t>−</m:t>
                                      </m:r>
                                      <m:sSub>
                                        <m:sSubPr>
                                          <m:ctrlPr>
                                            <a:rPr lang="en-GB" sz="2800" i="1">
                                              <a:latin typeface="Cambria Math" panose="02040503050406030204" pitchFamily="18" charset="0"/>
                                            </a:rPr>
                                          </m:ctrlPr>
                                        </m:sSubPr>
                                        <m:e>
                                          <m:r>
                                            <a:rPr lang="en-GB" sz="2800" b="0" i="1">
                                              <a:latin typeface="Cambria Math"/>
                                            </a:rPr>
                                            <m:t>𝑓</m:t>
                                          </m:r>
                                        </m:e>
                                        <m:sub>
                                          <m:r>
                                            <a:rPr lang="en-GB" sz="2800" b="0" i="1">
                                              <a:latin typeface="Cambria Math"/>
                                            </a:rPr>
                                            <m:t>𝑒</m:t>
                                          </m:r>
                                        </m:sub>
                                      </m:sSub>
                                    </m:e>
                                  </m:d>
                                </m:e>
                                <m:sup>
                                  <m:r>
                                    <a:rPr lang="en-GB" sz="2800" b="0" i="1">
                                      <a:latin typeface="Cambria Math"/>
                                    </a:rPr>
                                    <m:t>2</m:t>
                                  </m:r>
                                </m:sup>
                              </m:sSup>
                            </m:num>
                            <m:den>
                              <m:sSub>
                                <m:sSubPr>
                                  <m:ctrlPr>
                                    <a:rPr lang="en-GB" sz="2800" i="1">
                                      <a:latin typeface="Cambria Math" panose="02040503050406030204" pitchFamily="18" charset="0"/>
                                    </a:rPr>
                                  </m:ctrlPr>
                                </m:sSubPr>
                                <m:e>
                                  <m:r>
                                    <a:rPr lang="en-GB" sz="2800" b="0" i="1">
                                      <a:latin typeface="Cambria Math"/>
                                    </a:rPr>
                                    <m:t>𝑓</m:t>
                                  </m:r>
                                </m:e>
                                <m:sub>
                                  <m:r>
                                    <a:rPr lang="en-GB" sz="2800" b="0" i="1">
                                      <a:latin typeface="Cambria Math"/>
                                    </a:rPr>
                                    <m:t>𝑒</m:t>
                                  </m:r>
                                </m:sub>
                              </m:sSub>
                            </m:den>
                          </m:f>
                        </m:e>
                      </m:nary>
                    </m:oMath>
                  </m:oMathPara>
                </a14:m>
                <a:endParaRPr lang="en-GB" sz="2800" dirty="0"/>
              </a:p>
            </p:txBody>
          </p:sp>
        </mc:Choice>
        <mc:Fallback xmlns="">
          <p:sp>
            <p:nvSpPr>
              <p:cNvPr id="11" name="Rectangle 10"/>
              <p:cNvSpPr>
                <a:spLocks noRot="1" noChangeAspect="1" noMove="1" noResize="1" noEditPoints="1" noAdjustHandles="1" noChangeArrowheads="1" noChangeShapeType="1" noTextEdit="1"/>
              </p:cNvSpPr>
              <p:nvPr/>
            </p:nvSpPr>
            <p:spPr>
              <a:xfrm>
                <a:off x="5130559" y="969637"/>
                <a:ext cx="3327641" cy="1314591"/>
              </a:xfrm>
              <a:prstGeom prst="rect">
                <a:avLst/>
              </a:prstGeom>
              <a:blipFill rotWithShape="1">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 Box 3"/>
              <p:cNvSpPr txBox="1">
                <a:spLocks noChangeArrowheads="1"/>
              </p:cNvSpPr>
              <p:nvPr/>
            </p:nvSpPr>
            <p:spPr bwMode="auto">
              <a:xfrm>
                <a:off x="5156080" y="2286000"/>
                <a:ext cx="3276600" cy="1577996"/>
              </a:xfrm>
              <a:prstGeom prst="rect">
                <a:avLst/>
              </a:prstGeom>
              <a:solidFill>
                <a:schemeClr val="accent3">
                  <a:lumMod val="20000"/>
                  <a:lumOff val="80000"/>
                </a:schemeClr>
              </a:solidFill>
              <a:ln>
                <a:noFill/>
              </a:ln>
              <a:effectLst/>
            </p:spPr>
            <p:txBody>
              <a:bodyPr wrap="square">
                <a:spAutoFit/>
              </a:bodyPr>
              <a:lstStyle/>
              <a:p>
                <a:pPr algn="r"/>
                <a14:m>
                  <m:oMath xmlns:m="http://schemas.openxmlformats.org/officeDocument/2006/math">
                    <m:sSup>
                      <m:sSupPr>
                        <m:ctrlPr>
                          <a:rPr lang="en-GB" sz="2400" i="1" smtClean="0">
                            <a:latin typeface="Cambria Math" panose="02040503050406030204" pitchFamily="18" charset="0"/>
                          </a:rPr>
                        </m:ctrlPr>
                      </m:sSupPr>
                      <m:e>
                        <m:r>
                          <a:rPr lang="en-GB" sz="2400" b="1" i="1">
                            <a:latin typeface="Cambria Math"/>
                          </a:rPr>
                          <m:t>𝝌</m:t>
                        </m:r>
                      </m:e>
                      <m:sup>
                        <m:r>
                          <a:rPr lang="en-GB" sz="2400" b="1" i="1">
                            <a:latin typeface="Cambria Math"/>
                          </a:rPr>
                          <m:t>𝟐</m:t>
                        </m:r>
                      </m:sup>
                    </m:sSup>
                  </m:oMath>
                </a14:m>
                <a:r>
                  <a:rPr lang="en-GB" altLang="en-US" sz="2400" dirty="0"/>
                  <a:t> distribution is a </a:t>
                </a:r>
                <a:r>
                  <a:rPr lang="en-GB" altLang="en-US" sz="2400" b="1" dirty="0"/>
                  <a:t>continuous probability distribution</a:t>
                </a:r>
                <a:r>
                  <a:rPr lang="en-GB" altLang="en-US" sz="2400" dirty="0"/>
                  <a:t>, like the normal distribution</a:t>
                </a:r>
              </a:p>
            </p:txBody>
          </p:sp>
        </mc:Choice>
        <mc:Fallback xmlns="">
          <p:sp>
            <p:nvSpPr>
              <p:cNvPr id="16" name="Text Box 3"/>
              <p:cNvSpPr txBox="1">
                <a:spLocks noRot="1" noChangeAspect="1" noMove="1" noResize="1" noEditPoints="1" noAdjustHandles="1" noChangeArrowheads="1" noChangeShapeType="1" noTextEdit="1"/>
              </p:cNvSpPr>
              <p:nvPr/>
            </p:nvSpPr>
            <p:spPr bwMode="auto">
              <a:xfrm>
                <a:off x="5156080" y="2286000"/>
                <a:ext cx="3276600" cy="1577996"/>
              </a:xfrm>
              <a:prstGeom prst="rect">
                <a:avLst/>
              </a:prstGeom>
              <a:blipFill rotWithShape="1">
                <a:blip r:embed="rId4"/>
                <a:stretch>
                  <a:fillRect t="-2317" r="-4842" b="-7722"/>
                </a:stretch>
              </a:blipFill>
              <a:ln>
                <a:noFill/>
              </a:ln>
              <a:effectLst/>
              <a:extLst/>
            </p:spPr>
            <p:txBody>
              <a:bodyPr/>
              <a:lstStyle/>
              <a:p>
                <a:r>
                  <a:rPr lang="en-GB">
                    <a:noFill/>
                  </a:rPr>
                  <a:t> </a:t>
                </a:r>
              </a:p>
            </p:txBody>
          </p:sp>
        </mc:Fallback>
      </mc:AlternateContent>
      <p:grpSp>
        <p:nvGrpSpPr>
          <p:cNvPr id="17" name="Group 16"/>
          <p:cNvGrpSpPr/>
          <p:nvPr/>
        </p:nvGrpSpPr>
        <p:grpSpPr>
          <a:xfrm>
            <a:off x="381000" y="2362200"/>
            <a:ext cx="4452340" cy="2667000"/>
            <a:chOff x="1033206" y="2133600"/>
            <a:chExt cx="7232907" cy="3201527"/>
          </a:xfrm>
        </p:grpSpPr>
        <p:sp>
          <p:nvSpPr>
            <p:cNvPr id="20" name="Freeform 5"/>
            <p:cNvSpPr>
              <a:spLocks/>
            </p:cNvSpPr>
            <p:nvPr/>
          </p:nvSpPr>
          <p:spPr bwMode="auto">
            <a:xfrm>
              <a:off x="4203700" y="4279900"/>
              <a:ext cx="2547938" cy="666750"/>
            </a:xfrm>
            <a:custGeom>
              <a:avLst/>
              <a:gdLst>
                <a:gd name="T0" fmla="*/ 8 w 997"/>
                <a:gd name="T1" fmla="*/ 261 h 261"/>
                <a:gd name="T2" fmla="*/ 0 w 997"/>
                <a:gd name="T3" fmla="*/ 0 h 261"/>
                <a:gd name="T4" fmla="*/ 102 w 997"/>
                <a:gd name="T5" fmla="*/ 83 h 261"/>
                <a:gd name="T6" fmla="*/ 174 w 997"/>
                <a:gd name="T7" fmla="*/ 128 h 261"/>
                <a:gd name="T8" fmla="*/ 223 w 997"/>
                <a:gd name="T9" fmla="*/ 149 h 261"/>
                <a:gd name="T10" fmla="*/ 249 w 997"/>
                <a:gd name="T11" fmla="*/ 155 h 261"/>
                <a:gd name="T12" fmla="*/ 322 w 997"/>
                <a:gd name="T13" fmla="*/ 176 h 261"/>
                <a:gd name="T14" fmla="*/ 363 w 997"/>
                <a:gd name="T15" fmla="*/ 180 h 261"/>
                <a:gd name="T16" fmla="*/ 448 w 997"/>
                <a:gd name="T17" fmla="*/ 201 h 261"/>
                <a:gd name="T18" fmla="*/ 594 w 997"/>
                <a:gd name="T19" fmla="*/ 221 h 261"/>
                <a:gd name="T20" fmla="*/ 997 w 997"/>
                <a:gd name="T21" fmla="*/ 240 h 261"/>
                <a:gd name="T22" fmla="*/ 996 w 997"/>
                <a:gd name="T23" fmla="*/ 260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97" h="261">
                  <a:moveTo>
                    <a:pt x="8" y="261"/>
                  </a:moveTo>
                  <a:lnTo>
                    <a:pt x="0" y="0"/>
                  </a:lnTo>
                  <a:lnTo>
                    <a:pt x="102" y="83"/>
                  </a:lnTo>
                  <a:lnTo>
                    <a:pt x="174" y="128"/>
                  </a:lnTo>
                  <a:lnTo>
                    <a:pt x="223" y="149"/>
                  </a:lnTo>
                  <a:lnTo>
                    <a:pt x="249" y="155"/>
                  </a:lnTo>
                  <a:lnTo>
                    <a:pt x="322" y="176"/>
                  </a:lnTo>
                  <a:lnTo>
                    <a:pt x="363" y="180"/>
                  </a:lnTo>
                  <a:lnTo>
                    <a:pt x="448" y="201"/>
                  </a:lnTo>
                  <a:lnTo>
                    <a:pt x="594" y="221"/>
                  </a:lnTo>
                  <a:lnTo>
                    <a:pt x="997" y="240"/>
                  </a:lnTo>
                  <a:lnTo>
                    <a:pt x="996" y="260"/>
                  </a:lnTo>
                </a:path>
              </a:pathLst>
            </a:custGeom>
            <a:solidFill>
              <a:srgbClr val="0099CC"/>
            </a:solidFill>
            <a:ln>
              <a:noFill/>
            </a:ln>
            <a:effectLst/>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GB"/>
            </a:p>
          </p:txBody>
        </p:sp>
        <p:sp>
          <p:nvSpPr>
            <p:cNvPr id="21" name="Freeform 6"/>
            <p:cNvSpPr>
              <a:spLocks/>
            </p:cNvSpPr>
            <p:nvPr/>
          </p:nvSpPr>
          <p:spPr bwMode="auto">
            <a:xfrm>
              <a:off x="1258888" y="2133600"/>
              <a:ext cx="6634162" cy="2820988"/>
            </a:xfrm>
            <a:custGeom>
              <a:avLst/>
              <a:gdLst>
                <a:gd name="T0" fmla="*/ 0 w 3388"/>
                <a:gd name="T1" fmla="*/ 0 h 1023"/>
                <a:gd name="T2" fmla="*/ 0 w 3388"/>
                <a:gd name="T3" fmla="*/ 1022 h 1023"/>
                <a:gd name="T4" fmla="*/ 3387 w 3388"/>
                <a:gd name="T5" fmla="*/ 1022 h 1023"/>
              </a:gdLst>
              <a:ahLst/>
              <a:cxnLst>
                <a:cxn ang="0">
                  <a:pos x="T0" y="T1"/>
                </a:cxn>
                <a:cxn ang="0">
                  <a:pos x="T2" y="T3"/>
                </a:cxn>
                <a:cxn ang="0">
                  <a:pos x="T4" y="T5"/>
                </a:cxn>
              </a:cxnLst>
              <a:rect l="0" t="0" r="r" b="b"/>
              <a:pathLst>
                <a:path w="3388" h="1023">
                  <a:moveTo>
                    <a:pt x="0" y="0"/>
                  </a:moveTo>
                  <a:lnTo>
                    <a:pt x="0" y="1022"/>
                  </a:lnTo>
                  <a:lnTo>
                    <a:pt x="3387" y="1022"/>
                  </a:lnTo>
                </a:path>
              </a:pathLst>
            </a:custGeom>
            <a:noFill/>
            <a:ln w="25400"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 name="Rectangle 7"/>
            <p:cNvSpPr>
              <a:spLocks noChangeArrowheads="1"/>
            </p:cNvSpPr>
            <p:nvPr/>
          </p:nvSpPr>
          <p:spPr bwMode="auto">
            <a:xfrm>
              <a:off x="1033206" y="4696952"/>
              <a:ext cx="736600"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spcBef>
                  <a:spcPct val="50000"/>
                </a:spcBef>
              </a:pPr>
              <a:r>
                <a:rPr lang="en-US" altLang="en-US" b="0" dirty="0">
                  <a:latin typeface="Arial" charset="0"/>
                </a:rPr>
                <a:t>0</a:t>
              </a:r>
              <a:r>
                <a:rPr lang="en-US" altLang="en-US" sz="3600" dirty="0">
                  <a:latin typeface="Arial" charset="0"/>
                </a:rPr>
                <a:t> </a:t>
              </a:r>
            </a:p>
          </p:txBody>
        </p:sp>
        <p:sp>
          <p:nvSpPr>
            <p:cNvPr id="24" name="Freeform 9"/>
            <p:cNvSpPr>
              <a:spLocks/>
            </p:cNvSpPr>
            <p:nvPr/>
          </p:nvSpPr>
          <p:spPr bwMode="auto">
            <a:xfrm>
              <a:off x="1276350" y="2730500"/>
              <a:ext cx="6989763" cy="2241550"/>
            </a:xfrm>
            <a:custGeom>
              <a:avLst/>
              <a:gdLst>
                <a:gd name="T0" fmla="*/ 0 w 3492"/>
                <a:gd name="T1" fmla="*/ 1011 h 1021"/>
                <a:gd name="T2" fmla="*/ 162 w 3492"/>
                <a:gd name="T3" fmla="*/ 837 h 1021"/>
                <a:gd name="T4" fmla="*/ 714 w 3492"/>
                <a:gd name="T5" fmla="*/ 3 h 1021"/>
                <a:gd name="T6" fmla="*/ 1728 w 3492"/>
                <a:gd name="T7" fmla="*/ 855 h 1021"/>
                <a:gd name="T8" fmla="*/ 3492 w 3492"/>
                <a:gd name="T9" fmla="*/ 999 h 1021"/>
              </a:gdLst>
              <a:ahLst/>
              <a:cxnLst>
                <a:cxn ang="0">
                  <a:pos x="T0" y="T1"/>
                </a:cxn>
                <a:cxn ang="0">
                  <a:pos x="T2" y="T3"/>
                </a:cxn>
                <a:cxn ang="0">
                  <a:pos x="T4" y="T5"/>
                </a:cxn>
                <a:cxn ang="0">
                  <a:pos x="T6" y="T7"/>
                </a:cxn>
                <a:cxn ang="0">
                  <a:pos x="T8" y="T9"/>
                </a:cxn>
              </a:cxnLst>
              <a:rect l="0" t="0" r="r" b="b"/>
              <a:pathLst>
                <a:path w="3492" h="1021">
                  <a:moveTo>
                    <a:pt x="0" y="1011"/>
                  </a:moveTo>
                  <a:cubicBezTo>
                    <a:pt x="27" y="982"/>
                    <a:pt x="43" y="1005"/>
                    <a:pt x="162" y="837"/>
                  </a:cubicBezTo>
                  <a:cubicBezTo>
                    <a:pt x="281" y="669"/>
                    <a:pt x="453" y="0"/>
                    <a:pt x="714" y="3"/>
                  </a:cubicBezTo>
                  <a:cubicBezTo>
                    <a:pt x="975" y="6"/>
                    <a:pt x="1265" y="689"/>
                    <a:pt x="1728" y="855"/>
                  </a:cubicBezTo>
                  <a:cubicBezTo>
                    <a:pt x="2191" y="1021"/>
                    <a:pt x="3125" y="969"/>
                    <a:pt x="3492" y="999"/>
                  </a:cubicBezTo>
                </a:path>
              </a:pathLst>
            </a:custGeom>
            <a:noFill/>
            <a:ln w="38100" cap="flat" cmpd="sng">
              <a:solidFill>
                <a:srgbClr val="333399"/>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GB"/>
            </a:p>
          </p:txBody>
        </p:sp>
        <p:sp>
          <p:nvSpPr>
            <p:cNvPr id="25" name="Freeform 10"/>
            <p:cNvSpPr>
              <a:spLocks/>
            </p:cNvSpPr>
            <p:nvPr/>
          </p:nvSpPr>
          <p:spPr bwMode="auto">
            <a:xfrm>
              <a:off x="4206875" y="4300538"/>
              <a:ext cx="7938" cy="654050"/>
            </a:xfrm>
            <a:custGeom>
              <a:avLst/>
              <a:gdLst>
                <a:gd name="T0" fmla="*/ 0 w 3"/>
                <a:gd name="T1" fmla="*/ 0 h 256"/>
                <a:gd name="T2" fmla="*/ 3 w 3"/>
                <a:gd name="T3" fmla="*/ 256 h 256"/>
              </a:gdLst>
              <a:ahLst/>
              <a:cxnLst>
                <a:cxn ang="0">
                  <a:pos x="T0" y="T1"/>
                </a:cxn>
                <a:cxn ang="0">
                  <a:pos x="T2" y="T3"/>
                </a:cxn>
              </a:cxnLst>
              <a:rect l="0" t="0" r="r" b="b"/>
              <a:pathLst>
                <a:path w="3" h="256">
                  <a:moveTo>
                    <a:pt x="0" y="0"/>
                  </a:moveTo>
                  <a:lnTo>
                    <a:pt x="3" y="256"/>
                  </a:lnTo>
                </a:path>
              </a:pathLst>
            </a:custGeom>
            <a:noFill/>
            <a:ln w="19050">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GB"/>
            </a:p>
          </p:txBody>
        </p:sp>
        <p:sp>
          <p:nvSpPr>
            <p:cNvPr id="26" name="Line 11"/>
            <p:cNvSpPr>
              <a:spLocks noChangeShapeType="1"/>
            </p:cNvSpPr>
            <p:nvPr/>
          </p:nvSpPr>
          <p:spPr bwMode="auto">
            <a:xfrm flipH="1">
              <a:off x="4459288" y="4217988"/>
              <a:ext cx="368300" cy="490537"/>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GB"/>
            </a:p>
          </p:txBody>
        </p:sp>
        <p:sp>
          <p:nvSpPr>
            <p:cNvPr id="27" name="Text Box 12"/>
            <p:cNvSpPr txBox="1">
              <a:spLocks noChangeArrowheads="1"/>
            </p:cNvSpPr>
            <p:nvPr/>
          </p:nvSpPr>
          <p:spPr bwMode="auto">
            <a:xfrm>
              <a:off x="4705350" y="3727450"/>
              <a:ext cx="6127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000" b="0">
                  <a:latin typeface="Arial" charset="0"/>
                  <a:sym typeface="Symbol" pitchFamily="18" charset="2"/>
                </a:rPr>
                <a:t></a:t>
              </a:r>
              <a:endParaRPr lang="en-US" altLang="en-US" sz="2000" b="0" baseline="-25000">
                <a:latin typeface="Arial" charset="0"/>
                <a:sym typeface="Symbol" pitchFamily="18" charset="2"/>
              </a:endParaRPr>
            </a:p>
          </p:txBody>
        </p:sp>
      </p:grpSp>
      <p:sp>
        <p:nvSpPr>
          <p:cNvPr id="4" name="Rounded Rectangle 3"/>
          <p:cNvSpPr/>
          <p:nvPr/>
        </p:nvSpPr>
        <p:spPr>
          <a:xfrm>
            <a:off x="6096000" y="1066800"/>
            <a:ext cx="2209800" cy="11430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GB" altLang="en-US" sz="3600" dirty="0"/>
              <a:t>9.2776 </a:t>
            </a:r>
            <a:endParaRPr lang="en-GB" sz="3600" b="1" dirty="0">
              <a:solidFill>
                <a:schemeClr val="tx1"/>
              </a:solidFill>
            </a:endParaRPr>
          </a:p>
        </p:txBody>
      </p:sp>
      <p:sp>
        <p:nvSpPr>
          <p:cNvPr id="5" name="Rectangle 4"/>
          <p:cNvSpPr/>
          <p:nvPr/>
        </p:nvSpPr>
        <p:spPr>
          <a:xfrm>
            <a:off x="304800" y="816114"/>
            <a:ext cx="4298894" cy="707886"/>
          </a:xfrm>
          <a:prstGeom prst="rect">
            <a:avLst/>
          </a:prstGeom>
        </p:spPr>
        <p:txBody>
          <a:bodyPr wrap="square">
            <a:spAutoFit/>
          </a:bodyPr>
          <a:lstStyle/>
          <a:p>
            <a:r>
              <a:rPr lang="en-GB" altLang="en-US" sz="2000" dirty="0">
                <a:solidFill>
                  <a:srgbClr val="333399"/>
                </a:solidFill>
                <a:sym typeface="Symbol" pitchFamily="18" charset="2"/>
              </a:rPr>
              <a:t>We then need to find the probability of this value (p-value)</a:t>
            </a:r>
          </a:p>
        </p:txBody>
      </p:sp>
      <mc:AlternateContent xmlns:mc="http://schemas.openxmlformats.org/markup-compatibility/2006" xmlns:a14="http://schemas.microsoft.com/office/drawing/2010/main">
        <mc:Choice Requires="a14">
          <p:sp>
            <p:nvSpPr>
              <p:cNvPr id="8" name="Rectangle 7"/>
              <p:cNvSpPr/>
              <p:nvPr/>
            </p:nvSpPr>
            <p:spPr>
              <a:xfrm>
                <a:off x="4311492" y="4724400"/>
                <a:ext cx="58849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GB" sz="2400" i="1">
                              <a:latin typeface="Cambria Math" panose="02040503050406030204" pitchFamily="18" charset="0"/>
                            </a:rPr>
                          </m:ctrlPr>
                        </m:sSupPr>
                        <m:e>
                          <m:r>
                            <a:rPr lang="en-GB" sz="2400" i="1">
                              <a:latin typeface="Cambria Math"/>
                            </a:rPr>
                            <m:t>𝜒</m:t>
                          </m:r>
                        </m:e>
                        <m:sup>
                          <m:r>
                            <a:rPr lang="en-GB" sz="2400" i="1">
                              <a:latin typeface="Cambria Math"/>
                            </a:rPr>
                            <m:t>2</m:t>
                          </m:r>
                        </m:sup>
                      </m:sSup>
                    </m:oMath>
                  </m:oMathPara>
                </a14:m>
                <a:endParaRPr lang="en-GB" sz="2400" dirty="0"/>
              </a:p>
            </p:txBody>
          </p:sp>
        </mc:Choice>
        <mc:Fallback xmlns="">
          <p:sp>
            <p:nvSpPr>
              <p:cNvPr id="8" name="Rectangle 7"/>
              <p:cNvSpPr>
                <a:spLocks noRot="1" noChangeAspect="1" noMove="1" noResize="1" noEditPoints="1" noAdjustHandles="1" noChangeArrowheads="1" noChangeShapeType="1" noTextEdit="1"/>
              </p:cNvSpPr>
              <p:nvPr/>
            </p:nvSpPr>
            <p:spPr>
              <a:xfrm>
                <a:off x="4311492" y="4724400"/>
                <a:ext cx="588494" cy="461665"/>
              </a:xfrm>
              <a:prstGeom prst="rect">
                <a:avLst/>
              </a:prstGeom>
              <a:blipFill rotWithShape="1">
                <a:blip r:embed="rId5"/>
                <a:stretch>
                  <a:fillRect b="-7895"/>
                </a:stretch>
              </a:blipFill>
            </p:spPr>
            <p:txBody>
              <a:bodyPr/>
              <a:lstStyle/>
              <a:p>
                <a:r>
                  <a:rPr lang="en-GB">
                    <a:noFill/>
                  </a:rPr>
                  <a:t> </a:t>
                </a:r>
              </a:p>
            </p:txBody>
          </p:sp>
        </mc:Fallback>
      </mc:AlternateContent>
      <p:grpSp>
        <p:nvGrpSpPr>
          <p:cNvPr id="13" name="Group 12"/>
          <p:cNvGrpSpPr/>
          <p:nvPr/>
        </p:nvGrpSpPr>
        <p:grpSpPr>
          <a:xfrm>
            <a:off x="1927242" y="1956137"/>
            <a:ext cx="2111358" cy="3244398"/>
            <a:chOff x="1927242" y="1956137"/>
            <a:chExt cx="2111358" cy="3244398"/>
          </a:xfrm>
        </p:grpSpPr>
        <p:grpSp>
          <p:nvGrpSpPr>
            <p:cNvPr id="12" name="Group 11"/>
            <p:cNvGrpSpPr/>
            <p:nvPr/>
          </p:nvGrpSpPr>
          <p:grpSpPr>
            <a:xfrm>
              <a:off x="1987878" y="2974495"/>
              <a:ext cx="880305" cy="2226040"/>
              <a:chOff x="1987878" y="2974495"/>
              <a:chExt cx="880305" cy="2226040"/>
            </a:xfrm>
          </p:grpSpPr>
          <mc:AlternateContent xmlns:mc="http://schemas.openxmlformats.org/markup-compatibility/2006" xmlns:a14="http://schemas.microsoft.com/office/drawing/2010/main">
            <mc:Choice Requires="a14">
              <p:sp>
                <p:nvSpPr>
                  <p:cNvPr id="7" name="Rectangle 6"/>
                  <p:cNvSpPr/>
                  <p:nvPr/>
                </p:nvSpPr>
                <p:spPr>
                  <a:xfrm>
                    <a:off x="1987878" y="4712196"/>
                    <a:ext cx="880305" cy="48833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GB" sz="2400" b="1" i="1" smtClean="0">
                                  <a:solidFill>
                                    <a:srgbClr val="C00000"/>
                                  </a:solidFill>
                                  <a:latin typeface="Cambria Math" panose="02040503050406030204" pitchFamily="18" charset="0"/>
                                </a:rPr>
                              </m:ctrlPr>
                            </m:sSubSupPr>
                            <m:e>
                              <m:r>
                                <a:rPr lang="en-GB" sz="2400" b="1" i="1">
                                  <a:solidFill>
                                    <a:srgbClr val="C00000"/>
                                  </a:solidFill>
                                  <a:latin typeface="Cambria Math"/>
                                </a:rPr>
                                <m:t>𝝌</m:t>
                              </m:r>
                            </m:e>
                            <m:sub>
                              <m:r>
                                <a:rPr lang="en-GB" sz="2400" b="1" i="1" smtClean="0">
                                  <a:solidFill>
                                    <a:srgbClr val="C00000"/>
                                  </a:solidFill>
                                  <a:latin typeface="Cambria Math"/>
                                </a:rPr>
                                <m:t>𝒄𝒓𝒊𝒕</m:t>
                              </m:r>
                            </m:sub>
                            <m:sup>
                              <m:r>
                                <a:rPr lang="en-GB" sz="2400" b="1" i="1" smtClean="0">
                                  <a:solidFill>
                                    <a:srgbClr val="C00000"/>
                                  </a:solidFill>
                                  <a:latin typeface="Cambria Math"/>
                                </a:rPr>
                                <m:t>𝟐</m:t>
                              </m:r>
                            </m:sup>
                          </m:sSubSup>
                        </m:oMath>
                      </m:oMathPara>
                    </a14:m>
                    <a:endParaRPr lang="en-GB" sz="2400" b="1" dirty="0">
                      <a:solidFill>
                        <a:srgbClr val="C00000"/>
                      </a:solidFill>
                    </a:endParaRPr>
                  </a:p>
                </p:txBody>
              </p:sp>
            </mc:Choice>
            <mc:Fallback xmlns="">
              <p:sp>
                <p:nvSpPr>
                  <p:cNvPr id="7" name="Rectangle 6"/>
                  <p:cNvSpPr>
                    <a:spLocks noRot="1" noChangeAspect="1" noMove="1" noResize="1" noEditPoints="1" noAdjustHandles="1" noChangeArrowheads="1" noChangeShapeType="1" noTextEdit="1"/>
                  </p:cNvSpPr>
                  <p:nvPr/>
                </p:nvSpPr>
                <p:spPr>
                  <a:xfrm>
                    <a:off x="1987878" y="4712196"/>
                    <a:ext cx="880305" cy="488339"/>
                  </a:xfrm>
                  <a:prstGeom prst="rect">
                    <a:avLst/>
                  </a:prstGeom>
                  <a:blipFill rotWithShape="1">
                    <a:blip r:embed="rId6"/>
                    <a:stretch>
                      <a:fillRect/>
                    </a:stretch>
                  </a:blipFill>
                </p:spPr>
                <p:txBody>
                  <a:bodyPr/>
                  <a:lstStyle/>
                  <a:p>
                    <a:r>
                      <a:rPr lang="en-GB">
                        <a:noFill/>
                      </a:rPr>
                      <a:t> </a:t>
                    </a:r>
                  </a:p>
                </p:txBody>
              </p:sp>
            </mc:Fallback>
          </mc:AlternateContent>
          <p:cxnSp>
            <p:nvCxnSpPr>
              <p:cNvPr id="10" name="Straight Connector 9"/>
              <p:cNvCxnSpPr>
                <a:stCxn id="25" idx="1"/>
              </p:cNvCxnSpPr>
              <p:nvPr/>
            </p:nvCxnSpPr>
            <p:spPr>
              <a:xfrm flipH="1" flipV="1">
                <a:off x="2332652" y="2974495"/>
                <a:ext cx="6840" cy="1737701"/>
              </a:xfrm>
              <a:prstGeom prst="line">
                <a:avLst/>
              </a:prstGeom>
            </p:spPr>
            <p:style>
              <a:lnRef idx="3">
                <a:schemeClr val="accent2"/>
              </a:lnRef>
              <a:fillRef idx="0">
                <a:schemeClr val="accent2"/>
              </a:fillRef>
              <a:effectRef idx="2">
                <a:schemeClr val="accent2"/>
              </a:effectRef>
              <a:fontRef idx="minor">
                <a:schemeClr val="tx1"/>
              </a:fontRef>
            </p:style>
          </p:cxnSp>
        </p:grpSp>
        <p:sp>
          <p:nvSpPr>
            <p:cNvPr id="29" name="Rectangle 28"/>
            <p:cNvSpPr/>
            <p:nvPr/>
          </p:nvSpPr>
          <p:spPr>
            <a:xfrm>
              <a:off x="1927242" y="1956137"/>
              <a:ext cx="2111358" cy="1015663"/>
            </a:xfrm>
            <a:prstGeom prst="rect">
              <a:avLst/>
            </a:prstGeom>
          </p:spPr>
          <p:txBody>
            <a:bodyPr wrap="square">
              <a:spAutoFit/>
            </a:bodyPr>
            <a:lstStyle/>
            <a:p>
              <a:r>
                <a:rPr lang="en-GB" altLang="en-US" sz="2000" b="1" dirty="0">
                  <a:solidFill>
                    <a:srgbClr val="C00000"/>
                  </a:solidFill>
                  <a:sym typeface="Symbol" pitchFamily="18" charset="2"/>
                </a:rPr>
                <a:t>Lookup table provides the critical value</a:t>
              </a:r>
            </a:p>
          </p:txBody>
        </p:sp>
      </p:grpSp>
      <mc:AlternateContent xmlns:mc="http://schemas.openxmlformats.org/markup-compatibility/2006" xmlns:a14="http://schemas.microsoft.com/office/drawing/2010/main">
        <mc:Choice Requires="a14">
          <p:sp>
            <p:nvSpPr>
              <p:cNvPr id="30" name="Text Box 3"/>
              <p:cNvSpPr txBox="1">
                <a:spLocks noChangeArrowheads="1"/>
              </p:cNvSpPr>
              <p:nvPr/>
            </p:nvSpPr>
            <p:spPr bwMode="auto">
              <a:xfrm>
                <a:off x="5867400" y="533400"/>
                <a:ext cx="2667000" cy="488339"/>
              </a:xfrm>
              <a:prstGeom prst="rect">
                <a:avLst/>
              </a:prstGeom>
              <a:noFill/>
              <a:ln>
                <a:noFill/>
              </a:ln>
              <a:effectLst/>
            </p:spPr>
            <p:txBody>
              <a:bodyPr wrap="square">
                <a:spAutoFit/>
              </a:bodyPr>
              <a:lstStyle/>
              <a:p>
                <a:pPr algn="ctr"/>
                <a:r>
                  <a:rPr lang="en-GB" sz="2400" dirty="0"/>
                  <a:t>Reject if </a:t>
                </a:r>
                <a14:m>
                  <m:oMath xmlns:m="http://schemas.openxmlformats.org/officeDocument/2006/math">
                    <m:sSup>
                      <m:sSupPr>
                        <m:ctrlPr>
                          <a:rPr lang="en-GB" sz="2400" i="1">
                            <a:latin typeface="Cambria Math" panose="02040503050406030204" pitchFamily="18" charset="0"/>
                          </a:rPr>
                        </m:ctrlPr>
                      </m:sSupPr>
                      <m:e>
                        <m:r>
                          <a:rPr lang="en-GB" sz="2400" b="1" i="1">
                            <a:latin typeface="Cambria Math"/>
                          </a:rPr>
                          <m:t>𝝌</m:t>
                        </m:r>
                      </m:e>
                      <m:sup>
                        <m:r>
                          <a:rPr lang="en-GB" sz="2400" b="1" i="1">
                            <a:latin typeface="Cambria Math"/>
                          </a:rPr>
                          <m:t>𝟐</m:t>
                        </m:r>
                      </m:sup>
                    </m:sSup>
                    <m:sSubSup>
                      <m:sSubSupPr>
                        <m:ctrlPr>
                          <a:rPr lang="en-GB" sz="2400" b="1" i="1">
                            <a:solidFill>
                              <a:srgbClr val="C00000"/>
                            </a:solidFill>
                            <a:latin typeface="Cambria Math" panose="02040503050406030204" pitchFamily="18" charset="0"/>
                          </a:rPr>
                        </m:ctrlPr>
                      </m:sSubSupPr>
                      <m:e>
                        <m:r>
                          <a:rPr lang="en-GB" sz="2400" b="0" i="1" smtClean="0">
                            <a:solidFill>
                              <a:schemeClr val="tx1"/>
                            </a:solidFill>
                            <a:latin typeface="Cambria Math"/>
                          </a:rPr>
                          <m:t>&gt;</m:t>
                        </m:r>
                        <m:r>
                          <a:rPr lang="en-GB" sz="2400" b="1" i="1">
                            <a:solidFill>
                              <a:srgbClr val="C00000"/>
                            </a:solidFill>
                            <a:latin typeface="Cambria Math"/>
                          </a:rPr>
                          <m:t>𝝌</m:t>
                        </m:r>
                      </m:e>
                      <m:sub>
                        <m:r>
                          <a:rPr lang="en-GB" sz="2400" b="1" i="1">
                            <a:solidFill>
                              <a:srgbClr val="C00000"/>
                            </a:solidFill>
                            <a:latin typeface="Cambria Math"/>
                          </a:rPr>
                          <m:t>𝒄𝒓𝒊𝒕</m:t>
                        </m:r>
                      </m:sub>
                      <m:sup>
                        <m:r>
                          <a:rPr lang="en-GB" sz="2400" b="1" i="1">
                            <a:solidFill>
                              <a:srgbClr val="C00000"/>
                            </a:solidFill>
                            <a:latin typeface="Cambria Math"/>
                          </a:rPr>
                          <m:t>𝟐</m:t>
                        </m:r>
                      </m:sup>
                    </m:sSubSup>
                  </m:oMath>
                </a14:m>
                <a:endParaRPr lang="en-GB" altLang="en-US" sz="2400" dirty="0"/>
              </a:p>
            </p:txBody>
          </p:sp>
        </mc:Choice>
        <mc:Fallback xmlns="">
          <p:sp>
            <p:nvSpPr>
              <p:cNvPr id="30" name="Text Box 3"/>
              <p:cNvSpPr txBox="1">
                <a:spLocks noRot="1" noChangeAspect="1" noMove="1" noResize="1" noEditPoints="1" noAdjustHandles="1" noChangeArrowheads="1" noChangeShapeType="1" noTextEdit="1"/>
              </p:cNvSpPr>
              <p:nvPr/>
            </p:nvSpPr>
            <p:spPr bwMode="auto">
              <a:xfrm>
                <a:off x="5867400" y="533400"/>
                <a:ext cx="2667000" cy="488339"/>
              </a:xfrm>
              <a:prstGeom prst="rect">
                <a:avLst/>
              </a:prstGeom>
              <a:blipFill rotWithShape="1">
                <a:blip r:embed="rId7"/>
                <a:stretch>
                  <a:fillRect l="-2746" t="-5000" b="-26250"/>
                </a:stretch>
              </a:blipFill>
              <a:ln>
                <a:noFill/>
              </a:ln>
              <a:effectLst/>
              <a:extLst/>
            </p:spPr>
            <p:txBody>
              <a:bodyPr/>
              <a:lstStyle/>
              <a:p>
                <a:r>
                  <a:rPr lang="en-GB">
                    <a:noFill/>
                  </a:rPr>
                  <a:t> </a:t>
                </a:r>
              </a:p>
            </p:txBody>
          </p:sp>
        </mc:Fallback>
      </mc:AlternateContent>
    </p:spTree>
    <p:extLst>
      <p:ext uri="{BB962C8B-B14F-4D97-AF65-F5344CB8AC3E}">
        <p14:creationId xmlns:p14="http://schemas.microsoft.com/office/powerpoint/2010/main" val="2656812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1676400" y="4731603"/>
            <a:ext cx="1371600" cy="830997"/>
          </a:xfrm>
          <a:prstGeom prst="rect">
            <a:avLst/>
          </a:prstGeom>
        </p:spPr>
        <p:txBody>
          <a:bodyPr wrap="square">
            <a:spAutoFit/>
          </a:bodyPr>
          <a:lstStyle/>
          <a:p>
            <a:pPr algn="ctr"/>
            <a:endParaRPr lang="en-GB" sz="2400" b="1" dirty="0">
              <a:solidFill>
                <a:srgbClr val="C00000"/>
              </a:solidFill>
            </a:endParaRPr>
          </a:p>
          <a:p>
            <a:pPr algn="ctr"/>
            <a:r>
              <a:rPr lang="en-GB" sz="2400" b="1" dirty="0">
                <a:solidFill>
                  <a:srgbClr val="C00000"/>
                </a:solidFill>
              </a:rPr>
              <a:t>= 5.991 </a:t>
            </a:r>
          </a:p>
        </p:txBody>
      </p:sp>
      <p:sp>
        <p:nvSpPr>
          <p:cNvPr id="2" name="Title 1"/>
          <p:cNvSpPr>
            <a:spLocks noGrp="1"/>
          </p:cNvSpPr>
          <p:nvPr>
            <p:ph type="title"/>
          </p:nvPr>
        </p:nvSpPr>
        <p:spPr/>
        <p:txBody>
          <a:bodyPr/>
          <a:lstStyle/>
          <a:p>
            <a:r>
              <a:rPr lang="en-GB" altLang="en-US" dirty="0"/>
              <a:t>Chi Squared (</a:t>
            </a:r>
            <a:r>
              <a:rPr lang="en-GB" altLang="en-US" dirty="0">
                <a:sym typeface="Symbol" pitchFamily="18" charset="2"/>
              </a:rPr>
              <a:t></a:t>
            </a:r>
            <a:r>
              <a:rPr lang="en-GB" altLang="en-US" baseline="30000" dirty="0">
                <a:sym typeface="Symbol" pitchFamily="18" charset="2"/>
              </a:rPr>
              <a:t>2</a:t>
            </a:r>
            <a:r>
              <a:rPr lang="en-GB" altLang="en-US" dirty="0">
                <a:sym typeface="Symbol" pitchFamily="18" charset="2"/>
              </a:rPr>
              <a:t>)</a:t>
            </a:r>
            <a:endParaRPr lang="en-GB" dirty="0"/>
          </a:p>
        </p:txBody>
      </p:sp>
      <mc:AlternateContent xmlns:mc="http://schemas.openxmlformats.org/markup-compatibility/2006" xmlns:a14="http://schemas.microsoft.com/office/drawing/2010/main">
        <mc:Choice Requires="a14">
          <p:sp>
            <p:nvSpPr>
              <p:cNvPr id="11" name="Rectangle 10"/>
              <p:cNvSpPr/>
              <p:nvPr/>
            </p:nvSpPr>
            <p:spPr>
              <a:xfrm>
                <a:off x="5130559" y="969637"/>
                <a:ext cx="3327641" cy="131459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GB" sz="2800" i="1">
                              <a:latin typeface="Cambria Math" panose="02040503050406030204" pitchFamily="18" charset="0"/>
                            </a:rPr>
                          </m:ctrlPr>
                        </m:sSupPr>
                        <m:e>
                          <m:r>
                            <a:rPr lang="en-GB" sz="2800" b="0" i="1">
                              <a:latin typeface="Cambria Math"/>
                            </a:rPr>
                            <m:t>𝜒</m:t>
                          </m:r>
                        </m:e>
                        <m:sup>
                          <m:r>
                            <a:rPr lang="en-GB" sz="2800" b="0" i="1">
                              <a:latin typeface="Cambria Math"/>
                            </a:rPr>
                            <m:t>2</m:t>
                          </m:r>
                        </m:sup>
                      </m:sSup>
                      <m:r>
                        <a:rPr lang="en-GB" sz="2800" b="0" i="1">
                          <a:latin typeface="Cambria Math"/>
                        </a:rPr>
                        <m:t>=</m:t>
                      </m:r>
                      <m:nary>
                        <m:naryPr>
                          <m:chr m:val="∑"/>
                          <m:limLoc m:val="undOvr"/>
                          <m:subHide m:val="on"/>
                          <m:supHide m:val="on"/>
                          <m:ctrlPr>
                            <a:rPr lang="en-GB" sz="2800" i="1">
                              <a:latin typeface="Cambria Math" panose="02040503050406030204" pitchFamily="18" charset="0"/>
                            </a:rPr>
                          </m:ctrlPr>
                        </m:naryPr>
                        <m:sub/>
                        <m:sup/>
                        <m:e>
                          <m:f>
                            <m:fPr>
                              <m:ctrlPr>
                                <a:rPr lang="en-GB" sz="2800" i="1">
                                  <a:latin typeface="Cambria Math" panose="02040503050406030204" pitchFamily="18" charset="0"/>
                                </a:rPr>
                              </m:ctrlPr>
                            </m:fPr>
                            <m:num>
                              <m:sSup>
                                <m:sSupPr>
                                  <m:ctrlPr>
                                    <a:rPr lang="en-GB" sz="2800" i="1">
                                      <a:latin typeface="Cambria Math" panose="02040503050406030204" pitchFamily="18" charset="0"/>
                                    </a:rPr>
                                  </m:ctrlPr>
                                </m:sSupPr>
                                <m:e>
                                  <m:d>
                                    <m:dPr>
                                      <m:ctrlPr>
                                        <a:rPr lang="en-GB" sz="2800" i="1">
                                          <a:latin typeface="Cambria Math" panose="02040503050406030204" pitchFamily="18" charset="0"/>
                                        </a:rPr>
                                      </m:ctrlPr>
                                    </m:dPr>
                                    <m:e>
                                      <m:sSub>
                                        <m:sSubPr>
                                          <m:ctrlPr>
                                            <a:rPr lang="en-GB" sz="2800" i="1">
                                              <a:latin typeface="Cambria Math" panose="02040503050406030204" pitchFamily="18" charset="0"/>
                                            </a:rPr>
                                          </m:ctrlPr>
                                        </m:sSubPr>
                                        <m:e>
                                          <m:r>
                                            <a:rPr lang="en-GB" sz="2800" b="0" i="1">
                                              <a:latin typeface="Cambria Math"/>
                                            </a:rPr>
                                            <m:t>𝑓</m:t>
                                          </m:r>
                                        </m:e>
                                        <m:sub>
                                          <m:r>
                                            <a:rPr lang="en-GB" sz="2800" b="0" i="1">
                                              <a:latin typeface="Cambria Math"/>
                                            </a:rPr>
                                            <m:t>𝑜</m:t>
                                          </m:r>
                                        </m:sub>
                                      </m:sSub>
                                      <m:r>
                                        <a:rPr lang="en-GB" sz="2800" b="0" i="1">
                                          <a:latin typeface="Cambria Math"/>
                                        </a:rPr>
                                        <m:t>−</m:t>
                                      </m:r>
                                      <m:sSub>
                                        <m:sSubPr>
                                          <m:ctrlPr>
                                            <a:rPr lang="en-GB" sz="2800" i="1">
                                              <a:latin typeface="Cambria Math" panose="02040503050406030204" pitchFamily="18" charset="0"/>
                                            </a:rPr>
                                          </m:ctrlPr>
                                        </m:sSubPr>
                                        <m:e>
                                          <m:r>
                                            <a:rPr lang="en-GB" sz="2800" b="0" i="1">
                                              <a:latin typeface="Cambria Math"/>
                                            </a:rPr>
                                            <m:t>𝑓</m:t>
                                          </m:r>
                                        </m:e>
                                        <m:sub>
                                          <m:r>
                                            <a:rPr lang="en-GB" sz="2800" b="0" i="1">
                                              <a:latin typeface="Cambria Math"/>
                                            </a:rPr>
                                            <m:t>𝑒</m:t>
                                          </m:r>
                                        </m:sub>
                                      </m:sSub>
                                    </m:e>
                                  </m:d>
                                </m:e>
                                <m:sup>
                                  <m:r>
                                    <a:rPr lang="en-GB" sz="2800" b="0" i="1">
                                      <a:latin typeface="Cambria Math"/>
                                    </a:rPr>
                                    <m:t>2</m:t>
                                  </m:r>
                                </m:sup>
                              </m:sSup>
                            </m:num>
                            <m:den>
                              <m:sSub>
                                <m:sSubPr>
                                  <m:ctrlPr>
                                    <a:rPr lang="en-GB" sz="2800" i="1">
                                      <a:latin typeface="Cambria Math" panose="02040503050406030204" pitchFamily="18" charset="0"/>
                                    </a:rPr>
                                  </m:ctrlPr>
                                </m:sSubPr>
                                <m:e>
                                  <m:r>
                                    <a:rPr lang="en-GB" sz="2800" b="0" i="1">
                                      <a:latin typeface="Cambria Math"/>
                                    </a:rPr>
                                    <m:t>𝑓</m:t>
                                  </m:r>
                                </m:e>
                                <m:sub>
                                  <m:r>
                                    <a:rPr lang="en-GB" sz="2800" b="0" i="1">
                                      <a:latin typeface="Cambria Math"/>
                                    </a:rPr>
                                    <m:t>𝑒</m:t>
                                  </m:r>
                                </m:sub>
                              </m:sSub>
                            </m:den>
                          </m:f>
                        </m:e>
                      </m:nary>
                    </m:oMath>
                  </m:oMathPara>
                </a14:m>
                <a:endParaRPr lang="en-GB" sz="2800" dirty="0"/>
              </a:p>
            </p:txBody>
          </p:sp>
        </mc:Choice>
        <mc:Fallback xmlns="">
          <p:sp>
            <p:nvSpPr>
              <p:cNvPr id="11" name="Rectangle 10"/>
              <p:cNvSpPr>
                <a:spLocks noRot="1" noChangeAspect="1" noMove="1" noResize="1" noEditPoints="1" noAdjustHandles="1" noChangeArrowheads="1" noChangeShapeType="1" noTextEdit="1"/>
              </p:cNvSpPr>
              <p:nvPr/>
            </p:nvSpPr>
            <p:spPr>
              <a:xfrm>
                <a:off x="5130559" y="969637"/>
                <a:ext cx="3327641" cy="1314591"/>
              </a:xfrm>
              <a:prstGeom prst="rect">
                <a:avLst/>
              </a:prstGeom>
              <a:blipFill rotWithShape="1">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 Box 3"/>
              <p:cNvSpPr txBox="1">
                <a:spLocks noChangeArrowheads="1"/>
              </p:cNvSpPr>
              <p:nvPr/>
            </p:nvSpPr>
            <p:spPr bwMode="auto">
              <a:xfrm>
                <a:off x="5156080" y="2286000"/>
                <a:ext cx="3276600" cy="1577996"/>
              </a:xfrm>
              <a:prstGeom prst="rect">
                <a:avLst/>
              </a:prstGeom>
              <a:solidFill>
                <a:schemeClr val="accent3">
                  <a:lumMod val="20000"/>
                  <a:lumOff val="80000"/>
                </a:schemeClr>
              </a:solidFill>
              <a:ln>
                <a:noFill/>
              </a:ln>
              <a:effectLst/>
            </p:spPr>
            <p:txBody>
              <a:bodyPr wrap="square">
                <a:spAutoFit/>
              </a:bodyPr>
              <a:lstStyle/>
              <a:p>
                <a:pPr algn="r"/>
                <a14:m>
                  <m:oMath xmlns:m="http://schemas.openxmlformats.org/officeDocument/2006/math">
                    <m:sSup>
                      <m:sSupPr>
                        <m:ctrlPr>
                          <a:rPr lang="en-GB" sz="2400" i="1" smtClean="0">
                            <a:latin typeface="Cambria Math" panose="02040503050406030204" pitchFamily="18" charset="0"/>
                          </a:rPr>
                        </m:ctrlPr>
                      </m:sSupPr>
                      <m:e>
                        <m:r>
                          <a:rPr lang="en-GB" sz="2400" b="1" i="1">
                            <a:latin typeface="Cambria Math"/>
                          </a:rPr>
                          <m:t>𝝌</m:t>
                        </m:r>
                      </m:e>
                      <m:sup>
                        <m:r>
                          <a:rPr lang="en-GB" sz="2400" b="1" i="1">
                            <a:latin typeface="Cambria Math"/>
                          </a:rPr>
                          <m:t>𝟐</m:t>
                        </m:r>
                      </m:sup>
                    </m:sSup>
                  </m:oMath>
                </a14:m>
                <a:r>
                  <a:rPr lang="en-GB" altLang="en-US" sz="2400" dirty="0"/>
                  <a:t> distribution is a </a:t>
                </a:r>
                <a:r>
                  <a:rPr lang="en-GB" altLang="en-US" sz="2400" b="1" dirty="0"/>
                  <a:t>continuous probability distribution</a:t>
                </a:r>
                <a:r>
                  <a:rPr lang="en-GB" altLang="en-US" sz="2400" dirty="0"/>
                  <a:t>, like the normal distribution</a:t>
                </a:r>
              </a:p>
            </p:txBody>
          </p:sp>
        </mc:Choice>
        <mc:Fallback xmlns="">
          <p:sp>
            <p:nvSpPr>
              <p:cNvPr id="16" name="Text Box 3"/>
              <p:cNvSpPr txBox="1">
                <a:spLocks noRot="1" noChangeAspect="1" noMove="1" noResize="1" noEditPoints="1" noAdjustHandles="1" noChangeArrowheads="1" noChangeShapeType="1" noTextEdit="1"/>
              </p:cNvSpPr>
              <p:nvPr/>
            </p:nvSpPr>
            <p:spPr bwMode="auto">
              <a:xfrm>
                <a:off x="5156080" y="2286000"/>
                <a:ext cx="3276600" cy="1577996"/>
              </a:xfrm>
              <a:prstGeom prst="rect">
                <a:avLst/>
              </a:prstGeom>
              <a:blipFill rotWithShape="1">
                <a:blip r:embed="rId4"/>
                <a:stretch>
                  <a:fillRect t="-2317" r="-4842" b="-7722"/>
                </a:stretch>
              </a:blipFill>
              <a:ln>
                <a:noFill/>
              </a:ln>
              <a:effectLst/>
              <a:extLst/>
            </p:spPr>
            <p:txBody>
              <a:bodyPr/>
              <a:lstStyle/>
              <a:p>
                <a:r>
                  <a:rPr lang="en-GB">
                    <a:noFill/>
                  </a:rPr>
                  <a:t> </a:t>
                </a:r>
              </a:p>
            </p:txBody>
          </p:sp>
        </mc:Fallback>
      </mc:AlternateContent>
      <p:grpSp>
        <p:nvGrpSpPr>
          <p:cNvPr id="17" name="Group 16"/>
          <p:cNvGrpSpPr/>
          <p:nvPr/>
        </p:nvGrpSpPr>
        <p:grpSpPr>
          <a:xfrm>
            <a:off x="381000" y="2362200"/>
            <a:ext cx="4452340" cy="2667000"/>
            <a:chOff x="1033206" y="2133600"/>
            <a:chExt cx="7232907" cy="3201527"/>
          </a:xfrm>
        </p:grpSpPr>
        <p:sp>
          <p:nvSpPr>
            <p:cNvPr id="20" name="Freeform 5"/>
            <p:cNvSpPr>
              <a:spLocks/>
            </p:cNvSpPr>
            <p:nvPr/>
          </p:nvSpPr>
          <p:spPr bwMode="auto">
            <a:xfrm>
              <a:off x="4203700" y="4279900"/>
              <a:ext cx="2547938" cy="666750"/>
            </a:xfrm>
            <a:custGeom>
              <a:avLst/>
              <a:gdLst>
                <a:gd name="T0" fmla="*/ 8 w 997"/>
                <a:gd name="T1" fmla="*/ 261 h 261"/>
                <a:gd name="T2" fmla="*/ 0 w 997"/>
                <a:gd name="T3" fmla="*/ 0 h 261"/>
                <a:gd name="T4" fmla="*/ 102 w 997"/>
                <a:gd name="T5" fmla="*/ 83 h 261"/>
                <a:gd name="T6" fmla="*/ 174 w 997"/>
                <a:gd name="T7" fmla="*/ 128 h 261"/>
                <a:gd name="T8" fmla="*/ 223 w 997"/>
                <a:gd name="T9" fmla="*/ 149 h 261"/>
                <a:gd name="T10" fmla="*/ 249 w 997"/>
                <a:gd name="T11" fmla="*/ 155 h 261"/>
                <a:gd name="T12" fmla="*/ 322 w 997"/>
                <a:gd name="T13" fmla="*/ 176 h 261"/>
                <a:gd name="T14" fmla="*/ 363 w 997"/>
                <a:gd name="T15" fmla="*/ 180 h 261"/>
                <a:gd name="T16" fmla="*/ 448 w 997"/>
                <a:gd name="T17" fmla="*/ 201 h 261"/>
                <a:gd name="T18" fmla="*/ 594 w 997"/>
                <a:gd name="T19" fmla="*/ 221 h 261"/>
                <a:gd name="T20" fmla="*/ 997 w 997"/>
                <a:gd name="T21" fmla="*/ 240 h 261"/>
                <a:gd name="T22" fmla="*/ 996 w 997"/>
                <a:gd name="T23" fmla="*/ 260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97" h="261">
                  <a:moveTo>
                    <a:pt x="8" y="261"/>
                  </a:moveTo>
                  <a:lnTo>
                    <a:pt x="0" y="0"/>
                  </a:lnTo>
                  <a:lnTo>
                    <a:pt x="102" y="83"/>
                  </a:lnTo>
                  <a:lnTo>
                    <a:pt x="174" y="128"/>
                  </a:lnTo>
                  <a:lnTo>
                    <a:pt x="223" y="149"/>
                  </a:lnTo>
                  <a:lnTo>
                    <a:pt x="249" y="155"/>
                  </a:lnTo>
                  <a:lnTo>
                    <a:pt x="322" y="176"/>
                  </a:lnTo>
                  <a:lnTo>
                    <a:pt x="363" y="180"/>
                  </a:lnTo>
                  <a:lnTo>
                    <a:pt x="448" y="201"/>
                  </a:lnTo>
                  <a:lnTo>
                    <a:pt x="594" y="221"/>
                  </a:lnTo>
                  <a:lnTo>
                    <a:pt x="997" y="240"/>
                  </a:lnTo>
                  <a:lnTo>
                    <a:pt x="996" y="260"/>
                  </a:lnTo>
                </a:path>
              </a:pathLst>
            </a:custGeom>
            <a:solidFill>
              <a:srgbClr val="0099CC"/>
            </a:solidFill>
            <a:ln>
              <a:noFill/>
            </a:ln>
            <a:effectLst/>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GB"/>
            </a:p>
          </p:txBody>
        </p:sp>
        <p:sp>
          <p:nvSpPr>
            <p:cNvPr id="21" name="Freeform 6"/>
            <p:cNvSpPr>
              <a:spLocks/>
            </p:cNvSpPr>
            <p:nvPr/>
          </p:nvSpPr>
          <p:spPr bwMode="auto">
            <a:xfrm>
              <a:off x="1258888" y="2133600"/>
              <a:ext cx="6634162" cy="2820988"/>
            </a:xfrm>
            <a:custGeom>
              <a:avLst/>
              <a:gdLst>
                <a:gd name="T0" fmla="*/ 0 w 3388"/>
                <a:gd name="T1" fmla="*/ 0 h 1023"/>
                <a:gd name="T2" fmla="*/ 0 w 3388"/>
                <a:gd name="T3" fmla="*/ 1022 h 1023"/>
                <a:gd name="T4" fmla="*/ 3387 w 3388"/>
                <a:gd name="T5" fmla="*/ 1022 h 1023"/>
              </a:gdLst>
              <a:ahLst/>
              <a:cxnLst>
                <a:cxn ang="0">
                  <a:pos x="T0" y="T1"/>
                </a:cxn>
                <a:cxn ang="0">
                  <a:pos x="T2" y="T3"/>
                </a:cxn>
                <a:cxn ang="0">
                  <a:pos x="T4" y="T5"/>
                </a:cxn>
              </a:cxnLst>
              <a:rect l="0" t="0" r="r" b="b"/>
              <a:pathLst>
                <a:path w="3388" h="1023">
                  <a:moveTo>
                    <a:pt x="0" y="0"/>
                  </a:moveTo>
                  <a:lnTo>
                    <a:pt x="0" y="1022"/>
                  </a:lnTo>
                  <a:lnTo>
                    <a:pt x="3387" y="1022"/>
                  </a:lnTo>
                </a:path>
              </a:pathLst>
            </a:custGeom>
            <a:noFill/>
            <a:ln w="25400"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 name="Rectangle 7"/>
            <p:cNvSpPr>
              <a:spLocks noChangeArrowheads="1"/>
            </p:cNvSpPr>
            <p:nvPr/>
          </p:nvSpPr>
          <p:spPr bwMode="auto">
            <a:xfrm>
              <a:off x="1033206" y="4696952"/>
              <a:ext cx="736600"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spcBef>
                  <a:spcPct val="50000"/>
                </a:spcBef>
              </a:pPr>
              <a:r>
                <a:rPr lang="en-US" altLang="en-US" b="0" dirty="0">
                  <a:latin typeface="Arial" charset="0"/>
                </a:rPr>
                <a:t>0</a:t>
              </a:r>
              <a:r>
                <a:rPr lang="en-US" altLang="en-US" sz="3600" dirty="0">
                  <a:latin typeface="Arial" charset="0"/>
                </a:rPr>
                <a:t> </a:t>
              </a:r>
            </a:p>
          </p:txBody>
        </p:sp>
        <p:sp>
          <p:nvSpPr>
            <p:cNvPr id="24" name="Freeform 9"/>
            <p:cNvSpPr>
              <a:spLocks/>
            </p:cNvSpPr>
            <p:nvPr/>
          </p:nvSpPr>
          <p:spPr bwMode="auto">
            <a:xfrm>
              <a:off x="1276350" y="2730500"/>
              <a:ext cx="6989763" cy="2241550"/>
            </a:xfrm>
            <a:custGeom>
              <a:avLst/>
              <a:gdLst>
                <a:gd name="T0" fmla="*/ 0 w 3492"/>
                <a:gd name="T1" fmla="*/ 1011 h 1021"/>
                <a:gd name="T2" fmla="*/ 162 w 3492"/>
                <a:gd name="T3" fmla="*/ 837 h 1021"/>
                <a:gd name="T4" fmla="*/ 714 w 3492"/>
                <a:gd name="T5" fmla="*/ 3 h 1021"/>
                <a:gd name="T6" fmla="*/ 1728 w 3492"/>
                <a:gd name="T7" fmla="*/ 855 h 1021"/>
                <a:gd name="T8" fmla="*/ 3492 w 3492"/>
                <a:gd name="T9" fmla="*/ 999 h 1021"/>
              </a:gdLst>
              <a:ahLst/>
              <a:cxnLst>
                <a:cxn ang="0">
                  <a:pos x="T0" y="T1"/>
                </a:cxn>
                <a:cxn ang="0">
                  <a:pos x="T2" y="T3"/>
                </a:cxn>
                <a:cxn ang="0">
                  <a:pos x="T4" y="T5"/>
                </a:cxn>
                <a:cxn ang="0">
                  <a:pos x="T6" y="T7"/>
                </a:cxn>
                <a:cxn ang="0">
                  <a:pos x="T8" y="T9"/>
                </a:cxn>
              </a:cxnLst>
              <a:rect l="0" t="0" r="r" b="b"/>
              <a:pathLst>
                <a:path w="3492" h="1021">
                  <a:moveTo>
                    <a:pt x="0" y="1011"/>
                  </a:moveTo>
                  <a:cubicBezTo>
                    <a:pt x="27" y="982"/>
                    <a:pt x="43" y="1005"/>
                    <a:pt x="162" y="837"/>
                  </a:cubicBezTo>
                  <a:cubicBezTo>
                    <a:pt x="281" y="669"/>
                    <a:pt x="453" y="0"/>
                    <a:pt x="714" y="3"/>
                  </a:cubicBezTo>
                  <a:cubicBezTo>
                    <a:pt x="975" y="6"/>
                    <a:pt x="1265" y="689"/>
                    <a:pt x="1728" y="855"/>
                  </a:cubicBezTo>
                  <a:cubicBezTo>
                    <a:pt x="2191" y="1021"/>
                    <a:pt x="3125" y="969"/>
                    <a:pt x="3492" y="999"/>
                  </a:cubicBezTo>
                </a:path>
              </a:pathLst>
            </a:custGeom>
            <a:noFill/>
            <a:ln w="38100" cap="flat" cmpd="sng">
              <a:solidFill>
                <a:srgbClr val="333399"/>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GB"/>
            </a:p>
          </p:txBody>
        </p:sp>
        <p:sp>
          <p:nvSpPr>
            <p:cNvPr id="25" name="Freeform 10"/>
            <p:cNvSpPr>
              <a:spLocks/>
            </p:cNvSpPr>
            <p:nvPr/>
          </p:nvSpPr>
          <p:spPr bwMode="auto">
            <a:xfrm>
              <a:off x="4206875" y="4300538"/>
              <a:ext cx="7938" cy="654050"/>
            </a:xfrm>
            <a:custGeom>
              <a:avLst/>
              <a:gdLst>
                <a:gd name="T0" fmla="*/ 0 w 3"/>
                <a:gd name="T1" fmla="*/ 0 h 256"/>
                <a:gd name="T2" fmla="*/ 3 w 3"/>
                <a:gd name="T3" fmla="*/ 256 h 256"/>
              </a:gdLst>
              <a:ahLst/>
              <a:cxnLst>
                <a:cxn ang="0">
                  <a:pos x="T0" y="T1"/>
                </a:cxn>
                <a:cxn ang="0">
                  <a:pos x="T2" y="T3"/>
                </a:cxn>
              </a:cxnLst>
              <a:rect l="0" t="0" r="r" b="b"/>
              <a:pathLst>
                <a:path w="3" h="256">
                  <a:moveTo>
                    <a:pt x="0" y="0"/>
                  </a:moveTo>
                  <a:lnTo>
                    <a:pt x="3" y="256"/>
                  </a:lnTo>
                </a:path>
              </a:pathLst>
            </a:custGeom>
            <a:noFill/>
            <a:ln w="19050">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GB"/>
            </a:p>
          </p:txBody>
        </p:sp>
        <p:sp>
          <p:nvSpPr>
            <p:cNvPr id="26" name="Line 11"/>
            <p:cNvSpPr>
              <a:spLocks noChangeShapeType="1"/>
            </p:cNvSpPr>
            <p:nvPr/>
          </p:nvSpPr>
          <p:spPr bwMode="auto">
            <a:xfrm flipH="1">
              <a:off x="4459288" y="4217988"/>
              <a:ext cx="368300" cy="490537"/>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GB"/>
            </a:p>
          </p:txBody>
        </p:sp>
        <p:sp>
          <p:nvSpPr>
            <p:cNvPr id="27" name="Text Box 12"/>
            <p:cNvSpPr txBox="1">
              <a:spLocks noChangeArrowheads="1"/>
            </p:cNvSpPr>
            <p:nvPr/>
          </p:nvSpPr>
          <p:spPr bwMode="auto">
            <a:xfrm>
              <a:off x="4705350" y="3727450"/>
              <a:ext cx="6127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000" b="0">
                  <a:latin typeface="Arial" charset="0"/>
                  <a:sym typeface="Symbol" pitchFamily="18" charset="2"/>
                </a:rPr>
                <a:t></a:t>
              </a:r>
              <a:endParaRPr lang="en-US" altLang="en-US" sz="2000" b="0" baseline="-25000">
                <a:latin typeface="Arial" charset="0"/>
                <a:sym typeface="Symbol" pitchFamily="18" charset="2"/>
              </a:endParaRPr>
            </a:p>
          </p:txBody>
        </p:sp>
      </p:grpSp>
      <p:sp>
        <p:nvSpPr>
          <p:cNvPr id="4" name="Rounded Rectangle 3"/>
          <p:cNvSpPr/>
          <p:nvPr/>
        </p:nvSpPr>
        <p:spPr>
          <a:xfrm>
            <a:off x="6096000" y="1066800"/>
            <a:ext cx="2209800" cy="11430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GB" altLang="en-US" sz="3600" dirty="0"/>
              <a:t>9.2776 </a:t>
            </a:r>
            <a:endParaRPr lang="en-GB" sz="3600" b="1" dirty="0">
              <a:solidFill>
                <a:schemeClr val="tx1"/>
              </a:solidFill>
            </a:endParaRPr>
          </a:p>
        </p:txBody>
      </p:sp>
      <p:sp>
        <p:nvSpPr>
          <p:cNvPr id="5" name="Rectangle 4"/>
          <p:cNvSpPr/>
          <p:nvPr/>
        </p:nvSpPr>
        <p:spPr>
          <a:xfrm>
            <a:off x="304800" y="816114"/>
            <a:ext cx="4298894" cy="707886"/>
          </a:xfrm>
          <a:prstGeom prst="rect">
            <a:avLst/>
          </a:prstGeom>
        </p:spPr>
        <p:txBody>
          <a:bodyPr wrap="square">
            <a:spAutoFit/>
          </a:bodyPr>
          <a:lstStyle/>
          <a:p>
            <a:r>
              <a:rPr lang="en-GB" altLang="en-US" sz="2000" dirty="0">
                <a:solidFill>
                  <a:srgbClr val="333399"/>
                </a:solidFill>
                <a:sym typeface="Symbol" pitchFamily="18" charset="2"/>
              </a:rPr>
              <a:t>We then need to find the probability of this value (p-value)</a:t>
            </a:r>
          </a:p>
        </p:txBody>
      </p:sp>
      <mc:AlternateContent xmlns:mc="http://schemas.openxmlformats.org/markup-compatibility/2006" xmlns:a14="http://schemas.microsoft.com/office/drawing/2010/main">
        <mc:Choice Requires="a14">
          <p:sp>
            <p:nvSpPr>
              <p:cNvPr id="8" name="Rectangle 7"/>
              <p:cNvSpPr/>
              <p:nvPr/>
            </p:nvSpPr>
            <p:spPr>
              <a:xfrm>
                <a:off x="4311492" y="4724400"/>
                <a:ext cx="58849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GB" sz="2400" i="1">
                              <a:latin typeface="Cambria Math" panose="02040503050406030204" pitchFamily="18" charset="0"/>
                            </a:rPr>
                          </m:ctrlPr>
                        </m:sSupPr>
                        <m:e>
                          <m:r>
                            <a:rPr lang="en-GB" sz="2400" i="1">
                              <a:latin typeface="Cambria Math"/>
                            </a:rPr>
                            <m:t>𝜒</m:t>
                          </m:r>
                        </m:e>
                        <m:sup>
                          <m:r>
                            <a:rPr lang="en-GB" sz="2400" i="1">
                              <a:latin typeface="Cambria Math"/>
                            </a:rPr>
                            <m:t>2</m:t>
                          </m:r>
                        </m:sup>
                      </m:sSup>
                    </m:oMath>
                  </m:oMathPara>
                </a14:m>
                <a:endParaRPr lang="en-GB" sz="2400" dirty="0"/>
              </a:p>
            </p:txBody>
          </p:sp>
        </mc:Choice>
        <mc:Fallback xmlns="">
          <p:sp>
            <p:nvSpPr>
              <p:cNvPr id="8" name="Rectangle 7"/>
              <p:cNvSpPr>
                <a:spLocks noRot="1" noChangeAspect="1" noMove="1" noResize="1" noEditPoints="1" noAdjustHandles="1" noChangeArrowheads="1" noChangeShapeType="1" noTextEdit="1"/>
              </p:cNvSpPr>
              <p:nvPr/>
            </p:nvSpPr>
            <p:spPr>
              <a:xfrm>
                <a:off x="4311492" y="4724400"/>
                <a:ext cx="588494" cy="461665"/>
              </a:xfrm>
              <a:prstGeom prst="rect">
                <a:avLst/>
              </a:prstGeom>
              <a:blipFill rotWithShape="1">
                <a:blip r:embed="rId5"/>
                <a:stretch>
                  <a:fillRect b="-7895"/>
                </a:stretch>
              </a:blipFill>
            </p:spPr>
            <p:txBody>
              <a:bodyPr/>
              <a:lstStyle/>
              <a:p>
                <a:r>
                  <a:rPr lang="en-GB">
                    <a:noFill/>
                  </a:rPr>
                  <a:t> </a:t>
                </a:r>
              </a:p>
            </p:txBody>
          </p:sp>
        </mc:Fallback>
      </mc:AlternateContent>
      <p:grpSp>
        <p:nvGrpSpPr>
          <p:cNvPr id="13" name="Group 12"/>
          <p:cNvGrpSpPr/>
          <p:nvPr/>
        </p:nvGrpSpPr>
        <p:grpSpPr>
          <a:xfrm>
            <a:off x="1927242" y="1956137"/>
            <a:ext cx="2111358" cy="3244398"/>
            <a:chOff x="1927242" y="1956137"/>
            <a:chExt cx="2111358" cy="3244398"/>
          </a:xfrm>
        </p:grpSpPr>
        <p:grpSp>
          <p:nvGrpSpPr>
            <p:cNvPr id="12" name="Group 11"/>
            <p:cNvGrpSpPr/>
            <p:nvPr/>
          </p:nvGrpSpPr>
          <p:grpSpPr>
            <a:xfrm>
              <a:off x="1987878" y="2974495"/>
              <a:ext cx="880305" cy="2226040"/>
              <a:chOff x="1987878" y="2974495"/>
              <a:chExt cx="880305" cy="2226040"/>
            </a:xfrm>
          </p:grpSpPr>
          <mc:AlternateContent xmlns:mc="http://schemas.openxmlformats.org/markup-compatibility/2006" xmlns:a14="http://schemas.microsoft.com/office/drawing/2010/main">
            <mc:Choice Requires="a14">
              <p:sp>
                <p:nvSpPr>
                  <p:cNvPr id="7" name="Rectangle 6"/>
                  <p:cNvSpPr/>
                  <p:nvPr/>
                </p:nvSpPr>
                <p:spPr>
                  <a:xfrm>
                    <a:off x="1987878" y="4712196"/>
                    <a:ext cx="880305" cy="48833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GB" sz="2400" b="1" i="1" smtClean="0">
                                  <a:solidFill>
                                    <a:srgbClr val="C00000"/>
                                  </a:solidFill>
                                  <a:latin typeface="Cambria Math" panose="02040503050406030204" pitchFamily="18" charset="0"/>
                                </a:rPr>
                              </m:ctrlPr>
                            </m:sSubSupPr>
                            <m:e>
                              <m:r>
                                <a:rPr lang="en-GB" sz="2400" b="1" i="1">
                                  <a:solidFill>
                                    <a:srgbClr val="C00000"/>
                                  </a:solidFill>
                                  <a:latin typeface="Cambria Math"/>
                                </a:rPr>
                                <m:t>𝝌</m:t>
                              </m:r>
                            </m:e>
                            <m:sub>
                              <m:r>
                                <a:rPr lang="en-GB" sz="2400" b="1" i="1" smtClean="0">
                                  <a:solidFill>
                                    <a:srgbClr val="C00000"/>
                                  </a:solidFill>
                                  <a:latin typeface="Cambria Math"/>
                                </a:rPr>
                                <m:t>𝒄𝒓𝒊𝒕</m:t>
                              </m:r>
                            </m:sub>
                            <m:sup>
                              <m:r>
                                <a:rPr lang="en-GB" sz="2400" b="1" i="1" smtClean="0">
                                  <a:solidFill>
                                    <a:srgbClr val="C00000"/>
                                  </a:solidFill>
                                  <a:latin typeface="Cambria Math"/>
                                </a:rPr>
                                <m:t>𝟐</m:t>
                              </m:r>
                            </m:sup>
                          </m:sSubSup>
                        </m:oMath>
                      </m:oMathPara>
                    </a14:m>
                    <a:endParaRPr lang="en-GB" sz="2400" b="1" dirty="0">
                      <a:solidFill>
                        <a:srgbClr val="C00000"/>
                      </a:solidFill>
                    </a:endParaRPr>
                  </a:p>
                </p:txBody>
              </p:sp>
            </mc:Choice>
            <mc:Fallback xmlns="">
              <p:sp>
                <p:nvSpPr>
                  <p:cNvPr id="7" name="Rectangle 6"/>
                  <p:cNvSpPr>
                    <a:spLocks noRot="1" noChangeAspect="1" noMove="1" noResize="1" noEditPoints="1" noAdjustHandles="1" noChangeArrowheads="1" noChangeShapeType="1" noTextEdit="1"/>
                  </p:cNvSpPr>
                  <p:nvPr/>
                </p:nvSpPr>
                <p:spPr>
                  <a:xfrm>
                    <a:off x="1987878" y="4712196"/>
                    <a:ext cx="880305" cy="488339"/>
                  </a:xfrm>
                  <a:prstGeom prst="rect">
                    <a:avLst/>
                  </a:prstGeom>
                  <a:blipFill rotWithShape="1">
                    <a:blip r:embed="rId6"/>
                    <a:stretch>
                      <a:fillRect/>
                    </a:stretch>
                  </a:blipFill>
                </p:spPr>
                <p:txBody>
                  <a:bodyPr/>
                  <a:lstStyle/>
                  <a:p>
                    <a:r>
                      <a:rPr lang="en-GB">
                        <a:noFill/>
                      </a:rPr>
                      <a:t> </a:t>
                    </a:r>
                  </a:p>
                </p:txBody>
              </p:sp>
            </mc:Fallback>
          </mc:AlternateContent>
          <p:cxnSp>
            <p:nvCxnSpPr>
              <p:cNvPr id="10" name="Straight Connector 9"/>
              <p:cNvCxnSpPr>
                <a:stCxn id="25" idx="1"/>
              </p:cNvCxnSpPr>
              <p:nvPr/>
            </p:nvCxnSpPr>
            <p:spPr>
              <a:xfrm flipH="1" flipV="1">
                <a:off x="2332652" y="2974495"/>
                <a:ext cx="6840" cy="1737701"/>
              </a:xfrm>
              <a:prstGeom prst="line">
                <a:avLst/>
              </a:prstGeom>
            </p:spPr>
            <p:style>
              <a:lnRef idx="3">
                <a:schemeClr val="accent2"/>
              </a:lnRef>
              <a:fillRef idx="0">
                <a:schemeClr val="accent2"/>
              </a:fillRef>
              <a:effectRef idx="2">
                <a:schemeClr val="accent2"/>
              </a:effectRef>
              <a:fontRef idx="minor">
                <a:schemeClr val="tx1"/>
              </a:fontRef>
            </p:style>
          </p:cxnSp>
        </p:grpSp>
        <p:sp>
          <p:nvSpPr>
            <p:cNvPr id="29" name="Rectangle 28"/>
            <p:cNvSpPr/>
            <p:nvPr/>
          </p:nvSpPr>
          <p:spPr>
            <a:xfrm>
              <a:off x="1927242" y="1956137"/>
              <a:ext cx="2111358" cy="1015663"/>
            </a:xfrm>
            <a:prstGeom prst="rect">
              <a:avLst/>
            </a:prstGeom>
          </p:spPr>
          <p:txBody>
            <a:bodyPr wrap="square">
              <a:spAutoFit/>
            </a:bodyPr>
            <a:lstStyle/>
            <a:p>
              <a:r>
                <a:rPr lang="en-GB" altLang="en-US" sz="2000" b="1" dirty="0">
                  <a:solidFill>
                    <a:srgbClr val="C00000"/>
                  </a:solidFill>
                  <a:sym typeface="Symbol" pitchFamily="18" charset="2"/>
                </a:rPr>
                <a:t>Lookup table provides the critical value</a:t>
              </a:r>
            </a:p>
          </p:txBody>
        </p:sp>
      </p:grpSp>
      <mc:AlternateContent xmlns:mc="http://schemas.openxmlformats.org/markup-compatibility/2006" xmlns:a14="http://schemas.microsoft.com/office/drawing/2010/main">
        <mc:Choice Requires="a14">
          <p:sp>
            <p:nvSpPr>
              <p:cNvPr id="30" name="Text Box 3"/>
              <p:cNvSpPr txBox="1">
                <a:spLocks noChangeArrowheads="1"/>
              </p:cNvSpPr>
              <p:nvPr/>
            </p:nvSpPr>
            <p:spPr bwMode="auto">
              <a:xfrm>
                <a:off x="5867400" y="533400"/>
                <a:ext cx="2667000" cy="488339"/>
              </a:xfrm>
              <a:prstGeom prst="rect">
                <a:avLst/>
              </a:prstGeom>
              <a:noFill/>
              <a:ln>
                <a:noFill/>
              </a:ln>
              <a:effectLst/>
            </p:spPr>
            <p:txBody>
              <a:bodyPr wrap="square">
                <a:spAutoFit/>
              </a:bodyPr>
              <a:lstStyle/>
              <a:p>
                <a:pPr algn="ctr"/>
                <a:r>
                  <a:rPr lang="en-GB" sz="2400" dirty="0"/>
                  <a:t>Reject if </a:t>
                </a:r>
                <a14:m>
                  <m:oMath xmlns:m="http://schemas.openxmlformats.org/officeDocument/2006/math">
                    <m:sSup>
                      <m:sSupPr>
                        <m:ctrlPr>
                          <a:rPr lang="en-GB" sz="2400" i="1">
                            <a:latin typeface="Cambria Math" panose="02040503050406030204" pitchFamily="18" charset="0"/>
                          </a:rPr>
                        </m:ctrlPr>
                      </m:sSupPr>
                      <m:e>
                        <m:r>
                          <a:rPr lang="en-GB" sz="2400" b="1" i="1">
                            <a:latin typeface="Cambria Math"/>
                          </a:rPr>
                          <m:t>𝝌</m:t>
                        </m:r>
                      </m:e>
                      <m:sup>
                        <m:r>
                          <a:rPr lang="en-GB" sz="2400" b="1" i="1">
                            <a:latin typeface="Cambria Math"/>
                          </a:rPr>
                          <m:t>𝟐</m:t>
                        </m:r>
                      </m:sup>
                    </m:sSup>
                    <m:sSubSup>
                      <m:sSubSupPr>
                        <m:ctrlPr>
                          <a:rPr lang="en-GB" sz="2400" b="1" i="1">
                            <a:solidFill>
                              <a:srgbClr val="C00000"/>
                            </a:solidFill>
                            <a:latin typeface="Cambria Math" panose="02040503050406030204" pitchFamily="18" charset="0"/>
                          </a:rPr>
                        </m:ctrlPr>
                      </m:sSubSupPr>
                      <m:e>
                        <m:r>
                          <a:rPr lang="en-GB" sz="2400" b="0" i="1" smtClean="0">
                            <a:solidFill>
                              <a:schemeClr val="tx1"/>
                            </a:solidFill>
                            <a:latin typeface="Cambria Math"/>
                          </a:rPr>
                          <m:t>&gt;</m:t>
                        </m:r>
                        <m:r>
                          <a:rPr lang="en-GB" sz="2400" b="1" i="1">
                            <a:solidFill>
                              <a:srgbClr val="C00000"/>
                            </a:solidFill>
                            <a:latin typeface="Cambria Math"/>
                          </a:rPr>
                          <m:t>𝝌</m:t>
                        </m:r>
                      </m:e>
                      <m:sub>
                        <m:r>
                          <a:rPr lang="en-GB" sz="2400" b="1" i="1">
                            <a:solidFill>
                              <a:srgbClr val="C00000"/>
                            </a:solidFill>
                            <a:latin typeface="Cambria Math"/>
                          </a:rPr>
                          <m:t>𝒄𝒓𝒊𝒕</m:t>
                        </m:r>
                      </m:sub>
                      <m:sup>
                        <m:r>
                          <a:rPr lang="en-GB" sz="2400" b="1" i="1">
                            <a:solidFill>
                              <a:srgbClr val="C00000"/>
                            </a:solidFill>
                            <a:latin typeface="Cambria Math"/>
                          </a:rPr>
                          <m:t>𝟐</m:t>
                        </m:r>
                      </m:sup>
                    </m:sSubSup>
                  </m:oMath>
                </a14:m>
                <a:endParaRPr lang="en-GB" altLang="en-US" sz="2400" dirty="0"/>
              </a:p>
            </p:txBody>
          </p:sp>
        </mc:Choice>
        <mc:Fallback xmlns="">
          <p:sp>
            <p:nvSpPr>
              <p:cNvPr id="30" name="Text Box 3"/>
              <p:cNvSpPr txBox="1">
                <a:spLocks noRot="1" noChangeAspect="1" noMove="1" noResize="1" noEditPoints="1" noAdjustHandles="1" noChangeArrowheads="1" noChangeShapeType="1" noTextEdit="1"/>
              </p:cNvSpPr>
              <p:nvPr/>
            </p:nvSpPr>
            <p:spPr bwMode="auto">
              <a:xfrm>
                <a:off x="5867400" y="533400"/>
                <a:ext cx="2667000" cy="488339"/>
              </a:xfrm>
              <a:prstGeom prst="rect">
                <a:avLst/>
              </a:prstGeom>
              <a:blipFill rotWithShape="1">
                <a:blip r:embed="rId7"/>
                <a:stretch>
                  <a:fillRect l="-2746" t="-5000" b="-26250"/>
                </a:stretch>
              </a:blipFill>
              <a:ln>
                <a:noFill/>
              </a:ln>
              <a:effectLst/>
              <a:ex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5156080" y="3888160"/>
                <a:ext cx="3276600" cy="646331"/>
              </a:xfrm>
              <a:prstGeom prst="rect">
                <a:avLst/>
              </a:prstGeom>
              <a:solidFill>
                <a:srgbClr val="F2DCDB"/>
              </a:solidFill>
            </p:spPr>
            <p:txBody>
              <a:bodyPr wrap="square">
                <a:spAutoFit/>
              </a:bodyPr>
              <a:lstStyle/>
              <a:p>
                <a:r>
                  <a:rPr lang="en-GB" dirty="0"/>
                  <a:t>The degrees of freedom</a:t>
                </a:r>
              </a:p>
              <a:p>
                <a:pPr/>
                <a14:m>
                  <m:oMathPara xmlns:m="http://schemas.openxmlformats.org/officeDocument/2006/math">
                    <m:oMathParaPr>
                      <m:jc m:val="centerGroup"/>
                    </m:oMathParaPr>
                    <m:oMath xmlns:m="http://schemas.openxmlformats.org/officeDocument/2006/math">
                      <m:r>
                        <a:rPr lang="en-GB" i="1">
                          <a:latin typeface="Cambria Math"/>
                        </a:rPr>
                        <m:t>𝑑𝑓</m:t>
                      </m:r>
                      <m:r>
                        <a:rPr lang="en-GB" i="1">
                          <a:latin typeface="Cambria Math"/>
                        </a:rPr>
                        <m:t>=</m:t>
                      </m:r>
                      <m:r>
                        <a:rPr lang="en-GB" b="0" i="1" smtClean="0">
                          <a:latin typeface="Cambria Math"/>
                        </a:rPr>
                        <m:t>𝑐𝑜𝑙𝑠</m:t>
                      </m:r>
                      <m:r>
                        <a:rPr lang="en-GB" i="1">
                          <a:latin typeface="Cambria Math"/>
                        </a:rPr>
                        <m:t>−1</m:t>
                      </m:r>
                    </m:oMath>
                  </m:oMathPara>
                </a14:m>
                <a:endParaRPr lang="en-GB" dirty="0"/>
              </a:p>
            </p:txBody>
          </p:sp>
        </mc:Choice>
        <mc:Fallback xmlns="">
          <p:sp>
            <p:nvSpPr>
              <p:cNvPr id="23" name="Rectangle 22"/>
              <p:cNvSpPr>
                <a:spLocks noRot="1" noChangeAspect="1" noMove="1" noResize="1" noEditPoints="1" noAdjustHandles="1" noChangeArrowheads="1" noChangeShapeType="1" noTextEdit="1"/>
              </p:cNvSpPr>
              <p:nvPr/>
            </p:nvSpPr>
            <p:spPr>
              <a:xfrm>
                <a:off x="5156080" y="3888160"/>
                <a:ext cx="3276600" cy="646331"/>
              </a:xfrm>
              <a:prstGeom prst="rect">
                <a:avLst/>
              </a:prstGeom>
              <a:blipFill rotWithShape="1">
                <a:blip r:embed="rId8"/>
                <a:stretch>
                  <a:fillRect l="-1676" t="-4717" b="-6604"/>
                </a:stretch>
              </a:blipFill>
            </p:spPr>
            <p:txBody>
              <a:bodyPr/>
              <a:lstStyle/>
              <a:p>
                <a:r>
                  <a:rPr lang="en-GB">
                    <a:noFill/>
                  </a:rPr>
                  <a:t> </a:t>
                </a:r>
              </a:p>
            </p:txBody>
          </p:sp>
        </mc:Fallback>
      </mc:AlternateContent>
    </p:spTree>
    <p:extLst>
      <p:ext uri="{BB962C8B-B14F-4D97-AF65-F5344CB8AC3E}">
        <p14:creationId xmlns:p14="http://schemas.microsoft.com/office/powerpoint/2010/main" val="2838860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21" name="Text Box 5"/>
          <p:cNvSpPr txBox="1">
            <a:spLocks noChangeArrowheads="1"/>
          </p:cNvSpPr>
          <p:nvPr/>
        </p:nvSpPr>
        <p:spPr bwMode="auto">
          <a:xfrm>
            <a:off x="311888" y="925033"/>
            <a:ext cx="814631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2400" dirty="0"/>
              <a:t>Step 1.</a:t>
            </a:r>
            <a:endParaRPr lang="en-GB" sz="2400" b="0" i="1" dirty="0"/>
          </a:p>
          <a:p>
            <a:r>
              <a:rPr lang="en-GB" sz="2400" b="0" i="1" dirty="0"/>
              <a:t>H</a:t>
            </a:r>
            <a:r>
              <a:rPr lang="en-GB" sz="2400" b="0" baseline="-25000" dirty="0"/>
              <a:t>0</a:t>
            </a:r>
            <a:r>
              <a:rPr lang="en-GB" altLang="en-US" sz="2400" dirty="0">
                <a:solidFill>
                  <a:schemeClr val="tx1"/>
                </a:solidFill>
                <a:sym typeface="Symbol" pitchFamily="18" charset="2"/>
              </a:rPr>
              <a:t> : </a:t>
            </a:r>
            <a:r>
              <a:rPr lang="en-GB" altLang="en-US" sz="2400" dirty="0"/>
              <a:t>All products are equally attractive</a:t>
            </a:r>
            <a:r>
              <a:rPr lang="en-GB" altLang="en-US" sz="2400" dirty="0">
                <a:solidFill>
                  <a:schemeClr val="tx1"/>
                </a:solidFill>
                <a:sym typeface="Symbol" pitchFamily="18" charset="2"/>
              </a:rPr>
              <a:t> </a:t>
            </a:r>
          </a:p>
        </p:txBody>
      </p:sp>
      <p:sp>
        <p:nvSpPr>
          <p:cNvPr id="2" name="Title 1"/>
          <p:cNvSpPr>
            <a:spLocks noGrp="1"/>
          </p:cNvSpPr>
          <p:nvPr>
            <p:ph type="title"/>
          </p:nvPr>
        </p:nvSpPr>
        <p:spPr/>
        <p:txBody>
          <a:bodyPr/>
          <a:lstStyle/>
          <a:p>
            <a:r>
              <a:rPr lang="en-GB" altLang="en-US" dirty="0"/>
              <a:t>Chi Squared (</a:t>
            </a:r>
            <a:r>
              <a:rPr lang="en-GB" altLang="en-US" dirty="0">
                <a:sym typeface="Symbol" pitchFamily="18" charset="2"/>
              </a:rPr>
              <a:t></a:t>
            </a:r>
            <a:r>
              <a:rPr lang="en-GB" altLang="en-US" baseline="30000" dirty="0">
                <a:sym typeface="Symbol" pitchFamily="18" charset="2"/>
              </a:rPr>
              <a:t>2</a:t>
            </a:r>
            <a:r>
              <a:rPr lang="en-GB" altLang="en-US" dirty="0">
                <a:sym typeface="Symbol" pitchFamily="18" charset="2"/>
              </a:rPr>
              <a:t>) - Summary</a:t>
            </a:r>
            <a:endParaRPr lang="en-GB" dirty="0"/>
          </a:p>
        </p:txBody>
      </p:sp>
      <p:sp>
        <p:nvSpPr>
          <p:cNvPr id="5" name="Text Box 5"/>
          <p:cNvSpPr txBox="1">
            <a:spLocks noChangeArrowheads="1"/>
          </p:cNvSpPr>
          <p:nvPr/>
        </p:nvSpPr>
        <p:spPr bwMode="auto">
          <a:xfrm>
            <a:off x="304800" y="1981200"/>
            <a:ext cx="814631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2400" dirty="0">
                <a:solidFill>
                  <a:schemeClr val="tx1"/>
                </a:solidFill>
                <a:sym typeface="Symbol" pitchFamily="18" charset="2"/>
              </a:rPr>
              <a:t>Step 2.</a:t>
            </a:r>
          </a:p>
          <a:p>
            <a:r>
              <a:rPr lang="en-GB" altLang="en-US" sz="2400" dirty="0">
                <a:solidFill>
                  <a:schemeClr val="tx1"/>
                </a:solidFill>
                <a:sym typeface="Symbol" pitchFamily="18" charset="2"/>
              </a:rPr>
              <a:t>The calculated value of </a:t>
            </a:r>
            <a:r>
              <a:rPr lang="en-GB" altLang="en-US" sz="2400" b="1" dirty="0">
                <a:solidFill>
                  <a:schemeClr val="tx1"/>
                </a:solidFill>
                <a:sym typeface="Symbol" pitchFamily="18" charset="2"/>
              </a:rPr>
              <a:t></a:t>
            </a:r>
            <a:r>
              <a:rPr lang="en-GB" altLang="en-US" sz="2400" b="1" baseline="30000" dirty="0">
                <a:solidFill>
                  <a:schemeClr val="tx1"/>
                </a:solidFill>
                <a:sym typeface="Symbol" pitchFamily="18" charset="2"/>
              </a:rPr>
              <a:t>2</a:t>
            </a:r>
            <a:r>
              <a:rPr lang="en-GB" altLang="en-US" sz="2400" b="1" dirty="0">
                <a:solidFill>
                  <a:schemeClr val="tx1"/>
                </a:solidFill>
                <a:sym typeface="Symbol" pitchFamily="18" charset="2"/>
              </a:rPr>
              <a:t> = </a:t>
            </a:r>
            <a:r>
              <a:rPr lang="en-GB" altLang="en-US" sz="2400" b="1" dirty="0">
                <a:solidFill>
                  <a:schemeClr val="tx1"/>
                </a:solidFill>
              </a:rPr>
              <a:t>9.2776</a:t>
            </a:r>
          </a:p>
        </p:txBody>
      </p:sp>
      <mc:AlternateContent xmlns:mc="http://schemas.openxmlformats.org/markup-compatibility/2006" xmlns:a14="http://schemas.microsoft.com/office/drawing/2010/main">
        <mc:Choice Requires="a14">
          <p:sp>
            <p:nvSpPr>
              <p:cNvPr id="3" name="Text Box 5">
                <a:extLst>
                  <a:ext uri="{FF2B5EF4-FFF2-40B4-BE49-F238E27FC236}">
                    <a16:creationId xmlns:a16="http://schemas.microsoft.com/office/drawing/2014/main" id="{74D078B7-CAE1-6804-1C5A-E971E20C86F9}"/>
                  </a:ext>
                </a:extLst>
              </p:cNvPr>
              <p:cNvSpPr txBox="1">
                <a:spLocks noChangeArrowheads="1"/>
              </p:cNvSpPr>
              <p:nvPr/>
            </p:nvSpPr>
            <p:spPr bwMode="auto">
              <a:xfrm>
                <a:off x="311888" y="3048000"/>
                <a:ext cx="8146312" cy="1227003"/>
              </a:xfrm>
              <a:prstGeom prst="rect">
                <a:avLst/>
              </a:prstGeom>
              <a:noFill/>
              <a:ln>
                <a:noFill/>
              </a:ln>
              <a:effectLst/>
              <a:extLst>
                <a:ext uri="{909E8E84-426E-40DD-AFC4-6F175D3DCCD1}">
                  <a14:hiddenFill>
                    <a:solidFill>
                      <a:schemeClr val="accent1"/>
                    </a:solidFill>
                  </a14:hiddenFill>
                </a:ext>
                <a:ext uri="{91240B29-F687-4F45-9708-019B960494DF}">
                  <a14:hiddenLine w="12700">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r>
                  <a:rPr lang="en-GB" altLang="en-US" sz="2400" dirty="0">
                    <a:solidFill>
                      <a:schemeClr val="tx1"/>
                    </a:solidFill>
                  </a:rPr>
                  <a:t>Step 3</a:t>
                </a:r>
                <a:r>
                  <a:rPr lang="en-GB" altLang="en-US" sz="2400" dirty="0"/>
                  <a:t>.</a:t>
                </a:r>
                <a:endParaRPr lang="en-GB" altLang="en-US" sz="2400" dirty="0">
                  <a:solidFill>
                    <a:schemeClr val="tx1"/>
                  </a:solidFill>
                </a:endParaRPr>
              </a:p>
              <a:p>
                <a:r>
                  <a:rPr lang="en-GB" altLang="en-US" sz="2400" dirty="0">
                    <a:solidFill>
                      <a:schemeClr val="tx1"/>
                    </a:solidFill>
                    <a:sym typeface="Symbol" pitchFamily="18" charset="2"/>
                  </a:rPr>
                  <a:t>We have the degrees of freedom, </a:t>
                </a:r>
                <a14:m>
                  <m:oMath xmlns:m="http://schemas.openxmlformats.org/officeDocument/2006/math">
                    <m:r>
                      <a:rPr lang="en-GB" altLang="en-US" sz="2400" i="1" dirty="0" smtClean="0">
                        <a:solidFill>
                          <a:schemeClr val="tx1"/>
                        </a:solidFill>
                        <a:latin typeface="Cambria Math"/>
                        <a:sym typeface="Symbol" pitchFamily="18" charset="2"/>
                      </a:rPr>
                      <m:t>𝑑𝑓</m:t>
                    </m:r>
                    <m:r>
                      <a:rPr lang="en-GB" altLang="en-US" sz="2400" i="1" dirty="0" smtClean="0">
                        <a:solidFill>
                          <a:schemeClr val="tx1"/>
                        </a:solidFill>
                        <a:latin typeface="Cambria Math"/>
                        <a:sym typeface="Symbol" pitchFamily="18" charset="2"/>
                      </a:rPr>
                      <m:t>=2</m:t>
                    </m:r>
                  </m:oMath>
                </a14:m>
                <a:endParaRPr lang="en-GB" altLang="en-US" sz="2400" dirty="0">
                  <a:solidFill>
                    <a:schemeClr val="tx1"/>
                  </a:solidFill>
                  <a:sym typeface="Symbol" pitchFamily="18" charset="2"/>
                </a:endParaRPr>
              </a:p>
              <a:p>
                <a:r>
                  <a:rPr lang="en-GB" altLang="en-US" sz="2400" dirty="0">
                    <a:solidFill>
                      <a:schemeClr val="tx1"/>
                    </a:solidFill>
                    <a:sym typeface="Symbol" pitchFamily="18" charset="2"/>
                  </a:rPr>
                  <a:t>The lookup table gives the critical value, </a:t>
                </a:r>
                <a14:m>
                  <m:oMath xmlns:m="http://schemas.openxmlformats.org/officeDocument/2006/math">
                    <m:sSubSup>
                      <m:sSubSupPr>
                        <m:ctrlPr>
                          <a:rPr lang="en-GB" sz="2400" b="1" i="1" smtClean="0">
                            <a:solidFill>
                              <a:srgbClr val="C00000"/>
                            </a:solidFill>
                            <a:latin typeface="Cambria Math" panose="02040503050406030204" pitchFamily="18" charset="0"/>
                          </a:rPr>
                        </m:ctrlPr>
                      </m:sSubSupPr>
                      <m:e>
                        <m:r>
                          <a:rPr lang="en-GB" sz="2400" b="1" i="1">
                            <a:solidFill>
                              <a:srgbClr val="C00000"/>
                            </a:solidFill>
                            <a:latin typeface="Cambria Math"/>
                          </a:rPr>
                          <m:t>𝝌</m:t>
                        </m:r>
                      </m:e>
                      <m:sub>
                        <m:r>
                          <a:rPr lang="en-GB" sz="2400" b="1" i="1">
                            <a:solidFill>
                              <a:srgbClr val="C00000"/>
                            </a:solidFill>
                            <a:latin typeface="Cambria Math"/>
                          </a:rPr>
                          <m:t>𝒄𝒓𝒊𝒕</m:t>
                        </m:r>
                      </m:sub>
                      <m:sup>
                        <m:r>
                          <a:rPr lang="en-GB" sz="2400" b="1" i="1">
                            <a:solidFill>
                              <a:srgbClr val="C00000"/>
                            </a:solidFill>
                            <a:latin typeface="Cambria Math"/>
                          </a:rPr>
                          <m:t>𝟐</m:t>
                        </m:r>
                      </m:sup>
                    </m:sSubSup>
                    <m:r>
                      <a:rPr lang="en-GB" sz="2400" b="1" i="1" smtClean="0">
                        <a:solidFill>
                          <a:srgbClr val="C00000"/>
                        </a:solidFill>
                        <a:latin typeface="Cambria Math"/>
                      </a:rPr>
                      <m:t>=</m:t>
                    </m:r>
                    <m:r>
                      <a:rPr lang="en-GB" sz="2400" b="1" i="1" smtClean="0">
                        <a:solidFill>
                          <a:srgbClr val="C00000"/>
                        </a:solidFill>
                        <a:latin typeface="Cambria Math"/>
                      </a:rPr>
                      <m:t>𝟓</m:t>
                    </m:r>
                    <m:r>
                      <a:rPr lang="en-GB" sz="2400" b="1" i="1" smtClean="0">
                        <a:solidFill>
                          <a:srgbClr val="C00000"/>
                        </a:solidFill>
                        <a:latin typeface="Cambria Math"/>
                      </a:rPr>
                      <m:t>.</m:t>
                    </m:r>
                    <m:r>
                      <a:rPr lang="en-GB" sz="2400" b="1" i="1" smtClean="0">
                        <a:solidFill>
                          <a:srgbClr val="C00000"/>
                        </a:solidFill>
                        <a:latin typeface="Cambria Math"/>
                      </a:rPr>
                      <m:t>𝟗𝟗𝟏</m:t>
                    </m:r>
                  </m:oMath>
                </a14:m>
                <a:endParaRPr lang="en-GB" altLang="en-US" sz="2400" dirty="0">
                  <a:solidFill>
                    <a:srgbClr val="C00000"/>
                  </a:solidFill>
                  <a:sym typeface="Symbol" pitchFamily="18" charset="2"/>
                </a:endParaRPr>
              </a:p>
            </p:txBody>
          </p:sp>
        </mc:Choice>
        <mc:Fallback xmlns="">
          <p:sp>
            <p:nvSpPr>
              <p:cNvPr id="3" name="Text Box 5">
                <a:extLst>
                  <a:ext uri="{FF2B5EF4-FFF2-40B4-BE49-F238E27FC236}">
                    <a16:creationId xmlns:a16="http://schemas.microsoft.com/office/drawing/2014/main" id="{74D078B7-CAE1-6804-1C5A-E971E20C86F9}"/>
                  </a:ext>
                </a:extLst>
              </p:cNvPr>
              <p:cNvSpPr txBox="1">
                <a:spLocks noRot="1" noChangeAspect="1" noMove="1" noResize="1" noEditPoints="1" noAdjustHandles="1" noChangeArrowheads="1" noChangeShapeType="1" noTextEdit="1"/>
              </p:cNvSpPr>
              <p:nvPr/>
            </p:nvSpPr>
            <p:spPr bwMode="auto">
              <a:xfrm>
                <a:off x="311888" y="3048000"/>
                <a:ext cx="8146312" cy="1227003"/>
              </a:xfrm>
              <a:prstGeom prst="rect">
                <a:avLst/>
              </a:prstGeom>
              <a:blipFill>
                <a:blip r:embed="rId3"/>
                <a:stretch>
                  <a:fillRect l="-1122" t="-3980" b="-1044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Text Box 5">
                <a:extLst>
                  <a:ext uri="{FF2B5EF4-FFF2-40B4-BE49-F238E27FC236}">
                    <a16:creationId xmlns:a16="http://schemas.microsoft.com/office/drawing/2014/main" id="{420AD93C-A94E-7263-72B6-F8BE20958757}"/>
                  </a:ext>
                </a:extLst>
              </p:cNvPr>
              <p:cNvSpPr txBox="1">
                <a:spLocks noChangeArrowheads="1"/>
              </p:cNvSpPr>
              <p:nvPr/>
            </p:nvSpPr>
            <p:spPr bwMode="auto">
              <a:xfrm>
                <a:off x="304800" y="4495800"/>
                <a:ext cx="8146312" cy="878126"/>
              </a:xfrm>
              <a:prstGeom prst="rect">
                <a:avLst/>
              </a:prstGeom>
              <a:noFill/>
              <a:ln>
                <a:noFill/>
              </a:ln>
              <a:effectLst/>
              <a:extLst>
                <a:ext uri="{909E8E84-426E-40DD-AFC4-6F175D3DCCD1}">
                  <a14:hiddenFill>
                    <a:solidFill>
                      <a:schemeClr val="accent1"/>
                    </a:solidFill>
                  </a14:hiddenFill>
                </a:ext>
                <a:ext uri="{91240B29-F687-4F45-9708-019B960494DF}">
                  <a14:hiddenLine w="12700">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r>
                  <a:rPr lang="en-GB" altLang="en-US" sz="2400" dirty="0">
                    <a:solidFill>
                      <a:schemeClr val="tx1"/>
                    </a:solidFill>
                    <a:sym typeface="Symbol" pitchFamily="18" charset="2"/>
                  </a:rPr>
                  <a:t>Step 4.</a:t>
                </a:r>
              </a:p>
              <a:p>
                <a:r>
                  <a:rPr lang="en-GB" altLang="en-US" sz="2400" dirty="0">
                    <a:solidFill>
                      <a:schemeClr val="tx1"/>
                    </a:solidFill>
                    <a:sym typeface="Symbol" pitchFamily="18" charset="2"/>
                  </a:rPr>
                  <a:t>	As</a:t>
                </a:r>
                <a14:m>
                  <m:oMath xmlns:m="http://schemas.openxmlformats.org/officeDocument/2006/math">
                    <m:r>
                      <a:rPr lang="en-GB" sz="2400" b="0" i="0" smtClean="0">
                        <a:latin typeface="Cambria Math"/>
                      </a:rPr>
                      <m:t> </m:t>
                    </m:r>
                    <m:sSubSup>
                      <m:sSubSupPr>
                        <m:ctrlPr>
                          <a:rPr lang="en-GB" sz="2400" b="1" i="1">
                            <a:latin typeface="Cambria Math" panose="02040503050406030204" pitchFamily="18" charset="0"/>
                          </a:rPr>
                        </m:ctrlPr>
                      </m:sSubSupPr>
                      <m:e>
                        <m:r>
                          <a:rPr lang="en-GB" sz="2400" b="1" i="1">
                            <a:latin typeface="Cambria Math"/>
                          </a:rPr>
                          <m:t>𝝌</m:t>
                        </m:r>
                      </m:e>
                      <m:sub/>
                      <m:sup>
                        <m:r>
                          <a:rPr lang="en-GB" sz="2400" b="1" i="1">
                            <a:latin typeface="Cambria Math"/>
                          </a:rPr>
                          <m:t>𝟐</m:t>
                        </m:r>
                      </m:sup>
                    </m:sSubSup>
                    <m:r>
                      <a:rPr lang="en-GB" sz="2400" b="1" i="1" smtClean="0">
                        <a:solidFill>
                          <a:srgbClr val="C00000"/>
                        </a:solidFill>
                        <a:latin typeface="Cambria Math"/>
                      </a:rPr>
                      <m:t>&gt;</m:t>
                    </m:r>
                    <m:sSubSup>
                      <m:sSubSupPr>
                        <m:ctrlPr>
                          <a:rPr lang="en-GB" sz="2400" b="1" i="1">
                            <a:solidFill>
                              <a:srgbClr val="C00000"/>
                            </a:solidFill>
                            <a:latin typeface="Cambria Math" panose="02040503050406030204" pitchFamily="18" charset="0"/>
                          </a:rPr>
                        </m:ctrlPr>
                      </m:sSubSupPr>
                      <m:e>
                        <m:r>
                          <a:rPr lang="en-GB" sz="2400" b="1" i="1">
                            <a:solidFill>
                              <a:srgbClr val="C00000"/>
                            </a:solidFill>
                            <a:latin typeface="Cambria Math"/>
                          </a:rPr>
                          <m:t>𝝌</m:t>
                        </m:r>
                      </m:e>
                      <m:sub>
                        <m:r>
                          <a:rPr lang="en-GB" sz="2400" b="1" i="1">
                            <a:solidFill>
                              <a:srgbClr val="C00000"/>
                            </a:solidFill>
                            <a:latin typeface="Cambria Math"/>
                          </a:rPr>
                          <m:t>𝒄𝒓𝒊𝒕</m:t>
                        </m:r>
                      </m:sub>
                      <m:sup>
                        <m:r>
                          <a:rPr lang="en-GB" sz="2400" b="1" i="1">
                            <a:solidFill>
                              <a:srgbClr val="C00000"/>
                            </a:solidFill>
                            <a:latin typeface="Cambria Math"/>
                          </a:rPr>
                          <m:t>𝟐</m:t>
                        </m:r>
                      </m:sup>
                    </m:sSubSup>
                  </m:oMath>
                </a14:m>
                <a:r>
                  <a:rPr lang="en-GB" altLang="en-US" sz="2400" dirty="0">
                    <a:solidFill>
                      <a:schemeClr val="tx1"/>
                    </a:solidFill>
                    <a:sym typeface="Symbol" pitchFamily="18" charset="2"/>
                  </a:rPr>
                  <a:t> this means </a:t>
                </a:r>
                <a:r>
                  <a:rPr lang="en-GB" altLang="en-US" sz="2400" b="1" dirty="0">
                    <a:solidFill>
                      <a:schemeClr val="tx1"/>
                    </a:solidFill>
                    <a:sym typeface="Symbol" pitchFamily="18" charset="2"/>
                  </a:rPr>
                  <a:t>p-value </a:t>
                </a:r>
                <a14:m>
                  <m:oMath xmlns:m="http://schemas.openxmlformats.org/officeDocument/2006/math">
                    <m:r>
                      <a:rPr lang="en-GB" altLang="en-US" sz="2400" b="1" i="1" dirty="0" smtClean="0">
                        <a:solidFill>
                          <a:schemeClr val="tx1"/>
                        </a:solidFill>
                        <a:latin typeface="Cambria Math"/>
                        <a:sym typeface="Symbol" pitchFamily="18" charset="2"/>
                      </a:rPr>
                      <m:t>&lt;</m:t>
                    </m:r>
                    <m:r>
                      <a:rPr lang="en-GB" altLang="en-US" sz="2400" b="1" i="1" dirty="0" smtClean="0">
                        <a:solidFill>
                          <a:schemeClr val="tx1"/>
                        </a:solidFill>
                        <a:latin typeface="Cambria Math"/>
                        <a:sym typeface="Symbol" pitchFamily="18" charset="2"/>
                      </a:rPr>
                      <m:t>𝟎</m:t>
                    </m:r>
                    <m:r>
                      <a:rPr lang="en-GB" altLang="en-US" sz="2400" b="1" i="1" dirty="0" smtClean="0">
                        <a:solidFill>
                          <a:schemeClr val="tx1"/>
                        </a:solidFill>
                        <a:latin typeface="Cambria Math"/>
                        <a:sym typeface="Symbol" pitchFamily="18" charset="2"/>
                      </a:rPr>
                      <m:t>.</m:t>
                    </m:r>
                    <m:r>
                      <a:rPr lang="en-GB" altLang="en-US" sz="2400" b="1" i="1" dirty="0" smtClean="0">
                        <a:solidFill>
                          <a:schemeClr val="tx1"/>
                        </a:solidFill>
                        <a:latin typeface="Cambria Math"/>
                        <a:sym typeface="Symbol" pitchFamily="18" charset="2"/>
                      </a:rPr>
                      <m:t>𝟎𝟓</m:t>
                    </m:r>
                  </m:oMath>
                </a14:m>
                <a:endParaRPr lang="en-GB" altLang="en-US" sz="2400" dirty="0">
                  <a:solidFill>
                    <a:schemeClr val="tx1"/>
                  </a:solidFill>
                  <a:sym typeface="Symbol" pitchFamily="18" charset="2"/>
                </a:endParaRPr>
              </a:p>
            </p:txBody>
          </p:sp>
        </mc:Choice>
        <mc:Fallback xmlns="">
          <p:sp>
            <p:nvSpPr>
              <p:cNvPr id="4" name="Text Box 5">
                <a:extLst>
                  <a:ext uri="{FF2B5EF4-FFF2-40B4-BE49-F238E27FC236}">
                    <a16:creationId xmlns:a16="http://schemas.microsoft.com/office/drawing/2014/main" id="{420AD93C-A94E-7263-72B6-F8BE20958757}"/>
                  </a:ext>
                </a:extLst>
              </p:cNvPr>
              <p:cNvSpPr txBox="1">
                <a:spLocks noRot="1" noChangeAspect="1" noMove="1" noResize="1" noEditPoints="1" noAdjustHandles="1" noChangeArrowheads="1" noChangeShapeType="1" noTextEdit="1"/>
              </p:cNvSpPr>
              <p:nvPr/>
            </p:nvSpPr>
            <p:spPr bwMode="auto">
              <a:xfrm>
                <a:off x="304800" y="4495800"/>
                <a:ext cx="8146312" cy="878126"/>
              </a:xfrm>
              <a:prstGeom prst="rect">
                <a:avLst/>
              </a:prstGeom>
              <a:blipFill>
                <a:blip r:embed="rId4"/>
                <a:stretch>
                  <a:fillRect l="-1123" t="-5556" b="-1388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noFill/>
                  </a:rPr>
                  <a:t> </a:t>
                </a:r>
              </a:p>
            </p:txBody>
          </p:sp>
        </mc:Fallback>
      </mc:AlternateContent>
      <p:sp>
        <p:nvSpPr>
          <p:cNvPr id="7" name="Text Box 5">
            <a:extLst>
              <a:ext uri="{FF2B5EF4-FFF2-40B4-BE49-F238E27FC236}">
                <a16:creationId xmlns:a16="http://schemas.microsoft.com/office/drawing/2014/main" id="{1A1050B8-7AEE-D98D-3029-005F240B2A5D}"/>
              </a:ext>
            </a:extLst>
          </p:cNvPr>
          <p:cNvSpPr txBox="1">
            <a:spLocks noChangeArrowheads="1"/>
          </p:cNvSpPr>
          <p:nvPr/>
        </p:nvSpPr>
        <p:spPr bwMode="auto">
          <a:xfrm>
            <a:off x="388088" y="5715000"/>
            <a:ext cx="814631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2400" dirty="0">
                <a:solidFill>
                  <a:srgbClr val="FF0000"/>
                </a:solidFill>
                <a:sym typeface="Symbol" pitchFamily="18" charset="2"/>
              </a:rPr>
              <a:t>Our result says the observations are significantly different so,</a:t>
            </a:r>
          </a:p>
          <a:p>
            <a:r>
              <a:rPr lang="en-GB" altLang="en-US" sz="2400" b="1" dirty="0">
                <a:solidFill>
                  <a:srgbClr val="FF0000"/>
                </a:solidFill>
                <a:sym typeface="Symbol" pitchFamily="18" charset="2"/>
              </a:rPr>
              <a:t>	The three products are NOT equally attractive</a:t>
            </a:r>
          </a:p>
        </p:txBody>
      </p:sp>
    </p:spTree>
    <p:extLst>
      <p:ext uri="{BB962C8B-B14F-4D97-AF65-F5344CB8AC3E}">
        <p14:creationId xmlns:p14="http://schemas.microsoft.com/office/powerpoint/2010/main" val="3056157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76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7621" grpId="0"/>
      <p:bldP spid="5" grpId="0"/>
      <p:bldP spid="3" grpId="0"/>
      <p:bldP spid="4" grpId="0"/>
      <p:bldP spid="7"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991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375" y="2443163"/>
            <a:ext cx="5400675" cy="3043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990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463" y="762000"/>
            <a:ext cx="5976937" cy="215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9911" name="Line 7"/>
          <p:cNvSpPr>
            <a:spLocks noChangeShapeType="1"/>
          </p:cNvSpPr>
          <p:nvPr/>
        </p:nvSpPr>
        <p:spPr bwMode="auto">
          <a:xfrm flipH="1">
            <a:off x="2993066" y="3604327"/>
            <a:ext cx="2736850" cy="100965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79912" name="Text Box 8"/>
          <p:cNvSpPr txBox="1">
            <a:spLocks noChangeArrowheads="1"/>
          </p:cNvSpPr>
          <p:nvPr/>
        </p:nvSpPr>
        <p:spPr bwMode="auto">
          <a:xfrm>
            <a:off x="5715000" y="3115270"/>
            <a:ext cx="27432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b="1" dirty="0"/>
              <a:t>This is the p-value</a:t>
            </a:r>
          </a:p>
          <a:p>
            <a:r>
              <a:rPr lang="en-GB" altLang="en-US" dirty="0"/>
              <a:t>i.e. probability of the result given the null hypothesis</a:t>
            </a:r>
            <a:endParaRPr lang="en-US" altLang="en-US" dirty="0"/>
          </a:p>
        </p:txBody>
      </p:sp>
      <p:sp>
        <p:nvSpPr>
          <p:cNvPr id="2" name="Title 1"/>
          <p:cNvSpPr>
            <a:spLocks noGrp="1"/>
          </p:cNvSpPr>
          <p:nvPr>
            <p:ph type="title"/>
          </p:nvPr>
        </p:nvSpPr>
        <p:spPr/>
        <p:txBody>
          <a:bodyPr/>
          <a:lstStyle/>
          <a:p>
            <a:r>
              <a:rPr lang="en-GB" altLang="en-US" dirty="0"/>
              <a:t>Question 5</a:t>
            </a:r>
            <a:endParaRPr lang="en-GB" dirty="0"/>
          </a:p>
        </p:txBody>
      </p:sp>
      <p:sp>
        <p:nvSpPr>
          <p:cNvPr id="3" name="Title 1">
            <a:extLst>
              <a:ext uri="{FF2B5EF4-FFF2-40B4-BE49-F238E27FC236}">
                <a16:creationId xmlns:a16="http://schemas.microsoft.com/office/drawing/2014/main" id="{DDA5B544-18A9-7E19-C1AB-89F34AA32E81}"/>
              </a:ext>
            </a:extLst>
          </p:cNvPr>
          <p:cNvSpPr txBox="1">
            <a:spLocks/>
          </p:cNvSpPr>
          <p:nvPr/>
        </p:nvSpPr>
        <p:spPr>
          <a:xfrm>
            <a:off x="304800" y="5638800"/>
            <a:ext cx="8077200" cy="1981200"/>
          </a:xfrm>
          <a:prstGeom prst="rect">
            <a:avLst/>
          </a:prstGeom>
        </p:spPr>
        <p:txBody>
          <a:bodyPr vert="horz" lIns="91440" tIns="45720" rIns="91440" bIns="45720" rtlCol="0" anchor="t">
            <a:noAutofit/>
          </a:bodyPr>
          <a:lstStyle>
            <a:lvl1pPr algn="l" defTabSz="914400" rtl="0" eaLnBrk="1" latinLnBrk="0" hangingPunct="1">
              <a:spcBef>
                <a:spcPct val="0"/>
              </a:spcBef>
              <a:buNone/>
              <a:defRPr sz="3600" b="1" kern="1200">
                <a:solidFill>
                  <a:schemeClr val="tx1"/>
                </a:solidFill>
                <a:latin typeface="+mj-lt"/>
                <a:ea typeface="+mj-ea"/>
                <a:cs typeface="+mj-cs"/>
              </a:defRPr>
            </a:lvl1pPr>
          </a:lstStyle>
          <a:p>
            <a:r>
              <a:rPr lang="en-GB" sz="2400" b="0" dirty="0"/>
              <a:t>1) What is the null hypothesis for this test?</a:t>
            </a:r>
          </a:p>
          <a:p>
            <a:r>
              <a:rPr lang="en-GB" sz="2400" b="0" dirty="0"/>
              <a:t>2) What is the result of the test?</a:t>
            </a:r>
          </a:p>
          <a:p>
            <a:endParaRPr lang="en-GB" sz="2000" b="0" dirty="0"/>
          </a:p>
        </p:txBody>
      </p:sp>
    </p:spTree>
    <p:extLst>
      <p:ext uri="{BB962C8B-B14F-4D97-AF65-F5344CB8AC3E}">
        <p14:creationId xmlns:p14="http://schemas.microsoft.com/office/powerpoint/2010/main" val="37627229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991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375" y="2443163"/>
            <a:ext cx="5400675" cy="3043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990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463" y="762000"/>
            <a:ext cx="5976937" cy="215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9911" name="Line 7"/>
          <p:cNvSpPr>
            <a:spLocks noChangeShapeType="1"/>
          </p:cNvSpPr>
          <p:nvPr/>
        </p:nvSpPr>
        <p:spPr bwMode="auto">
          <a:xfrm flipH="1">
            <a:off x="2993066" y="3604327"/>
            <a:ext cx="2736850" cy="100965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79912" name="Text Box 8"/>
          <p:cNvSpPr txBox="1">
            <a:spLocks noChangeArrowheads="1"/>
          </p:cNvSpPr>
          <p:nvPr/>
        </p:nvSpPr>
        <p:spPr bwMode="auto">
          <a:xfrm>
            <a:off x="5715000" y="3115270"/>
            <a:ext cx="27432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b="1" dirty="0"/>
              <a:t>This is the p-value</a:t>
            </a:r>
          </a:p>
          <a:p>
            <a:r>
              <a:rPr lang="en-GB" altLang="en-US" dirty="0"/>
              <a:t>i.e. probability of the result given the null hypothesis</a:t>
            </a:r>
            <a:endParaRPr lang="en-US" altLang="en-US" dirty="0"/>
          </a:p>
        </p:txBody>
      </p:sp>
      <p:sp>
        <p:nvSpPr>
          <p:cNvPr id="2" name="Title 1"/>
          <p:cNvSpPr>
            <a:spLocks noGrp="1"/>
          </p:cNvSpPr>
          <p:nvPr>
            <p:ph type="title"/>
          </p:nvPr>
        </p:nvSpPr>
        <p:spPr/>
        <p:txBody>
          <a:bodyPr/>
          <a:lstStyle/>
          <a:p>
            <a:r>
              <a:rPr lang="en-GB" altLang="en-US" dirty="0"/>
              <a:t>Question 5</a:t>
            </a:r>
            <a:endParaRPr lang="en-GB" dirty="0"/>
          </a:p>
        </p:txBody>
      </p:sp>
      <mc:AlternateContent xmlns:mc="http://schemas.openxmlformats.org/markup-compatibility/2006" xmlns:a14="http://schemas.microsoft.com/office/drawing/2010/main">
        <mc:Choice Requires="a14">
          <p:sp>
            <p:nvSpPr>
              <p:cNvPr id="3" name="Title 1">
                <a:extLst>
                  <a:ext uri="{FF2B5EF4-FFF2-40B4-BE49-F238E27FC236}">
                    <a16:creationId xmlns:a16="http://schemas.microsoft.com/office/drawing/2014/main" id="{DDA5B544-18A9-7E19-C1AB-89F34AA32E81}"/>
                  </a:ext>
                </a:extLst>
              </p:cNvPr>
              <p:cNvSpPr txBox="1">
                <a:spLocks/>
              </p:cNvSpPr>
              <p:nvPr/>
            </p:nvSpPr>
            <p:spPr>
              <a:xfrm>
                <a:off x="304800" y="5638800"/>
                <a:ext cx="8077200" cy="1981200"/>
              </a:xfrm>
              <a:prstGeom prst="rect">
                <a:avLst/>
              </a:prstGeom>
            </p:spPr>
            <p:txBody>
              <a:bodyPr vert="horz" lIns="91440" tIns="45720" rIns="91440" bIns="45720" rtlCol="0" anchor="t">
                <a:noAutofit/>
              </a:bodyPr>
              <a:lstStyle>
                <a:lvl1pPr algn="l" defTabSz="914400" rtl="0" eaLnBrk="1" latinLnBrk="0" hangingPunct="1">
                  <a:spcBef>
                    <a:spcPct val="0"/>
                  </a:spcBef>
                  <a:buNone/>
                  <a:defRPr sz="3600" b="1" kern="1200">
                    <a:solidFill>
                      <a:schemeClr val="tx1"/>
                    </a:solidFill>
                    <a:latin typeface="+mj-lt"/>
                    <a:ea typeface="+mj-ea"/>
                    <a:cs typeface="+mj-cs"/>
                  </a:defRPr>
                </a:lvl1pPr>
              </a:lstStyle>
              <a:p>
                <a:r>
                  <a:rPr lang="en-GB" sz="2400" b="0" dirty="0"/>
                  <a:t>1) </a:t>
                </a:r>
                <a14:m>
                  <m:oMath xmlns:m="http://schemas.openxmlformats.org/officeDocument/2006/math">
                    <m:sSub>
                      <m:sSubPr>
                        <m:ctrlPr>
                          <a:rPr lang="en-GB" sz="2400" b="1" i="1" dirty="0" smtClean="0">
                            <a:solidFill>
                              <a:schemeClr val="tx1"/>
                            </a:solidFill>
                            <a:latin typeface="Cambria Math" panose="02040503050406030204" pitchFamily="18" charset="0"/>
                          </a:rPr>
                        </m:ctrlPr>
                      </m:sSubPr>
                      <m:e>
                        <m:r>
                          <a:rPr lang="en-GB" sz="2400" b="1" i="1" dirty="0" smtClean="0">
                            <a:solidFill>
                              <a:schemeClr val="tx1"/>
                            </a:solidFill>
                            <a:latin typeface="Cambria Math" panose="02040503050406030204" pitchFamily="18" charset="0"/>
                          </a:rPr>
                          <m:t>𝑯</m:t>
                        </m:r>
                      </m:e>
                      <m:sub>
                        <m:r>
                          <a:rPr lang="en-GB" sz="2400" b="1" i="1" dirty="0" smtClean="0">
                            <a:solidFill>
                              <a:schemeClr val="tx1"/>
                            </a:solidFill>
                            <a:latin typeface="Cambria Math" panose="02040503050406030204" pitchFamily="18" charset="0"/>
                          </a:rPr>
                          <m:t>𝟎</m:t>
                        </m:r>
                      </m:sub>
                    </m:sSub>
                    <m:r>
                      <a:rPr lang="en-GB" sz="2400" b="1" i="1" dirty="0" smtClean="0">
                        <a:solidFill>
                          <a:schemeClr val="tx1"/>
                        </a:solidFill>
                        <a:latin typeface="Cambria Math" panose="02040503050406030204" pitchFamily="18" charset="0"/>
                      </a:rPr>
                      <m:t>:</m:t>
                    </m:r>
                  </m:oMath>
                </a14:m>
                <a:r>
                  <a:rPr lang="en-GB" altLang="en-US" sz="2400" b="1" dirty="0">
                    <a:solidFill>
                      <a:schemeClr val="tx1"/>
                    </a:solidFill>
                  </a:rPr>
                  <a:t> </a:t>
                </a:r>
                <a:r>
                  <a:rPr lang="en-GB" altLang="en-US" sz="2400" b="0" dirty="0"/>
                  <a:t>T</a:t>
                </a:r>
                <a:r>
                  <a:rPr lang="en-GB" sz="2400" b="0" dirty="0">
                    <a:solidFill>
                      <a:schemeClr val="tx1"/>
                    </a:solidFill>
                  </a:rPr>
                  <a:t>here </a:t>
                </a:r>
                <a:r>
                  <a:rPr lang="en-GB" sz="2400" b="0" dirty="0"/>
                  <a:t>is no significant difference in the distribution of people among three groups.</a:t>
                </a:r>
              </a:p>
              <a:p>
                <a:r>
                  <a:rPr lang="en-GB" sz="2400" b="0" dirty="0"/>
                  <a:t>2) Reject null hypothesis since p-value &lt; 0.05</a:t>
                </a:r>
              </a:p>
              <a:p>
                <a:endParaRPr lang="en-GB" sz="2000" b="0" dirty="0"/>
              </a:p>
            </p:txBody>
          </p:sp>
        </mc:Choice>
        <mc:Fallback xmlns="">
          <p:sp>
            <p:nvSpPr>
              <p:cNvPr id="3" name="Title 1">
                <a:extLst>
                  <a:ext uri="{FF2B5EF4-FFF2-40B4-BE49-F238E27FC236}">
                    <a16:creationId xmlns:a16="http://schemas.microsoft.com/office/drawing/2014/main" id="{DDA5B544-18A9-7E19-C1AB-89F34AA32E81}"/>
                  </a:ext>
                </a:extLst>
              </p:cNvPr>
              <p:cNvSpPr txBox="1">
                <a:spLocks noRot="1" noChangeAspect="1" noMove="1" noResize="1" noEditPoints="1" noAdjustHandles="1" noChangeArrowheads="1" noChangeShapeType="1" noTextEdit="1"/>
              </p:cNvSpPr>
              <p:nvPr/>
            </p:nvSpPr>
            <p:spPr>
              <a:xfrm>
                <a:off x="304800" y="5638800"/>
                <a:ext cx="8077200" cy="1981200"/>
              </a:xfrm>
              <a:prstGeom prst="rect">
                <a:avLst/>
              </a:prstGeom>
              <a:blipFill>
                <a:blip r:embed="rId5"/>
                <a:stretch>
                  <a:fillRect l="-1132" t="-2462"/>
                </a:stretch>
              </a:blipFill>
            </p:spPr>
            <p:txBody>
              <a:bodyPr/>
              <a:lstStyle/>
              <a:p>
                <a:r>
                  <a:rPr lang="en-GB">
                    <a:noFill/>
                  </a:rPr>
                  <a:t> </a:t>
                </a:r>
              </a:p>
            </p:txBody>
          </p:sp>
        </mc:Fallback>
      </mc:AlternateContent>
    </p:spTree>
    <p:extLst>
      <p:ext uri="{BB962C8B-B14F-4D97-AF65-F5344CB8AC3E}">
        <p14:creationId xmlns:p14="http://schemas.microsoft.com/office/powerpoint/2010/main" val="42654740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Hypothesis Testing</a:t>
            </a:r>
          </a:p>
        </p:txBody>
      </p:sp>
      <p:graphicFrame>
        <p:nvGraphicFramePr>
          <p:cNvPr id="7" name="Table 6"/>
          <p:cNvGraphicFramePr>
            <a:graphicFrameLocks noGrp="1"/>
          </p:cNvGraphicFramePr>
          <p:nvPr>
            <p:extLst>
              <p:ext uri="{D42A27DB-BD31-4B8C-83A1-F6EECF244321}">
                <p14:modId xmlns:p14="http://schemas.microsoft.com/office/powerpoint/2010/main" val="1227945760"/>
              </p:ext>
            </p:extLst>
          </p:nvPr>
        </p:nvGraphicFramePr>
        <p:xfrm>
          <a:off x="419912" y="1086256"/>
          <a:ext cx="7657287" cy="3684270"/>
        </p:xfrm>
        <a:graphic>
          <a:graphicData uri="http://schemas.openxmlformats.org/drawingml/2006/table">
            <a:tbl>
              <a:tblPr firstRow="1" firstCol="1">
                <a:tableStyleId>{8EC20E35-A176-4012-BC5E-935CFFF8708E}</a:tableStyleId>
              </a:tblPr>
              <a:tblGrid>
                <a:gridCol w="2552429">
                  <a:extLst>
                    <a:ext uri="{9D8B030D-6E8A-4147-A177-3AD203B41FA5}">
                      <a16:colId xmlns:a16="http://schemas.microsoft.com/office/drawing/2014/main" val="20000"/>
                    </a:ext>
                  </a:extLst>
                </a:gridCol>
                <a:gridCol w="2552429">
                  <a:extLst>
                    <a:ext uri="{9D8B030D-6E8A-4147-A177-3AD203B41FA5}">
                      <a16:colId xmlns:a16="http://schemas.microsoft.com/office/drawing/2014/main" val="20001"/>
                    </a:ext>
                  </a:extLst>
                </a:gridCol>
                <a:gridCol w="2552429">
                  <a:extLst>
                    <a:ext uri="{9D8B030D-6E8A-4147-A177-3AD203B41FA5}">
                      <a16:colId xmlns:a16="http://schemas.microsoft.com/office/drawing/2014/main" val="20002"/>
                    </a:ext>
                  </a:extLst>
                </a:gridCol>
              </a:tblGrid>
              <a:tr h="381000">
                <a:tc>
                  <a:txBody>
                    <a:bodyPr/>
                    <a:lstStyle/>
                    <a:p>
                      <a:pPr algn="ctr"/>
                      <a:endParaRPr lang="en-GB" dirty="0"/>
                    </a:p>
                  </a:txBody>
                  <a:tcPr anchor="ctr"/>
                </a:tc>
                <a:tc>
                  <a:txBody>
                    <a:bodyPr/>
                    <a:lstStyle/>
                    <a:p>
                      <a:pPr algn="ctr"/>
                      <a:r>
                        <a:rPr lang="en-GB" dirty="0"/>
                        <a:t>Categorical</a:t>
                      </a:r>
                    </a:p>
                  </a:txBody>
                  <a:tcPr anchor="ctr"/>
                </a:tc>
                <a:tc>
                  <a:txBody>
                    <a:bodyPr/>
                    <a:lstStyle/>
                    <a:p>
                      <a:pPr algn="ctr"/>
                      <a:r>
                        <a:rPr lang="en-GB" dirty="0"/>
                        <a:t>Scalar</a:t>
                      </a:r>
                    </a:p>
                  </a:txBody>
                  <a:tcPr anchor="ctr"/>
                </a:tc>
                <a:extLst>
                  <a:ext uri="{0D108BD9-81ED-4DB2-BD59-A6C34878D82A}">
                    <a16:rowId xmlns:a16="http://schemas.microsoft.com/office/drawing/2014/main" val="10000"/>
                  </a:ext>
                </a:extLst>
              </a:tr>
              <a:tr h="1047750">
                <a:tc>
                  <a:txBody>
                    <a:bodyPr/>
                    <a:lstStyle/>
                    <a:p>
                      <a:pPr algn="ctr"/>
                      <a:r>
                        <a:rPr lang="en-GB" b="0" dirty="0"/>
                        <a:t>Inference for </a:t>
                      </a:r>
                    </a:p>
                    <a:p>
                      <a:pPr algn="ctr"/>
                      <a:r>
                        <a:rPr lang="en-GB" sz="2400" dirty="0"/>
                        <a:t>One</a:t>
                      </a:r>
                      <a:r>
                        <a:rPr lang="en-GB" sz="2400" baseline="0" dirty="0"/>
                        <a:t> group</a:t>
                      </a:r>
                      <a:endParaRPr lang="en-GB" sz="2400" dirty="0"/>
                    </a:p>
                  </a:txBody>
                  <a:tcPr anchor="ctr"/>
                </a:tc>
                <a:tc>
                  <a:txBody>
                    <a:bodyPr/>
                    <a:lstStyle/>
                    <a:p>
                      <a:pPr algn="ctr"/>
                      <a:r>
                        <a:rPr lang="en-GB" sz="3200" b="1" dirty="0">
                          <a:solidFill>
                            <a:schemeClr val="bg1">
                              <a:lumMod val="85000"/>
                            </a:schemeClr>
                          </a:solidFill>
                        </a:rPr>
                        <a:t>Z Test</a:t>
                      </a:r>
                    </a:p>
                    <a:p>
                      <a:pPr algn="ctr"/>
                      <a:r>
                        <a:rPr lang="en-GB" sz="1800" dirty="0">
                          <a:solidFill>
                            <a:schemeClr val="bg1">
                              <a:lumMod val="85000"/>
                            </a:schemeClr>
                          </a:solidFill>
                        </a:rPr>
                        <a:t>for proportion</a:t>
                      </a:r>
                    </a:p>
                  </a:txBody>
                  <a:tcPr anchor="ctr"/>
                </a:tc>
                <a:tc>
                  <a:txBody>
                    <a:bodyPr/>
                    <a:lstStyle/>
                    <a:p>
                      <a:pPr algn="ctr"/>
                      <a:r>
                        <a:rPr lang="en-GB" sz="3200" b="1" dirty="0">
                          <a:solidFill>
                            <a:schemeClr val="bg1">
                              <a:lumMod val="85000"/>
                            </a:schemeClr>
                          </a:solidFill>
                        </a:rPr>
                        <a:t>t Test</a:t>
                      </a:r>
                    </a:p>
                    <a:p>
                      <a:pPr algn="ctr"/>
                      <a:r>
                        <a:rPr lang="en-GB" sz="1800" dirty="0">
                          <a:solidFill>
                            <a:schemeClr val="bg1">
                              <a:lumMod val="85000"/>
                            </a:schemeClr>
                          </a:solidFill>
                        </a:rPr>
                        <a:t>for mean</a:t>
                      </a:r>
                      <a:endParaRPr lang="en-GB" sz="2000" dirty="0">
                        <a:solidFill>
                          <a:schemeClr val="bg1">
                            <a:lumMod val="85000"/>
                          </a:schemeClr>
                        </a:solidFill>
                      </a:endParaRPr>
                    </a:p>
                  </a:txBody>
                  <a:tcPr anchor="ctr"/>
                </a:tc>
                <a:extLst>
                  <a:ext uri="{0D108BD9-81ED-4DB2-BD59-A6C34878D82A}">
                    <a16:rowId xmlns:a16="http://schemas.microsoft.com/office/drawing/2014/main" val="10001"/>
                  </a:ext>
                </a:extLst>
              </a:tr>
              <a:tr h="1127760">
                <a:tc>
                  <a:txBody>
                    <a:bodyPr/>
                    <a:lstStyle/>
                    <a:p>
                      <a:pPr algn="ctr"/>
                      <a:r>
                        <a:rPr lang="en-GB" b="0" dirty="0"/>
                        <a:t>Comparing</a:t>
                      </a:r>
                    </a:p>
                    <a:p>
                      <a:pPr algn="ctr"/>
                      <a:r>
                        <a:rPr lang="en-GB" sz="2400" dirty="0"/>
                        <a:t>Two groups</a:t>
                      </a:r>
                    </a:p>
                  </a:txBody>
                  <a:tcPr anchor="ctr"/>
                </a:tc>
                <a:tc>
                  <a:txBody>
                    <a:bodyPr/>
                    <a:lstStyle/>
                    <a:p>
                      <a:pPr algn="ctr"/>
                      <a:r>
                        <a:rPr lang="en-GB" sz="3200" b="1" dirty="0"/>
                        <a:t>Z Test</a:t>
                      </a:r>
                    </a:p>
                    <a:p>
                      <a:pPr algn="ctr"/>
                      <a:r>
                        <a:rPr lang="en-GB" sz="1800" dirty="0">
                          <a:solidFill>
                            <a:schemeClr val="tx1">
                              <a:lumMod val="65000"/>
                              <a:lumOff val="35000"/>
                            </a:schemeClr>
                          </a:solidFill>
                        </a:rPr>
                        <a:t>for difference in</a:t>
                      </a:r>
                    </a:p>
                    <a:p>
                      <a:pPr algn="ctr"/>
                      <a:r>
                        <a:rPr lang="en-GB" sz="1800" dirty="0">
                          <a:solidFill>
                            <a:schemeClr val="tx1">
                              <a:lumMod val="65000"/>
                              <a:lumOff val="35000"/>
                            </a:schemeClr>
                          </a:solidFill>
                        </a:rPr>
                        <a:t>two proportions</a:t>
                      </a:r>
                    </a:p>
                  </a:txBody>
                  <a:tcPr anchor="ctr">
                    <a:solidFill>
                      <a:schemeClr val="bg1">
                        <a:lumMod val="85000"/>
                      </a:schemeClr>
                    </a:solidFill>
                  </a:tcPr>
                </a:tc>
                <a:tc>
                  <a:txBody>
                    <a:bodyPr/>
                    <a:lstStyle/>
                    <a:p>
                      <a:pPr algn="ctr"/>
                      <a:r>
                        <a:rPr lang="en-GB" sz="3200" b="1" dirty="0">
                          <a:solidFill>
                            <a:schemeClr val="bg1">
                              <a:lumMod val="75000"/>
                            </a:schemeClr>
                          </a:solidFill>
                        </a:rPr>
                        <a:t>t Test</a:t>
                      </a:r>
                    </a:p>
                    <a:p>
                      <a:pPr algn="ctr"/>
                      <a:r>
                        <a:rPr lang="en-GB" sz="1800" dirty="0">
                          <a:solidFill>
                            <a:schemeClr val="bg1">
                              <a:lumMod val="75000"/>
                            </a:schemeClr>
                          </a:solidFill>
                        </a:rPr>
                        <a:t>for difference in</a:t>
                      </a:r>
                    </a:p>
                    <a:p>
                      <a:pPr algn="ctr"/>
                      <a:r>
                        <a:rPr lang="en-GB" sz="1800" dirty="0">
                          <a:solidFill>
                            <a:schemeClr val="bg1">
                              <a:lumMod val="75000"/>
                            </a:schemeClr>
                          </a:solidFill>
                        </a:rPr>
                        <a:t>two means</a:t>
                      </a:r>
                    </a:p>
                  </a:txBody>
                  <a:tcPr anchor="ctr">
                    <a:solidFill>
                      <a:schemeClr val="bg1">
                        <a:lumMod val="85000"/>
                      </a:schemeClr>
                    </a:solidFill>
                  </a:tcPr>
                </a:tc>
                <a:extLst>
                  <a:ext uri="{0D108BD9-81ED-4DB2-BD59-A6C34878D82A}">
                    <a16:rowId xmlns:a16="http://schemas.microsoft.com/office/drawing/2014/main" val="10002"/>
                  </a:ext>
                </a:extLst>
              </a:tr>
              <a:tr h="1127760">
                <a:tc>
                  <a:txBody>
                    <a:bodyPr/>
                    <a:lstStyle/>
                    <a:p>
                      <a:pPr algn="ctr"/>
                      <a:r>
                        <a:rPr lang="en-GB" b="0" dirty="0"/>
                        <a:t>Comparing</a:t>
                      </a:r>
                    </a:p>
                    <a:p>
                      <a:pPr algn="ctr"/>
                      <a:r>
                        <a:rPr lang="en-GB" sz="2400" b="1" dirty="0"/>
                        <a:t>Many groups</a:t>
                      </a:r>
                    </a:p>
                  </a:txBody>
                  <a:tcPr anchor="ctr"/>
                </a:tc>
                <a:tc>
                  <a:txBody>
                    <a:bodyPr/>
                    <a:lstStyle/>
                    <a:p>
                      <a:pPr algn="ctr"/>
                      <a:r>
                        <a:rPr lang="el-GR" sz="3200" b="1" dirty="0">
                          <a:solidFill>
                            <a:schemeClr val="bg1">
                              <a:lumMod val="85000"/>
                            </a:schemeClr>
                          </a:solidFill>
                        </a:rPr>
                        <a:t>χ</a:t>
                      </a:r>
                      <a:r>
                        <a:rPr lang="en-GB" sz="3200" b="1" baseline="30000" dirty="0">
                          <a:solidFill>
                            <a:schemeClr val="bg1">
                              <a:lumMod val="85000"/>
                            </a:schemeClr>
                          </a:solidFill>
                        </a:rPr>
                        <a:t>2</a:t>
                      </a:r>
                    </a:p>
                    <a:p>
                      <a:pPr algn="ctr"/>
                      <a:r>
                        <a:rPr lang="en-GB" sz="1800" dirty="0">
                          <a:solidFill>
                            <a:schemeClr val="bg1">
                              <a:lumMod val="85000"/>
                            </a:schemeClr>
                          </a:solidFill>
                        </a:rPr>
                        <a:t>for difference among several proportions</a:t>
                      </a:r>
                      <a:endParaRPr lang="en-GB" sz="1800" baseline="30000" dirty="0">
                        <a:solidFill>
                          <a:schemeClr val="bg1">
                            <a:lumMod val="85000"/>
                          </a:schemeClr>
                        </a:solidFill>
                      </a:endParaRPr>
                    </a:p>
                  </a:txBody>
                  <a:tcPr anchor="ctr"/>
                </a:tc>
                <a:tc>
                  <a:txBody>
                    <a:bodyPr/>
                    <a:lstStyle/>
                    <a:p>
                      <a:pPr algn="ctr"/>
                      <a:r>
                        <a:rPr lang="en-GB" sz="3200" b="1" dirty="0">
                          <a:solidFill>
                            <a:schemeClr val="bg1">
                              <a:lumMod val="85000"/>
                            </a:schemeClr>
                          </a:solidFill>
                        </a:rPr>
                        <a:t>ANOVA</a:t>
                      </a:r>
                    </a:p>
                    <a:p>
                      <a:pPr algn="ctr"/>
                      <a:r>
                        <a:rPr lang="en-GB" sz="1800" dirty="0">
                          <a:solidFill>
                            <a:schemeClr val="bg1">
                              <a:lumMod val="85000"/>
                            </a:schemeClr>
                          </a:solidFill>
                        </a:rPr>
                        <a:t>for comparing </a:t>
                      </a:r>
                    </a:p>
                    <a:p>
                      <a:pPr algn="ctr"/>
                      <a:r>
                        <a:rPr lang="en-GB" sz="1800" dirty="0">
                          <a:solidFill>
                            <a:schemeClr val="bg1">
                              <a:lumMod val="85000"/>
                            </a:schemeClr>
                          </a:solidFill>
                        </a:rPr>
                        <a:t>several means</a:t>
                      </a:r>
                    </a:p>
                  </a:txBody>
                  <a:tcPr anchor="ctr"/>
                </a:tc>
                <a:extLst>
                  <a:ext uri="{0D108BD9-81ED-4DB2-BD59-A6C34878D82A}">
                    <a16:rowId xmlns:a16="http://schemas.microsoft.com/office/drawing/2014/main" val="10003"/>
                  </a:ext>
                </a:extLst>
              </a:tr>
            </a:tbl>
          </a:graphicData>
        </a:graphic>
      </p:graphicFrame>
      <p:sp>
        <p:nvSpPr>
          <p:cNvPr id="8" name="TextBox 7"/>
          <p:cNvSpPr txBox="1"/>
          <p:nvPr/>
        </p:nvSpPr>
        <p:spPr>
          <a:xfrm>
            <a:off x="2957657" y="4724400"/>
            <a:ext cx="5119543" cy="338554"/>
          </a:xfrm>
          <a:prstGeom prst="rect">
            <a:avLst/>
          </a:prstGeom>
          <a:noFill/>
        </p:spPr>
        <p:txBody>
          <a:bodyPr wrap="none" rtlCol="0">
            <a:spAutoFit/>
          </a:bodyPr>
          <a:lstStyle/>
          <a:p>
            <a:r>
              <a:rPr lang="en-GB" sz="1600" dirty="0">
                <a:solidFill>
                  <a:schemeClr val="tx1">
                    <a:lumMod val="65000"/>
                    <a:lumOff val="35000"/>
                  </a:schemeClr>
                </a:solidFill>
              </a:rPr>
              <a:t>N.B.  This is only a subset of numerous statistical techniques</a:t>
            </a:r>
          </a:p>
        </p:txBody>
      </p:sp>
      <p:sp>
        <p:nvSpPr>
          <p:cNvPr id="9" name="Rounded Rectangle 8"/>
          <p:cNvSpPr/>
          <p:nvPr/>
        </p:nvSpPr>
        <p:spPr>
          <a:xfrm>
            <a:off x="3190672" y="1580744"/>
            <a:ext cx="2133600" cy="838200"/>
          </a:xfrm>
          <a:prstGeom prst="roundRect">
            <a:avLst/>
          </a:prstGeom>
          <a:noFill/>
          <a:ln w="762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ounded Rectangle 5"/>
          <p:cNvSpPr/>
          <p:nvPr/>
        </p:nvSpPr>
        <p:spPr>
          <a:xfrm>
            <a:off x="5715000" y="1580744"/>
            <a:ext cx="2133600" cy="838200"/>
          </a:xfrm>
          <a:prstGeom prst="roundRect">
            <a:avLst/>
          </a:prstGeom>
          <a:noFill/>
          <a:ln w="762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ounded Rectangle 10"/>
          <p:cNvSpPr/>
          <p:nvPr/>
        </p:nvSpPr>
        <p:spPr>
          <a:xfrm>
            <a:off x="5715000" y="2590800"/>
            <a:ext cx="2133600" cy="990600"/>
          </a:xfrm>
          <a:prstGeom prst="roundRect">
            <a:avLst/>
          </a:prstGeom>
          <a:noFill/>
          <a:ln w="762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ounded Rectangle 9"/>
          <p:cNvSpPr/>
          <p:nvPr/>
        </p:nvSpPr>
        <p:spPr>
          <a:xfrm>
            <a:off x="5715000" y="3733800"/>
            <a:ext cx="2133600" cy="990600"/>
          </a:xfrm>
          <a:prstGeom prst="roundRect">
            <a:avLst/>
          </a:prstGeom>
          <a:noFill/>
          <a:ln w="762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ounded Rectangle 11"/>
          <p:cNvSpPr/>
          <p:nvPr/>
        </p:nvSpPr>
        <p:spPr>
          <a:xfrm>
            <a:off x="3200400" y="3733800"/>
            <a:ext cx="2133600" cy="990600"/>
          </a:xfrm>
          <a:prstGeom prst="roundRect">
            <a:avLst/>
          </a:prstGeom>
          <a:noFill/>
          <a:ln w="762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13" name="Table 12"/>
          <p:cNvGraphicFramePr>
            <a:graphicFrameLocks noGrp="1"/>
          </p:cNvGraphicFramePr>
          <p:nvPr>
            <p:extLst>
              <p:ext uri="{D42A27DB-BD31-4B8C-83A1-F6EECF244321}">
                <p14:modId xmlns:p14="http://schemas.microsoft.com/office/powerpoint/2010/main" val="1711869066"/>
              </p:ext>
            </p:extLst>
          </p:nvPr>
        </p:nvGraphicFramePr>
        <p:xfrm>
          <a:off x="419912" y="1086256"/>
          <a:ext cx="7657287" cy="3684270"/>
        </p:xfrm>
        <a:graphic>
          <a:graphicData uri="http://schemas.openxmlformats.org/drawingml/2006/table">
            <a:tbl>
              <a:tblPr firstRow="1" firstCol="1">
                <a:tableStyleId>{8EC20E35-A176-4012-BC5E-935CFFF8708E}</a:tableStyleId>
              </a:tblPr>
              <a:tblGrid>
                <a:gridCol w="2552429">
                  <a:extLst>
                    <a:ext uri="{9D8B030D-6E8A-4147-A177-3AD203B41FA5}">
                      <a16:colId xmlns:a16="http://schemas.microsoft.com/office/drawing/2014/main" val="20000"/>
                    </a:ext>
                  </a:extLst>
                </a:gridCol>
                <a:gridCol w="2552429">
                  <a:extLst>
                    <a:ext uri="{9D8B030D-6E8A-4147-A177-3AD203B41FA5}">
                      <a16:colId xmlns:a16="http://schemas.microsoft.com/office/drawing/2014/main" val="20001"/>
                    </a:ext>
                  </a:extLst>
                </a:gridCol>
                <a:gridCol w="2552429">
                  <a:extLst>
                    <a:ext uri="{9D8B030D-6E8A-4147-A177-3AD203B41FA5}">
                      <a16:colId xmlns:a16="http://schemas.microsoft.com/office/drawing/2014/main" val="20002"/>
                    </a:ext>
                  </a:extLst>
                </a:gridCol>
              </a:tblGrid>
              <a:tr h="381000">
                <a:tc>
                  <a:txBody>
                    <a:bodyPr/>
                    <a:lstStyle/>
                    <a:p>
                      <a:pPr algn="ctr"/>
                      <a:endParaRPr lang="en-GB" dirty="0"/>
                    </a:p>
                  </a:txBody>
                  <a:tcPr anchor="ctr"/>
                </a:tc>
                <a:tc>
                  <a:txBody>
                    <a:bodyPr/>
                    <a:lstStyle/>
                    <a:p>
                      <a:pPr algn="ctr"/>
                      <a:r>
                        <a:rPr lang="en-GB" dirty="0"/>
                        <a:t>Categorical</a:t>
                      </a:r>
                    </a:p>
                  </a:txBody>
                  <a:tcPr anchor="ctr"/>
                </a:tc>
                <a:tc>
                  <a:txBody>
                    <a:bodyPr/>
                    <a:lstStyle/>
                    <a:p>
                      <a:pPr algn="ctr"/>
                      <a:r>
                        <a:rPr lang="en-GB" dirty="0"/>
                        <a:t>Scalar</a:t>
                      </a:r>
                    </a:p>
                  </a:txBody>
                  <a:tcPr anchor="ctr"/>
                </a:tc>
                <a:extLst>
                  <a:ext uri="{0D108BD9-81ED-4DB2-BD59-A6C34878D82A}">
                    <a16:rowId xmlns:a16="http://schemas.microsoft.com/office/drawing/2014/main" val="10000"/>
                  </a:ext>
                </a:extLst>
              </a:tr>
              <a:tr h="1047750">
                <a:tc>
                  <a:txBody>
                    <a:bodyPr/>
                    <a:lstStyle/>
                    <a:p>
                      <a:pPr algn="ctr"/>
                      <a:r>
                        <a:rPr lang="en-GB" b="0" dirty="0"/>
                        <a:t>Inference for </a:t>
                      </a:r>
                    </a:p>
                    <a:p>
                      <a:pPr algn="ctr"/>
                      <a:r>
                        <a:rPr lang="en-GB" sz="2400" dirty="0"/>
                        <a:t>One</a:t>
                      </a:r>
                      <a:r>
                        <a:rPr lang="en-GB" sz="2400" baseline="0" dirty="0"/>
                        <a:t> group</a:t>
                      </a:r>
                      <a:endParaRPr lang="en-GB" sz="2400" dirty="0"/>
                    </a:p>
                  </a:txBody>
                  <a:tcPr anchor="ctr"/>
                </a:tc>
                <a:tc>
                  <a:txBody>
                    <a:bodyPr/>
                    <a:lstStyle/>
                    <a:p>
                      <a:pPr algn="ctr"/>
                      <a:r>
                        <a:rPr lang="en-GB" sz="3200" b="1" dirty="0">
                          <a:solidFill>
                            <a:schemeClr val="bg1">
                              <a:lumMod val="85000"/>
                            </a:schemeClr>
                          </a:solidFill>
                        </a:rPr>
                        <a:t>Z Test</a:t>
                      </a:r>
                    </a:p>
                    <a:p>
                      <a:pPr algn="ctr"/>
                      <a:r>
                        <a:rPr lang="en-GB" sz="1800" dirty="0">
                          <a:solidFill>
                            <a:schemeClr val="bg1">
                              <a:lumMod val="85000"/>
                            </a:schemeClr>
                          </a:solidFill>
                        </a:rPr>
                        <a:t>for proportion</a:t>
                      </a:r>
                    </a:p>
                  </a:txBody>
                  <a:tcPr anchor="ctr"/>
                </a:tc>
                <a:tc>
                  <a:txBody>
                    <a:bodyPr/>
                    <a:lstStyle/>
                    <a:p>
                      <a:pPr algn="ctr"/>
                      <a:r>
                        <a:rPr lang="en-GB" sz="3200" b="1" dirty="0">
                          <a:solidFill>
                            <a:schemeClr val="bg1">
                              <a:lumMod val="85000"/>
                            </a:schemeClr>
                          </a:solidFill>
                        </a:rPr>
                        <a:t>t Test</a:t>
                      </a:r>
                    </a:p>
                    <a:p>
                      <a:pPr algn="ctr"/>
                      <a:r>
                        <a:rPr lang="en-GB" sz="1800" dirty="0">
                          <a:solidFill>
                            <a:schemeClr val="bg1">
                              <a:lumMod val="85000"/>
                            </a:schemeClr>
                          </a:solidFill>
                        </a:rPr>
                        <a:t>for mean</a:t>
                      </a:r>
                      <a:endParaRPr lang="en-GB" sz="2000" dirty="0">
                        <a:solidFill>
                          <a:schemeClr val="bg1">
                            <a:lumMod val="85000"/>
                          </a:schemeClr>
                        </a:solidFill>
                      </a:endParaRPr>
                    </a:p>
                  </a:txBody>
                  <a:tcPr anchor="ctr"/>
                </a:tc>
                <a:extLst>
                  <a:ext uri="{0D108BD9-81ED-4DB2-BD59-A6C34878D82A}">
                    <a16:rowId xmlns:a16="http://schemas.microsoft.com/office/drawing/2014/main" val="10001"/>
                  </a:ext>
                </a:extLst>
              </a:tr>
              <a:tr h="1127760">
                <a:tc>
                  <a:txBody>
                    <a:bodyPr/>
                    <a:lstStyle/>
                    <a:p>
                      <a:pPr algn="ctr"/>
                      <a:r>
                        <a:rPr lang="en-GB" b="0" dirty="0"/>
                        <a:t>Comparing</a:t>
                      </a:r>
                    </a:p>
                    <a:p>
                      <a:pPr algn="ctr"/>
                      <a:r>
                        <a:rPr lang="en-GB" sz="2400" dirty="0"/>
                        <a:t>Two groups</a:t>
                      </a:r>
                    </a:p>
                  </a:txBody>
                  <a:tcPr anchor="ctr"/>
                </a:tc>
                <a:tc>
                  <a:txBody>
                    <a:bodyPr/>
                    <a:lstStyle/>
                    <a:p>
                      <a:pPr algn="ctr"/>
                      <a:r>
                        <a:rPr lang="en-GB" sz="3200" b="1" dirty="0">
                          <a:solidFill>
                            <a:schemeClr val="bg1">
                              <a:lumMod val="75000"/>
                            </a:schemeClr>
                          </a:solidFill>
                        </a:rPr>
                        <a:t>Z Test</a:t>
                      </a:r>
                    </a:p>
                    <a:p>
                      <a:pPr algn="ctr"/>
                      <a:r>
                        <a:rPr lang="en-GB" sz="1800" dirty="0">
                          <a:solidFill>
                            <a:schemeClr val="bg1">
                              <a:lumMod val="75000"/>
                            </a:schemeClr>
                          </a:solidFill>
                        </a:rPr>
                        <a:t>for difference in</a:t>
                      </a:r>
                    </a:p>
                    <a:p>
                      <a:pPr algn="ctr"/>
                      <a:r>
                        <a:rPr lang="en-GB" sz="1800" dirty="0">
                          <a:solidFill>
                            <a:schemeClr val="bg1">
                              <a:lumMod val="75000"/>
                            </a:schemeClr>
                          </a:solidFill>
                        </a:rPr>
                        <a:t>two proportions</a:t>
                      </a:r>
                    </a:p>
                  </a:txBody>
                  <a:tcPr anchor="ctr">
                    <a:solidFill>
                      <a:schemeClr val="bg1">
                        <a:lumMod val="85000"/>
                      </a:schemeClr>
                    </a:solidFill>
                  </a:tcPr>
                </a:tc>
                <a:tc>
                  <a:txBody>
                    <a:bodyPr/>
                    <a:lstStyle/>
                    <a:p>
                      <a:pPr algn="ctr"/>
                      <a:r>
                        <a:rPr lang="en-GB" sz="3200" b="1" dirty="0">
                          <a:solidFill>
                            <a:schemeClr val="bg1">
                              <a:lumMod val="75000"/>
                            </a:schemeClr>
                          </a:solidFill>
                        </a:rPr>
                        <a:t>t Test</a:t>
                      </a:r>
                    </a:p>
                    <a:p>
                      <a:pPr algn="ctr"/>
                      <a:r>
                        <a:rPr lang="en-GB" sz="1800" dirty="0">
                          <a:solidFill>
                            <a:schemeClr val="bg1">
                              <a:lumMod val="75000"/>
                            </a:schemeClr>
                          </a:solidFill>
                        </a:rPr>
                        <a:t>for difference in</a:t>
                      </a:r>
                    </a:p>
                    <a:p>
                      <a:pPr algn="ctr"/>
                      <a:r>
                        <a:rPr lang="en-GB" sz="1800" dirty="0">
                          <a:solidFill>
                            <a:schemeClr val="bg1">
                              <a:lumMod val="75000"/>
                            </a:schemeClr>
                          </a:solidFill>
                        </a:rPr>
                        <a:t>two means</a:t>
                      </a:r>
                    </a:p>
                  </a:txBody>
                  <a:tcPr anchor="ctr">
                    <a:solidFill>
                      <a:schemeClr val="bg1">
                        <a:lumMod val="85000"/>
                      </a:schemeClr>
                    </a:solidFill>
                  </a:tcPr>
                </a:tc>
                <a:extLst>
                  <a:ext uri="{0D108BD9-81ED-4DB2-BD59-A6C34878D82A}">
                    <a16:rowId xmlns:a16="http://schemas.microsoft.com/office/drawing/2014/main" val="10002"/>
                  </a:ext>
                </a:extLst>
              </a:tr>
              <a:tr h="1127760">
                <a:tc>
                  <a:txBody>
                    <a:bodyPr/>
                    <a:lstStyle/>
                    <a:p>
                      <a:pPr algn="ctr"/>
                      <a:r>
                        <a:rPr lang="en-GB" b="0" dirty="0"/>
                        <a:t>Comparing</a:t>
                      </a:r>
                    </a:p>
                    <a:p>
                      <a:pPr algn="ctr"/>
                      <a:r>
                        <a:rPr lang="en-GB" sz="2400" b="1" dirty="0"/>
                        <a:t>Many groups</a:t>
                      </a:r>
                    </a:p>
                  </a:txBody>
                  <a:tcPr anchor="ctr"/>
                </a:tc>
                <a:tc>
                  <a:txBody>
                    <a:bodyPr/>
                    <a:lstStyle/>
                    <a:p>
                      <a:pPr algn="ctr"/>
                      <a:r>
                        <a:rPr lang="el-GR" sz="3200" b="1" dirty="0">
                          <a:solidFill>
                            <a:schemeClr val="bg1">
                              <a:lumMod val="85000"/>
                            </a:schemeClr>
                          </a:solidFill>
                        </a:rPr>
                        <a:t>χ</a:t>
                      </a:r>
                      <a:r>
                        <a:rPr lang="en-GB" sz="3200" b="1" baseline="30000" dirty="0">
                          <a:solidFill>
                            <a:schemeClr val="bg1">
                              <a:lumMod val="85000"/>
                            </a:schemeClr>
                          </a:solidFill>
                        </a:rPr>
                        <a:t>2</a:t>
                      </a:r>
                    </a:p>
                    <a:p>
                      <a:pPr algn="ctr"/>
                      <a:r>
                        <a:rPr lang="en-GB" sz="1800" dirty="0">
                          <a:solidFill>
                            <a:schemeClr val="bg1">
                              <a:lumMod val="85000"/>
                            </a:schemeClr>
                          </a:solidFill>
                        </a:rPr>
                        <a:t>for difference among several proportions</a:t>
                      </a:r>
                      <a:endParaRPr lang="en-GB" sz="1800" baseline="30000" dirty="0">
                        <a:solidFill>
                          <a:schemeClr val="bg1">
                            <a:lumMod val="85000"/>
                          </a:schemeClr>
                        </a:solidFill>
                      </a:endParaRPr>
                    </a:p>
                  </a:txBody>
                  <a:tcPr anchor="ctr"/>
                </a:tc>
                <a:tc>
                  <a:txBody>
                    <a:bodyPr/>
                    <a:lstStyle/>
                    <a:p>
                      <a:pPr algn="ctr"/>
                      <a:r>
                        <a:rPr lang="en-GB" sz="3200" b="1" dirty="0">
                          <a:solidFill>
                            <a:schemeClr val="bg1">
                              <a:lumMod val="85000"/>
                            </a:schemeClr>
                          </a:solidFill>
                        </a:rPr>
                        <a:t>ANOVA</a:t>
                      </a:r>
                    </a:p>
                    <a:p>
                      <a:pPr algn="ctr"/>
                      <a:r>
                        <a:rPr lang="en-GB" sz="1800" dirty="0">
                          <a:solidFill>
                            <a:schemeClr val="bg1">
                              <a:lumMod val="85000"/>
                            </a:schemeClr>
                          </a:solidFill>
                        </a:rPr>
                        <a:t>for comparing </a:t>
                      </a:r>
                    </a:p>
                    <a:p>
                      <a:pPr algn="ctr"/>
                      <a:r>
                        <a:rPr lang="en-GB" sz="1800" dirty="0">
                          <a:solidFill>
                            <a:schemeClr val="bg1">
                              <a:lumMod val="85000"/>
                            </a:schemeClr>
                          </a:solidFill>
                        </a:rPr>
                        <a:t>several means</a:t>
                      </a:r>
                    </a:p>
                  </a:txBody>
                  <a:tcPr anchor="ctr"/>
                </a:tc>
                <a:extLst>
                  <a:ext uri="{0D108BD9-81ED-4DB2-BD59-A6C34878D82A}">
                    <a16:rowId xmlns:a16="http://schemas.microsoft.com/office/drawing/2014/main" val="10003"/>
                  </a:ext>
                </a:extLst>
              </a:tr>
            </a:tbl>
          </a:graphicData>
        </a:graphic>
      </p:graphicFrame>
      <p:sp>
        <p:nvSpPr>
          <p:cNvPr id="14" name="TextBox 13"/>
          <p:cNvSpPr txBox="1"/>
          <p:nvPr/>
        </p:nvSpPr>
        <p:spPr>
          <a:xfrm>
            <a:off x="2957657" y="4724400"/>
            <a:ext cx="5119543" cy="338554"/>
          </a:xfrm>
          <a:prstGeom prst="rect">
            <a:avLst/>
          </a:prstGeom>
          <a:noFill/>
        </p:spPr>
        <p:txBody>
          <a:bodyPr wrap="none" rtlCol="0">
            <a:spAutoFit/>
          </a:bodyPr>
          <a:lstStyle/>
          <a:p>
            <a:r>
              <a:rPr lang="en-GB" sz="1600" dirty="0">
                <a:solidFill>
                  <a:schemeClr val="tx1">
                    <a:lumMod val="65000"/>
                    <a:lumOff val="35000"/>
                  </a:schemeClr>
                </a:solidFill>
              </a:rPr>
              <a:t>N.B.  This is only a subset of numerous statistical techniques</a:t>
            </a:r>
          </a:p>
        </p:txBody>
      </p:sp>
      <p:sp>
        <p:nvSpPr>
          <p:cNvPr id="15" name="Rounded Rectangle 14"/>
          <p:cNvSpPr/>
          <p:nvPr/>
        </p:nvSpPr>
        <p:spPr>
          <a:xfrm>
            <a:off x="3190672" y="1580744"/>
            <a:ext cx="2133600" cy="838200"/>
          </a:xfrm>
          <a:prstGeom prst="roundRect">
            <a:avLst/>
          </a:prstGeom>
          <a:noFill/>
          <a:ln w="762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ounded Rectangle 15"/>
          <p:cNvSpPr/>
          <p:nvPr/>
        </p:nvSpPr>
        <p:spPr>
          <a:xfrm>
            <a:off x="5715000" y="1580744"/>
            <a:ext cx="2133600" cy="838200"/>
          </a:xfrm>
          <a:prstGeom prst="roundRect">
            <a:avLst/>
          </a:prstGeom>
          <a:noFill/>
          <a:ln w="762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ounded Rectangle 16"/>
          <p:cNvSpPr/>
          <p:nvPr/>
        </p:nvSpPr>
        <p:spPr>
          <a:xfrm>
            <a:off x="5715000" y="2590800"/>
            <a:ext cx="2133600" cy="990600"/>
          </a:xfrm>
          <a:prstGeom prst="roundRect">
            <a:avLst/>
          </a:prstGeom>
          <a:noFill/>
          <a:ln w="762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ounded Rectangle 17"/>
          <p:cNvSpPr/>
          <p:nvPr/>
        </p:nvSpPr>
        <p:spPr>
          <a:xfrm>
            <a:off x="5715000" y="3733800"/>
            <a:ext cx="2133600" cy="990600"/>
          </a:xfrm>
          <a:prstGeom prst="roundRect">
            <a:avLst/>
          </a:prstGeom>
          <a:noFill/>
          <a:ln w="762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ounded Rectangle 18"/>
          <p:cNvSpPr/>
          <p:nvPr/>
        </p:nvSpPr>
        <p:spPr>
          <a:xfrm>
            <a:off x="3200400" y="2590800"/>
            <a:ext cx="2133600" cy="2133600"/>
          </a:xfrm>
          <a:prstGeom prst="roundRect">
            <a:avLst/>
          </a:prstGeom>
          <a:noFill/>
          <a:ln w="762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p:cNvSpPr/>
          <p:nvPr/>
        </p:nvSpPr>
        <p:spPr>
          <a:xfrm>
            <a:off x="3993110" y="3048000"/>
            <a:ext cx="731290" cy="923330"/>
          </a:xfrm>
          <a:prstGeom prst="rect">
            <a:avLst/>
          </a:prstGeom>
        </p:spPr>
        <p:txBody>
          <a:bodyPr wrap="none">
            <a:spAutoFit/>
          </a:bodyPr>
          <a:lstStyle/>
          <a:p>
            <a:pPr algn="ctr"/>
            <a:r>
              <a:rPr lang="el-GR" sz="5400" b="1" dirty="0"/>
              <a:t>χ</a:t>
            </a:r>
            <a:r>
              <a:rPr lang="en-GB" sz="5400" b="1" baseline="30000" dirty="0"/>
              <a:t>2</a:t>
            </a:r>
          </a:p>
        </p:txBody>
      </p:sp>
    </p:spTree>
    <p:extLst>
      <p:ext uri="{BB962C8B-B14F-4D97-AF65-F5344CB8AC3E}">
        <p14:creationId xmlns:p14="http://schemas.microsoft.com/office/powerpoint/2010/main" val="2597188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P spid="16" grpId="0" animBg="1"/>
      <p:bldP spid="17" grpId="0" animBg="1"/>
      <p:bldP spid="18" grpId="0" animBg="1"/>
      <p:bldP spid="19" grpId="0" animBg="1"/>
      <p:bldP spid="20"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Reading…</a:t>
            </a:r>
          </a:p>
        </p:txBody>
      </p:sp>
      <p:sp>
        <p:nvSpPr>
          <p:cNvPr id="3" name="Content Placeholder 2"/>
          <p:cNvSpPr>
            <a:spLocks noGrp="1"/>
          </p:cNvSpPr>
          <p:nvPr>
            <p:ph idx="1"/>
          </p:nvPr>
        </p:nvSpPr>
        <p:spPr>
          <a:xfrm>
            <a:off x="457200" y="1112837"/>
            <a:ext cx="8229600" cy="4525963"/>
          </a:xfrm>
        </p:spPr>
        <p:txBody>
          <a:bodyPr>
            <a:normAutofit/>
          </a:bodyPr>
          <a:lstStyle/>
          <a:p>
            <a:pPr marL="0" indent="0">
              <a:buNone/>
            </a:pPr>
            <a:r>
              <a:rPr lang="en-GB" dirty="0"/>
              <a:t>Berenson et al. (2015)</a:t>
            </a:r>
          </a:p>
          <a:p>
            <a:pPr marL="0" indent="0">
              <a:buNone/>
            </a:pPr>
            <a:r>
              <a:rPr lang="en-GB" sz="1800" dirty="0"/>
              <a:t>Chapter 10 Section 10.1 </a:t>
            </a:r>
          </a:p>
          <a:p>
            <a:pPr marL="0" indent="0">
              <a:buNone/>
            </a:pPr>
            <a:r>
              <a:rPr lang="en-GB" sz="1800" dirty="0"/>
              <a:t>	Comparing the Means of Two Independent Populations</a:t>
            </a:r>
            <a:br>
              <a:rPr lang="en-GB" sz="1800" dirty="0"/>
            </a:br>
            <a:r>
              <a:rPr lang="en-GB" sz="1800" dirty="0"/>
              <a:t>Chapter 11, Section 11.1 </a:t>
            </a:r>
          </a:p>
          <a:p>
            <a:pPr marL="0" indent="0">
              <a:buNone/>
            </a:pPr>
            <a:r>
              <a:rPr lang="en-GB" sz="1800" dirty="0"/>
              <a:t>	The Completely Randomized Design: One-Way Analysis of Variance</a:t>
            </a:r>
          </a:p>
          <a:p>
            <a:pPr marL="0" indent="0">
              <a:buNone/>
            </a:pPr>
            <a:endParaRPr lang="en-GB" sz="1800" dirty="0"/>
          </a:p>
        </p:txBody>
      </p:sp>
    </p:spTree>
    <p:extLst>
      <p:ext uri="{BB962C8B-B14F-4D97-AF65-F5344CB8AC3E}">
        <p14:creationId xmlns:p14="http://schemas.microsoft.com/office/powerpoint/2010/main" val="233568920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8" name="Straight Arrow Connector 127"/>
          <p:cNvCxnSpPr>
            <a:stCxn id="124" idx="1"/>
            <a:endCxn id="108" idx="2"/>
          </p:cNvCxnSpPr>
          <p:nvPr/>
        </p:nvCxnSpPr>
        <p:spPr>
          <a:xfrm>
            <a:off x="533400" y="2688209"/>
            <a:ext cx="5890947" cy="3172"/>
          </a:xfrm>
          <a:prstGeom prst="straightConnector1">
            <a:avLst/>
          </a:prstGeom>
          <a:ln w="17780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3" name="Straight Arrow Connector 142"/>
          <p:cNvCxnSpPr>
            <a:stCxn id="124" idx="1"/>
            <a:endCxn id="108" idx="2"/>
          </p:cNvCxnSpPr>
          <p:nvPr/>
        </p:nvCxnSpPr>
        <p:spPr>
          <a:xfrm>
            <a:off x="533400" y="2688209"/>
            <a:ext cx="5890947" cy="3172"/>
          </a:xfrm>
          <a:prstGeom prst="straightConnector1">
            <a:avLst/>
          </a:prstGeom>
          <a:ln w="9525"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99" name="Rounded Rectangle 64"/>
          <p:cNvSpPr/>
          <p:nvPr/>
        </p:nvSpPr>
        <p:spPr>
          <a:xfrm>
            <a:off x="1066800" y="1295400"/>
            <a:ext cx="7010400" cy="4676775"/>
          </a:xfrm>
          <a:prstGeom prst="roundRect">
            <a:avLst/>
          </a:prstGeom>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124" name="Pentagon 41"/>
          <p:cNvSpPr/>
          <p:nvPr/>
        </p:nvSpPr>
        <p:spPr>
          <a:xfrm>
            <a:off x="533400" y="2557018"/>
            <a:ext cx="122819" cy="262382"/>
          </a:xfrm>
          <a:prstGeom prst="rect">
            <a:avLst/>
          </a:prstGeom>
          <a:solidFill>
            <a:schemeClr val="tx1">
              <a:lumMod val="50000"/>
              <a:lumOff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sz="2000" b="1" dirty="0"/>
          </a:p>
        </p:txBody>
      </p:sp>
      <p:cxnSp>
        <p:nvCxnSpPr>
          <p:cNvPr id="135" name="Elbow Connector 73"/>
          <p:cNvCxnSpPr>
            <a:stCxn id="122" idx="0"/>
            <a:endCxn id="110" idx="6"/>
          </p:cNvCxnSpPr>
          <p:nvPr/>
        </p:nvCxnSpPr>
        <p:spPr>
          <a:xfrm rot="16200000" flipV="1">
            <a:off x="4670377" y="2285111"/>
            <a:ext cx="716160" cy="5438768"/>
          </a:xfrm>
          <a:prstGeom prst="bentConnector2">
            <a:avLst/>
          </a:prstGeom>
          <a:ln w="177800"/>
        </p:spPr>
        <p:style>
          <a:lnRef idx="1">
            <a:schemeClr val="dk1"/>
          </a:lnRef>
          <a:fillRef idx="0">
            <a:schemeClr val="dk1"/>
          </a:fillRef>
          <a:effectRef idx="0">
            <a:schemeClr val="dk1"/>
          </a:effectRef>
          <a:fontRef idx="minor">
            <a:schemeClr val="tx1"/>
          </a:fontRef>
        </p:style>
      </p:cxnSp>
      <p:sp>
        <p:nvSpPr>
          <p:cNvPr id="101" name="Rectangle 100"/>
          <p:cNvSpPr/>
          <p:nvPr/>
        </p:nvSpPr>
        <p:spPr>
          <a:xfrm>
            <a:off x="2651263" y="2025045"/>
            <a:ext cx="1001621" cy="307777"/>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Probability</a:t>
            </a:r>
            <a:endParaRPr lang="en-GB" sz="1400" dirty="0"/>
          </a:p>
        </p:txBody>
      </p:sp>
      <p:sp>
        <p:nvSpPr>
          <p:cNvPr id="103" name="Rectangle 102"/>
          <p:cNvSpPr/>
          <p:nvPr/>
        </p:nvSpPr>
        <p:spPr>
          <a:xfrm>
            <a:off x="1474886" y="1799422"/>
            <a:ext cx="1020664"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Descriptive</a:t>
            </a:r>
          </a:p>
          <a:p>
            <a:pPr algn="ctr"/>
            <a:r>
              <a:rPr lang="en-GB" sz="1400" b="1" dirty="0"/>
              <a:t>Statistics</a:t>
            </a:r>
            <a:endParaRPr lang="en-GB" sz="1400" dirty="0"/>
          </a:p>
        </p:txBody>
      </p:sp>
      <p:sp>
        <p:nvSpPr>
          <p:cNvPr id="105" name="Rectangle 104"/>
          <p:cNvSpPr/>
          <p:nvPr/>
        </p:nvSpPr>
        <p:spPr>
          <a:xfrm>
            <a:off x="3808597" y="1799422"/>
            <a:ext cx="1149289"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Probability</a:t>
            </a:r>
          </a:p>
          <a:p>
            <a:pPr algn="ctr"/>
            <a:r>
              <a:rPr lang="en-GB" sz="1400" b="1" dirty="0"/>
              <a:t>Distributions</a:t>
            </a:r>
            <a:endParaRPr lang="en-GB" sz="1400" dirty="0"/>
          </a:p>
        </p:txBody>
      </p:sp>
      <p:sp>
        <p:nvSpPr>
          <p:cNvPr id="107" name="Rectangle 106"/>
          <p:cNvSpPr/>
          <p:nvPr/>
        </p:nvSpPr>
        <p:spPr>
          <a:xfrm>
            <a:off x="6275649" y="1799422"/>
            <a:ext cx="1013418"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Hypothesis</a:t>
            </a:r>
          </a:p>
          <a:p>
            <a:pPr algn="ctr"/>
            <a:r>
              <a:rPr lang="en-GB" sz="1400" b="1" dirty="0"/>
              <a:t>Testing 1</a:t>
            </a:r>
            <a:endParaRPr lang="en-GB" sz="1400" dirty="0"/>
          </a:p>
        </p:txBody>
      </p:sp>
      <p:sp>
        <p:nvSpPr>
          <p:cNvPr id="109" name="Rectangle 108"/>
          <p:cNvSpPr/>
          <p:nvPr/>
        </p:nvSpPr>
        <p:spPr>
          <a:xfrm>
            <a:off x="2594245" y="5039380"/>
            <a:ext cx="1113318"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Testing</a:t>
            </a:r>
          </a:p>
          <a:p>
            <a:pPr algn="ctr"/>
            <a:r>
              <a:rPr lang="en-GB" sz="1400" b="1" dirty="0"/>
              <a:t>Relationship</a:t>
            </a:r>
            <a:endParaRPr lang="en-GB" sz="1400" dirty="0"/>
          </a:p>
        </p:txBody>
      </p:sp>
      <p:sp>
        <p:nvSpPr>
          <p:cNvPr id="111" name="Rectangle 110"/>
          <p:cNvSpPr/>
          <p:nvPr/>
        </p:nvSpPr>
        <p:spPr>
          <a:xfrm>
            <a:off x="3886201" y="5054798"/>
            <a:ext cx="991169" cy="307777"/>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Regression</a:t>
            </a:r>
            <a:endParaRPr lang="en-GB" sz="1400" dirty="0"/>
          </a:p>
        </p:txBody>
      </p:sp>
      <p:sp>
        <p:nvSpPr>
          <p:cNvPr id="113" name="Rectangle 112"/>
          <p:cNvSpPr/>
          <p:nvPr/>
        </p:nvSpPr>
        <p:spPr>
          <a:xfrm>
            <a:off x="6334125" y="5085080"/>
            <a:ext cx="904875" cy="523220"/>
          </a:xfrm>
          <a:prstGeom prst="rect">
            <a:avLst/>
          </a:prstGeom>
          <a:effectLst>
            <a:outerShdw blurRad="50800" dist="38100" dir="18900000" algn="bl" rotWithShape="0">
              <a:prstClr val="black">
                <a:alpha val="40000"/>
              </a:prstClr>
            </a:outerShdw>
          </a:effectLst>
        </p:spPr>
        <p:txBody>
          <a:bodyPr wrap="square">
            <a:spAutoFit/>
          </a:bodyPr>
          <a:lstStyle/>
          <a:p>
            <a:pPr algn="ctr"/>
            <a:r>
              <a:rPr lang="en-GB" sz="1400" b="1" dirty="0"/>
              <a:t>Factor</a:t>
            </a:r>
          </a:p>
          <a:p>
            <a:pPr algn="ctr"/>
            <a:r>
              <a:rPr lang="en-GB" sz="1400" b="1" dirty="0"/>
              <a:t>Analysis</a:t>
            </a:r>
          </a:p>
        </p:txBody>
      </p:sp>
      <p:sp>
        <p:nvSpPr>
          <p:cNvPr id="115" name="Rectangle 114"/>
          <p:cNvSpPr/>
          <p:nvPr/>
        </p:nvSpPr>
        <p:spPr>
          <a:xfrm>
            <a:off x="5225248" y="1981200"/>
            <a:ext cx="870752" cy="307777"/>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Sampling</a:t>
            </a:r>
          </a:p>
        </p:txBody>
      </p:sp>
      <p:sp>
        <p:nvSpPr>
          <p:cNvPr id="122" name="Oval 121"/>
          <p:cNvSpPr/>
          <p:nvPr/>
        </p:nvSpPr>
        <p:spPr>
          <a:xfrm>
            <a:off x="7385891" y="5362575"/>
            <a:ext cx="723900" cy="69532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100" dirty="0"/>
              <a:t>Week</a:t>
            </a:r>
          </a:p>
          <a:p>
            <a:pPr algn="ctr"/>
            <a:r>
              <a:rPr lang="en-GB" sz="2000" b="1" dirty="0"/>
              <a:t>11</a:t>
            </a:r>
          </a:p>
        </p:txBody>
      </p:sp>
      <p:sp>
        <p:nvSpPr>
          <p:cNvPr id="123" name="Rectangle 122"/>
          <p:cNvSpPr/>
          <p:nvPr/>
        </p:nvSpPr>
        <p:spPr>
          <a:xfrm>
            <a:off x="7342281" y="6106180"/>
            <a:ext cx="811119" cy="307777"/>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Revision</a:t>
            </a:r>
          </a:p>
        </p:txBody>
      </p:sp>
      <p:sp>
        <p:nvSpPr>
          <p:cNvPr id="126" name="Rectangle 125"/>
          <p:cNvSpPr/>
          <p:nvPr/>
        </p:nvSpPr>
        <p:spPr>
          <a:xfrm>
            <a:off x="5134855" y="5090072"/>
            <a:ext cx="1045478"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Conditional</a:t>
            </a:r>
          </a:p>
          <a:p>
            <a:pPr algn="ctr"/>
            <a:r>
              <a:rPr lang="en-GB" sz="1400" b="1" dirty="0"/>
              <a:t>Probability</a:t>
            </a:r>
            <a:endParaRPr lang="en-GB" sz="1400" dirty="0"/>
          </a:p>
        </p:txBody>
      </p:sp>
      <p:cxnSp>
        <p:nvCxnSpPr>
          <p:cNvPr id="127" name="Elbow Connector 46"/>
          <p:cNvCxnSpPr>
            <a:stCxn id="110" idx="2"/>
            <a:endCxn id="108" idx="6"/>
          </p:cNvCxnSpPr>
          <p:nvPr/>
        </p:nvCxnSpPr>
        <p:spPr>
          <a:xfrm rot="10800000" flipH="1">
            <a:off x="1585173" y="2691381"/>
            <a:ext cx="5563074" cy="1955034"/>
          </a:xfrm>
          <a:prstGeom prst="bentConnector5">
            <a:avLst>
              <a:gd name="adj1" fmla="val -4109"/>
              <a:gd name="adj2" fmla="val 50000"/>
              <a:gd name="adj3" fmla="val 104109"/>
            </a:avLst>
          </a:prstGeom>
          <a:ln w="177800"/>
        </p:spPr>
        <p:style>
          <a:lnRef idx="1">
            <a:schemeClr val="dk1"/>
          </a:lnRef>
          <a:fillRef idx="0">
            <a:schemeClr val="dk1"/>
          </a:fillRef>
          <a:effectRef idx="0">
            <a:schemeClr val="dk1"/>
          </a:effectRef>
          <a:fontRef idx="minor">
            <a:schemeClr val="tx1"/>
          </a:fontRef>
        </p:style>
      </p:cxnSp>
      <p:sp>
        <p:nvSpPr>
          <p:cNvPr id="136" name="Title 1"/>
          <p:cNvSpPr>
            <a:spLocks noGrp="1"/>
          </p:cNvSpPr>
          <p:nvPr>
            <p:ph type="title"/>
          </p:nvPr>
        </p:nvSpPr>
        <p:spPr>
          <a:xfrm>
            <a:off x="304800" y="76200"/>
            <a:ext cx="8229600" cy="869277"/>
          </a:xfrm>
        </p:spPr>
        <p:txBody>
          <a:bodyPr/>
          <a:lstStyle/>
          <a:p>
            <a:r>
              <a:rPr lang="en-GB" dirty="0"/>
              <a:t>Module Overview</a:t>
            </a:r>
          </a:p>
        </p:txBody>
      </p:sp>
      <p:sp>
        <p:nvSpPr>
          <p:cNvPr id="137" name="Rectangle 136"/>
          <p:cNvSpPr/>
          <p:nvPr/>
        </p:nvSpPr>
        <p:spPr>
          <a:xfrm>
            <a:off x="1447800" y="5029200"/>
            <a:ext cx="1013419"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Hypothesis</a:t>
            </a:r>
          </a:p>
          <a:p>
            <a:pPr algn="ctr"/>
            <a:r>
              <a:rPr lang="en-GB" sz="1400" b="1" dirty="0"/>
              <a:t>Testing 2</a:t>
            </a:r>
          </a:p>
        </p:txBody>
      </p:sp>
      <p:cxnSp>
        <p:nvCxnSpPr>
          <p:cNvPr id="142" name="Elbow Connector 73"/>
          <p:cNvCxnSpPr>
            <a:stCxn id="122" idx="0"/>
            <a:endCxn id="110" idx="6"/>
          </p:cNvCxnSpPr>
          <p:nvPr/>
        </p:nvCxnSpPr>
        <p:spPr>
          <a:xfrm rot="16200000" flipV="1">
            <a:off x="4670377" y="2285111"/>
            <a:ext cx="716160" cy="5438768"/>
          </a:xfrm>
          <a:prstGeom prst="bentConnector2">
            <a:avLst/>
          </a:prstGeom>
          <a:ln w="9525"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4" name="Elbow Connector 46"/>
          <p:cNvCxnSpPr>
            <a:stCxn id="110" idx="2"/>
            <a:endCxn id="108" idx="6"/>
          </p:cNvCxnSpPr>
          <p:nvPr/>
        </p:nvCxnSpPr>
        <p:spPr>
          <a:xfrm rot="10800000" flipH="1">
            <a:off x="1585173" y="2691381"/>
            <a:ext cx="5563074" cy="1955034"/>
          </a:xfrm>
          <a:prstGeom prst="bentConnector5">
            <a:avLst>
              <a:gd name="adj1" fmla="val -4109"/>
              <a:gd name="adj2" fmla="val 50000"/>
              <a:gd name="adj3" fmla="val 104109"/>
            </a:avLst>
          </a:prstGeom>
          <a:ln w="9525"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10" name="Oval 109"/>
          <p:cNvSpPr/>
          <p:nvPr/>
        </p:nvSpPr>
        <p:spPr>
          <a:xfrm>
            <a:off x="1585173"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6</a:t>
            </a:r>
          </a:p>
        </p:txBody>
      </p:sp>
      <p:sp>
        <p:nvSpPr>
          <p:cNvPr id="112" name="Oval 111"/>
          <p:cNvSpPr/>
          <p:nvPr/>
        </p:nvSpPr>
        <p:spPr>
          <a:xfrm>
            <a:off x="2767095"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7</a:t>
            </a:r>
          </a:p>
        </p:txBody>
      </p:sp>
      <p:sp>
        <p:nvSpPr>
          <p:cNvPr id="114" name="Oval 113"/>
          <p:cNvSpPr/>
          <p:nvPr/>
        </p:nvSpPr>
        <p:spPr>
          <a:xfrm>
            <a:off x="4006152"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8</a:t>
            </a:r>
          </a:p>
        </p:txBody>
      </p:sp>
      <p:sp>
        <p:nvSpPr>
          <p:cNvPr id="116" name="Oval 115"/>
          <p:cNvSpPr/>
          <p:nvPr/>
        </p:nvSpPr>
        <p:spPr>
          <a:xfrm>
            <a:off x="6424348"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10</a:t>
            </a:r>
          </a:p>
        </p:txBody>
      </p:sp>
      <p:sp>
        <p:nvSpPr>
          <p:cNvPr id="125" name="Oval 124"/>
          <p:cNvSpPr/>
          <p:nvPr/>
        </p:nvSpPr>
        <p:spPr>
          <a:xfrm>
            <a:off x="5304166"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9</a:t>
            </a:r>
          </a:p>
        </p:txBody>
      </p:sp>
      <p:sp>
        <p:nvSpPr>
          <p:cNvPr id="100" name="Oval 99"/>
          <p:cNvSpPr/>
          <p:nvPr/>
        </p:nvSpPr>
        <p:spPr>
          <a:xfrm>
            <a:off x="2790125" y="2345979"/>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2</a:t>
            </a:r>
          </a:p>
        </p:txBody>
      </p:sp>
      <p:sp>
        <p:nvSpPr>
          <p:cNvPr id="104" name="Oval 103"/>
          <p:cNvSpPr/>
          <p:nvPr/>
        </p:nvSpPr>
        <p:spPr>
          <a:xfrm>
            <a:off x="4019643" y="2345979"/>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3</a:t>
            </a:r>
          </a:p>
        </p:txBody>
      </p:sp>
      <p:sp>
        <p:nvSpPr>
          <p:cNvPr id="106" name="Oval 105"/>
          <p:cNvSpPr/>
          <p:nvPr/>
        </p:nvSpPr>
        <p:spPr>
          <a:xfrm>
            <a:off x="5255214" y="2343718"/>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4</a:t>
            </a:r>
          </a:p>
        </p:txBody>
      </p:sp>
      <p:sp>
        <p:nvSpPr>
          <p:cNvPr id="108" name="Oval 107"/>
          <p:cNvSpPr/>
          <p:nvPr/>
        </p:nvSpPr>
        <p:spPr>
          <a:xfrm>
            <a:off x="6424347" y="2343718"/>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5</a:t>
            </a:r>
          </a:p>
        </p:txBody>
      </p:sp>
      <p:sp>
        <p:nvSpPr>
          <p:cNvPr id="138" name="Oval 137"/>
          <p:cNvSpPr/>
          <p:nvPr/>
        </p:nvSpPr>
        <p:spPr>
          <a:xfrm>
            <a:off x="1600200" y="2352675"/>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1</a:t>
            </a:r>
          </a:p>
        </p:txBody>
      </p:sp>
      <p:cxnSp>
        <p:nvCxnSpPr>
          <p:cNvPr id="181" name="Straight Arrow Connector 180"/>
          <p:cNvCxnSpPr>
            <a:stCxn id="180" idx="3"/>
            <a:endCxn id="122" idx="6"/>
          </p:cNvCxnSpPr>
          <p:nvPr/>
        </p:nvCxnSpPr>
        <p:spPr>
          <a:xfrm flipH="1">
            <a:off x="8109791" y="5709209"/>
            <a:ext cx="779641" cy="1029"/>
          </a:xfrm>
          <a:prstGeom prst="straightConnector1">
            <a:avLst/>
          </a:prstGeom>
          <a:ln w="17780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82" name="Straight Arrow Connector 181"/>
          <p:cNvCxnSpPr>
            <a:stCxn id="180" idx="3"/>
            <a:endCxn id="122" idx="6"/>
          </p:cNvCxnSpPr>
          <p:nvPr/>
        </p:nvCxnSpPr>
        <p:spPr>
          <a:xfrm flipH="1">
            <a:off x="8109791" y="5709209"/>
            <a:ext cx="779641" cy="1029"/>
          </a:xfrm>
          <a:prstGeom prst="straightConnector1">
            <a:avLst/>
          </a:prstGeom>
          <a:ln w="9525"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80" name="Pentagon 41"/>
          <p:cNvSpPr/>
          <p:nvPr/>
        </p:nvSpPr>
        <p:spPr>
          <a:xfrm>
            <a:off x="8766613" y="5578018"/>
            <a:ext cx="122819" cy="262382"/>
          </a:xfrm>
          <a:prstGeom prst="rect">
            <a:avLst/>
          </a:prstGeom>
          <a:solidFill>
            <a:schemeClr val="tx1">
              <a:lumMod val="50000"/>
              <a:lumOff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sz="2000" b="1" dirty="0"/>
          </a:p>
        </p:txBody>
      </p:sp>
    </p:spTree>
    <p:extLst>
      <p:ext uri="{BB962C8B-B14F-4D97-AF65-F5344CB8AC3E}">
        <p14:creationId xmlns:p14="http://schemas.microsoft.com/office/powerpoint/2010/main" val="255008330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LUBS5586M Week-04 Hypothesis Testing Part 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963</TotalTime>
  <Words>3976</Words>
  <Application>Microsoft Macintosh PowerPoint</Application>
  <PresentationFormat>On-screen Show (4:3)</PresentationFormat>
  <Paragraphs>845</Paragraphs>
  <Slides>59</Slides>
  <Notes>48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59</vt:i4>
      </vt:variant>
    </vt:vector>
  </HeadingPairs>
  <TitlesOfParts>
    <vt:vector size="69" baseType="lpstr">
      <vt:lpstr>Avalon</vt:lpstr>
      <vt:lpstr>GreekMathSymbols</vt:lpstr>
      <vt:lpstr>Arial</vt:lpstr>
      <vt:lpstr>Calibri</vt:lpstr>
      <vt:lpstr>Cambria Math</vt:lpstr>
      <vt:lpstr>Courier New</vt:lpstr>
      <vt:lpstr>Georgia</vt:lpstr>
      <vt:lpstr>Roboto Slab</vt:lpstr>
      <vt:lpstr>Symbol</vt:lpstr>
      <vt:lpstr>Office Theme</vt:lpstr>
      <vt:lpstr>Feedback from your mid-module reviews</vt:lpstr>
      <vt:lpstr>Your feedback makes the difference</vt:lpstr>
      <vt:lpstr>Your feedback makes the difference</vt:lpstr>
      <vt:lpstr>Your feedback makes the difference</vt:lpstr>
      <vt:lpstr>Your feedback makes the difference</vt:lpstr>
      <vt:lpstr>Your feedback makes the difference</vt:lpstr>
      <vt:lpstr>Your feedback makes the difference</vt:lpstr>
      <vt:lpstr>Your feedback makes the difference</vt:lpstr>
      <vt:lpstr>Module Overview</vt:lpstr>
      <vt:lpstr>HYPOTHESIS TESTING</vt:lpstr>
      <vt:lpstr>Comparing two means</vt:lpstr>
      <vt:lpstr>Comparing two means</vt:lpstr>
      <vt:lpstr>Comparing two means</vt:lpstr>
      <vt:lpstr>Comparing two means</vt:lpstr>
      <vt:lpstr>Comparing two means</vt:lpstr>
      <vt:lpstr>Levene’s test for equality of variances</vt:lpstr>
      <vt:lpstr>Levene’s test for equality of variances</vt:lpstr>
      <vt:lpstr>Levene’s test for equality of variances</vt:lpstr>
      <vt:lpstr>Comparing two means in SPSS</vt:lpstr>
      <vt:lpstr>Question 1</vt:lpstr>
      <vt:lpstr>Question 1</vt:lpstr>
      <vt:lpstr>Question 1</vt:lpstr>
      <vt:lpstr>5 Minutes Break</vt:lpstr>
      <vt:lpstr>HYPOTHESIS TESTING</vt:lpstr>
      <vt:lpstr>Comparing more than two means</vt:lpstr>
      <vt:lpstr>Comparing more than two means</vt:lpstr>
      <vt:lpstr>Comparing more than two means</vt:lpstr>
      <vt:lpstr>One-way ANOVA</vt:lpstr>
      <vt:lpstr>One-way ANOVA</vt:lpstr>
      <vt:lpstr>One-way ANOVA</vt:lpstr>
      <vt:lpstr>One-way ANOVA</vt:lpstr>
      <vt:lpstr>One-way ANOVA</vt:lpstr>
      <vt:lpstr>Question 2</vt:lpstr>
      <vt:lpstr>Question 2</vt:lpstr>
      <vt:lpstr>One-way ANOVA</vt:lpstr>
      <vt:lpstr>One-way ANOVA</vt:lpstr>
      <vt:lpstr>ANOVA Example 1</vt:lpstr>
      <vt:lpstr>Question 3</vt:lpstr>
      <vt:lpstr>Question 3</vt:lpstr>
      <vt:lpstr>Recall</vt:lpstr>
      <vt:lpstr>ANOVA Example 3</vt:lpstr>
      <vt:lpstr>Question 4</vt:lpstr>
      <vt:lpstr>Question 4</vt:lpstr>
      <vt:lpstr>HYPOTHESIS TESTING</vt:lpstr>
      <vt:lpstr>Chi Squared (2) </vt:lpstr>
      <vt:lpstr>Parametric v Non-parametric Tests</vt:lpstr>
      <vt:lpstr>Why do we still use parametric statistics?</vt:lpstr>
      <vt:lpstr>Chi Squared (2) – ONE WAY</vt:lpstr>
      <vt:lpstr>Chi Squared (2)</vt:lpstr>
      <vt:lpstr>Chi Squared (2)</vt:lpstr>
      <vt:lpstr>Chi Squared (2)</vt:lpstr>
      <vt:lpstr>Chi Squared (2)</vt:lpstr>
      <vt:lpstr>Chi Squared (2)</vt:lpstr>
      <vt:lpstr>Chi Squared (2) - Summary</vt:lpstr>
      <vt:lpstr>Question 5</vt:lpstr>
      <vt:lpstr>Question 5</vt:lpstr>
      <vt:lpstr>Hypothesis Testing</vt:lpstr>
      <vt:lpstr>Reading…</vt:lpstr>
      <vt:lpstr>Module Overview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LUBS5586M Week-04 Hypothesis Testing Part 1</dc:title>
  <dc:creator>Sajid Siraj</dc:creator>
  <cp:lastModifiedBy>Peizhi Shi</cp:lastModifiedBy>
  <cp:revision>777</cp:revision>
  <dcterms:created xsi:type="dcterms:W3CDTF">2006-08-16T00:00:00Z</dcterms:created>
  <dcterms:modified xsi:type="dcterms:W3CDTF">2025-11-04T12:04:13Z</dcterms:modified>
</cp:coreProperties>
</file>