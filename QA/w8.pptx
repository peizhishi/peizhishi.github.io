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80" r:id="rId2"/>
    <p:sldId id="361" r:id="rId3"/>
    <p:sldId id="347" r:id="rId4"/>
    <p:sldId id="279" r:id="rId5"/>
    <p:sldId id="348" r:id="rId6"/>
    <p:sldId id="349" r:id="rId7"/>
    <p:sldId id="351" r:id="rId8"/>
    <p:sldId id="352" r:id="rId9"/>
    <p:sldId id="288" r:id="rId10"/>
    <p:sldId id="289" r:id="rId11"/>
    <p:sldId id="293" r:id="rId12"/>
    <p:sldId id="356" r:id="rId13"/>
    <p:sldId id="391" r:id="rId14"/>
    <p:sldId id="392" r:id="rId15"/>
    <p:sldId id="295" r:id="rId16"/>
    <p:sldId id="296" r:id="rId17"/>
    <p:sldId id="353" r:id="rId18"/>
    <p:sldId id="298" r:id="rId19"/>
    <p:sldId id="299" r:id="rId20"/>
    <p:sldId id="400" r:id="rId21"/>
    <p:sldId id="300" r:id="rId22"/>
    <p:sldId id="313" r:id="rId23"/>
    <p:sldId id="393" r:id="rId24"/>
    <p:sldId id="370" r:id="rId25"/>
    <p:sldId id="371" r:id="rId26"/>
    <p:sldId id="372" r:id="rId27"/>
    <p:sldId id="396" r:id="rId28"/>
    <p:sldId id="397" r:id="rId29"/>
    <p:sldId id="373" r:id="rId30"/>
    <p:sldId id="395" r:id="rId31"/>
    <p:sldId id="374" r:id="rId32"/>
    <p:sldId id="375" r:id="rId33"/>
    <p:sldId id="376" r:id="rId34"/>
    <p:sldId id="399" r:id="rId35"/>
    <p:sldId id="398" r:id="rId36"/>
    <p:sldId id="377" r:id="rId37"/>
    <p:sldId id="390" r:id="rId38"/>
    <p:sldId id="384" r:id="rId39"/>
    <p:sldId id="385" r:id="rId40"/>
    <p:sldId id="386" r:id="rId41"/>
    <p:sldId id="387" r:id="rId42"/>
    <p:sldId id="388" r:id="rId43"/>
    <p:sldId id="360" r:id="rId44"/>
    <p:sldId id="368" r:id="rId45"/>
    <p:sldId id="381" r:id="rId46"/>
  </p:sldIdLst>
  <p:sldSz cx="9144000" cy="6858000" type="screen4x3"/>
  <p:notesSz cx="6858000" cy="9144000"/>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FFFF"/>
    <a:srgbClr val="0000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91" autoAdjust="0"/>
    <p:restoredTop sz="89917" autoAdjust="0"/>
  </p:normalViewPr>
  <p:slideViewPr>
    <p:cSldViewPr>
      <p:cViewPr>
        <p:scale>
          <a:sx n="124" d="100"/>
          <a:sy n="124" d="100"/>
        </p:scale>
        <p:origin x="1272" y="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home\sajidsiraj\Dropbox\Teaching\LUBS5586\Data%20For%20Analysis\hours-spent-in-library.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B332-492D-A052-62980D0380C6}"/>
            </c:ext>
          </c:extLst>
        </c:ser>
        <c:dLbls>
          <c:showLegendKey val="0"/>
          <c:showVal val="0"/>
          <c:showCatName val="0"/>
          <c:showSerName val="0"/>
          <c:showPercent val="0"/>
          <c:showBubbleSize val="0"/>
        </c:dLbls>
        <c:axId val="109327104"/>
        <c:axId val="109328640"/>
      </c:scatterChart>
      <c:valAx>
        <c:axId val="109327104"/>
        <c:scaling>
          <c:orientation val="minMax"/>
        </c:scaling>
        <c:delete val="0"/>
        <c:axPos val="b"/>
        <c:numFmt formatCode="General" sourceLinked="1"/>
        <c:majorTickMark val="none"/>
        <c:minorTickMark val="none"/>
        <c:tickLblPos val="nextTo"/>
        <c:crossAx val="109328640"/>
        <c:crosses val="autoZero"/>
        <c:crossBetween val="midCat"/>
      </c:valAx>
      <c:valAx>
        <c:axId val="109328640"/>
        <c:scaling>
          <c:orientation val="minMax"/>
        </c:scaling>
        <c:delete val="0"/>
        <c:axPos val="l"/>
        <c:numFmt formatCode="General" sourceLinked="1"/>
        <c:majorTickMark val="none"/>
        <c:minorTickMark val="none"/>
        <c:tickLblPos val="nextTo"/>
        <c:crossAx val="109327104"/>
        <c:crosses val="autoZero"/>
        <c:crossBetween val="midCat"/>
      </c:valAx>
      <c:spPr>
        <a:noFill/>
        <a:ln w="25400">
          <a:noFill/>
        </a:ln>
      </c:spPr>
    </c:plotArea>
    <c:plotVisOnly val="1"/>
    <c:dispBlanksAs val="gap"/>
    <c:showDLblsOverMax val="0"/>
  </c:chart>
  <c:txPr>
    <a:bodyPr/>
    <a:lstStyle/>
    <a:p>
      <a:pPr>
        <a:defRPr sz="9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ymbol val="none"/>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3402-44B5-94E2-2BB459FB3E0B}"/>
            </c:ext>
          </c:extLst>
        </c:ser>
        <c:dLbls>
          <c:showLegendKey val="0"/>
          <c:showVal val="0"/>
          <c:showCatName val="0"/>
          <c:showSerName val="0"/>
          <c:showPercent val="0"/>
          <c:showBubbleSize val="0"/>
        </c:dLbls>
        <c:axId val="109553920"/>
        <c:axId val="109555712"/>
      </c:scatterChart>
      <c:valAx>
        <c:axId val="109553920"/>
        <c:scaling>
          <c:orientation val="minMax"/>
        </c:scaling>
        <c:delete val="0"/>
        <c:axPos val="b"/>
        <c:numFmt formatCode="General" sourceLinked="1"/>
        <c:majorTickMark val="none"/>
        <c:minorTickMark val="none"/>
        <c:tickLblPos val="nextTo"/>
        <c:crossAx val="109555712"/>
        <c:crosses val="autoZero"/>
        <c:crossBetween val="midCat"/>
      </c:valAx>
      <c:valAx>
        <c:axId val="109555712"/>
        <c:scaling>
          <c:orientation val="minMax"/>
        </c:scaling>
        <c:delete val="0"/>
        <c:axPos val="l"/>
        <c:numFmt formatCode="General" sourceLinked="1"/>
        <c:majorTickMark val="none"/>
        <c:minorTickMark val="none"/>
        <c:tickLblPos val="nextTo"/>
        <c:crossAx val="109553920"/>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pPr>
              <a:solidFill>
                <a:schemeClr val="bg1">
                  <a:lumMod val="75000"/>
                </a:schemeClr>
              </a:solidFill>
              <a:ln>
                <a:noFill/>
              </a:ln>
            </c:spPr>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C264-4AF5-B287-56715BEFF097}"/>
            </c:ext>
          </c:extLst>
        </c:ser>
        <c:dLbls>
          <c:showLegendKey val="0"/>
          <c:showVal val="0"/>
          <c:showCatName val="0"/>
          <c:showSerName val="0"/>
          <c:showPercent val="0"/>
          <c:showBubbleSize val="0"/>
        </c:dLbls>
        <c:axId val="95525120"/>
        <c:axId val="95531392"/>
      </c:scatterChart>
      <c:valAx>
        <c:axId val="95525120"/>
        <c:scaling>
          <c:orientation val="minMax"/>
        </c:scaling>
        <c:delete val="0"/>
        <c:axPos val="b"/>
        <c:numFmt formatCode="General" sourceLinked="1"/>
        <c:majorTickMark val="none"/>
        <c:minorTickMark val="none"/>
        <c:tickLblPos val="nextTo"/>
        <c:crossAx val="95531392"/>
        <c:crosses val="autoZero"/>
        <c:crossBetween val="midCat"/>
      </c:valAx>
      <c:valAx>
        <c:axId val="95531392"/>
        <c:scaling>
          <c:orientation val="minMax"/>
        </c:scaling>
        <c:delete val="0"/>
        <c:axPos val="l"/>
        <c:numFmt formatCode="General" sourceLinked="1"/>
        <c:majorTickMark val="none"/>
        <c:minorTickMark val="none"/>
        <c:tickLblPos val="nextTo"/>
        <c:crossAx val="95525120"/>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pPr>
              <a:solidFill>
                <a:schemeClr val="bg1">
                  <a:lumMod val="75000"/>
                </a:schemeClr>
              </a:solidFill>
              <a:ln>
                <a:noFill/>
              </a:ln>
            </c:spPr>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E2F3-4214-9FDE-97D3F95447F2}"/>
            </c:ext>
          </c:extLst>
        </c:ser>
        <c:dLbls>
          <c:showLegendKey val="0"/>
          <c:showVal val="0"/>
          <c:showCatName val="0"/>
          <c:showSerName val="0"/>
          <c:showPercent val="0"/>
          <c:showBubbleSize val="0"/>
        </c:dLbls>
        <c:axId val="95611520"/>
        <c:axId val="95646464"/>
      </c:scatterChart>
      <c:valAx>
        <c:axId val="95611520"/>
        <c:scaling>
          <c:orientation val="minMax"/>
        </c:scaling>
        <c:delete val="0"/>
        <c:axPos val="b"/>
        <c:numFmt formatCode="General" sourceLinked="1"/>
        <c:majorTickMark val="none"/>
        <c:minorTickMark val="none"/>
        <c:tickLblPos val="nextTo"/>
        <c:crossAx val="95646464"/>
        <c:crosses val="autoZero"/>
        <c:crossBetween val="midCat"/>
      </c:valAx>
      <c:valAx>
        <c:axId val="95646464"/>
        <c:scaling>
          <c:orientation val="minMax"/>
        </c:scaling>
        <c:delete val="0"/>
        <c:axPos val="l"/>
        <c:numFmt formatCode="General" sourceLinked="1"/>
        <c:majorTickMark val="none"/>
        <c:minorTickMark val="none"/>
        <c:tickLblPos val="nextTo"/>
        <c:crossAx val="95611520"/>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pPr>
              <a:solidFill>
                <a:schemeClr val="bg1">
                  <a:lumMod val="75000"/>
                </a:schemeClr>
              </a:solidFill>
              <a:ln>
                <a:noFill/>
              </a:ln>
            </c:spPr>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AC68-4AA1-AB69-36413B68A892}"/>
            </c:ext>
          </c:extLst>
        </c:ser>
        <c:dLbls>
          <c:showLegendKey val="0"/>
          <c:showVal val="0"/>
          <c:showCatName val="0"/>
          <c:showSerName val="0"/>
          <c:showPercent val="0"/>
          <c:showBubbleSize val="0"/>
        </c:dLbls>
        <c:axId val="109660032"/>
        <c:axId val="109668992"/>
      </c:scatterChart>
      <c:valAx>
        <c:axId val="109660032"/>
        <c:scaling>
          <c:orientation val="minMax"/>
        </c:scaling>
        <c:delete val="0"/>
        <c:axPos val="b"/>
        <c:numFmt formatCode="General" sourceLinked="1"/>
        <c:majorTickMark val="none"/>
        <c:minorTickMark val="none"/>
        <c:tickLblPos val="nextTo"/>
        <c:crossAx val="109668992"/>
        <c:crosses val="autoZero"/>
        <c:crossBetween val="midCat"/>
      </c:valAx>
      <c:valAx>
        <c:axId val="109668992"/>
        <c:scaling>
          <c:orientation val="minMax"/>
        </c:scaling>
        <c:delete val="0"/>
        <c:axPos val="l"/>
        <c:numFmt formatCode="General" sourceLinked="1"/>
        <c:majorTickMark val="none"/>
        <c:minorTickMark val="none"/>
        <c:tickLblPos val="nextTo"/>
        <c:crossAx val="109660032"/>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pPr>
              <a:solidFill>
                <a:schemeClr val="bg1">
                  <a:lumMod val="75000"/>
                </a:schemeClr>
              </a:solidFill>
              <a:ln>
                <a:noFill/>
              </a:ln>
            </c:spPr>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B5AE-4AF0-BBEC-290064B0AB14}"/>
            </c:ext>
          </c:extLst>
        </c:ser>
        <c:dLbls>
          <c:showLegendKey val="0"/>
          <c:showVal val="0"/>
          <c:showCatName val="0"/>
          <c:showSerName val="0"/>
          <c:showPercent val="0"/>
          <c:showBubbleSize val="0"/>
        </c:dLbls>
        <c:axId val="95730304"/>
        <c:axId val="109970176"/>
      </c:scatterChart>
      <c:valAx>
        <c:axId val="95730304"/>
        <c:scaling>
          <c:orientation val="minMax"/>
        </c:scaling>
        <c:delete val="0"/>
        <c:axPos val="b"/>
        <c:numFmt formatCode="General" sourceLinked="1"/>
        <c:majorTickMark val="none"/>
        <c:minorTickMark val="none"/>
        <c:tickLblPos val="nextTo"/>
        <c:crossAx val="109970176"/>
        <c:crosses val="autoZero"/>
        <c:crossBetween val="midCat"/>
      </c:valAx>
      <c:valAx>
        <c:axId val="109970176"/>
        <c:scaling>
          <c:orientation val="minMax"/>
        </c:scaling>
        <c:delete val="0"/>
        <c:axPos val="l"/>
        <c:numFmt formatCode="General" sourceLinked="1"/>
        <c:majorTickMark val="none"/>
        <c:minorTickMark val="none"/>
        <c:tickLblPos val="nextTo"/>
        <c:crossAx val="95730304"/>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980269707665851E-2"/>
          <c:y val="5.2380952380952382E-2"/>
          <c:w val="0.88112317856819622"/>
          <c:h val="0.73034158230221224"/>
        </c:manualLayout>
      </c:layout>
      <c:scatterChart>
        <c:scatterStyle val="lineMarker"/>
        <c:varyColors val="0"/>
        <c:ser>
          <c:idx val="1"/>
          <c:order val="0"/>
          <c:tx>
            <c:strRef>
              <c:f>Sheet1!$C$1</c:f>
              <c:strCache>
                <c:ptCount val="1"/>
                <c:pt idx="0">
                  <c:v>Drinks Purchased</c:v>
                </c:pt>
              </c:strCache>
            </c:strRef>
          </c:tx>
          <c:spPr>
            <a:ln w="28575">
              <a:noFill/>
            </a:ln>
          </c:spPr>
          <c:marker>
            <c:spPr>
              <a:solidFill>
                <a:schemeClr val="bg1">
                  <a:lumMod val="75000"/>
                </a:schemeClr>
              </a:solidFill>
              <a:ln>
                <a:noFill/>
              </a:ln>
            </c:spPr>
          </c:marker>
          <c:xVal>
            <c:numRef>
              <c:f>Sheet1!$A$2:$A$11</c:f>
              <c:numCache>
                <c:formatCode>General</c:formatCode>
                <c:ptCount val="10"/>
                <c:pt idx="0">
                  <c:v>0</c:v>
                </c:pt>
                <c:pt idx="1">
                  <c:v>20</c:v>
                </c:pt>
                <c:pt idx="2">
                  <c:v>50</c:v>
                </c:pt>
                <c:pt idx="3">
                  <c:v>80</c:v>
                </c:pt>
                <c:pt idx="4">
                  <c:v>140</c:v>
                </c:pt>
                <c:pt idx="5">
                  <c:v>200</c:v>
                </c:pt>
                <c:pt idx="6">
                  <c:v>250</c:v>
                </c:pt>
                <c:pt idx="7">
                  <c:v>280</c:v>
                </c:pt>
                <c:pt idx="8">
                  <c:v>350</c:v>
                </c:pt>
                <c:pt idx="9">
                  <c:v>400</c:v>
                </c:pt>
              </c:numCache>
            </c:numRef>
          </c:xVal>
          <c:yVal>
            <c:numRef>
              <c:f>Sheet1!$C$2:$C$11</c:f>
              <c:numCache>
                <c:formatCode>General</c:formatCode>
                <c:ptCount val="10"/>
                <c:pt idx="0">
                  <c:v>0</c:v>
                </c:pt>
                <c:pt idx="1">
                  <c:v>12</c:v>
                </c:pt>
                <c:pt idx="2">
                  <c:v>20</c:v>
                </c:pt>
                <c:pt idx="3">
                  <c:v>50</c:v>
                </c:pt>
                <c:pt idx="4">
                  <c:v>25</c:v>
                </c:pt>
                <c:pt idx="5">
                  <c:v>40</c:v>
                </c:pt>
                <c:pt idx="6">
                  <c:v>60</c:v>
                </c:pt>
                <c:pt idx="7">
                  <c:v>50</c:v>
                </c:pt>
                <c:pt idx="8">
                  <c:v>65</c:v>
                </c:pt>
                <c:pt idx="9">
                  <c:v>80</c:v>
                </c:pt>
              </c:numCache>
            </c:numRef>
          </c:yVal>
          <c:smooth val="0"/>
          <c:extLst>
            <c:ext xmlns:c16="http://schemas.microsoft.com/office/drawing/2014/chart" uri="{C3380CC4-5D6E-409C-BE32-E72D297353CC}">
              <c16:uniqueId val="{00000000-C85E-4D45-B31D-E4282D80C1E6}"/>
            </c:ext>
          </c:extLst>
        </c:ser>
        <c:dLbls>
          <c:showLegendKey val="0"/>
          <c:showVal val="0"/>
          <c:showCatName val="0"/>
          <c:showSerName val="0"/>
          <c:showPercent val="0"/>
          <c:showBubbleSize val="0"/>
        </c:dLbls>
        <c:axId val="109807872"/>
        <c:axId val="109830528"/>
      </c:scatterChart>
      <c:valAx>
        <c:axId val="109807872"/>
        <c:scaling>
          <c:orientation val="minMax"/>
        </c:scaling>
        <c:delete val="0"/>
        <c:axPos val="b"/>
        <c:numFmt formatCode="General" sourceLinked="1"/>
        <c:majorTickMark val="none"/>
        <c:minorTickMark val="none"/>
        <c:tickLblPos val="nextTo"/>
        <c:crossAx val="109830528"/>
        <c:crosses val="autoZero"/>
        <c:crossBetween val="midCat"/>
      </c:valAx>
      <c:valAx>
        <c:axId val="109830528"/>
        <c:scaling>
          <c:orientation val="minMax"/>
        </c:scaling>
        <c:delete val="0"/>
        <c:axPos val="l"/>
        <c:numFmt formatCode="General" sourceLinked="1"/>
        <c:majorTickMark val="none"/>
        <c:minorTickMark val="none"/>
        <c:tickLblPos val="nextTo"/>
        <c:crossAx val="109807872"/>
        <c:crosses val="autoZero"/>
        <c:crossBetween val="midCat"/>
      </c:valAx>
    </c:plotArea>
    <c:plotVisOnly val="1"/>
    <c:dispBlanksAs val="gap"/>
    <c:showDLblsOverMax val="0"/>
  </c:chart>
  <c:txPr>
    <a:bodyPr/>
    <a:lstStyle/>
    <a:p>
      <a:pPr>
        <a:defRPr sz="9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Score</c:v>
                </c:pt>
              </c:strCache>
            </c:strRef>
          </c:tx>
          <c:spPr>
            <a:ln w="28575">
              <a:noFill/>
            </a:ln>
          </c:spPr>
          <c:trendline>
            <c:spPr>
              <a:ln>
                <a:solidFill>
                  <a:schemeClr val="accent2">
                    <a:lumMod val="60000"/>
                    <a:lumOff val="40000"/>
                  </a:schemeClr>
                </a:solidFill>
              </a:ln>
            </c:spPr>
            <c:trendlineType val="linear"/>
            <c:dispRSqr val="1"/>
            <c:dispEq val="1"/>
            <c:trendlineLbl>
              <c:layout>
                <c:manualLayout>
                  <c:x val="-0.38044533266785396"/>
                  <c:y val="0.3630053512019456"/>
                </c:manualLayout>
              </c:layout>
              <c:tx>
                <c:rich>
                  <a:bodyPr/>
                  <a:lstStyle/>
                  <a:p>
                    <a:pPr>
                      <a:defRPr/>
                    </a:pPr>
                    <a:r>
                      <a:rPr lang="en-US" baseline="0" dirty="0"/>
                      <a:t>y = -0.0582x + 87.45
</a:t>
                    </a:r>
                    <a:r>
                      <a:rPr lang="en-US" b="1" baseline="0" dirty="0">
                        <a:solidFill>
                          <a:srgbClr val="FF0000"/>
                        </a:solidFill>
                      </a:rPr>
                      <a:t>R² = 0.2107</a:t>
                    </a:r>
                    <a:endParaRPr lang="en-US" b="1" dirty="0">
                      <a:solidFill>
                        <a:srgbClr val="FF0000"/>
                      </a:solidFill>
                    </a:endParaRPr>
                  </a:p>
                </c:rich>
              </c:tx>
              <c:numFmt formatCode="General" sourceLinked="0"/>
            </c:trendlineLbl>
          </c:trendline>
          <c:xVal>
            <c:numRef>
              <c:f>Sheet1!$A$2:$A$12</c:f>
              <c:numCache>
                <c:formatCode>General</c:formatCode>
                <c:ptCount val="11"/>
                <c:pt idx="0">
                  <c:v>10</c:v>
                </c:pt>
                <c:pt idx="1">
                  <c:v>30</c:v>
                </c:pt>
                <c:pt idx="2">
                  <c:v>60</c:v>
                </c:pt>
                <c:pt idx="3">
                  <c:v>75</c:v>
                </c:pt>
                <c:pt idx="4">
                  <c:v>100</c:v>
                </c:pt>
                <c:pt idx="5">
                  <c:v>150</c:v>
                </c:pt>
                <c:pt idx="6">
                  <c:v>200</c:v>
                </c:pt>
                <c:pt idx="7">
                  <c:v>250</c:v>
                </c:pt>
                <c:pt idx="8">
                  <c:v>300</c:v>
                </c:pt>
                <c:pt idx="9">
                  <c:v>370</c:v>
                </c:pt>
                <c:pt idx="10">
                  <c:v>400</c:v>
                </c:pt>
              </c:numCache>
            </c:numRef>
          </c:xVal>
          <c:yVal>
            <c:numRef>
              <c:f>Sheet1!$B$2:$B$12</c:f>
              <c:numCache>
                <c:formatCode>General</c:formatCode>
                <c:ptCount val="11"/>
                <c:pt idx="0">
                  <c:v>59.981818181818198</c:v>
                </c:pt>
                <c:pt idx="1">
                  <c:v>73.25454545454545</c:v>
                </c:pt>
                <c:pt idx="2">
                  <c:v>86.163636363636371</c:v>
                </c:pt>
                <c:pt idx="3">
                  <c:v>88.443181818181813</c:v>
                </c:pt>
                <c:pt idx="4">
                  <c:v>89.909090909090907</c:v>
                </c:pt>
                <c:pt idx="5">
                  <c:v>93.090909090909093</c:v>
                </c:pt>
                <c:pt idx="6">
                  <c:v>98.27272727272728</c:v>
                </c:pt>
                <c:pt idx="7">
                  <c:v>84.454545454545453</c:v>
                </c:pt>
                <c:pt idx="8">
                  <c:v>76.636363636363626</c:v>
                </c:pt>
                <c:pt idx="9">
                  <c:v>53.490909090909085</c:v>
                </c:pt>
                <c:pt idx="10">
                  <c:v>45</c:v>
                </c:pt>
              </c:numCache>
            </c:numRef>
          </c:yVal>
          <c:smooth val="0"/>
          <c:extLst>
            <c:ext xmlns:c16="http://schemas.microsoft.com/office/drawing/2014/chart" uri="{C3380CC4-5D6E-409C-BE32-E72D297353CC}">
              <c16:uniqueId val="{00000000-9028-4BFD-BED4-11EFC5BFD709}"/>
            </c:ext>
          </c:extLst>
        </c:ser>
        <c:dLbls>
          <c:showLegendKey val="0"/>
          <c:showVal val="0"/>
          <c:showCatName val="0"/>
          <c:showSerName val="0"/>
          <c:showPercent val="0"/>
          <c:showBubbleSize val="0"/>
        </c:dLbls>
        <c:axId val="139831936"/>
        <c:axId val="139837824"/>
      </c:scatterChart>
      <c:valAx>
        <c:axId val="139831936"/>
        <c:scaling>
          <c:orientation val="minMax"/>
          <c:max val="400"/>
          <c:min val="0"/>
        </c:scaling>
        <c:delete val="0"/>
        <c:axPos val="b"/>
        <c:numFmt formatCode="General" sourceLinked="1"/>
        <c:majorTickMark val="out"/>
        <c:minorTickMark val="none"/>
        <c:tickLblPos val="nextTo"/>
        <c:crossAx val="139837824"/>
        <c:crosses val="autoZero"/>
        <c:crossBetween val="midCat"/>
      </c:valAx>
      <c:valAx>
        <c:axId val="139837824"/>
        <c:scaling>
          <c:orientation val="minMax"/>
          <c:max val="100"/>
          <c:min val="0"/>
        </c:scaling>
        <c:delete val="0"/>
        <c:axPos val="l"/>
        <c:numFmt formatCode="General" sourceLinked="1"/>
        <c:majorTickMark val="out"/>
        <c:minorTickMark val="none"/>
        <c:tickLblPos val="nextTo"/>
        <c:crossAx val="139831936"/>
        <c:crosses val="autoZero"/>
        <c:crossBetween val="midCat"/>
        <c:majorUnit val="50"/>
      </c:valAx>
    </c:plotArea>
    <c:plotVisOnly val="1"/>
    <c:dispBlanksAs val="gap"/>
    <c:showDLblsOverMax val="0"/>
  </c:chart>
  <c:txPr>
    <a:bodyPr/>
    <a:lstStyle/>
    <a:p>
      <a:pPr>
        <a:defRPr sz="1200">
          <a:latin typeface="Cambria Math" panose="02040503050406030204" pitchFamily="18" charset="0"/>
          <a:ea typeface="Cambria Math" panose="02040503050406030204" pitchFamily="18"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Score</c:v>
                </c:pt>
              </c:strCache>
            </c:strRef>
          </c:tx>
          <c:spPr>
            <a:ln w="28575">
              <a:noFill/>
            </a:ln>
          </c:spPr>
          <c:trendline>
            <c:spPr>
              <a:ln w="19050">
                <a:solidFill>
                  <a:srgbClr val="00B050"/>
                </a:solidFill>
              </a:ln>
            </c:spPr>
            <c:trendlineType val="poly"/>
            <c:order val="2"/>
            <c:dispRSqr val="1"/>
            <c:dispEq val="1"/>
            <c:trendlineLbl>
              <c:layout>
                <c:manualLayout>
                  <c:x val="-0.16473659585109401"/>
                  <c:y val="0.15445190774138143"/>
                </c:manualLayout>
              </c:layout>
              <c:tx>
                <c:rich>
                  <a:bodyPr/>
                  <a:lstStyle/>
                  <a:p>
                    <a:pPr>
                      <a:defRPr/>
                    </a:pPr>
                    <a:r>
                      <a:rPr lang="en-US" baseline="0" dirty="0"/>
                      <a:t>y = -0.0011x</a:t>
                    </a:r>
                    <a:r>
                      <a:rPr lang="en-US" baseline="30000" dirty="0"/>
                      <a:t>2</a:t>
                    </a:r>
                    <a:r>
                      <a:rPr lang="en-US" baseline="0" dirty="0"/>
                      <a:t> + 0.3734x + 62.683
</a:t>
                    </a:r>
                    <a:r>
                      <a:rPr lang="en-US" b="1" baseline="0" dirty="0">
                        <a:solidFill>
                          <a:srgbClr val="00B050"/>
                        </a:solidFill>
                      </a:rPr>
                      <a:t>R² = 0.9547</a:t>
                    </a:r>
                    <a:endParaRPr lang="en-US" b="1" dirty="0">
                      <a:solidFill>
                        <a:srgbClr val="00B050"/>
                      </a:solidFill>
                    </a:endParaRPr>
                  </a:p>
                </c:rich>
              </c:tx>
              <c:numFmt formatCode="General" sourceLinked="0"/>
            </c:trendlineLbl>
          </c:trendline>
          <c:xVal>
            <c:numRef>
              <c:f>Sheet1!$A$2:$A$12</c:f>
              <c:numCache>
                <c:formatCode>General</c:formatCode>
                <c:ptCount val="11"/>
                <c:pt idx="0">
                  <c:v>10</c:v>
                </c:pt>
                <c:pt idx="1">
                  <c:v>30</c:v>
                </c:pt>
                <c:pt idx="2">
                  <c:v>60</c:v>
                </c:pt>
                <c:pt idx="3">
                  <c:v>75</c:v>
                </c:pt>
                <c:pt idx="4">
                  <c:v>100</c:v>
                </c:pt>
                <c:pt idx="5">
                  <c:v>150</c:v>
                </c:pt>
                <c:pt idx="6">
                  <c:v>200</c:v>
                </c:pt>
                <c:pt idx="7">
                  <c:v>250</c:v>
                </c:pt>
                <c:pt idx="8">
                  <c:v>300</c:v>
                </c:pt>
                <c:pt idx="9">
                  <c:v>370</c:v>
                </c:pt>
                <c:pt idx="10">
                  <c:v>400</c:v>
                </c:pt>
              </c:numCache>
            </c:numRef>
          </c:xVal>
          <c:yVal>
            <c:numRef>
              <c:f>Sheet1!$B$2:$B$12</c:f>
              <c:numCache>
                <c:formatCode>General</c:formatCode>
                <c:ptCount val="11"/>
                <c:pt idx="0">
                  <c:v>59.981818181818198</c:v>
                </c:pt>
                <c:pt idx="1">
                  <c:v>73.25454545454545</c:v>
                </c:pt>
                <c:pt idx="2">
                  <c:v>86.163636363636371</c:v>
                </c:pt>
                <c:pt idx="3">
                  <c:v>88.443181818181813</c:v>
                </c:pt>
                <c:pt idx="4">
                  <c:v>89.909090909090907</c:v>
                </c:pt>
                <c:pt idx="5">
                  <c:v>93.090909090909093</c:v>
                </c:pt>
                <c:pt idx="6">
                  <c:v>98.27272727272728</c:v>
                </c:pt>
                <c:pt idx="7">
                  <c:v>84.454545454545453</c:v>
                </c:pt>
                <c:pt idx="8">
                  <c:v>76.636363636363626</c:v>
                </c:pt>
                <c:pt idx="9">
                  <c:v>53.490909090909085</c:v>
                </c:pt>
                <c:pt idx="10">
                  <c:v>45</c:v>
                </c:pt>
              </c:numCache>
            </c:numRef>
          </c:yVal>
          <c:smooth val="0"/>
          <c:extLst>
            <c:ext xmlns:c16="http://schemas.microsoft.com/office/drawing/2014/chart" uri="{C3380CC4-5D6E-409C-BE32-E72D297353CC}">
              <c16:uniqueId val="{00000000-7065-47CD-B94A-94A50B58D528}"/>
            </c:ext>
          </c:extLst>
        </c:ser>
        <c:dLbls>
          <c:showLegendKey val="0"/>
          <c:showVal val="0"/>
          <c:showCatName val="0"/>
          <c:showSerName val="0"/>
          <c:showPercent val="0"/>
          <c:showBubbleSize val="0"/>
        </c:dLbls>
        <c:axId val="140398976"/>
        <c:axId val="140400512"/>
      </c:scatterChart>
      <c:valAx>
        <c:axId val="140398976"/>
        <c:scaling>
          <c:orientation val="minMax"/>
          <c:max val="400"/>
          <c:min val="0"/>
        </c:scaling>
        <c:delete val="0"/>
        <c:axPos val="b"/>
        <c:numFmt formatCode="General" sourceLinked="1"/>
        <c:majorTickMark val="out"/>
        <c:minorTickMark val="none"/>
        <c:tickLblPos val="nextTo"/>
        <c:crossAx val="140400512"/>
        <c:crosses val="autoZero"/>
        <c:crossBetween val="midCat"/>
      </c:valAx>
      <c:valAx>
        <c:axId val="140400512"/>
        <c:scaling>
          <c:orientation val="minMax"/>
          <c:max val="100"/>
          <c:min val="0"/>
        </c:scaling>
        <c:delete val="0"/>
        <c:axPos val="l"/>
        <c:numFmt formatCode="General" sourceLinked="1"/>
        <c:majorTickMark val="out"/>
        <c:minorTickMark val="none"/>
        <c:tickLblPos val="nextTo"/>
        <c:crossAx val="140398976"/>
        <c:crosses val="autoZero"/>
        <c:crossBetween val="midCat"/>
        <c:majorUnit val="50"/>
      </c:valAx>
    </c:plotArea>
    <c:plotVisOnly val="1"/>
    <c:dispBlanksAs val="gap"/>
    <c:showDLblsOverMax val="0"/>
  </c:chart>
  <c:txPr>
    <a:bodyPr/>
    <a:lstStyle/>
    <a:p>
      <a:pPr>
        <a:defRPr sz="1200">
          <a:latin typeface="Cambria Math" panose="02040503050406030204" pitchFamily="18" charset="0"/>
          <a:ea typeface="Cambria Math" panose="02040503050406030204" pitchFamily="18"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6BDA18-A924-4623-AFDA-7F89229823E3}" type="datetimeFigureOut">
              <a:rPr lang="en-GB" smtClean="0"/>
              <a:t>16/11/2025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B37484-4BD0-4B53-9749-250372656A21}" type="slidenum">
              <a:rPr lang="en-GB" smtClean="0"/>
              <a:t>‹#›</a:t>
            </a:fld>
            <a:endParaRPr lang="en-GB"/>
          </a:p>
        </p:txBody>
      </p:sp>
    </p:spTree>
    <p:extLst>
      <p:ext uri="{BB962C8B-B14F-4D97-AF65-F5344CB8AC3E}">
        <p14:creationId xmlns:p14="http://schemas.microsoft.com/office/powerpoint/2010/main" val="808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B37484-4BD0-4B53-9749-250372656A21}" type="slidenum">
              <a:rPr lang="en-GB" smtClean="0"/>
              <a:t>1</a:t>
            </a:fld>
            <a:endParaRPr lang="en-GB"/>
          </a:p>
        </p:txBody>
      </p:sp>
    </p:spTree>
    <p:extLst>
      <p:ext uri="{BB962C8B-B14F-4D97-AF65-F5344CB8AC3E}">
        <p14:creationId xmlns:p14="http://schemas.microsoft.com/office/powerpoint/2010/main" val="2049882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a:t>
            </a:fld>
            <a:endParaRPr lang="en-GB"/>
          </a:p>
        </p:txBody>
      </p:sp>
    </p:spTree>
    <p:extLst>
      <p:ext uri="{BB962C8B-B14F-4D97-AF65-F5344CB8AC3E}">
        <p14:creationId xmlns:p14="http://schemas.microsoft.com/office/powerpoint/2010/main" val="273645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a:t>
            </a:fld>
            <a:endParaRPr lang="en-GB"/>
          </a:p>
        </p:txBody>
      </p:sp>
    </p:spTree>
    <p:extLst>
      <p:ext uri="{BB962C8B-B14F-4D97-AF65-F5344CB8AC3E}">
        <p14:creationId xmlns:p14="http://schemas.microsoft.com/office/powerpoint/2010/main" val="3988147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A0F476-D296-4C3A-A5F6-01117649B3BA}" type="slidenum">
              <a:rPr lang="en-US" altLang="en-US"/>
              <a:pPr/>
              <a:t>4</a:t>
            </a:fld>
            <a:endParaRPr lang="en-US" altLang="en-US"/>
          </a:p>
        </p:txBody>
      </p:sp>
      <p:sp>
        <p:nvSpPr>
          <p:cNvPr id="68610" name="Rectangle 2"/>
          <p:cNvSpPr>
            <a:spLocks noGrp="1" noRot="1" noChangeAspect="1" noChangeArrowheads="1" noTextEdit="1"/>
          </p:cNvSpPr>
          <p:nvPr>
            <p:ph type="sldImg"/>
          </p:nvPr>
        </p:nvSpPr>
        <p:spPr>
          <a:xfrm>
            <a:off x="1292225" y="796925"/>
            <a:ext cx="4273550" cy="3205163"/>
          </a:xfrm>
          <a:ln/>
        </p:spPr>
      </p:sp>
      <p:sp>
        <p:nvSpPr>
          <p:cNvPr id="68611"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401677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5</a:t>
            </a:fld>
            <a:endParaRPr lang="en-GB"/>
          </a:p>
        </p:txBody>
      </p:sp>
    </p:spTree>
    <p:extLst>
      <p:ext uri="{BB962C8B-B14F-4D97-AF65-F5344CB8AC3E}">
        <p14:creationId xmlns:p14="http://schemas.microsoft.com/office/powerpoint/2010/main" val="155705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6</a:t>
            </a:fld>
            <a:endParaRPr lang="en-GB"/>
          </a:p>
        </p:txBody>
      </p:sp>
    </p:spTree>
    <p:extLst>
      <p:ext uri="{BB962C8B-B14F-4D97-AF65-F5344CB8AC3E}">
        <p14:creationId xmlns:p14="http://schemas.microsoft.com/office/powerpoint/2010/main" val="2311792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7</a:t>
            </a:fld>
            <a:endParaRPr lang="en-GB"/>
          </a:p>
        </p:txBody>
      </p:sp>
    </p:spTree>
    <p:extLst>
      <p:ext uri="{BB962C8B-B14F-4D97-AF65-F5344CB8AC3E}">
        <p14:creationId xmlns:p14="http://schemas.microsoft.com/office/powerpoint/2010/main" val="203441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8</a:t>
            </a:fld>
            <a:endParaRPr lang="en-GB"/>
          </a:p>
        </p:txBody>
      </p:sp>
    </p:spTree>
    <p:extLst>
      <p:ext uri="{BB962C8B-B14F-4D97-AF65-F5344CB8AC3E}">
        <p14:creationId xmlns:p14="http://schemas.microsoft.com/office/powerpoint/2010/main" val="3239085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E644B7-6D24-4797-A209-D8942412A03E}" type="slidenum">
              <a:rPr lang="en-US" altLang="en-US"/>
              <a:pPr/>
              <a:t>9</a:t>
            </a:fld>
            <a:endParaRPr lang="en-US" altLang="en-US"/>
          </a:p>
        </p:txBody>
      </p:sp>
      <p:sp>
        <p:nvSpPr>
          <p:cNvPr id="84994" name="Rectangle 2"/>
          <p:cNvSpPr>
            <a:spLocks noGrp="1" noRot="1" noChangeAspect="1" noChangeArrowheads="1" noTextEdit="1"/>
          </p:cNvSpPr>
          <p:nvPr>
            <p:ph type="sldImg"/>
          </p:nvPr>
        </p:nvSpPr>
        <p:spPr>
          <a:xfrm>
            <a:off x="1292225" y="796925"/>
            <a:ext cx="4273550" cy="3205163"/>
          </a:xfrm>
          <a:ln/>
        </p:spPr>
      </p:sp>
      <p:sp>
        <p:nvSpPr>
          <p:cNvPr id="84995"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722826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0F0979-7E49-43E1-8280-7B6122717AF5}" type="slidenum">
              <a:rPr lang="en-US" altLang="en-US"/>
              <a:pPr/>
              <a:t>10</a:t>
            </a:fld>
            <a:endParaRPr lang="en-US" altLang="en-US"/>
          </a:p>
        </p:txBody>
      </p:sp>
      <p:sp>
        <p:nvSpPr>
          <p:cNvPr id="87042" name="Rectangle 2"/>
          <p:cNvSpPr>
            <a:spLocks noGrp="1" noRot="1" noChangeAspect="1" noChangeArrowheads="1" noTextEdit="1"/>
          </p:cNvSpPr>
          <p:nvPr>
            <p:ph type="sldImg"/>
          </p:nvPr>
        </p:nvSpPr>
        <p:spPr>
          <a:xfrm>
            <a:off x="1292225" y="796925"/>
            <a:ext cx="4273550" cy="3205163"/>
          </a:xfrm>
          <a:ln/>
        </p:spPr>
      </p:sp>
      <p:sp>
        <p:nvSpPr>
          <p:cNvPr id="87043" name="Rectangle 3"/>
          <p:cNvSpPr>
            <a:spLocks noGrp="1" noChangeArrowheads="1"/>
          </p:cNvSpPr>
          <p:nvPr>
            <p:ph type="body" idx="1"/>
          </p:nvPr>
        </p:nvSpPr>
        <p:spPr>
          <a:xfrm>
            <a:off x="913991" y="4347195"/>
            <a:ext cx="5030018" cy="3849359"/>
          </a:xfrm>
        </p:spPr>
        <p:txBody>
          <a:bodyPr/>
          <a:lstStyle/>
          <a:p>
            <a:endParaRPr lang="en-US" altLang="en-US" dirty="0"/>
          </a:p>
        </p:txBody>
      </p:sp>
    </p:spTree>
    <p:extLst>
      <p:ext uri="{BB962C8B-B14F-4D97-AF65-F5344CB8AC3E}">
        <p14:creationId xmlns:p14="http://schemas.microsoft.com/office/powerpoint/2010/main" val="3286064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9E2BD-4519-49A0-8A96-6B3083913802}" type="slidenum">
              <a:rPr lang="en-US" altLang="en-US"/>
              <a:pPr/>
              <a:t>11</a:t>
            </a:fld>
            <a:endParaRPr lang="en-US" altLang="en-US"/>
          </a:p>
        </p:txBody>
      </p:sp>
      <p:sp>
        <p:nvSpPr>
          <p:cNvPr id="95234" name="Rectangle 2"/>
          <p:cNvSpPr>
            <a:spLocks noGrp="1" noRot="1" noChangeAspect="1" noChangeArrowheads="1" noTextEdit="1"/>
          </p:cNvSpPr>
          <p:nvPr>
            <p:ph type="sldImg"/>
          </p:nvPr>
        </p:nvSpPr>
        <p:spPr>
          <a:xfrm>
            <a:off x="1292225" y="796925"/>
            <a:ext cx="4273550" cy="3205163"/>
          </a:xfrm>
          <a:ln/>
        </p:spPr>
      </p:sp>
      <p:sp>
        <p:nvSpPr>
          <p:cNvPr id="95235" name="Rectangle 3"/>
          <p:cNvSpPr>
            <a:spLocks noGrp="1" noChangeArrowheads="1"/>
          </p:cNvSpPr>
          <p:nvPr>
            <p:ph type="body" idx="1"/>
          </p:nvPr>
        </p:nvSpPr>
        <p:spPr>
          <a:xfrm>
            <a:off x="913991" y="4347195"/>
            <a:ext cx="5030018" cy="3849359"/>
          </a:xfrm>
        </p:spPr>
        <p:txBody>
          <a:bodyPr/>
          <a:lstStyle/>
          <a:p>
            <a:endParaRPr lang="en-GB" altLang="en-US" dirty="0"/>
          </a:p>
        </p:txBody>
      </p:sp>
    </p:spTree>
    <p:extLst>
      <p:ext uri="{BB962C8B-B14F-4D97-AF65-F5344CB8AC3E}">
        <p14:creationId xmlns:p14="http://schemas.microsoft.com/office/powerpoint/2010/main" val="623541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9E2BD-4519-49A0-8A96-6B3083913802}" type="slidenum">
              <a:rPr lang="en-US" altLang="en-US"/>
              <a:pPr/>
              <a:t>12</a:t>
            </a:fld>
            <a:endParaRPr lang="en-US" altLang="en-US"/>
          </a:p>
        </p:txBody>
      </p:sp>
      <p:sp>
        <p:nvSpPr>
          <p:cNvPr id="95234" name="Rectangle 2"/>
          <p:cNvSpPr>
            <a:spLocks noGrp="1" noRot="1" noChangeAspect="1" noChangeArrowheads="1" noTextEdit="1"/>
          </p:cNvSpPr>
          <p:nvPr>
            <p:ph type="sldImg"/>
          </p:nvPr>
        </p:nvSpPr>
        <p:spPr>
          <a:xfrm>
            <a:off x="1292225" y="796925"/>
            <a:ext cx="4273550" cy="3205163"/>
          </a:xfrm>
          <a:ln/>
        </p:spPr>
      </p:sp>
      <p:sp>
        <p:nvSpPr>
          <p:cNvPr id="95235" name="Rectangle 3"/>
          <p:cNvSpPr>
            <a:spLocks noGrp="1" noChangeArrowheads="1"/>
          </p:cNvSpPr>
          <p:nvPr>
            <p:ph type="body" idx="1"/>
          </p:nvPr>
        </p:nvSpPr>
        <p:spPr>
          <a:xfrm>
            <a:off x="913991" y="4347195"/>
            <a:ext cx="5030018" cy="3849359"/>
          </a:xfrm>
        </p:spPr>
        <p:txBody>
          <a:bodyPr/>
          <a:lstStyle/>
          <a:p>
            <a:endParaRPr lang="en-GB" altLang="en-US" dirty="0"/>
          </a:p>
        </p:txBody>
      </p:sp>
    </p:spTree>
    <p:extLst>
      <p:ext uri="{BB962C8B-B14F-4D97-AF65-F5344CB8AC3E}">
        <p14:creationId xmlns:p14="http://schemas.microsoft.com/office/powerpoint/2010/main" val="2263127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9E2BD-4519-49A0-8A96-6B3083913802}" type="slidenum">
              <a:rPr lang="en-US" altLang="en-US"/>
              <a:pPr/>
              <a:t>13</a:t>
            </a:fld>
            <a:endParaRPr lang="en-US" altLang="en-US"/>
          </a:p>
        </p:txBody>
      </p:sp>
      <p:sp>
        <p:nvSpPr>
          <p:cNvPr id="95234" name="Rectangle 2"/>
          <p:cNvSpPr>
            <a:spLocks noGrp="1" noRot="1" noChangeAspect="1" noChangeArrowheads="1" noTextEdit="1"/>
          </p:cNvSpPr>
          <p:nvPr>
            <p:ph type="sldImg"/>
          </p:nvPr>
        </p:nvSpPr>
        <p:spPr>
          <a:xfrm>
            <a:off x="1292225" y="796925"/>
            <a:ext cx="4273550" cy="3205163"/>
          </a:xfrm>
          <a:ln/>
        </p:spPr>
      </p:sp>
      <p:sp>
        <p:nvSpPr>
          <p:cNvPr id="95235" name="Rectangle 3"/>
          <p:cNvSpPr>
            <a:spLocks noGrp="1" noChangeArrowheads="1"/>
          </p:cNvSpPr>
          <p:nvPr>
            <p:ph type="body" idx="1"/>
          </p:nvPr>
        </p:nvSpPr>
        <p:spPr>
          <a:xfrm>
            <a:off x="913991" y="4347195"/>
            <a:ext cx="5030018" cy="3849359"/>
          </a:xfrm>
        </p:spPr>
        <p:txBody>
          <a:bodyPr/>
          <a:lstStyle/>
          <a:p>
            <a:endParaRPr lang="en-GB" altLang="en-US" dirty="0"/>
          </a:p>
        </p:txBody>
      </p:sp>
    </p:spTree>
    <p:extLst>
      <p:ext uri="{BB962C8B-B14F-4D97-AF65-F5344CB8AC3E}">
        <p14:creationId xmlns:p14="http://schemas.microsoft.com/office/powerpoint/2010/main" val="3068109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9E2BD-4519-49A0-8A96-6B3083913802}" type="slidenum">
              <a:rPr lang="en-US" altLang="en-US"/>
              <a:pPr/>
              <a:t>14</a:t>
            </a:fld>
            <a:endParaRPr lang="en-US" altLang="en-US"/>
          </a:p>
        </p:txBody>
      </p:sp>
      <p:sp>
        <p:nvSpPr>
          <p:cNvPr id="95234" name="Rectangle 2"/>
          <p:cNvSpPr>
            <a:spLocks noGrp="1" noRot="1" noChangeAspect="1" noChangeArrowheads="1" noTextEdit="1"/>
          </p:cNvSpPr>
          <p:nvPr>
            <p:ph type="sldImg"/>
          </p:nvPr>
        </p:nvSpPr>
        <p:spPr>
          <a:xfrm>
            <a:off x="1292225" y="796925"/>
            <a:ext cx="4273550" cy="3205163"/>
          </a:xfrm>
          <a:ln/>
        </p:spPr>
      </p:sp>
      <p:sp>
        <p:nvSpPr>
          <p:cNvPr id="95235" name="Rectangle 3"/>
          <p:cNvSpPr>
            <a:spLocks noGrp="1" noChangeArrowheads="1"/>
          </p:cNvSpPr>
          <p:nvPr>
            <p:ph type="body" idx="1"/>
          </p:nvPr>
        </p:nvSpPr>
        <p:spPr>
          <a:xfrm>
            <a:off x="913991" y="4347195"/>
            <a:ext cx="5030018" cy="3849359"/>
          </a:xfrm>
        </p:spPr>
        <p:txBody>
          <a:bodyPr/>
          <a:lstStyle/>
          <a:p>
            <a:endParaRPr lang="en-GB" altLang="en-US" dirty="0"/>
          </a:p>
        </p:txBody>
      </p:sp>
    </p:spTree>
    <p:extLst>
      <p:ext uri="{BB962C8B-B14F-4D97-AF65-F5344CB8AC3E}">
        <p14:creationId xmlns:p14="http://schemas.microsoft.com/office/powerpoint/2010/main" val="3159849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2A2904-BC5F-48AB-A860-0AA6822F1FC6}" type="slidenum">
              <a:rPr lang="en-US" altLang="en-US"/>
              <a:pPr/>
              <a:t>15</a:t>
            </a:fld>
            <a:endParaRPr lang="en-US" altLang="en-US"/>
          </a:p>
        </p:txBody>
      </p:sp>
      <p:sp>
        <p:nvSpPr>
          <p:cNvPr id="97282" name="Rectangle 2"/>
          <p:cNvSpPr>
            <a:spLocks noGrp="1" noRot="1" noChangeAspect="1" noChangeArrowheads="1" noTextEdit="1"/>
          </p:cNvSpPr>
          <p:nvPr>
            <p:ph type="sldImg"/>
          </p:nvPr>
        </p:nvSpPr>
        <p:spPr>
          <a:xfrm>
            <a:off x="1292225" y="796925"/>
            <a:ext cx="4273550" cy="3205163"/>
          </a:xfrm>
          <a:ln/>
        </p:spPr>
      </p:sp>
      <p:sp>
        <p:nvSpPr>
          <p:cNvPr id="97283" name="Rectangle 3"/>
          <p:cNvSpPr>
            <a:spLocks noGrp="1" noChangeArrowheads="1"/>
          </p:cNvSpPr>
          <p:nvPr>
            <p:ph type="body" idx="1"/>
          </p:nvPr>
        </p:nvSpPr>
        <p:spPr>
          <a:xfrm>
            <a:off x="913991" y="4347195"/>
            <a:ext cx="5030018" cy="3849359"/>
          </a:xfrm>
        </p:spPr>
        <p:txBody>
          <a:bodyPr/>
          <a:lstStyle/>
          <a:p>
            <a:endParaRPr lang="en-GB" altLang="en-US" dirty="0"/>
          </a:p>
        </p:txBody>
      </p:sp>
    </p:spTree>
    <p:extLst>
      <p:ext uri="{BB962C8B-B14F-4D97-AF65-F5344CB8AC3E}">
        <p14:creationId xmlns:p14="http://schemas.microsoft.com/office/powerpoint/2010/main" val="1225429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16</a:t>
            </a:fld>
            <a:endParaRPr lang="en-GB"/>
          </a:p>
        </p:txBody>
      </p:sp>
    </p:spTree>
    <p:extLst>
      <p:ext uri="{BB962C8B-B14F-4D97-AF65-F5344CB8AC3E}">
        <p14:creationId xmlns:p14="http://schemas.microsoft.com/office/powerpoint/2010/main" val="3198287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17</a:t>
            </a:fld>
            <a:endParaRPr lang="en-GB"/>
          </a:p>
        </p:txBody>
      </p:sp>
    </p:spTree>
    <p:extLst>
      <p:ext uri="{BB962C8B-B14F-4D97-AF65-F5344CB8AC3E}">
        <p14:creationId xmlns:p14="http://schemas.microsoft.com/office/powerpoint/2010/main" val="1585026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06678A-1CEF-48B9-9453-76DAF4211D8C}" type="slidenum">
              <a:rPr lang="en-US" altLang="en-US"/>
              <a:pPr/>
              <a:t>18</a:t>
            </a:fld>
            <a:endParaRPr lang="en-US" altLang="en-US"/>
          </a:p>
        </p:txBody>
      </p:sp>
      <p:sp>
        <p:nvSpPr>
          <p:cNvPr id="101378" name="Rectangle 2"/>
          <p:cNvSpPr>
            <a:spLocks noGrp="1" noRot="1" noChangeAspect="1" noChangeArrowheads="1" noTextEdit="1"/>
          </p:cNvSpPr>
          <p:nvPr>
            <p:ph type="sldImg"/>
          </p:nvPr>
        </p:nvSpPr>
        <p:spPr>
          <a:xfrm>
            <a:off x="1292225" y="796925"/>
            <a:ext cx="4273550" cy="3205163"/>
          </a:xfrm>
          <a:ln/>
        </p:spPr>
      </p:sp>
      <p:sp>
        <p:nvSpPr>
          <p:cNvPr id="10137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2573177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CCC45F-6507-407B-93E1-C867888B91DE}" type="slidenum">
              <a:rPr lang="en-US" altLang="en-US"/>
              <a:pPr/>
              <a:t>19</a:t>
            </a:fld>
            <a:endParaRPr lang="en-US" altLang="en-US"/>
          </a:p>
        </p:txBody>
      </p:sp>
      <p:sp>
        <p:nvSpPr>
          <p:cNvPr id="103426" name="Rectangle 2"/>
          <p:cNvSpPr>
            <a:spLocks noGrp="1" noRot="1" noChangeAspect="1" noChangeArrowheads="1" noTextEdit="1"/>
          </p:cNvSpPr>
          <p:nvPr>
            <p:ph type="sldImg"/>
          </p:nvPr>
        </p:nvSpPr>
        <p:spPr>
          <a:xfrm>
            <a:off x="1292225" y="796925"/>
            <a:ext cx="4273550" cy="3205163"/>
          </a:xfrm>
          <a:ln/>
        </p:spPr>
      </p:sp>
      <p:sp>
        <p:nvSpPr>
          <p:cNvPr id="103427" name="Rectangle 3"/>
          <p:cNvSpPr>
            <a:spLocks noGrp="1" noChangeArrowheads="1"/>
          </p:cNvSpPr>
          <p:nvPr>
            <p:ph type="body" idx="1"/>
          </p:nvPr>
        </p:nvSpPr>
        <p:spPr>
          <a:xfrm>
            <a:off x="913991" y="4347195"/>
            <a:ext cx="5030018" cy="3849359"/>
          </a:xfrm>
        </p:spPr>
        <p:txBody>
          <a:bodyPr/>
          <a:lstStyle/>
          <a:p>
            <a:endParaRPr lang="en-US" altLang="en-US" dirty="0"/>
          </a:p>
        </p:txBody>
      </p:sp>
    </p:spTree>
    <p:extLst>
      <p:ext uri="{BB962C8B-B14F-4D97-AF65-F5344CB8AC3E}">
        <p14:creationId xmlns:p14="http://schemas.microsoft.com/office/powerpoint/2010/main" val="3122668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4197-ED94-4BB6-DA29-4F8304C75804}"/>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A470FBC0-8615-7450-3C55-A9782E3791E0}"/>
              </a:ext>
            </a:extLst>
          </p:cNvPr>
          <p:cNvSpPr>
            <a:spLocks noGrp="1" noChangeArrowheads="1"/>
          </p:cNvSpPr>
          <p:nvPr>
            <p:ph type="sldNum" sz="quarter" idx="5"/>
          </p:nvPr>
        </p:nvSpPr>
        <p:spPr>
          <a:ln/>
        </p:spPr>
        <p:txBody>
          <a:bodyPr/>
          <a:lstStyle/>
          <a:p>
            <a:fld id="{42CCC45F-6507-407B-93E1-C867888B91DE}" type="slidenum">
              <a:rPr lang="en-US" altLang="en-US"/>
              <a:pPr/>
              <a:t>20</a:t>
            </a:fld>
            <a:endParaRPr lang="en-US" altLang="en-US"/>
          </a:p>
        </p:txBody>
      </p:sp>
      <p:sp>
        <p:nvSpPr>
          <p:cNvPr id="103426" name="Rectangle 2">
            <a:extLst>
              <a:ext uri="{FF2B5EF4-FFF2-40B4-BE49-F238E27FC236}">
                <a16:creationId xmlns:a16="http://schemas.microsoft.com/office/drawing/2014/main" id="{64022690-602D-83F2-CD03-7D810F7ADF51}"/>
              </a:ext>
            </a:extLst>
          </p:cNvPr>
          <p:cNvSpPr>
            <a:spLocks noGrp="1" noRot="1" noChangeAspect="1" noChangeArrowheads="1" noTextEdit="1"/>
          </p:cNvSpPr>
          <p:nvPr>
            <p:ph type="sldImg"/>
          </p:nvPr>
        </p:nvSpPr>
        <p:spPr>
          <a:xfrm>
            <a:off x="1292225" y="796925"/>
            <a:ext cx="4273550" cy="3205163"/>
          </a:xfrm>
          <a:ln/>
        </p:spPr>
      </p:sp>
      <p:sp>
        <p:nvSpPr>
          <p:cNvPr id="103427" name="Rectangle 3">
            <a:extLst>
              <a:ext uri="{FF2B5EF4-FFF2-40B4-BE49-F238E27FC236}">
                <a16:creationId xmlns:a16="http://schemas.microsoft.com/office/drawing/2014/main" id="{3B3D4BC8-9CC8-CD85-5F5A-42C2E23F293E}"/>
              </a:ext>
            </a:extLst>
          </p:cNvPr>
          <p:cNvSpPr>
            <a:spLocks noGrp="1" noChangeArrowheads="1"/>
          </p:cNvSpPr>
          <p:nvPr>
            <p:ph type="body" idx="1"/>
          </p:nvPr>
        </p:nvSpPr>
        <p:spPr>
          <a:xfrm>
            <a:off x="913991" y="4347195"/>
            <a:ext cx="5030018" cy="3849359"/>
          </a:xfrm>
        </p:spPr>
        <p:txBody>
          <a:bodyPr/>
          <a:lstStyle/>
          <a:p>
            <a:endParaRPr lang="en-US" altLang="en-US" dirty="0"/>
          </a:p>
        </p:txBody>
      </p:sp>
    </p:spTree>
    <p:extLst>
      <p:ext uri="{BB962C8B-B14F-4D97-AF65-F5344CB8AC3E}">
        <p14:creationId xmlns:p14="http://schemas.microsoft.com/office/powerpoint/2010/main" val="2422688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883715-1B24-4446-9A91-F4545B2ED09D}" type="slidenum">
              <a:rPr lang="en-US" altLang="en-US"/>
              <a:pPr/>
              <a:t>21</a:t>
            </a:fld>
            <a:endParaRPr lang="en-US" altLang="en-US"/>
          </a:p>
        </p:txBody>
      </p:sp>
      <p:sp>
        <p:nvSpPr>
          <p:cNvPr id="105474" name="Rectangle 2"/>
          <p:cNvSpPr>
            <a:spLocks noGrp="1" noRot="1" noChangeAspect="1" noChangeArrowheads="1" noTextEdit="1"/>
          </p:cNvSpPr>
          <p:nvPr>
            <p:ph type="sldImg"/>
          </p:nvPr>
        </p:nvSpPr>
        <p:spPr>
          <a:xfrm>
            <a:off x="1292225" y="796925"/>
            <a:ext cx="4273550" cy="3205163"/>
          </a:xfrm>
          <a:ln/>
        </p:spPr>
      </p:sp>
      <p:sp>
        <p:nvSpPr>
          <p:cNvPr id="105475" name="Rectangle 3"/>
          <p:cNvSpPr>
            <a:spLocks noGrp="1" noChangeArrowheads="1"/>
          </p:cNvSpPr>
          <p:nvPr>
            <p:ph type="body" idx="1"/>
          </p:nvPr>
        </p:nvSpPr>
        <p:spPr>
          <a:xfrm>
            <a:off x="913991" y="4347195"/>
            <a:ext cx="5030018" cy="3849359"/>
          </a:xfrm>
        </p:spPr>
        <p:txBody>
          <a:bodyPr/>
          <a:lstStyle/>
          <a:p>
            <a:endParaRPr lang="en-GB" altLang="en-US" dirty="0">
              <a:effectLst>
                <a:outerShdw blurRad="38100" dist="38100" dir="2700000" algn="tl">
                  <a:srgbClr val="C0C0C0"/>
                </a:outerShdw>
              </a:effectLst>
            </a:endParaRPr>
          </a:p>
        </p:txBody>
      </p:sp>
    </p:spTree>
    <p:extLst>
      <p:ext uri="{BB962C8B-B14F-4D97-AF65-F5344CB8AC3E}">
        <p14:creationId xmlns:p14="http://schemas.microsoft.com/office/powerpoint/2010/main" val="5130926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22</a:t>
            </a:fld>
            <a:endParaRPr lang="en-GB"/>
          </a:p>
        </p:txBody>
      </p:sp>
    </p:spTree>
    <p:extLst>
      <p:ext uri="{BB962C8B-B14F-4D97-AF65-F5344CB8AC3E}">
        <p14:creationId xmlns:p14="http://schemas.microsoft.com/office/powerpoint/2010/main" val="4113091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23</a:t>
            </a:fld>
            <a:endParaRPr lang="en-GB"/>
          </a:p>
        </p:txBody>
      </p:sp>
    </p:spTree>
    <p:extLst>
      <p:ext uri="{BB962C8B-B14F-4D97-AF65-F5344CB8AC3E}">
        <p14:creationId xmlns:p14="http://schemas.microsoft.com/office/powerpoint/2010/main" val="1532501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24</a:t>
            </a:fld>
            <a:endParaRPr lang="en-GB"/>
          </a:p>
        </p:txBody>
      </p:sp>
    </p:spTree>
    <p:extLst>
      <p:ext uri="{BB962C8B-B14F-4D97-AF65-F5344CB8AC3E}">
        <p14:creationId xmlns:p14="http://schemas.microsoft.com/office/powerpoint/2010/main" val="2891932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25</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2846985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26</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696088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27</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742134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28</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4328462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29</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935956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A930C-2942-4518-A1AC-A57B216B360C}" type="slidenum">
              <a:rPr lang="en-US" altLang="en-US"/>
              <a:pPr/>
              <a:t>30</a:t>
            </a:fld>
            <a:endParaRPr lang="en-US" altLang="en-US"/>
          </a:p>
        </p:txBody>
      </p:sp>
      <p:sp>
        <p:nvSpPr>
          <p:cNvPr id="111618" name="Rectangle 2"/>
          <p:cNvSpPr>
            <a:spLocks noGrp="1" noRot="1" noChangeAspect="1" noChangeArrowheads="1" noTextEdit="1"/>
          </p:cNvSpPr>
          <p:nvPr>
            <p:ph type="sldImg"/>
          </p:nvPr>
        </p:nvSpPr>
        <p:spPr>
          <a:xfrm>
            <a:off x="1292225" y="796925"/>
            <a:ext cx="4273550" cy="3205163"/>
          </a:xfrm>
          <a:ln/>
        </p:spPr>
      </p:sp>
      <p:sp>
        <p:nvSpPr>
          <p:cNvPr id="1116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2278741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31</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US" altLang="en-US" dirty="0"/>
          </a:p>
        </p:txBody>
      </p:sp>
    </p:spTree>
    <p:extLst>
      <p:ext uri="{BB962C8B-B14F-4D97-AF65-F5344CB8AC3E}">
        <p14:creationId xmlns:p14="http://schemas.microsoft.com/office/powerpoint/2010/main" val="3045668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32</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GB" altLang="en-US" dirty="0"/>
          </a:p>
          <a:p>
            <a:endParaRPr lang="en-GB" altLang="en-US" dirty="0"/>
          </a:p>
          <a:p>
            <a:endParaRPr lang="en-US" altLang="en-US" dirty="0"/>
          </a:p>
        </p:txBody>
      </p:sp>
    </p:spTree>
    <p:extLst>
      <p:ext uri="{BB962C8B-B14F-4D97-AF65-F5344CB8AC3E}">
        <p14:creationId xmlns:p14="http://schemas.microsoft.com/office/powerpoint/2010/main" val="15289966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33</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GB" altLang="en-US" dirty="0"/>
          </a:p>
          <a:p>
            <a:endParaRPr lang="en-US" altLang="en-US" dirty="0"/>
          </a:p>
        </p:txBody>
      </p:sp>
    </p:spTree>
    <p:extLst>
      <p:ext uri="{BB962C8B-B14F-4D97-AF65-F5344CB8AC3E}">
        <p14:creationId xmlns:p14="http://schemas.microsoft.com/office/powerpoint/2010/main" val="23269345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34</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GB" altLang="en-US" dirty="0"/>
          </a:p>
          <a:p>
            <a:endParaRPr lang="en-US" altLang="en-US" dirty="0"/>
          </a:p>
        </p:txBody>
      </p:sp>
    </p:spTree>
    <p:extLst>
      <p:ext uri="{BB962C8B-B14F-4D97-AF65-F5344CB8AC3E}">
        <p14:creationId xmlns:p14="http://schemas.microsoft.com/office/powerpoint/2010/main" val="16420443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35</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GB" altLang="en-US" dirty="0"/>
          </a:p>
          <a:p>
            <a:endParaRPr lang="en-US" altLang="en-US" dirty="0"/>
          </a:p>
        </p:txBody>
      </p:sp>
    </p:spTree>
    <p:extLst>
      <p:ext uri="{BB962C8B-B14F-4D97-AF65-F5344CB8AC3E}">
        <p14:creationId xmlns:p14="http://schemas.microsoft.com/office/powerpoint/2010/main" val="11289903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FBB293-1174-408D-A230-37AC5921BDD5}" type="slidenum">
              <a:rPr lang="en-US" altLang="en-US"/>
              <a:pPr/>
              <a:t>36</a:t>
            </a:fld>
            <a:endParaRPr lang="en-US" altLang="en-US"/>
          </a:p>
        </p:txBody>
      </p:sp>
      <p:sp>
        <p:nvSpPr>
          <p:cNvPr id="128002" name="Rectangle 2"/>
          <p:cNvSpPr>
            <a:spLocks noGrp="1" noRot="1" noChangeAspect="1" noChangeArrowheads="1" noTextEdit="1"/>
          </p:cNvSpPr>
          <p:nvPr>
            <p:ph type="sldImg"/>
          </p:nvPr>
        </p:nvSpPr>
        <p:spPr>
          <a:xfrm>
            <a:off x="1292225" y="796925"/>
            <a:ext cx="4273550" cy="3205163"/>
          </a:xfrm>
          <a:ln/>
        </p:spPr>
      </p:sp>
      <p:sp>
        <p:nvSpPr>
          <p:cNvPr id="128003" name="Rectangle 3"/>
          <p:cNvSpPr>
            <a:spLocks noGrp="1" noChangeArrowheads="1"/>
          </p:cNvSpPr>
          <p:nvPr>
            <p:ph type="body" idx="1"/>
          </p:nvPr>
        </p:nvSpPr>
        <p:spPr>
          <a:xfrm>
            <a:off x="913991" y="4347195"/>
            <a:ext cx="5030018" cy="3849359"/>
          </a:xfrm>
        </p:spPr>
        <p:txBody>
          <a:bodyPr/>
          <a:lstStyle/>
          <a:p>
            <a:endParaRPr lang="en-GB" altLang="en-US" dirty="0"/>
          </a:p>
          <a:p>
            <a:endParaRPr lang="en-GB" altLang="en-US" dirty="0"/>
          </a:p>
          <a:p>
            <a:endParaRPr lang="en-US" altLang="en-US" dirty="0"/>
          </a:p>
        </p:txBody>
      </p:sp>
    </p:spTree>
    <p:extLst>
      <p:ext uri="{BB962C8B-B14F-4D97-AF65-F5344CB8AC3E}">
        <p14:creationId xmlns:p14="http://schemas.microsoft.com/office/powerpoint/2010/main" val="8885383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43</a:t>
            </a:fld>
            <a:endParaRPr lang="en-GB"/>
          </a:p>
        </p:txBody>
      </p:sp>
    </p:spTree>
    <p:extLst>
      <p:ext uri="{BB962C8B-B14F-4D97-AF65-F5344CB8AC3E}">
        <p14:creationId xmlns:p14="http://schemas.microsoft.com/office/powerpoint/2010/main" val="684218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44</a:t>
            </a:fld>
            <a:endParaRPr lang="en-GB"/>
          </a:p>
        </p:txBody>
      </p:sp>
    </p:spTree>
    <p:extLst>
      <p:ext uri="{BB962C8B-B14F-4D97-AF65-F5344CB8AC3E}">
        <p14:creationId xmlns:p14="http://schemas.microsoft.com/office/powerpoint/2010/main" val="525332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lvl1pPr algn="l">
              <a:defRPr/>
            </a:lvl1p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250"/>
            <a:ext cx="8229600" cy="1143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92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11/16/25</a:t>
            </a:fld>
            <a:endParaRPr lang="en-US"/>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12"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7.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2.png"/><Relationship Id="rId4" Type="http://schemas.openxmlformats.org/officeDocument/2006/relationships/chart" Target="../charts/chart2.xml"/><Relationship Id="rId9"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3.png"/><Relationship Id="rId5" Type="http://schemas.openxmlformats.org/officeDocument/2006/relationships/image" Target="../media/image420.png"/><Relationship Id="rId4" Type="http://schemas.openxmlformats.org/officeDocument/2006/relationships/image" Target="../media/image410.png"/></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20.png"/><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420.png"/><Relationship Id="rId5" Type="http://schemas.openxmlformats.org/officeDocument/2006/relationships/image" Target="../media/image44.png"/><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20.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7.png"/><Relationship Id="rId7"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chart" Target="../charts/chart7.xml"/><Relationship Id="rId10" Type="http://schemas.openxmlformats.org/officeDocument/2006/relationships/image" Target="../media/image51.png"/><Relationship Id="rId4" Type="http://schemas.openxmlformats.org/officeDocument/2006/relationships/chart" Target="../charts/chart7.xml"/><Relationship Id="rId9" Type="http://schemas.openxmlformats.org/officeDocument/2006/relationships/image" Target="../media/image50.png"/></Relationships>
</file>

<file path=ppt/slides/_rels/slide1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580.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76.png"/><Relationship Id="rId4" Type="http://schemas.openxmlformats.org/officeDocument/2006/relationships/image" Target="../media/image6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77.png"/></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chart" Target="../charts/char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hyperlink" Target="http://www.sjsu.edu/faculty/gerstman/EpiInfo/cont-mult1.jpg" TargetMode="External"/><Relationship Id="rId4" Type="http://schemas.openxmlformats.org/officeDocument/2006/relationships/image" Target="../media/image610.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140.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40.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40.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solidFill>
            <a:srgbClr val="FFC0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2917455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7200" y="990600"/>
            <a:ext cx="5150357"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Week 8 Linear Regression</a:t>
            </a:r>
          </a:p>
        </p:txBody>
      </p:sp>
      <p:graphicFrame>
        <p:nvGraphicFramePr>
          <p:cNvPr id="9" name="Table 8"/>
          <p:cNvGraphicFramePr>
            <a:graphicFrameLocks noGrp="1"/>
          </p:cNvGraphicFramePr>
          <p:nvPr>
            <p:extLst>
              <p:ext uri="{D42A27DB-BD31-4B8C-83A1-F6EECF244321}">
                <p14:modId xmlns:p14="http://schemas.microsoft.com/office/powerpoint/2010/main" val="630465641"/>
              </p:ext>
            </p:extLst>
          </p:nvPr>
        </p:nvGraphicFramePr>
        <p:xfrm>
          <a:off x="751624" y="2743200"/>
          <a:ext cx="7657287" cy="2476500"/>
        </p:xfrm>
        <a:graphic>
          <a:graphicData uri="http://schemas.openxmlformats.org/drawingml/2006/table">
            <a:tbl>
              <a:tblPr firstRow="1" firstCol="1">
                <a:tableStyleId>{8EC20E35-A176-4012-BC5E-935CFFF8708E}</a:tableStyleId>
              </a:tblPr>
              <a:tblGrid>
                <a:gridCol w="2018487">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Relating</a:t>
                      </a:r>
                    </a:p>
                    <a:p>
                      <a:pPr algn="ctr"/>
                      <a:r>
                        <a:rPr lang="en-GB" sz="2400" dirty="0"/>
                        <a:t>Two groups</a:t>
                      </a:r>
                    </a:p>
                  </a:txBody>
                  <a:tcPr anchor="ctr"/>
                </a:tc>
                <a:tc>
                  <a:txBody>
                    <a:bodyPr/>
                    <a:lstStyle/>
                    <a:p>
                      <a:pPr algn="ctr"/>
                      <a:r>
                        <a:rPr lang="el-GR" sz="3200" b="1" dirty="0">
                          <a:solidFill>
                            <a:schemeClr val="tx1">
                              <a:lumMod val="50000"/>
                              <a:lumOff val="50000"/>
                            </a:schemeClr>
                          </a:solidFill>
                        </a:rPr>
                        <a:t>χ</a:t>
                      </a:r>
                      <a:r>
                        <a:rPr lang="en-GB" sz="3200" b="1" baseline="30000" dirty="0">
                          <a:solidFill>
                            <a:schemeClr val="tx1">
                              <a:lumMod val="50000"/>
                              <a:lumOff val="50000"/>
                            </a:schemeClr>
                          </a:solidFill>
                        </a:rPr>
                        <a:t>2</a:t>
                      </a:r>
                    </a:p>
                    <a:p>
                      <a:pPr algn="ctr"/>
                      <a:r>
                        <a:rPr lang="en-GB" sz="1800" dirty="0">
                          <a:solidFill>
                            <a:schemeClr val="tx1">
                              <a:lumMod val="50000"/>
                              <a:lumOff val="50000"/>
                            </a:schemeClr>
                          </a:solidFill>
                        </a:rPr>
                        <a:t>test for</a:t>
                      </a:r>
                      <a:r>
                        <a:rPr lang="en-GB" sz="1800" baseline="0" dirty="0">
                          <a:solidFill>
                            <a:schemeClr val="tx1">
                              <a:lumMod val="50000"/>
                              <a:lumOff val="50000"/>
                            </a:schemeClr>
                          </a:solidFill>
                        </a:rPr>
                        <a:t> independence</a:t>
                      </a:r>
                      <a:endParaRPr lang="en-GB" sz="1800" baseline="30000" dirty="0">
                        <a:solidFill>
                          <a:schemeClr val="tx1">
                            <a:lumMod val="50000"/>
                            <a:lumOff val="50000"/>
                          </a:schemeClr>
                        </a:solidFill>
                      </a:endParaRPr>
                    </a:p>
                  </a:txBody>
                  <a:tcPr anchor="ctr">
                    <a:solidFill>
                      <a:schemeClr val="bg1">
                        <a:lumMod val="85000"/>
                      </a:schemeClr>
                    </a:solidFill>
                  </a:tcPr>
                </a:tc>
                <a:tc>
                  <a:txBody>
                    <a:bodyPr/>
                    <a:lstStyle/>
                    <a:p>
                      <a:pPr algn="ctr"/>
                      <a:r>
                        <a:rPr lang="en-GB" sz="2400" baseline="0" dirty="0">
                          <a:solidFill>
                            <a:schemeClr val="tx1"/>
                          </a:solidFill>
                        </a:rPr>
                        <a:t>Correlation</a:t>
                      </a:r>
                    </a:p>
                    <a:p>
                      <a:pPr algn="ctr"/>
                      <a:r>
                        <a:rPr lang="en-GB" sz="2400" b="1" baseline="0" dirty="0">
                          <a:solidFill>
                            <a:schemeClr val="tx1"/>
                          </a:solidFill>
                        </a:rPr>
                        <a:t>Linear Regression</a:t>
                      </a:r>
                      <a:endParaRPr lang="en-GB" sz="2400" b="1" baseline="30000" dirty="0">
                        <a:solidFill>
                          <a:schemeClr val="tx1"/>
                        </a:solidFill>
                      </a:endParaRPr>
                    </a:p>
                  </a:txBody>
                  <a:tcPr anchor="ctr">
                    <a:solidFill>
                      <a:schemeClr val="bg1">
                        <a:lumMod val="85000"/>
                      </a:schemeClr>
                    </a:solidFill>
                  </a:tcPr>
                </a:tc>
                <a:extLst>
                  <a:ext uri="{0D108BD9-81ED-4DB2-BD59-A6C34878D82A}">
                    <a16:rowId xmlns:a16="http://schemas.microsoft.com/office/drawing/2014/main" val="10001"/>
                  </a:ext>
                </a:extLst>
              </a:tr>
              <a:tr h="1047750">
                <a:tc>
                  <a:txBody>
                    <a:bodyPr/>
                    <a:lstStyle/>
                    <a:p>
                      <a:pPr algn="ctr"/>
                      <a:r>
                        <a:rPr lang="en-GB" b="0" dirty="0"/>
                        <a:t>Relating</a:t>
                      </a:r>
                    </a:p>
                    <a:p>
                      <a:pPr algn="ctr"/>
                      <a:r>
                        <a:rPr lang="en-GB" sz="2400" b="1" dirty="0"/>
                        <a:t>Many groups</a:t>
                      </a:r>
                    </a:p>
                  </a:txBody>
                  <a:tcPr anchor="ctr"/>
                </a:tc>
                <a:tc>
                  <a:txBody>
                    <a:bodyPr/>
                    <a:lstStyle/>
                    <a:p>
                      <a:pPr marL="0" algn="ctr" defTabSz="914400" rtl="0" eaLnBrk="1" latinLnBrk="0" hangingPunct="1"/>
                      <a:r>
                        <a:rPr lang="en-GB" sz="2400" b="0" kern="1200" dirty="0">
                          <a:solidFill>
                            <a:schemeClr val="tx1"/>
                          </a:solidFill>
                          <a:latin typeface="+mn-lt"/>
                          <a:ea typeface="+mn-ea"/>
                          <a:cs typeface="+mn-cs"/>
                        </a:rPr>
                        <a:t>Logistic Regression</a:t>
                      </a:r>
                    </a:p>
                  </a:txBody>
                  <a:tcPr anchor="ctr"/>
                </a:tc>
                <a:tc>
                  <a:txBody>
                    <a:bodyPr/>
                    <a:lstStyle/>
                    <a:p>
                      <a:pPr algn="ctr"/>
                      <a:r>
                        <a:rPr lang="en-GB" sz="2400" b="0" dirty="0">
                          <a:solidFill>
                            <a:schemeClr val="tx1"/>
                          </a:solidFill>
                        </a:rPr>
                        <a:t>Multiple Regression</a:t>
                      </a:r>
                    </a:p>
                  </a:txBody>
                  <a:tcPr anchor="ctr"/>
                </a:tc>
                <a:extLst>
                  <a:ext uri="{0D108BD9-81ED-4DB2-BD59-A6C34878D82A}">
                    <a16:rowId xmlns:a16="http://schemas.microsoft.com/office/drawing/2014/main" val="10002"/>
                  </a:ext>
                </a:extLst>
              </a:tr>
            </a:tbl>
          </a:graphicData>
        </a:graphic>
      </p:graphicFrame>
      <p:sp>
        <p:nvSpPr>
          <p:cNvPr id="10" name="TextBox 9"/>
          <p:cNvSpPr txBox="1"/>
          <p:nvPr/>
        </p:nvSpPr>
        <p:spPr>
          <a:xfrm>
            <a:off x="3266224" y="5215354"/>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11" name="Rounded Rectangle 10"/>
          <p:cNvSpPr/>
          <p:nvPr/>
        </p:nvSpPr>
        <p:spPr>
          <a:xfrm>
            <a:off x="3032379" y="3157954"/>
            <a:ext cx="2209800" cy="9906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5665711" y="3157954"/>
            <a:ext cx="2590800" cy="990600"/>
          </a:xfrm>
          <a:prstGeom prst="roundRect">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8160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Regression Line</a:t>
            </a:r>
            <a:endParaRPr lang="en-GB" dirty="0"/>
          </a:p>
        </p:txBody>
      </p:sp>
      <p:graphicFrame>
        <p:nvGraphicFramePr>
          <p:cNvPr id="3" name="Chart 2"/>
          <p:cNvGraphicFramePr>
            <a:graphicFrameLocks/>
          </p:cNvGraphicFramePr>
          <p:nvPr>
            <p:extLst>
              <p:ext uri="{D42A27DB-BD31-4B8C-83A1-F6EECF244321}">
                <p14:modId xmlns:p14="http://schemas.microsoft.com/office/powerpoint/2010/main" val="3281408675"/>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4" name="Left-Right Arrow 3"/>
          <p:cNvSpPr/>
          <p:nvPr/>
        </p:nvSpPr>
        <p:spPr>
          <a:xfrm rot="20199068">
            <a:off x="2438345" y="2781663"/>
            <a:ext cx="4085506" cy="223212"/>
          </a:xfrm>
          <a:prstGeom prst="leftRightArrow">
            <a:avLst/>
          </a:prstGeom>
          <a:solidFill>
            <a:srgbClr val="C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ular Callout 4"/>
          <p:cNvSpPr/>
          <p:nvPr/>
        </p:nvSpPr>
        <p:spPr>
          <a:xfrm>
            <a:off x="5486400" y="342900"/>
            <a:ext cx="3394956" cy="838200"/>
          </a:xfrm>
          <a:prstGeom prst="wedgeRoundRectCallout">
            <a:avLst>
              <a:gd name="adj1" fmla="val -37321"/>
              <a:gd name="adj2" fmla="val 162150"/>
              <a:gd name="adj3" fmla="val 16667"/>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en-US" dirty="0">
                <a:solidFill>
                  <a:sysClr val="windowText" lastClr="000000"/>
                </a:solidFill>
              </a:rPr>
              <a:t>So, how to calculate the line that best fits the given data points?</a:t>
            </a:r>
          </a:p>
        </p:txBody>
      </p:sp>
      <p:sp>
        <p:nvSpPr>
          <p:cNvPr id="6" name="Rectangle 5"/>
          <p:cNvSpPr/>
          <p:nvPr/>
        </p:nvSpPr>
        <p:spPr>
          <a:xfrm>
            <a:off x="304800" y="762000"/>
            <a:ext cx="4572000" cy="923330"/>
          </a:xfrm>
          <a:prstGeom prst="rect">
            <a:avLst/>
          </a:prstGeom>
        </p:spPr>
        <p:txBody>
          <a:bodyPr>
            <a:spAutoFit/>
          </a:bodyPr>
          <a:lstStyle/>
          <a:p>
            <a:r>
              <a:rPr lang="en-GB" altLang="en-US" dirty="0"/>
              <a:t>Even if a straight line relationship were true, </a:t>
            </a:r>
            <a:r>
              <a:rPr lang="en-GB" altLang="en-US" b="1" dirty="0"/>
              <a:t>we do not get</a:t>
            </a:r>
            <a:r>
              <a:rPr lang="en-GB" altLang="en-US" dirty="0"/>
              <a:t> all points </a:t>
            </a:r>
            <a:r>
              <a:rPr lang="en-GB" altLang="en-US" b="1" dirty="0"/>
              <a:t>precisely on the line</a:t>
            </a:r>
            <a:r>
              <a:rPr lang="en-GB" altLang="en-US" dirty="0"/>
              <a:t> due to </a:t>
            </a:r>
            <a:r>
              <a:rPr lang="en-GB" altLang="en-US" b="1" dirty="0"/>
              <a:t>measurement errors</a:t>
            </a:r>
            <a:r>
              <a:rPr lang="en-GB" altLang="en-US" dirty="0"/>
              <a:t>.</a:t>
            </a:r>
            <a:endParaRPr lang="en-GB" dirty="0"/>
          </a:p>
        </p:txBody>
      </p:sp>
    </p:spTree>
    <p:extLst>
      <p:ext uri="{BB962C8B-B14F-4D97-AF65-F5344CB8AC3E}">
        <p14:creationId xmlns:p14="http://schemas.microsoft.com/office/powerpoint/2010/main" val="80786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304800" y="876178"/>
            <a:ext cx="23735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chemeClr val="tx2"/>
                </a:solidFill>
              </a:rPr>
              <a:t>Algebraic Form</a:t>
            </a:r>
          </a:p>
        </p:txBody>
      </p:sp>
      <mc:AlternateContent xmlns:mc="http://schemas.openxmlformats.org/markup-compatibility/2006" xmlns:a14="http://schemas.microsoft.com/office/drawing/2010/main">
        <mc:Choice Requires="a14">
          <p:sp>
            <p:nvSpPr>
              <p:cNvPr id="67587" name="Text Box 3"/>
              <p:cNvSpPr txBox="1">
                <a:spLocks noChangeArrowheads="1"/>
              </p:cNvSpPr>
              <p:nvPr/>
            </p:nvSpPr>
            <p:spPr bwMode="auto">
              <a:xfrm>
                <a:off x="457200" y="2872154"/>
                <a:ext cx="2481256" cy="646331"/>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3600" i="1" dirty="0" smtClean="0">
                          <a:latin typeface="Cambria Math"/>
                        </a:rPr>
                        <m:t>𝑦</m:t>
                      </m:r>
                      <m:r>
                        <a:rPr lang="en-GB" altLang="en-US" sz="3600" i="1" dirty="0" smtClean="0">
                          <a:latin typeface="Cambria Math"/>
                        </a:rPr>
                        <m:t>=</m:t>
                      </m:r>
                      <m:r>
                        <a:rPr lang="en-GB" altLang="en-US" sz="3600" i="1" dirty="0" smtClean="0">
                          <a:latin typeface="Cambria Math"/>
                        </a:rPr>
                        <m:t>𝑎</m:t>
                      </m:r>
                      <m:r>
                        <a:rPr lang="en-GB" altLang="en-US" sz="3600" i="1" dirty="0" smtClean="0">
                          <a:latin typeface="Cambria Math"/>
                        </a:rPr>
                        <m:t>+</m:t>
                      </m:r>
                      <m:r>
                        <a:rPr lang="en-GB" altLang="en-US" sz="3600" i="1" dirty="0" err="1">
                          <a:latin typeface="Cambria Math"/>
                        </a:rPr>
                        <m:t>𝑏𝑥</m:t>
                      </m:r>
                    </m:oMath>
                  </m:oMathPara>
                </a14:m>
                <a:endParaRPr lang="en-GB" altLang="en-US" sz="3600" dirty="0"/>
              </a:p>
            </p:txBody>
          </p:sp>
        </mc:Choice>
        <mc:Fallback xmlns="">
          <p:sp>
            <p:nvSpPr>
              <p:cNvPr id="67587" name="Text Box 3"/>
              <p:cNvSpPr txBox="1">
                <a:spLocks noRot="1" noChangeAspect="1" noMove="1" noResize="1" noEditPoints="1" noAdjustHandles="1" noChangeArrowheads="1" noChangeShapeType="1" noTextEdit="1"/>
              </p:cNvSpPr>
              <p:nvPr/>
            </p:nvSpPr>
            <p:spPr bwMode="auto">
              <a:xfrm>
                <a:off x="457200" y="2872154"/>
                <a:ext cx="2481256" cy="646331"/>
              </a:xfrm>
              <a:prstGeom prst="rect">
                <a:avLst/>
              </a:prstGeom>
              <a:blipFill rotWithShape="1">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67593" name="Text Box 9"/>
          <p:cNvSpPr txBox="1">
            <a:spLocks noChangeArrowheads="1"/>
          </p:cNvSpPr>
          <p:nvPr/>
        </p:nvSpPr>
        <p:spPr bwMode="auto">
          <a:xfrm>
            <a:off x="477330" y="1600200"/>
            <a:ext cx="1340852" cy="715089"/>
          </a:xfrm>
          <a:prstGeom prst="wedgeRoundRectCallout">
            <a:avLst>
              <a:gd name="adj1" fmla="val -29357"/>
              <a:gd name="adj2" fmla="val 149797"/>
              <a:gd name="adj3" fmla="val 16667"/>
            </a:avLst>
          </a:prstGeom>
          <a:solidFill>
            <a:schemeClr val="bg1">
              <a:lumMod val="95000"/>
            </a:schemeClr>
          </a:solidFill>
          <a:ln>
            <a:noFill/>
          </a:ln>
          <a:effectLst/>
        </p:spPr>
        <p:txBody>
          <a:bodyPr wrap="none">
            <a:spAutoFit/>
          </a:bodyPr>
          <a:lstStyle/>
          <a:p>
            <a:pPr algn="ctr"/>
            <a:r>
              <a:rPr lang="en-GB" altLang="en-US" b="1" dirty="0"/>
              <a:t>dependent</a:t>
            </a:r>
            <a:r>
              <a:rPr lang="en-GB" altLang="en-US" dirty="0"/>
              <a:t> </a:t>
            </a:r>
          </a:p>
          <a:p>
            <a:pPr algn="ctr"/>
            <a:r>
              <a:rPr lang="en-GB" altLang="en-US" dirty="0"/>
              <a:t>variable</a:t>
            </a:r>
          </a:p>
        </p:txBody>
      </p:sp>
      <p:sp>
        <p:nvSpPr>
          <p:cNvPr id="67594" name="Text Box 10"/>
          <p:cNvSpPr txBox="1">
            <a:spLocks noChangeArrowheads="1"/>
          </p:cNvSpPr>
          <p:nvPr/>
        </p:nvSpPr>
        <p:spPr bwMode="auto">
          <a:xfrm>
            <a:off x="2235635" y="4030781"/>
            <a:ext cx="1473612" cy="715089"/>
          </a:xfrm>
          <a:prstGeom prst="wedgeRoundRectCallout">
            <a:avLst>
              <a:gd name="adj1" fmla="val -22026"/>
              <a:gd name="adj2" fmla="val -135456"/>
              <a:gd name="adj3" fmla="val 16667"/>
            </a:avLst>
          </a:prstGeom>
          <a:solidFill>
            <a:schemeClr val="bg1">
              <a:lumMod val="95000"/>
            </a:schemeClr>
          </a:solidFill>
          <a:ln>
            <a:noFill/>
          </a:ln>
          <a:effectLst/>
        </p:spPr>
        <p:txBody>
          <a:bodyPr wrap="none">
            <a:spAutoFit/>
          </a:bodyPr>
          <a:lstStyle/>
          <a:p>
            <a:r>
              <a:rPr lang="en-GB" altLang="en-US" b="1" dirty="0"/>
              <a:t>independent</a:t>
            </a:r>
          </a:p>
          <a:p>
            <a:pPr algn="ctr"/>
            <a:r>
              <a:rPr lang="en-GB" altLang="en-US" dirty="0"/>
              <a:t>variable</a:t>
            </a:r>
          </a:p>
        </p:txBody>
      </p:sp>
      <p:sp>
        <p:nvSpPr>
          <p:cNvPr id="67595" name="Text Box 11"/>
          <p:cNvSpPr txBox="1">
            <a:spLocks noChangeArrowheads="1"/>
          </p:cNvSpPr>
          <p:nvPr/>
        </p:nvSpPr>
        <p:spPr bwMode="auto">
          <a:xfrm>
            <a:off x="2098755" y="1836416"/>
            <a:ext cx="1280420" cy="715089"/>
          </a:xfrm>
          <a:prstGeom prst="wedgeRoundRectCallout">
            <a:avLst>
              <a:gd name="adj1" fmla="val -27013"/>
              <a:gd name="adj2" fmla="val 104304"/>
              <a:gd name="adj3" fmla="val 16667"/>
            </a:avLst>
          </a:prstGeom>
          <a:solidFill>
            <a:schemeClr val="accent3">
              <a:lumMod val="40000"/>
              <a:lumOff val="60000"/>
            </a:schemeClr>
          </a:solidFill>
          <a:ln>
            <a:noFill/>
          </a:ln>
          <a:effectLst/>
        </p:spPr>
        <p:txBody>
          <a:bodyPr wrap="none">
            <a:spAutoFit/>
          </a:bodyPr>
          <a:lstStyle/>
          <a:p>
            <a:r>
              <a:rPr lang="en-GB" altLang="en-US" dirty="0"/>
              <a:t>gradient or</a:t>
            </a:r>
          </a:p>
          <a:p>
            <a:pPr algn="ctr"/>
            <a:r>
              <a:rPr lang="en-GB" altLang="en-US" b="1" dirty="0"/>
              <a:t>slope</a:t>
            </a:r>
          </a:p>
        </p:txBody>
      </p:sp>
      <p:sp>
        <p:nvSpPr>
          <p:cNvPr id="67596" name="Text Box 12"/>
          <p:cNvSpPr txBox="1">
            <a:spLocks noChangeArrowheads="1"/>
          </p:cNvSpPr>
          <p:nvPr/>
        </p:nvSpPr>
        <p:spPr bwMode="auto">
          <a:xfrm>
            <a:off x="503833" y="4164816"/>
            <a:ext cx="1307980" cy="715089"/>
          </a:xfrm>
          <a:prstGeom prst="wedgeRoundRectCallout">
            <a:avLst>
              <a:gd name="adj1" fmla="val 32943"/>
              <a:gd name="adj2" fmla="val -148981"/>
              <a:gd name="adj3" fmla="val 16667"/>
            </a:avLst>
          </a:prstGeom>
          <a:solidFill>
            <a:schemeClr val="accent6">
              <a:lumMod val="40000"/>
              <a:lumOff val="60000"/>
            </a:schemeClr>
          </a:solidFill>
          <a:ln>
            <a:noFill/>
          </a:ln>
          <a:effectLst/>
        </p:spPr>
        <p:txBody>
          <a:bodyPr wrap="none">
            <a:spAutoFit/>
          </a:bodyPr>
          <a:lstStyle/>
          <a:p>
            <a:pPr algn="ctr"/>
            <a:r>
              <a:rPr lang="en-GB" altLang="en-US" dirty="0"/>
              <a:t>constant or</a:t>
            </a:r>
          </a:p>
          <a:p>
            <a:pPr algn="ctr"/>
            <a:r>
              <a:rPr lang="en-GB" altLang="en-US" b="1" dirty="0"/>
              <a:t>intercept</a:t>
            </a:r>
          </a:p>
        </p:txBody>
      </p:sp>
      <p:sp>
        <p:nvSpPr>
          <p:cNvPr id="2" name="Title 1"/>
          <p:cNvSpPr>
            <a:spLocks noGrp="1"/>
          </p:cNvSpPr>
          <p:nvPr>
            <p:ph type="title"/>
          </p:nvPr>
        </p:nvSpPr>
        <p:spPr/>
        <p:txBody>
          <a:bodyPr/>
          <a:lstStyle/>
          <a:p>
            <a:r>
              <a:rPr lang="en-GB" dirty="0"/>
              <a:t>What is a line?</a:t>
            </a:r>
          </a:p>
        </p:txBody>
      </p:sp>
      <p:graphicFrame>
        <p:nvGraphicFramePr>
          <p:cNvPr id="14" name="Chart 13"/>
          <p:cNvGraphicFramePr>
            <a:graphicFrameLocks/>
          </p:cNvGraphicFramePr>
          <p:nvPr>
            <p:extLst>
              <p:ext uri="{D42A27DB-BD31-4B8C-83A1-F6EECF244321}">
                <p14:modId xmlns:p14="http://schemas.microsoft.com/office/powerpoint/2010/main" val="2013514242"/>
              </p:ext>
            </p:extLst>
          </p:nvPr>
        </p:nvGraphicFramePr>
        <p:xfrm>
          <a:off x="4495800" y="1905000"/>
          <a:ext cx="4114800" cy="3276600"/>
        </p:xfrm>
        <a:graphic>
          <a:graphicData uri="http://schemas.openxmlformats.org/drawingml/2006/chart">
            <c:chart xmlns:c="http://schemas.openxmlformats.org/drawingml/2006/chart" xmlns:r="http://schemas.openxmlformats.org/officeDocument/2006/relationships" r:id="rId4"/>
          </a:graphicData>
        </a:graphic>
      </p:graphicFrame>
      <p:cxnSp>
        <p:nvCxnSpPr>
          <p:cNvPr id="4" name="Straight Connector 3"/>
          <p:cNvCxnSpPr/>
          <p:nvPr/>
        </p:nvCxnSpPr>
        <p:spPr>
          <a:xfrm flipV="1">
            <a:off x="4563658" y="1793044"/>
            <a:ext cx="3325974" cy="2016956"/>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 name="Rectangle 5"/>
              <p:cNvSpPr/>
              <p:nvPr/>
            </p:nvSpPr>
            <p:spPr>
              <a:xfrm>
                <a:off x="8489001" y="4218186"/>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i="1" dirty="0">
                          <a:latin typeface="Cambria Math"/>
                        </a:rPr>
                        <m:t>𝑥</m:t>
                      </m:r>
                    </m:oMath>
                  </m:oMathPara>
                </a14:m>
                <a:endParaRPr lang="en-GB" alt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8489001" y="4218186"/>
                <a:ext cx="426399" cy="461665"/>
              </a:xfrm>
              <a:prstGeom prst="rect">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4598826" y="1562210"/>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b="0" i="1" dirty="0" smtClean="0">
                          <a:latin typeface="Cambria Math"/>
                        </a:rPr>
                        <m:t>𝑦</m:t>
                      </m:r>
                    </m:oMath>
                  </m:oMathPara>
                </a14:m>
                <a:endParaRPr lang="en-GB" altLang="en-US" sz="2400" dirty="0"/>
              </a:p>
            </p:txBody>
          </p:sp>
        </mc:Choice>
        <mc:Fallback xmlns="">
          <p:sp>
            <p:nvSpPr>
              <p:cNvPr id="19" name="Rectangle 18"/>
              <p:cNvSpPr>
                <a:spLocks noRot="1" noChangeAspect="1" noMove="1" noResize="1" noEditPoints="1" noAdjustHandles="1" noChangeArrowheads="1" noChangeShapeType="1" noTextEdit="1"/>
              </p:cNvSpPr>
              <p:nvPr/>
            </p:nvSpPr>
            <p:spPr>
              <a:xfrm>
                <a:off x="4598826" y="1562210"/>
                <a:ext cx="430374" cy="461665"/>
              </a:xfrm>
              <a:prstGeom prst="rect">
                <a:avLst/>
              </a:prstGeom>
              <a:blipFill rotWithShape="1">
                <a:blip r:embed="rId6"/>
                <a:stretch>
                  <a:fillRect b="-9211"/>
                </a:stretch>
              </a:blipFill>
            </p:spPr>
            <p:txBody>
              <a:bodyPr/>
              <a:lstStyle/>
              <a:p>
                <a:r>
                  <a:rPr lang="en-GB">
                    <a:noFill/>
                  </a:rPr>
                  <a:t> </a:t>
                </a:r>
              </a:p>
            </p:txBody>
          </p:sp>
        </mc:Fallback>
      </mc:AlternateContent>
      <p:grpSp>
        <p:nvGrpSpPr>
          <p:cNvPr id="16" name="Group 15"/>
          <p:cNvGrpSpPr/>
          <p:nvPr/>
        </p:nvGrpSpPr>
        <p:grpSpPr>
          <a:xfrm>
            <a:off x="4114800" y="3654083"/>
            <a:ext cx="4038600" cy="805960"/>
            <a:chOff x="4267200" y="3622432"/>
            <a:chExt cx="4038600" cy="805960"/>
          </a:xfrm>
        </p:grpSpPr>
        <p:cxnSp>
          <p:nvCxnSpPr>
            <p:cNvPr id="20" name="Straight Connector 19"/>
            <p:cNvCxnSpPr/>
            <p:nvPr/>
          </p:nvCxnSpPr>
          <p:spPr>
            <a:xfrm>
              <a:off x="4267200" y="3622432"/>
              <a:ext cx="4038600" cy="0"/>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4429152" y="3640016"/>
              <a:ext cx="371448" cy="765893"/>
              <a:chOff x="4514904" y="3640016"/>
              <a:chExt cx="371448" cy="765893"/>
            </a:xfrm>
          </p:grpSpPr>
          <mc:AlternateContent xmlns:mc="http://schemas.openxmlformats.org/markup-compatibility/2006" xmlns:a14="http://schemas.microsoft.com/office/drawing/2010/main">
            <mc:Choice Requires="a14">
              <p:sp>
                <p:nvSpPr>
                  <p:cNvPr id="10" name="Rectangle 9"/>
                  <p:cNvSpPr/>
                  <p:nvPr/>
                </p:nvSpPr>
                <p:spPr>
                  <a:xfrm>
                    <a:off x="4514904" y="3821668"/>
                    <a:ext cx="371448" cy="369332"/>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i="1" dirty="0" smtClean="0">
                              <a:solidFill>
                                <a:schemeClr val="accent6">
                                  <a:lumMod val="75000"/>
                                </a:schemeClr>
                              </a:solidFill>
                              <a:latin typeface="Cambria Math"/>
                            </a:rPr>
                            <m:t>𝑎</m:t>
                          </m:r>
                        </m:oMath>
                      </m:oMathPara>
                    </a14:m>
                    <a:endParaRPr lang="en-GB" dirty="0">
                      <a:solidFill>
                        <a:schemeClr val="accent6">
                          <a:lumMod val="75000"/>
                        </a:schemeClr>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4514904" y="3821668"/>
                    <a:ext cx="371448" cy="369332"/>
                  </a:xfrm>
                  <a:prstGeom prst="rect">
                    <a:avLst/>
                  </a:prstGeom>
                  <a:blipFill rotWithShape="1">
                    <a:blip r:embed="rId7"/>
                    <a:stretch>
                      <a:fillRect/>
                    </a:stretch>
                  </a:blipFill>
                  <a:ln>
                    <a:noFill/>
                  </a:ln>
                </p:spPr>
                <p:txBody>
                  <a:bodyPr/>
                  <a:lstStyle/>
                  <a:p>
                    <a:r>
                      <a:rPr lang="en-GB">
                        <a:noFill/>
                      </a:rPr>
                      <a:t> </a:t>
                    </a:r>
                  </a:p>
                </p:txBody>
              </p:sp>
            </mc:Fallback>
          </mc:AlternateContent>
          <p:cxnSp>
            <p:nvCxnSpPr>
              <p:cNvPr id="12" name="Straight Arrow Connector 11"/>
              <p:cNvCxnSpPr/>
              <p:nvPr/>
            </p:nvCxnSpPr>
            <p:spPr>
              <a:xfrm>
                <a:off x="4605324" y="3640016"/>
                <a:ext cx="0" cy="765893"/>
              </a:xfrm>
              <a:prstGeom prst="straightConnector1">
                <a:avLst/>
              </a:prstGeom>
              <a:ln>
                <a:solidFill>
                  <a:schemeClr val="accent6"/>
                </a:solidFill>
                <a:headEnd type="arrow"/>
                <a:tailEnd type="arrow"/>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p:nvPr/>
          </p:nvCxnSpPr>
          <p:spPr>
            <a:xfrm>
              <a:off x="4267200" y="4428392"/>
              <a:ext cx="423876" cy="0"/>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grpSp>
      <p:sp>
        <p:nvSpPr>
          <p:cNvPr id="45" name="Text Box 2"/>
          <p:cNvSpPr txBox="1">
            <a:spLocks noChangeArrowheads="1"/>
          </p:cNvSpPr>
          <p:nvPr/>
        </p:nvSpPr>
        <p:spPr bwMode="auto">
          <a:xfrm>
            <a:off x="4419600" y="873368"/>
            <a:ext cx="240559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800" dirty="0">
                <a:solidFill>
                  <a:schemeClr val="tx2"/>
                </a:solidFill>
              </a:rPr>
              <a:t>Graphical Form</a:t>
            </a:r>
          </a:p>
        </p:txBody>
      </p:sp>
      <mc:AlternateContent xmlns:mc="http://schemas.openxmlformats.org/markup-compatibility/2006" xmlns:a14="http://schemas.microsoft.com/office/drawing/2010/main">
        <mc:Choice Requires="a14">
          <p:sp>
            <p:nvSpPr>
              <p:cNvPr id="34" name="Rectangle 33"/>
              <p:cNvSpPr/>
              <p:nvPr/>
            </p:nvSpPr>
            <p:spPr>
              <a:xfrm>
                <a:off x="6400800" y="0"/>
                <a:ext cx="2590800" cy="916982"/>
              </a:xfrm>
              <a:prstGeom prst="rect">
                <a:avLst/>
              </a:prstGeom>
              <a:solidFill>
                <a:schemeClr val="bg2"/>
              </a:solidFill>
            </p:spPr>
            <p:txBody>
              <a:bodyPr wrap="square">
                <a:spAutoFit/>
              </a:bodyPr>
              <a:lstStyle/>
              <a:p>
                <a:r>
                  <a:rPr lang="en-GB" altLang="en-US" dirty="0"/>
                  <a:t>Equivalent notations:- </a:t>
                </a:r>
              </a:p>
              <a:p>
                <a:pPr lvl="1"/>
                <a14:m>
                  <m:oMathPara xmlns:m="http://schemas.openxmlformats.org/officeDocument/2006/math">
                    <m:oMathParaPr>
                      <m:jc m:val="left"/>
                    </m:oMathParaPr>
                    <m:oMath xmlns:m="http://schemas.openxmlformats.org/officeDocument/2006/math">
                      <m:r>
                        <a:rPr lang="en-GB" altLang="en-US" i="1" dirty="0" smtClean="0">
                          <a:latin typeface="Cambria Math"/>
                        </a:rPr>
                        <m:t>𝑦</m:t>
                      </m:r>
                      <m:r>
                        <a:rPr lang="en-GB" altLang="en-US" i="1" dirty="0" smtClean="0">
                          <a:latin typeface="Cambria Math"/>
                        </a:rPr>
                        <m:t>=</m:t>
                      </m:r>
                      <m:r>
                        <a:rPr lang="en-GB" altLang="en-US" b="0" i="1" dirty="0" smtClean="0">
                          <a:latin typeface="Cambria Math"/>
                        </a:rPr>
                        <m:t>𝑐</m:t>
                      </m:r>
                      <m:r>
                        <a:rPr lang="en-GB" altLang="en-US" b="0" i="1" dirty="0" smtClean="0">
                          <a:latin typeface="Cambria Math"/>
                        </a:rPr>
                        <m:t>+</m:t>
                      </m:r>
                      <m:r>
                        <a:rPr lang="en-GB" altLang="en-US" i="1" dirty="0" smtClean="0">
                          <a:latin typeface="Cambria Math"/>
                        </a:rPr>
                        <m:t>𝑚𝑥</m:t>
                      </m:r>
                    </m:oMath>
                  </m:oMathPara>
                </a14:m>
                <a:endParaRPr lang="en-GB" altLang="en-US" i="1" dirty="0">
                  <a:latin typeface="Cambria Math"/>
                </a:endParaRPr>
              </a:p>
              <a:p>
                <a:pPr lvl="1"/>
                <a14:m>
                  <m:oMathPara xmlns:m="http://schemas.openxmlformats.org/officeDocument/2006/math">
                    <m:oMathParaPr>
                      <m:jc m:val="left"/>
                    </m:oMathParaPr>
                    <m:oMath xmlns:m="http://schemas.openxmlformats.org/officeDocument/2006/math">
                      <m:r>
                        <a:rPr lang="en-GB" altLang="en-US" b="0" i="1" smtClean="0">
                          <a:latin typeface="Cambria Math"/>
                          <a:ea typeface="Cambria Math"/>
                        </a:rPr>
                        <m:t>𝑦</m:t>
                      </m:r>
                      <m:r>
                        <a:rPr lang="en-GB" altLang="en-US" b="0" i="1" smtClean="0">
                          <a:latin typeface="Cambria Math"/>
                          <a:ea typeface="Cambria Math"/>
                        </a:rPr>
                        <m:t>=</m:t>
                      </m:r>
                      <m:sSub>
                        <m:sSubPr>
                          <m:ctrlPr>
                            <a:rPr lang="en-GB" altLang="en-US" b="0" i="1" smtClean="0">
                              <a:latin typeface="Cambria Math" panose="02040503050406030204" pitchFamily="18" charset="0"/>
                              <a:ea typeface="Cambria Math"/>
                            </a:rPr>
                          </m:ctrlPr>
                        </m:sSubPr>
                        <m:e>
                          <m:r>
                            <a:rPr lang="en-GB" altLang="en-US" i="1" smtClean="0">
                              <a:latin typeface="Cambria Math"/>
                              <a:ea typeface="Cambria Math"/>
                            </a:rPr>
                            <m:t>𝛽</m:t>
                          </m:r>
                        </m:e>
                        <m:sub>
                          <m:r>
                            <a:rPr lang="en-GB" altLang="en-US" b="0" i="1" smtClean="0">
                              <a:latin typeface="Cambria Math"/>
                              <a:ea typeface="Cambria Math"/>
                            </a:rPr>
                            <m:t>0</m:t>
                          </m:r>
                        </m:sub>
                      </m:sSub>
                      <m:r>
                        <a:rPr lang="en-GB" altLang="en-US" b="0" i="1" smtClean="0">
                          <a:latin typeface="Cambria Math"/>
                          <a:ea typeface="Cambria Math"/>
                        </a:rPr>
                        <m:t>+</m:t>
                      </m:r>
                      <m:sSub>
                        <m:sSubPr>
                          <m:ctrlPr>
                            <a:rPr lang="en-GB" altLang="en-US" i="1">
                              <a:latin typeface="Cambria Math" panose="02040503050406030204" pitchFamily="18" charset="0"/>
                              <a:ea typeface="Cambria Math"/>
                            </a:rPr>
                          </m:ctrlPr>
                        </m:sSubPr>
                        <m:e>
                          <m:r>
                            <a:rPr lang="en-GB" altLang="en-US" i="1">
                              <a:latin typeface="Cambria Math"/>
                              <a:ea typeface="Cambria Math"/>
                            </a:rPr>
                            <m:t>𝛽</m:t>
                          </m:r>
                        </m:e>
                        <m:sub>
                          <m:r>
                            <a:rPr lang="en-GB" altLang="en-US" b="0" i="1" smtClean="0">
                              <a:latin typeface="Cambria Math"/>
                              <a:ea typeface="Cambria Math"/>
                            </a:rPr>
                            <m:t>1</m:t>
                          </m:r>
                        </m:sub>
                      </m:sSub>
                      <m:r>
                        <a:rPr lang="en-GB" altLang="en-US" b="0" i="1" smtClean="0">
                          <a:latin typeface="Cambria Math"/>
                          <a:ea typeface="Cambria Math"/>
                        </a:rPr>
                        <m:t>𝑥</m:t>
                      </m:r>
                    </m:oMath>
                  </m:oMathPara>
                </a14:m>
                <a:endParaRPr lang="en-GB" altLang="en-US" baseline="-25000" dirty="0"/>
              </a:p>
            </p:txBody>
          </p:sp>
        </mc:Choice>
        <mc:Fallback xmlns="">
          <p:sp>
            <p:nvSpPr>
              <p:cNvPr id="34" name="Rectangle 33"/>
              <p:cNvSpPr>
                <a:spLocks noRot="1" noChangeAspect="1" noMove="1" noResize="1" noEditPoints="1" noAdjustHandles="1" noChangeArrowheads="1" noChangeShapeType="1" noTextEdit="1"/>
              </p:cNvSpPr>
              <p:nvPr/>
            </p:nvSpPr>
            <p:spPr>
              <a:xfrm>
                <a:off x="6400800" y="0"/>
                <a:ext cx="2590800" cy="916982"/>
              </a:xfrm>
              <a:prstGeom prst="rect">
                <a:avLst/>
              </a:prstGeom>
              <a:blipFill rotWithShape="1">
                <a:blip r:embed="rId9"/>
                <a:stretch>
                  <a:fillRect l="-1882" t="-3333" b="-6000"/>
                </a:stretch>
              </a:blipFill>
            </p:spPr>
            <p:txBody>
              <a:bodyPr/>
              <a:lstStyle/>
              <a:p>
                <a:r>
                  <a:rPr lang="en-GB">
                    <a:noFill/>
                  </a:rPr>
                  <a:t> </a:t>
                </a:r>
              </a:p>
            </p:txBody>
          </p:sp>
        </mc:Fallback>
      </mc:AlternateContent>
      <p:sp>
        <p:nvSpPr>
          <p:cNvPr id="5" name="Rounded Rectangular Callout 4"/>
          <p:cNvSpPr/>
          <p:nvPr/>
        </p:nvSpPr>
        <p:spPr>
          <a:xfrm>
            <a:off x="5105400" y="3909756"/>
            <a:ext cx="3383601" cy="817245"/>
          </a:xfrm>
          <a:prstGeom prst="wedgeRoundRectCallout">
            <a:avLst>
              <a:gd name="adj1" fmla="val -3938"/>
              <a:gd name="adj2" fmla="val -169213"/>
              <a:gd name="adj3" fmla="val 16667"/>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GB" altLang="en-US" sz="1400" b="1" dirty="0">
                <a:latin typeface="Avalon" pitchFamily="34" charset="0"/>
              </a:rPr>
              <a:t>Marginal effect </a:t>
            </a:r>
            <a:r>
              <a:rPr lang="en-GB" altLang="en-US" sz="1400" dirty="0">
                <a:latin typeface="Avalon" pitchFamily="34" charset="0"/>
              </a:rPr>
              <a:t>of x on y - a measure of </a:t>
            </a:r>
            <a:r>
              <a:rPr lang="en-GB" altLang="en-US" sz="1400" b="1" dirty="0">
                <a:latin typeface="Avalon" pitchFamily="34" charset="0"/>
              </a:rPr>
              <a:t>how much y tends to change</a:t>
            </a:r>
            <a:r>
              <a:rPr lang="en-GB" altLang="en-US" sz="1400" dirty="0">
                <a:latin typeface="Avalon" pitchFamily="34" charset="0"/>
              </a:rPr>
              <a:t> when you increment in x</a:t>
            </a:r>
            <a:endParaRPr lang="en-GB" sz="1400" dirty="0"/>
          </a:p>
        </p:txBody>
      </p:sp>
      <p:grpSp>
        <p:nvGrpSpPr>
          <p:cNvPr id="7" name="Group 6"/>
          <p:cNvGrpSpPr/>
          <p:nvPr/>
        </p:nvGrpSpPr>
        <p:grpSpPr>
          <a:xfrm>
            <a:off x="5545016" y="2209800"/>
            <a:ext cx="1942078" cy="1126867"/>
            <a:chOff x="5545016" y="2209800"/>
            <a:chExt cx="1942078" cy="1126867"/>
          </a:xfrm>
        </p:grpSpPr>
        <p:grpSp>
          <p:nvGrpSpPr>
            <p:cNvPr id="31" name="Group 30"/>
            <p:cNvGrpSpPr/>
            <p:nvPr/>
          </p:nvGrpSpPr>
          <p:grpSpPr>
            <a:xfrm>
              <a:off x="5545016" y="2209800"/>
              <a:ext cx="1617784" cy="1085913"/>
              <a:chOff x="5697416" y="2178149"/>
              <a:chExt cx="1617784" cy="1085913"/>
            </a:xfrm>
          </p:grpSpPr>
          <p:grpSp>
            <p:nvGrpSpPr>
              <p:cNvPr id="29" name="Group 28"/>
              <p:cNvGrpSpPr/>
              <p:nvPr/>
            </p:nvGrpSpPr>
            <p:grpSpPr>
              <a:xfrm>
                <a:off x="5697416" y="2178149"/>
                <a:ext cx="1617784" cy="928467"/>
                <a:chOff x="5697416" y="2178149"/>
                <a:chExt cx="1617784" cy="928467"/>
              </a:xfrm>
            </p:grpSpPr>
            <p:cxnSp>
              <p:nvCxnSpPr>
                <p:cNvPr id="21" name="Straight Arrow Connector 20"/>
                <p:cNvCxnSpPr/>
                <p:nvPr/>
              </p:nvCxnSpPr>
              <p:spPr>
                <a:xfrm flipV="1">
                  <a:off x="7315200" y="2297706"/>
                  <a:ext cx="0" cy="808910"/>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019800" y="3094876"/>
                  <a:ext cx="1295400" cy="0"/>
                </a:xfrm>
                <a:prstGeom prst="straightConnector1">
                  <a:avLst/>
                </a:prstGeom>
                <a:ln>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p:cNvSpPr/>
                    <p:nvPr/>
                  </p:nvSpPr>
                  <p:spPr>
                    <a:xfrm>
                      <a:off x="5697416" y="2178149"/>
                      <a:ext cx="132279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altLang="en-US" i="1" dirty="0" smtClean="0">
                                <a:solidFill>
                                  <a:schemeClr val="accent3">
                                    <a:lumMod val="75000"/>
                                  </a:schemeClr>
                                </a:solidFill>
                                <a:latin typeface="Cambria Math"/>
                              </a:rPr>
                              <m:t>𝑏</m:t>
                            </m:r>
                            <m:r>
                              <a:rPr lang="en-GB" altLang="en-US" b="0" i="1" dirty="0" smtClean="0">
                                <a:solidFill>
                                  <a:schemeClr val="accent3">
                                    <a:lumMod val="75000"/>
                                  </a:schemeClr>
                                </a:solidFill>
                                <a:latin typeface="Cambria Math" panose="02040503050406030204" pitchFamily="18" charset="0"/>
                              </a:rPr>
                              <m:t>=</m:t>
                            </m:r>
                            <m:r>
                              <a:rPr lang="en-GB" altLang="en-US" i="1" dirty="0">
                                <a:solidFill>
                                  <a:schemeClr val="accent3">
                                    <a:lumMod val="75000"/>
                                  </a:schemeClr>
                                </a:solidFill>
                                <a:latin typeface="Cambria Math"/>
                                <a:ea typeface="Cambria Math"/>
                              </a:rPr>
                              <m:t>∆</m:t>
                            </m:r>
                            <m:r>
                              <a:rPr lang="en-GB" altLang="en-US" b="0" i="1" dirty="0" smtClean="0">
                                <a:solidFill>
                                  <a:schemeClr val="accent3">
                                    <a:lumMod val="75000"/>
                                  </a:schemeClr>
                                </a:solidFill>
                                <a:latin typeface="Cambria Math" panose="02040503050406030204" pitchFamily="18" charset="0"/>
                                <a:ea typeface="Cambria Math"/>
                              </a:rPr>
                              <m:t>𝑦</m:t>
                            </m:r>
                            <m:r>
                              <a:rPr lang="en-GB" altLang="en-US" b="0" i="1" dirty="0" smtClean="0">
                                <a:solidFill>
                                  <a:schemeClr val="accent3">
                                    <a:lumMod val="75000"/>
                                  </a:schemeClr>
                                </a:solidFill>
                                <a:latin typeface="Cambria Math" panose="02040503050406030204" pitchFamily="18" charset="0"/>
                                <a:ea typeface="Cambria Math"/>
                              </a:rPr>
                              <m:t>/∆</m:t>
                            </m:r>
                            <m:r>
                              <a:rPr lang="en-GB" altLang="en-US" i="1" dirty="0">
                                <a:solidFill>
                                  <a:schemeClr val="accent3">
                                    <a:lumMod val="75000"/>
                                  </a:schemeClr>
                                </a:solidFill>
                                <a:latin typeface="Cambria Math"/>
                              </a:rPr>
                              <m:t>𝑥</m:t>
                            </m:r>
                          </m:oMath>
                        </m:oMathPara>
                      </a14:m>
                      <a:endParaRPr lang="en-GB" dirty="0">
                        <a:solidFill>
                          <a:schemeClr val="accent3">
                            <a:lumMod val="75000"/>
                          </a:schemeClr>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5697416" y="2178149"/>
                      <a:ext cx="1322798" cy="369332"/>
                    </a:xfrm>
                    <a:prstGeom prst="rect">
                      <a:avLst/>
                    </a:prstGeom>
                    <a:blipFill>
                      <a:blip r:embed="rId10"/>
                      <a:stretch>
                        <a:fillRect b="-13333"/>
                      </a:stretch>
                    </a:blipFill>
                  </p:spPr>
                  <p:txBody>
                    <a:bodyPr/>
                    <a:lstStyle/>
                    <a:p>
                      <a:r>
                        <a:rPr lang="en-GB">
                          <a:noFill/>
                        </a:rPr>
                        <a:t> </a:t>
                      </a:r>
                    </a:p>
                  </p:txBody>
                </p:sp>
              </mc:Fallback>
            </mc:AlternateContent>
            <p:cxnSp>
              <p:nvCxnSpPr>
                <p:cNvPr id="39" name="Straight Arrow Connector 38"/>
                <p:cNvCxnSpPr/>
                <p:nvPr/>
              </p:nvCxnSpPr>
              <p:spPr>
                <a:xfrm flipV="1">
                  <a:off x="6002216" y="2288913"/>
                  <a:ext cx="1295400" cy="791327"/>
                </a:xfrm>
                <a:prstGeom prst="straightConnector1">
                  <a:avLst/>
                </a:prstGeom>
                <a:ln>
                  <a:solidFill>
                    <a:schemeClr val="accent3">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0" name="Arc 29"/>
              <p:cNvSpPr/>
              <p:nvPr/>
            </p:nvSpPr>
            <p:spPr>
              <a:xfrm rot="668094">
                <a:off x="6202858" y="2853762"/>
                <a:ext cx="304800" cy="410300"/>
              </a:xfrm>
              <a:prstGeom prst="arc">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3" name="Rectangle 2"/>
                <p:cNvSpPr/>
                <p:nvPr/>
              </p:nvSpPr>
              <p:spPr>
                <a:xfrm>
                  <a:off x="6553200" y="3059668"/>
                  <a:ext cx="39773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1200" i="1" dirty="0" smtClean="0">
                            <a:solidFill>
                              <a:schemeClr val="accent3">
                                <a:lumMod val="75000"/>
                              </a:schemeClr>
                            </a:solidFill>
                            <a:latin typeface="Cambria Math"/>
                            <a:ea typeface="Cambria Math"/>
                          </a:rPr>
                          <m:t>∆</m:t>
                        </m:r>
                        <m:r>
                          <a:rPr lang="en-GB" altLang="en-US" sz="1200" i="1" dirty="0">
                            <a:solidFill>
                              <a:schemeClr val="accent3">
                                <a:lumMod val="75000"/>
                              </a:schemeClr>
                            </a:solidFill>
                            <a:latin typeface="Cambria Math"/>
                          </a:rPr>
                          <m:t>𝑥</m:t>
                        </m:r>
                      </m:oMath>
                    </m:oMathPara>
                  </a14:m>
                  <a:endParaRPr lang="en-GB" sz="1200" dirty="0">
                    <a:solidFill>
                      <a:schemeClr val="accent3">
                        <a:lumMod val="75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553200" y="3059668"/>
                  <a:ext cx="397738" cy="276999"/>
                </a:xfrm>
                <a:prstGeom prst="rect">
                  <a:avLst/>
                </a:prstGeom>
                <a:blipFill rotWithShape="1">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7086600" y="2602468"/>
                  <a:ext cx="400494"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1200" i="1" dirty="0" smtClean="0">
                            <a:solidFill>
                              <a:schemeClr val="accent3">
                                <a:lumMod val="75000"/>
                              </a:schemeClr>
                            </a:solidFill>
                            <a:latin typeface="Cambria Math"/>
                            <a:ea typeface="Cambria Math"/>
                          </a:rPr>
                          <m:t>∆</m:t>
                        </m:r>
                        <m:r>
                          <a:rPr lang="en-GB" altLang="en-US" sz="1200" b="0" i="1" dirty="0" smtClean="0">
                            <a:solidFill>
                              <a:schemeClr val="accent3">
                                <a:lumMod val="75000"/>
                              </a:schemeClr>
                            </a:solidFill>
                            <a:latin typeface="Cambria Math"/>
                            <a:ea typeface="Cambria Math"/>
                          </a:rPr>
                          <m:t>𝑦</m:t>
                        </m:r>
                      </m:oMath>
                    </m:oMathPara>
                  </a14:m>
                  <a:endParaRPr lang="en-GB" sz="1200" dirty="0">
                    <a:solidFill>
                      <a:schemeClr val="accent3">
                        <a:lumMod val="75000"/>
                      </a:schemeClr>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7086600" y="2602468"/>
                  <a:ext cx="400494" cy="276999"/>
                </a:xfrm>
                <a:prstGeom prst="rect">
                  <a:avLst/>
                </a:prstGeom>
                <a:blipFill rotWithShape="1">
                  <a:blip r:embed="rId12"/>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1942797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596"/>
                                        </p:tgtEl>
                                        <p:attrNameLst>
                                          <p:attrName>style.visibility</p:attrName>
                                        </p:attrNameLst>
                                      </p:cBhvr>
                                      <p:to>
                                        <p:strVal val="visible"/>
                                      </p:to>
                                    </p:set>
                                    <p:animEffect transition="in" filter="fade">
                                      <p:cBhvr>
                                        <p:cTn id="7" dur="500"/>
                                        <p:tgtEl>
                                          <p:spTgt spid="675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595"/>
                                        </p:tgtEl>
                                        <p:attrNameLst>
                                          <p:attrName>style.visibility</p:attrName>
                                        </p:attrNameLst>
                                      </p:cBhvr>
                                      <p:to>
                                        <p:strVal val="visible"/>
                                      </p:to>
                                    </p:set>
                                    <p:animEffect transition="in" filter="fade">
                                      <p:cBhvr>
                                        <p:cTn id="17" dur="500"/>
                                        <p:tgtEl>
                                          <p:spTgt spid="675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5" grpId="0" animBg="1"/>
      <p:bldP spid="67596"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Regression Line</a:t>
            </a:r>
            <a:endParaRPr lang="en-GB" dirty="0"/>
          </a:p>
        </p:txBody>
      </p:sp>
      <p:graphicFrame>
        <p:nvGraphicFramePr>
          <p:cNvPr id="3" name="Chart 2"/>
          <p:cNvGraphicFramePr>
            <a:graphicFrameLocks/>
          </p:cNvGraphicFramePr>
          <p:nvPr>
            <p:extLst>
              <p:ext uri="{D42A27DB-BD31-4B8C-83A1-F6EECF244321}">
                <p14:modId xmlns:p14="http://schemas.microsoft.com/office/powerpoint/2010/main" val="4249964916"/>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Straight Connector 22"/>
          <p:cNvCxnSpPr/>
          <p:nvPr/>
        </p:nvCxnSpPr>
        <p:spPr>
          <a:xfrm flipV="1">
            <a:off x="4267200" y="1752600"/>
            <a:ext cx="0" cy="2971800"/>
          </a:xfrm>
          <a:prstGeom prst="line">
            <a:avLst/>
          </a:prstGeom>
          <a:ln>
            <a:solidFill>
              <a:schemeClr val="bg2"/>
            </a:solidFill>
            <a:prstDash val="dash"/>
          </a:ln>
        </p:spPr>
        <p:style>
          <a:lnRef idx="2">
            <a:schemeClr val="dk1"/>
          </a:lnRef>
          <a:fillRef idx="1">
            <a:schemeClr val="lt1"/>
          </a:fillRef>
          <a:effectRef idx="0">
            <a:schemeClr val="dk1"/>
          </a:effectRef>
          <a:fontRef idx="minor">
            <a:schemeClr val="dk1"/>
          </a:fontRef>
        </p:style>
      </p:cxnSp>
      <p:cxnSp>
        <p:nvCxnSpPr>
          <p:cNvPr id="24" name="Straight Connector 23"/>
          <p:cNvCxnSpPr/>
          <p:nvPr/>
        </p:nvCxnSpPr>
        <p:spPr>
          <a:xfrm>
            <a:off x="1524000" y="2971800"/>
            <a:ext cx="5486400" cy="0"/>
          </a:xfrm>
          <a:prstGeom prst="line">
            <a:avLst/>
          </a:prstGeom>
          <a:ln>
            <a:solidFill>
              <a:schemeClr val="bg2"/>
            </a:solidFill>
            <a:prstDash val="sysDot"/>
          </a:ln>
        </p:spPr>
        <p:style>
          <a:lnRef idx="2">
            <a:schemeClr val="dk1"/>
          </a:lnRef>
          <a:fillRef idx="1">
            <a:schemeClr val="lt1"/>
          </a:fillRef>
          <a:effectRef idx="0">
            <a:schemeClr val="dk1"/>
          </a:effectRef>
          <a:fontRef idx="minor">
            <a:schemeClr val="dk1"/>
          </a:fontRef>
        </p:style>
      </p:cxnSp>
      <p:cxnSp>
        <p:nvCxnSpPr>
          <p:cNvPr id="11" name="Straight Connector 10"/>
          <p:cNvCxnSpPr/>
          <p:nvPr/>
        </p:nvCxnSpPr>
        <p:spPr>
          <a:xfrm flipV="1">
            <a:off x="1828800" y="2013440"/>
            <a:ext cx="4926624" cy="1905000"/>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Straight Connector 15"/>
          <p:cNvCxnSpPr/>
          <p:nvPr/>
        </p:nvCxnSpPr>
        <p:spPr>
          <a:xfrm flipV="1">
            <a:off x="2133600" y="1752600"/>
            <a:ext cx="3836376" cy="2743200"/>
          </a:xfrm>
          <a:prstGeom prst="line">
            <a:avLst/>
          </a:prstGeom>
        </p:spPr>
        <p:style>
          <a:lnRef idx="2">
            <a:schemeClr val="accent3"/>
          </a:lnRef>
          <a:fillRef idx="0">
            <a:schemeClr val="accent3"/>
          </a:fillRef>
          <a:effectRef idx="1">
            <a:schemeClr val="accent3"/>
          </a:effectRef>
          <a:fontRef idx="minor">
            <a:schemeClr val="tx1"/>
          </a:fontRef>
        </p:style>
      </p:cxnSp>
      <p:cxnSp>
        <p:nvCxnSpPr>
          <p:cNvPr id="21" name="Straight Connector 20"/>
          <p:cNvCxnSpPr/>
          <p:nvPr/>
        </p:nvCxnSpPr>
        <p:spPr>
          <a:xfrm flipV="1">
            <a:off x="1752600" y="1447800"/>
            <a:ext cx="4926624" cy="1905000"/>
          </a:xfrm>
          <a:prstGeom prst="line">
            <a:avLst/>
          </a:prstGeom>
        </p:spPr>
        <p:style>
          <a:lnRef idx="2">
            <a:schemeClr val="accent4"/>
          </a:lnRef>
          <a:fillRef idx="0">
            <a:schemeClr val="accent4"/>
          </a:fillRef>
          <a:effectRef idx="1">
            <a:schemeClr val="accent4"/>
          </a:effectRef>
          <a:fontRef idx="minor">
            <a:schemeClr val="tx1"/>
          </a:fontRef>
        </p:style>
      </p:cxnSp>
      <p:sp>
        <p:nvSpPr>
          <p:cNvPr id="25" name="Rounded Rectangular Callout 24"/>
          <p:cNvSpPr/>
          <p:nvPr/>
        </p:nvSpPr>
        <p:spPr>
          <a:xfrm>
            <a:off x="5867400" y="3115411"/>
            <a:ext cx="2438400" cy="838200"/>
          </a:xfrm>
          <a:prstGeom prst="wedgeRoundRectCallout">
            <a:avLst>
              <a:gd name="adj1" fmla="val 9893"/>
              <a:gd name="adj2" fmla="val 33129"/>
              <a:gd name="adj3" fmla="val 16667"/>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en-US" dirty="0">
                <a:solidFill>
                  <a:sysClr val="windowText" lastClr="000000"/>
                </a:solidFill>
              </a:rPr>
              <a:t>Which line best fits the given data points?</a:t>
            </a:r>
          </a:p>
        </p:txBody>
      </p:sp>
      <mc:AlternateContent xmlns:mc="http://schemas.openxmlformats.org/markup-compatibility/2006" xmlns:a14="http://schemas.microsoft.com/office/drawing/2010/main">
        <mc:Choice Requires="a14">
          <p:sp>
            <p:nvSpPr>
              <p:cNvPr id="28" name="Text Box 3"/>
              <p:cNvSpPr txBox="1">
                <a:spLocks noChangeArrowheads="1"/>
              </p:cNvSpPr>
              <p:nvPr/>
            </p:nvSpPr>
            <p:spPr bwMode="auto">
              <a:xfrm>
                <a:off x="1889771" y="1276290"/>
                <a:ext cx="1499128"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b="0" i="1" dirty="0" smtClean="0">
                          <a:latin typeface="Cambria Math"/>
                        </a:rPr>
                        <m:t>𝑦</m:t>
                      </m:r>
                      <m:r>
                        <a:rPr lang="en-GB" altLang="en-US" sz="2000" b="0" i="1" dirty="0" smtClean="0">
                          <a:latin typeface="Cambria Math"/>
                        </a:rPr>
                        <m:t>=</m:t>
                      </m:r>
                      <m:r>
                        <a:rPr lang="en-GB" altLang="en-US" sz="2000" b="0" i="1" dirty="0" smtClean="0">
                          <a:latin typeface="Cambria Math"/>
                        </a:rPr>
                        <m:t>𝑎</m:t>
                      </m:r>
                      <m:r>
                        <a:rPr lang="en-GB" altLang="en-US" sz="2000" b="0" i="1" dirty="0" smtClean="0">
                          <a:latin typeface="Cambria Math"/>
                        </a:rPr>
                        <m:t>+</m:t>
                      </m:r>
                      <m:r>
                        <a:rPr lang="en-GB" altLang="en-US" sz="2000" b="0" i="1" dirty="0" err="1">
                          <a:latin typeface="Cambria Math"/>
                        </a:rPr>
                        <m:t>𝑏𝑥</m:t>
                      </m:r>
                    </m:oMath>
                  </m:oMathPara>
                </a14:m>
                <a:endParaRPr lang="en-GB" altLang="en-US" sz="2000" dirty="0"/>
              </a:p>
            </p:txBody>
          </p:sp>
        </mc:Choice>
        <mc:Fallback xmlns="">
          <p:sp>
            <p:nvSpPr>
              <p:cNvPr id="28" name="Text Box 3"/>
              <p:cNvSpPr txBox="1">
                <a:spLocks noRot="1" noChangeAspect="1" noMove="1" noResize="1" noEditPoints="1" noAdjustHandles="1" noChangeArrowheads="1" noChangeShapeType="1" noTextEdit="1"/>
              </p:cNvSpPr>
              <p:nvPr/>
            </p:nvSpPr>
            <p:spPr bwMode="auto">
              <a:xfrm>
                <a:off x="1889771" y="1276290"/>
                <a:ext cx="1499128" cy="400110"/>
              </a:xfrm>
              <a:prstGeom prst="rect">
                <a:avLst/>
              </a:prstGeom>
              <a:blipFill rotWithShape="1">
                <a:blip r:embed="rId4"/>
                <a:stretch>
                  <a:fillRect b="-60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7239000" y="3918440"/>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i="1" dirty="0">
                          <a:latin typeface="Cambria Math"/>
                        </a:rPr>
                        <m:t>𝑥</m:t>
                      </m:r>
                    </m:oMath>
                  </m:oMathPara>
                </a14:m>
                <a:endParaRPr lang="en-GB" altLang="en-US" sz="2400" dirty="0"/>
              </a:p>
            </p:txBody>
          </p:sp>
        </mc:Choice>
        <mc:Fallback xmlns="">
          <p:sp>
            <p:nvSpPr>
              <p:cNvPr id="29" name="Rectangle 28"/>
              <p:cNvSpPr>
                <a:spLocks noRot="1" noChangeAspect="1" noMove="1" noResize="1" noEditPoints="1" noAdjustHandles="1" noChangeArrowheads="1" noChangeShapeType="1" noTextEdit="1"/>
              </p:cNvSpPr>
              <p:nvPr/>
            </p:nvSpPr>
            <p:spPr>
              <a:xfrm>
                <a:off x="7239000" y="3918440"/>
                <a:ext cx="426399" cy="461665"/>
              </a:xfrm>
              <a:prstGeom prst="rect">
                <a:avLst/>
              </a:prstGeom>
              <a:blipFill rotWithShape="1">
                <a:blip r:embed="rId5"/>
                <a:stretch>
                  <a:fillRect/>
                </a:stretch>
              </a:blipFill>
            </p:spPr>
            <p:txBody>
              <a:bodyPr/>
              <a:lstStyle/>
              <a:p>
                <a:r>
                  <a:rPr lang="en-GB">
                    <a:noFill/>
                  </a:rPr>
                  <a:t> </a:t>
                </a:r>
              </a:p>
            </p:txBody>
          </p:sp>
        </mc:Fallback>
      </mc:AlternateContent>
      <p:cxnSp>
        <p:nvCxnSpPr>
          <p:cNvPr id="30" name="Straight Connector 29"/>
          <p:cNvCxnSpPr/>
          <p:nvPr/>
        </p:nvCxnSpPr>
        <p:spPr>
          <a:xfrm flipV="1">
            <a:off x="1981200" y="879232"/>
            <a:ext cx="3308106" cy="3103099"/>
          </a:xfrm>
          <a:prstGeom prst="line">
            <a:avLst/>
          </a:prstGeom>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31" name="Text Box 3"/>
              <p:cNvSpPr txBox="1">
                <a:spLocks noChangeArrowheads="1"/>
              </p:cNvSpPr>
              <p:nvPr/>
            </p:nvSpPr>
            <p:spPr bwMode="auto">
              <a:xfrm>
                <a:off x="1880979" y="1276290"/>
                <a:ext cx="1946559"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b="0" i="1" dirty="0" smtClean="0">
                          <a:latin typeface="Cambria Math"/>
                        </a:rPr>
                        <m:t>𝑦</m:t>
                      </m:r>
                      <m:r>
                        <a:rPr lang="en-GB" altLang="en-US" sz="2000" b="0" i="1" dirty="0" smtClean="0">
                          <a:latin typeface="Cambria Math"/>
                        </a:rPr>
                        <m:t>=</m:t>
                      </m:r>
                      <m:r>
                        <a:rPr lang="en-GB" altLang="en-US" sz="2000" b="0" i="1" dirty="0" smtClean="0">
                          <a:solidFill>
                            <a:srgbClr val="0070C0"/>
                          </a:solidFill>
                          <a:latin typeface="Cambria Math"/>
                        </a:rPr>
                        <m:t>𝑎</m:t>
                      </m:r>
                      <m:r>
                        <a:rPr lang="en-GB" altLang="en-US" sz="2000" b="0" i="1" dirty="0" smtClean="0">
                          <a:solidFill>
                            <a:srgbClr val="0070C0"/>
                          </a:solidFill>
                          <a:latin typeface="Cambria Math"/>
                        </a:rPr>
                        <m:t>+</m:t>
                      </m:r>
                      <m:r>
                        <a:rPr lang="en-GB" altLang="en-US" sz="2000" b="0" i="1" dirty="0" err="1">
                          <a:solidFill>
                            <a:srgbClr val="0070C0"/>
                          </a:solidFill>
                          <a:latin typeface="Cambria Math"/>
                        </a:rPr>
                        <m:t>𝑏𝑥</m:t>
                      </m:r>
                      <m:r>
                        <a:rPr lang="en-GB" altLang="en-US" sz="2000" b="0" i="1" dirty="0" smtClean="0">
                          <a:latin typeface="Cambria Math"/>
                        </a:rPr>
                        <m:t>+</m:t>
                      </m:r>
                      <m:r>
                        <a:rPr lang="en-GB" altLang="en-US" sz="2000" b="0" i="1" dirty="0" smtClean="0">
                          <a:latin typeface="Cambria Math"/>
                        </a:rPr>
                        <m:t>𝑒</m:t>
                      </m:r>
                    </m:oMath>
                  </m:oMathPara>
                </a14:m>
                <a:endParaRPr lang="en-GB" altLang="en-US" sz="2000" dirty="0"/>
              </a:p>
            </p:txBody>
          </p:sp>
        </mc:Choice>
        <mc:Fallback xmlns="">
          <p:sp>
            <p:nvSpPr>
              <p:cNvPr id="31" name="Text Box 3"/>
              <p:cNvSpPr txBox="1">
                <a:spLocks noRot="1" noChangeAspect="1" noMove="1" noResize="1" noEditPoints="1" noAdjustHandles="1" noChangeArrowheads="1" noChangeShapeType="1" noTextEdit="1"/>
              </p:cNvSpPr>
              <p:nvPr/>
            </p:nvSpPr>
            <p:spPr bwMode="auto">
              <a:xfrm>
                <a:off x="1880979" y="1276290"/>
                <a:ext cx="1946559" cy="400110"/>
              </a:xfrm>
              <a:prstGeom prst="rect">
                <a:avLst/>
              </a:prstGeom>
              <a:blipFill rotWithShape="1">
                <a:blip r:embed="rId6"/>
                <a:stretch>
                  <a:fillRect b="-60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33" name="Rounded Rectangular Callout 32"/>
          <p:cNvSpPr/>
          <p:nvPr/>
        </p:nvSpPr>
        <p:spPr>
          <a:xfrm>
            <a:off x="3886200" y="832925"/>
            <a:ext cx="2806212" cy="538675"/>
          </a:xfrm>
          <a:prstGeom prst="wedgeRoundRectCallout">
            <a:avLst>
              <a:gd name="adj1" fmla="val -56770"/>
              <a:gd name="adj2" fmla="val 524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600" dirty="0">
                <a:solidFill>
                  <a:schemeClr val="bg1"/>
                </a:solidFill>
              </a:rPr>
              <a:t>Because of these issues we add an error to the model</a:t>
            </a:r>
            <a:endParaRPr lang="en-GB" sz="1600" dirty="0">
              <a:solidFill>
                <a:schemeClr val="bg1"/>
              </a:solidFill>
            </a:endParaRPr>
          </a:p>
        </p:txBody>
      </p:sp>
      <p:sp>
        <p:nvSpPr>
          <p:cNvPr id="20" name="Rectangle 19"/>
          <p:cNvSpPr/>
          <p:nvPr/>
        </p:nvSpPr>
        <p:spPr>
          <a:xfrm>
            <a:off x="5715000" y="2931"/>
            <a:ext cx="3124200" cy="584775"/>
          </a:xfrm>
          <a:prstGeom prst="rect">
            <a:avLst/>
          </a:prstGeom>
          <a:solidFill>
            <a:schemeClr val="bg2"/>
          </a:solidFill>
        </p:spPr>
        <p:txBody>
          <a:bodyPr wrap="square">
            <a:spAutoFit/>
          </a:bodyPr>
          <a:lstStyle/>
          <a:p>
            <a:r>
              <a:rPr lang="en-GB" altLang="en-US" sz="1600" dirty="0"/>
              <a:t>NB: True relationship may be more complicated than a straight line</a:t>
            </a:r>
            <a:endParaRPr lang="en-GB" sz="1600" dirty="0"/>
          </a:p>
        </p:txBody>
      </p:sp>
      <p:sp>
        <p:nvSpPr>
          <p:cNvPr id="27" name="Rounded Rectangle 26"/>
          <p:cNvSpPr/>
          <p:nvPr/>
        </p:nvSpPr>
        <p:spPr>
          <a:xfrm>
            <a:off x="2438400" y="1219200"/>
            <a:ext cx="838200" cy="53340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0436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Regression Line</a:t>
            </a:r>
            <a:endParaRPr lang="en-GB" dirty="0"/>
          </a:p>
        </p:txBody>
      </p:sp>
      <p:graphicFrame>
        <p:nvGraphicFramePr>
          <p:cNvPr id="3" name="Chart 2"/>
          <p:cNvGraphicFramePr>
            <a:graphicFrameLocks/>
          </p:cNvGraphicFramePr>
          <p:nvPr>
            <p:extLst>
              <p:ext uri="{D42A27DB-BD31-4B8C-83A1-F6EECF244321}">
                <p14:modId xmlns:p14="http://schemas.microsoft.com/office/powerpoint/2010/main" val="653184953"/>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Straight Connector 22"/>
          <p:cNvCxnSpPr/>
          <p:nvPr/>
        </p:nvCxnSpPr>
        <p:spPr>
          <a:xfrm flipV="1">
            <a:off x="4267200" y="1752600"/>
            <a:ext cx="0" cy="2971800"/>
          </a:xfrm>
          <a:prstGeom prst="line">
            <a:avLst/>
          </a:prstGeom>
          <a:ln>
            <a:solidFill>
              <a:schemeClr val="bg2"/>
            </a:solidFill>
            <a:prstDash val="dash"/>
          </a:ln>
        </p:spPr>
        <p:style>
          <a:lnRef idx="2">
            <a:schemeClr val="dk1"/>
          </a:lnRef>
          <a:fillRef idx="1">
            <a:schemeClr val="lt1"/>
          </a:fillRef>
          <a:effectRef idx="0">
            <a:schemeClr val="dk1"/>
          </a:effectRef>
          <a:fontRef idx="minor">
            <a:schemeClr val="dk1"/>
          </a:fontRef>
        </p:style>
      </p:cxnSp>
      <p:cxnSp>
        <p:nvCxnSpPr>
          <p:cNvPr id="24" name="Straight Connector 23"/>
          <p:cNvCxnSpPr/>
          <p:nvPr/>
        </p:nvCxnSpPr>
        <p:spPr>
          <a:xfrm>
            <a:off x="1524000" y="2971800"/>
            <a:ext cx="5486400" cy="0"/>
          </a:xfrm>
          <a:prstGeom prst="line">
            <a:avLst/>
          </a:prstGeom>
          <a:ln>
            <a:solidFill>
              <a:schemeClr val="bg2"/>
            </a:solidFill>
            <a:prstDash val="sysDot"/>
          </a:ln>
        </p:spPr>
        <p:style>
          <a:lnRef idx="2">
            <a:schemeClr val="dk1"/>
          </a:lnRef>
          <a:fillRef idx="1">
            <a:schemeClr val="lt1"/>
          </a:fillRef>
          <a:effectRef idx="0">
            <a:schemeClr val="dk1"/>
          </a:effectRef>
          <a:fontRef idx="minor">
            <a:schemeClr val="dk1"/>
          </a:fontRef>
        </p:style>
      </p:cxnSp>
      <p:cxnSp>
        <p:nvCxnSpPr>
          <p:cNvPr id="11" name="Straight Connector 10"/>
          <p:cNvCxnSpPr/>
          <p:nvPr/>
        </p:nvCxnSpPr>
        <p:spPr>
          <a:xfrm flipV="1">
            <a:off x="1828800" y="2013440"/>
            <a:ext cx="4926624" cy="1905000"/>
          </a:xfrm>
          <a:prstGeom prst="line">
            <a:avLst/>
          </a:prstGeom>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xmlns:a14="http://schemas.microsoft.com/office/drawing/2010/main">
        <mc:Choice Requires="a14">
          <p:sp>
            <p:nvSpPr>
              <p:cNvPr id="14" name="Text Box 3"/>
              <p:cNvSpPr txBox="1">
                <a:spLocks noChangeArrowheads="1"/>
              </p:cNvSpPr>
              <p:nvPr/>
            </p:nvSpPr>
            <p:spPr bwMode="auto">
              <a:xfrm>
                <a:off x="1889771" y="1276290"/>
                <a:ext cx="1932516"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i="1" dirty="0" smtClean="0">
                          <a:latin typeface="Cambria Math"/>
                        </a:rPr>
                        <m:t>𝑦</m:t>
                      </m:r>
                      <m:r>
                        <a:rPr lang="en-GB" altLang="en-US" sz="2000" i="1" dirty="0" smtClean="0">
                          <a:latin typeface="Cambria Math"/>
                        </a:rPr>
                        <m:t>=</m:t>
                      </m:r>
                      <m:r>
                        <a:rPr lang="en-GB" altLang="en-US" sz="2000" b="0" i="1" dirty="0" smtClean="0">
                          <a:solidFill>
                            <a:srgbClr val="0070C0"/>
                          </a:solidFill>
                          <a:latin typeface="Cambria Math"/>
                        </a:rPr>
                        <m:t>𝑎</m:t>
                      </m:r>
                      <m:r>
                        <a:rPr lang="en-GB" altLang="en-US" sz="2000" b="0" i="1" dirty="0" smtClean="0">
                          <a:solidFill>
                            <a:srgbClr val="0070C0"/>
                          </a:solidFill>
                          <a:latin typeface="Cambria Math"/>
                        </a:rPr>
                        <m:t>+</m:t>
                      </m:r>
                      <m:r>
                        <a:rPr lang="en-GB" altLang="en-US" sz="2000" b="0" i="1" dirty="0" err="1">
                          <a:solidFill>
                            <a:srgbClr val="0070C0"/>
                          </a:solidFill>
                          <a:latin typeface="Cambria Math"/>
                        </a:rPr>
                        <m:t>𝑏𝑥</m:t>
                      </m:r>
                      <m:r>
                        <a:rPr lang="en-GB" altLang="en-US" sz="2000" b="0" i="1" dirty="0" smtClean="0">
                          <a:latin typeface="Cambria Math"/>
                        </a:rPr>
                        <m:t>+</m:t>
                      </m:r>
                      <m:r>
                        <a:rPr lang="en-GB" altLang="en-US" sz="2000" b="0" i="1" dirty="0" smtClean="0">
                          <a:latin typeface="Cambria Math"/>
                        </a:rPr>
                        <m:t>𝑒</m:t>
                      </m:r>
                    </m:oMath>
                  </m:oMathPara>
                </a14:m>
                <a:endParaRPr lang="en-GB" altLang="en-US" sz="2000" dirty="0"/>
              </a:p>
            </p:txBody>
          </p:sp>
        </mc:Choice>
        <mc:Fallback xmlns="">
          <p:sp>
            <p:nvSpPr>
              <p:cNvPr id="14" name="Text Box 3"/>
              <p:cNvSpPr txBox="1">
                <a:spLocks noRot="1" noChangeAspect="1" noMove="1" noResize="1" noEditPoints="1" noAdjustHandles="1" noChangeArrowheads="1" noChangeShapeType="1" noTextEdit="1"/>
              </p:cNvSpPr>
              <p:nvPr/>
            </p:nvSpPr>
            <p:spPr bwMode="auto">
              <a:xfrm>
                <a:off x="1889771" y="1276290"/>
                <a:ext cx="1932516" cy="400110"/>
              </a:xfrm>
              <a:prstGeom prst="rect">
                <a:avLst/>
              </a:prstGeom>
              <a:blipFill rotWithShape="1">
                <a:blip r:embed="rId4"/>
                <a:stretch>
                  <a:fillRect b="-60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239000" y="3918440"/>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i="1" dirty="0">
                          <a:latin typeface="Cambria Math"/>
                        </a:rPr>
                        <m:t>𝑥</m:t>
                      </m:r>
                    </m:oMath>
                  </m:oMathPara>
                </a14:m>
                <a:endParaRPr lang="en-GB" altLang="en-US" sz="2400" dirty="0"/>
              </a:p>
            </p:txBody>
          </p:sp>
        </mc:Choice>
        <mc:Fallback xmlns="">
          <p:sp>
            <p:nvSpPr>
              <p:cNvPr id="15" name="Rectangle 14"/>
              <p:cNvSpPr>
                <a:spLocks noRot="1" noChangeAspect="1" noMove="1" noResize="1" noEditPoints="1" noAdjustHandles="1" noChangeArrowheads="1" noChangeShapeType="1" noTextEdit="1"/>
              </p:cNvSpPr>
              <p:nvPr/>
            </p:nvSpPr>
            <p:spPr>
              <a:xfrm>
                <a:off x="7239000" y="3918440"/>
                <a:ext cx="426399" cy="461665"/>
              </a:xfrm>
              <a:prstGeom prst="rect">
                <a:avLst/>
              </a:prstGeom>
              <a:blipFill rotWithShape="1">
                <a:blip r:embed="rId5"/>
                <a:stretch>
                  <a:fillRect/>
                </a:stretch>
              </a:blipFill>
            </p:spPr>
            <p:txBody>
              <a:bodyPr/>
              <a:lstStyle/>
              <a:p>
                <a:r>
                  <a:rPr lang="en-GB">
                    <a:noFill/>
                  </a:rPr>
                  <a:t> </a:t>
                </a:r>
              </a:p>
            </p:txBody>
          </p:sp>
        </mc:Fallback>
      </mc:AlternateContent>
      <p:grpSp>
        <p:nvGrpSpPr>
          <p:cNvPr id="39" name="Group 38"/>
          <p:cNvGrpSpPr/>
          <p:nvPr/>
        </p:nvGrpSpPr>
        <p:grpSpPr>
          <a:xfrm>
            <a:off x="2209800" y="1972408"/>
            <a:ext cx="4402016" cy="2142392"/>
            <a:chOff x="2209800" y="1972408"/>
            <a:chExt cx="4402016" cy="2142392"/>
          </a:xfrm>
        </p:grpSpPr>
        <p:grpSp>
          <p:nvGrpSpPr>
            <p:cNvPr id="12" name="Group 11"/>
            <p:cNvGrpSpPr/>
            <p:nvPr/>
          </p:nvGrpSpPr>
          <p:grpSpPr>
            <a:xfrm>
              <a:off x="2209800" y="1972408"/>
              <a:ext cx="4402016" cy="2142392"/>
              <a:chOff x="2209800" y="1972408"/>
              <a:chExt cx="4402016" cy="2142392"/>
            </a:xfrm>
          </p:grpSpPr>
          <p:cxnSp>
            <p:nvCxnSpPr>
              <p:cNvPr id="5" name="Straight Arrow Connector 4"/>
              <p:cNvCxnSpPr/>
              <p:nvPr/>
            </p:nvCxnSpPr>
            <p:spPr>
              <a:xfrm flipV="1">
                <a:off x="3097824" y="2801816"/>
                <a:ext cx="0" cy="65356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a:off x="3751384" y="3244360"/>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2" name="Straight Arrow Connector 21"/>
              <p:cNvCxnSpPr/>
              <p:nvPr/>
            </p:nvCxnSpPr>
            <p:spPr>
              <a:xfrm>
                <a:off x="4410808" y="2965940"/>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a:off x="5298832" y="2576144"/>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flipV="1">
                <a:off x="4961792" y="2564424"/>
                <a:ext cx="0" cy="1304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8" name="Straight Arrow Connector 27"/>
              <p:cNvCxnSpPr/>
              <p:nvPr/>
            </p:nvCxnSpPr>
            <p:spPr>
              <a:xfrm>
                <a:off x="2429608" y="3701564"/>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a:off x="2209800" y="3877408"/>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a:off x="6069624" y="2303584"/>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1" name="Straight Arrow Connector 30"/>
              <p:cNvCxnSpPr/>
              <p:nvPr/>
            </p:nvCxnSpPr>
            <p:spPr>
              <a:xfrm>
                <a:off x="2760784" y="3594590"/>
                <a:ext cx="0" cy="6301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3" name="Straight Arrow Connector 32"/>
              <p:cNvCxnSpPr/>
              <p:nvPr/>
            </p:nvCxnSpPr>
            <p:spPr>
              <a:xfrm flipV="1">
                <a:off x="6611816" y="1972408"/>
                <a:ext cx="0" cy="1304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grpSp>
        <mc:AlternateContent xmlns:mc="http://schemas.openxmlformats.org/markup-compatibility/2006" xmlns:a14="http://schemas.microsoft.com/office/drawing/2010/main">
          <mc:Choice Requires="a14">
            <p:sp>
              <p:nvSpPr>
                <p:cNvPr id="38" name="Rectangle 37"/>
                <p:cNvSpPr/>
                <p:nvPr/>
              </p:nvSpPr>
              <p:spPr>
                <a:xfrm>
                  <a:off x="2767757" y="2907268"/>
                  <a:ext cx="419282" cy="369332"/>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altLang="en-US" i="1" dirty="0" smtClean="0">
                                <a:solidFill>
                                  <a:srgbClr val="FF0000"/>
                                </a:solidFill>
                                <a:latin typeface="Cambria Math" panose="02040503050406030204" pitchFamily="18" charset="0"/>
                              </a:rPr>
                            </m:ctrlPr>
                          </m:sSubPr>
                          <m:e>
                            <m:r>
                              <a:rPr lang="en-GB" altLang="en-US" b="0" i="1" dirty="0" smtClean="0">
                                <a:solidFill>
                                  <a:srgbClr val="FF0000"/>
                                </a:solidFill>
                                <a:latin typeface="Cambria Math"/>
                              </a:rPr>
                              <m:t>𝑒</m:t>
                            </m:r>
                          </m:e>
                          <m:sub>
                            <m:r>
                              <a:rPr lang="en-GB" altLang="en-US" b="0" i="1" dirty="0" smtClean="0">
                                <a:solidFill>
                                  <a:srgbClr val="FF0000"/>
                                </a:solidFill>
                                <a:latin typeface="Cambria Math"/>
                              </a:rPr>
                              <m:t>𝑖</m:t>
                            </m:r>
                          </m:sub>
                        </m:sSub>
                      </m:oMath>
                    </m:oMathPara>
                  </a14:m>
                  <a:endParaRPr lang="en-GB" altLang="en-US" dirty="0">
                    <a:solidFill>
                      <a:srgbClr val="FF000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2767757" y="2907268"/>
                  <a:ext cx="419282" cy="369332"/>
                </a:xfrm>
                <a:prstGeom prst="rect">
                  <a:avLst/>
                </a:prstGeom>
                <a:blipFill rotWithShape="1">
                  <a:blip r:embed="rId6"/>
                  <a:stretch>
                    <a:fillRect/>
                  </a:stretch>
                </a:blipFill>
                <a:ln>
                  <a:noFill/>
                </a:ln>
              </p:spPr>
              <p:txBody>
                <a:bodyPr/>
                <a:lstStyle/>
                <a:p>
                  <a:r>
                    <a:rPr lang="en-GB">
                      <a:noFill/>
                    </a:rPr>
                    <a:t> </a:t>
                  </a:r>
                </a:p>
              </p:txBody>
            </p:sp>
          </mc:Fallback>
        </mc:AlternateContent>
      </p:grpSp>
      <p:sp>
        <p:nvSpPr>
          <p:cNvPr id="40" name="Rounded Rectangle 39"/>
          <p:cNvSpPr/>
          <p:nvPr/>
        </p:nvSpPr>
        <p:spPr>
          <a:xfrm>
            <a:off x="2438400" y="1219200"/>
            <a:ext cx="838200" cy="53340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54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Regression Line</a:t>
            </a:r>
            <a:endParaRPr lang="en-GB" dirty="0"/>
          </a:p>
        </p:txBody>
      </p:sp>
      <p:grpSp>
        <p:nvGrpSpPr>
          <p:cNvPr id="34" name="Group 33"/>
          <p:cNvGrpSpPr/>
          <p:nvPr/>
        </p:nvGrpSpPr>
        <p:grpSpPr>
          <a:xfrm>
            <a:off x="1524000" y="1066800"/>
            <a:ext cx="6141399" cy="3810000"/>
            <a:chOff x="1524000" y="1066800"/>
            <a:chExt cx="6141399" cy="3810000"/>
          </a:xfrm>
        </p:grpSpPr>
        <mc:AlternateContent xmlns:mc="http://schemas.openxmlformats.org/markup-compatibility/2006" xmlns:a14="http://schemas.microsoft.com/office/drawing/2010/main">
          <mc:Choice Requires="a14">
            <p:graphicFrame>
              <p:nvGraphicFramePr>
                <p:cNvPr id="3" name="Chart 2"/>
                <p:cNvGraphicFramePr>
                  <a:graphicFrameLocks/>
                </p:cNvGraphicFramePr>
                <p:nvPr>
                  <p:extLst>
                    <p:ext uri="{D42A27DB-BD31-4B8C-83A1-F6EECF244321}">
                      <p14:modId xmlns:p14="http://schemas.microsoft.com/office/powerpoint/2010/main" val="3462426082"/>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3"/>
                </a:graphicData>
              </a:graphic>
            </p:graphicFrame>
          </mc:Choice>
          <mc:Fallback xmlns="">
            <p:graphicFrame>
              <p:nvGraphicFramePr>
                <p:cNvPr id="3" name="Chart 2"/>
                <p:cNvGraphicFramePr>
                  <a:graphicFrameLocks/>
                </p:cNvGraphicFramePr>
                <p:nvPr>
                  <p:extLst>
                    <p:ext uri="{D42A27DB-BD31-4B8C-83A1-F6EECF244321}">
                      <p14:modId xmlns:p14="http://schemas.microsoft.com/office/powerpoint/2010/main" val="3462426082"/>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4"/>
                </a:graphicData>
              </a:graphic>
            </p:graphicFrame>
          </mc:Fallback>
        </mc:AlternateContent>
        <p:cxnSp>
          <p:nvCxnSpPr>
            <p:cNvPr id="23" name="Straight Connector 22"/>
            <p:cNvCxnSpPr/>
            <p:nvPr/>
          </p:nvCxnSpPr>
          <p:spPr>
            <a:xfrm flipV="1">
              <a:off x="4267200" y="1752600"/>
              <a:ext cx="0" cy="2971800"/>
            </a:xfrm>
            <a:prstGeom prst="line">
              <a:avLst/>
            </a:prstGeom>
            <a:ln>
              <a:solidFill>
                <a:schemeClr val="bg2"/>
              </a:solidFill>
              <a:prstDash val="dash"/>
            </a:ln>
          </p:spPr>
          <p:style>
            <a:lnRef idx="2">
              <a:schemeClr val="dk1"/>
            </a:lnRef>
            <a:fillRef idx="1">
              <a:schemeClr val="lt1"/>
            </a:fillRef>
            <a:effectRef idx="0">
              <a:schemeClr val="dk1"/>
            </a:effectRef>
            <a:fontRef idx="minor">
              <a:schemeClr val="dk1"/>
            </a:fontRef>
          </p:style>
        </p:cxnSp>
        <p:cxnSp>
          <p:nvCxnSpPr>
            <p:cNvPr id="24" name="Straight Connector 23"/>
            <p:cNvCxnSpPr/>
            <p:nvPr/>
          </p:nvCxnSpPr>
          <p:spPr>
            <a:xfrm>
              <a:off x="1524000" y="2971800"/>
              <a:ext cx="5486400" cy="0"/>
            </a:xfrm>
            <a:prstGeom prst="line">
              <a:avLst/>
            </a:prstGeom>
            <a:ln>
              <a:solidFill>
                <a:schemeClr val="bg2"/>
              </a:solidFill>
              <a:prstDash val="sysDot"/>
            </a:ln>
          </p:spPr>
          <p:style>
            <a:lnRef idx="2">
              <a:schemeClr val="dk1"/>
            </a:lnRef>
            <a:fillRef idx="1">
              <a:schemeClr val="lt1"/>
            </a:fillRef>
            <a:effectRef idx="0">
              <a:schemeClr val="dk1"/>
            </a:effectRef>
            <a:fontRef idx="minor">
              <a:schemeClr val="dk1"/>
            </a:fontRef>
          </p:style>
        </p:cxnSp>
        <mc:AlternateContent xmlns:mc="http://schemas.openxmlformats.org/markup-compatibility/2006" xmlns:a14="http://schemas.microsoft.com/office/drawing/2010/main">
          <mc:Choice Requires="a14">
            <p:sp>
              <p:nvSpPr>
                <p:cNvPr id="14" name="Text Box 3"/>
                <p:cNvSpPr txBox="1">
                  <a:spLocks noChangeArrowheads="1"/>
                </p:cNvSpPr>
                <p:nvPr/>
              </p:nvSpPr>
              <p:spPr bwMode="auto">
                <a:xfrm>
                  <a:off x="1889771" y="1276290"/>
                  <a:ext cx="1932516"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i="1" dirty="0" smtClean="0">
                            <a:latin typeface="Cambria Math"/>
                          </a:rPr>
                          <m:t>𝑦</m:t>
                        </m:r>
                        <m:r>
                          <a:rPr lang="en-GB" altLang="en-US" sz="2000" i="1" dirty="0" smtClean="0">
                            <a:latin typeface="Cambria Math"/>
                          </a:rPr>
                          <m:t>=</m:t>
                        </m:r>
                        <m:r>
                          <a:rPr lang="en-GB" altLang="en-US" sz="2000" b="0" i="1" dirty="0" smtClean="0">
                            <a:solidFill>
                              <a:srgbClr val="0070C0"/>
                            </a:solidFill>
                            <a:latin typeface="Cambria Math"/>
                          </a:rPr>
                          <m:t>𝑎</m:t>
                        </m:r>
                        <m:r>
                          <a:rPr lang="en-GB" altLang="en-US" sz="2000" b="0" i="1" dirty="0" smtClean="0">
                            <a:solidFill>
                              <a:srgbClr val="0070C0"/>
                            </a:solidFill>
                            <a:latin typeface="Cambria Math"/>
                          </a:rPr>
                          <m:t>+</m:t>
                        </m:r>
                        <m:r>
                          <a:rPr lang="en-GB" altLang="en-US" sz="2000" b="0" i="1" dirty="0" err="1">
                            <a:solidFill>
                              <a:srgbClr val="0070C0"/>
                            </a:solidFill>
                            <a:latin typeface="Cambria Math"/>
                          </a:rPr>
                          <m:t>𝑏𝑥</m:t>
                        </m:r>
                        <m:r>
                          <a:rPr lang="en-GB" altLang="en-US" sz="2000" b="0" i="1" dirty="0" smtClean="0">
                            <a:latin typeface="Cambria Math"/>
                          </a:rPr>
                          <m:t>+</m:t>
                        </m:r>
                        <m:r>
                          <a:rPr lang="en-GB" altLang="en-US" sz="2000" b="0" i="1" dirty="0" smtClean="0">
                            <a:latin typeface="Cambria Math"/>
                          </a:rPr>
                          <m:t>𝑒</m:t>
                        </m:r>
                      </m:oMath>
                    </m:oMathPara>
                  </a14:m>
                  <a:endParaRPr lang="en-GB" altLang="en-US" sz="2000" dirty="0"/>
                </a:p>
              </p:txBody>
            </p:sp>
          </mc:Choice>
          <mc:Fallback xmlns="">
            <p:sp>
              <p:nvSpPr>
                <p:cNvPr id="14" name="Text Box 3"/>
                <p:cNvSpPr txBox="1">
                  <a:spLocks noRot="1" noChangeAspect="1" noMove="1" noResize="1" noEditPoints="1" noAdjustHandles="1" noChangeArrowheads="1" noChangeShapeType="1" noTextEdit="1"/>
                </p:cNvSpPr>
                <p:nvPr/>
              </p:nvSpPr>
              <p:spPr bwMode="auto">
                <a:xfrm>
                  <a:off x="1889771" y="1276290"/>
                  <a:ext cx="1932516" cy="400110"/>
                </a:xfrm>
                <a:prstGeom prst="rect">
                  <a:avLst/>
                </a:prstGeom>
                <a:blipFill rotWithShape="1">
                  <a:blip r:embed="rId5"/>
                  <a:stretch>
                    <a:fillRect b="-60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239000" y="3918440"/>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i="1" dirty="0">
                            <a:latin typeface="Cambria Math"/>
                          </a:rPr>
                          <m:t>𝑥</m:t>
                        </m:r>
                      </m:oMath>
                    </m:oMathPara>
                  </a14:m>
                  <a:endParaRPr lang="en-GB" altLang="en-US" sz="2400" dirty="0"/>
                </a:p>
              </p:txBody>
            </p:sp>
          </mc:Choice>
          <mc:Fallback xmlns="">
            <p:sp>
              <p:nvSpPr>
                <p:cNvPr id="15" name="Rectangle 14"/>
                <p:cNvSpPr>
                  <a:spLocks noRot="1" noChangeAspect="1" noMove="1" noResize="1" noEditPoints="1" noAdjustHandles="1" noChangeArrowheads="1" noChangeShapeType="1" noTextEdit="1"/>
                </p:cNvSpPr>
                <p:nvPr/>
              </p:nvSpPr>
              <p:spPr>
                <a:xfrm>
                  <a:off x="7239000" y="3918440"/>
                  <a:ext cx="426399" cy="461665"/>
                </a:xfrm>
                <a:prstGeom prst="rect">
                  <a:avLst/>
                </a:prstGeom>
                <a:blipFill rotWithShape="1">
                  <a:blip r:embed="rId6"/>
                  <a:stretch>
                    <a:fillRect/>
                  </a:stretch>
                </a:blipFill>
              </p:spPr>
              <p:txBody>
                <a:bodyPr/>
                <a:lstStyle/>
                <a:p>
                  <a:r>
                    <a:rPr lang="en-GB">
                      <a:noFill/>
                    </a:rPr>
                    <a:t> </a:t>
                  </a:r>
                </a:p>
              </p:txBody>
            </p:sp>
          </mc:Fallback>
        </mc:AlternateContent>
        <p:grpSp>
          <p:nvGrpSpPr>
            <p:cNvPr id="39" name="Group 38"/>
            <p:cNvGrpSpPr/>
            <p:nvPr/>
          </p:nvGrpSpPr>
          <p:grpSpPr>
            <a:xfrm>
              <a:off x="2209800" y="1311458"/>
              <a:ext cx="4402016" cy="3108142"/>
              <a:chOff x="2209800" y="1311458"/>
              <a:chExt cx="4402016" cy="3108142"/>
            </a:xfrm>
          </p:grpSpPr>
          <p:grpSp>
            <p:nvGrpSpPr>
              <p:cNvPr id="12" name="Group 11"/>
              <p:cNvGrpSpPr/>
              <p:nvPr/>
            </p:nvGrpSpPr>
            <p:grpSpPr>
              <a:xfrm>
                <a:off x="2209800" y="1311458"/>
                <a:ext cx="4402016" cy="3108142"/>
                <a:chOff x="2209800" y="1311458"/>
                <a:chExt cx="4402016" cy="3108142"/>
              </a:xfrm>
            </p:grpSpPr>
            <p:cxnSp>
              <p:nvCxnSpPr>
                <p:cNvPr id="5" name="Straight Arrow Connector 4"/>
                <p:cNvCxnSpPr/>
                <p:nvPr/>
              </p:nvCxnSpPr>
              <p:spPr>
                <a:xfrm flipV="1">
                  <a:off x="3097824" y="2801816"/>
                  <a:ext cx="0" cy="1025768"/>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a:off x="3751384" y="3363056"/>
                  <a:ext cx="0" cy="11869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2" name="Straight Arrow Connector 21"/>
                <p:cNvCxnSpPr/>
                <p:nvPr/>
              </p:nvCxnSpPr>
              <p:spPr>
                <a:xfrm>
                  <a:off x="4410808" y="2907268"/>
                  <a:ext cx="0" cy="1846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a:off x="5298832" y="2303584"/>
                  <a:ext cx="0" cy="50995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a:off x="4961792" y="2510200"/>
                  <a:ext cx="0" cy="8060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8" name="Straight Arrow Connector 27"/>
                <p:cNvCxnSpPr/>
                <p:nvPr/>
              </p:nvCxnSpPr>
              <p:spPr>
                <a:xfrm flipV="1">
                  <a:off x="2429608" y="3827584"/>
                  <a:ext cx="0" cy="4396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flipV="1">
                  <a:off x="2209800" y="4154295"/>
                  <a:ext cx="0" cy="265305"/>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a:off x="6069624" y="1676400"/>
                  <a:ext cx="0" cy="753204"/>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1" name="Straight Arrow Connector 30"/>
                <p:cNvCxnSpPr/>
                <p:nvPr/>
              </p:nvCxnSpPr>
              <p:spPr>
                <a:xfrm flipH="1" flipV="1">
                  <a:off x="2760784" y="3657600"/>
                  <a:ext cx="6973" cy="338504"/>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3" name="Straight Arrow Connector 32"/>
                <p:cNvCxnSpPr/>
                <p:nvPr/>
              </p:nvCxnSpPr>
              <p:spPr>
                <a:xfrm>
                  <a:off x="6611816" y="1311458"/>
                  <a:ext cx="0" cy="696118"/>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grpSp>
          <mc:AlternateContent xmlns:mc="http://schemas.openxmlformats.org/markup-compatibility/2006" xmlns:a14="http://schemas.microsoft.com/office/drawing/2010/main">
            <mc:Choice Requires="a14">
              <p:sp>
                <p:nvSpPr>
                  <p:cNvPr id="38" name="Rectangle 37"/>
                  <p:cNvSpPr/>
                  <p:nvPr/>
                </p:nvSpPr>
                <p:spPr>
                  <a:xfrm>
                    <a:off x="2767757" y="2907268"/>
                    <a:ext cx="419282" cy="369332"/>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altLang="en-US" i="1" dirty="0" smtClean="0">
                                  <a:solidFill>
                                    <a:srgbClr val="FF0000"/>
                                  </a:solidFill>
                                  <a:latin typeface="Cambria Math" panose="02040503050406030204" pitchFamily="18" charset="0"/>
                                </a:rPr>
                              </m:ctrlPr>
                            </m:sSubPr>
                            <m:e>
                              <m:r>
                                <a:rPr lang="en-GB" altLang="en-US" b="0" i="1" dirty="0" smtClean="0">
                                  <a:solidFill>
                                    <a:srgbClr val="FF0000"/>
                                  </a:solidFill>
                                  <a:latin typeface="Cambria Math"/>
                                </a:rPr>
                                <m:t>𝑒</m:t>
                              </m:r>
                            </m:e>
                            <m:sub>
                              <m:r>
                                <a:rPr lang="en-GB" altLang="en-US" b="0" i="1" dirty="0" smtClean="0">
                                  <a:solidFill>
                                    <a:srgbClr val="FF0000"/>
                                  </a:solidFill>
                                  <a:latin typeface="Cambria Math"/>
                                </a:rPr>
                                <m:t>𝑖</m:t>
                              </m:r>
                            </m:sub>
                          </m:sSub>
                        </m:oMath>
                      </m:oMathPara>
                    </a14:m>
                    <a:endParaRPr lang="en-GB" altLang="en-US" dirty="0">
                      <a:solidFill>
                        <a:srgbClr val="FF000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2767757" y="2907268"/>
                    <a:ext cx="419282" cy="369332"/>
                  </a:xfrm>
                  <a:prstGeom prst="rect">
                    <a:avLst/>
                  </a:prstGeom>
                  <a:blipFill rotWithShape="1">
                    <a:blip r:embed="rId7"/>
                    <a:stretch>
                      <a:fillRect/>
                    </a:stretch>
                  </a:blipFill>
                  <a:ln>
                    <a:noFill/>
                  </a:ln>
                </p:spPr>
                <p:txBody>
                  <a:bodyPr/>
                  <a:lstStyle/>
                  <a:p>
                    <a:r>
                      <a:rPr lang="en-GB">
                        <a:noFill/>
                      </a:rPr>
                      <a:t> </a:t>
                    </a:r>
                  </a:p>
                </p:txBody>
              </p:sp>
            </mc:Fallback>
          </mc:AlternateContent>
        </p:grpSp>
        <p:cxnSp>
          <p:nvCxnSpPr>
            <p:cNvPr id="25" name="Straight Connector 24"/>
            <p:cNvCxnSpPr/>
            <p:nvPr/>
          </p:nvCxnSpPr>
          <p:spPr>
            <a:xfrm flipV="1">
              <a:off x="2133600" y="1066800"/>
              <a:ext cx="4800600" cy="3429000"/>
            </a:xfrm>
            <a:prstGeom prst="line">
              <a:avLst/>
            </a:prstGeom>
          </p:spPr>
          <p:style>
            <a:lnRef idx="2">
              <a:schemeClr val="accent3"/>
            </a:lnRef>
            <a:fillRef idx="0">
              <a:schemeClr val="accent3"/>
            </a:fillRef>
            <a:effectRef idx="1">
              <a:schemeClr val="accent3"/>
            </a:effectRef>
            <a:fontRef idx="minor">
              <a:schemeClr val="tx1"/>
            </a:fontRef>
          </p:style>
        </p:cxnSp>
      </p:grpSp>
      <p:sp>
        <p:nvSpPr>
          <p:cNvPr id="37" name="Rounded Rectangle 36"/>
          <p:cNvSpPr/>
          <p:nvPr/>
        </p:nvSpPr>
        <p:spPr>
          <a:xfrm>
            <a:off x="2438400" y="1219200"/>
            <a:ext cx="838200" cy="53340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66116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xplosion 1 16"/>
          <p:cNvSpPr/>
          <p:nvPr/>
        </p:nvSpPr>
        <p:spPr>
          <a:xfrm>
            <a:off x="3886200" y="761411"/>
            <a:ext cx="5097579" cy="1753189"/>
          </a:xfrm>
          <a:prstGeom prst="irregularSeal1">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lumMod val="50000"/>
                  </a:schemeClr>
                </a:solidFill>
              </a:rPr>
              <a:t>Minimize the sum of squared error from given points!</a:t>
            </a:r>
          </a:p>
        </p:txBody>
      </p:sp>
      <p:sp>
        <p:nvSpPr>
          <p:cNvPr id="2" name="Title 1"/>
          <p:cNvSpPr>
            <a:spLocks noGrp="1"/>
          </p:cNvSpPr>
          <p:nvPr>
            <p:ph type="title"/>
          </p:nvPr>
        </p:nvSpPr>
        <p:spPr/>
        <p:txBody>
          <a:bodyPr/>
          <a:lstStyle/>
          <a:p>
            <a:r>
              <a:rPr lang="en-GB" altLang="en-US" dirty="0"/>
              <a:t>Regression Line</a:t>
            </a:r>
            <a:endParaRPr lang="en-GB" dirty="0"/>
          </a:p>
        </p:txBody>
      </p:sp>
      <p:graphicFrame>
        <p:nvGraphicFramePr>
          <p:cNvPr id="3" name="Chart 2"/>
          <p:cNvGraphicFramePr>
            <a:graphicFrameLocks/>
          </p:cNvGraphicFramePr>
          <p:nvPr>
            <p:extLst>
              <p:ext uri="{D42A27DB-BD31-4B8C-83A1-F6EECF244321}">
                <p14:modId xmlns:p14="http://schemas.microsoft.com/office/powerpoint/2010/main" val="283514368"/>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Straight Connector 22"/>
          <p:cNvCxnSpPr/>
          <p:nvPr/>
        </p:nvCxnSpPr>
        <p:spPr>
          <a:xfrm flipV="1">
            <a:off x="4267200" y="1752600"/>
            <a:ext cx="0" cy="2971800"/>
          </a:xfrm>
          <a:prstGeom prst="line">
            <a:avLst/>
          </a:prstGeom>
          <a:ln>
            <a:solidFill>
              <a:schemeClr val="bg2"/>
            </a:solidFill>
            <a:prstDash val="dash"/>
          </a:ln>
        </p:spPr>
        <p:style>
          <a:lnRef idx="2">
            <a:schemeClr val="dk1"/>
          </a:lnRef>
          <a:fillRef idx="1">
            <a:schemeClr val="lt1"/>
          </a:fillRef>
          <a:effectRef idx="0">
            <a:schemeClr val="dk1"/>
          </a:effectRef>
          <a:fontRef idx="minor">
            <a:schemeClr val="dk1"/>
          </a:fontRef>
        </p:style>
      </p:cxnSp>
      <p:cxnSp>
        <p:nvCxnSpPr>
          <p:cNvPr id="24" name="Straight Connector 23"/>
          <p:cNvCxnSpPr/>
          <p:nvPr/>
        </p:nvCxnSpPr>
        <p:spPr>
          <a:xfrm>
            <a:off x="1524000" y="2971800"/>
            <a:ext cx="5486400" cy="0"/>
          </a:xfrm>
          <a:prstGeom prst="line">
            <a:avLst/>
          </a:prstGeom>
          <a:ln>
            <a:solidFill>
              <a:schemeClr val="bg2"/>
            </a:solidFill>
            <a:prstDash val="sysDot"/>
          </a:ln>
        </p:spPr>
        <p:style>
          <a:lnRef idx="2">
            <a:schemeClr val="dk1"/>
          </a:lnRef>
          <a:fillRef idx="1">
            <a:schemeClr val="lt1"/>
          </a:fillRef>
          <a:effectRef idx="0">
            <a:schemeClr val="dk1"/>
          </a:effectRef>
          <a:fontRef idx="minor">
            <a:schemeClr val="dk1"/>
          </a:fontRef>
        </p:style>
      </p:cxnSp>
      <p:cxnSp>
        <p:nvCxnSpPr>
          <p:cNvPr id="11" name="Straight Connector 10"/>
          <p:cNvCxnSpPr/>
          <p:nvPr/>
        </p:nvCxnSpPr>
        <p:spPr>
          <a:xfrm flipV="1">
            <a:off x="1828800" y="2013440"/>
            <a:ext cx="4926624" cy="1905000"/>
          </a:xfrm>
          <a:prstGeom prst="line">
            <a:avLst/>
          </a:prstGeom>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xmlns:a14="http://schemas.microsoft.com/office/drawing/2010/main">
        <mc:Choice Requires="a14">
          <p:sp>
            <p:nvSpPr>
              <p:cNvPr id="14" name="Text Box 3"/>
              <p:cNvSpPr txBox="1">
                <a:spLocks noChangeArrowheads="1"/>
              </p:cNvSpPr>
              <p:nvPr/>
            </p:nvSpPr>
            <p:spPr bwMode="auto">
              <a:xfrm>
                <a:off x="1889771" y="1276290"/>
                <a:ext cx="1901674" cy="400110"/>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i="1" dirty="0" smtClean="0">
                          <a:latin typeface="Cambria Math"/>
                        </a:rPr>
                        <m:t>𝑦</m:t>
                      </m:r>
                      <m:r>
                        <a:rPr lang="en-GB" altLang="en-US" sz="2000" i="1" dirty="0" smtClean="0">
                          <a:latin typeface="Cambria Math"/>
                        </a:rPr>
                        <m:t>=</m:t>
                      </m:r>
                      <m:r>
                        <a:rPr lang="en-GB" altLang="en-US" sz="2000" i="1" dirty="0" smtClean="0">
                          <a:latin typeface="Cambria Math"/>
                        </a:rPr>
                        <m:t>𝑎</m:t>
                      </m:r>
                      <m:r>
                        <a:rPr lang="en-GB" altLang="en-US" sz="2000" i="1" dirty="0" smtClean="0">
                          <a:latin typeface="Cambria Math"/>
                        </a:rPr>
                        <m:t>+</m:t>
                      </m:r>
                      <m:r>
                        <a:rPr lang="en-GB" altLang="en-US" sz="2000" i="1" dirty="0" err="1">
                          <a:latin typeface="Cambria Math"/>
                        </a:rPr>
                        <m:t>𝑏𝑥</m:t>
                      </m:r>
                      <m:r>
                        <a:rPr lang="en-GB" altLang="en-US" sz="2000" b="0" i="1" dirty="0" smtClean="0">
                          <a:latin typeface="Cambria Math"/>
                        </a:rPr>
                        <m:t>+</m:t>
                      </m:r>
                      <m:r>
                        <a:rPr lang="en-GB" altLang="en-US" sz="2000" b="0" i="1" dirty="0" smtClean="0">
                          <a:latin typeface="Cambria Math"/>
                        </a:rPr>
                        <m:t>𝑒</m:t>
                      </m:r>
                    </m:oMath>
                  </m:oMathPara>
                </a14:m>
                <a:endParaRPr lang="en-GB" altLang="en-US" sz="2000" dirty="0"/>
              </a:p>
            </p:txBody>
          </p:sp>
        </mc:Choice>
        <mc:Fallback xmlns="">
          <p:sp>
            <p:nvSpPr>
              <p:cNvPr id="14" name="Text Box 3"/>
              <p:cNvSpPr txBox="1">
                <a:spLocks noRot="1" noChangeAspect="1" noMove="1" noResize="1" noEditPoints="1" noAdjustHandles="1" noChangeArrowheads="1" noChangeShapeType="1" noTextEdit="1"/>
              </p:cNvSpPr>
              <p:nvPr/>
            </p:nvSpPr>
            <p:spPr bwMode="auto">
              <a:xfrm>
                <a:off x="1889771" y="1276290"/>
                <a:ext cx="1901674" cy="400110"/>
              </a:xfrm>
              <a:prstGeom prst="rect">
                <a:avLst/>
              </a:prstGeom>
              <a:blipFill rotWithShape="1">
                <a:blip r:embed="rId4"/>
                <a:stretch>
                  <a:fillRect b="-60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239000" y="3918440"/>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400" i="1" dirty="0">
                          <a:latin typeface="Cambria Math"/>
                        </a:rPr>
                        <m:t>𝑥</m:t>
                      </m:r>
                    </m:oMath>
                  </m:oMathPara>
                </a14:m>
                <a:endParaRPr lang="en-GB" altLang="en-US" sz="2400" dirty="0"/>
              </a:p>
            </p:txBody>
          </p:sp>
        </mc:Choice>
        <mc:Fallback xmlns="">
          <p:sp>
            <p:nvSpPr>
              <p:cNvPr id="15" name="Rectangle 14"/>
              <p:cNvSpPr>
                <a:spLocks noRot="1" noChangeAspect="1" noMove="1" noResize="1" noEditPoints="1" noAdjustHandles="1" noChangeArrowheads="1" noChangeShapeType="1" noTextEdit="1"/>
              </p:cNvSpPr>
              <p:nvPr/>
            </p:nvSpPr>
            <p:spPr>
              <a:xfrm>
                <a:off x="7239000" y="3918440"/>
                <a:ext cx="426399" cy="461665"/>
              </a:xfrm>
              <a:prstGeom prst="rect">
                <a:avLst/>
              </a:prstGeom>
              <a:blipFill rotWithShape="1">
                <a:blip r:embed="rId5"/>
                <a:stretch>
                  <a:fillRect/>
                </a:stretch>
              </a:blipFill>
            </p:spPr>
            <p:txBody>
              <a:bodyPr/>
              <a:lstStyle/>
              <a:p>
                <a:r>
                  <a:rPr lang="en-GB">
                    <a:noFill/>
                  </a:rPr>
                  <a:t> </a:t>
                </a:r>
              </a:p>
            </p:txBody>
          </p:sp>
        </mc:Fallback>
      </mc:AlternateContent>
      <p:grpSp>
        <p:nvGrpSpPr>
          <p:cNvPr id="39" name="Group 38"/>
          <p:cNvGrpSpPr/>
          <p:nvPr/>
        </p:nvGrpSpPr>
        <p:grpSpPr>
          <a:xfrm>
            <a:off x="2209800" y="1972408"/>
            <a:ext cx="4402016" cy="2142392"/>
            <a:chOff x="2209800" y="1972408"/>
            <a:chExt cx="4402016" cy="2142392"/>
          </a:xfrm>
        </p:grpSpPr>
        <p:grpSp>
          <p:nvGrpSpPr>
            <p:cNvPr id="12" name="Group 11"/>
            <p:cNvGrpSpPr/>
            <p:nvPr/>
          </p:nvGrpSpPr>
          <p:grpSpPr>
            <a:xfrm>
              <a:off x="2209800" y="1972408"/>
              <a:ext cx="4402016" cy="2142392"/>
              <a:chOff x="2209800" y="1972408"/>
              <a:chExt cx="4402016" cy="2142392"/>
            </a:xfrm>
          </p:grpSpPr>
          <p:cxnSp>
            <p:nvCxnSpPr>
              <p:cNvPr id="5" name="Straight Arrow Connector 4"/>
              <p:cNvCxnSpPr/>
              <p:nvPr/>
            </p:nvCxnSpPr>
            <p:spPr>
              <a:xfrm flipV="1">
                <a:off x="3097824" y="2801816"/>
                <a:ext cx="0" cy="65356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a:off x="3751384" y="3244360"/>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2" name="Straight Arrow Connector 21"/>
              <p:cNvCxnSpPr/>
              <p:nvPr/>
            </p:nvCxnSpPr>
            <p:spPr>
              <a:xfrm>
                <a:off x="4410808" y="2965940"/>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a:off x="5298832" y="2576144"/>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flipV="1">
                <a:off x="4961792" y="2564424"/>
                <a:ext cx="0" cy="1304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8" name="Straight Arrow Connector 27"/>
              <p:cNvCxnSpPr/>
              <p:nvPr/>
            </p:nvCxnSpPr>
            <p:spPr>
              <a:xfrm>
                <a:off x="2429608" y="3701564"/>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a:off x="2209800" y="3877408"/>
                <a:ext cx="0" cy="2373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a:off x="6069624" y="2303584"/>
                <a:ext cx="0" cy="12602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1" name="Straight Arrow Connector 30"/>
              <p:cNvCxnSpPr/>
              <p:nvPr/>
            </p:nvCxnSpPr>
            <p:spPr>
              <a:xfrm>
                <a:off x="2760784" y="3594590"/>
                <a:ext cx="0" cy="6301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3" name="Straight Arrow Connector 32"/>
              <p:cNvCxnSpPr/>
              <p:nvPr/>
            </p:nvCxnSpPr>
            <p:spPr>
              <a:xfrm flipV="1">
                <a:off x="6611816" y="1972408"/>
                <a:ext cx="0" cy="1304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grpSp>
        <mc:AlternateContent xmlns:mc="http://schemas.openxmlformats.org/markup-compatibility/2006" xmlns:a14="http://schemas.microsoft.com/office/drawing/2010/main">
          <mc:Choice Requires="a14">
            <p:sp>
              <p:nvSpPr>
                <p:cNvPr id="38" name="Rectangle 37"/>
                <p:cNvSpPr/>
                <p:nvPr/>
              </p:nvSpPr>
              <p:spPr>
                <a:xfrm>
                  <a:off x="2767757" y="2907268"/>
                  <a:ext cx="419282" cy="369332"/>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altLang="en-US" i="1" dirty="0" smtClean="0">
                                <a:solidFill>
                                  <a:srgbClr val="FF0000"/>
                                </a:solidFill>
                                <a:latin typeface="Cambria Math" panose="02040503050406030204" pitchFamily="18" charset="0"/>
                              </a:rPr>
                            </m:ctrlPr>
                          </m:sSubPr>
                          <m:e>
                            <m:r>
                              <a:rPr lang="en-GB" altLang="en-US" b="0" i="1" dirty="0" smtClean="0">
                                <a:solidFill>
                                  <a:srgbClr val="FF0000"/>
                                </a:solidFill>
                                <a:latin typeface="Cambria Math"/>
                              </a:rPr>
                              <m:t>𝑒</m:t>
                            </m:r>
                          </m:e>
                          <m:sub>
                            <m:r>
                              <a:rPr lang="en-GB" altLang="en-US" b="0" i="1" dirty="0" smtClean="0">
                                <a:solidFill>
                                  <a:srgbClr val="FF0000"/>
                                </a:solidFill>
                                <a:latin typeface="Cambria Math"/>
                              </a:rPr>
                              <m:t>𝑖</m:t>
                            </m:r>
                          </m:sub>
                        </m:sSub>
                      </m:oMath>
                    </m:oMathPara>
                  </a14:m>
                  <a:endParaRPr lang="en-GB" altLang="en-US" dirty="0">
                    <a:solidFill>
                      <a:srgbClr val="FF000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2767757" y="2907268"/>
                  <a:ext cx="419282" cy="369332"/>
                </a:xfrm>
                <a:prstGeom prst="rect">
                  <a:avLst/>
                </a:prstGeom>
                <a:blipFill rotWithShape="1">
                  <a:blip r:embed="rId6"/>
                  <a:stretch>
                    <a:fillRect/>
                  </a:stretch>
                </a:blipFill>
                <a:ln>
                  <a:noFill/>
                </a:ln>
              </p:spPr>
              <p:txBody>
                <a:bodyPr/>
                <a:lstStyle/>
                <a:p>
                  <a:r>
                    <a:rPr lang="en-GB">
                      <a:noFill/>
                    </a:rPr>
                    <a:t> </a:t>
                  </a:r>
                </a:p>
              </p:txBody>
            </p:sp>
          </mc:Fallback>
        </mc:AlternateContent>
      </p:grpSp>
      <p:grpSp>
        <p:nvGrpSpPr>
          <p:cNvPr id="4" name="Group 3"/>
          <p:cNvGrpSpPr/>
          <p:nvPr/>
        </p:nvGrpSpPr>
        <p:grpSpPr>
          <a:xfrm>
            <a:off x="1066800" y="1971239"/>
            <a:ext cx="2806212" cy="543361"/>
            <a:chOff x="2667000" y="1828800"/>
            <a:chExt cx="2806212" cy="543361"/>
          </a:xfrm>
        </p:grpSpPr>
        <p:sp>
          <p:nvSpPr>
            <p:cNvPr id="25" name="Rounded Rectangular Callout 24"/>
            <p:cNvSpPr/>
            <p:nvPr/>
          </p:nvSpPr>
          <p:spPr>
            <a:xfrm>
              <a:off x="2667000" y="1833486"/>
              <a:ext cx="2806212" cy="538675"/>
            </a:xfrm>
            <a:prstGeom prst="wedgeRoundRectCallout">
              <a:avLst>
                <a:gd name="adj1" fmla="val 24065"/>
                <a:gd name="adj2" fmla="val -1124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rPr>
                <a:t>We have data points x and y</a:t>
              </a:r>
            </a:p>
          </p:txBody>
        </p:sp>
        <p:sp>
          <p:nvSpPr>
            <p:cNvPr id="32" name="Rounded Rectangular Callout 31"/>
            <p:cNvSpPr/>
            <p:nvPr/>
          </p:nvSpPr>
          <p:spPr>
            <a:xfrm>
              <a:off x="2667000" y="1828800"/>
              <a:ext cx="2806212" cy="538675"/>
            </a:xfrm>
            <a:prstGeom prst="wedgeRoundRectCallout">
              <a:avLst>
                <a:gd name="adj1" fmla="val -13846"/>
                <a:gd name="adj2" fmla="val -10916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rPr>
                <a:t>We have data points x and y</a:t>
              </a:r>
            </a:p>
          </p:txBody>
        </p:sp>
      </p:grpSp>
      <p:grpSp>
        <p:nvGrpSpPr>
          <p:cNvPr id="34" name="Group 33"/>
          <p:cNvGrpSpPr/>
          <p:nvPr/>
        </p:nvGrpSpPr>
        <p:grpSpPr>
          <a:xfrm>
            <a:off x="3429000" y="218050"/>
            <a:ext cx="2806212" cy="538675"/>
            <a:chOff x="152400" y="1975925"/>
            <a:chExt cx="2806212" cy="538675"/>
          </a:xfrm>
        </p:grpSpPr>
        <p:sp>
          <p:nvSpPr>
            <p:cNvPr id="35" name="Rounded Rectangular Callout 34"/>
            <p:cNvSpPr/>
            <p:nvPr/>
          </p:nvSpPr>
          <p:spPr>
            <a:xfrm>
              <a:off x="152400" y="1975925"/>
              <a:ext cx="2806212" cy="538675"/>
            </a:xfrm>
            <a:prstGeom prst="wedgeRoundRectCallout">
              <a:avLst>
                <a:gd name="adj1" fmla="val -62724"/>
                <a:gd name="adj2" fmla="val 16505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rPr>
                <a:t>We have data points x and y</a:t>
              </a:r>
            </a:p>
          </p:txBody>
        </p:sp>
        <p:sp>
          <p:nvSpPr>
            <p:cNvPr id="36" name="Rounded Rectangular Callout 35"/>
            <p:cNvSpPr/>
            <p:nvPr/>
          </p:nvSpPr>
          <p:spPr>
            <a:xfrm>
              <a:off x="152400" y="1975925"/>
              <a:ext cx="2806212" cy="538675"/>
            </a:xfrm>
            <a:prstGeom prst="wedgeRoundRectCallout">
              <a:avLst>
                <a:gd name="adj1" fmla="val -77763"/>
                <a:gd name="adj2" fmla="val 16015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rPr>
                <a:t>We don’t know a and b</a:t>
              </a:r>
            </a:p>
          </p:txBody>
        </p:sp>
      </p:grpSp>
      <p:sp>
        <p:nvSpPr>
          <p:cNvPr id="6" name="Rectangle 5"/>
          <p:cNvSpPr/>
          <p:nvPr/>
        </p:nvSpPr>
        <p:spPr>
          <a:xfrm>
            <a:off x="5791200" y="3158586"/>
            <a:ext cx="2618641" cy="646331"/>
          </a:xfrm>
          <a:prstGeom prst="rect">
            <a:avLst/>
          </a:prstGeom>
          <a:solidFill>
            <a:schemeClr val="bg2"/>
          </a:solidFill>
        </p:spPr>
        <p:txBody>
          <a:bodyPr wrap="square">
            <a:spAutoFit/>
          </a:bodyPr>
          <a:lstStyle/>
          <a:p>
            <a:pPr>
              <a:buClr>
                <a:srgbClr val="333399"/>
              </a:buClr>
              <a:buSzPct val="75000"/>
            </a:pPr>
            <a:r>
              <a:rPr lang="en-GB" altLang="en-US" dirty="0"/>
              <a:t>This is known as the method of least squares</a:t>
            </a:r>
          </a:p>
        </p:txBody>
      </p:sp>
    </p:spTree>
    <p:extLst>
      <p:ext uri="{BB962C8B-B14F-4D97-AF65-F5344CB8AC3E}">
        <p14:creationId xmlns:p14="http://schemas.microsoft.com/office/powerpoint/2010/main" val="415737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of Least Squares</a:t>
            </a:r>
          </a:p>
        </p:txBody>
      </p:sp>
      <mc:AlternateContent xmlns:mc="http://schemas.openxmlformats.org/markup-compatibility/2006" xmlns:a14="http://schemas.microsoft.com/office/drawing/2010/main">
        <mc:Choice Requires="a14">
          <p:sp>
            <p:nvSpPr>
              <p:cNvPr id="3" name="Rectangle 2"/>
              <p:cNvSpPr/>
              <p:nvPr/>
            </p:nvSpPr>
            <p:spPr>
              <a:xfrm>
                <a:off x="384326" y="1047690"/>
                <a:ext cx="190167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i="1" dirty="0">
                          <a:latin typeface="Cambria Math"/>
                        </a:rPr>
                        <m:t>𝑦</m:t>
                      </m:r>
                      <m:r>
                        <a:rPr lang="en-GB" altLang="en-US" sz="2000" i="1" dirty="0">
                          <a:latin typeface="Cambria Math"/>
                        </a:rPr>
                        <m:t>=</m:t>
                      </m:r>
                      <m:r>
                        <a:rPr lang="en-GB" altLang="en-US" sz="2000" i="1" dirty="0">
                          <a:latin typeface="Cambria Math"/>
                        </a:rPr>
                        <m:t>𝑎</m:t>
                      </m:r>
                      <m:r>
                        <a:rPr lang="en-GB" altLang="en-US" sz="2000" i="1" dirty="0">
                          <a:latin typeface="Cambria Math"/>
                        </a:rPr>
                        <m:t>+</m:t>
                      </m:r>
                      <m:r>
                        <a:rPr lang="en-GB" altLang="en-US" sz="2000" i="1" dirty="0" err="1">
                          <a:latin typeface="Cambria Math"/>
                        </a:rPr>
                        <m:t>𝑏𝑥</m:t>
                      </m:r>
                      <m:r>
                        <a:rPr lang="en-GB" altLang="en-US" sz="2000" i="1" dirty="0">
                          <a:latin typeface="Cambria Math"/>
                        </a:rPr>
                        <m:t>+</m:t>
                      </m:r>
                      <m:r>
                        <a:rPr lang="en-GB" altLang="en-US" sz="2000" i="1" dirty="0">
                          <a:latin typeface="Cambria Math"/>
                        </a:rPr>
                        <m:t>𝑒</m:t>
                      </m:r>
                    </m:oMath>
                  </m:oMathPara>
                </a14:m>
                <a:endParaRPr lang="en-GB" altLang="en-US" sz="2000" dirty="0"/>
              </a:p>
            </p:txBody>
          </p:sp>
        </mc:Choice>
        <mc:Fallback xmlns="">
          <p:sp>
            <p:nvSpPr>
              <p:cNvPr id="3" name="Rectangle 2"/>
              <p:cNvSpPr>
                <a:spLocks noRot="1" noChangeAspect="1" noMove="1" noResize="1" noEditPoints="1" noAdjustHandles="1" noChangeArrowheads="1" noChangeShapeType="1" noTextEdit="1"/>
              </p:cNvSpPr>
              <p:nvPr/>
            </p:nvSpPr>
            <p:spPr>
              <a:xfrm>
                <a:off x="384326" y="1047690"/>
                <a:ext cx="1901674" cy="400110"/>
              </a:xfrm>
              <a:prstGeom prst="rect">
                <a:avLst/>
              </a:prstGeom>
              <a:blipFill rotWithShape="1">
                <a:blip r:embed="rId3"/>
                <a:stretch>
                  <a:fillRect b="-6061"/>
                </a:stretch>
              </a:blipFill>
            </p:spPr>
            <p:txBody>
              <a:bodyPr/>
              <a:lstStyle/>
              <a:p>
                <a:r>
                  <a:rPr lang="en-GB">
                    <a:noFill/>
                  </a:rPr>
                  <a:t> </a:t>
                </a:r>
              </a:p>
            </p:txBody>
          </p:sp>
        </mc:Fallback>
      </mc:AlternateContent>
      <p:grpSp>
        <p:nvGrpSpPr>
          <p:cNvPr id="15" name="Group 14"/>
          <p:cNvGrpSpPr/>
          <p:nvPr/>
        </p:nvGrpSpPr>
        <p:grpSpPr>
          <a:xfrm>
            <a:off x="3352800" y="609600"/>
            <a:ext cx="5867400" cy="3810000"/>
            <a:chOff x="1524000" y="1066800"/>
            <a:chExt cx="5867400" cy="3810000"/>
          </a:xfrm>
        </p:grpSpPr>
        <mc:AlternateContent xmlns:mc="http://schemas.openxmlformats.org/markup-compatibility/2006" xmlns:a14="http://schemas.microsoft.com/office/drawing/2010/main">
          <mc:Choice Requires="a14">
            <p:graphicFrame>
              <p:nvGraphicFramePr>
                <p:cNvPr id="16" name="Chart 15"/>
                <p:cNvGraphicFramePr>
                  <a:graphicFrameLocks/>
                </p:cNvGraphicFramePr>
                <p:nvPr>
                  <p:extLst>
                    <p:ext uri="{D42A27DB-BD31-4B8C-83A1-F6EECF244321}">
                      <p14:modId xmlns:p14="http://schemas.microsoft.com/office/powerpoint/2010/main" val="2490540751"/>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4"/>
                </a:graphicData>
              </a:graphic>
            </p:graphicFrame>
          </mc:Choice>
          <mc:Fallback xmlns="">
            <p:graphicFrame>
              <p:nvGraphicFramePr>
                <p:cNvPr id="16" name="Chart 15"/>
                <p:cNvGraphicFramePr>
                  <a:graphicFrameLocks/>
                </p:cNvGraphicFramePr>
                <p:nvPr>
                  <p:extLst>
                    <p:ext uri="{D42A27DB-BD31-4B8C-83A1-F6EECF244321}">
                      <p14:modId xmlns:p14="http://schemas.microsoft.com/office/powerpoint/2010/main" val="2490540751"/>
                    </p:ext>
                  </p:extLst>
                </p:nvPr>
              </p:nvGraphicFramePr>
              <p:xfrm>
                <a:off x="1752600" y="1600200"/>
                <a:ext cx="5638800" cy="3276600"/>
              </p:xfrm>
              <a:graphic>
                <a:graphicData uri="http://schemas.openxmlformats.org/drawingml/2006/chart">
                  <c:chart xmlns:c="http://schemas.openxmlformats.org/drawingml/2006/chart" xmlns:r="http://schemas.openxmlformats.org/officeDocument/2006/relationships" r:id="rId5"/>
                </a:graphicData>
              </a:graphic>
            </p:graphicFrame>
          </mc:Fallback>
        </mc:AlternateContent>
        <p:cxnSp>
          <p:nvCxnSpPr>
            <p:cNvPr id="17" name="Straight Connector 16"/>
            <p:cNvCxnSpPr/>
            <p:nvPr/>
          </p:nvCxnSpPr>
          <p:spPr>
            <a:xfrm flipV="1">
              <a:off x="4267200" y="1752600"/>
              <a:ext cx="0" cy="2971800"/>
            </a:xfrm>
            <a:prstGeom prst="line">
              <a:avLst/>
            </a:prstGeom>
            <a:ln>
              <a:solidFill>
                <a:schemeClr val="bg2"/>
              </a:solidFill>
              <a:prstDash val="dash"/>
            </a:ln>
          </p:spPr>
          <p:style>
            <a:lnRef idx="2">
              <a:schemeClr val="dk1"/>
            </a:lnRef>
            <a:fillRef idx="1">
              <a:schemeClr val="lt1"/>
            </a:fillRef>
            <a:effectRef idx="0">
              <a:schemeClr val="dk1"/>
            </a:effectRef>
            <a:fontRef idx="minor">
              <a:schemeClr val="dk1"/>
            </a:fontRef>
          </p:style>
        </p:cxnSp>
        <p:cxnSp>
          <p:nvCxnSpPr>
            <p:cNvPr id="18" name="Straight Connector 17"/>
            <p:cNvCxnSpPr/>
            <p:nvPr/>
          </p:nvCxnSpPr>
          <p:spPr>
            <a:xfrm>
              <a:off x="1524000" y="2971800"/>
              <a:ext cx="5486400" cy="0"/>
            </a:xfrm>
            <a:prstGeom prst="line">
              <a:avLst/>
            </a:prstGeom>
            <a:ln>
              <a:solidFill>
                <a:schemeClr val="bg2"/>
              </a:solidFill>
              <a:prstDash val="sysDot"/>
            </a:ln>
          </p:spPr>
          <p:style>
            <a:lnRef idx="2">
              <a:schemeClr val="dk1"/>
            </a:lnRef>
            <a:fillRef idx="1">
              <a:schemeClr val="lt1"/>
            </a:fillRef>
            <a:effectRef idx="0">
              <a:schemeClr val="dk1"/>
            </a:effectRef>
            <a:fontRef idx="minor">
              <a:schemeClr val="dk1"/>
            </a:fontRef>
          </p:style>
        </p:cxnSp>
        <p:grpSp>
          <p:nvGrpSpPr>
            <p:cNvPr id="21" name="Group 20"/>
            <p:cNvGrpSpPr/>
            <p:nvPr/>
          </p:nvGrpSpPr>
          <p:grpSpPr>
            <a:xfrm>
              <a:off x="2209800" y="1311458"/>
              <a:ext cx="4402016" cy="3108142"/>
              <a:chOff x="2209800" y="1311458"/>
              <a:chExt cx="4402016" cy="3108142"/>
            </a:xfrm>
          </p:grpSpPr>
          <p:grpSp>
            <p:nvGrpSpPr>
              <p:cNvPr id="23" name="Group 22"/>
              <p:cNvGrpSpPr/>
              <p:nvPr/>
            </p:nvGrpSpPr>
            <p:grpSpPr>
              <a:xfrm>
                <a:off x="2209800" y="1311458"/>
                <a:ext cx="4402016" cy="3108142"/>
                <a:chOff x="2209800" y="1311458"/>
                <a:chExt cx="4402016" cy="3108142"/>
              </a:xfrm>
            </p:grpSpPr>
            <p:cxnSp>
              <p:nvCxnSpPr>
                <p:cNvPr id="25" name="Straight Arrow Connector 24"/>
                <p:cNvCxnSpPr/>
                <p:nvPr/>
              </p:nvCxnSpPr>
              <p:spPr>
                <a:xfrm flipV="1">
                  <a:off x="3097824" y="2801816"/>
                  <a:ext cx="0" cy="1025768"/>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a:off x="3751384" y="3363056"/>
                  <a:ext cx="0" cy="11869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a:off x="4410808" y="2907268"/>
                  <a:ext cx="0" cy="18469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8" name="Straight Arrow Connector 27"/>
                <p:cNvCxnSpPr/>
                <p:nvPr/>
              </p:nvCxnSpPr>
              <p:spPr>
                <a:xfrm>
                  <a:off x="5298832" y="2303584"/>
                  <a:ext cx="0" cy="509952"/>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a:off x="4961792" y="2510200"/>
                  <a:ext cx="0" cy="80600"/>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flipV="1">
                  <a:off x="2429608" y="3827584"/>
                  <a:ext cx="0" cy="439616"/>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1" name="Straight Arrow Connector 30"/>
                <p:cNvCxnSpPr/>
                <p:nvPr/>
              </p:nvCxnSpPr>
              <p:spPr>
                <a:xfrm flipV="1">
                  <a:off x="2209800" y="4154295"/>
                  <a:ext cx="0" cy="265305"/>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2" name="Straight Arrow Connector 31"/>
                <p:cNvCxnSpPr/>
                <p:nvPr/>
              </p:nvCxnSpPr>
              <p:spPr>
                <a:xfrm>
                  <a:off x="6069624" y="1676400"/>
                  <a:ext cx="0" cy="753204"/>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3" name="Straight Arrow Connector 32"/>
                <p:cNvCxnSpPr/>
                <p:nvPr/>
              </p:nvCxnSpPr>
              <p:spPr>
                <a:xfrm flipH="1" flipV="1">
                  <a:off x="2760784" y="3657600"/>
                  <a:ext cx="6973" cy="338504"/>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cxnSp>
              <p:nvCxnSpPr>
                <p:cNvPr id="34" name="Straight Arrow Connector 33"/>
                <p:cNvCxnSpPr/>
                <p:nvPr/>
              </p:nvCxnSpPr>
              <p:spPr>
                <a:xfrm>
                  <a:off x="6611816" y="1311458"/>
                  <a:ext cx="0" cy="696118"/>
                </a:xfrm>
                <a:prstGeom prst="straightConnector1">
                  <a:avLst/>
                </a:prstGeom>
                <a:ln>
                  <a:solidFill>
                    <a:srgbClr val="FF0000"/>
                  </a:solidFill>
                  <a:tailEnd type="arrow"/>
                </a:ln>
              </p:spPr>
              <p:style>
                <a:lnRef idx="1">
                  <a:schemeClr val="accent6"/>
                </a:lnRef>
                <a:fillRef idx="0">
                  <a:schemeClr val="accent6"/>
                </a:fillRef>
                <a:effectRef idx="0">
                  <a:schemeClr val="accent6"/>
                </a:effectRef>
                <a:fontRef idx="minor">
                  <a:schemeClr val="tx1"/>
                </a:fontRef>
              </p:style>
            </p:cxnSp>
          </p:grpSp>
          <mc:AlternateContent xmlns:mc="http://schemas.openxmlformats.org/markup-compatibility/2006" xmlns:a14="http://schemas.microsoft.com/office/drawing/2010/main">
            <mc:Choice Requires="a14">
              <p:sp>
                <p:nvSpPr>
                  <p:cNvPr id="24" name="Rectangle 23"/>
                  <p:cNvSpPr/>
                  <p:nvPr/>
                </p:nvSpPr>
                <p:spPr>
                  <a:xfrm>
                    <a:off x="2767757" y="2907268"/>
                    <a:ext cx="419282" cy="369332"/>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altLang="en-US" i="1" dirty="0" smtClean="0">
                                  <a:solidFill>
                                    <a:srgbClr val="FF0000"/>
                                  </a:solidFill>
                                  <a:latin typeface="Cambria Math" panose="02040503050406030204" pitchFamily="18" charset="0"/>
                                </a:rPr>
                              </m:ctrlPr>
                            </m:sSubPr>
                            <m:e>
                              <m:r>
                                <a:rPr lang="en-GB" altLang="en-US" b="0" i="1" dirty="0" smtClean="0">
                                  <a:solidFill>
                                    <a:srgbClr val="FF0000"/>
                                  </a:solidFill>
                                  <a:latin typeface="Cambria Math"/>
                                </a:rPr>
                                <m:t>𝑒</m:t>
                              </m:r>
                            </m:e>
                            <m:sub>
                              <m:r>
                                <a:rPr lang="en-GB" altLang="en-US" b="0" i="1" dirty="0" smtClean="0">
                                  <a:solidFill>
                                    <a:srgbClr val="FF0000"/>
                                  </a:solidFill>
                                  <a:latin typeface="Cambria Math"/>
                                </a:rPr>
                                <m:t>𝑖</m:t>
                              </m:r>
                            </m:sub>
                          </m:sSub>
                        </m:oMath>
                      </m:oMathPara>
                    </a14:m>
                    <a:endParaRPr lang="en-GB" altLang="en-US" dirty="0">
                      <a:solidFill>
                        <a:srgbClr val="FF000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2767757" y="2907268"/>
                    <a:ext cx="419282" cy="369332"/>
                  </a:xfrm>
                  <a:prstGeom prst="rect">
                    <a:avLst/>
                  </a:prstGeom>
                  <a:blipFill rotWithShape="1">
                    <a:blip r:embed="rId6"/>
                    <a:stretch>
                      <a:fillRect/>
                    </a:stretch>
                  </a:blipFill>
                  <a:ln>
                    <a:noFill/>
                  </a:ln>
                </p:spPr>
                <p:txBody>
                  <a:bodyPr/>
                  <a:lstStyle/>
                  <a:p>
                    <a:r>
                      <a:rPr lang="en-GB">
                        <a:noFill/>
                      </a:rPr>
                      <a:t> </a:t>
                    </a:r>
                  </a:p>
                </p:txBody>
              </p:sp>
            </mc:Fallback>
          </mc:AlternateContent>
        </p:grpSp>
        <p:cxnSp>
          <p:nvCxnSpPr>
            <p:cNvPr id="22" name="Straight Connector 21"/>
            <p:cNvCxnSpPr/>
            <p:nvPr/>
          </p:nvCxnSpPr>
          <p:spPr>
            <a:xfrm flipV="1">
              <a:off x="2133600" y="1066800"/>
              <a:ext cx="4800600" cy="3429000"/>
            </a:xfrm>
            <a:prstGeom prst="line">
              <a:avLst/>
            </a:prstGeom>
          </p:spPr>
          <p:style>
            <a:lnRef idx="2">
              <a:schemeClr val="accent3"/>
            </a:lnRef>
            <a:fillRef idx="0">
              <a:schemeClr val="accent3"/>
            </a:fillRef>
            <a:effectRef idx="1">
              <a:schemeClr val="accent3"/>
            </a:effectRef>
            <a:fontRef idx="minor">
              <a:schemeClr val="tx1"/>
            </a:fontRef>
          </p:style>
        </p:cxnSp>
      </p:grpSp>
      <mc:AlternateContent xmlns:mc="http://schemas.openxmlformats.org/markup-compatibility/2006" xmlns:a14="http://schemas.microsoft.com/office/drawing/2010/main">
        <mc:Choice Requires="a14">
          <p:sp>
            <p:nvSpPr>
              <p:cNvPr id="35" name="Rectangle 34"/>
              <p:cNvSpPr/>
              <p:nvPr/>
            </p:nvSpPr>
            <p:spPr>
              <a:xfrm>
                <a:off x="381000" y="1885890"/>
                <a:ext cx="193027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i="1" dirty="0" smtClean="0">
                          <a:latin typeface="Cambria Math"/>
                        </a:rPr>
                        <m:t>𝑦</m:t>
                      </m:r>
                      <m:r>
                        <a:rPr lang="en-GB" altLang="en-US" sz="2000" i="1" dirty="0" smtClean="0">
                          <a:latin typeface="Cambria Math"/>
                        </a:rPr>
                        <m:t>=     </m:t>
                      </m:r>
                      <m:acc>
                        <m:accPr>
                          <m:chr m:val="̂"/>
                          <m:ctrlPr>
                            <a:rPr lang="en-GB" altLang="en-US" sz="2000" i="1" dirty="0" smtClean="0">
                              <a:latin typeface="Cambria Math" panose="02040503050406030204" pitchFamily="18" charset="0"/>
                            </a:rPr>
                          </m:ctrlPr>
                        </m:accPr>
                        <m:e>
                          <m:r>
                            <a:rPr lang="en-GB" altLang="en-US" sz="2000" b="0" i="1" dirty="0" smtClean="0">
                              <a:latin typeface="Cambria Math"/>
                            </a:rPr>
                            <m:t>𝑦</m:t>
                          </m:r>
                        </m:e>
                      </m:acc>
                      <m:r>
                        <a:rPr lang="en-GB" altLang="en-US" sz="2000" b="0" i="1" dirty="0" smtClean="0">
                          <a:latin typeface="Cambria Math"/>
                        </a:rPr>
                        <m:t>     </m:t>
                      </m:r>
                      <m:r>
                        <a:rPr lang="en-GB" altLang="en-US" sz="2000" i="1" dirty="0">
                          <a:latin typeface="Cambria Math"/>
                        </a:rPr>
                        <m:t>+</m:t>
                      </m:r>
                      <m:r>
                        <a:rPr lang="en-GB" altLang="en-US" sz="2000" i="1" dirty="0">
                          <a:latin typeface="Cambria Math"/>
                        </a:rPr>
                        <m:t>𝑒</m:t>
                      </m:r>
                    </m:oMath>
                  </m:oMathPara>
                </a14:m>
                <a:endParaRPr lang="en-GB" altLang="en-US" sz="2000" dirty="0"/>
              </a:p>
            </p:txBody>
          </p:sp>
        </mc:Choice>
        <mc:Fallback xmlns="">
          <p:sp>
            <p:nvSpPr>
              <p:cNvPr id="35" name="Rectangle 34"/>
              <p:cNvSpPr>
                <a:spLocks noRot="1" noChangeAspect="1" noMove="1" noResize="1" noEditPoints="1" noAdjustHandles="1" noChangeArrowheads="1" noChangeShapeType="1" noTextEdit="1"/>
              </p:cNvSpPr>
              <p:nvPr/>
            </p:nvSpPr>
            <p:spPr>
              <a:xfrm>
                <a:off x="381000" y="1885890"/>
                <a:ext cx="1930272" cy="400110"/>
              </a:xfrm>
              <a:prstGeom prst="rect">
                <a:avLst/>
              </a:prstGeom>
              <a:blipFill rotWithShape="1">
                <a:blip r:embed="rId7"/>
                <a:stretch>
                  <a:fillRect t="-6061" b="-6061"/>
                </a:stretch>
              </a:blipFill>
            </p:spPr>
            <p:txBody>
              <a:bodyPr/>
              <a:lstStyle/>
              <a:p>
                <a:r>
                  <a:rPr lang="en-GB">
                    <a:noFill/>
                  </a:rPr>
                  <a:t> </a:t>
                </a:r>
              </a:p>
            </p:txBody>
          </p:sp>
        </mc:Fallback>
      </mc:AlternateContent>
      <p:sp>
        <p:nvSpPr>
          <p:cNvPr id="36" name="Rounded Rectangle 35"/>
          <p:cNvSpPr/>
          <p:nvPr/>
        </p:nvSpPr>
        <p:spPr>
          <a:xfrm>
            <a:off x="951158" y="1008184"/>
            <a:ext cx="838200" cy="533400"/>
          </a:xfrm>
          <a:prstGeom prst="round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Arrow Connector 4"/>
          <p:cNvCxnSpPr>
            <a:stCxn id="36" idx="2"/>
          </p:cNvCxnSpPr>
          <p:nvPr/>
        </p:nvCxnSpPr>
        <p:spPr>
          <a:xfrm>
            <a:off x="1370258" y="1541584"/>
            <a:ext cx="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ctangle 38"/>
              <p:cNvSpPr/>
              <p:nvPr/>
            </p:nvSpPr>
            <p:spPr>
              <a:xfrm>
                <a:off x="387257" y="2546750"/>
                <a:ext cx="131311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b="0" i="1" dirty="0" smtClean="0">
                          <a:latin typeface="Cambria Math"/>
                        </a:rPr>
                        <m:t>𝑒</m:t>
                      </m:r>
                      <m:r>
                        <a:rPr lang="en-GB" altLang="en-US" sz="2000" b="0" i="1" dirty="0" smtClean="0">
                          <a:latin typeface="Cambria Math"/>
                        </a:rPr>
                        <m:t>=</m:t>
                      </m:r>
                      <m:r>
                        <a:rPr lang="en-GB" altLang="en-US" sz="2000" i="1" dirty="0" smtClean="0">
                          <a:latin typeface="Cambria Math"/>
                        </a:rPr>
                        <m:t>𝑦</m:t>
                      </m:r>
                      <m:r>
                        <a:rPr lang="en-GB" altLang="en-US" sz="2000" b="0" i="1" dirty="0" smtClean="0">
                          <a:latin typeface="Cambria Math"/>
                        </a:rPr>
                        <m:t>−</m:t>
                      </m:r>
                      <m:acc>
                        <m:accPr>
                          <m:chr m:val="̂"/>
                          <m:ctrlPr>
                            <a:rPr lang="en-GB" altLang="en-US" sz="2000" i="1" dirty="0" smtClean="0">
                              <a:latin typeface="Cambria Math" panose="02040503050406030204" pitchFamily="18" charset="0"/>
                            </a:rPr>
                          </m:ctrlPr>
                        </m:accPr>
                        <m:e>
                          <m:r>
                            <a:rPr lang="en-GB" altLang="en-US" sz="2000" b="0" i="1" dirty="0" smtClean="0">
                              <a:latin typeface="Cambria Math"/>
                            </a:rPr>
                            <m:t>𝑦</m:t>
                          </m:r>
                        </m:e>
                      </m:acc>
                    </m:oMath>
                  </m:oMathPara>
                </a14:m>
                <a:endParaRPr lang="en-GB" altLang="en-US" sz="2000" dirty="0"/>
              </a:p>
            </p:txBody>
          </p:sp>
        </mc:Choice>
        <mc:Fallback xmlns="">
          <p:sp>
            <p:nvSpPr>
              <p:cNvPr id="39" name="Rectangle 38"/>
              <p:cNvSpPr>
                <a:spLocks noRot="1" noChangeAspect="1" noMove="1" noResize="1" noEditPoints="1" noAdjustHandles="1" noChangeArrowheads="1" noChangeShapeType="1" noTextEdit="1"/>
              </p:cNvSpPr>
              <p:nvPr/>
            </p:nvSpPr>
            <p:spPr>
              <a:xfrm>
                <a:off x="387257" y="2546750"/>
                <a:ext cx="1313116" cy="400110"/>
              </a:xfrm>
              <a:prstGeom prst="rect">
                <a:avLst/>
              </a:prstGeom>
              <a:blipFill rotWithShape="1">
                <a:blip r:embed="rId8"/>
                <a:stretch>
                  <a:fillRect t="-6154" r="-20930" b="-76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396201" y="3573461"/>
                <a:ext cx="1737399" cy="1145442"/>
              </a:xfrm>
              <a:prstGeom prst="rect">
                <a:avLst/>
              </a:prstGeom>
            </p:spPr>
            <p:txBody>
              <a:bodyPr wrap="none">
                <a:spAutoFit/>
              </a:bodyPr>
              <a:lstStyle/>
              <a:p>
                <a:r>
                  <a:rPr lang="en-GB" altLang="en-US" sz="2000" b="0" dirty="0"/>
                  <a:t>Sum this for all</a:t>
                </a:r>
              </a:p>
              <a:p>
                <a:pPr/>
                <a14:m>
                  <m:oMathPara xmlns:m="http://schemas.openxmlformats.org/officeDocument/2006/math">
                    <m:oMathParaPr>
                      <m:jc m:val="centerGroup"/>
                    </m:oMathParaPr>
                    <m:oMath xmlns:m="http://schemas.openxmlformats.org/officeDocument/2006/math">
                      <m:nary>
                        <m:naryPr>
                          <m:chr m:val="∑"/>
                          <m:subHide m:val="on"/>
                          <m:supHide m:val="on"/>
                          <m:ctrlPr>
                            <a:rPr lang="en-GB" altLang="en-US" sz="2000" i="1" smtClean="0">
                              <a:latin typeface="Cambria Math" panose="02040503050406030204" pitchFamily="18" charset="0"/>
                            </a:rPr>
                          </m:ctrlPr>
                        </m:naryPr>
                        <m:sub/>
                        <m:sup/>
                        <m:e>
                          <m:sSup>
                            <m:sSupPr>
                              <m:ctrlPr>
                                <a:rPr lang="en-GB" altLang="en-US" sz="2000" i="1" smtClean="0">
                                  <a:latin typeface="Cambria Math" panose="02040503050406030204" pitchFamily="18" charset="0"/>
                                </a:rPr>
                              </m:ctrlPr>
                            </m:sSupPr>
                            <m:e>
                              <m:d>
                                <m:dPr>
                                  <m:ctrlPr>
                                    <a:rPr lang="en-GB" altLang="en-US" sz="2000" i="1">
                                      <a:latin typeface="Cambria Math" panose="02040503050406030204" pitchFamily="18" charset="0"/>
                                    </a:rPr>
                                  </m:ctrlPr>
                                </m:dPr>
                                <m:e>
                                  <m:r>
                                    <a:rPr lang="en-GB" altLang="en-US" sz="2000" i="1" dirty="0">
                                      <a:latin typeface="Cambria Math"/>
                                    </a:rPr>
                                    <m:t>𝑦</m:t>
                                  </m:r>
                                  <m:r>
                                    <a:rPr lang="en-GB" altLang="en-US" sz="2000" i="1" dirty="0">
                                      <a:latin typeface="Cambria Math"/>
                                    </a:rPr>
                                    <m:t>−</m:t>
                                  </m:r>
                                  <m:acc>
                                    <m:accPr>
                                      <m:chr m:val="̂"/>
                                      <m:ctrlPr>
                                        <a:rPr lang="en-GB" altLang="en-US" sz="2000" i="1" dirty="0">
                                          <a:latin typeface="Cambria Math" panose="02040503050406030204" pitchFamily="18" charset="0"/>
                                        </a:rPr>
                                      </m:ctrlPr>
                                    </m:accPr>
                                    <m:e>
                                      <m:r>
                                        <a:rPr lang="en-GB" altLang="en-US" sz="2000" i="1" dirty="0">
                                          <a:latin typeface="Cambria Math"/>
                                        </a:rPr>
                                        <m:t>𝑦</m:t>
                                      </m:r>
                                    </m:e>
                                  </m:acc>
                                </m:e>
                              </m:d>
                            </m:e>
                            <m:sup>
                              <m:r>
                                <a:rPr lang="en-GB" altLang="en-US" sz="2000" b="0" i="1" smtClean="0">
                                  <a:latin typeface="Cambria Math"/>
                                </a:rPr>
                                <m:t>2</m:t>
                              </m:r>
                            </m:sup>
                          </m:sSup>
                        </m:e>
                      </m:nary>
                    </m:oMath>
                  </m:oMathPara>
                </a14:m>
                <a:endParaRPr lang="en-GB" altLang="en-US" sz="2000" dirty="0"/>
              </a:p>
            </p:txBody>
          </p:sp>
        </mc:Choice>
        <mc:Fallback xmlns="">
          <p:sp>
            <p:nvSpPr>
              <p:cNvPr id="40" name="Rectangle 39"/>
              <p:cNvSpPr>
                <a:spLocks noRot="1" noChangeAspect="1" noMove="1" noResize="1" noEditPoints="1" noAdjustHandles="1" noChangeArrowheads="1" noChangeShapeType="1" noTextEdit="1"/>
              </p:cNvSpPr>
              <p:nvPr/>
            </p:nvSpPr>
            <p:spPr>
              <a:xfrm>
                <a:off x="396201" y="3573461"/>
                <a:ext cx="1737399" cy="1145442"/>
              </a:xfrm>
              <a:prstGeom prst="rect">
                <a:avLst/>
              </a:prstGeom>
              <a:blipFill rotWithShape="1">
                <a:blip r:embed="rId9"/>
                <a:stretch>
                  <a:fillRect l="-3860" t="-2660" r="-28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381000" y="3028890"/>
                <a:ext cx="177272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altLang="en-US" sz="2000" i="1" dirty="0" smtClean="0">
                              <a:latin typeface="Cambria Math" panose="02040503050406030204" pitchFamily="18" charset="0"/>
                            </a:rPr>
                          </m:ctrlPr>
                        </m:sSupPr>
                        <m:e>
                          <m:r>
                            <a:rPr lang="en-GB" altLang="en-US" sz="2000" i="1" dirty="0">
                              <a:latin typeface="Cambria Math"/>
                            </a:rPr>
                            <m:t>𝑒</m:t>
                          </m:r>
                        </m:e>
                        <m:sup>
                          <m:r>
                            <a:rPr lang="en-GB" altLang="en-US" sz="2000" i="1" dirty="0">
                              <a:latin typeface="Cambria Math"/>
                            </a:rPr>
                            <m:t>2</m:t>
                          </m:r>
                        </m:sup>
                      </m:sSup>
                      <m:r>
                        <a:rPr lang="en-GB" altLang="en-US" sz="2000" b="0" i="0" dirty="0" smtClean="0">
                          <a:latin typeface="Cambria Math"/>
                        </a:rPr>
                        <m:t>=</m:t>
                      </m:r>
                      <m:sSup>
                        <m:sSupPr>
                          <m:ctrlPr>
                            <a:rPr lang="en-GB" altLang="en-US" sz="2000" b="0" i="1" dirty="0" smtClean="0">
                              <a:latin typeface="Cambria Math" panose="02040503050406030204" pitchFamily="18" charset="0"/>
                            </a:rPr>
                          </m:ctrlPr>
                        </m:sSupPr>
                        <m:e>
                          <m:d>
                            <m:dPr>
                              <m:ctrlPr>
                                <a:rPr lang="en-GB" altLang="en-US" sz="2000" b="0" i="1" dirty="0" smtClean="0">
                                  <a:latin typeface="Cambria Math" panose="02040503050406030204" pitchFamily="18" charset="0"/>
                                </a:rPr>
                              </m:ctrlPr>
                            </m:dPr>
                            <m:e>
                              <m:r>
                                <a:rPr lang="en-GB" altLang="en-US" sz="2000" i="1" dirty="0">
                                  <a:latin typeface="Cambria Math"/>
                                </a:rPr>
                                <m:t>𝑦</m:t>
                              </m:r>
                              <m:r>
                                <a:rPr lang="en-GB" altLang="en-US" sz="2000" i="1" dirty="0">
                                  <a:latin typeface="Cambria Math"/>
                                </a:rPr>
                                <m:t>−</m:t>
                              </m:r>
                              <m:acc>
                                <m:accPr>
                                  <m:chr m:val="̂"/>
                                  <m:ctrlPr>
                                    <a:rPr lang="en-GB" altLang="en-US" sz="2000" i="1" dirty="0">
                                      <a:latin typeface="Cambria Math" panose="02040503050406030204" pitchFamily="18" charset="0"/>
                                    </a:rPr>
                                  </m:ctrlPr>
                                </m:accPr>
                                <m:e>
                                  <m:r>
                                    <a:rPr lang="en-GB" altLang="en-US" sz="2000" i="1" dirty="0">
                                      <a:latin typeface="Cambria Math"/>
                                    </a:rPr>
                                    <m:t>𝑦</m:t>
                                  </m:r>
                                </m:e>
                              </m:acc>
                            </m:e>
                          </m:d>
                        </m:e>
                        <m:sup>
                          <m:r>
                            <a:rPr lang="en-GB" altLang="en-US" sz="2000" b="0" i="1" dirty="0" smtClean="0">
                              <a:latin typeface="Cambria Math"/>
                            </a:rPr>
                            <m:t>2</m:t>
                          </m:r>
                        </m:sup>
                      </m:sSup>
                    </m:oMath>
                  </m:oMathPara>
                </a14:m>
                <a:endParaRPr lang="en-GB" altLang="en-US" sz="2000" dirty="0"/>
              </a:p>
            </p:txBody>
          </p:sp>
        </mc:Choice>
        <mc:Fallback xmlns="">
          <p:sp>
            <p:nvSpPr>
              <p:cNvPr id="42" name="Rectangle 41"/>
              <p:cNvSpPr>
                <a:spLocks noRot="1" noChangeAspect="1" noMove="1" noResize="1" noEditPoints="1" noAdjustHandles="1" noChangeArrowheads="1" noChangeShapeType="1" noTextEdit="1"/>
              </p:cNvSpPr>
              <p:nvPr/>
            </p:nvSpPr>
            <p:spPr>
              <a:xfrm>
                <a:off x="381000" y="3028890"/>
                <a:ext cx="1772729" cy="400110"/>
              </a:xfrm>
              <a:prstGeom prst="rect">
                <a:avLst/>
              </a:prstGeom>
              <a:blipFill rotWithShape="1">
                <a:blip r:embed="rId10"/>
                <a:stretch>
                  <a:fillRect t="-6061" r="-3103" b="-6061"/>
                </a:stretch>
              </a:blipFill>
            </p:spPr>
            <p:txBody>
              <a:bodyPr/>
              <a:lstStyle/>
              <a:p>
                <a:r>
                  <a:rPr lang="en-GB">
                    <a:noFill/>
                  </a:rPr>
                  <a:t> </a:t>
                </a:r>
              </a:p>
            </p:txBody>
          </p:sp>
        </mc:Fallback>
      </mc:AlternateContent>
      <p:sp>
        <p:nvSpPr>
          <p:cNvPr id="7" name="Rounded Rectangular Callout 6"/>
          <p:cNvSpPr/>
          <p:nvPr/>
        </p:nvSpPr>
        <p:spPr>
          <a:xfrm>
            <a:off x="2438400" y="2091042"/>
            <a:ext cx="1336817" cy="647700"/>
          </a:xfrm>
          <a:prstGeom prst="wedgeRoundRectCallout">
            <a:avLst>
              <a:gd name="adj1" fmla="val 128466"/>
              <a:gd name="adj2" fmla="val 5978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Residual error</a:t>
            </a:r>
          </a:p>
        </p:txBody>
      </p:sp>
      <p:sp>
        <p:nvSpPr>
          <p:cNvPr id="37" name="Rounded Rectangular Callout 36"/>
          <p:cNvSpPr/>
          <p:nvPr/>
        </p:nvSpPr>
        <p:spPr>
          <a:xfrm>
            <a:off x="2331619" y="3880703"/>
            <a:ext cx="1550377" cy="838200"/>
          </a:xfrm>
          <a:prstGeom prst="wedgeRoundRectCallout">
            <a:avLst>
              <a:gd name="adj1" fmla="val -68775"/>
              <a:gd name="adj2" fmla="val 1424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 try to minimize this</a:t>
            </a:r>
          </a:p>
        </p:txBody>
      </p:sp>
    </p:spTree>
    <p:extLst>
      <p:ext uri="{BB962C8B-B14F-4D97-AF65-F5344CB8AC3E}">
        <p14:creationId xmlns:p14="http://schemas.microsoft.com/office/powerpoint/2010/main" val="239650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0" grpId="0"/>
      <p:bldP spid="42" grpId="0"/>
      <p:bldP spid="7"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6036" name="Text Box 20"/>
              <p:cNvSpPr txBox="1">
                <a:spLocks noChangeArrowheads="1"/>
              </p:cNvSpPr>
              <p:nvPr/>
            </p:nvSpPr>
            <p:spPr bwMode="auto">
              <a:xfrm>
                <a:off x="4495800" y="2336810"/>
                <a:ext cx="1658335" cy="926779"/>
              </a:xfrm>
              <a:prstGeom prst="wedgeRoundRectCallout">
                <a:avLst>
                  <a:gd name="adj1" fmla="val -162803"/>
                  <a:gd name="adj2" fmla="val -37007"/>
                  <a:gd name="adj3" fmla="val 16667"/>
                </a:avLst>
              </a:prstGeom>
              <a:solidFill>
                <a:schemeClr val="bg2">
                  <a:lumMod val="90000"/>
                </a:schemeClr>
              </a:solidFill>
              <a:ln>
                <a:noFill/>
              </a:ln>
              <a:effectLst/>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GB" sz="2000" i="1">
                              <a:latin typeface="Cambria Math" panose="02040503050406030204" pitchFamily="18" charset="0"/>
                            </a:rPr>
                          </m:ctrlPr>
                        </m:naryPr>
                        <m:sub/>
                        <m:sup/>
                        <m:e>
                          <m:sSup>
                            <m:sSupPr>
                              <m:ctrlPr>
                                <a:rPr lang="en-GB" sz="2000" i="1">
                                  <a:latin typeface="Cambria Math" panose="02040503050406030204" pitchFamily="18" charset="0"/>
                                </a:rPr>
                              </m:ctrlPr>
                            </m:sSupPr>
                            <m:e>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a:rPr>
                                        <m:t>𝑥</m:t>
                                      </m:r>
                                    </m:e>
                                    <m:sub>
                                      <m:r>
                                        <a:rPr lang="en-GB" sz="2000" i="1">
                                          <a:latin typeface="Cambria Math"/>
                                        </a:rPr>
                                        <m:t>𝑖</m:t>
                                      </m:r>
                                    </m:sub>
                                  </m:sSub>
                                  <m:r>
                                    <a:rPr lang="en-GB" sz="2000" i="1">
                                      <a:latin typeface="Cambria Math"/>
                                    </a:rPr>
                                    <m:t>−</m:t>
                                  </m:r>
                                  <m:acc>
                                    <m:accPr>
                                      <m:chr m:val="̅"/>
                                      <m:ctrlPr>
                                        <a:rPr lang="en-GB" sz="2000" i="1">
                                          <a:latin typeface="Cambria Math" panose="02040503050406030204" pitchFamily="18" charset="0"/>
                                        </a:rPr>
                                      </m:ctrlPr>
                                    </m:accPr>
                                    <m:e>
                                      <m:r>
                                        <a:rPr lang="en-GB" sz="2000" i="1">
                                          <a:latin typeface="Cambria Math"/>
                                        </a:rPr>
                                        <m:t>𝑥</m:t>
                                      </m:r>
                                    </m:e>
                                  </m:acc>
                                </m:e>
                              </m:d>
                            </m:e>
                            <m:sup>
                              <m:r>
                                <a:rPr lang="en-GB" sz="2000">
                                  <a:latin typeface="Cambria Math"/>
                                </a:rPr>
                                <m:t>2</m:t>
                              </m:r>
                            </m:sup>
                          </m:sSup>
                        </m:e>
                      </m:nary>
                    </m:oMath>
                  </m:oMathPara>
                </a14:m>
                <a:endParaRPr lang="en-US" altLang="en-US" sz="2000" dirty="0"/>
              </a:p>
            </p:txBody>
          </p:sp>
        </mc:Choice>
        <mc:Fallback xmlns="">
          <p:sp>
            <p:nvSpPr>
              <p:cNvPr id="86036" name="Text Box 20"/>
              <p:cNvSpPr txBox="1">
                <a:spLocks noRot="1" noChangeAspect="1" noMove="1" noResize="1" noEditPoints="1" noAdjustHandles="1" noChangeArrowheads="1" noChangeShapeType="1" noTextEdit="1"/>
              </p:cNvSpPr>
              <p:nvPr/>
            </p:nvSpPr>
            <p:spPr bwMode="auto">
              <a:xfrm>
                <a:off x="4495800" y="2336810"/>
                <a:ext cx="1658335" cy="926779"/>
              </a:xfrm>
              <a:prstGeom prst="wedgeRoundRectCallout">
                <a:avLst>
                  <a:gd name="adj1" fmla="val -162803"/>
                  <a:gd name="adj2" fmla="val -37007"/>
                  <a:gd name="adj3" fmla="val 16667"/>
                </a:avLst>
              </a:prstGeom>
              <a:blipFill rotWithShape="1">
                <a:blip r:embed="rId3"/>
                <a:stretch>
                  <a:fillRect/>
                </a:stretch>
              </a:blipFill>
              <a:ln>
                <a:noFill/>
              </a:ln>
              <a:effectLst/>
              <a:extLst/>
            </p:spPr>
            <p:txBody>
              <a:bodyPr/>
              <a:lstStyle/>
              <a:p>
                <a:r>
                  <a:rPr lang="en-GB">
                    <a:noFill/>
                  </a:rPr>
                  <a:t> </a:t>
                </a:r>
              </a:p>
            </p:txBody>
          </p:sp>
        </mc:Fallback>
      </mc:AlternateContent>
      <p:sp>
        <p:nvSpPr>
          <p:cNvPr id="2" name="Title 1"/>
          <p:cNvSpPr>
            <a:spLocks noGrp="1"/>
          </p:cNvSpPr>
          <p:nvPr>
            <p:ph type="title"/>
          </p:nvPr>
        </p:nvSpPr>
        <p:spPr/>
        <p:txBody>
          <a:bodyPr/>
          <a:lstStyle/>
          <a:p>
            <a:r>
              <a:rPr lang="en-GB" dirty="0"/>
              <a:t>Method of Least Squares</a:t>
            </a:r>
          </a:p>
        </p:txBody>
      </p:sp>
      <mc:AlternateContent xmlns:mc="http://schemas.openxmlformats.org/markup-compatibility/2006" xmlns:a14="http://schemas.microsoft.com/office/drawing/2010/main">
        <mc:Choice Requires="a14">
          <p:sp>
            <p:nvSpPr>
              <p:cNvPr id="3" name="Rectangle 2"/>
              <p:cNvSpPr/>
              <p:nvPr/>
            </p:nvSpPr>
            <p:spPr>
              <a:xfrm>
                <a:off x="533400" y="990600"/>
                <a:ext cx="2369944" cy="1633717"/>
              </a:xfrm>
              <a:prstGeom prst="rect">
                <a:avLst/>
              </a:prstGeom>
            </p:spPr>
            <p:txBody>
              <a:bodyPr wrap="none">
                <a:spAutoFit/>
              </a:bodyPr>
              <a:lstStyle/>
              <a:p>
                <a:r>
                  <a:rPr lang="en-GB" sz="2000" dirty="0"/>
                  <a:t>Finding Slope:</a:t>
                </a:r>
              </a:p>
              <a:p>
                <a:endParaRPr lang="en-GB" sz="2000" dirty="0"/>
              </a:p>
              <a:p>
                <a:pPr lvl="1"/>
                <a14:m>
                  <m:oMathPara xmlns:m="http://schemas.openxmlformats.org/officeDocument/2006/math">
                    <m:oMathParaPr>
                      <m:jc m:val="centerGroup"/>
                    </m:oMathParaPr>
                    <m:oMath xmlns:m="http://schemas.openxmlformats.org/officeDocument/2006/math">
                      <m:r>
                        <a:rPr lang="en-GB" sz="3200" i="1" smtClean="0">
                          <a:latin typeface="Cambria Math"/>
                        </a:rPr>
                        <m:t>𝑏</m:t>
                      </m:r>
                      <m:r>
                        <a:rPr lang="en-GB" sz="3200" i="1" smtClean="0">
                          <a:latin typeface="Cambria Math"/>
                        </a:rPr>
                        <m:t>=</m:t>
                      </m:r>
                      <m:f>
                        <m:fPr>
                          <m:ctrlPr>
                            <a:rPr lang="en-GB" sz="3200" i="1">
                              <a:latin typeface="Cambria Math" panose="02040503050406030204" pitchFamily="18" charset="0"/>
                            </a:rPr>
                          </m:ctrlPr>
                        </m:fPr>
                        <m:num>
                          <m:r>
                            <m:rPr>
                              <m:sty m:val="p"/>
                            </m:rPr>
                            <a:rPr lang="en-GB" sz="3200" b="0" i="0" smtClean="0">
                              <a:latin typeface="Cambria Math"/>
                            </a:rPr>
                            <m:t>SSXY</m:t>
                          </m:r>
                        </m:num>
                        <m:den>
                          <m:r>
                            <m:rPr>
                              <m:nor/>
                            </m:rPr>
                            <a:rPr lang="en-GB" altLang="en-US" sz="3200" dirty="0"/>
                            <m:t>SSX</m:t>
                          </m:r>
                        </m:den>
                      </m:f>
                    </m:oMath>
                  </m:oMathPara>
                </a14:m>
                <a:endParaRPr lang="en-GB" sz="3200" dirty="0"/>
              </a:p>
            </p:txBody>
          </p:sp>
        </mc:Choice>
        <mc:Fallback xmlns="">
          <p:sp>
            <p:nvSpPr>
              <p:cNvPr id="3" name="Rectangle 2"/>
              <p:cNvSpPr>
                <a:spLocks noRot="1" noChangeAspect="1" noMove="1" noResize="1" noEditPoints="1" noAdjustHandles="1" noChangeArrowheads="1" noChangeShapeType="1" noTextEdit="1"/>
              </p:cNvSpPr>
              <p:nvPr/>
            </p:nvSpPr>
            <p:spPr>
              <a:xfrm>
                <a:off x="533400" y="990600"/>
                <a:ext cx="2369944" cy="1633717"/>
              </a:xfrm>
              <a:prstGeom prst="rect">
                <a:avLst/>
              </a:prstGeom>
              <a:blipFill rotWithShape="1">
                <a:blip r:embed="rId4"/>
                <a:stretch>
                  <a:fillRect l="-2835" t="-187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324600" y="2016276"/>
                <a:ext cx="2255105" cy="1049262"/>
              </a:xfrm>
              <a:prstGeom prst="rect">
                <a:avLst/>
              </a:prstGeom>
              <a:solidFill>
                <a:schemeClr val="accent5">
                  <a:lumMod val="20000"/>
                  <a:lumOff val="80000"/>
                </a:schemeClr>
              </a:solidFill>
            </p:spPr>
            <p:txBody>
              <a:bodyPr wrap="none">
                <a:spAutoFit/>
              </a:bodyPr>
              <a:lstStyle/>
              <a:p>
                <a:r>
                  <a:rPr lang="en-GB" sz="2000" dirty="0"/>
                  <a:t>This is e</a:t>
                </a:r>
                <a:r>
                  <a:rPr lang="en-GB" sz="2000" b="0" dirty="0"/>
                  <a:t>quivalent to</a:t>
                </a:r>
              </a:p>
              <a:p>
                <a:pPr/>
                <a14:m>
                  <m:oMathPara xmlns:m="http://schemas.openxmlformats.org/officeDocument/2006/math">
                    <m:oMathParaPr>
                      <m:jc m:val="centerGroup"/>
                    </m:oMathParaPr>
                    <m:oMath xmlns:m="http://schemas.openxmlformats.org/officeDocument/2006/math">
                      <m:r>
                        <a:rPr lang="en-GB" sz="2000" b="0" i="1" smtClean="0">
                          <a:latin typeface="Cambria Math"/>
                        </a:rPr>
                        <m:t>𝑏</m:t>
                      </m:r>
                      <m:r>
                        <a:rPr lang="en-GB" sz="2000" i="1">
                          <a:latin typeface="Cambria Math"/>
                        </a:rPr>
                        <m:t>=</m:t>
                      </m:r>
                      <m:f>
                        <m:fPr>
                          <m:ctrlPr>
                            <a:rPr lang="en-GB" sz="2000" i="1">
                              <a:latin typeface="Cambria Math" panose="02040503050406030204" pitchFamily="18" charset="0"/>
                            </a:rPr>
                          </m:ctrlPr>
                        </m:fPr>
                        <m:num>
                          <m:r>
                            <a:rPr lang="en-GB" sz="2000" b="1" i="1">
                              <a:latin typeface="Cambria Math"/>
                            </a:rPr>
                            <m:t>𝐜𝐨𝐯</m:t>
                          </m:r>
                          <m:r>
                            <a:rPr lang="en-GB" sz="2000" i="1">
                              <a:latin typeface="Cambria Math"/>
                            </a:rPr>
                            <m:t>(</m:t>
                          </m:r>
                          <m:r>
                            <a:rPr lang="en-GB" sz="2000" i="1">
                              <a:latin typeface="Cambria Math"/>
                            </a:rPr>
                            <m:t>𝑥</m:t>
                          </m:r>
                          <m:r>
                            <a:rPr lang="en-GB" sz="2000" i="1">
                              <a:latin typeface="Cambria Math"/>
                            </a:rPr>
                            <m:t>,</m:t>
                          </m:r>
                          <m:r>
                            <a:rPr lang="en-GB" sz="2000" i="1">
                              <a:latin typeface="Cambria Math"/>
                            </a:rPr>
                            <m:t>𝑦</m:t>
                          </m:r>
                          <m:r>
                            <a:rPr lang="en-GB" sz="2000" i="1">
                              <a:latin typeface="Cambria Math"/>
                            </a:rPr>
                            <m:t>)</m:t>
                          </m:r>
                        </m:num>
                        <m:den>
                          <m:sSubSup>
                            <m:sSubSupPr>
                              <m:ctrlPr>
                                <a:rPr lang="en-GB" sz="2000" i="1">
                                  <a:latin typeface="Cambria Math" panose="02040503050406030204" pitchFamily="18" charset="0"/>
                                </a:rPr>
                              </m:ctrlPr>
                            </m:sSubSupPr>
                            <m:e>
                              <m:r>
                                <a:rPr lang="en-GB" sz="2000" i="1">
                                  <a:latin typeface="Cambria Math"/>
                                </a:rPr>
                                <m:t>𝑠</m:t>
                              </m:r>
                            </m:e>
                            <m:sub>
                              <m:r>
                                <a:rPr lang="en-GB" sz="2000" i="1">
                                  <a:latin typeface="Cambria Math"/>
                                </a:rPr>
                                <m:t>𝑥</m:t>
                              </m:r>
                            </m:sub>
                            <m:sup>
                              <m:r>
                                <a:rPr lang="en-GB" sz="2000" i="1">
                                  <a:latin typeface="Cambria Math"/>
                                </a:rPr>
                                <m:t>2</m:t>
                              </m:r>
                            </m:sup>
                          </m:sSubSup>
                        </m:den>
                      </m:f>
                    </m:oMath>
                  </m:oMathPara>
                </a14:m>
                <a:endParaRPr lang="en-GB" sz="2000" dirty="0"/>
              </a:p>
            </p:txBody>
          </p:sp>
        </mc:Choice>
        <mc:Fallback xmlns="">
          <p:sp>
            <p:nvSpPr>
              <p:cNvPr id="4" name="Rectangle 3"/>
              <p:cNvSpPr>
                <a:spLocks noRot="1" noChangeAspect="1" noMove="1" noResize="1" noEditPoints="1" noAdjustHandles="1" noChangeArrowheads="1" noChangeShapeType="1" noTextEdit="1"/>
              </p:cNvSpPr>
              <p:nvPr/>
            </p:nvSpPr>
            <p:spPr>
              <a:xfrm>
                <a:off x="6324600" y="2016276"/>
                <a:ext cx="2255105" cy="1049262"/>
              </a:xfrm>
              <a:prstGeom prst="rect">
                <a:avLst/>
              </a:prstGeom>
              <a:blipFill rotWithShape="1">
                <a:blip r:embed="rId5"/>
                <a:stretch>
                  <a:fillRect l="-2981" t="-2907" r="-21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ounded Rectangular Callout 4"/>
              <p:cNvSpPr/>
              <p:nvPr/>
            </p:nvSpPr>
            <p:spPr>
              <a:xfrm>
                <a:off x="4469423" y="1005304"/>
                <a:ext cx="2417524" cy="926779"/>
              </a:xfrm>
              <a:prstGeom prst="wedgeRoundRectCallout">
                <a:avLst>
                  <a:gd name="adj1" fmla="val -122934"/>
                  <a:gd name="adj2" fmla="val 44826"/>
                  <a:gd name="adj3" fmla="val 16667"/>
                </a:avLst>
              </a:prstGeom>
              <a:solidFill>
                <a:schemeClr val="bg2">
                  <a:lumMod val="90000"/>
                </a:schemeClr>
              </a:solidFill>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GB" sz="2000" i="1">
                              <a:latin typeface="Cambria Math" panose="02040503050406030204" pitchFamily="18" charset="0"/>
                            </a:rPr>
                          </m:ctrlPr>
                        </m:naryPr>
                        <m:sub/>
                        <m:sup/>
                        <m:e>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a:rPr>
                                    <m:t>𝑥</m:t>
                                  </m:r>
                                </m:e>
                                <m:sub>
                                  <m:r>
                                    <a:rPr lang="en-GB" sz="2000" i="1">
                                      <a:latin typeface="Cambria Math"/>
                                    </a:rPr>
                                    <m:t>𝑖</m:t>
                                  </m:r>
                                </m:sub>
                              </m:sSub>
                              <m:r>
                                <a:rPr lang="en-GB" sz="2000" i="1">
                                  <a:latin typeface="Cambria Math"/>
                                </a:rPr>
                                <m:t>−</m:t>
                              </m:r>
                              <m:acc>
                                <m:accPr>
                                  <m:chr m:val="̅"/>
                                  <m:ctrlPr>
                                    <a:rPr lang="en-GB" sz="2000" i="1">
                                      <a:latin typeface="Cambria Math" panose="02040503050406030204" pitchFamily="18" charset="0"/>
                                    </a:rPr>
                                  </m:ctrlPr>
                                </m:accPr>
                                <m:e>
                                  <m:r>
                                    <a:rPr lang="en-GB" sz="2000" i="1">
                                      <a:latin typeface="Cambria Math"/>
                                    </a:rPr>
                                    <m:t>𝑥</m:t>
                                  </m:r>
                                </m:e>
                              </m:acc>
                            </m:e>
                          </m:d>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a:rPr>
                                    <m:t>𝑦</m:t>
                                  </m:r>
                                </m:e>
                                <m:sub>
                                  <m:r>
                                    <a:rPr lang="en-GB" sz="2000" i="1">
                                      <a:latin typeface="Cambria Math"/>
                                    </a:rPr>
                                    <m:t>𝑖</m:t>
                                  </m:r>
                                </m:sub>
                              </m:sSub>
                              <m:r>
                                <a:rPr lang="en-GB" sz="2000" i="1">
                                  <a:latin typeface="Cambria Math"/>
                                </a:rPr>
                                <m:t>−</m:t>
                              </m:r>
                              <m:acc>
                                <m:accPr>
                                  <m:chr m:val="̅"/>
                                  <m:ctrlPr>
                                    <a:rPr lang="en-GB" sz="2000" i="1">
                                      <a:latin typeface="Cambria Math" panose="02040503050406030204" pitchFamily="18" charset="0"/>
                                    </a:rPr>
                                  </m:ctrlPr>
                                </m:accPr>
                                <m:e>
                                  <m:r>
                                    <a:rPr lang="en-GB" sz="2000" i="1">
                                      <a:latin typeface="Cambria Math"/>
                                    </a:rPr>
                                    <m:t>𝑦</m:t>
                                  </m:r>
                                </m:e>
                              </m:acc>
                            </m:e>
                          </m:d>
                        </m:e>
                      </m:nary>
                    </m:oMath>
                  </m:oMathPara>
                </a14:m>
                <a:endParaRPr lang="en-GB" sz="2000" dirty="0"/>
              </a:p>
            </p:txBody>
          </p:sp>
        </mc:Choice>
        <mc:Fallback xmlns="">
          <p:sp>
            <p:nvSpPr>
              <p:cNvPr id="5" name="Rounded Rectangular Callout 4"/>
              <p:cNvSpPr>
                <a:spLocks noRot="1" noChangeAspect="1" noMove="1" noResize="1" noEditPoints="1" noAdjustHandles="1" noChangeArrowheads="1" noChangeShapeType="1" noTextEdit="1"/>
              </p:cNvSpPr>
              <p:nvPr/>
            </p:nvSpPr>
            <p:spPr>
              <a:xfrm>
                <a:off x="4469423" y="1005304"/>
                <a:ext cx="2417524" cy="926779"/>
              </a:xfrm>
              <a:prstGeom prst="wedgeRoundRectCallout">
                <a:avLst>
                  <a:gd name="adj1" fmla="val -122934"/>
                  <a:gd name="adj2" fmla="val 44826"/>
                  <a:gd name="adj3" fmla="val 16667"/>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533400" y="3544669"/>
                <a:ext cx="2659702" cy="1200329"/>
              </a:xfrm>
              <a:prstGeom prst="rect">
                <a:avLst/>
              </a:prstGeom>
            </p:spPr>
            <p:txBody>
              <a:bodyPr wrap="none">
                <a:spAutoFit/>
              </a:bodyPr>
              <a:lstStyle/>
              <a:p>
                <a:r>
                  <a:rPr lang="en-GB" sz="2000" dirty="0"/>
                  <a:t>Finding Intercept:</a:t>
                </a:r>
              </a:p>
              <a:p>
                <a:endParaRPr lang="en-GB" sz="2000" dirty="0"/>
              </a:p>
              <a:p>
                <a:pPr lvl="1"/>
                <a14:m>
                  <m:oMathPara xmlns:m="http://schemas.openxmlformats.org/officeDocument/2006/math">
                    <m:oMathParaPr>
                      <m:jc m:val="left"/>
                    </m:oMathParaPr>
                    <m:oMath xmlns:m="http://schemas.openxmlformats.org/officeDocument/2006/math">
                      <m:r>
                        <a:rPr lang="en-GB" sz="3200" b="0" i="1">
                          <a:latin typeface="Cambria Math"/>
                        </a:rPr>
                        <m:t>𝑎</m:t>
                      </m:r>
                      <m:r>
                        <a:rPr lang="en-GB" sz="3200" b="0" i="1">
                          <a:latin typeface="Cambria Math"/>
                        </a:rPr>
                        <m:t>=</m:t>
                      </m:r>
                      <m:acc>
                        <m:accPr>
                          <m:chr m:val="̅"/>
                          <m:ctrlPr>
                            <a:rPr lang="en-GB" sz="3200" i="1">
                              <a:latin typeface="Cambria Math" panose="02040503050406030204" pitchFamily="18" charset="0"/>
                            </a:rPr>
                          </m:ctrlPr>
                        </m:accPr>
                        <m:e>
                          <m:r>
                            <a:rPr lang="en-GB" sz="3200" b="0" i="1">
                              <a:latin typeface="Cambria Math"/>
                            </a:rPr>
                            <m:t>𝑦</m:t>
                          </m:r>
                        </m:e>
                      </m:acc>
                      <m:r>
                        <a:rPr lang="en-GB" sz="3200" b="0" i="1">
                          <a:latin typeface="Cambria Math"/>
                        </a:rPr>
                        <m:t>−</m:t>
                      </m:r>
                      <m:r>
                        <a:rPr lang="en-GB" sz="3200" b="0" i="1">
                          <a:latin typeface="Cambria Math"/>
                        </a:rPr>
                        <m:t>𝑏</m:t>
                      </m:r>
                      <m:acc>
                        <m:accPr>
                          <m:chr m:val="̅"/>
                          <m:ctrlPr>
                            <a:rPr lang="en-GB" sz="3200" i="1">
                              <a:latin typeface="Cambria Math" panose="02040503050406030204" pitchFamily="18" charset="0"/>
                            </a:rPr>
                          </m:ctrlPr>
                        </m:accPr>
                        <m:e>
                          <m:r>
                            <a:rPr lang="en-GB" sz="3200" b="0" i="1">
                              <a:latin typeface="Cambria Math"/>
                            </a:rPr>
                            <m:t>𝑥</m:t>
                          </m:r>
                        </m:e>
                      </m:acc>
                    </m:oMath>
                  </m:oMathPara>
                </a14:m>
                <a:endParaRPr lang="en-GB" sz="3200" dirty="0"/>
              </a:p>
            </p:txBody>
          </p:sp>
        </mc:Choice>
        <mc:Fallback xmlns="">
          <p:sp>
            <p:nvSpPr>
              <p:cNvPr id="20" name="Rectangle 19"/>
              <p:cNvSpPr>
                <a:spLocks noRot="1" noChangeAspect="1" noMove="1" noResize="1" noEditPoints="1" noAdjustHandles="1" noChangeArrowheads="1" noChangeShapeType="1" noTextEdit="1"/>
              </p:cNvSpPr>
              <p:nvPr/>
            </p:nvSpPr>
            <p:spPr>
              <a:xfrm>
                <a:off x="533400" y="3544669"/>
                <a:ext cx="2659702" cy="1200329"/>
              </a:xfrm>
              <a:prstGeom prst="rect">
                <a:avLst/>
              </a:prstGeom>
              <a:blipFill rotWithShape="1">
                <a:blip r:embed="rId7"/>
                <a:stretch>
                  <a:fillRect l="-2523" t="-253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 Box 20"/>
              <p:cNvSpPr txBox="1">
                <a:spLocks noChangeArrowheads="1"/>
              </p:cNvSpPr>
              <p:nvPr/>
            </p:nvSpPr>
            <p:spPr bwMode="auto">
              <a:xfrm>
                <a:off x="4267200" y="3568115"/>
                <a:ext cx="1118146" cy="926779"/>
              </a:xfrm>
              <a:prstGeom prst="wedgeRoundRectCallout">
                <a:avLst>
                  <a:gd name="adj1" fmla="val -155910"/>
                  <a:gd name="adj2" fmla="val 42683"/>
                  <a:gd name="adj3" fmla="val 16667"/>
                </a:avLst>
              </a:prstGeom>
              <a:solidFill>
                <a:schemeClr val="bg2">
                  <a:lumMod val="90000"/>
                </a:schemeClr>
              </a:solidFill>
              <a:ln>
                <a:noFill/>
              </a:ln>
              <a:effectLst/>
            </p:spPr>
            <p:txBody>
              <a:bodyPr wrap="none">
                <a:spAutoFit/>
              </a:bodyPr>
              <a:lstStyle/>
              <a:p>
                <a:pPr/>
                <a14:m>
                  <m:oMathPara xmlns:m="http://schemas.openxmlformats.org/officeDocument/2006/math">
                    <m:oMathParaPr>
                      <m:jc m:val="centerGroup"/>
                    </m:oMathParaPr>
                    <m:oMath xmlns:m="http://schemas.openxmlformats.org/officeDocument/2006/math">
                      <m:box>
                        <m:boxPr>
                          <m:ctrlPr>
                            <a:rPr lang="en-GB" sz="2000" i="1" smtClean="0">
                              <a:solidFill>
                                <a:schemeClr val="bg2">
                                  <a:lumMod val="50000"/>
                                </a:schemeClr>
                              </a:solidFill>
                              <a:latin typeface="Cambria Math" panose="02040503050406030204" pitchFamily="18" charset="0"/>
                            </a:rPr>
                          </m:ctrlPr>
                        </m:boxPr>
                        <m:e>
                          <m:argPr>
                            <m:argSz m:val="-1"/>
                          </m:argPr>
                          <m:f>
                            <m:fPr>
                              <m:ctrlPr>
                                <a:rPr lang="en-GB" sz="2000" i="1" smtClean="0">
                                  <a:solidFill>
                                    <a:schemeClr val="bg2">
                                      <a:lumMod val="50000"/>
                                    </a:schemeClr>
                                  </a:solidFill>
                                  <a:latin typeface="Cambria Math" panose="02040503050406030204" pitchFamily="18" charset="0"/>
                                </a:rPr>
                              </m:ctrlPr>
                            </m:fPr>
                            <m:num>
                              <m:r>
                                <a:rPr lang="en-GB" sz="2000" b="0" i="1" smtClean="0">
                                  <a:solidFill>
                                    <a:schemeClr val="bg2">
                                      <a:lumMod val="50000"/>
                                    </a:schemeClr>
                                  </a:solidFill>
                                  <a:latin typeface="Cambria Math"/>
                                </a:rPr>
                                <m:t>1</m:t>
                              </m:r>
                            </m:num>
                            <m:den>
                              <m:r>
                                <a:rPr lang="en-GB" sz="2000" b="0" i="1" smtClean="0">
                                  <a:solidFill>
                                    <a:schemeClr val="bg2">
                                      <a:lumMod val="50000"/>
                                    </a:schemeClr>
                                  </a:solidFill>
                                  <a:latin typeface="Cambria Math"/>
                                </a:rPr>
                                <m:t>𝑛</m:t>
                              </m:r>
                            </m:den>
                          </m:f>
                        </m:e>
                      </m:box>
                      <m:nary>
                        <m:naryPr>
                          <m:chr m:val="∑"/>
                          <m:limLoc m:val="undOvr"/>
                          <m:subHide m:val="on"/>
                          <m:supHide m:val="on"/>
                          <m:ctrlPr>
                            <a:rPr lang="en-GB" sz="2000" i="1">
                              <a:solidFill>
                                <a:schemeClr val="bg2">
                                  <a:lumMod val="50000"/>
                                </a:schemeClr>
                              </a:solidFill>
                              <a:latin typeface="Cambria Math" panose="02040503050406030204" pitchFamily="18" charset="0"/>
                            </a:rPr>
                          </m:ctrlPr>
                        </m:naryPr>
                        <m:sub/>
                        <m:sup/>
                        <m:e>
                          <m:sSub>
                            <m:sSubPr>
                              <m:ctrlPr>
                                <a:rPr lang="en-GB" sz="2000" i="1">
                                  <a:solidFill>
                                    <a:schemeClr val="bg2">
                                      <a:lumMod val="50000"/>
                                    </a:schemeClr>
                                  </a:solidFill>
                                  <a:latin typeface="Cambria Math" panose="02040503050406030204" pitchFamily="18" charset="0"/>
                                </a:rPr>
                              </m:ctrlPr>
                            </m:sSubPr>
                            <m:e>
                              <m:r>
                                <a:rPr lang="en-GB" sz="2000" i="1">
                                  <a:solidFill>
                                    <a:schemeClr val="bg2">
                                      <a:lumMod val="50000"/>
                                    </a:schemeClr>
                                  </a:solidFill>
                                  <a:latin typeface="Cambria Math"/>
                                </a:rPr>
                                <m:t>𝑥</m:t>
                              </m:r>
                            </m:e>
                            <m:sub>
                              <m:r>
                                <a:rPr lang="en-GB" sz="2000" i="1">
                                  <a:solidFill>
                                    <a:schemeClr val="bg2">
                                      <a:lumMod val="50000"/>
                                    </a:schemeClr>
                                  </a:solidFill>
                                  <a:latin typeface="Cambria Math"/>
                                </a:rPr>
                                <m:t>𝑖</m:t>
                              </m:r>
                            </m:sub>
                          </m:sSub>
                        </m:e>
                      </m:nary>
                    </m:oMath>
                  </m:oMathPara>
                </a14:m>
                <a:endParaRPr lang="en-US" altLang="en-US" sz="2000" dirty="0">
                  <a:solidFill>
                    <a:schemeClr val="bg2">
                      <a:lumMod val="50000"/>
                    </a:schemeClr>
                  </a:solidFill>
                </a:endParaRPr>
              </a:p>
            </p:txBody>
          </p:sp>
        </mc:Choice>
        <mc:Fallback xmlns="">
          <p:sp>
            <p:nvSpPr>
              <p:cNvPr id="8" name="Text Box 20"/>
              <p:cNvSpPr txBox="1">
                <a:spLocks noRot="1" noChangeAspect="1" noMove="1" noResize="1" noEditPoints="1" noAdjustHandles="1" noChangeArrowheads="1" noChangeShapeType="1" noTextEdit="1"/>
              </p:cNvSpPr>
              <p:nvPr/>
            </p:nvSpPr>
            <p:spPr bwMode="auto">
              <a:xfrm>
                <a:off x="4267200" y="3568115"/>
                <a:ext cx="1118146" cy="926779"/>
              </a:xfrm>
              <a:prstGeom prst="wedgeRoundRectCallout">
                <a:avLst>
                  <a:gd name="adj1" fmla="val -155910"/>
                  <a:gd name="adj2" fmla="val 42683"/>
                  <a:gd name="adj3" fmla="val 16667"/>
                </a:avLst>
              </a:prstGeom>
              <a:blipFill rotWithShape="1">
                <a:blip r:embed="rId8"/>
                <a:stretch>
                  <a:fillRect/>
                </a:stretch>
              </a:blipFill>
              <a:ln>
                <a:noFill/>
              </a:ln>
              <a:effectLs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 Box 20"/>
              <p:cNvSpPr txBox="1">
                <a:spLocks noChangeArrowheads="1"/>
              </p:cNvSpPr>
              <p:nvPr/>
            </p:nvSpPr>
            <p:spPr bwMode="auto">
              <a:xfrm>
                <a:off x="2642915" y="3218054"/>
                <a:ext cx="1100373" cy="926779"/>
              </a:xfrm>
              <a:prstGeom prst="wedgeRoundRectCallout">
                <a:avLst>
                  <a:gd name="adj1" fmla="val -95386"/>
                  <a:gd name="adj2" fmla="val 63945"/>
                  <a:gd name="adj3" fmla="val 16667"/>
                </a:avLst>
              </a:prstGeom>
              <a:solidFill>
                <a:schemeClr val="bg2">
                  <a:lumMod val="90000"/>
                </a:schemeClr>
              </a:solidFill>
              <a:ln>
                <a:noFill/>
              </a:ln>
              <a:effectLst/>
            </p:spPr>
            <p:txBody>
              <a:bodyPr wrap="none">
                <a:spAutoFit/>
              </a:bodyPr>
              <a:lstStyle/>
              <a:p>
                <a:pPr/>
                <a14:m>
                  <m:oMathPara xmlns:m="http://schemas.openxmlformats.org/officeDocument/2006/math">
                    <m:oMathParaPr>
                      <m:jc m:val="centerGroup"/>
                    </m:oMathParaPr>
                    <m:oMath xmlns:m="http://schemas.openxmlformats.org/officeDocument/2006/math">
                      <m:box>
                        <m:boxPr>
                          <m:ctrlPr>
                            <a:rPr lang="en-GB" sz="2000" i="1" smtClean="0">
                              <a:solidFill>
                                <a:schemeClr val="bg2">
                                  <a:lumMod val="50000"/>
                                </a:schemeClr>
                              </a:solidFill>
                              <a:latin typeface="Cambria Math" panose="02040503050406030204" pitchFamily="18" charset="0"/>
                            </a:rPr>
                          </m:ctrlPr>
                        </m:boxPr>
                        <m:e>
                          <m:argPr>
                            <m:argSz m:val="-1"/>
                          </m:argPr>
                          <m:f>
                            <m:fPr>
                              <m:ctrlPr>
                                <a:rPr lang="en-GB" sz="2000" i="1" smtClean="0">
                                  <a:solidFill>
                                    <a:schemeClr val="bg2">
                                      <a:lumMod val="50000"/>
                                    </a:schemeClr>
                                  </a:solidFill>
                                  <a:latin typeface="Cambria Math" panose="02040503050406030204" pitchFamily="18" charset="0"/>
                                </a:rPr>
                              </m:ctrlPr>
                            </m:fPr>
                            <m:num>
                              <m:r>
                                <a:rPr lang="en-GB" sz="2000" b="0" i="1" smtClean="0">
                                  <a:solidFill>
                                    <a:schemeClr val="bg2">
                                      <a:lumMod val="50000"/>
                                    </a:schemeClr>
                                  </a:solidFill>
                                  <a:latin typeface="Cambria Math"/>
                                </a:rPr>
                                <m:t>1</m:t>
                              </m:r>
                            </m:num>
                            <m:den>
                              <m:r>
                                <a:rPr lang="en-GB" sz="2000" b="0" i="1" smtClean="0">
                                  <a:solidFill>
                                    <a:schemeClr val="bg2">
                                      <a:lumMod val="50000"/>
                                    </a:schemeClr>
                                  </a:solidFill>
                                  <a:latin typeface="Cambria Math"/>
                                </a:rPr>
                                <m:t>𝑛</m:t>
                              </m:r>
                            </m:den>
                          </m:f>
                        </m:e>
                      </m:box>
                      <m:nary>
                        <m:naryPr>
                          <m:chr m:val="∑"/>
                          <m:limLoc m:val="undOvr"/>
                          <m:subHide m:val="on"/>
                          <m:supHide m:val="on"/>
                          <m:ctrlPr>
                            <a:rPr lang="en-GB" sz="2000" i="1">
                              <a:solidFill>
                                <a:schemeClr val="bg2">
                                  <a:lumMod val="50000"/>
                                </a:schemeClr>
                              </a:solidFill>
                              <a:latin typeface="Cambria Math" panose="02040503050406030204" pitchFamily="18" charset="0"/>
                            </a:rPr>
                          </m:ctrlPr>
                        </m:naryPr>
                        <m:sub/>
                        <m:sup/>
                        <m:e>
                          <m:sSub>
                            <m:sSubPr>
                              <m:ctrlPr>
                                <a:rPr lang="en-GB" sz="2000" i="1">
                                  <a:solidFill>
                                    <a:schemeClr val="bg2">
                                      <a:lumMod val="50000"/>
                                    </a:schemeClr>
                                  </a:solidFill>
                                  <a:latin typeface="Cambria Math" panose="02040503050406030204" pitchFamily="18" charset="0"/>
                                </a:rPr>
                              </m:ctrlPr>
                            </m:sSubPr>
                            <m:e>
                              <m:r>
                                <a:rPr lang="en-GB" sz="2000" b="0" i="1" smtClean="0">
                                  <a:solidFill>
                                    <a:schemeClr val="bg2">
                                      <a:lumMod val="50000"/>
                                    </a:schemeClr>
                                  </a:solidFill>
                                  <a:latin typeface="Cambria Math"/>
                                </a:rPr>
                                <m:t>𝑦</m:t>
                              </m:r>
                            </m:e>
                            <m:sub>
                              <m:r>
                                <a:rPr lang="en-GB" sz="2000" i="1">
                                  <a:solidFill>
                                    <a:schemeClr val="bg2">
                                      <a:lumMod val="50000"/>
                                    </a:schemeClr>
                                  </a:solidFill>
                                  <a:latin typeface="Cambria Math"/>
                                </a:rPr>
                                <m:t>𝑖</m:t>
                              </m:r>
                            </m:sub>
                          </m:sSub>
                        </m:e>
                      </m:nary>
                    </m:oMath>
                  </m:oMathPara>
                </a14:m>
                <a:endParaRPr lang="en-US" altLang="en-US" sz="2000" dirty="0">
                  <a:solidFill>
                    <a:schemeClr val="bg2">
                      <a:lumMod val="50000"/>
                    </a:schemeClr>
                  </a:solidFill>
                </a:endParaRPr>
              </a:p>
            </p:txBody>
          </p:sp>
        </mc:Choice>
        <mc:Fallback xmlns="">
          <p:sp>
            <p:nvSpPr>
              <p:cNvPr id="9" name="Text Box 20"/>
              <p:cNvSpPr txBox="1">
                <a:spLocks noRot="1" noChangeAspect="1" noMove="1" noResize="1" noEditPoints="1" noAdjustHandles="1" noChangeArrowheads="1" noChangeShapeType="1" noTextEdit="1"/>
              </p:cNvSpPr>
              <p:nvPr/>
            </p:nvSpPr>
            <p:spPr bwMode="auto">
              <a:xfrm>
                <a:off x="2642915" y="3218054"/>
                <a:ext cx="1100373" cy="926779"/>
              </a:xfrm>
              <a:prstGeom prst="wedgeRoundRectCallout">
                <a:avLst>
                  <a:gd name="adj1" fmla="val -95386"/>
                  <a:gd name="adj2" fmla="val 63945"/>
                  <a:gd name="adj3" fmla="val 16667"/>
                </a:avLst>
              </a:prstGeom>
              <a:blipFill rotWithShape="1">
                <a:blip r:embed="rId9"/>
                <a:stretch>
                  <a:fillRect/>
                </a:stretch>
              </a:blipFill>
              <a:ln>
                <a:noFill/>
              </a:ln>
              <a:effectLst/>
              <a:extLst/>
            </p:spPr>
            <p:txBody>
              <a:bodyPr/>
              <a:lstStyle/>
              <a:p>
                <a:r>
                  <a:rPr lang="en-GB">
                    <a:noFill/>
                  </a:rPr>
                  <a:t> </a:t>
                </a:r>
              </a:p>
            </p:txBody>
          </p:sp>
        </mc:Fallback>
      </mc:AlternateContent>
    </p:spTree>
    <p:extLst>
      <p:ext uri="{BB962C8B-B14F-4D97-AF65-F5344CB8AC3E}">
        <p14:creationId xmlns:p14="http://schemas.microsoft.com/office/powerpoint/2010/main" val="4124524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6036"/>
                                        </p:tgtEl>
                                        <p:attrNameLst>
                                          <p:attrName>style.visibility</p:attrName>
                                        </p:attrNameLst>
                                      </p:cBhvr>
                                      <p:to>
                                        <p:strVal val="visible"/>
                                      </p:to>
                                    </p:set>
                                    <p:animEffect transition="in" filter="fade">
                                      <p:cBhvr>
                                        <p:cTn id="12" dur="500"/>
                                        <p:tgtEl>
                                          <p:spTgt spid="860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36" grpId="0" animBg="1"/>
      <p:bldP spid="4" grpId="0" animBg="1"/>
      <p:bldP spid="5" grpId="0" animBg="1"/>
      <p:bldP spid="20" grpId="0"/>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ChangeArrowheads="1"/>
          </p:cNvSpPr>
          <p:nvPr/>
        </p:nvSpPr>
        <p:spPr bwMode="auto">
          <a:xfrm>
            <a:off x="304800" y="742890"/>
            <a:ext cx="80772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GB" altLang="en-US" sz="2000" dirty="0"/>
              <a:t>Now that we have the </a:t>
            </a:r>
            <a:r>
              <a:rPr lang="en-GB" altLang="en-US" sz="2000" b="1" dirty="0"/>
              <a:t>regression line</a:t>
            </a:r>
            <a:r>
              <a:rPr lang="en-GB" altLang="en-US" sz="2000" dirty="0"/>
              <a:t>, we can use it </a:t>
            </a:r>
            <a:r>
              <a:rPr lang="en-GB" altLang="en-US" sz="2000" b="1" dirty="0"/>
              <a:t>to predict</a:t>
            </a:r>
            <a:r>
              <a:rPr lang="en-GB" altLang="en-US" sz="2000" dirty="0"/>
              <a:t> values of </a:t>
            </a:r>
            <a:r>
              <a:rPr lang="en-GB" altLang="en-US" sz="2000" b="1" dirty="0"/>
              <a:t>y </a:t>
            </a:r>
          </a:p>
        </p:txBody>
      </p:sp>
      <p:sp>
        <p:nvSpPr>
          <p:cNvPr id="2" name="Title 1"/>
          <p:cNvSpPr>
            <a:spLocks noGrp="1"/>
          </p:cNvSpPr>
          <p:nvPr>
            <p:ph type="title"/>
          </p:nvPr>
        </p:nvSpPr>
        <p:spPr/>
        <p:txBody>
          <a:bodyPr/>
          <a:lstStyle/>
          <a:p>
            <a:r>
              <a:rPr lang="en-GB" dirty="0"/>
              <a:t>Linear Regression</a:t>
            </a:r>
          </a:p>
        </p:txBody>
      </p:sp>
      <p:sp>
        <p:nvSpPr>
          <p:cNvPr id="3" name="Rounded Rectangle 2"/>
          <p:cNvSpPr/>
          <p:nvPr/>
        </p:nvSpPr>
        <p:spPr>
          <a:xfrm>
            <a:off x="685800" y="2514600"/>
            <a:ext cx="7086600" cy="1143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buClr>
                <a:srgbClr val="333399"/>
              </a:buClr>
              <a:buSzPct val="75000"/>
            </a:pPr>
            <a:r>
              <a:rPr lang="en-GB" altLang="en-US" dirty="0"/>
              <a:t>In a univariate regression (i.e. one independent variable) the </a:t>
            </a:r>
            <a:r>
              <a:rPr lang="en-GB" altLang="en-US" b="1" dirty="0"/>
              <a:t>significance </a:t>
            </a:r>
            <a:r>
              <a:rPr lang="en-GB" altLang="en-US" dirty="0"/>
              <a:t>of the relationship</a:t>
            </a:r>
            <a:r>
              <a:rPr lang="en-GB" altLang="en-US" b="1" dirty="0"/>
              <a:t> </a:t>
            </a:r>
            <a:r>
              <a:rPr lang="en-GB" altLang="en-US" dirty="0"/>
              <a:t>is the </a:t>
            </a:r>
            <a:r>
              <a:rPr lang="en-GB" altLang="en-US" b="1" dirty="0"/>
              <a:t>same as </a:t>
            </a:r>
            <a:r>
              <a:rPr lang="en-GB" altLang="en-US" dirty="0"/>
              <a:t>the significance of the </a:t>
            </a:r>
            <a:r>
              <a:rPr lang="en-GB" altLang="en-US" b="1" dirty="0"/>
              <a:t>correlation coefficient</a:t>
            </a:r>
          </a:p>
        </p:txBody>
      </p:sp>
      <p:sp>
        <p:nvSpPr>
          <p:cNvPr id="5" name="Rectangle 4"/>
          <p:cNvSpPr/>
          <p:nvPr/>
        </p:nvSpPr>
        <p:spPr>
          <a:xfrm>
            <a:off x="304800" y="1066800"/>
            <a:ext cx="4572000" cy="1477328"/>
          </a:xfrm>
          <a:prstGeom prst="rect">
            <a:avLst/>
          </a:prstGeom>
        </p:spPr>
        <p:txBody>
          <a:bodyPr>
            <a:spAutoFit/>
          </a:bodyPr>
          <a:lstStyle/>
          <a:p>
            <a:endParaRPr lang="en-GB" altLang="en-US" dirty="0">
              <a:solidFill>
                <a:srgbClr val="333399"/>
              </a:solidFill>
            </a:endParaRPr>
          </a:p>
          <a:p>
            <a:r>
              <a:rPr lang="en-GB" altLang="en-US" b="1" dirty="0">
                <a:solidFill>
                  <a:srgbClr val="333399"/>
                </a:solidFill>
              </a:rPr>
              <a:t>but:</a:t>
            </a:r>
          </a:p>
          <a:p>
            <a:r>
              <a:rPr lang="en-GB" altLang="en-US" dirty="0"/>
              <a:t>Is there really a relationship between x and y?</a:t>
            </a:r>
          </a:p>
          <a:p>
            <a:r>
              <a:rPr lang="en-GB" altLang="en-US" b="1" dirty="0"/>
              <a:t>How good</a:t>
            </a:r>
            <a:r>
              <a:rPr lang="en-GB" altLang="en-US" dirty="0"/>
              <a:t> a model </a:t>
            </a:r>
            <a:r>
              <a:rPr lang="en-GB" altLang="en-US" b="1" dirty="0"/>
              <a:t>is</a:t>
            </a:r>
            <a:r>
              <a:rPr lang="en-GB" altLang="en-US" dirty="0"/>
              <a:t> it of </a:t>
            </a:r>
            <a:r>
              <a:rPr lang="en-GB" altLang="en-US" b="1" dirty="0"/>
              <a:t>the relationship</a:t>
            </a:r>
            <a:r>
              <a:rPr lang="en-GB" altLang="en-US" dirty="0"/>
              <a:t>?</a:t>
            </a:r>
          </a:p>
          <a:p>
            <a:endParaRPr lang="en-GB" altLang="en-US" b="1" dirty="0">
              <a:solidFill>
                <a:srgbClr val="333399"/>
              </a:solidFill>
            </a:endParaRPr>
          </a:p>
        </p:txBody>
      </p:sp>
    </p:spTree>
    <p:extLst>
      <p:ext uri="{BB962C8B-B14F-4D97-AF65-F5344CB8AC3E}">
        <p14:creationId xmlns:p14="http://schemas.microsoft.com/office/powerpoint/2010/main" val="423487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831085"/>
            <a:ext cx="6781800" cy="2193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Linear Regression in SPSS</a:t>
            </a:r>
          </a:p>
        </p:txBody>
      </p:sp>
      <mc:AlternateContent xmlns:mc="http://schemas.openxmlformats.org/markup-compatibility/2006" xmlns:a14="http://schemas.microsoft.com/office/drawing/2010/main">
        <mc:Choice Requires="a14">
          <p:sp>
            <p:nvSpPr>
              <p:cNvPr id="7" name="Text Box 5"/>
              <p:cNvSpPr txBox="1">
                <a:spLocks noChangeArrowheads="1"/>
              </p:cNvSpPr>
              <p:nvPr/>
            </p:nvSpPr>
            <p:spPr bwMode="auto">
              <a:xfrm>
                <a:off x="358588" y="3276600"/>
                <a:ext cx="5441682"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r>
                  <a:rPr lang="en-GB" altLang="en-US" sz="2000" dirty="0"/>
                  <a:t>Our equation from this model is therefore</a:t>
                </a:r>
              </a:p>
              <a:p>
                <a:r>
                  <a:rPr lang="en-GB" altLang="en-US" sz="2000" b="1" dirty="0"/>
                  <a:t>	</a:t>
                </a:r>
                <a14:m>
                  <m:oMath xmlns:m="http://schemas.openxmlformats.org/officeDocument/2006/math">
                    <m:r>
                      <a:rPr lang="en-GB" altLang="en-US" sz="2000" b="1" i="0" dirty="0" smtClean="0">
                        <a:latin typeface="Cambria Math"/>
                      </a:rPr>
                      <m:t>𝐄𝐃𝐔𝐂</m:t>
                    </m:r>
                    <m:r>
                      <a:rPr lang="en-GB" altLang="en-US" sz="2000" b="1" i="1" dirty="0">
                        <a:latin typeface="Cambria Math"/>
                      </a:rPr>
                      <m:t>=</m:t>
                    </m:r>
                    <m:r>
                      <a:rPr lang="en-GB" altLang="en-US" sz="2000" b="1" i="1" dirty="0">
                        <a:latin typeface="Cambria Math"/>
                      </a:rPr>
                      <m:t>𝟏𝟎</m:t>
                    </m:r>
                    <m:r>
                      <a:rPr lang="en-GB" altLang="en-US" sz="2000" b="1" i="1" dirty="0">
                        <a:latin typeface="Cambria Math"/>
                      </a:rPr>
                      <m:t>.</m:t>
                    </m:r>
                    <m:r>
                      <a:rPr lang="en-GB" altLang="en-US" sz="2000" b="1" i="1" dirty="0">
                        <a:latin typeface="Cambria Math"/>
                      </a:rPr>
                      <m:t>𝟎𝟑𝟕</m:t>
                    </m:r>
                    <m:r>
                      <a:rPr lang="en-GB" altLang="en-US" sz="2000" b="1" i="1" dirty="0">
                        <a:latin typeface="Cambria Math"/>
                      </a:rPr>
                      <m:t>+(</m:t>
                    </m:r>
                    <m:r>
                      <a:rPr lang="en-GB" altLang="en-US" sz="2000" b="1" i="1" dirty="0">
                        <a:latin typeface="Cambria Math"/>
                      </a:rPr>
                      <m:t>𝟎</m:t>
                    </m:r>
                    <m:r>
                      <a:rPr lang="en-GB" altLang="en-US" sz="2000" b="1" i="1" dirty="0">
                        <a:latin typeface="Cambria Math"/>
                      </a:rPr>
                      <m:t>.</m:t>
                    </m:r>
                    <m:r>
                      <a:rPr lang="en-GB" altLang="en-US" sz="2000" b="1" i="1" dirty="0">
                        <a:latin typeface="Cambria Math"/>
                      </a:rPr>
                      <m:t>𝟑𝟏𝟏</m:t>
                    </m:r>
                    <m:r>
                      <a:rPr lang="en-GB" altLang="en-US" sz="2000" b="1" i="0" dirty="0" smtClean="0">
                        <a:latin typeface="Cambria Math"/>
                      </a:rPr>
                      <m:t>∗</m:t>
                    </m:r>
                    <m:r>
                      <a:rPr lang="en-GB" altLang="en-US" sz="2000" b="1" i="0" dirty="0">
                        <a:latin typeface="Cambria Math"/>
                      </a:rPr>
                      <m:t>𝐏𝐀𝐄𝐃𝐔𝐂</m:t>
                    </m:r>
                    <m:r>
                      <a:rPr lang="en-GB" altLang="en-US" sz="2000" b="1" i="0" dirty="0" smtClean="0">
                        <a:latin typeface="Cambria Math"/>
                      </a:rPr>
                      <m:t>)</m:t>
                    </m:r>
                  </m:oMath>
                </a14:m>
                <a:endParaRPr lang="en-US" altLang="en-US" sz="2000" b="1" dirty="0"/>
              </a:p>
            </p:txBody>
          </p:sp>
        </mc:Choice>
        <mc:Fallback xmlns="">
          <p:sp>
            <p:nvSpPr>
              <p:cNvPr id="7" name="Text Box 5"/>
              <p:cNvSpPr txBox="1">
                <a:spLocks noRot="1" noChangeAspect="1" noMove="1" noResize="1" noEditPoints="1" noAdjustHandles="1" noChangeArrowheads="1" noChangeShapeType="1" noTextEdit="1"/>
              </p:cNvSpPr>
              <p:nvPr/>
            </p:nvSpPr>
            <p:spPr bwMode="auto">
              <a:xfrm>
                <a:off x="358588" y="3276600"/>
                <a:ext cx="5441682" cy="707886"/>
              </a:xfrm>
              <a:prstGeom prst="rect">
                <a:avLst/>
              </a:prstGeom>
              <a:blipFill rotWithShape="1">
                <a:blip r:embed="rId4"/>
                <a:stretch>
                  <a:fillRect l="-1233" t="-4310" b="-68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cxnSp>
        <p:nvCxnSpPr>
          <p:cNvPr id="9" name="Straight Arrow Connector 8"/>
          <p:cNvCxnSpPr/>
          <p:nvPr/>
        </p:nvCxnSpPr>
        <p:spPr>
          <a:xfrm>
            <a:off x="3124200" y="2438400"/>
            <a:ext cx="838200" cy="122327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1" name="Straight Arrow Connector 10"/>
          <p:cNvCxnSpPr/>
          <p:nvPr/>
        </p:nvCxnSpPr>
        <p:spPr>
          <a:xfrm flipH="1">
            <a:off x="2590800" y="2057400"/>
            <a:ext cx="76200" cy="160427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xmlns:a14="http://schemas.microsoft.com/office/drawing/2010/main">
        <mc:Choice Requires="a14">
          <p:sp>
            <p:nvSpPr>
              <p:cNvPr id="14" name="Rectangular Callout 13"/>
              <p:cNvSpPr/>
              <p:nvPr/>
            </p:nvSpPr>
            <p:spPr>
              <a:xfrm>
                <a:off x="5607661" y="3064300"/>
                <a:ext cx="1738681" cy="728661"/>
              </a:xfrm>
              <a:prstGeom prst="wedgeRectCallout">
                <a:avLst>
                  <a:gd name="adj1" fmla="val -49152"/>
                  <a:gd name="adj2" fmla="val -126686"/>
                </a:avLst>
              </a:prstGeom>
            </p:spPr>
            <p:style>
              <a:lnRef idx="2">
                <a:schemeClr val="accent6"/>
              </a:lnRef>
              <a:fillRef idx="1">
                <a:schemeClr val="lt1"/>
              </a:fillRef>
              <a:effectRef idx="0">
                <a:schemeClr val="accent6"/>
              </a:effectRef>
              <a:fontRef idx="minor">
                <a:schemeClr val="dk1"/>
              </a:fontRef>
            </p:style>
            <p:txBody>
              <a:bodyPr wrap="none">
                <a:spAutoFit/>
              </a:bodyPr>
              <a:lstStyle/>
              <a:p>
                <a:pPr lvl="1"/>
                <a14:m>
                  <m:oMathPara xmlns:m="http://schemas.openxmlformats.org/officeDocument/2006/math">
                    <m:oMathParaPr>
                      <m:jc m:val="left"/>
                    </m:oMathParaPr>
                    <m:oMath xmlns:m="http://schemas.openxmlformats.org/officeDocument/2006/math">
                      <m:r>
                        <a:rPr lang="en-GB" sz="2000" i="1" smtClean="0">
                          <a:latin typeface="Cambria Math"/>
                        </a:rPr>
                        <m:t>𝑡</m:t>
                      </m:r>
                      <m:r>
                        <a:rPr lang="en-GB" sz="2000" i="1" smtClean="0">
                          <a:latin typeface="Cambria Math"/>
                        </a:rPr>
                        <m:t>=</m:t>
                      </m:r>
                      <m:f>
                        <m:fPr>
                          <m:ctrlPr>
                            <a:rPr lang="en-GB" sz="2000" i="1">
                              <a:latin typeface="Cambria Math" panose="02040503050406030204" pitchFamily="18" charset="0"/>
                            </a:rPr>
                          </m:ctrlPr>
                        </m:fPr>
                        <m:num>
                          <m:r>
                            <a:rPr lang="en-GB" sz="2000" b="0" i="1" smtClean="0">
                              <a:latin typeface="Cambria Math"/>
                            </a:rPr>
                            <m:t>𝑏</m:t>
                          </m:r>
                          <m:r>
                            <a:rPr lang="en-GB" sz="2000" i="1">
                              <a:latin typeface="Cambria Math"/>
                            </a:rPr>
                            <m:t>−0</m:t>
                          </m:r>
                        </m:num>
                        <m:den>
                          <m:sSub>
                            <m:sSubPr>
                              <m:ctrlPr>
                                <a:rPr lang="en-GB" sz="2000" i="1" smtClean="0">
                                  <a:latin typeface="Cambria Math" panose="02040503050406030204" pitchFamily="18" charset="0"/>
                                </a:rPr>
                              </m:ctrlPr>
                            </m:sSubPr>
                            <m:e>
                              <m:r>
                                <a:rPr lang="en-GB" sz="2000" b="0" i="1" smtClean="0">
                                  <a:latin typeface="Cambria Math"/>
                                </a:rPr>
                                <m:t>𝑠</m:t>
                              </m:r>
                            </m:e>
                            <m:sub>
                              <m:r>
                                <a:rPr lang="en-GB" sz="2000" b="0" i="1" smtClean="0">
                                  <a:latin typeface="Cambria Math"/>
                                </a:rPr>
                                <m:t>𝑏</m:t>
                              </m:r>
                            </m:sub>
                          </m:sSub>
                        </m:den>
                      </m:f>
                    </m:oMath>
                  </m:oMathPara>
                </a14:m>
                <a:endParaRPr lang="en-GB" sz="2000" dirty="0"/>
              </a:p>
            </p:txBody>
          </p:sp>
        </mc:Choice>
        <mc:Fallback xmlns="">
          <p:sp>
            <p:nvSpPr>
              <p:cNvPr id="14" name="Rectangular Callout 13"/>
              <p:cNvSpPr>
                <a:spLocks noRot="1" noChangeAspect="1" noMove="1" noResize="1" noEditPoints="1" noAdjustHandles="1" noChangeArrowheads="1" noChangeShapeType="1" noTextEdit="1"/>
              </p:cNvSpPr>
              <p:nvPr/>
            </p:nvSpPr>
            <p:spPr>
              <a:xfrm>
                <a:off x="5607661" y="3064300"/>
                <a:ext cx="1738681" cy="728661"/>
              </a:xfrm>
              <a:prstGeom prst="wedgeRectCallout">
                <a:avLst>
                  <a:gd name="adj1" fmla="val -49152"/>
                  <a:gd name="adj2" fmla="val -126686"/>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Rectangular Callout 15"/>
              <p:cNvSpPr/>
              <p:nvPr/>
            </p:nvSpPr>
            <p:spPr>
              <a:xfrm>
                <a:off x="5372948" y="224703"/>
                <a:ext cx="1744132" cy="722505"/>
              </a:xfrm>
              <a:prstGeom prst="wedgeRectCallout">
                <a:avLst>
                  <a:gd name="adj1" fmla="val -39357"/>
                  <a:gd name="adj2" fmla="val 146620"/>
                </a:avLst>
              </a:prstGeom>
            </p:spPr>
            <p:style>
              <a:lnRef idx="2">
                <a:schemeClr val="accent6"/>
              </a:lnRef>
              <a:fillRef idx="1">
                <a:schemeClr val="lt1"/>
              </a:fillRef>
              <a:effectRef idx="0">
                <a:schemeClr val="accent6"/>
              </a:effectRef>
              <a:fontRef idx="minor">
                <a:schemeClr val="dk1"/>
              </a:fontRef>
            </p:style>
            <p:txBody>
              <a:bodyPr wrap="none">
                <a:spAutoFit/>
              </a:bodyPr>
              <a:lstStyle/>
              <a:p>
                <a:pPr lvl="1"/>
                <a14:m>
                  <m:oMathPara xmlns:m="http://schemas.openxmlformats.org/officeDocument/2006/math">
                    <m:oMathParaPr>
                      <m:jc m:val="left"/>
                    </m:oMathParaPr>
                    <m:oMath xmlns:m="http://schemas.openxmlformats.org/officeDocument/2006/math">
                      <m:r>
                        <a:rPr lang="en-GB" sz="2000" i="1" smtClean="0">
                          <a:latin typeface="Cambria Math"/>
                        </a:rPr>
                        <m:t>𝑡</m:t>
                      </m:r>
                      <m:r>
                        <a:rPr lang="en-GB" sz="2000" i="1" smtClean="0">
                          <a:latin typeface="Cambria Math"/>
                        </a:rPr>
                        <m:t>=</m:t>
                      </m:r>
                      <m:f>
                        <m:fPr>
                          <m:ctrlPr>
                            <a:rPr lang="en-GB" sz="2000" i="1">
                              <a:latin typeface="Cambria Math" panose="02040503050406030204" pitchFamily="18" charset="0"/>
                            </a:rPr>
                          </m:ctrlPr>
                        </m:fPr>
                        <m:num>
                          <m:r>
                            <a:rPr lang="en-GB" sz="2000" b="0" i="1" smtClean="0">
                              <a:latin typeface="Cambria Math"/>
                            </a:rPr>
                            <m:t>𝑎</m:t>
                          </m:r>
                          <m:r>
                            <a:rPr lang="en-GB" sz="2000" i="1">
                              <a:latin typeface="Cambria Math"/>
                            </a:rPr>
                            <m:t>−0</m:t>
                          </m:r>
                        </m:num>
                        <m:den>
                          <m:sSub>
                            <m:sSubPr>
                              <m:ctrlPr>
                                <a:rPr lang="en-GB" sz="2000" i="1" smtClean="0">
                                  <a:latin typeface="Cambria Math" panose="02040503050406030204" pitchFamily="18" charset="0"/>
                                </a:rPr>
                              </m:ctrlPr>
                            </m:sSubPr>
                            <m:e>
                              <m:r>
                                <a:rPr lang="en-GB" sz="2000" b="0" i="1" smtClean="0">
                                  <a:latin typeface="Cambria Math"/>
                                </a:rPr>
                                <m:t>𝑠</m:t>
                              </m:r>
                            </m:e>
                            <m:sub>
                              <m:r>
                                <a:rPr lang="en-GB" sz="2000" b="0" i="1" smtClean="0">
                                  <a:latin typeface="Cambria Math"/>
                                </a:rPr>
                                <m:t>𝑎</m:t>
                              </m:r>
                            </m:sub>
                          </m:sSub>
                        </m:den>
                      </m:f>
                    </m:oMath>
                  </m:oMathPara>
                </a14:m>
                <a:endParaRPr lang="en-GB" sz="2000" dirty="0"/>
              </a:p>
            </p:txBody>
          </p:sp>
        </mc:Choice>
        <mc:Fallback xmlns="">
          <p:sp>
            <p:nvSpPr>
              <p:cNvPr id="16" name="Rectangular Callout 15"/>
              <p:cNvSpPr>
                <a:spLocks noRot="1" noChangeAspect="1" noMove="1" noResize="1" noEditPoints="1" noAdjustHandles="1" noChangeArrowheads="1" noChangeShapeType="1" noTextEdit="1"/>
              </p:cNvSpPr>
              <p:nvPr/>
            </p:nvSpPr>
            <p:spPr>
              <a:xfrm>
                <a:off x="5372948" y="224703"/>
                <a:ext cx="1744132" cy="722505"/>
              </a:xfrm>
              <a:prstGeom prst="wedgeRectCallout">
                <a:avLst>
                  <a:gd name="adj1" fmla="val -39357"/>
                  <a:gd name="adj2" fmla="val 146620"/>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ular Callout 15">
                <a:extLst>
                  <a:ext uri="{FF2B5EF4-FFF2-40B4-BE49-F238E27FC236}">
                    <a16:creationId xmlns:a16="http://schemas.microsoft.com/office/drawing/2014/main" id="{AE842848-66D5-EE2A-0C82-9029BAB64CB8}"/>
                  </a:ext>
                </a:extLst>
              </p:cNvPr>
              <p:cNvSpPr/>
              <p:nvPr/>
            </p:nvSpPr>
            <p:spPr>
              <a:xfrm>
                <a:off x="7162800" y="1921625"/>
                <a:ext cx="1905000" cy="400110"/>
              </a:xfrm>
              <a:prstGeom prst="wedgeRectCallout">
                <a:avLst>
                  <a:gd name="adj1" fmla="val -75060"/>
                  <a:gd name="adj2" fmla="val 5688"/>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1" algn="r" rtl="1"/>
                <a14:m>
                  <m:oMathPara xmlns:m="http://schemas.openxmlformats.org/officeDocument/2006/math">
                    <m:oMathParaPr>
                      <m:jc m:val="left"/>
                    </m:oMathParaPr>
                    <m:oMath xmlns:m="http://schemas.openxmlformats.org/officeDocument/2006/math">
                      <m:r>
                        <a:rPr lang="en-GB" sz="2000" i="1" smtClean="0">
                          <a:latin typeface="Cambria Math" panose="02040503050406030204" pitchFamily="18" charset="0"/>
                        </a:rPr>
                        <m:t>𝑝</m:t>
                      </m:r>
                      <m:r>
                        <a:rPr lang="en-GB" sz="2000" b="0" i="1" smtClean="0">
                          <a:latin typeface="Cambria Math" panose="02040503050406030204" pitchFamily="18" charset="0"/>
                        </a:rPr>
                        <m:t>−</m:t>
                      </m:r>
                      <m:r>
                        <a:rPr lang="en-GB" sz="2000" b="0" i="1" smtClean="0">
                          <a:latin typeface="Cambria Math" panose="02040503050406030204" pitchFamily="18" charset="0"/>
                        </a:rPr>
                        <m:t>𝑣𝑎𝑙𝑢𝑒𝑠</m:t>
                      </m:r>
                    </m:oMath>
                  </m:oMathPara>
                </a14:m>
                <a:endParaRPr lang="en-GB" sz="2000" dirty="0"/>
              </a:p>
            </p:txBody>
          </p:sp>
        </mc:Choice>
        <mc:Fallback xmlns="">
          <p:sp>
            <p:nvSpPr>
              <p:cNvPr id="5" name="Rectangular Callout 15">
                <a:extLst>
                  <a:ext uri="{FF2B5EF4-FFF2-40B4-BE49-F238E27FC236}">
                    <a16:creationId xmlns:a16="http://schemas.microsoft.com/office/drawing/2014/main" id="{AE842848-66D5-EE2A-0C82-9029BAB64CB8}"/>
                  </a:ext>
                </a:extLst>
              </p:cNvPr>
              <p:cNvSpPr>
                <a:spLocks noRot="1" noChangeAspect="1" noMove="1" noResize="1" noEditPoints="1" noAdjustHandles="1" noChangeArrowheads="1" noChangeShapeType="1" noTextEdit="1"/>
              </p:cNvSpPr>
              <p:nvPr/>
            </p:nvSpPr>
            <p:spPr>
              <a:xfrm>
                <a:off x="7162800" y="1921625"/>
                <a:ext cx="1905000" cy="400110"/>
              </a:xfrm>
              <a:prstGeom prst="wedgeRectCallout">
                <a:avLst>
                  <a:gd name="adj1" fmla="val -75060"/>
                  <a:gd name="adj2" fmla="val 5688"/>
                </a:avLst>
              </a:prstGeom>
              <a:blipFill>
                <a:blip r:embed="rId7"/>
                <a:stretch>
                  <a:fillRect b="-428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Rectangular Callout 13">
                <a:extLst>
                  <a:ext uri="{FF2B5EF4-FFF2-40B4-BE49-F238E27FC236}">
                    <a16:creationId xmlns:a16="http://schemas.microsoft.com/office/drawing/2014/main" id="{93C3541A-3292-4235-48AA-F18AA1091DAD}"/>
                  </a:ext>
                </a:extLst>
              </p:cNvPr>
              <p:cNvSpPr/>
              <p:nvPr/>
            </p:nvSpPr>
            <p:spPr>
              <a:xfrm>
                <a:off x="1850702" y="4572000"/>
                <a:ext cx="1228727" cy="400110"/>
              </a:xfrm>
              <a:prstGeom prst="wedgeRectCallout">
                <a:avLst>
                  <a:gd name="adj1" fmla="val 22404"/>
                  <a:gd name="adj2" fmla="val -205795"/>
                </a:avLst>
              </a:prstGeom>
            </p:spPr>
            <p:style>
              <a:lnRef idx="2">
                <a:schemeClr val="accent6"/>
              </a:lnRef>
              <a:fillRef idx="1">
                <a:schemeClr val="lt1"/>
              </a:fillRef>
              <a:effectRef idx="0">
                <a:schemeClr val="accent6"/>
              </a:effectRef>
              <a:fontRef idx="minor">
                <a:schemeClr val="dk1"/>
              </a:fontRef>
            </p:style>
            <p:txBody>
              <a:bodyPr wrap="square">
                <a:spAutoFit/>
              </a:bodyPr>
              <a:lstStyle/>
              <a:p>
                <a:pPr lvl="1"/>
                <a14:m>
                  <m:oMathPara xmlns:m="http://schemas.openxmlformats.org/officeDocument/2006/math">
                    <m:oMathParaPr>
                      <m:jc m:val="left"/>
                    </m:oMathParaPr>
                    <m:oMath xmlns:m="http://schemas.openxmlformats.org/officeDocument/2006/math">
                      <m:r>
                        <a:rPr lang="en-GB" sz="2000" i="1" smtClean="0">
                          <a:latin typeface="Cambria Math" panose="02040503050406030204" pitchFamily="18" charset="0"/>
                        </a:rPr>
                        <m:t>𝑎</m:t>
                      </m:r>
                    </m:oMath>
                  </m:oMathPara>
                </a14:m>
                <a:endParaRPr lang="en-GB" sz="2000" dirty="0"/>
              </a:p>
            </p:txBody>
          </p:sp>
        </mc:Choice>
        <mc:Fallback xmlns="">
          <p:sp>
            <p:nvSpPr>
              <p:cNvPr id="3" name="Rectangular Callout 13">
                <a:extLst>
                  <a:ext uri="{FF2B5EF4-FFF2-40B4-BE49-F238E27FC236}">
                    <a16:creationId xmlns:a16="http://schemas.microsoft.com/office/drawing/2014/main" id="{93C3541A-3292-4235-48AA-F18AA1091DAD}"/>
                  </a:ext>
                </a:extLst>
              </p:cNvPr>
              <p:cNvSpPr>
                <a:spLocks noRot="1" noChangeAspect="1" noMove="1" noResize="1" noEditPoints="1" noAdjustHandles="1" noChangeArrowheads="1" noChangeShapeType="1" noTextEdit="1"/>
              </p:cNvSpPr>
              <p:nvPr/>
            </p:nvSpPr>
            <p:spPr>
              <a:xfrm>
                <a:off x="1850702" y="4572000"/>
                <a:ext cx="1228727" cy="400110"/>
              </a:xfrm>
              <a:prstGeom prst="wedgeRectCallout">
                <a:avLst>
                  <a:gd name="adj1" fmla="val 22404"/>
                  <a:gd name="adj2" fmla="val -205795"/>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ular Callout 13">
                <a:extLst>
                  <a:ext uri="{FF2B5EF4-FFF2-40B4-BE49-F238E27FC236}">
                    <a16:creationId xmlns:a16="http://schemas.microsoft.com/office/drawing/2014/main" id="{FB813DFC-99E8-3822-03E1-75758D4C09FE}"/>
                  </a:ext>
                </a:extLst>
              </p:cNvPr>
              <p:cNvSpPr/>
              <p:nvPr/>
            </p:nvSpPr>
            <p:spPr>
              <a:xfrm>
                <a:off x="3805236" y="4572000"/>
                <a:ext cx="1228727" cy="400110"/>
              </a:xfrm>
              <a:prstGeom prst="wedgeRectCallout">
                <a:avLst>
                  <a:gd name="adj1" fmla="val -38657"/>
                  <a:gd name="adj2" fmla="val -208725"/>
                </a:avLst>
              </a:prstGeom>
              <a:ln>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pPr lvl="1"/>
                <a14:m>
                  <m:oMathPara xmlns:m="http://schemas.openxmlformats.org/officeDocument/2006/math">
                    <m:oMathParaPr>
                      <m:jc m:val="left"/>
                    </m:oMathParaPr>
                    <m:oMath xmlns:m="http://schemas.openxmlformats.org/officeDocument/2006/math">
                      <m:r>
                        <a:rPr lang="en-GB" sz="2000" b="0" i="1" smtClean="0">
                          <a:latin typeface="Cambria Math" panose="02040503050406030204" pitchFamily="18" charset="0"/>
                        </a:rPr>
                        <m:t>𝑏</m:t>
                      </m:r>
                    </m:oMath>
                  </m:oMathPara>
                </a14:m>
                <a:endParaRPr lang="en-GB" sz="2000" dirty="0"/>
              </a:p>
            </p:txBody>
          </p:sp>
        </mc:Choice>
        <mc:Fallback xmlns="">
          <p:sp>
            <p:nvSpPr>
              <p:cNvPr id="4" name="Rectangular Callout 13">
                <a:extLst>
                  <a:ext uri="{FF2B5EF4-FFF2-40B4-BE49-F238E27FC236}">
                    <a16:creationId xmlns:a16="http://schemas.microsoft.com/office/drawing/2014/main" id="{FB813DFC-99E8-3822-03E1-75758D4C09FE}"/>
                  </a:ext>
                </a:extLst>
              </p:cNvPr>
              <p:cNvSpPr>
                <a:spLocks noRot="1" noChangeAspect="1" noMove="1" noResize="1" noEditPoints="1" noAdjustHandles="1" noChangeArrowheads="1" noChangeShapeType="1" noTextEdit="1"/>
              </p:cNvSpPr>
              <p:nvPr/>
            </p:nvSpPr>
            <p:spPr>
              <a:xfrm>
                <a:off x="3805236" y="4572000"/>
                <a:ext cx="1228727" cy="400110"/>
              </a:xfrm>
              <a:prstGeom prst="wedgeRectCallout">
                <a:avLst>
                  <a:gd name="adj1" fmla="val -38657"/>
                  <a:gd name="adj2" fmla="val -208725"/>
                </a:avLst>
              </a:prstGeom>
              <a:blipFill>
                <a:blip r:embed="rId9"/>
                <a:stretch>
                  <a:fillRect/>
                </a:stretch>
              </a:blipFill>
              <a:ln>
                <a:solidFill>
                  <a:schemeClr val="accent4">
                    <a:lumMod val="75000"/>
                  </a:schemeClr>
                </a:solidFill>
              </a:ln>
            </p:spPr>
            <p:txBody>
              <a:bodyPr/>
              <a:lstStyle/>
              <a:p>
                <a:r>
                  <a:rPr lang="en-GB">
                    <a:noFill/>
                  </a:rPr>
                  <a:t> </a:t>
                </a:r>
              </a:p>
            </p:txBody>
          </p:sp>
        </mc:Fallback>
      </mc:AlternateContent>
    </p:spTree>
    <p:extLst>
      <p:ext uri="{BB962C8B-B14F-4D97-AF65-F5344CB8AC3E}">
        <p14:creationId xmlns:p14="http://schemas.microsoft.com/office/powerpoint/2010/main" val="421524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animBg="1"/>
      <p:bldP spid="16" grpId="0" animBg="1"/>
      <p:bldP spid="5" grpId="0" animBg="1"/>
      <p:bldP spid="3"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831085"/>
            <a:ext cx="6781800" cy="2193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Question 1</a:t>
            </a:r>
          </a:p>
        </p:txBody>
      </p:sp>
      <mc:AlternateContent xmlns:mc="http://schemas.openxmlformats.org/markup-compatibility/2006" xmlns:a14="http://schemas.microsoft.com/office/drawing/2010/main">
        <mc:Choice Requires="a14">
          <p:sp>
            <p:nvSpPr>
              <p:cNvPr id="7" name="Text Box 5"/>
              <p:cNvSpPr txBox="1">
                <a:spLocks noChangeArrowheads="1"/>
              </p:cNvSpPr>
              <p:nvPr/>
            </p:nvSpPr>
            <p:spPr bwMode="auto">
              <a:xfrm>
                <a:off x="358588" y="3048000"/>
                <a:ext cx="5441682"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r>
                  <a:rPr lang="en-GB" altLang="en-US" sz="2000" dirty="0"/>
                  <a:t>Our equation from this model is therefore</a:t>
                </a:r>
              </a:p>
              <a:p>
                <a:r>
                  <a:rPr lang="en-GB" altLang="en-US" sz="2000" b="1" dirty="0"/>
                  <a:t>	</a:t>
                </a:r>
                <a14:m>
                  <m:oMath xmlns:m="http://schemas.openxmlformats.org/officeDocument/2006/math">
                    <m:r>
                      <a:rPr lang="en-GB" altLang="en-US" sz="2000" b="1" i="0" dirty="0" smtClean="0">
                        <a:latin typeface="Cambria Math"/>
                      </a:rPr>
                      <m:t>𝐄𝐃𝐔𝐂</m:t>
                    </m:r>
                    <m:r>
                      <a:rPr lang="en-GB" altLang="en-US" sz="2000" b="1" i="1" dirty="0">
                        <a:latin typeface="Cambria Math"/>
                      </a:rPr>
                      <m:t>=</m:t>
                    </m:r>
                    <m:r>
                      <a:rPr lang="en-GB" altLang="en-US" sz="2000" b="1" i="1" dirty="0">
                        <a:latin typeface="Cambria Math"/>
                      </a:rPr>
                      <m:t>𝟏𝟎</m:t>
                    </m:r>
                    <m:r>
                      <a:rPr lang="en-GB" altLang="en-US" sz="2000" b="1" i="1" dirty="0">
                        <a:latin typeface="Cambria Math"/>
                      </a:rPr>
                      <m:t>.</m:t>
                    </m:r>
                    <m:r>
                      <a:rPr lang="en-GB" altLang="en-US" sz="2000" b="1" i="1" dirty="0">
                        <a:latin typeface="Cambria Math"/>
                      </a:rPr>
                      <m:t>𝟎𝟑𝟕</m:t>
                    </m:r>
                    <m:r>
                      <a:rPr lang="en-GB" altLang="en-US" sz="2000" b="1" i="1" dirty="0">
                        <a:latin typeface="Cambria Math"/>
                      </a:rPr>
                      <m:t>+(</m:t>
                    </m:r>
                    <m:r>
                      <a:rPr lang="en-GB" altLang="en-US" sz="2000" b="1" i="1" dirty="0">
                        <a:latin typeface="Cambria Math"/>
                      </a:rPr>
                      <m:t>𝟎</m:t>
                    </m:r>
                    <m:r>
                      <a:rPr lang="en-GB" altLang="en-US" sz="2000" b="1" i="1" dirty="0">
                        <a:latin typeface="Cambria Math"/>
                      </a:rPr>
                      <m:t>.</m:t>
                    </m:r>
                    <m:r>
                      <a:rPr lang="en-GB" altLang="en-US" sz="2000" b="1" i="1" dirty="0">
                        <a:latin typeface="Cambria Math"/>
                      </a:rPr>
                      <m:t>𝟑𝟏𝟏</m:t>
                    </m:r>
                    <m:r>
                      <a:rPr lang="en-GB" altLang="en-US" sz="2000" b="1" i="0" dirty="0" smtClean="0">
                        <a:latin typeface="Cambria Math"/>
                      </a:rPr>
                      <m:t>∗</m:t>
                    </m:r>
                    <m:r>
                      <a:rPr lang="en-GB" altLang="en-US" sz="2000" b="1" i="0" dirty="0">
                        <a:latin typeface="Cambria Math"/>
                      </a:rPr>
                      <m:t>𝐏𝐀𝐄𝐃𝐔𝐂</m:t>
                    </m:r>
                    <m:r>
                      <a:rPr lang="en-GB" altLang="en-US" sz="2000" b="1" i="0" dirty="0" smtClean="0">
                        <a:latin typeface="Cambria Math"/>
                      </a:rPr>
                      <m:t>)</m:t>
                    </m:r>
                  </m:oMath>
                </a14:m>
                <a:endParaRPr lang="en-US" altLang="en-US" sz="2000" b="1" dirty="0"/>
              </a:p>
            </p:txBody>
          </p:sp>
        </mc:Choice>
        <mc:Fallback xmlns="">
          <p:sp>
            <p:nvSpPr>
              <p:cNvPr id="7" name="Text Box 5"/>
              <p:cNvSpPr txBox="1">
                <a:spLocks noRot="1" noChangeAspect="1" noMove="1" noResize="1" noEditPoints="1" noAdjustHandles="1" noChangeArrowheads="1" noChangeShapeType="1" noTextEdit="1"/>
              </p:cNvSpPr>
              <p:nvPr/>
            </p:nvSpPr>
            <p:spPr bwMode="auto">
              <a:xfrm>
                <a:off x="358588" y="3048000"/>
                <a:ext cx="5441682" cy="707886"/>
              </a:xfrm>
              <a:prstGeom prst="rect">
                <a:avLst/>
              </a:prstGeom>
              <a:blipFill>
                <a:blip r:embed="rId4"/>
                <a:stretch>
                  <a:fillRect l="-1233" t="-4310" b="-775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5" name="Title 1">
            <a:extLst>
              <a:ext uri="{FF2B5EF4-FFF2-40B4-BE49-F238E27FC236}">
                <a16:creationId xmlns:a16="http://schemas.microsoft.com/office/drawing/2014/main" id="{9F9E4580-3C07-129D-24E0-F8574D5EA7E9}"/>
              </a:ext>
            </a:extLst>
          </p:cNvPr>
          <p:cNvSpPr txBox="1">
            <a:spLocks/>
          </p:cNvSpPr>
          <p:nvPr/>
        </p:nvSpPr>
        <p:spPr>
          <a:xfrm>
            <a:off x="381000" y="4038600"/>
            <a:ext cx="8382000" cy="2919439"/>
          </a:xfrm>
          <a:prstGeom prst="rect">
            <a:avLst/>
          </a:prstGeom>
        </p:spPr>
        <p:txBody>
          <a:bodyPr vert="horz" lIns="91440" tIns="45720" rIns="91440" bIns="45720" rtlCol="0" anchor="t">
            <a:noAutofit/>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sz="2400" b="0" dirty="0"/>
              <a:t>(1) According to the regression model, what is the appropriate way to increase the students' highest years of schooling completed? Should we increase or decrease their fathers' highest years of schooling completed?</a:t>
            </a:r>
          </a:p>
          <a:p>
            <a:r>
              <a:rPr lang="en-GB" sz="2400" b="0" dirty="0"/>
              <a:t>(2) What is the null hypothesis for the red areas?</a:t>
            </a:r>
          </a:p>
          <a:p>
            <a:r>
              <a:rPr lang="en-GB" sz="2400" b="0" dirty="0"/>
              <a:t>(3) What conclusions can we draw from the red areas?</a:t>
            </a:r>
            <a:endParaRPr lang="en-GB" sz="2000" b="0" dirty="0"/>
          </a:p>
        </p:txBody>
      </p:sp>
      <p:sp>
        <p:nvSpPr>
          <p:cNvPr id="6" name="Rounded Rectangle 11">
            <a:extLst>
              <a:ext uri="{FF2B5EF4-FFF2-40B4-BE49-F238E27FC236}">
                <a16:creationId xmlns:a16="http://schemas.microsoft.com/office/drawing/2014/main" id="{313B5432-9C99-0D16-8A56-C3238CB87382}"/>
              </a:ext>
            </a:extLst>
          </p:cNvPr>
          <p:cNvSpPr/>
          <p:nvPr/>
        </p:nvSpPr>
        <p:spPr>
          <a:xfrm>
            <a:off x="5105400" y="1828800"/>
            <a:ext cx="1676400" cy="2286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11">
            <a:extLst>
              <a:ext uri="{FF2B5EF4-FFF2-40B4-BE49-F238E27FC236}">
                <a16:creationId xmlns:a16="http://schemas.microsoft.com/office/drawing/2014/main" id="{A2DF3714-9207-1260-52D6-0C4F4D194355}"/>
              </a:ext>
            </a:extLst>
          </p:cNvPr>
          <p:cNvSpPr/>
          <p:nvPr/>
        </p:nvSpPr>
        <p:spPr>
          <a:xfrm>
            <a:off x="5105400" y="2209800"/>
            <a:ext cx="1676400" cy="2286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34261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831085"/>
            <a:ext cx="6781800" cy="2193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Question 1</a:t>
            </a:r>
          </a:p>
        </p:txBody>
      </p:sp>
      <mc:AlternateContent xmlns:mc="http://schemas.openxmlformats.org/markup-compatibility/2006" xmlns:a14="http://schemas.microsoft.com/office/drawing/2010/main">
        <mc:Choice Requires="a14">
          <p:sp>
            <p:nvSpPr>
              <p:cNvPr id="7" name="Text Box 5"/>
              <p:cNvSpPr txBox="1">
                <a:spLocks noChangeArrowheads="1"/>
              </p:cNvSpPr>
              <p:nvPr/>
            </p:nvSpPr>
            <p:spPr bwMode="auto">
              <a:xfrm>
                <a:off x="358588" y="3048000"/>
                <a:ext cx="5441682"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r>
                  <a:rPr lang="en-GB" altLang="en-US" sz="2000" dirty="0"/>
                  <a:t>Our equation from this model is therefore</a:t>
                </a:r>
              </a:p>
              <a:p>
                <a:r>
                  <a:rPr lang="en-GB" altLang="en-US" sz="2000" b="1" dirty="0"/>
                  <a:t>	</a:t>
                </a:r>
                <a14:m>
                  <m:oMath xmlns:m="http://schemas.openxmlformats.org/officeDocument/2006/math">
                    <m:r>
                      <a:rPr lang="en-GB" altLang="en-US" sz="2000" b="1" i="0" dirty="0" smtClean="0">
                        <a:latin typeface="Cambria Math"/>
                      </a:rPr>
                      <m:t>𝐄𝐃𝐔𝐂</m:t>
                    </m:r>
                    <m:r>
                      <a:rPr lang="en-GB" altLang="en-US" sz="2000" b="1" i="1" dirty="0">
                        <a:latin typeface="Cambria Math"/>
                      </a:rPr>
                      <m:t>=</m:t>
                    </m:r>
                    <m:r>
                      <a:rPr lang="en-GB" altLang="en-US" sz="2000" b="1" i="1" dirty="0">
                        <a:latin typeface="Cambria Math"/>
                      </a:rPr>
                      <m:t>𝟏𝟎</m:t>
                    </m:r>
                    <m:r>
                      <a:rPr lang="en-GB" altLang="en-US" sz="2000" b="1" i="1" dirty="0">
                        <a:latin typeface="Cambria Math"/>
                      </a:rPr>
                      <m:t>.</m:t>
                    </m:r>
                    <m:r>
                      <a:rPr lang="en-GB" altLang="en-US" sz="2000" b="1" i="1" dirty="0">
                        <a:latin typeface="Cambria Math"/>
                      </a:rPr>
                      <m:t>𝟎𝟑𝟕</m:t>
                    </m:r>
                    <m:r>
                      <a:rPr lang="en-GB" altLang="en-US" sz="2000" b="1" i="1" dirty="0">
                        <a:latin typeface="Cambria Math"/>
                      </a:rPr>
                      <m:t>+(</m:t>
                    </m:r>
                    <m:r>
                      <a:rPr lang="en-GB" altLang="en-US" sz="2000" b="1" i="1" dirty="0">
                        <a:latin typeface="Cambria Math"/>
                      </a:rPr>
                      <m:t>𝟎</m:t>
                    </m:r>
                    <m:r>
                      <a:rPr lang="en-GB" altLang="en-US" sz="2000" b="1" i="1" dirty="0">
                        <a:latin typeface="Cambria Math"/>
                      </a:rPr>
                      <m:t>.</m:t>
                    </m:r>
                    <m:r>
                      <a:rPr lang="en-GB" altLang="en-US" sz="2000" b="1" i="1" dirty="0">
                        <a:latin typeface="Cambria Math"/>
                      </a:rPr>
                      <m:t>𝟑𝟏𝟏</m:t>
                    </m:r>
                    <m:r>
                      <a:rPr lang="en-GB" altLang="en-US" sz="2000" b="1" i="0" dirty="0" smtClean="0">
                        <a:latin typeface="Cambria Math"/>
                      </a:rPr>
                      <m:t>∗</m:t>
                    </m:r>
                    <m:r>
                      <a:rPr lang="en-GB" altLang="en-US" sz="2000" b="1" i="0" dirty="0">
                        <a:latin typeface="Cambria Math"/>
                      </a:rPr>
                      <m:t>𝐏𝐀𝐄𝐃𝐔𝐂</m:t>
                    </m:r>
                    <m:r>
                      <a:rPr lang="en-GB" altLang="en-US" sz="2000" b="1" i="0" dirty="0" smtClean="0">
                        <a:latin typeface="Cambria Math"/>
                      </a:rPr>
                      <m:t>)</m:t>
                    </m:r>
                  </m:oMath>
                </a14:m>
                <a:endParaRPr lang="en-US" altLang="en-US" sz="2000" b="1" dirty="0"/>
              </a:p>
            </p:txBody>
          </p:sp>
        </mc:Choice>
        <mc:Fallback xmlns="">
          <p:sp>
            <p:nvSpPr>
              <p:cNvPr id="7" name="Text Box 5"/>
              <p:cNvSpPr txBox="1">
                <a:spLocks noRot="1" noChangeAspect="1" noMove="1" noResize="1" noEditPoints="1" noAdjustHandles="1" noChangeArrowheads="1" noChangeShapeType="1" noTextEdit="1"/>
              </p:cNvSpPr>
              <p:nvPr/>
            </p:nvSpPr>
            <p:spPr bwMode="auto">
              <a:xfrm>
                <a:off x="358588" y="3048000"/>
                <a:ext cx="5441682" cy="707886"/>
              </a:xfrm>
              <a:prstGeom prst="rect">
                <a:avLst/>
              </a:prstGeom>
              <a:blipFill>
                <a:blip r:embed="rId4"/>
                <a:stretch>
                  <a:fillRect l="-1233" t="-4310" b="-775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6" name="Rounded Rectangle 11">
            <a:extLst>
              <a:ext uri="{FF2B5EF4-FFF2-40B4-BE49-F238E27FC236}">
                <a16:creationId xmlns:a16="http://schemas.microsoft.com/office/drawing/2014/main" id="{313B5432-9C99-0D16-8A56-C3238CB87382}"/>
              </a:ext>
            </a:extLst>
          </p:cNvPr>
          <p:cNvSpPr/>
          <p:nvPr/>
        </p:nvSpPr>
        <p:spPr>
          <a:xfrm>
            <a:off x="5105400" y="1828800"/>
            <a:ext cx="1676400" cy="2286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11">
            <a:extLst>
              <a:ext uri="{FF2B5EF4-FFF2-40B4-BE49-F238E27FC236}">
                <a16:creationId xmlns:a16="http://schemas.microsoft.com/office/drawing/2014/main" id="{A2DF3714-9207-1260-52D6-0C4F4D194355}"/>
              </a:ext>
            </a:extLst>
          </p:cNvPr>
          <p:cNvSpPr/>
          <p:nvPr/>
        </p:nvSpPr>
        <p:spPr>
          <a:xfrm>
            <a:off x="5105400" y="2209800"/>
            <a:ext cx="1676400" cy="22860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041B098-E92E-95F2-2C50-5F73C6A1DAA7}"/>
                  </a:ext>
                </a:extLst>
              </p:cNvPr>
              <p:cNvSpPr/>
              <p:nvPr/>
            </p:nvSpPr>
            <p:spPr>
              <a:xfrm>
                <a:off x="304800" y="3962400"/>
                <a:ext cx="8077200" cy="2677656"/>
              </a:xfrm>
              <a:prstGeom prst="rect">
                <a:avLst/>
              </a:prstGeom>
            </p:spPr>
            <p:txBody>
              <a:bodyPr wrap="square">
                <a:spAutoFit/>
              </a:bodyPr>
              <a:lstStyle/>
              <a:p>
                <a:pPr>
                  <a:buClr>
                    <a:srgbClr val="333399"/>
                  </a:buClr>
                </a:pPr>
                <a:r>
                  <a:rPr lang="en-GB" altLang="en-US" sz="2400" dirty="0"/>
                  <a:t>(1) We should </a:t>
                </a:r>
                <a:r>
                  <a:rPr lang="en-GB" altLang="en-US" sz="2400" dirty="0">
                    <a:solidFill>
                      <a:srgbClr val="FF0000"/>
                    </a:solidFill>
                  </a:rPr>
                  <a:t>increase</a:t>
                </a:r>
                <a:r>
                  <a:rPr lang="en-GB" altLang="en-US" sz="2400" dirty="0"/>
                  <a:t> their fathers' highest years of schooling completed.</a:t>
                </a:r>
              </a:p>
              <a:p>
                <a:pPr>
                  <a:buClr>
                    <a:srgbClr val="333399"/>
                  </a:buClr>
                </a:pPr>
                <a:r>
                  <a:rPr lang="en-GB" altLang="en-US" sz="2400" dirty="0"/>
                  <a:t>(2)</a:t>
                </a:r>
              </a:p>
              <a:p>
                <a:pPr>
                  <a:buClr>
                    <a:srgbClr val="333399"/>
                  </a:buClr>
                </a:pPr>
                <a14:m>
                  <m:oMath xmlns:m="http://schemas.openxmlformats.org/officeDocument/2006/math">
                    <m:r>
                      <m:rPr>
                        <m:sty m:val="p"/>
                      </m:rPr>
                      <a:rPr lang="en-GB" altLang="en-US" sz="2400" b="0" i="1">
                        <a:latin typeface="Cambria Math"/>
                      </a:rPr>
                      <m:t>H</m:t>
                    </m:r>
                    <m:r>
                      <a:rPr lang="en-GB" altLang="en-US" sz="2400" b="0" i="1" baseline="-25000">
                        <a:latin typeface="Cambria Math"/>
                      </a:rPr>
                      <m:t>0</m:t>
                    </m:r>
                    <m:r>
                      <a:rPr lang="en-GB" altLang="en-US" sz="2400" b="0">
                        <a:latin typeface="Cambria Math"/>
                      </a:rPr>
                      <m:t>:</m:t>
                    </m:r>
                    <m:r>
                      <a:rPr lang="en-GB" altLang="en-US" sz="2400" i="1" smtClean="0">
                        <a:latin typeface="Cambria Math" panose="02040503050406030204" pitchFamily="18" charset="0"/>
                      </a:rPr>
                      <m:t>𝑎</m:t>
                    </m:r>
                    <m:r>
                      <a:rPr lang="en-GB" altLang="en-US" sz="2400" b="0">
                        <a:latin typeface="Cambria Math"/>
                      </a:rPr>
                      <m:t>=</m:t>
                    </m:r>
                    <m:r>
                      <a:rPr lang="en-GB" altLang="en-US" sz="2400" i="1" smtClean="0">
                        <a:latin typeface="Cambria Math" panose="02040503050406030204" pitchFamily="18" charset="0"/>
                      </a:rPr>
                      <m:t>0</m:t>
                    </m:r>
                  </m:oMath>
                </a14:m>
                <a:r>
                  <a:rPr lang="en-GB" altLang="en-US" sz="2400" dirty="0"/>
                  <a:t> </a:t>
                </a:r>
                <a:endParaRPr lang="en-GB" altLang="en-US" sz="2400" i="1" dirty="0">
                  <a:latin typeface="Cambria Math"/>
                </a:endParaRPr>
              </a:p>
              <a:p>
                <a:pPr>
                  <a:buClr>
                    <a:srgbClr val="333399"/>
                  </a:buClr>
                </a:pPr>
                <a14:m>
                  <m:oMath xmlns:m="http://schemas.openxmlformats.org/officeDocument/2006/math">
                    <m:r>
                      <m:rPr>
                        <m:sty m:val="p"/>
                      </m:rPr>
                      <a:rPr lang="en-GB" altLang="en-US" sz="2400" i="1">
                        <a:latin typeface="Cambria Math"/>
                      </a:rPr>
                      <m:t>H</m:t>
                    </m:r>
                    <m:r>
                      <a:rPr lang="en-GB" altLang="en-US" sz="2400" i="1" baseline="-25000">
                        <a:latin typeface="Cambria Math"/>
                      </a:rPr>
                      <m:t>0</m:t>
                    </m:r>
                    <m:r>
                      <a:rPr lang="en-GB" altLang="en-US" sz="2400">
                        <a:latin typeface="Cambria Math"/>
                      </a:rPr>
                      <m:t>:</m:t>
                    </m:r>
                    <m:r>
                      <m:rPr>
                        <m:sty m:val="p"/>
                      </m:rPr>
                      <a:rPr lang="en-GB" altLang="en-US" sz="2400" b="0" i="0" smtClean="0">
                        <a:latin typeface="Cambria Math" panose="02040503050406030204" pitchFamily="18" charset="0"/>
                      </a:rPr>
                      <m:t>b</m:t>
                    </m:r>
                    <m:r>
                      <a:rPr lang="en-GB" altLang="en-US" sz="2400">
                        <a:latin typeface="Cambria Math"/>
                      </a:rPr>
                      <m:t>=</m:t>
                    </m:r>
                    <m:r>
                      <a:rPr lang="en-GB" altLang="en-US" sz="2400" i="1">
                        <a:latin typeface="Cambria Math" panose="02040503050406030204" pitchFamily="18" charset="0"/>
                      </a:rPr>
                      <m:t>0</m:t>
                    </m:r>
                  </m:oMath>
                </a14:m>
                <a:r>
                  <a:rPr lang="en-GB" altLang="en-US" sz="2400" dirty="0"/>
                  <a:t> </a:t>
                </a:r>
              </a:p>
              <a:p>
                <a:pPr>
                  <a:buClr>
                    <a:srgbClr val="333399"/>
                  </a:buClr>
                </a:pPr>
                <a:r>
                  <a:rPr lang="en-GB" altLang="en-US" sz="2400" dirty="0"/>
                  <a:t>(3)</a:t>
                </a:r>
              </a:p>
              <a:p>
                <a:pPr>
                  <a:buClr>
                    <a:srgbClr val="333399"/>
                  </a:buClr>
                </a:pPr>
                <a:r>
                  <a:rPr lang="en-GB" altLang="en-US" sz="2400" dirty="0"/>
                  <a:t>Reject the two null hypotheses since their p-values are &lt; 0.05.</a:t>
                </a:r>
              </a:p>
            </p:txBody>
          </p:sp>
        </mc:Choice>
        <mc:Fallback xmlns="">
          <p:sp>
            <p:nvSpPr>
              <p:cNvPr id="3" name="Rectangle 2">
                <a:extLst>
                  <a:ext uri="{FF2B5EF4-FFF2-40B4-BE49-F238E27FC236}">
                    <a16:creationId xmlns:a16="http://schemas.microsoft.com/office/drawing/2014/main" id="{E041B098-E92E-95F2-2C50-5F73C6A1DAA7}"/>
                  </a:ext>
                </a:extLst>
              </p:cNvPr>
              <p:cNvSpPr>
                <a:spLocks noRot="1" noChangeAspect="1" noMove="1" noResize="1" noEditPoints="1" noAdjustHandles="1" noChangeArrowheads="1" noChangeShapeType="1" noTextEdit="1"/>
              </p:cNvSpPr>
              <p:nvPr/>
            </p:nvSpPr>
            <p:spPr>
              <a:xfrm>
                <a:off x="304800" y="3962400"/>
                <a:ext cx="8077200" cy="2677656"/>
              </a:xfrm>
              <a:prstGeom prst="rect">
                <a:avLst/>
              </a:prstGeom>
              <a:blipFill>
                <a:blip r:embed="rId5"/>
                <a:stretch>
                  <a:fillRect l="-1132" t="-1822" b="-4328"/>
                </a:stretch>
              </a:blipFill>
            </p:spPr>
            <p:txBody>
              <a:bodyPr/>
              <a:lstStyle/>
              <a:p>
                <a:r>
                  <a:rPr lang="en-GB">
                    <a:noFill/>
                  </a:rPr>
                  <a:t> </a:t>
                </a:r>
              </a:p>
            </p:txBody>
          </p:sp>
        </mc:Fallback>
      </mc:AlternateContent>
    </p:spTree>
    <p:extLst>
      <p:ext uri="{BB962C8B-B14F-4D97-AF65-F5344CB8AC3E}">
        <p14:creationId xmlns:p14="http://schemas.microsoft.com/office/powerpoint/2010/main" val="162725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Text Box 3"/>
          <p:cNvSpPr txBox="1">
            <a:spLocks noChangeArrowheads="1"/>
          </p:cNvSpPr>
          <p:nvPr/>
        </p:nvSpPr>
        <p:spPr bwMode="auto">
          <a:xfrm>
            <a:off x="304801" y="990600"/>
            <a:ext cx="6934199"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GB" altLang="en-US" sz="2000" dirty="0">
                <a:solidFill>
                  <a:srgbClr val="333399"/>
                </a:solidFill>
              </a:rPr>
              <a:t>R</a:t>
            </a:r>
            <a:r>
              <a:rPr lang="en-GB" altLang="en-US" sz="2000" baseline="30000" dirty="0">
                <a:solidFill>
                  <a:srgbClr val="333399"/>
                </a:solidFill>
              </a:rPr>
              <a:t>2</a:t>
            </a:r>
            <a:r>
              <a:rPr lang="en-GB" altLang="en-US" sz="2000" dirty="0">
                <a:solidFill>
                  <a:srgbClr val="333399"/>
                </a:solidFill>
              </a:rPr>
              <a:t> </a:t>
            </a:r>
            <a:r>
              <a:rPr lang="en-GB" altLang="en-US" sz="2000" dirty="0"/>
              <a:t>provides a </a:t>
            </a:r>
            <a:r>
              <a:rPr lang="en-GB" altLang="en-US" sz="2000" b="1" dirty="0"/>
              <a:t>measure</a:t>
            </a:r>
            <a:r>
              <a:rPr lang="en-GB" altLang="en-US" sz="2000" dirty="0"/>
              <a:t> of how much of the </a:t>
            </a:r>
            <a:r>
              <a:rPr lang="en-GB" altLang="en-US" sz="2000" b="1" dirty="0"/>
              <a:t>variability in y</a:t>
            </a:r>
            <a:r>
              <a:rPr lang="en-GB" altLang="en-US" sz="2000" dirty="0"/>
              <a:t> is </a:t>
            </a:r>
            <a:r>
              <a:rPr lang="en-GB" altLang="en-US" sz="2000" b="1" dirty="0"/>
              <a:t>explained by </a:t>
            </a:r>
            <a:r>
              <a:rPr lang="en-GB" altLang="en-US" sz="2000" dirty="0"/>
              <a:t>the </a:t>
            </a:r>
            <a:r>
              <a:rPr lang="en-GB" altLang="en-US" sz="2000" b="1" dirty="0"/>
              <a:t>model</a:t>
            </a:r>
          </a:p>
        </p:txBody>
      </p:sp>
      <mc:AlternateContent xmlns:mc="http://schemas.openxmlformats.org/markup-compatibility/2006" xmlns:a14="http://schemas.microsoft.com/office/drawing/2010/main">
        <mc:Choice Requires="a14">
          <p:sp>
            <p:nvSpPr>
              <p:cNvPr id="96261" name="Text Box 5"/>
              <p:cNvSpPr txBox="1">
                <a:spLocks noChangeArrowheads="1"/>
              </p:cNvSpPr>
              <p:nvPr/>
            </p:nvSpPr>
            <p:spPr bwMode="auto">
              <a:xfrm>
                <a:off x="304801" y="3886200"/>
                <a:ext cx="5848909" cy="4001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r>
                  <a:rPr lang="en-GB" altLang="en-US" sz="2000" dirty="0">
                    <a:solidFill>
                      <a:srgbClr val="333399"/>
                    </a:solidFill>
                  </a:rPr>
                  <a:t>Please note that </a:t>
                </a:r>
                <a:r>
                  <a:rPr lang="en-GB" altLang="en-US" sz="2000" b="1" dirty="0">
                    <a:solidFill>
                      <a:srgbClr val="333399"/>
                    </a:solidFill>
                  </a:rPr>
                  <a:t>R</a:t>
                </a:r>
                <a:r>
                  <a:rPr lang="en-GB" altLang="en-US" sz="2000" dirty="0">
                    <a:solidFill>
                      <a:srgbClr val="333399"/>
                    </a:solidFill>
                  </a:rPr>
                  <a:t> here is the correlation coefficient, </a:t>
                </a:r>
                <a14:m>
                  <m:oMath xmlns:m="http://schemas.openxmlformats.org/officeDocument/2006/math">
                    <m:r>
                      <a:rPr lang="en-GB" altLang="en-US" sz="2000" i="1" dirty="0" smtClean="0">
                        <a:solidFill>
                          <a:srgbClr val="333399"/>
                        </a:solidFill>
                        <a:latin typeface="Cambria Math"/>
                      </a:rPr>
                      <m:t>𝑟</m:t>
                    </m:r>
                  </m:oMath>
                </a14:m>
                <a:endParaRPr lang="en-US" altLang="en-US" sz="2000" dirty="0">
                  <a:solidFill>
                    <a:srgbClr val="333399"/>
                  </a:solidFill>
                </a:endParaRPr>
              </a:p>
            </p:txBody>
          </p:sp>
        </mc:Choice>
        <mc:Fallback xmlns="">
          <p:sp>
            <p:nvSpPr>
              <p:cNvPr id="96261" name="Text Box 5"/>
              <p:cNvSpPr txBox="1">
                <a:spLocks noRot="1" noChangeAspect="1" noMove="1" noResize="1" noEditPoints="1" noAdjustHandles="1" noChangeArrowheads="1" noChangeShapeType="1" noTextEdit="1"/>
              </p:cNvSpPr>
              <p:nvPr/>
            </p:nvSpPr>
            <p:spPr bwMode="auto">
              <a:xfrm>
                <a:off x="304801" y="3886200"/>
                <a:ext cx="5848909" cy="400110"/>
              </a:xfrm>
              <a:prstGeom prst="rect">
                <a:avLst/>
              </a:prstGeom>
              <a:blipFill rotWithShape="1">
                <a:blip r:embed="rId4"/>
                <a:stretch>
                  <a:fillRect l="-1043" t="-7692" b="-261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2" name="Title 1"/>
          <p:cNvSpPr>
            <a:spLocks noGrp="1"/>
          </p:cNvSpPr>
          <p:nvPr>
            <p:ph type="title"/>
          </p:nvPr>
        </p:nvSpPr>
        <p:spPr/>
        <p:txBody>
          <a:bodyPr/>
          <a:lstStyle/>
          <a:p>
            <a:r>
              <a:rPr lang="en-GB" dirty="0"/>
              <a:t>Linear Regression</a:t>
            </a:r>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2147" y="1613140"/>
            <a:ext cx="5829300" cy="197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474725E0-5440-4795-B4D0-2BA03039A1DF}"/>
              </a:ext>
            </a:extLst>
          </p:cNvPr>
          <p:cNvPicPr>
            <a:picLocks noChangeAspect="1"/>
          </p:cNvPicPr>
          <p:nvPr/>
        </p:nvPicPr>
        <p:blipFill>
          <a:blip r:embed="rId6"/>
          <a:stretch>
            <a:fillRect/>
          </a:stretch>
        </p:blipFill>
        <p:spPr>
          <a:xfrm>
            <a:off x="457200" y="4391571"/>
            <a:ext cx="3429000" cy="2009229"/>
          </a:xfrm>
          <a:prstGeom prst="rect">
            <a:avLst/>
          </a:prstGeom>
          <a:ln w="28575">
            <a:solidFill>
              <a:srgbClr val="FFC000"/>
            </a:solidFill>
          </a:ln>
        </p:spPr>
      </p:pic>
    </p:spTree>
    <p:extLst>
      <p:ext uri="{BB962C8B-B14F-4D97-AF65-F5344CB8AC3E}">
        <p14:creationId xmlns:p14="http://schemas.microsoft.com/office/powerpoint/2010/main" val="1935223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3" name="Line 5"/>
          <p:cNvSpPr>
            <a:spLocks noChangeShapeType="1"/>
          </p:cNvSpPr>
          <p:nvPr/>
        </p:nvSpPr>
        <p:spPr bwMode="auto">
          <a:xfrm flipH="1">
            <a:off x="719138" y="1536700"/>
            <a:ext cx="3200400" cy="0"/>
          </a:xfrm>
          <a:prstGeom prst="line">
            <a:avLst/>
          </a:prstGeom>
          <a:noFill/>
          <a:ln w="28575">
            <a:solidFill>
              <a:schemeClr val="bg1">
                <a:lumMod val="7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297" name="Line 9"/>
          <p:cNvSpPr>
            <a:spLocks noChangeShapeType="1"/>
          </p:cNvSpPr>
          <p:nvPr/>
        </p:nvSpPr>
        <p:spPr bwMode="auto">
          <a:xfrm>
            <a:off x="685800" y="1161317"/>
            <a:ext cx="0" cy="415925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endParaRPr lang="en-GB"/>
          </a:p>
        </p:txBody>
      </p:sp>
      <p:sp>
        <p:nvSpPr>
          <p:cNvPr id="140298" name="Line 10"/>
          <p:cNvSpPr>
            <a:spLocks noChangeShapeType="1"/>
          </p:cNvSpPr>
          <p:nvPr/>
        </p:nvSpPr>
        <p:spPr bwMode="auto">
          <a:xfrm>
            <a:off x="685800" y="5311775"/>
            <a:ext cx="7639050" cy="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endParaRPr lang="en-GB"/>
          </a:p>
        </p:txBody>
      </p:sp>
      <p:sp>
        <p:nvSpPr>
          <p:cNvPr id="140299" name="Line 11"/>
          <p:cNvSpPr>
            <a:spLocks noChangeShapeType="1"/>
          </p:cNvSpPr>
          <p:nvPr/>
        </p:nvSpPr>
        <p:spPr bwMode="auto">
          <a:xfrm flipV="1">
            <a:off x="684213" y="1746250"/>
            <a:ext cx="6794500" cy="2919413"/>
          </a:xfrm>
          <a:prstGeom prst="line">
            <a:avLst/>
          </a:prstGeom>
          <a:ln>
            <a:headEnd/>
            <a:tailEnd/>
          </a:ln>
        </p:spPr>
        <p:style>
          <a:lnRef idx="2">
            <a:schemeClr val="accent3"/>
          </a:lnRef>
          <a:fillRef idx="0">
            <a:schemeClr val="accent3"/>
          </a:fillRef>
          <a:effectRef idx="1">
            <a:schemeClr val="accent3"/>
          </a:effectRef>
          <a:fontRef idx="minor">
            <a:schemeClr val="tx1"/>
          </a:fontRef>
        </p:style>
        <p:txBody>
          <a:bodyPr wrap="none" anchor="ctr"/>
          <a:lstStyle/>
          <a:p>
            <a:endParaRPr lang="en-GB"/>
          </a:p>
        </p:txBody>
      </p:sp>
      <p:sp>
        <p:nvSpPr>
          <p:cNvPr id="140300" name="Oval 12"/>
          <p:cNvSpPr>
            <a:spLocks noChangeArrowheads="1"/>
          </p:cNvSpPr>
          <p:nvPr/>
        </p:nvSpPr>
        <p:spPr bwMode="auto">
          <a:xfrm>
            <a:off x="3876675" y="1452563"/>
            <a:ext cx="185738" cy="185737"/>
          </a:xfrm>
          <a:prstGeom prst="ellipse">
            <a:avLst/>
          </a:prstGeom>
          <a:solidFill>
            <a:schemeClr val="tx1">
              <a:lumMod val="50000"/>
              <a:lumOff val="50000"/>
            </a:schemeClr>
          </a:solidFill>
          <a:ln w="12700">
            <a:solidFill>
              <a:schemeClr val="bg1">
                <a:lumMod val="75000"/>
              </a:schemeClr>
            </a:solidFill>
            <a:round/>
            <a:headEnd/>
            <a:tailEnd/>
          </a:ln>
          <a:effectLst/>
        </p:spPr>
        <p:txBody>
          <a:bodyPr wrap="none" anchor="ctr"/>
          <a:lstStyle/>
          <a:p>
            <a:endParaRPr lang="en-GB"/>
          </a:p>
        </p:txBody>
      </p:sp>
      <p:sp>
        <p:nvSpPr>
          <p:cNvPr id="140301" name="Line 13"/>
          <p:cNvSpPr>
            <a:spLocks noChangeShapeType="1"/>
          </p:cNvSpPr>
          <p:nvPr/>
        </p:nvSpPr>
        <p:spPr bwMode="auto">
          <a:xfrm>
            <a:off x="3995738" y="1712913"/>
            <a:ext cx="0" cy="3598862"/>
          </a:xfrm>
          <a:prstGeom prst="line">
            <a:avLst/>
          </a:prstGeom>
          <a:noFill/>
          <a:ln w="28575" cap="rnd">
            <a:solidFill>
              <a:schemeClr val="bg1">
                <a:lumMod val="7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303" name="Line 15"/>
          <p:cNvSpPr>
            <a:spLocks noChangeShapeType="1"/>
          </p:cNvSpPr>
          <p:nvPr/>
        </p:nvSpPr>
        <p:spPr bwMode="auto">
          <a:xfrm>
            <a:off x="684213" y="4051543"/>
            <a:ext cx="7437437" cy="0"/>
          </a:xfrm>
          <a:prstGeom prst="line">
            <a:avLst/>
          </a:prstGeom>
          <a:noFill/>
          <a:ln w="254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305" name="Rectangle 17"/>
          <p:cNvSpPr>
            <a:spLocks noChangeArrowheads="1"/>
          </p:cNvSpPr>
          <p:nvPr/>
        </p:nvSpPr>
        <p:spPr bwMode="auto">
          <a:xfrm>
            <a:off x="8305800" y="5159375"/>
            <a:ext cx="4667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sz="2800" i="1">
                <a:latin typeface="Times New Roman" pitchFamily="18" charset="0"/>
              </a:rPr>
              <a:t>x</a:t>
            </a:r>
          </a:p>
        </p:txBody>
      </p:sp>
      <mc:AlternateContent xmlns:mc="http://schemas.openxmlformats.org/markup-compatibility/2006" xmlns:a14="http://schemas.microsoft.com/office/drawing/2010/main">
        <mc:Choice Requires="a14">
          <p:sp>
            <p:nvSpPr>
              <p:cNvPr id="140306" name="Rectangle 18"/>
              <p:cNvSpPr>
                <a:spLocks noChangeArrowheads="1"/>
              </p:cNvSpPr>
              <p:nvPr/>
            </p:nvSpPr>
            <p:spPr bwMode="auto">
              <a:xfrm>
                <a:off x="76200" y="1196975"/>
                <a:ext cx="771525" cy="520655"/>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spAutoFit/>
              </a:bodyPr>
              <a:lstStyle/>
              <a:p>
                <a:pPr>
                  <a:spcBef>
                    <a:spcPct val="50000"/>
                  </a:spcBef>
                </a:pPr>
                <a14:m>
                  <m:oMathPara xmlns:m="http://schemas.openxmlformats.org/officeDocument/2006/math">
                    <m:oMathParaPr>
                      <m:jc m:val="centerGroup"/>
                    </m:oMathParaPr>
                    <m:oMath xmlns:m="http://schemas.openxmlformats.org/officeDocument/2006/math">
                      <m:sSub>
                        <m:sSubPr>
                          <m:ctrlPr>
                            <a:rPr lang="en-US" altLang="en-US" sz="2800" i="1" smtClean="0">
                              <a:solidFill>
                                <a:schemeClr val="tx1">
                                  <a:lumMod val="50000"/>
                                  <a:lumOff val="50000"/>
                                </a:schemeClr>
                              </a:solidFill>
                              <a:latin typeface="Cambria Math" panose="02040503050406030204" pitchFamily="18" charset="0"/>
                            </a:rPr>
                          </m:ctrlPr>
                        </m:sSubPr>
                        <m:e>
                          <m:r>
                            <a:rPr lang="en-GB" altLang="en-US" sz="2800" b="0" i="1" smtClean="0">
                              <a:solidFill>
                                <a:schemeClr val="tx1">
                                  <a:lumMod val="50000"/>
                                  <a:lumOff val="50000"/>
                                </a:schemeClr>
                              </a:solidFill>
                              <a:latin typeface="Cambria Math"/>
                            </a:rPr>
                            <m:t>𝑦</m:t>
                          </m:r>
                        </m:e>
                        <m:sub>
                          <m:r>
                            <a:rPr lang="en-GB" altLang="en-US" sz="2800" b="0" i="1" smtClean="0">
                              <a:solidFill>
                                <a:schemeClr val="tx1">
                                  <a:lumMod val="50000"/>
                                  <a:lumOff val="50000"/>
                                </a:schemeClr>
                              </a:solidFill>
                              <a:latin typeface="Cambria Math"/>
                            </a:rPr>
                            <m:t>𝑖</m:t>
                          </m:r>
                        </m:sub>
                      </m:sSub>
                    </m:oMath>
                  </m:oMathPara>
                </a14:m>
                <a:endParaRPr lang="en-US" altLang="en-US" sz="2800" baseline="-25000" dirty="0">
                  <a:solidFill>
                    <a:schemeClr val="tx1">
                      <a:lumMod val="50000"/>
                      <a:lumOff val="50000"/>
                    </a:schemeClr>
                  </a:solidFill>
                  <a:latin typeface="Times New Roman" pitchFamily="18" charset="0"/>
                </a:endParaRPr>
              </a:p>
            </p:txBody>
          </p:sp>
        </mc:Choice>
        <mc:Fallback xmlns="">
          <p:sp>
            <p:nvSpPr>
              <p:cNvPr id="140306" name="Rectangle 18"/>
              <p:cNvSpPr>
                <a:spLocks noRot="1" noChangeAspect="1" noMove="1" noResize="1" noEditPoints="1" noAdjustHandles="1" noChangeArrowheads="1" noChangeShapeType="1" noTextEdit="1"/>
              </p:cNvSpPr>
              <p:nvPr/>
            </p:nvSpPr>
            <p:spPr bwMode="auto">
              <a:xfrm>
                <a:off x="76200" y="1196975"/>
                <a:ext cx="771525" cy="520655"/>
              </a:xfrm>
              <a:prstGeom prst="rect">
                <a:avLst/>
              </a:prstGeom>
              <a:blipFill rotWithShape="1">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140309" name="Freeform 21"/>
          <p:cNvSpPr>
            <a:spLocks/>
          </p:cNvSpPr>
          <p:nvPr/>
        </p:nvSpPr>
        <p:spPr bwMode="auto">
          <a:xfrm>
            <a:off x="4114800" y="1571625"/>
            <a:ext cx="228600" cy="1606550"/>
          </a:xfrm>
          <a:custGeom>
            <a:avLst/>
            <a:gdLst>
              <a:gd name="T0" fmla="*/ 0 w 196"/>
              <a:gd name="T1" fmla="*/ 0 h 1012"/>
              <a:gd name="T2" fmla="*/ 18 w 196"/>
              <a:gd name="T3" fmla="*/ 4 h 1012"/>
              <a:gd name="T4" fmla="*/ 41 w 196"/>
              <a:gd name="T5" fmla="*/ 8 h 1012"/>
              <a:gd name="T6" fmla="*/ 73 w 196"/>
              <a:gd name="T7" fmla="*/ 26 h 1012"/>
              <a:gd name="T8" fmla="*/ 91 w 196"/>
              <a:gd name="T9" fmla="*/ 52 h 1012"/>
              <a:gd name="T10" fmla="*/ 100 w 196"/>
              <a:gd name="T11" fmla="*/ 85 h 1012"/>
              <a:gd name="T12" fmla="*/ 100 w 196"/>
              <a:gd name="T13" fmla="*/ 421 h 1012"/>
              <a:gd name="T14" fmla="*/ 109 w 196"/>
              <a:gd name="T15" fmla="*/ 454 h 1012"/>
              <a:gd name="T16" fmla="*/ 127 w 196"/>
              <a:gd name="T17" fmla="*/ 480 h 1012"/>
              <a:gd name="T18" fmla="*/ 159 w 196"/>
              <a:gd name="T19" fmla="*/ 498 h 1012"/>
              <a:gd name="T20" fmla="*/ 195 w 196"/>
              <a:gd name="T21" fmla="*/ 506 h 1012"/>
              <a:gd name="T22" fmla="*/ 159 w 196"/>
              <a:gd name="T23" fmla="*/ 513 h 1012"/>
              <a:gd name="T24" fmla="*/ 127 w 196"/>
              <a:gd name="T25" fmla="*/ 532 h 1012"/>
              <a:gd name="T26" fmla="*/ 109 w 196"/>
              <a:gd name="T27" fmla="*/ 557 h 1012"/>
              <a:gd name="T28" fmla="*/ 100 w 196"/>
              <a:gd name="T29" fmla="*/ 591 h 1012"/>
              <a:gd name="T30" fmla="*/ 100 w 196"/>
              <a:gd name="T31" fmla="*/ 926 h 1012"/>
              <a:gd name="T32" fmla="*/ 91 w 196"/>
              <a:gd name="T33" fmla="*/ 959 h 1012"/>
              <a:gd name="T34" fmla="*/ 73 w 196"/>
              <a:gd name="T35" fmla="*/ 985 h 1012"/>
              <a:gd name="T36" fmla="*/ 41 w 196"/>
              <a:gd name="T37" fmla="*/ 1004 h 1012"/>
              <a:gd name="T38" fmla="*/ 18 w 196"/>
              <a:gd name="T39" fmla="*/ 1011 h 1012"/>
              <a:gd name="T40" fmla="*/ 0 w 196"/>
              <a:gd name="T41" fmla="*/ 1011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6" h="1012">
                <a:moveTo>
                  <a:pt x="0" y="0"/>
                </a:moveTo>
                <a:lnTo>
                  <a:pt x="18" y="4"/>
                </a:lnTo>
                <a:lnTo>
                  <a:pt x="41" y="8"/>
                </a:lnTo>
                <a:lnTo>
                  <a:pt x="73" y="26"/>
                </a:lnTo>
                <a:lnTo>
                  <a:pt x="91" y="52"/>
                </a:lnTo>
                <a:lnTo>
                  <a:pt x="100" y="85"/>
                </a:lnTo>
                <a:lnTo>
                  <a:pt x="100" y="421"/>
                </a:lnTo>
                <a:lnTo>
                  <a:pt x="109" y="454"/>
                </a:lnTo>
                <a:lnTo>
                  <a:pt x="127" y="480"/>
                </a:lnTo>
                <a:lnTo>
                  <a:pt x="159" y="498"/>
                </a:lnTo>
                <a:lnTo>
                  <a:pt x="195" y="506"/>
                </a:lnTo>
                <a:lnTo>
                  <a:pt x="159" y="513"/>
                </a:lnTo>
                <a:lnTo>
                  <a:pt x="127" y="532"/>
                </a:lnTo>
                <a:lnTo>
                  <a:pt x="109" y="557"/>
                </a:lnTo>
                <a:lnTo>
                  <a:pt x="100" y="591"/>
                </a:lnTo>
                <a:lnTo>
                  <a:pt x="100" y="926"/>
                </a:lnTo>
                <a:lnTo>
                  <a:pt x="91" y="959"/>
                </a:lnTo>
                <a:lnTo>
                  <a:pt x="73" y="985"/>
                </a:lnTo>
                <a:lnTo>
                  <a:pt x="41" y="1004"/>
                </a:lnTo>
                <a:lnTo>
                  <a:pt x="18" y="1011"/>
                </a:lnTo>
                <a:lnTo>
                  <a:pt x="0" y="1011"/>
                </a:lnTo>
              </a:path>
            </a:pathLst>
          </a:custGeom>
          <a:noFill/>
          <a:ln w="25400" cap="rnd"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accent2"/>
              </a:solidFill>
            </a:endParaRPr>
          </a:p>
        </p:txBody>
      </p:sp>
      <p:sp>
        <p:nvSpPr>
          <p:cNvPr id="140312" name="Freeform 24"/>
          <p:cNvSpPr>
            <a:spLocks/>
          </p:cNvSpPr>
          <p:nvPr/>
        </p:nvSpPr>
        <p:spPr bwMode="auto">
          <a:xfrm>
            <a:off x="4114800" y="3254375"/>
            <a:ext cx="228600" cy="765175"/>
          </a:xfrm>
          <a:custGeom>
            <a:avLst/>
            <a:gdLst>
              <a:gd name="T0" fmla="*/ 0 w 144"/>
              <a:gd name="T1" fmla="*/ 0 h 577"/>
              <a:gd name="T2" fmla="*/ 28 w 144"/>
              <a:gd name="T3" fmla="*/ 4 h 577"/>
              <a:gd name="T4" fmla="*/ 51 w 144"/>
              <a:gd name="T5" fmla="*/ 14 h 577"/>
              <a:gd name="T6" fmla="*/ 65 w 144"/>
              <a:gd name="T7" fmla="*/ 27 h 577"/>
              <a:gd name="T8" fmla="*/ 69 w 144"/>
              <a:gd name="T9" fmla="*/ 46 h 577"/>
              <a:gd name="T10" fmla="*/ 69 w 144"/>
              <a:gd name="T11" fmla="*/ 239 h 577"/>
              <a:gd name="T12" fmla="*/ 74 w 144"/>
              <a:gd name="T13" fmla="*/ 258 h 577"/>
              <a:gd name="T14" fmla="*/ 92 w 144"/>
              <a:gd name="T15" fmla="*/ 272 h 577"/>
              <a:gd name="T16" fmla="*/ 115 w 144"/>
              <a:gd name="T17" fmla="*/ 281 h 577"/>
              <a:gd name="T18" fmla="*/ 143 w 144"/>
              <a:gd name="T19" fmla="*/ 286 h 577"/>
              <a:gd name="T20" fmla="*/ 115 w 144"/>
              <a:gd name="T21" fmla="*/ 290 h 577"/>
              <a:gd name="T22" fmla="*/ 92 w 144"/>
              <a:gd name="T23" fmla="*/ 299 h 577"/>
              <a:gd name="T24" fmla="*/ 74 w 144"/>
              <a:gd name="T25" fmla="*/ 318 h 577"/>
              <a:gd name="T26" fmla="*/ 69 w 144"/>
              <a:gd name="T27" fmla="*/ 336 h 577"/>
              <a:gd name="T28" fmla="*/ 69 w 144"/>
              <a:gd name="T29" fmla="*/ 525 h 577"/>
              <a:gd name="T30" fmla="*/ 65 w 144"/>
              <a:gd name="T31" fmla="*/ 544 h 577"/>
              <a:gd name="T32" fmla="*/ 51 w 144"/>
              <a:gd name="T33" fmla="*/ 562 h 577"/>
              <a:gd name="T34" fmla="*/ 28 w 144"/>
              <a:gd name="T35" fmla="*/ 571 h 577"/>
              <a:gd name="T36" fmla="*/ 0 w 144"/>
              <a:gd name="T37" fmla="*/ 576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4" h="577">
                <a:moveTo>
                  <a:pt x="0" y="0"/>
                </a:moveTo>
                <a:lnTo>
                  <a:pt x="28" y="4"/>
                </a:lnTo>
                <a:lnTo>
                  <a:pt x="51" y="14"/>
                </a:lnTo>
                <a:lnTo>
                  <a:pt x="65" y="27"/>
                </a:lnTo>
                <a:lnTo>
                  <a:pt x="69" y="46"/>
                </a:lnTo>
                <a:lnTo>
                  <a:pt x="69" y="239"/>
                </a:lnTo>
                <a:lnTo>
                  <a:pt x="74" y="258"/>
                </a:lnTo>
                <a:lnTo>
                  <a:pt x="92" y="272"/>
                </a:lnTo>
                <a:lnTo>
                  <a:pt x="115" y="281"/>
                </a:lnTo>
                <a:lnTo>
                  <a:pt x="143" y="286"/>
                </a:lnTo>
                <a:lnTo>
                  <a:pt x="115" y="290"/>
                </a:lnTo>
                <a:lnTo>
                  <a:pt x="92" y="299"/>
                </a:lnTo>
                <a:lnTo>
                  <a:pt x="74" y="318"/>
                </a:lnTo>
                <a:lnTo>
                  <a:pt x="69" y="336"/>
                </a:lnTo>
                <a:lnTo>
                  <a:pt x="69" y="525"/>
                </a:lnTo>
                <a:lnTo>
                  <a:pt x="65" y="544"/>
                </a:lnTo>
                <a:lnTo>
                  <a:pt x="51" y="562"/>
                </a:lnTo>
                <a:lnTo>
                  <a:pt x="28" y="571"/>
                </a:lnTo>
                <a:lnTo>
                  <a:pt x="0" y="576"/>
                </a:lnTo>
              </a:path>
            </a:pathLst>
          </a:custGeom>
          <a:noFill/>
          <a:ln w="25400" cap="rnd" cmpd="sng">
            <a:solidFill>
              <a:schemeClr val="accent3">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mc:AlternateContent xmlns:mc="http://schemas.openxmlformats.org/markup-compatibility/2006" xmlns:a14="http://schemas.microsoft.com/office/drawing/2010/main">
        <mc:Choice Requires="a14">
          <p:sp>
            <p:nvSpPr>
              <p:cNvPr id="140318" name="Rectangle 30"/>
              <p:cNvSpPr>
                <a:spLocks noChangeArrowheads="1"/>
              </p:cNvSpPr>
              <p:nvPr/>
            </p:nvSpPr>
            <p:spPr bwMode="auto">
              <a:xfrm>
                <a:off x="181682" y="2873375"/>
                <a:ext cx="637162" cy="584775"/>
              </a:xfrm>
              <a:prstGeom prst="rect">
                <a:avLst/>
              </a:prstGeom>
              <a:noFill/>
              <a:ln>
                <a:noFill/>
              </a:ln>
              <a:effectLst/>
              <a:extLst>
                <a:ext uri="{909E8E84-426E-40DD-AFC4-6F175D3DCCD1}">
                  <a14:hiddenFill>
                    <a:solidFill>
                      <a:srgbClr val="CCFFFF"/>
                    </a:solidFill>
                  </a14:hiddenFill>
                </a:ext>
                <a:ext uri="{91240B29-F687-4F45-9708-019B960494DF}">
                  <a14:hiddenLine w="19050"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sz="3200" i="1" smtClean="0">
                              <a:solidFill>
                                <a:schemeClr val="accent3"/>
                              </a:solidFill>
                              <a:latin typeface="Cambria Math" panose="02040503050406030204" pitchFamily="18" charset="0"/>
                            </a:rPr>
                          </m:ctrlPr>
                        </m:sSubPr>
                        <m:e>
                          <m:acc>
                            <m:accPr>
                              <m:chr m:val="̂"/>
                              <m:ctrlPr>
                                <a:rPr lang="en-US" altLang="en-US" sz="3200" i="1">
                                  <a:solidFill>
                                    <a:schemeClr val="accent3"/>
                                  </a:solidFill>
                                  <a:latin typeface="Cambria Math" panose="02040503050406030204" pitchFamily="18" charset="0"/>
                                </a:rPr>
                              </m:ctrlPr>
                            </m:accPr>
                            <m:e>
                              <m:r>
                                <a:rPr lang="en-GB" altLang="en-US" sz="3200" b="0" i="1" smtClean="0">
                                  <a:solidFill>
                                    <a:schemeClr val="accent3"/>
                                  </a:solidFill>
                                  <a:latin typeface="Cambria Math"/>
                                </a:rPr>
                                <m:t>𝑦</m:t>
                              </m:r>
                            </m:e>
                          </m:acc>
                        </m:e>
                        <m:sub>
                          <m:r>
                            <a:rPr lang="en-GB" altLang="en-US" sz="3200" i="1">
                              <a:solidFill>
                                <a:schemeClr val="accent3"/>
                              </a:solidFill>
                              <a:latin typeface="Cambria Math"/>
                            </a:rPr>
                            <m:t>𝑖</m:t>
                          </m:r>
                        </m:sub>
                      </m:sSub>
                    </m:oMath>
                  </m:oMathPara>
                </a14:m>
                <a:endParaRPr lang="en-US" altLang="en-US" sz="3200" dirty="0">
                  <a:solidFill>
                    <a:schemeClr val="accent3"/>
                  </a:solidFill>
                  <a:latin typeface="Times New Roman" pitchFamily="18" charset="0"/>
                </a:endParaRPr>
              </a:p>
            </p:txBody>
          </p:sp>
        </mc:Choice>
        <mc:Fallback xmlns="">
          <p:sp>
            <p:nvSpPr>
              <p:cNvPr id="140318" name="Rectangle 30"/>
              <p:cNvSpPr>
                <a:spLocks noRot="1" noChangeAspect="1" noMove="1" noResize="1" noEditPoints="1" noAdjustHandles="1" noChangeArrowheads="1" noChangeShapeType="1" noTextEdit="1"/>
              </p:cNvSpPr>
              <p:nvPr/>
            </p:nvSpPr>
            <p:spPr bwMode="auto">
              <a:xfrm>
                <a:off x="181682" y="2873375"/>
                <a:ext cx="637162" cy="584775"/>
              </a:xfrm>
              <a:prstGeom prst="rect">
                <a:avLst/>
              </a:prstGeom>
              <a:blipFill rotWithShape="1">
                <a:blip r:embed="rId4"/>
                <a:stretch>
                  <a:fillRect/>
                </a:stretch>
              </a:blip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140320" name="Rectangle 32"/>
          <p:cNvSpPr>
            <a:spLocks noChangeArrowheads="1"/>
          </p:cNvSpPr>
          <p:nvPr/>
        </p:nvSpPr>
        <p:spPr bwMode="auto">
          <a:xfrm>
            <a:off x="522288" y="609600"/>
            <a:ext cx="4667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sz="2800" dirty="0">
                <a:latin typeface="Times New Roman" pitchFamily="18" charset="0"/>
              </a:rPr>
              <a:t>y</a:t>
            </a:r>
          </a:p>
        </p:txBody>
      </p:sp>
      <p:sp>
        <p:nvSpPr>
          <p:cNvPr id="140321" name="Line 33"/>
          <p:cNvSpPr>
            <a:spLocks noChangeShapeType="1"/>
          </p:cNvSpPr>
          <p:nvPr/>
        </p:nvSpPr>
        <p:spPr bwMode="auto">
          <a:xfrm flipH="1">
            <a:off x="685800" y="3254375"/>
            <a:ext cx="3276600"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mc:AlternateContent xmlns:mc="http://schemas.openxmlformats.org/markup-compatibility/2006" xmlns:a14="http://schemas.microsoft.com/office/drawing/2010/main">
        <mc:Choice Requires="a14">
          <p:sp>
            <p:nvSpPr>
              <p:cNvPr id="140322" name="Rectangle 34"/>
              <p:cNvSpPr>
                <a:spLocks noChangeArrowheads="1"/>
              </p:cNvSpPr>
              <p:nvPr/>
            </p:nvSpPr>
            <p:spPr bwMode="auto">
              <a:xfrm>
                <a:off x="228600" y="3711575"/>
                <a:ext cx="457200" cy="582211"/>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spAutoFit/>
              </a:bodyPr>
              <a:lstStyle/>
              <a:p>
                <a:pPr>
                  <a:spcBef>
                    <a:spcPct val="50000"/>
                  </a:spcBef>
                </a:pPr>
                <a14:m>
                  <m:oMathPara xmlns:m="http://schemas.openxmlformats.org/officeDocument/2006/math">
                    <m:oMathParaPr>
                      <m:jc m:val="centerGroup"/>
                    </m:oMathParaPr>
                    <m:oMath xmlns:m="http://schemas.openxmlformats.org/officeDocument/2006/math">
                      <m:acc>
                        <m:accPr>
                          <m:chr m:val="̅"/>
                          <m:ctrlPr>
                            <a:rPr lang="en-US" altLang="en-US" sz="3200" i="1" smtClean="0">
                              <a:solidFill>
                                <a:srgbClr val="0070C0"/>
                              </a:solidFill>
                              <a:latin typeface="Cambria Math" panose="02040503050406030204" pitchFamily="18" charset="0"/>
                            </a:rPr>
                          </m:ctrlPr>
                        </m:accPr>
                        <m:e>
                          <m:r>
                            <a:rPr lang="en-GB" altLang="en-US" sz="3200" b="0" i="1" smtClean="0">
                              <a:solidFill>
                                <a:srgbClr val="0070C0"/>
                              </a:solidFill>
                              <a:latin typeface="Cambria Math"/>
                            </a:rPr>
                            <m:t>𝑦</m:t>
                          </m:r>
                        </m:e>
                      </m:acc>
                    </m:oMath>
                  </m:oMathPara>
                </a14:m>
                <a:endParaRPr lang="en-US" altLang="en-US" sz="3200" dirty="0">
                  <a:solidFill>
                    <a:srgbClr val="0070C0"/>
                  </a:solidFill>
                  <a:latin typeface="Times New Roman" pitchFamily="18" charset="0"/>
                </a:endParaRPr>
              </a:p>
            </p:txBody>
          </p:sp>
        </mc:Choice>
        <mc:Fallback xmlns="">
          <p:sp>
            <p:nvSpPr>
              <p:cNvPr id="140322" name="Rectangle 34"/>
              <p:cNvSpPr>
                <a:spLocks noRot="1" noChangeAspect="1" noMove="1" noResize="1" noEditPoints="1" noAdjustHandles="1" noChangeArrowheads="1" noChangeShapeType="1" noTextEdit="1"/>
              </p:cNvSpPr>
              <p:nvPr/>
            </p:nvSpPr>
            <p:spPr bwMode="auto">
              <a:xfrm>
                <a:off x="228600" y="3711575"/>
                <a:ext cx="457200" cy="582211"/>
              </a:xfrm>
              <a:prstGeom prst="rect">
                <a:avLst/>
              </a:prstGeom>
              <a:blipFill rotWithShape="1">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2" name="Title 1"/>
          <p:cNvSpPr>
            <a:spLocks noGrp="1"/>
          </p:cNvSpPr>
          <p:nvPr>
            <p:ph type="title"/>
          </p:nvPr>
        </p:nvSpPr>
        <p:spPr/>
        <p:txBody>
          <a:bodyPr/>
          <a:lstStyle/>
          <a:p>
            <a:r>
              <a:rPr lang="en-GB" dirty="0"/>
              <a:t>Linear Regression</a:t>
            </a:r>
          </a:p>
        </p:txBody>
      </p:sp>
      <mc:AlternateContent xmlns:mc="http://schemas.openxmlformats.org/markup-compatibility/2006" xmlns:a14="http://schemas.microsoft.com/office/drawing/2010/main">
        <mc:Choice Requires="a14">
          <p:sp>
            <p:nvSpPr>
              <p:cNvPr id="3" name="Rectangle 2"/>
              <p:cNvSpPr/>
              <p:nvPr/>
            </p:nvSpPr>
            <p:spPr>
              <a:xfrm>
                <a:off x="4332200" y="3406775"/>
                <a:ext cx="84940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solidFill>
                                <a:schemeClr val="accent3">
                                  <a:lumMod val="75000"/>
                                </a:schemeClr>
                              </a:solidFill>
                              <a:latin typeface="Cambria Math" panose="02040503050406030204" pitchFamily="18" charset="0"/>
                            </a:rPr>
                          </m:ctrlPr>
                        </m:sSubPr>
                        <m:e>
                          <m:acc>
                            <m:accPr>
                              <m:chr m:val="̂"/>
                              <m:ctrlPr>
                                <a:rPr lang="en-US" altLang="en-US" i="1">
                                  <a:solidFill>
                                    <a:schemeClr val="accent3">
                                      <a:lumMod val="75000"/>
                                    </a:schemeClr>
                                  </a:solidFill>
                                  <a:latin typeface="Cambria Math" panose="02040503050406030204" pitchFamily="18" charset="0"/>
                                </a:rPr>
                              </m:ctrlPr>
                            </m:accPr>
                            <m:e>
                              <m:r>
                                <a:rPr lang="en-GB" altLang="en-US" i="1">
                                  <a:solidFill>
                                    <a:schemeClr val="accent3">
                                      <a:lumMod val="75000"/>
                                    </a:schemeClr>
                                  </a:solidFill>
                                  <a:latin typeface="Cambria Math"/>
                                </a:rPr>
                                <m:t>𝑦</m:t>
                              </m:r>
                            </m:e>
                          </m:acc>
                        </m:e>
                        <m:sub>
                          <m:r>
                            <a:rPr lang="en-GB" altLang="en-US" i="1">
                              <a:solidFill>
                                <a:schemeClr val="accent3">
                                  <a:lumMod val="75000"/>
                                </a:schemeClr>
                              </a:solidFill>
                              <a:latin typeface="Cambria Math"/>
                            </a:rPr>
                            <m:t>𝑖</m:t>
                          </m:r>
                        </m:sub>
                      </m:sSub>
                      <m:r>
                        <a:rPr lang="en-GB" altLang="en-US" b="0" i="1" smtClean="0">
                          <a:solidFill>
                            <a:schemeClr val="accent3">
                              <a:lumMod val="75000"/>
                            </a:schemeClr>
                          </a:solidFill>
                          <a:latin typeface="Cambria Math"/>
                        </a:rPr>
                        <m:t>−</m:t>
                      </m:r>
                      <m:acc>
                        <m:accPr>
                          <m:chr m:val="̅"/>
                          <m:ctrlPr>
                            <a:rPr lang="en-US" altLang="en-US" i="1">
                              <a:solidFill>
                                <a:schemeClr val="accent3">
                                  <a:lumMod val="75000"/>
                                </a:schemeClr>
                              </a:solidFill>
                              <a:latin typeface="Cambria Math" panose="02040503050406030204" pitchFamily="18" charset="0"/>
                            </a:rPr>
                          </m:ctrlPr>
                        </m:accPr>
                        <m:e>
                          <m:r>
                            <a:rPr lang="en-GB" altLang="en-US" i="1">
                              <a:solidFill>
                                <a:schemeClr val="accent3">
                                  <a:lumMod val="75000"/>
                                </a:schemeClr>
                              </a:solidFill>
                              <a:latin typeface="Cambria Math"/>
                            </a:rPr>
                            <m:t>𝑦</m:t>
                          </m:r>
                        </m:e>
                      </m:acc>
                    </m:oMath>
                  </m:oMathPara>
                </a14:m>
                <a:endParaRPr lang="en-US" altLang="en-US" dirty="0">
                  <a:solidFill>
                    <a:schemeClr val="accent3">
                      <a:lumMod val="75000"/>
                    </a:schemeClr>
                  </a:solidFill>
                  <a:latin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4332200" y="3406775"/>
                <a:ext cx="849400" cy="369332"/>
              </a:xfrm>
              <a:prstGeom prst="rect">
                <a:avLst/>
              </a:prstGeom>
              <a:blipFill rotWithShape="1">
                <a:blip r:embed="rId6"/>
                <a:stretch>
                  <a:fillRect t="-5000" r="-22302" b="-8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4344730" y="2123043"/>
                <a:ext cx="91307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solidFill>
                                <a:srgbClr val="C00000"/>
                              </a:solidFill>
                              <a:latin typeface="Cambria Math" panose="02040503050406030204" pitchFamily="18" charset="0"/>
                            </a:rPr>
                          </m:ctrlPr>
                        </m:sSubPr>
                        <m:e>
                          <m:r>
                            <a:rPr lang="en-GB" altLang="en-US" i="1">
                              <a:solidFill>
                                <a:srgbClr val="C00000"/>
                              </a:solidFill>
                              <a:latin typeface="Cambria Math"/>
                            </a:rPr>
                            <m:t>𝑦</m:t>
                          </m:r>
                        </m:e>
                        <m:sub>
                          <m:r>
                            <a:rPr lang="en-GB" altLang="en-US" i="1">
                              <a:solidFill>
                                <a:srgbClr val="C00000"/>
                              </a:solidFill>
                              <a:latin typeface="Cambria Math"/>
                            </a:rPr>
                            <m:t>𝑖</m:t>
                          </m:r>
                        </m:sub>
                      </m:sSub>
                      <m:r>
                        <a:rPr lang="en-GB" altLang="en-US" b="0" i="1" smtClean="0">
                          <a:solidFill>
                            <a:srgbClr val="C00000"/>
                          </a:solidFill>
                          <a:latin typeface="Cambria Math"/>
                        </a:rPr>
                        <m:t>−</m:t>
                      </m:r>
                      <m:sSub>
                        <m:sSubPr>
                          <m:ctrlPr>
                            <a:rPr lang="en-US" altLang="en-US" i="1" smtClean="0">
                              <a:solidFill>
                                <a:srgbClr val="C00000"/>
                              </a:solidFill>
                              <a:latin typeface="Cambria Math" panose="02040503050406030204" pitchFamily="18" charset="0"/>
                            </a:rPr>
                          </m:ctrlPr>
                        </m:sSubPr>
                        <m:e>
                          <m:acc>
                            <m:accPr>
                              <m:chr m:val="̂"/>
                              <m:ctrlPr>
                                <a:rPr lang="en-US" altLang="en-US" i="1">
                                  <a:solidFill>
                                    <a:srgbClr val="C00000"/>
                                  </a:solidFill>
                                  <a:latin typeface="Cambria Math" panose="02040503050406030204" pitchFamily="18" charset="0"/>
                                </a:rPr>
                              </m:ctrlPr>
                            </m:accPr>
                            <m:e>
                              <m:r>
                                <a:rPr lang="en-GB" altLang="en-US" i="1">
                                  <a:solidFill>
                                    <a:srgbClr val="C00000"/>
                                  </a:solidFill>
                                  <a:latin typeface="Cambria Math"/>
                                </a:rPr>
                                <m:t>𝑦</m:t>
                              </m:r>
                            </m:e>
                          </m:acc>
                        </m:e>
                        <m:sub>
                          <m:r>
                            <a:rPr lang="en-GB" altLang="en-US" i="1">
                              <a:solidFill>
                                <a:srgbClr val="C00000"/>
                              </a:solidFill>
                              <a:latin typeface="Cambria Math"/>
                            </a:rPr>
                            <m:t>𝑖</m:t>
                          </m:r>
                        </m:sub>
                      </m:sSub>
                    </m:oMath>
                  </m:oMathPara>
                </a14:m>
                <a:endParaRPr lang="en-US" altLang="en-US" dirty="0">
                  <a:solidFill>
                    <a:srgbClr val="C00000"/>
                  </a:solidFill>
                  <a:latin typeface="Times New Roman" pitchFamily="18" charset="0"/>
                </a:endParaRPr>
              </a:p>
            </p:txBody>
          </p:sp>
        </mc:Choice>
        <mc:Fallback xmlns="">
          <p:sp>
            <p:nvSpPr>
              <p:cNvPr id="36" name="Rectangle 35"/>
              <p:cNvSpPr>
                <a:spLocks noRot="1" noChangeAspect="1" noMove="1" noResize="1" noEditPoints="1" noAdjustHandles="1" noChangeArrowheads="1" noChangeShapeType="1" noTextEdit="1"/>
              </p:cNvSpPr>
              <p:nvPr/>
            </p:nvSpPr>
            <p:spPr>
              <a:xfrm>
                <a:off x="4344730" y="2123043"/>
                <a:ext cx="913070" cy="369332"/>
              </a:xfrm>
              <a:prstGeom prst="rect">
                <a:avLst/>
              </a:prstGeom>
              <a:blipFill rotWithShape="1">
                <a:blip r:embed="rId7"/>
                <a:stretch>
                  <a:fillRect t="-4918" r="-18000" b="-6557"/>
                </a:stretch>
              </a:blipFill>
            </p:spPr>
            <p:txBody>
              <a:bodyPr/>
              <a:lstStyle/>
              <a:p>
                <a:r>
                  <a:rPr lang="en-GB">
                    <a:noFill/>
                  </a:rPr>
                  <a:t> </a:t>
                </a:r>
              </a:p>
            </p:txBody>
          </p:sp>
        </mc:Fallback>
      </mc:AlternateContent>
      <p:cxnSp>
        <p:nvCxnSpPr>
          <p:cNvPr id="5" name="Straight Arrow Connector 4"/>
          <p:cNvCxnSpPr/>
          <p:nvPr/>
        </p:nvCxnSpPr>
        <p:spPr>
          <a:xfrm>
            <a:off x="3581400" y="1571625"/>
            <a:ext cx="0" cy="247991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Rectangle 38"/>
              <p:cNvSpPr/>
              <p:nvPr/>
            </p:nvSpPr>
            <p:spPr>
              <a:xfrm>
                <a:off x="2808200" y="2427843"/>
                <a:ext cx="84940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latin typeface="Cambria Math" panose="02040503050406030204" pitchFamily="18" charset="0"/>
                            </a:rPr>
                          </m:ctrlPr>
                        </m:sSubPr>
                        <m:e>
                          <m:r>
                            <a:rPr lang="en-GB" altLang="en-US" i="1">
                              <a:latin typeface="Cambria Math"/>
                            </a:rPr>
                            <m:t>𝑦</m:t>
                          </m:r>
                        </m:e>
                        <m:sub>
                          <m:r>
                            <a:rPr lang="en-GB" altLang="en-US" i="1">
                              <a:latin typeface="Cambria Math"/>
                            </a:rPr>
                            <m:t>𝑖</m:t>
                          </m:r>
                        </m:sub>
                      </m:sSub>
                      <m:r>
                        <a:rPr lang="en-GB" altLang="en-US" b="0" i="1" smtClean="0">
                          <a:latin typeface="Cambria Math"/>
                        </a:rPr>
                        <m:t>−</m:t>
                      </m:r>
                      <m:acc>
                        <m:accPr>
                          <m:chr m:val="̅"/>
                          <m:ctrlPr>
                            <a:rPr lang="en-US" altLang="en-US" i="1">
                              <a:latin typeface="Cambria Math" panose="02040503050406030204" pitchFamily="18" charset="0"/>
                            </a:rPr>
                          </m:ctrlPr>
                        </m:accPr>
                        <m:e>
                          <m:r>
                            <a:rPr lang="en-GB" altLang="en-US" i="1">
                              <a:latin typeface="Cambria Math"/>
                            </a:rPr>
                            <m:t>𝑦</m:t>
                          </m:r>
                        </m:e>
                      </m:acc>
                    </m:oMath>
                  </m:oMathPara>
                </a14:m>
                <a:endParaRPr lang="en-US" altLang="en-US" dirty="0">
                  <a:solidFill>
                    <a:schemeClr val="tx1"/>
                  </a:solidFill>
                  <a:latin typeface="Times New Roman" pitchFamily="18" charset="0"/>
                </a:endParaRPr>
              </a:p>
            </p:txBody>
          </p:sp>
        </mc:Choice>
        <mc:Fallback xmlns="">
          <p:sp>
            <p:nvSpPr>
              <p:cNvPr id="39" name="Rectangle 38"/>
              <p:cNvSpPr>
                <a:spLocks noRot="1" noChangeAspect="1" noMove="1" noResize="1" noEditPoints="1" noAdjustHandles="1" noChangeArrowheads="1" noChangeShapeType="1" noTextEdit="1"/>
              </p:cNvSpPr>
              <p:nvPr/>
            </p:nvSpPr>
            <p:spPr>
              <a:xfrm>
                <a:off x="2808200" y="2427843"/>
                <a:ext cx="849400" cy="369332"/>
              </a:xfrm>
              <a:prstGeom prst="rect">
                <a:avLst/>
              </a:prstGeom>
              <a:blipFill rotWithShape="1">
                <a:blip r:embed="rId8"/>
                <a:stretch>
                  <a:fillRect r="-22302" b="-6557"/>
                </a:stretch>
              </a:blipFill>
            </p:spPr>
            <p:txBody>
              <a:bodyPr/>
              <a:lstStyle/>
              <a:p>
                <a:r>
                  <a:rPr lang="en-GB">
                    <a:noFill/>
                  </a:rPr>
                  <a:t> </a:t>
                </a:r>
              </a:p>
            </p:txBody>
          </p:sp>
        </mc:Fallback>
      </mc:AlternateContent>
      <p:sp>
        <p:nvSpPr>
          <p:cNvPr id="40" name="Rounded Rectangular Callout 39"/>
          <p:cNvSpPr/>
          <p:nvPr/>
        </p:nvSpPr>
        <p:spPr>
          <a:xfrm>
            <a:off x="5029200" y="929298"/>
            <a:ext cx="2286000" cy="647700"/>
          </a:xfrm>
          <a:prstGeom prst="wedgeRoundRectCallout">
            <a:avLst>
              <a:gd name="adj1" fmla="val -56276"/>
              <a:gd name="adj2" fmla="val 130374"/>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Variance unexplained</a:t>
            </a:r>
          </a:p>
          <a:p>
            <a:pPr algn="ctr"/>
            <a:r>
              <a:rPr lang="en-GB" b="1" dirty="0"/>
              <a:t>Residual error</a:t>
            </a:r>
          </a:p>
        </p:txBody>
      </p:sp>
      <p:sp>
        <p:nvSpPr>
          <p:cNvPr id="41" name="Rounded Rectangular Callout 40"/>
          <p:cNvSpPr/>
          <p:nvPr/>
        </p:nvSpPr>
        <p:spPr>
          <a:xfrm>
            <a:off x="5867400" y="3025775"/>
            <a:ext cx="2254250" cy="750332"/>
          </a:xfrm>
          <a:prstGeom prst="wedgeRoundRectCallout">
            <a:avLst>
              <a:gd name="adj1" fmla="val -82336"/>
              <a:gd name="adj2" fmla="val 25776"/>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Variation  explained </a:t>
            </a:r>
            <a:r>
              <a:rPr lang="en-GB" b="1" dirty="0"/>
              <a:t>through Regression</a:t>
            </a:r>
          </a:p>
        </p:txBody>
      </p:sp>
      <p:sp>
        <p:nvSpPr>
          <p:cNvPr id="42" name="Rounded Rectangular Callout 41"/>
          <p:cNvSpPr/>
          <p:nvPr/>
        </p:nvSpPr>
        <p:spPr>
          <a:xfrm>
            <a:off x="1447800" y="1828800"/>
            <a:ext cx="1794975" cy="565149"/>
          </a:xfrm>
          <a:prstGeom prst="wedgeRoundRectCallout">
            <a:avLst>
              <a:gd name="adj1" fmla="val 64881"/>
              <a:gd name="adj2" fmla="val 46182"/>
              <a:gd name="adj3" fmla="val 1666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Total Variance</a:t>
            </a:r>
            <a:endParaRPr lang="en-GB" b="1" dirty="0"/>
          </a:p>
        </p:txBody>
      </p:sp>
    </p:spTree>
    <p:extLst>
      <p:ext uri="{BB962C8B-B14F-4D97-AF65-F5344CB8AC3E}">
        <p14:creationId xmlns:p14="http://schemas.microsoft.com/office/powerpoint/2010/main" val="166129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3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3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029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03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03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03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030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9" grpId="0" animBg="1"/>
      <p:bldP spid="140303" grpId="0" animBg="1"/>
      <p:bldP spid="140309" grpId="0" animBg="1"/>
      <p:bldP spid="140312" grpId="0" animBg="1"/>
      <p:bldP spid="140318" grpId="0"/>
      <p:bldP spid="140321" grpId="0" animBg="1"/>
      <p:bldP spid="140322" grpId="0"/>
      <p:bldP spid="3" grpId="0"/>
      <p:bldP spid="36" grpId="0"/>
      <p:bldP spid="39" grpId="0"/>
      <p:bldP spid="40" grpId="0" animBg="1"/>
      <p:bldP spid="41" grpId="0" animBg="1"/>
      <p:bldP spid="4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3" name="Line 5"/>
          <p:cNvSpPr>
            <a:spLocks noChangeShapeType="1"/>
          </p:cNvSpPr>
          <p:nvPr/>
        </p:nvSpPr>
        <p:spPr bwMode="auto">
          <a:xfrm flipH="1">
            <a:off x="719138" y="1536700"/>
            <a:ext cx="3200400" cy="0"/>
          </a:xfrm>
          <a:prstGeom prst="line">
            <a:avLst/>
          </a:prstGeom>
          <a:noFill/>
          <a:ln w="28575">
            <a:solidFill>
              <a:schemeClr val="bg1">
                <a:lumMod val="7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297" name="Line 9"/>
          <p:cNvSpPr>
            <a:spLocks noChangeShapeType="1"/>
          </p:cNvSpPr>
          <p:nvPr/>
        </p:nvSpPr>
        <p:spPr bwMode="auto">
          <a:xfrm>
            <a:off x="685800" y="1161317"/>
            <a:ext cx="0" cy="415925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endParaRPr lang="en-GB"/>
          </a:p>
        </p:txBody>
      </p:sp>
      <p:sp>
        <p:nvSpPr>
          <p:cNvPr id="140298" name="Line 10"/>
          <p:cNvSpPr>
            <a:spLocks noChangeShapeType="1"/>
          </p:cNvSpPr>
          <p:nvPr/>
        </p:nvSpPr>
        <p:spPr bwMode="auto">
          <a:xfrm>
            <a:off x="685800" y="5311775"/>
            <a:ext cx="7639050" cy="0"/>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anchor="ctr"/>
          <a:lstStyle/>
          <a:p>
            <a:endParaRPr lang="en-GB"/>
          </a:p>
        </p:txBody>
      </p:sp>
      <p:sp>
        <p:nvSpPr>
          <p:cNvPr id="140299" name="Line 11"/>
          <p:cNvSpPr>
            <a:spLocks noChangeShapeType="1"/>
          </p:cNvSpPr>
          <p:nvPr/>
        </p:nvSpPr>
        <p:spPr bwMode="auto">
          <a:xfrm flipV="1">
            <a:off x="684213" y="1746250"/>
            <a:ext cx="6794500" cy="2919413"/>
          </a:xfrm>
          <a:prstGeom prst="line">
            <a:avLst/>
          </a:prstGeom>
          <a:ln>
            <a:headEnd/>
            <a:tailEnd/>
          </a:ln>
        </p:spPr>
        <p:style>
          <a:lnRef idx="2">
            <a:schemeClr val="accent3"/>
          </a:lnRef>
          <a:fillRef idx="0">
            <a:schemeClr val="accent3"/>
          </a:fillRef>
          <a:effectRef idx="1">
            <a:schemeClr val="accent3"/>
          </a:effectRef>
          <a:fontRef idx="minor">
            <a:schemeClr val="tx1"/>
          </a:fontRef>
        </p:style>
        <p:txBody>
          <a:bodyPr wrap="none" anchor="ctr"/>
          <a:lstStyle/>
          <a:p>
            <a:endParaRPr lang="en-GB"/>
          </a:p>
        </p:txBody>
      </p:sp>
      <p:sp>
        <p:nvSpPr>
          <p:cNvPr id="140300" name="Oval 12"/>
          <p:cNvSpPr>
            <a:spLocks noChangeArrowheads="1"/>
          </p:cNvSpPr>
          <p:nvPr/>
        </p:nvSpPr>
        <p:spPr bwMode="auto">
          <a:xfrm>
            <a:off x="3876675" y="1452563"/>
            <a:ext cx="185738" cy="185737"/>
          </a:xfrm>
          <a:prstGeom prst="ellipse">
            <a:avLst/>
          </a:prstGeom>
          <a:solidFill>
            <a:schemeClr val="tx1">
              <a:lumMod val="50000"/>
              <a:lumOff val="50000"/>
            </a:schemeClr>
          </a:solidFill>
          <a:ln w="12700">
            <a:solidFill>
              <a:schemeClr val="bg1">
                <a:lumMod val="75000"/>
              </a:schemeClr>
            </a:solidFill>
            <a:round/>
            <a:headEnd/>
            <a:tailEnd/>
          </a:ln>
          <a:effectLst/>
        </p:spPr>
        <p:txBody>
          <a:bodyPr wrap="none" anchor="ctr"/>
          <a:lstStyle/>
          <a:p>
            <a:endParaRPr lang="en-GB"/>
          </a:p>
        </p:txBody>
      </p:sp>
      <p:sp>
        <p:nvSpPr>
          <p:cNvPr id="140301" name="Line 13"/>
          <p:cNvSpPr>
            <a:spLocks noChangeShapeType="1"/>
          </p:cNvSpPr>
          <p:nvPr/>
        </p:nvSpPr>
        <p:spPr bwMode="auto">
          <a:xfrm>
            <a:off x="3995738" y="1712913"/>
            <a:ext cx="0" cy="3598862"/>
          </a:xfrm>
          <a:prstGeom prst="line">
            <a:avLst/>
          </a:prstGeom>
          <a:noFill/>
          <a:ln w="28575" cap="rnd">
            <a:solidFill>
              <a:schemeClr val="bg1">
                <a:lumMod val="75000"/>
              </a:schemeClr>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303" name="Line 15"/>
          <p:cNvSpPr>
            <a:spLocks noChangeShapeType="1"/>
          </p:cNvSpPr>
          <p:nvPr/>
        </p:nvSpPr>
        <p:spPr bwMode="auto">
          <a:xfrm>
            <a:off x="684213" y="4051543"/>
            <a:ext cx="7437437" cy="0"/>
          </a:xfrm>
          <a:prstGeom prst="line">
            <a:avLst/>
          </a:prstGeom>
          <a:noFill/>
          <a:ln w="254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0305" name="Rectangle 17"/>
          <p:cNvSpPr>
            <a:spLocks noChangeArrowheads="1"/>
          </p:cNvSpPr>
          <p:nvPr/>
        </p:nvSpPr>
        <p:spPr bwMode="auto">
          <a:xfrm>
            <a:off x="8305800" y="5159375"/>
            <a:ext cx="4667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sz="2800" i="1">
                <a:latin typeface="Times New Roman" pitchFamily="18" charset="0"/>
              </a:rPr>
              <a:t>x</a:t>
            </a:r>
          </a:p>
        </p:txBody>
      </p:sp>
      <mc:AlternateContent xmlns:mc="http://schemas.openxmlformats.org/markup-compatibility/2006" xmlns:a14="http://schemas.microsoft.com/office/drawing/2010/main">
        <mc:Choice Requires="a14">
          <p:sp>
            <p:nvSpPr>
              <p:cNvPr id="140306" name="Rectangle 18"/>
              <p:cNvSpPr>
                <a:spLocks noChangeArrowheads="1"/>
              </p:cNvSpPr>
              <p:nvPr/>
            </p:nvSpPr>
            <p:spPr bwMode="auto">
              <a:xfrm>
                <a:off x="76200" y="1196975"/>
                <a:ext cx="771525" cy="520655"/>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spAutoFit/>
              </a:bodyPr>
              <a:lstStyle/>
              <a:p>
                <a:pPr>
                  <a:spcBef>
                    <a:spcPct val="50000"/>
                  </a:spcBef>
                </a:pPr>
                <a14:m>
                  <m:oMathPara xmlns:m="http://schemas.openxmlformats.org/officeDocument/2006/math">
                    <m:oMathParaPr>
                      <m:jc m:val="centerGroup"/>
                    </m:oMathParaPr>
                    <m:oMath xmlns:m="http://schemas.openxmlformats.org/officeDocument/2006/math">
                      <m:sSub>
                        <m:sSubPr>
                          <m:ctrlPr>
                            <a:rPr lang="en-US" altLang="en-US" sz="2800" i="1" smtClean="0">
                              <a:solidFill>
                                <a:schemeClr val="tx1">
                                  <a:lumMod val="50000"/>
                                  <a:lumOff val="50000"/>
                                </a:schemeClr>
                              </a:solidFill>
                              <a:latin typeface="Cambria Math" panose="02040503050406030204" pitchFamily="18" charset="0"/>
                            </a:rPr>
                          </m:ctrlPr>
                        </m:sSubPr>
                        <m:e>
                          <m:r>
                            <a:rPr lang="en-GB" altLang="en-US" sz="2800" b="0" i="1" smtClean="0">
                              <a:solidFill>
                                <a:schemeClr val="tx1">
                                  <a:lumMod val="50000"/>
                                  <a:lumOff val="50000"/>
                                </a:schemeClr>
                              </a:solidFill>
                              <a:latin typeface="Cambria Math"/>
                            </a:rPr>
                            <m:t>𝑦</m:t>
                          </m:r>
                        </m:e>
                        <m:sub>
                          <m:r>
                            <a:rPr lang="en-GB" altLang="en-US" sz="2800" b="0" i="1" smtClean="0">
                              <a:solidFill>
                                <a:schemeClr val="tx1">
                                  <a:lumMod val="50000"/>
                                  <a:lumOff val="50000"/>
                                </a:schemeClr>
                              </a:solidFill>
                              <a:latin typeface="Cambria Math"/>
                            </a:rPr>
                            <m:t>𝑖</m:t>
                          </m:r>
                        </m:sub>
                      </m:sSub>
                    </m:oMath>
                  </m:oMathPara>
                </a14:m>
                <a:endParaRPr lang="en-US" altLang="en-US" sz="2800" baseline="-25000" dirty="0">
                  <a:solidFill>
                    <a:schemeClr val="tx1">
                      <a:lumMod val="50000"/>
                      <a:lumOff val="50000"/>
                    </a:schemeClr>
                  </a:solidFill>
                  <a:latin typeface="Times New Roman" pitchFamily="18" charset="0"/>
                </a:endParaRPr>
              </a:p>
            </p:txBody>
          </p:sp>
        </mc:Choice>
        <mc:Fallback xmlns="">
          <p:sp>
            <p:nvSpPr>
              <p:cNvPr id="140306" name="Rectangle 18"/>
              <p:cNvSpPr>
                <a:spLocks noRot="1" noChangeAspect="1" noMove="1" noResize="1" noEditPoints="1" noAdjustHandles="1" noChangeArrowheads="1" noChangeShapeType="1" noTextEdit="1"/>
              </p:cNvSpPr>
              <p:nvPr/>
            </p:nvSpPr>
            <p:spPr bwMode="auto">
              <a:xfrm>
                <a:off x="76200" y="1196975"/>
                <a:ext cx="771525" cy="520655"/>
              </a:xfrm>
              <a:prstGeom prst="rect">
                <a:avLst/>
              </a:prstGeom>
              <a:blipFill rotWithShape="1">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140309" name="Freeform 21"/>
          <p:cNvSpPr>
            <a:spLocks/>
          </p:cNvSpPr>
          <p:nvPr/>
        </p:nvSpPr>
        <p:spPr bwMode="auto">
          <a:xfrm>
            <a:off x="4114800" y="1571625"/>
            <a:ext cx="228600" cy="1606550"/>
          </a:xfrm>
          <a:custGeom>
            <a:avLst/>
            <a:gdLst>
              <a:gd name="T0" fmla="*/ 0 w 196"/>
              <a:gd name="T1" fmla="*/ 0 h 1012"/>
              <a:gd name="T2" fmla="*/ 18 w 196"/>
              <a:gd name="T3" fmla="*/ 4 h 1012"/>
              <a:gd name="T4" fmla="*/ 41 w 196"/>
              <a:gd name="T5" fmla="*/ 8 h 1012"/>
              <a:gd name="T6" fmla="*/ 73 w 196"/>
              <a:gd name="T7" fmla="*/ 26 h 1012"/>
              <a:gd name="T8" fmla="*/ 91 w 196"/>
              <a:gd name="T9" fmla="*/ 52 h 1012"/>
              <a:gd name="T10" fmla="*/ 100 w 196"/>
              <a:gd name="T11" fmla="*/ 85 h 1012"/>
              <a:gd name="T12" fmla="*/ 100 w 196"/>
              <a:gd name="T13" fmla="*/ 421 h 1012"/>
              <a:gd name="T14" fmla="*/ 109 w 196"/>
              <a:gd name="T15" fmla="*/ 454 h 1012"/>
              <a:gd name="T16" fmla="*/ 127 w 196"/>
              <a:gd name="T17" fmla="*/ 480 h 1012"/>
              <a:gd name="T18" fmla="*/ 159 w 196"/>
              <a:gd name="T19" fmla="*/ 498 h 1012"/>
              <a:gd name="T20" fmla="*/ 195 w 196"/>
              <a:gd name="T21" fmla="*/ 506 h 1012"/>
              <a:gd name="T22" fmla="*/ 159 w 196"/>
              <a:gd name="T23" fmla="*/ 513 h 1012"/>
              <a:gd name="T24" fmla="*/ 127 w 196"/>
              <a:gd name="T25" fmla="*/ 532 h 1012"/>
              <a:gd name="T26" fmla="*/ 109 w 196"/>
              <a:gd name="T27" fmla="*/ 557 h 1012"/>
              <a:gd name="T28" fmla="*/ 100 w 196"/>
              <a:gd name="T29" fmla="*/ 591 h 1012"/>
              <a:gd name="T30" fmla="*/ 100 w 196"/>
              <a:gd name="T31" fmla="*/ 926 h 1012"/>
              <a:gd name="T32" fmla="*/ 91 w 196"/>
              <a:gd name="T33" fmla="*/ 959 h 1012"/>
              <a:gd name="T34" fmla="*/ 73 w 196"/>
              <a:gd name="T35" fmla="*/ 985 h 1012"/>
              <a:gd name="T36" fmla="*/ 41 w 196"/>
              <a:gd name="T37" fmla="*/ 1004 h 1012"/>
              <a:gd name="T38" fmla="*/ 18 w 196"/>
              <a:gd name="T39" fmla="*/ 1011 h 1012"/>
              <a:gd name="T40" fmla="*/ 0 w 196"/>
              <a:gd name="T41" fmla="*/ 1011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6" h="1012">
                <a:moveTo>
                  <a:pt x="0" y="0"/>
                </a:moveTo>
                <a:lnTo>
                  <a:pt x="18" y="4"/>
                </a:lnTo>
                <a:lnTo>
                  <a:pt x="41" y="8"/>
                </a:lnTo>
                <a:lnTo>
                  <a:pt x="73" y="26"/>
                </a:lnTo>
                <a:lnTo>
                  <a:pt x="91" y="52"/>
                </a:lnTo>
                <a:lnTo>
                  <a:pt x="100" y="85"/>
                </a:lnTo>
                <a:lnTo>
                  <a:pt x="100" y="421"/>
                </a:lnTo>
                <a:lnTo>
                  <a:pt x="109" y="454"/>
                </a:lnTo>
                <a:lnTo>
                  <a:pt x="127" y="480"/>
                </a:lnTo>
                <a:lnTo>
                  <a:pt x="159" y="498"/>
                </a:lnTo>
                <a:lnTo>
                  <a:pt x="195" y="506"/>
                </a:lnTo>
                <a:lnTo>
                  <a:pt x="159" y="513"/>
                </a:lnTo>
                <a:lnTo>
                  <a:pt x="127" y="532"/>
                </a:lnTo>
                <a:lnTo>
                  <a:pt x="109" y="557"/>
                </a:lnTo>
                <a:lnTo>
                  <a:pt x="100" y="591"/>
                </a:lnTo>
                <a:lnTo>
                  <a:pt x="100" y="926"/>
                </a:lnTo>
                <a:lnTo>
                  <a:pt x="91" y="959"/>
                </a:lnTo>
                <a:lnTo>
                  <a:pt x="73" y="985"/>
                </a:lnTo>
                <a:lnTo>
                  <a:pt x="41" y="1004"/>
                </a:lnTo>
                <a:lnTo>
                  <a:pt x="18" y="1011"/>
                </a:lnTo>
                <a:lnTo>
                  <a:pt x="0" y="1011"/>
                </a:lnTo>
              </a:path>
            </a:pathLst>
          </a:custGeom>
          <a:noFill/>
          <a:ln w="25400" cap="rnd"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accent2"/>
              </a:solidFill>
            </a:endParaRPr>
          </a:p>
        </p:txBody>
      </p:sp>
      <p:sp>
        <p:nvSpPr>
          <p:cNvPr id="140312" name="Freeform 24"/>
          <p:cNvSpPr>
            <a:spLocks/>
          </p:cNvSpPr>
          <p:nvPr/>
        </p:nvSpPr>
        <p:spPr bwMode="auto">
          <a:xfrm>
            <a:off x="4114800" y="3254375"/>
            <a:ext cx="228600" cy="765175"/>
          </a:xfrm>
          <a:custGeom>
            <a:avLst/>
            <a:gdLst>
              <a:gd name="T0" fmla="*/ 0 w 144"/>
              <a:gd name="T1" fmla="*/ 0 h 577"/>
              <a:gd name="T2" fmla="*/ 28 w 144"/>
              <a:gd name="T3" fmla="*/ 4 h 577"/>
              <a:gd name="T4" fmla="*/ 51 w 144"/>
              <a:gd name="T5" fmla="*/ 14 h 577"/>
              <a:gd name="T6" fmla="*/ 65 w 144"/>
              <a:gd name="T7" fmla="*/ 27 h 577"/>
              <a:gd name="T8" fmla="*/ 69 w 144"/>
              <a:gd name="T9" fmla="*/ 46 h 577"/>
              <a:gd name="T10" fmla="*/ 69 w 144"/>
              <a:gd name="T11" fmla="*/ 239 h 577"/>
              <a:gd name="T12" fmla="*/ 74 w 144"/>
              <a:gd name="T13" fmla="*/ 258 h 577"/>
              <a:gd name="T14" fmla="*/ 92 w 144"/>
              <a:gd name="T15" fmla="*/ 272 h 577"/>
              <a:gd name="T16" fmla="*/ 115 w 144"/>
              <a:gd name="T17" fmla="*/ 281 h 577"/>
              <a:gd name="T18" fmla="*/ 143 w 144"/>
              <a:gd name="T19" fmla="*/ 286 h 577"/>
              <a:gd name="T20" fmla="*/ 115 w 144"/>
              <a:gd name="T21" fmla="*/ 290 h 577"/>
              <a:gd name="T22" fmla="*/ 92 w 144"/>
              <a:gd name="T23" fmla="*/ 299 h 577"/>
              <a:gd name="T24" fmla="*/ 74 w 144"/>
              <a:gd name="T25" fmla="*/ 318 h 577"/>
              <a:gd name="T26" fmla="*/ 69 w 144"/>
              <a:gd name="T27" fmla="*/ 336 h 577"/>
              <a:gd name="T28" fmla="*/ 69 w 144"/>
              <a:gd name="T29" fmla="*/ 525 h 577"/>
              <a:gd name="T30" fmla="*/ 65 w 144"/>
              <a:gd name="T31" fmla="*/ 544 h 577"/>
              <a:gd name="T32" fmla="*/ 51 w 144"/>
              <a:gd name="T33" fmla="*/ 562 h 577"/>
              <a:gd name="T34" fmla="*/ 28 w 144"/>
              <a:gd name="T35" fmla="*/ 571 h 577"/>
              <a:gd name="T36" fmla="*/ 0 w 144"/>
              <a:gd name="T37" fmla="*/ 576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4" h="577">
                <a:moveTo>
                  <a:pt x="0" y="0"/>
                </a:moveTo>
                <a:lnTo>
                  <a:pt x="28" y="4"/>
                </a:lnTo>
                <a:lnTo>
                  <a:pt x="51" y="14"/>
                </a:lnTo>
                <a:lnTo>
                  <a:pt x="65" y="27"/>
                </a:lnTo>
                <a:lnTo>
                  <a:pt x="69" y="46"/>
                </a:lnTo>
                <a:lnTo>
                  <a:pt x="69" y="239"/>
                </a:lnTo>
                <a:lnTo>
                  <a:pt x="74" y="258"/>
                </a:lnTo>
                <a:lnTo>
                  <a:pt x="92" y="272"/>
                </a:lnTo>
                <a:lnTo>
                  <a:pt x="115" y="281"/>
                </a:lnTo>
                <a:lnTo>
                  <a:pt x="143" y="286"/>
                </a:lnTo>
                <a:lnTo>
                  <a:pt x="115" y="290"/>
                </a:lnTo>
                <a:lnTo>
                  <a:pt x="92" y="299"/>
                </a:lnTo>
                <a:lnTo>
                  <a:pt x="74" y="318"/>
                </a:lnTo>
                <a:lnTo>
                  <a:pt x="69" y="336"/>
                </a:lnTo>
                <a:lnTo>
                  <a:pt x="69" y="525"/>
                </a:lnTo>
                <a:lnTo>
                  <a:pt x="65" y="544"/>
                </a:lnTo>
                <a:lnTo>
                  <a:pt x="51" y="562"/>
                </a:lnTo>
                <a:lnTo>
                  <a:pt x="28" y="571"/>
                </a:lnTo>
                <a:lnTo>
                  <a:pt x="0" y="576"/>
                </a:lnTo>
              </a:path>
            </a:pathLst>
          </a:custGeom>
          <a:noFill/>
          <a:ln w="25400" cap="rnd" cmpd="sng">
            <a:solidFill>
              <a:schemeClr val="accent3">
                <a:lumMod val="7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mc:AlternateContent xmlns:mc="http://schemas.openxmlformats.org/markup-compatibility/2006" xmlns:a14="http://schemas.microsoft.com/office/drawing/2010/main">
        <mc:Choice Requires="a14">
          <p:sp>
            <p:nvSpPr>
              <p:cNvPr id="140318" name="Rectangle 30"/>
              <p:cNvSpPr>
                <a:spLocks noChangeArrowheads="1"/>
              </p:cNvSpPr>
              <p:nvPr/>
            </p:nvSpPr>
            <p:spPr bwMode="auto">
              <a:xfrm>
                <a:off x="181682" y="2873375"/>
                <a:ext cx="637162" cy="584775"/>
              </a:xfrm>
              <a:prstGeom prst="rect">
                <a:avLst/>
              </a:prstGeom>
              <a:noFill/>
              <a:ln>
                <a:noFill/>
              </a:ln>
              <a:effectLst/>
              <a:extLst>
                <a:ext uri="{909E8E84-426E-40DD-AFC4-6F175D3DCCD1}">
                  <a14:hiddenFill>
                    <a:solidFill>
                      <a:srgbClr val="CCFFFF"/>
                    </a:solidFill>
                  </a14:hiddenFill>
                </a:ext>
                <a:ext uri="{91240B29-F687-4F45-9708-019B960494DF}">
                  <a14:hiddenLine w="19050"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sz="3200" i="1" smtClean="0">
                              <a:solidFill>
                                <a:schemeClr val="accent3"/>
                              </a:solidFill>
                              <a:latin typeface="Cambria Math" panose="02040503050406030204" pitchFamily="18" charset="0"/>
                            </a:rPr>
                          </m:ctrlPr>
                        </m:sSubPr>
                        <m:e>
                          <m:acc>
                            <m:accPr>
                              <m:chr m:val="̂"/>
                              <m:ctrlPr>
                                <a:rPr lang="en-US" altLang="en-US" sz="3200" i="1">
                                  <a:solidFill>
                                    <a:schemeClr val="accent3"/>
                                  </a:solidFill>
                                  <a:latin typeface="Cambria Math" panose="02040503050406030204" pitchFamily="18" charset="0"/>
                                </a:rPr>
                              </m:ctrlPr>
                            </m:accPr>
                            <m:e>
                              <m:r>
                                <a:rPr lang="en-GB" altLang="en-US" sz="3200" b="0" i="1" smtClean="0">
                                  <a:solidFill>
                                    <a:schemeClr val="accent3"/>
                                  </a:solidFill>
                                  <a:latin typeface="Cambria Math"/>
                                </a:rPr>
                                <m:t>𝑦</m:t>
                              </m:r>
                            </m:e>
                          </m:acc>
                        </m:e>
                        <m:sub>
                          <m:r>
                            <a:rPr lang="en-GB" altLang="en-US" sz="3200" i="1">
                              <a:solidFill>
                                <a:schemeClr val="accent3"/>
                              </a:solidFill>
                              <a:latin typeface="Cambria Math"/>
                            </a:rPr>
                            <m:t>𝑖</m:t>
                          </m:r>
                        </m:sub>
                      </m:sSub>
                    </m:oMath>
                  </m:oMathPara>
                </a14:m>
                <a:endParaRPr lang="en-US" altLang="en-US" sz="3200" dirty="0">
                  <a:solidFill>
                    <a:schemeClr val="accent3"/>
                  </a:solidFill>
                  <a:latin typeface="Times New Roman" pitchFamily="18" charset="0"/>
                </a:endParaRPr>
              </a:p>
            </p:txBody>
          </p:sp>
        </mc:Choice>
        <mc:Fallback xmlns="">
          <p:sp>
            <p:nvSpPr>
              <p:cNvPr id="140318" name="Rectangle 30"/>
              <p:cNvSpPr>
                <a:spLocks noRot="1" noChangeAspect="1" noMove="1" noResize="1" noEditPoints="1" noAdjustHandles="1" noChangeArrowheads="1" noChangeShapeType="1" noTextEdit="1"/>
              </p:cNvSpPr>
              <p:nvPr/>
            </p:nvSpPr>
            <p:spPr bwMode="auto">
              <a:xfrm>
                <a:off x="181682" y="2873375"/>
                <a:ext cx="637162" cy="584775"/>
              </a:xfrm>
              <a:prstGeom prst="rect">
                <a:avLst/>
              </a:prstGeom>
              <a:blipFill rotWithShape="1">
                <a:blip r:embed="rId4"/>
                <a:stretch>
                  <a:fillRect/>
                </a:stretch>
              </a:blip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140320" name="Rectangle 32"/>
          <p:cNvSpPr>
            <a:spLocks noChangeArrowheads="1"/>
          </p:cNvSpPr>
          <p:nvPr/>
        </p:nvSpPr>
        <p:spPr bwMode="auto">
          <a:xfrm>
            <a:off x="522288" y="609600"/>
            <a:ext cx="46672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en-US" sz="2800">
                <a:latin typeface="Times New Roman" pitchFamily="18" charset="0"/>
              </a:rPr>
              <a:t>y</a:t>
            </a:r>
          </a:p>
        </p:txBody>
      </p:sp>
      <p:sp>
        <p:nvSpPr>
          <p:cNvPr id="140321" name="Line 33"/>
          <p:cNvSpPr>
            <a:spLocks noChangeShapeType="1"/>
          </p:cNvSpPr>
          <p:nvPr/>
        </p:nvSpPr>
        <p:spPr bwMode="auto">
          <a:xfrm flipH="1">
            <a:off x="685800" y="3254375"/>
            <a:ext cx="3276600"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mc:AlternateContent xmlns:mc="http://schemas.openxmlformats.org/markup-compatibility/2006" xmlns:a14="http://schemas.microsoft.com/office/drawing/2010/main">
        <mc:Choice Requires="a14">
          <p:sp>
            <p:nvSpPr>
              <p:cNvPr id="140322" name="Rectangle 34"/>
              <p:cNvSpPr>
                <a:spLocks noChangeArrowheads="1"/>
              </p:cNvSpPr>
              <p:nvPr/>
            </p:nvSpPr>
            <p:spPr bwMode="auto">
              <a:xfrm>
                <a:off x="228600" y="3711575"/>
                <a:ext cx="457200" cy="582211"/>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spAutoFit/>
              </a:bodyPr>
              <a:lstStyle/>
              <a:p>
                <a:pPr>
                  <a:spcBef>
                    <a:spcPct val="50000"/>
                  </a:spcBef>
                </a:pPr>
                <a14:m>
                  <m:oMathPara xmlns:m="http://schemas.openxmlformats.org/officeDocument/2006/math">
                    <m:oMathParaPr>
                      <m:jc m:val="centerGroup"/>
                    </m:oMathParaPr>
                    <m:oMath xmlns:m="http://schemas.openxmlformats.org/officeDocument/2006/math">
                      <m:acc>
                        <m:accPr>
                          <m:chr m:val="̅"/>
                          <m:ctrlPr>
                            <a:rPr lang="en-US" altLang="en-US" sz="3200" i="1" smtClean="0">
                              <a:solidFill>
                                <a:srgbClr val="0070C0"/>
                              </a:solidFill>
                              <a:latin typeface="Cambria Math" panose="02040503050406030204" pitchFamily="18" charset="0"/>
                            </a:rPr>
                          </m:ctrlPr>
                        </m:accPr>
                        <m:e>
                          <m:r>
                            <a:rPr lang="en-GB" altLang="en-US" sz="3200" b="0" i="1" smtClean="0">
                              <a:solidFill>
                                <a:srgbClr val="0070C0"/>
                              </a:solidFill>
                              <a:latin typeface="Cambria Math"/>
                            </a:rPr>
                            <m:t>𝑦</m:t>
                          </m:r>
                        </m:e>
                      </m:acc>
                    </m:oMath>
                  </m:oMathPara>
                </a14:m>
                <a:endParaRPr lang="en-US" altLang="en-US" sz="3200" dirty="0">
                  <a:solidFill>
                    <a:srgbClr val="0070C0"/>
                  </a:solidFill>
                  <a:latin typeface="Times New Roman" pitchFamily="18" charset="0"/>
                </a:endParaRPr>
              </a:p>
            </p:txBody>
          </p:sp>
        </mc:Choice>
        <mc:Fallback xmlns="">
          <p:sp>
            <p:nvSpPr>
              <p:cNvPr id="140322" name="Rectangle 34"/>
              <p:cNvSpPr>
                <a:spLocks noRot="1" noChangeAspect="1" noMove="1" noResize="1" noEditPoints="1" noAdjustHandles="1" noChangeArrowheads="1" noChangeShapeType="1" noTextEdit="1"/>
              </p:cNvSpPr>
              <p:nvPr/>
            </p:nvSpPr>
            <p:spPr bwMode="auto">
              <a:xfrm>
                <a:off x="228600" y="3711575"/>
                <a:ext cx="457200" cy="582211"/>
              </a:xfrm>
              <a:prstGeom prst="rect">
                <a:avLst/>
              </a:prstGeom>
              <a:blipFill rotWithShape="1">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sp>
        <p:nvSpPr>
          <p:cNvPr id="2" name="Title 1"/>
          <p:cNvSpPr>
            <a:spLocks noGrp="1"/>
          </p:cNvSpPr>
          <p:nvPr>
            <p:ph type="title"/>
          </p:nvPr>
        </p:nvSpPr>
        <p:spPr/>
        <p:txBody>
          <a:bodyPr/>
          <a:lstStyle/>
          <a:p>
            <a:r>
              <a:rPr lang="en-GB" dirty="0"/>
              <a:t>Linear Regression</a:t>
            </a:r>
          </a:p>
        </p:txBody>
      </p:sp>
      <mc:AlternateContent xmlns:mc="http://schemas.openxmlformats.org/markup-compatibility/2006" xmlns:a14="http://schemas.microsoft.com/office/drawing/2010/main">
        <mc:Choice Requires="a14">
          <p:sp>
            <p:nvSpPr>
              <p:cNvPr id="3" name="Rectangle 2"/>
              <p:cNvSpPr/>
              <p:nvPr/>
            </p:nvSpPr>
            <p:spPr>
              <a:xfrm>
                <a:off x="4332200" y="3406775"/>
                <a:ext cx="84940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solidFill>
                                <a:schemeClr val="accent3">
                                  <a:lumMod val="75000"/>
                                </a:schemeClr>
                              </a:solidFill>
                              <a:latin typeface="Cambria Math" panose="02040503050406030204" pitchFamily="18" charset="0"/>
                            </a:rPr>
                          </m:ctrlPr>
                        </m:sSubPr>
                        <m:e>
                          <m:acc>
                            <m:accPr>
                              <m:chr m:val="̂"/>
                              <m:ctrlPr>
                                <a:rPr lang="en-US" altLang="en-US" i="1">
                                  <a:solidFill>
                                    <a:schemeClr val="accent3">
                                      <a:lumMod val="75000"/>
                                    </a:schemeClr>
                                  </a:solidFill>
                                  <a:latin typeface="Cambria Math" panose="02040503050406030204" pitchFamily="18" charset="0"/>
                                </a:rPr>
                              </m:ctrlPr>
                            </m:accPr>
                            <m:e>
                              <m:r>
                                <a:rPr lang="en-GB" altLang="en-US" i="1">
                                  <a:solidFill>
                                    <a:schemeClr val="accent3">
                                      <a:lumMod val="75000"/>
                                    </a:schemeClr>
                                  </a:solidFill>
                                  <a:latin typeface="Cambria Math"/>
                                </a:rPr>
                                <m:t>𝑦</m:t>
                              </m:r>
                            </m:e>
                          </m:acc>
                        </m:e>
                        <m:sub>
                          <m:r>
                            <a:rPr lang="en-GB" altLang="en-US" i="1">
                              <a:solidFill>
                                <a:schemeClr val="accent3">
                                  <a:lumMod val="75000"/>
                                </a:schemeClr>
                              </a:solidFill>
                              <a:latin typeface="Cambria Math"/>
                            </a:rPr>
                            <m:t>𝑖</m:t>
                          </m:r>
                        </m:sub>
                      </m:sSub>
                      <m:r>
                        <a:rPr lang="en-GB" altLang="en-US" b="0" i="1" smtClean="0">
                          <a:solidFill>
                            <a:schemeClr val="accent3">
                              <a:lumMod val="75000"/>
                            </a:schemeClr>
                          </a:solidFill>
                          <a:latin typeface="Cambria Math"/>
                        </a:rPr>
                        <m:t>−</m:t>
                      </m:r>
                      <m:acc>
                        <m:accPr>
                          <m:chr m:val="̅"/>
                          <m:ctrlPr>
                            <a:rPr lang="en-US" altLang="en-US" i="1">
                              <a:solidFill>
                                <a:schemeClr val="accent3">
                                  <a:lumMod val="75000"/>
                                </a:schemeClr>
                              </a:solidFill>
                              <a:latin typeface="Cambria Math" panose="02040503050406030204" pitchFamily="18" charset="0"/>
                            </a:rPr>
                          </m:ctrlPr>
                        </m:accPr>
                        <m:e>
                          <m:r>
                            <a:rPr lang="en-GB" altLang="en-US" i="1">
                              <a:solidFill>
                                <a:schemeClr val="accent3">
                                  <a:lumMod val="75000"/>
                                </a:schemeClr>
                              </a:solidFill>
                              <a:latin typeface="Cambria Math"/>
                            </a:rPr>
                            <m:t>𝑦</m:t>
                          </m:r>
                        </m:e>
                      </m:acc>
                    </m:oMath>
                  </m:oMathPara>
                </a14:m>
                <a:endParaRPr lang="en-US" altLang="en-US" dirty="0">
                  <a:solidFill>
                    <a:schemeClr val="accent3">
                      <a:lumMod val="75000"/>
                    </a:schemeClr>
                  </a:solidFill>
                  <a:latin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4332200" y="3406775"/>
                <a:ext cx="849400" cy="369332"/>
              </a:xfrm>
              <a:prstGeom prst="rect">
                <a:avLst/>
              </a:prstGeom>
              <a:blipFill rotWithShape="1">
                <a:blip r:embed="rId6"/>
                <a:stretch>
                  <a:fillRect t="-5000" r="-22302" b="-833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4344730" y="2123043"/>
                <a:ext cx="91307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solidFill>
                                <a:srgbClr val="C00000"/>
                              </a:solidFill>
                              <a:latin typeface="Cambria Math" panose="02040503050406030204" pitchFamily="18" charset="0"/>
                            </a:rPr>
                          </m:ctrlPr>
                        </m:sSubPr>
                        <m:e>
                          <m:r>
                            <a:rPr lang="en-GB" altLang="en-US" i="1">
                              <a:solidFill>
                                <a:srgbClr val="C00000"/>
                              </a:solidFill>
                              <a:latin typeface="Cambria Math"/>
                            </a:rPr>
                            <m:t>𝑦</m:t>
                          </m:r>
                        </m:e>
                        <m:sub>
                          <m:r>
                            <a:rPr lang="en-GB" altLang="en-US" i="1">
                              <a:solidFill>
                                <a:srgbClr val="C00000"/>
                              </a:solidFill>
                              <a:latin typeface="Cambria Math"/>
                            </a:rPr>
                            <m:t>𝑖</m:t>
                          </m:r>
                        </m:sub>
                      </m:sSub>
                      <m:r>
                        <a:rPr lang="en-GB" altLang="en-US" b="0" i="1" smtClean="0">
                          <a:solidFill>
                            <a:srgbClr val="C00000"/>
                          </a:solidFill>
                          <a:latin typeface="Cambria Math"/>
                        </a:rPr>
                        <m:t>−</m:t>
                      </m:r>
                      <m:sSub>
                        <m:sSubPr>
                          <m:ctrlPr>
                            <a:rPr lang="en-US" altLang="en-US" i="1" smtClean="0">
                              <a:solidFill>
                                <a:srgbClr val="C00000"/>
                              </a:solidFill>
                              <a:latin typeface="Cambria Math" panose="02040503050406030204" pitchFamily="18" charset="0"/>
                            </a:rPr>
                          </m:ctrlPr>
                        </m:sSubPr>
                        <m:e>
                          <m:acc>
                            <m:accPr>
                              <m:chr m:val="̂"/>
                              <m:ctrlPr>
                                <a:rPr lang="en-US" altLang="en-US" i="1">
                                  <a:solidFill>
                                    <a:srgbClr val="C00000"/>
                                  </a:solidFill>
                                  <a:latin typeface="Cambria Math" panose="02040503050406030204" pitchFamily="18" charset="0"/>
                                </a:rPr>
                              </m:ctrlPr>
                            </m:accPr>
                            <m:e>
                              <m:r>
                                <a:rPr lang="en-GB" altLang="en-US" i="1">
                                  <a:solidFill>
                                    <a:srgbClr val="C00000"/>
                                  </a:solidFill>
                                  <a:latin typeface="Cambria Math"/>
                                </a:rPr>
                                <m:t>𝑦</m:t>
                              </m:r>
                            </m:e>
                          </m:acc>
                        </m:e>
                        <m:sub>
                          <m:r>
                            <a:rPr lang="en-GB" altLang="en-US" i="1">
                              <a:solidFill>
                                <a:srgbClr val="C00000"/>
                              </a:solidFill>
                              <a:latin typeface="Cambria Math"/>
                            </a:rPr>
                            <m:t>𝑖</m:t>
                          </m:r>
                        </m:sub>
                      </m:sSub>
                    </m:oMath>
                  </m:oMathPara>
                </a14:m>
                <a:endParaRPr lang="en-US" altLang="en-US" dirty="0">
                  <a:solidFill>
                    <a:srgbClr val="C00000"/>
                  </a:solidFill>
                  <a:latin typeface="Times New Roman" pitchFamily="18" charset="0"/>
                </a:endParaRPr>
              </a:p>
            </p:txBody>
          </p:sp>
        </mc:Choice>
        <mc:Fallback xmlns="">
          <p:sp>
            <p:nvSpPr>
              <p:cNvPr id="36" name="Rectangle 35"/>
              <p:cNvSpPr>
                <a:spLocks noRot="1" noChangeAspect="1" noMove="1" noResize="1" noEditPoints="1" noAdjustHandles="1" noChangeArrowheads="1" noChangeShapeType="1" noTextEdit="1"/>
              </p:cNvSpPr>
              <p:nvPr/>
            </p:nvSpPr>
            <p:spPr>
              <a:xfrm>
                <a:off x="4344730" y="2123043"/>
                <a:ext cx="913070" cy="369332"/>
              </a:xfrm>
              <a:prstGeom prst="rect">
                <a:avLst/>
              </a:prstGeom>
              <a:blipFill rotWithShape="1">
                <a:blip r:embed="rId7"/>
                <a:stretch>
                  <a:fillRect t="-4918" r="-18000" b="-6557"/>
                </a:stretch>
              </a:blipFill>
            </p:spPr>
            <p:txBody>
              <a:bodyPr/>
              <a:lstStyle/>
              <a:p>
                <a:r>
                  <a:rPr lang="en-GB">
                    <a:noFill/>
                  </a:rPr>
                  <a:t> </a:t>
                </a:r>
              </a:p>
            </p:txBody>
          </p:sp>
        </mc:Fallback>
      </mc:AlternateContent>
      <p:cxnSp>
        <p:nvCxnSpPr>
          <p:cNvPr id="5" name="Straight Arrow Connector 4"/>
          <p:cNvCxnSpPr/>
          <p:nvPr/>
        </p:nvCxnSpPr>
        <p:spPr>
          <a:xfrm>
            <a:off x="3581400" y="1571625"/>
            <a:ext cx="0" cy="247991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Rectangle 38"/>
              <p:cNvSpPr/>
              <p:nvPr/>
            </p:nvSpPr>
            <p:spPr>
              <a:xfrm>
                <a:off x="2808200" y="2427843"/>
                <a:ext cx="849400"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en-US" i="1" smtClean="0">
                              <a:latin typeface="Cambria Math" panose="02040503050406030204" pitchFamily="18" charset="0"/>
                            </a:rPr>
                          </m:ctrlPr>
                        </m:sSubPr>
                        <m:e>
                          <m:r>
                            <a:rPr lang="en-GB" altLang="en-US" i="1">
                              <a:latin typeface="Cambria Math"/>
                            </a:rPr>
                            <m:t>𝑦</m:t>
                          </m:r>
                        </m:e>
                        <m:sub>
                          <m:r>
                            <a:rPr lang="en-GB" altLang="en-US" i="1">
                              <a:latin typeface="Cambria Math"/>
                            </a:rPr>
                            <m:t>𝑖</m:t>
                          </m:r>
                        </m:sub>
                      </m:sSub>
                      <m:r>
                        <a:rPr lang="en-GB" altLang="en-US" b="0" i="1" smtClean="0">
                          <a:latin typeface="Cambria Math"/>
                        </a:rPr>
                        <m:t>−</m:t>
                      </m:r>
                      <m:acc>
                        <m:accPr>
                          <m:chr m:val="̅"/>
                          <m:ctrlPr>
                            <a:rPr lang="en-US" altLang="en-US" i="1">
                              <a:latin typeface="Cambria Math" panose="02040503050406030204" pitchFamily="18" charset="0"/>
                            </a:rPr>
                          </m:ctrlPr>
                        </m:accPr>
                        <m:e>
                          <m:r>
                            <a:rPr lang="en-GB" altLang="en-US" i="1">
                              <a:latin typeface="Cambria Math"/>
                            </a:rPr>
                            <m:t>𝑦</m:t>
                          </m:r>
                        </m:e>
                      </m:acc>
                    </m:oMath>
                  </m:oMathPara>
                </a14:m>
                <a:endParaRPr lang="en-US" altLang="en-US" dirty="0">
                  <a:solidFill>
                    <a:schemeClr val="tx1"/>
                  </a:solidFill>
                  <a:latin typeface="Times New Roman" pitchFamily="18" charset="0"/>
                </a:endParaRPr>
              </a:p>
            </p:txBody>
          </p:sp>
        </mc:Choice>
        <mc:Fallback xmlns="">
          <p:sp>
            <p:nvSpPr>
              <p:cNvPr id="39" name="Rectangle 38"/>
              <p:cNvSpPr>
                <a:spLocks noRot="1" noChangeAspect="1" noMove="1" noResize="1" noEditPoints="1" noAdjustHandles="1" noChangeArrowheads="1" noChangeShapeType="1" noTextEdit="1"/>
              </p:cNvSpPr>
              <p:nvPr/>
            </p:nvSpPr>
            <p:spPr>
              <a:xfrm>
                <a:off x="2808200" y="2427843"/>
                <a:ext cx="849400" cy="369332"/>
              </a:xfrm>
              <a:prstGeom prst="rect">
                <a:avLst/>
              </a:prstGeom>
              <a:blipFill rotWithShape="1">
                <a:blip r:embed="rId8"/>
                <a:stretch>
                  <a:fillRect r="-22302" b="-6557"/>
                </a:stretch>
              </a:blipFill>
            </p:spPr>
            <p:txBody>
              <a:bodyPr/>
              <a:lstStyle/>
              <a:p>
                <a:r>
                  <a:rPr lang="en-GB">
                    <a:noFill/>
                  </a:rPr>
                  <a:t> </a:t>
                </a:r>
              </a:p>
            </p:txBody>
          </p:sp>
        </mc:Fallback>
      </mc:AlternateContent>
      <p:sp>
        <p:nvSpPr>
          <p:cNvPr id="40" name="Rounded Rectangular Callout 39"/>
          <p:cNvSpPr/>
          <p:nvPr/>
        </p:nvSpPr>
        <p:spPr>
          <a:xfrm>
            <a:off x="5029200" y="929298"/>
            <a:ext cx="2286000" cy="647700"/>
          </a:xfrm>
          <a:prstGeom prst="wedgeRoundRectCallout">
            <a:avLst>
              <a:gd name="adj1" fmla="val -56276"/>
              <a:gd name="adj2" fmla="val 130374"/>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b="1" dirty="0"/>
              <a:t>ESS – Errors sum of squares</a:t>
            </a:r>
          </a:p>
        </p:txBody>
      </p:sp>
      <p:sp>
        <p:nvSpPr>
          <p:cNvPr id="41" name="Rounded Rectangular Callout 40"/>
          <p:cNvSpPr/>
          <p:nvPr/>
        </p:nvSpPr>
        <p:spPr>
          <a:xfrm>
            <a:off x="5867400" y="3025775"/>
            <a:ext cx="2254250" cy="750332"/>
          </a:xfrm>
          <a:prstGeom prst="wedgeRoundRectCallout">
            <a:avLst>
              <a:gd name="adj1" fmla="val -82336"/>
              <a:gd name="adj2" fmla="val 25776"/>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b="1" dirty="0"/>
              <a:t>RSS - Regression sum of squares</a:t>
            </a:r>
          </a:p>
        </p:txBody>
      </p:sp>
      <p:sp>
        <p:nvSpPr>
          <p:cNvPr id="42" name="Rounded Rectangular Callout 41"/>
          <p:cNvSpPr/>
          <p:nvPr/>
        </p:nvSpPr>
        <p:spPr>
          <a:xfrm>
            <a:off x="1447800" y="1828800"/>
            <a:ext cx="1794975" cy="565149"/>
          </a:xfrm>
          <a:prstGeom prst="wedgeRoundRectCallout">
            <a:avLst>
              <a:gd name="adj1" fmla="val 64881"/>
              <a:gd name="adj2" fmla="val 46182"/>
              <a:gd name="adj3" fmla="val 16667"/>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dirty="0"/>
              <a:t>TSS - Total sum of Squares</a:t>
            </a:r>
            <a:endParaRPr lang="en-GB" b="1" dirty="0"/>
          </a:p>
        </p:txBody>
      </p:sp>
      <mc:AlternateContent xmlns:mc="http://schemas.openxmlformats.org/markup-compatibility/2006" xmlns:a14="http://schemas.microsoft.com/office/drawing/2010/main">
        <mc:Choice Requires="a14">
          <p:sp>
            <p:nvSpPr>
              <p:cNvPr id="43" name="Flowchart: Document 42"/>
              <p:cNvSpPr/>
              <p:nvPr/>
            </p:nvSpPr>
            <p:spPr>
              <a:xfrm>
                <a:off x="6557928" y="3708644"/>
                <a:ext cx="1703387" cy="838200"/>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GB" i="1" smtClean="0">
                              <a:solidFill>
                                <a:schemeClr val="tx1"/>
                              </a:solidFill>
                              <a:latin typeface="Cambria Math" panose="02040503050406030204" pitchFamily="18" charset="0"/>
                            </a:rPr>
                          </m:ctrlPr>
                        </m:naryPr>
                        <m:sub>
                          <m:r>
                            <m:rPr>
                              <m:brk m:alnAt="7"/>
                            </m:rPr>
                            <a:rPr lang="en-GB" b="0" i="1" smtClean="0">
                              <a:solidFill>
                                <a:schemeClr val="tx1"/>
                              </a:solidFill>
                              <a:latin typeface="Cambria Math"/>
                            </a:rPr>
                            <m:t>𝑖</m:t>
                          </m:r>
                        </m:sub>
                        <m:sup/>
                        <m:e>
                          <m:sSup>
                            <m:sSupPr>
                              <m:ctrlPr>
                                <a:rPr lang="en-GB" i="1" smtClean="0">
                                  <a:solidFill>
                                    <a:schemeClr val="tx1"/>
                                  </a:solidFill>
                                  <a:latin typeface="Cambria Math" panose="02040503050406030204" pitchFamily="18" charset="0"/>
                                </a:rPr>
                              </m:ctrlPr>
                            </m:sSupPr>
                            <m:e>
                              <m:d>
                                <m:dPr>
                                  <m:ctrlPr>
                                    <a:rPr lang="en-GB" i="1" smtClean="0">
                                      <a:solidFill>
                                        <a:schemeClr val="tx1"/>
                                      </a:solidFill>
                                      <a:latin typeface="Cambria Math" panose="02040503050406030204" pitchFamily="18" charset="0"/>
                                    </a:rPr>
                                  </m:ctrlPr>
                                </m:dPr>
                                <m:e>
                                  <m:sSub>
                                    <m:sSubPr>
                                      <m:ctrlPr>
                                        <a:rPr lang="en-US" altLang="en-US" i="1">
                                          <a:solidFill>
                                            <a:schemeClr val="tx1"/>
                                          </a:solidFill>
                                          <a:latin typeface="Cambria Math" panose="02040503050406030204" pitchFamily="18" charset="0"/>
                                        </a:rPr>
                                      </m:ctrlPr>
                                    </m:sSubPr>
                                    <m:e>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e>
                                    <m:sub>
                                      <m:r>
                                        <a:rPr lang="en-GB" altLang="en-US" i="1">
                                          <a:solidFill>
                                            <a:schemeClr val="tx1"/>
                                          </a:solidFill>
                                          <a:latin typeface="Cambria Math"/>
                                        </a:rPr>
                                        <m:t>𝑖</m:t>
                                      </m:r>
                                    </m:sub>
                                  </m:sSub>
                                  <m:r>
                                    <a:rPr lang="en-GB" altLang="en-US" i="1">
                                      <a:solidFill>
                                        <a:schemeClr val="tx1"/>
                                      </a:solidFill>
                                      <a:latin typeface="Cambria Math"/>
                                    </a:rPr>
                                    <m:t>−</m:t>
                                  </m:r>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r>
                                    <m:rPr>
                                      <m:nor/>
                                    </m:rPr>
                                    <a:rPr lang="en-US" altLang="en-US" dirty="0">
                                      <a:solidFill>
                                        <a:schemeClr val="tx1"/>
                                      </a:solidFill>
                                      <a:latin typeface="Times New Roman" pitchFamily="18" charset="0"/>
                                    </a:rPr>
                                    <m:t> </m:t>
                                  </m:r>
                                </m:e>
                              </m:d>
                            </m:e>
                            <m:sup>
                              <m:r>
                                <a:rPr lang="en-GB" b="0" i="1" smtClean="0">
                                  <a:solidFill>
                                    <a:schemeClr val="tx1"/>
                                  </a:solidFill>
                                  <a:latin typeface="Cambria Math"/>
                                </a:rPr>
                                <m:t>2</m:t>
                              </m:r>
                            </m:sup>
                          </m:sSup>
                        </m:e>
                      </m:nary>
                    </m:oMath>
                  </m:oMathPara>
                </a14:m>
                <a:endParaRPr lang="en-GB" dirty="0">
                  <a:solidFill>
                    <a:schemeClr val="tx1"/>
                  </a:solidFill>
                </a:endParaRPr>
              </a:p>
            </p:txBody>
          </p:sp>
        </mc:Choice>
        <mc:Fallback xmlns="">
          <p:sp>
            <p:nvSpPr>
              <p:cNvPr id="43" name="Flowchart: Document 42"/>
              <p:cNvSpPr>
                <a:spLocks noRot="1" noChangeAspect="1" noMove="1" noResize="1" noEditPoints="1" noAdjustHandles="1" noChangeArrowheads="1" noChangeShapeType="1" noTextEdit="1"/>
              </p:cNvSpPr>
              <p:nvPr/>
            </p:nvSpPr>
            <p:spPr>
              <a:xfrm>
                <a:off x="6557928" y="3708644"/>
                <a:ext cx="1703387" cy="838200"/>
              </a:xfrm>
              <a:prstGeom prst="flowChartDocument">
                <a:avLst/>
              </a:prstGeom>
              <a:blipFill rotWithShape="1">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Flowchart: Document 25"/>
              <p:cNvSpPr/>
              <p:nvPr/>
            </p:nvSpPr>
            <p:spPr>
              <a:xfrm>
                <a:off x="5784815" y="1565762"/>
                <a:ext cx="1703387" cy="838200"/>
              </a:xfrm>
              <a:prstGeom prst="flowChartDocumen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GB" i="1" smtClean="0">
                              <a:solidFill>
                                <a:schemeClr val="tx1"/>
                              </a:solidFill>
                              <a:latin typeface="Cambria Math" panose="02040503050406030204" pitchFamily="18" charset="0"/>
                            </a:rPr>
                          </m:ctrlPr>
                        </m:naryPr>
                        <m:sub>
                          <m:r>
                            <m:rPr>
                              <m:brk m:alnAt="7"/>
                            </m:rPr>
                            <a:rPr lang="en-GB" b="0" i="1" smtClean="0">
                              <a:solidFill>
                                <a:schemeClr val="tx1"/>
                              </a:solidFill>
                              <a:latin typeface="Cambria Math"/>
                            </a:rPr>
                            <m:t>𝑖</m:t>
                          </m:r>
                        </m:sub>
                        <m:sup/>
                        <m:e>
                          <m:sSup>
                            <m:sSupPr>
                              <m:ctrlPr>
                                <a:rPr lang="en-GB" i="1" smtClean="0">
                                  <a:solidFill>
                                    <a:schemeClr val="tx1"/>
                                  </a:solidFill>
                                  <a:latin typeface="Cambria Math" panose="02040503050406030204" pitchFamily="18" charset="0"/>
                                </a:rPr>
                              </m:ctrlPr>
                            </m:sSupPr>
                            <m:e>
                              <m:d>
                                <m:dPr>
                                  <m:ctrlPr>
                                    <a:rPr lang="en-GB" i="1" smtClean="0">
                                      <a:solidFill>
                                        <a:schemeClr val="tx1"/>
                                      </a:solidFill>
                                      <a:latin typeface="Cambria Math" panose="02040503050406030204" pitchFamily="18" charset="0"/>
                                    </a:rPr>
                                  </m:ctrlPr>
                                </m:dPr>
                                <m:e>
                                  <m:sSub>
                                    <m:sSubPr>
                                      <m:ctrlPr>
                                        <a:rPr lang="en-GB" b="0" i="1" smtClean="0">
                                          <a:solidFill>
                                            <a:schemeClr val="tx1"/>
                                          </a:solidFill>
                                          <a:latin typeface="Cambria Math" panose="02040503050406030204" pitchFamily="18" charset="0"/>
                                        </a:rPr>
                                      </m:ctrlPr>
                                    </m:sSubPr>
                                    <m:e>
                                      <m:r>
                                        <a:rPr lang="en-GB" b="0" i="1" smtClean="0">
                                          <a:solidFill>
                                            <a:schemeClr val="tx1"/>
                                          </a:solidFill>
                                          <a:latin typeface="Cambria Math"/>
                                        </a:rPr>
                                        <m:t>𝑦</m:t>
                                      </m:r>
                                    </m:e>
                                    <m:sub>
                                      <m:r>
                                        <a:rPr lang="en-GB" b="0" i="1" smtClean="0">
                                          <a:solidFill>
                                            <a:schemeClr val="tx1"/>
                                          </a:solidFill>
                                          <a:latin typeface="Cambria Math"/>
                                        </a:rPr>
                                        <m:t>𝑖</m:t>
                                      </m:r>
                                    </m:sub>
                                  </m:sSub>
                                  <m:r>
                                    <a:rPr lang="en-GB" b="0" i="1" smtClean="0">
                                      <a:solidFill>
                                        <a:schemeClr val="tx1"/>
                                      </a:solidFill>
                                      <a:latin typeface="Cambria Math"/>
                                    </a:rPr>
                                    <m:t>−</m:t>
                                  </m:r>
                                  <m:sSub>
                                    <m:sSubPr>
                                      <m:ctrlPr>
                                        <a:rPr lang="en-US" altLang="en-US" i="1">
                                          <a:solidFill>
                                            <a:schemeClr val="tx1"/>
                                          </a:solidFill>
                                          <a:latin typeface="Cambria Math" panose="02040503050406030204" pitchFamily="18" charset="0"/>
                                        </a:rPr>
                                      </m:ctrlPr>
                                    </m:sSubPr>
                                    <m:e>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e>
                                    <m:sub>
                                      <m:r>
                                        <a:rPr lang="en-GB" altLang="en-US" i="1">
                                          <a:solidFill>
                                            <a:schemeClr val="tx1"/>
                                          </a:solidFill>
                                          <a:latin typeface="Cambria Math"/>
                                        </a:rPr>
                                        <m:t>𝑖</m:t>
                                      </m:r>
                                    </m:sub>
                                  </m:sSub>
                                </m:e>
                              </m:d>
                            </m:e>
                            <m:sup>
                              <m:r>
                                <a:rPr lang="en-GB" b="0" i="1" smtClean="0">
                                  <a:solidFill>
                                    <a:schemeClr val="tx1"/>
                                  </a:solidFill>
                                  <a:latin typeface="Cambria Math"/>
                                </a:rPr>
                                <m:t>2</m:t>
                              </m:r>
                            </m:sup>
                          </m:sSup>
                        </m:e>
                      </m:nary>
                    </m:oMath>
                  </m:oMathPara>
                </a14:m>
                <a:endParaRPr lang="en-GB" dirty="0">
                  <a:solidFill>
                    <a:schemeClr val="tx1"/>
                  </a:solidFill>
                </a:endParaRPr>
              </a:p>
            </p:txBody>
          </p:sp>
        </mc:Choice>
        <mc:Fallback xmlns="">
          <p:sp>
            <p:nvSpPr>
              <p:cNvPr id="26" name="Flowchart: Document 25"/>
              <p:cNvSpPr>
                <a:spLocks noRot="1" noChangeAspect="1" noMove="1" noResize="1" noEditPoints="1" noAdjustHandles="1" noChangeArrowheads="1" noChangeShapeType="1" noTextEdit="1"/>
              </p:cNvSpPr>
              <p:nvPr/>
            </p:nvSpPr>
            <p:spPr>
              <a:xfrm>
                <a:off x="5784815" y="1565762"/>
                <a:ext cx="1703387" cy="838200"/>
              </a:xfrm>
              <a:prstGeom prst="flowChartDocument">
                <a:avLst/>
              </a:prstGeom>
              <a:blipFill rotWithShape="1">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lowchart: Document 26"/>
              <p:cNvSpPr/>
              <p:nvPr/>
            </p:nvSpPr>
            <p:spPr>
              <a:xfrm>
                <a:off x="963613" y="2367756"/>
                <a:ext cx="1703387" cy="838200"/>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GB" i="1" smtClean="0">
                              <a:solidFill>
                                <a:schemeClr val="tx1"/>
                              </a:solidFill>
                              <a:latin typeface="Cambria Math" panose="02040503050406030204" pitchFamily="18" charset="0"/>
                            </a:rPr>
                          </m:ctrlPr>
                        </m:naryPr>
                        <m:sub>
                          <m:r>
                            <m:rPr>
                              <m:brk m:alnAt="7"/>
                            </m:rPr>
                            <a:rPr lang="en-GB" b="0" i="1" smtClean="0">
                              <a:solidFill>
                                <a:schemeClr val="tx1"/>
                              </a:solidFill>
                              <a:latin typeface="Cambria Math"/>
                            </a:rPr>
                            <m:t>𝑖</m:t>
                          </m:r>
                        </m:sub>
                        <m:sup/>
                        <m:e>
                          <m:sSup>
                            <m:sSupPr>
                              <m:ctrlPr>
                                <a:rPr lang="en-GB" i="1" smtClean="0">
                                  <a:solidFill>
                                    <a:schemeClr val="tx1"/>
                                  </a:solidFill>
                                  <a:latin typeface="Cambria Math" panose="02040503050406030204" pitchFamily="18" charset="0"/>
                                </a:rPr>
                              </m:ctrlPr>
                            </m:sSupPr>
                            <m:e>
                              <m:d>
                                <m:dPr>
                                  <m:ctrlPr>
                                    <a:rPr lang="en-GB" i="1" smtClean="0">
                                      <a:solidFill>
                                        <a:schemeClr val="tx1"/>
                                      </a:solidFill>
                                      <a:latin typeface="Cambria Math" panose="02040503050406030204" pitchFamily="18" charset="0"/>
                                    </a:rPr>
                                  </m:ctrlPr>
                                </m:dPr>
                                <m:e>
                                  <m:sSub>
                                    <m:sSubPr>
                                      <m:ctrlPr>
                                        <a:rPr lang="en-GB" b="0" i="1" smtClean="0">
                                          <a:solidFill>
                                            <a:schemeClr val="tx1"/>
                                          </a:solidFill>
                                          <a:latin typeface="Cambria Math" panose="02040503050406030204" pitchFamily="18" charset="0"/>
                                        </a:rPr>
                                      </m:ctrlPr>
                                    </m:sSubPr>
                                    <m:e>
                                      <m:r>
                                        <a:rPr lang="en-GB" b="0" i="1" smtClean="0">
                                          <a:solidFill>
                                            <a:schemeClr val="tx1"/>
                                          </a:solidFill>
                                          <a:latin typeface="Cambria Math"/>
                                        </a:rPr>
                                        <m:t>𝑦</m:t>
                                      </m:r>
                                    </m:e>
                                    <m:sub>
                                      <m:r>
                                        <a:rPr lang="en-GB" b="0" i="1" smtClean="0">
                                          <a:solidFill>
                                            <a:schemeClr val="tx1"/>
                                          </a:solidFill>
                                          <a:latin typeface="Cambria Math"/>
                                        </a:rPr>
                                        <m:t>𝑖</m:t>
                                      </m:r>
                                    </m:sub>
                                  </m:sSub>
                                  <m:r>
                                    <a:rPr lang="en-GB" altLang="en-US" i="1">
                                      <a:solidFill>
                                        <a:schemeClr val="tx1"/>
                                      </a:solidFill>
                                      <a:latin typeface="Cambria Math"/>
                                    </a:rPr>
                                    <m:t>−</m:t>
                                  </m:r>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r>
                                    <m:rPr>
                                      <m:nor/>
                                    </m:rPr>
                                    <a:rPr lang="en-US" altLang="en-US" dirty="0">
                                      <a:solidFill>
                                        <a:schemeClr val="tx1"/>
                                      </a:solidFill>
                                      <a:latin typeface="Times New Roman" pitchFamily="18" charset="0"/>
                                    </a:rPr>
                                    <m:t> </m:t>
                                  </m:r>
                                </m:e>
                              </m:d>
                            </m:e>
                            <m:sup>
                              <m:r>
                                <a:rPr lang="en-GB" b="0" i="1" smtClean="0">
                                  <a:solidFill>
                                    <a:schemeClr val="tx1"/>
                                  </a:solidFill>
                                  <a:latin typeface="Cambria Math"/>
                                </a:rPr>
                                <m:t>2</m:t>
                              </m:r>
                            </m:sup>
                          </m:sSup>
                        </m:e>
                      </m:nary>
                    </m:oMath>
                  </m:oMathPara>
                </a14:m>
                <a:endParaRPr lang="en-GB" dirty="0">
                  <a:solidFill>
                    <a:schemeClr val="tx1"/>
                  </a:solidFill>
                </a:endParaRPr>
              </a:p>
            </p:txBody>
          </p:sp>
        </mc:Choice>
        <mc:Fallback xmlns="">
          <p:sp>
            <p:nvSpPr>
              <p:cNvPr id="27" name="Flowchart: Document 26"/>
              <p:cNvSpPr>
                <a:spLocks noRot="1" noChangeAspect="1" noMove="1" noResize="1" noEditPoints="1" noAdjustHandles="1" noChangeArrowheads="1" noChangeShapeType="1" noTextEdit="1"/>
              </p:cNvSpPr>
              <p:nvPr/>
            </p:nvSpPr>
            <p:spPr>
              <a:xfrm>
                <a:off x="963613" y="2367756"/>
                <a:ext cx="1703387" cy="838200"/>
              </a:xfrm>
              <a:prstGeom prst="flowChartDocument">
                <a:avLst/>
              </a:prstGeom>
              <a:blipFill rotWithShape="1">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9229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3"/>
          <p:cNvSpPr txBox="1">
            <a:spLocks noChangeArrowheads="1"/>
          </p:cNvSpPr>
          <p:nvPr/>
        </p:nvSpPr>
        <p:spPr bwMode="auto">
          <a:xfrm>
            <a:off x="304800" y="762000"/>
            <a:ext cx="7823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GB" altLang="en-US" sz="2400" dirty="0">
                <a:solidFill>
                  <a:srgbClr val="333399"/>
                </a:solidFill>
              </a:rPr>
              <a:t>R</a:t>
            </a:r>
            <a:r>
              <a:rPr lang="en-GB" altLang="en-US" sz="2400" baseline="30000" dirty="0">
                <a:solidFill>
                  <a:srgbClr val="333399"/>
                </a:solidFill>
              </a:rPr>
              <a:t>2 </a:t>
            </a:r>
            <a:r>
              <a:rPr lang="en-GB" altLang="en-US" sz="2400" dirty="0">
                <a:solidFill>
                  <a:srgbClr val="333399"/>
                </a:solidFill>
              </a:rPr>
              <a:t>is a measure of fit</a:t>
            </a:r>
            <a:r>
              <a:rPr lang="en-GB" altLang="en-US" sz="2400" dirty="0"/>
              <a:t> </a:t>
            </a:r>
          </a:p>
          <a:p>
            <a:r>
              <a:rPr lang="en-GB" altLang="en-US" sz="2400" dirty="0"/>
              <a:t>(i.e. how well does the regression line fit the data points)</a:t>
            </a:r>
          </a:p>
          <a:p>
            <a:pPr>
              <a:spcBef>
                <a:spcPct val="50000"/>
              </a:spcBef>
            </a:pPr>
            <a:endParaRPr lang="en-US" altLang="en-US" sz="2400" b="0" dirty="0"/>
          </a:p>
        </p:txBody>
      </p:sp>
      <p:sp>
        <p:nvSpPr>
          <p:cNvPr id="2" name="Title 1"/>
          <p:cNvSpPr>
            <a:spLocks noGrp="1"/>
          </p:cNvSpPr>
          <p:nvPr>
            <p:ph type="title"/>
          </p:nvPr>
        </p:nvSpPr>
        <p:spPr/>
        <p:txBody>
          <a:bodyPr/>
          <a:lstStyle/>
          <a:p>
            <a:r>
              <a:rPr lang="en-GB" dirty="0"/>
              <a:t>Measure of fit</a:t>
            </a:r>
          </a:p>
        </p:txBody>
      </p:sp>
      <mc:AlternateContent xmlns:mc="http://schemas.openxmlformats.org/markup-compatibility/2006" xmlns:a14="http://schemas.microsoft.com/office/drawing/2010/main">
        <mc:Choice Requires="a14">
          <p:sp>
            <p:nvSpPr>
              <p:cNvPr id="3" name="Rectangle 2"/>
              <p:cNvSpPr/>
              <p:nvPr/>
            </p:nvSpPr>
            <p:spPr>
              <a:xfrm>
                <a:off x="1833563" y="2209800"/>
                <a:ext cx="1758302"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GB" altLang="en-US" sz="2800" b="0" i="1" dirty="0" smtClean="0">
                              <a:solidFill>
                                <a:srgbClr val="333399"/>
                              </a:solidFill>
                              <a:latin typeface="Cambria Math" panose="02040503050406030204" pitchFamily="18" charset="0"/>
                            </a:rPr>
                          </m:ctrlPr>
                        </m:sSupPr>
                        <m:e>
                          <m:r>
                            <a:rPr lang="en-GB" altLang="en-US" sz="2800" i="1" dirty="0" smtClean="0">
                              <a:solidFill>
                                <a:srgbClr val="333399"/>
                              </a:solidFill>
                              <a:latin typeface="Cambria Math"/>
                            </a:rPr>
                            <m:t>𝑅</m:t>
                          </m:r>
                        </m:e>
                        <m:sup>
                          <m:r>
                            <a:rPr lang="en-GB" altLang="en-US" sz="2800" b="0" i="1" dirty="0" smtClean="0">
                              <a:solidFill>
                                <a:srgbClr val="333399"/>
                              </a:solidFill>
                              <a:latin typeface="Cambria Math"/>
                            </a:rPr>
                            <m:t>2</m:t>
                          </m:r>
                        </m:sup>
                      </m:sSup>
                      <m:r>
                        <a:rPr lang="en-GB" altLang="en-US" sz="2800" b="0" i="1" dirty="0" smtClean="0">
                          <a:solidFill>
                            <a:srgbClr val="333399"/>
                          </a:solidFill>
                          <a:latin typeface="Cambria Math"/>
                        </a:rPr>
                        <m:t>=</m:t>
                      </m:r>
                      <m:f>
                        <m:fPr>
                          <m:ctrlPr>
                            <a:rPr lang="en-GB" altLang="en-US" sz="2800" b="0" i="1" dirty="0" smtClean="0">
                              <a:solidFill>
                                <a:srgbClr val="333399"/>
                              </a:solidFill>
                              <a:latin typeface="Cambria Math" panose="02040503050406030204" pitchFamily="18" charset="0"/>
                            </a:rPr>
                          </m:ctrlPr>
                        </m:fPr>
                        <m:num>
                          <m:r>
                            <a:rPr lang="en-GB" altLang="en-US" sz="2800" b="0" i="1" dirty="0" smtClean="0">
                              <a:solidFill>
                                <a:srgbClr val="333399"/>
                              </a:solidFill>
                              <a:latin typeface="Cambria Math"/>
                            </a:rPr>
                            <m:t>𝑅𝑆𝑆</m:t>
                          </m:r>
                        </m:num>
                        <m:den>
                          <m:r>
                            <a:rPr lang="en-GB" altLang="en-US" sz="2800" b="0" i="1" dirty="0" smtClean="0">
                              <a:solidFill>
                                <a:srgbClr val="333399"/>
                              </a:solidFill>
                              <a:latin typeface="Cambria Math"/>
                            </a:rPr>
                            <m:t>𝑇𝑆𝑆</m:t>
                          </m:r>
                        </m:den>
                      </m:f>
                    </m:oMath>
                  </m:oMathPara>
                </a14:m>
                <a:endParaRPr lang="en-GB" altLang="en-US" sz="2800" dirty="0">
                  <a:solidFill>
                    <a:srgbClr val="333399"/>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1833563" y="2209800"/>
                <a:ext cx="1758302" cy="898964"/>
              </a:xfrm>
              <a:prstGeom prst="rect">
                <a:avLst/>
              </a:prstGeom>
              <a:blipFill rotWithShape="1">
                <a:blip r:embed="rId3"/>
                <a:stretch>
                  <a:fillRect/>
                </a:stretch>
              </a:blipFill>
            </p:spPr>
            <p:txBody>
              <a:bodyPr/>
              <a:lstStyle/>
              <a:p>
                <a:r>
                  <a:rPr lang="en-GB">
                    <a:noFill/>
                  </a:rPr>
                  <a:t> </a:t>
                </a:r>
              </a:p>
            </p:txBody>
          </p:sp>
        </mc:Fallback>
      </mc:AlternateContent>
      <p:grpSp>
        <p:nvGrpSpPr>
          <p:cNvPr id="8" name="Group 7"/>
          <p:cNvGrpSpPr/>
          <p:nvPr/>
        </p:nvGrpSpPr>
        <p:grpSpPr>
          <a:xfrm>
            <a:off x="3505200" y="1790700"/>
            <a:ext cx="2362200" cy="1866900"/>
            <a:chOff x="3505200" y="1790700"/>
            <a:chExt cx="2362200" cy="1866900"/>
          </a:xfrm>
        </p:grpSpPr>
        <mc:AlternateContent xmlns:mc="http://schemas.openxmlformats.org/markup-compatibility/2006" xmlns:a14="http://schemas.microsoft.com/office/drawing/2010/main">
          <mc:Choice Requires="a14">
            <p:sp>
              <p:nvSpPr>
                <p:cNvPr id="34" name="Flowchart: Document 33"/>
                <p:cNvSpPr/>
                <p:nvPr/>
              </p:nvSpPr>
              <p:spPr>
                <a:xfrm>
                  <a:off x="4149359" y="2819400"/>
                  <a:ext cx="1703387" cy="838200"/>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GB" i="1" smtClean="0">
                                <a:solidFill>
                                  <a:schemeClr val="tx1"/>
                                </a:solidFill>
                                <a:latin typeface="Cambria Math" panose="02040503050406030204" pitchFamily="18" charset="0"/>
                              </a:rPr>
                            </m:ctrlPr>
                          </m:naryPr>
                          <m:sub>
                            <m:r>
                              <m:rPr>
                                <m:brk m:alnAt="7"/>
                              </m:rPr>
                              <a:rPr lang="en-GB" b="0" i="1" smtClean="0">
                                <a:solidFill>
                                  <a:schemeClr val="tx1"/>
                                </a:solidFill>
                                <a:latin typeface="Cambria Math"/>
                              </a:rPr>
                              <m:t>𝑖</m:t>
                            </m:r>
                          </m:sub>
                          <m:sup/>
                          <m:e>
                            <m:sSup>
                              <m:sSupPr>
                                <m:ctrlPr>
                                  <a:rPr lang="en-GB" i="1" smtClean="0">
                                    <a:solidFill>
                                      <a:schemeClr val="tx1"/>
                                    </a:solidFill>
                                    <a:latin typeface="Cambria Math" panose="02040503050406030204" pitchFamily="18" charset="0"/>
                                  </a:rPr>
                                </m:ctrlPr>
                              </m:sSupPr>
                              <m:e>
                                <m:d>
                                  <m:dPr>
                                    <m:ctrlPr>
                                      <a:rPr lang="en-GB" i="1" smtClean="0">
                                        <a:solidFill>
                                          <a:schemeClr val="tx1"/>
                                        </a:solidFill>
                                        <a:latin typeface="Cambria Math" panose="02040503050406030204" pitchFamily="18" charset="0"/>
                                      </a:rPr>
                                    </m:ctrlPr>
                                  </m:dPr>
                                  <m:e>
                                    <m:sSub>
                                      <m:sSubPr>
                                        <m:ctrlPr>
                                          <a:rPr lang="en-GB" altLang="en-US" b="0" i="1" smtClean="0">
                                            <a:solidFill>
                                              <a:schemeClr val="tx1"/>
                                            </a:solidFill>
                                            <a:latin typeface="Cambria Math" panose="02040503050406030204" pitchFamily="18" charset="0"/>
                                          </a:rPr>
                                        </m:ctrlPr>
                                      </m:sSubPr>
                                      <m:e>
                                        <m:r>
                                          <a:rPr lang="en-GB" altLang="en-US" b="0" i="1" smtClean="0">
                                            <a:solidFill>
                                              <a:schemeClr val="tx1"/>
                                            </a:solidFill>
                                            <a:latin typeface="Cambria Math"/>
                                          </a:rPr>
                                          <m:t>𝑦</m:t>
                                        </m:r>
                                      </m:e>
                                      <m:sub>
                                        <m:r>
                                          <a:rPr lang="en-GB" altLang="en-US" b="0" i="1" smtClean="0">
                                            <a:solidFill>
                                              <a:schemeClr val="tx1"/>
                                            </a:solidFill>
                                            <a:latin typeface="Cambria Math"/>
                                          </a:rPr>
                                          <m:t>𝑖</m:t>
                                        </m:r>
                                      </m:sub>
                                    </m:sSub>
                                    <m:r>
                                      <a:rPr lang="en-GB" altLang="en-US" i="1">
                                        <a:solidFill>
                                          <a:schemeClr val="tx1"/>
                                        </a:solidFill>
                                        <a:latin typeface="Cambria Math"/>
                                      </a:rPr>
                                      <m:t>−</m:t>
                                    </m:r>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r>
                                      <m:rPr>
                                        <m:nor/>
                                      </m:rPr>
                                      <a:rPr lang="en-US" altLang="en-US" dirty="0">
                                        <a:solidFill>
                                          <a:schemeClr val="tx1"/>
                                        </a:solidFill>
                                        <a:latin typeface="Times New Roman" pitchFamily="18" charset="0"/>
                                      </a:rPr>
                                      <m:t> </m:t>
                                    </m:r>
                                  </m:e>
                                </m:d>
                              </m:e>
                              <m:sup>
                                <m:r>
                                  <a:rPr lang="en-GB" b="0" i="1" smtClean="0">
                                    <a:solidFill>
                                      <a:schemeClr val="tx1"/>
                                    </a:solidFill>
                                    <a:latin typeface="Cambria Math"/>
                                  </a:rPr>
                                  <m:t>2</m:t>
                                </m:r>
                              </m:sup>
                            </m:sSup>
                          </m:e>
                        </m:nary>
                      </m:oMath>
                    </m:oMathPara>
                  </a14:m>
                  <a:endParaRPr lang="en-GB" dirty="0">
                    <a:solidFill>
                      <a:schemeClr val="tx1"/>
                    </a:solidFill>
                  </a:endParaRPr>
                </a:p>
              </p:txBody>
            </p:sp>
          </mc:Choice>
          <mc:Fallback xmlns="">
            <p:sp>
              <p:nvSpPr>
                <p:cNvPr id="34" name="Flowchart: Document 33"/>
                <p:cNvSpPr>
                  <a:spLocks noRot="1" noChangeAspect="1" noMove="1" noResize="1" noEditPoints="1" noAdjustHandles="1" noChangeArrowheads="1" noChangeShapeType="1" noTextEdit="1"/>
                </p:cNvSpPr>
                <p:nvPr/>
              </p:nvSpPr>
              <p:spPr>
                <a:xfrm>
                  <a:off x="4149359" y="2819400"/>
                  <a:ext cx="1703387" cy="838200"/>
                </a:xfrm>
                <a:prstGeom prst="flowChartDocument">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Flowchart: Document 34"/>
                <p:cNvSpPr/>
                <p:nvPr/>
              </p:nvSpPr>
              <p:spPr>
                <a:xfrm>
                  <a:off x="4164013" y="1790700"/>
                  <a:ext cx="1703387" cy="838200"/>
                </a:xfrm>
                <a:prstGeom prst="flowChart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GB" i="1" smtClean="0">
                                <a:solidFill>
                                  <a:schemeClr val="tx1"/>
                                </a:solidFill>
                                <a:latin typeface="Cambria Math" panose="02040503050406030204" pitchFamily="18" charset="0"/>
                              </a:rPr>
                            </m:ctrlPr>
                          </m:naryPr>
                          <m:sub>
                            <m:r>
                              <m:rPr>
                                <m:brk m:alnAt="7"/>
                              </m:rPr>
                              <a:rPr lang="en-GB" b="0" i="1" smtClean="0">
                                <a:solidFill>
                                  <a:schemeClr val="tx1"/>
                                </a:solidFill>
                                <a:latin typeface="Cambria Math"/>
                              </a:rPr>
                              <m:t>𝑖</m:t>
                            </m:r>
                          </m:sub>
                          <m:sup/>
                          <m:e>
                            <m:sSup>
                              <m:sSupPr>
                                <m:ctrlPr>
                                  <a:rPr lang="en-GB" i="1" smtClean="0">
                                    <a:solidFill>
                                      <a:schemeClr val="tx1"/>
                                    </a:solidFill>
                                    <a:latin typeface="Cambria Math" panose="02040503050406030204" pitchFamily="18" charset="0"/>
                                  </a:rPr>
                                </m:ctrlPr>
                              </m:sSupPr>
                              <m:e>
                                <m:d>
                                  <m:dPr>
                                    <m:ctrlPr>
                                      <a:rPr lang="en-GB" i="1" smtClean="0">
                                        <a:solidFill>
                                          <a:schemeClr val="tx1"/>
                                        </a:solidFill>
                                        <a:latin typeface="Cambria Math" panose="02040503050406030204" pitchFamily="18" charset="0"/>
                                      </a:rPr>
                                    </m:ctrlPr>
                                  </m:dPr>
                                  <m:e>
                                    <m:sSub>
                                      <m:sSubPr>
                                        <m:ctrlPr>
                                          <a:rPr lang="en-US" altLang="en-US" i="1">
                                            <a:solidFill>
                                              <a:schemeClr val="tx1"/>
                                            </a:solidFill>
                                            <a:latin typeface="Cambria Math" panose="02040503050406030204" pitchFamily="18" charset="0"/>
                                          </a:rPr>
                                        </m:ctrlPr>
                                      </m:sSubPr>
                                      <m:e>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e>
                                      <m:sub>
                                        <m:r>
                                          <a:rPr lang="en-GB" altLang="en-US" i="1">
                                            <a:solidFill>
                                              <a:schemeClr val="tx1"/>
                                            </a:solidFill>
                                            <a:latin typeface="Cambria Math"/>
                                          </a:rPr>
                                          <m:t>𝑖</m:t>
                                        </m:r>
                                      </m:sub>
                                    </m:sSub>
                                    <m:r>
                                      <a:rPr lang="en-GB" altLang="en-US" i="1">
                                        <a:solidFill>
                                          <a:schemeClr val="tx1"/>
                                        </a:solidFill>
                                        <a:latin typeface="Cambria Math"/>
                                      </a:rPr>
                                      <m:t>−</m:t>
                                    </m:r>
                                    <m:acc>
                                      <m:accPr>
                                        <m:chr m:val="̅"/>
                                        <m:ctrlPr>
                                          <a:rPr lang="en-US" altLang="en-US" i="1">
                                            <a:solidFill>
                                              <a:schemeClr val="tx1"/>
                                            </a:solidFill>
                                            <a:latin typeface="Cambria Math" panose="02040503050406030204" pitchFamily="18" charset="0"/>
                                          </a:rPr>
                                        </m:ctrlPr>
                                      </m:accPr>
                                      <m:e>
                                        <m:r>
                                          <a:rPr lang="en-GB" altLang="en-US" i="1">
                                            <a:solidFill>
                                              <a:schemeClr val="tx1"/>
                                            </a:solidFill>
                                            <a:latin typeface="Cambria Math"/>
                                          </a:rPr>
                                          <m:t>𝑦</m:t>
                                        </m:r>
                                      </m:e>
                                    </m:acc>
                                    <m:r>
                                      <m:rPr>
                                        <m:nor/>
                                      </m:rPr>
                                      <a:rPr lang="en-US" altLang="en-US" dirty="0">
                                        <a:solidFill>
                                          <a:schemeClr val="tx1"/>
                                        </a:solidFill>
                                        <a:latin typeface="Times New Roman" pitchFamily="18" charset="0"/>
                                      </a:rPr>
                                      <m:t> </m:t>
                                    </m:r>
                                  </m:e>
                                </m:d>
                              </m:e>
                              <m:sup>
                                <m:r>
                                  <a:rPr lang="en-GB" b="0" i="1" smtClean="0">
                                    <a:solidFill>
                                      <a:schemeClr val="tx1"/>
                                    </a:solidFill>
                                    <a:latin typeface="Cambria Math"/>
                                  </a:rPr>
                                  <m:t>2</m:t>
                                </m:r>
                              </m:sup>
                            </m:sSup>
                          </m:e>
                        </m:nary>
                      </m:oMath>
                    </m:oMathPara>
                  </a14:m>
                  <a:endParaRPr lang="en-GB" dirty="0">
                    <a:solidFill>
                      <a:schemeClr val="tx1"/>
                    </a:solidFill>
                  </a:endParaRPr>
                </a:p>
              </p:txBody>
            </p:sp>
          </mc:Choice>
          <mc:Fallback xmlns="">
            <p:sp>
              <p:nvSpPr>
                <p:cNvPr id="35" name="Flowchart: Document 34"/>
                <p:cNvSpPr>
                  <a:spLocks noRot="1" noChangeAspect="1" noMove="1" noResize="1" noEditPoints="1" noAdjustHandles="1" noChangeArrowheads="1" noChangeShapeType="1" noTextEdit="1"/>
                </p:cNvSpPr>
                <p:nvPr/>
              </p:nvSpPr>
              <p:spPr>
                <a:xfrm>
                  <a:off x="4164013" y="1790700"/>
                  <a:ext cx="1703387" cy="838200"/>
                </a:xfrm>
                <a:prstGeom prst="flowChartDocument">
                  <a:avLst/>
                </a:prstGeom>
                <a:blipFill rotWithShape="1">
                  <a:blip r:embed="rId5"/>
                  <a:stretch>
                    <a:fillRect/>
                  </a:stretch>
                </a:blipFill>
              </p:spPr>
              <p:txBody>
                <a:bodyPr/>
                <a:lstStyle/>
                <a:p>
                  <a:r>
                    <a:rPr lang="en-GB">
                      <a:noFill/>
                    </a:rPr>
                    <a:t> </a:t>
                  </a:r>
                </a:p>
              </p:txBody>
            </p:sp>
          </mc:Fallback>
        </mc:AlternateContent>
        <p:cxnSp>
          <p:nvCxnSpPr>
            <p:cNvPr id="5" name="Straight Arrow Connector 4"/>
            <p:cNvCxnSpPr>
              <a:stCxn id="34" idx="1"/>
            </p:cNvCxnSpPr>
            <p:nvPr/>
          </p:nvCxnSpPr>
          <p:spPr>
            <a:xfrm flipH="1" flipV="1">
              <a:off x="3505200" y="2971800"/>
              <a:ext cx="644159" cy="2667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35" idx="1"/>
            </p:cNvCxnSpPr>
            <p:nvPr/>
          </p:nvCxnSpPr>
          <p:spPr>
            <a:xfrm flipH="1">
              <a:off x="3505200" y="2209800"/>
              <a:ext cx="658813" cy="228600"/>
            </a:xfrm>
            <a:prstGeom prst="straightConnector1">
              <a:avLst/>
            </a:prstGeom>
            <a:ln>
              <a:tailEnd type="arrow"/>
            </a:ln>
          </p:spPr>
          <p:style>
            <a:lnRef idx="1">
              <a:schemeClr val="accent3"/>
            </a:lnRef>
            <a:fillRef idx="0">
              <a:schemeClr val="accent3"/>
            </a:fillRef>
            <a:effectRef idx="0">
              <a:schemeClr val="accent3"/>
            </a:effectRef>
            <a:fontRef idx="minor">
              <a:schemeClr val="tx1"/>
            </a:fontRef>
          </p:style>
        </p:cxnSp>
      </p:grpSp>
      <mc:AlternateContent xmlns:mc="http://schemas.openxmlformats.org/markup-compatibility/2006" xmlns:a14="http://schemas.microsoft.com/office/drawing/2010/main">
        <mc:Choice Requires="a14">
          <p:sp>
            <p:nvSpPr>
              <p:cNvPr id="42" name="Rectangle 41"/>
              <p:cNvSpPr/>
              <p:nvPr/>
            </p:nvSpPr>
            <p:spPr>
              <a:xfrm>
                <a:off x="6324600" y="2230315"/>
                <a:ext cx="1918217" cy="978409"/>
              </a:xfrm>
              <a:prstGeom prst="rect">
                <a:avLst/>
              </a:prstGeom>
              <a:solidFill>
                <a:schemeClr val="bg2"/>
              </a:solidFill>
            </p:spPr>
            <p:txBody>
              <a:bodyPr wrap="none">
                <a:spAutoFit/>
              </a:bodyPr>
              <a:lstStyle/>
              <a:p>
                <a:r>
                  <a:rPr lang="en-GB" altLang="en-US" sz="2000" b="0" dirty="0">
                    <a:solidFill>
                      <a:schemeClr val="tx1"/>
                    </a:solidFill>
                  </a:rPr>
                  <a:t>Or equivalently</a:t>
                </a:r>
              </a:p>
              <a:p>
                <a:pPr/>
                <a14:m>
                  <m:oMathPara xmlns:m="http://schemas.openxmlformats.org/officeDocument/2006/math">
                    <m:oMathParaPr>
                      <m:jc m:val="centerGroup"/>
                    </m:oMathParaPr>
                    <m:oMath xmlns:m="http://schemas.openxmlformats.org/officeDocument/2006/math">
                      <m:sSup>
                        <m:sSupPr>
                          <m:ctrlPr>
                            <a:rPr lang="en-GB" altLang="en-US" sz="2000" b="0" i="1" dirty="0" smtClean="0">
                              <a:solidFill>
                                <a:schemeClr val="tx1"/>
                              </a:solidFill>
                              <a:latin typeface="Cambria Math" panose="02040503050406030204" pitchFamily="18" charset="0"/>
                            </a:rPr>
                          </m:ctrlPr>
                        </m:sSupPr>
                        <m:e>
                          <m:r>
                            <a:rPr lang="en-GB" altLang="en-US" sz="2000" i="1" dirty="0" smtClean="0">
                              <a:solidFill>
                                <a:schemeClr val="tx1"/>
                              </a:solidFill>
                              <a:latin typeface="Cambria Math"/>
                            </a:rPr>
                            <m:t>𝑅</m:t>
                          </m:r>
                        </m:e>
                        <m:sup>
                          <m:r>
                            <a:rPr lang="en-GB" altLang="en-US" sz="2000" b="0" i="1" dirty="0" smtClean="0">
                              <a:solidFill>
                                <a:schemeClr val="tx1"/>
                              </a:solidFill>
                              <a:latin typeface="Cambria Math"/>
                            </a:rPr>
                            <m:t>2</m:t>
                          </m:r>
                        </m:sup>
                      </m:sSup>
                      <m:r>
                        <a:rPr lang="en-GB" altLang="en-US" sz="2000" b="0" i="1" dirty="0" smtClean="0">
                          <a:solidFill>
                            <a:schemeClr val="tx1"/>
                          </a:solidFill>
                          <a:latin typeface="Cambria Math"/>
                        </a:rPr>
                        <m:t>=1−</m:t>
                      </m:r>
                      <m:f>
                        <m:fPr>
                          <m:ctrlPr>
                            <a:rPr lang="en-GB" altLang="en-US" sz="2000" b="0" i="1" dirty="0" smtClean="0">
                              <a:solidFill>
                                <a:schemeClr val="tx1"/>
                              </a:solidFill>
                              <a:latin typeface="Cambria Math" panose="02040503050406030204" pitchFamily="18" charset="0"/>
                            </a:rPr>
                          </m:ctrlPr>
                        </m:fPr>
                        <m:num>
                          <m:r>
                            <a:rPr lang="en-GB" altLang="en-US" sz="2000" b="0" i="1" dirty="0" smtClean="0">
                              <a:solidFill>
                                <a:schemeClr val="tx1"/>
                              </a:solidFill>
                              <a:latin typeface="Cambria Math"/>
                            </a:rPr>
                            <m:t>𝐸𝑆𝑆</m:t>
                          </m:r>
                        </m:num>
                        <m:den>
                          <m:r>
                            <a:rPr lang="en-GB" altLang="en-US" sz="2000" b="0" i="1" dirty="0" smtClean="0">
                              <a:solidFill>
                                <a:schemeClr val="tx1"/>
                              </a:solidFill>
                              <a:latin typeface="Cambria Math"/>
                            </a:rPr>
                            <m:t>𝑇𝑆𝑆</m:t>
                          </m:r>
                        </m:den>
                      </m:f>
                    </m:oMath>
                  </m:oMathPara>
                </a14:m>
                <a:endParaRPr lang="en-GB" altLang="en-US" sz="2000" dirty="0">
                  <a:solidFill>
                    <a:schemeClr val="tx1"/>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6324600" y="2230315"/>
                <a:ext cx="1918217" cy="978409"/>
              </a:xfrm>
              <a:prstGeom prst="rect">
                <a:avLst/>
              </a:prstGeom>
              <a:blipFill rotWithShape="1">
                <a:blip r:embed="rId6"/>
                <a:stretch>
                  <a:fillRect l="-3503" t="-3125"/>
                </a:stretch>
              </a:blipFill>
            </p:spPr>
            <p:txBody>
              <a:bodyPr/>
              <a:lstStyle/>
              <a:p>
                <a:r>
                  <a:rPr lang="en-GB">
                    <a:noFill/>
                  </a:rPr>
                  <a:t> </a:t>
                </a:r>
              </a:p>
            </p:txBody>
          </p:sp>
        </mc:Fallback>
      </mc:AlternateContent>
      <p:sp>
        <p:nvSpPr>
          <p:cNvPr id="9" name="Rectangle 8"/>
          <p:cNvSpPr/>
          <p:nvPr/>
        </p:nvSpPr>
        <p:spPr>
          <a:xfrm>
            <a:off x="304800" y="4191000"/>
            <a:ext cx="7747000" cy="646331"/>
          </a:xfrm>
          <a:prstGeom prst="rect">
            <a:avLst/>
          </a:prstGeom>
        </p:spPr>
        <p:txBody>
          <a:bodyPr wrap="square">
            <a:spAutoFit/>
          </a:bodyPr>
          <a:lstStyle/>
          <a:p>
            <a:r>
              <a:rPr lang="en-GB" altLang="en-US" dirty="0">
                <a:solidFill>
                  <a:srgbClr val="333399"/>
                </a:solidFill>
                <a:latin typeface="Avalon" pitchFamily="34" charset="0"/>
              </a:rPr>
              <a:t>NB: For </a:t>
            </a:r>
            <a:r>
              <a:rPr lang="en-GB" altLang="en-US" b="1" dirty="0">
                <a:solidFill>
                  <a:srgbClr val="333399"/>
                </a:solidFill>
                <a:latin typeface="Avalon" pitchFamily="34" charset="0"/>
              </a:rPr>
              <a:t>only one</a:t>
            </a:r>
            <a:r>
              <a:rPr lang="en-GB" altLang="en-US" dirty="0">
                <a:solidFill>
                  <a:srgbClr val="333399"/>
                </a:solidFill>
                <a:latin typeface="Avalon" pitchFamily="34" charset="0"/>
              </a:rPr>
              <a:t> independent </a:t>
            </a:r>
            <a:r>
              <a:rPr lang="en-GB" altLang="en-US" b="1" dirty="0">
                <a:solidFill>
                  <a:srgbClr val="333399"/>
                </a:solidFill>
                <a:latin typeface="Avalon" pitchFamily="34" charset="0"/>
              </a:rPr>
              <a:t>variable,</a:t>
            </a:r>
            <a:r>
              <a:rPr lang="en-GB" altLang="en-US" dirty="0">
                <a:solidFill>
                  <a:srgbClr val="333399"/>
                </a:solidFill>
                <a:latin typeface="Avalon" pitchFamily="34" charset="0"/>
              </a:rPr>
              <a:t> </a:t>
            </a:r>
            <a:r>
              <a:rPr lang="en-GB" altLang="en-US" b="1" dirty="0">
                <a:solidFill>
                  <a:srgbClr val="333399"/>
                </a:solidFill>
                <a:latin typeface="Avalon" pitchFamily="34" charset="0"/>
              </a:rPr>
              <a:t>R</a:t>
            </a:r>
            <a:r>
              <a:rPr lang="en-GB" altLang="en-US" b="1" baseline="30000" dirty="0">
                <a:solidFill>
                  <a:srgbClr val="333399"/>
                </a:solidFill>
                <a:latin typeface="Avalon" pitchFamily="34" charset="0"/>
              </a:rPr>
              <a:t>2</a:t>
            </a:r>
            <a:r>
              <a:rPr lang="en-GB" altLang="en-US" b="1" dirty="0">
                <a:solidFill>
                  <a:srgbClr val="333399"/>
                </a:solidFill>
                <a:latin typeface="Avalon" pitchFamily="34" charset="0"/>
              </a:rPr>
              <a:t> is </a:t>
            </a:r>
            <a:r>
              <a:rPr lang="en-GB" altLang="en-US" dirty="0">
                <a:solidFill>
                  <a:srgbClr val="333399"/>
                </a:solidFill>
                <a:latin typeface="Avalon" pitchFamily="34" charset="0"/>
              </a:rPr>
              <a:t>equal to the squared </a:t>
            </a:r>
            <a:r>
              <a:rPr lang="en-GB" altLang="en-US" b="1" dirty="0">
                <a:solidFill>
                  <a:srgbClr val="333399"/>
                </a:solidFill>
                <a:latin typeface="Avalon" pitchFamily="34" charset="0"/>
              </a:rPr>
              <a:t>correlation coefficient </a:t>
            </a:r>
            <a:r>
              <a:rPr lang="en-GB" altLang="en-US" dirty="0">
                <a:solidFill>
                  <a:srgbClr val="333399"/>
                </a:solidFill>
                <a:latin typeface="Avalon" pitchFamily="34" charset="0"/>
              </a:rPr>
              <a:t>between x and y</a:t>
            </a:r>
          </a:p>
        </p:txBody>
      </p:sp>
    </p:spTree>
    <p:extLst>
      <p:ext uri="{BB962C8B-B14F-4D97-AF65-F5344CB8AC3E}">
        <p14:creationId xmlns:p14="http://schemas.microsoft.com/office/powerpoint/2010/main" val="338342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solidFill>
                  <a:srgbClr val="333399"/>
                </a:solidFill>
              </a:rPr>
              <a:t>Properties of R</a:t>
            </a:r>
            <a:r>
              <a:rPr lang="en-GB" altLang="en-US" baseline="30000" dirty="0">
                <a:solidFill>
                  <a:srgbClr val="333399"/>
                </a:solidFill>
              </a:rPr>
              <a:t>2</a:t>
            </a:r>
            <a:endParaRPr lang="en-GB" dirty="0"/>
          </a:p>
        </p:txBody>
      </p:sp>
      <p:sp>
        <p:nvSpPr>
          <p:cNvPr id="3" name="Rectangle 2"/>
          <p:cNvSpPr/>
          <p:nvPr/>
        </p:nvSpPr>
        <p:spPr>
          <a:xfrm>
            <a:off x="304800" y="1169075"/>
            <a:ext cx="4141177" cy="2585323"/>
          </a:xfrm>
          <a:prstGeom prst="rect">
            <a:avLst/>
          </a:prstGeom>
        </p:spPr>
        <p:txBody>
          <a:bodyPr wrap="square">
            <a:spAutoFit/>
          </a:bodyPr>
          <a:lstStyle/>
          <a:p>
            <a:pPr marL="0" lvl="1" indent="-228600">
              <a:buClr>
                <a:srgbClr val="333399"/>
              </a:buClr>
              <a:buSzPct val="75000"/>
            </a:pPr>
            <a:r>
              <a:rPr lang="en-GB" altLang="en-US" b="1" dirty="0">
                <a:latin typeface="Avalon" pitchFamily="34" charset="0"/>
              </a:rPr>
              <a:t>0</a:t>
            </a:r>
            <a:r>
              <a:rPr lang="en-GB" altLang="en-US" b="1" dirty="0">
                <a:latin typeface="Avalon" pitchFamily="34" charset="0"/>
                <a:sym typeface="Symbol" pitchFamily="18" charset="2"/>
              </a:rPr>
              <a:t></a:t>
            </a:r>
            <a:r>
              <a:rPr lang="en-GB" altLang="en-US" b="1" dirty="0">
                <a:latin typeface="Avalon" pitchFamily="34" charset="0"/>
              </a:rPr>
              <a:t> R</a:t>
            </a:r>
            <a:r>
              <a:rPr lang="en-GB" altLang="en-US" b="1" baseline="30000" dirty="0">
                <a:latin typeface="Avalon" pitchFamily="34" charset="0"/>
              </a:rPr>
              <a:t>2</a:t>
            </a:r>
            <a:r>
              <a:rPr lang="en-GB" altLang="en-US" b="1" dirty="0">
                <a:latin typeface="Avalon" pitchFamily="34" charset="0"/>
                <a:sym typeface="Symbol" pitchFamily="18" charset="2"/>
              </a:rPr>
              <a:t></a:t>
            </a:r>
            <a:r>
              <a:rPr lang="en-GB" altLang="en-US" b="1" dirty="0">
                <a:latin typeface="Avalon" pitchFamily="34" charset="0"/>
              </a:rPr>
              <a:t>1</a:t>
            </a:r>
          </a:p>
          <a:p>
            <a:pPr marL="0" lvl="1" indent="-228600">
              <a:buClr>
                <a:srgbClr val="333399"/>
              </a:buClr>
              <a:buSzPct val="75000"/>
            </a:pPr>
            <a:endParaRPr lang="en-GB" altLang="en-US" dirty="0">
              <a:latin typeface="Avalon" pitchFamily="34" charset="0"/>
            </a:endParaRPr>
          </a:p>
          <a:p>
            <a:pPr marL="0" lvl="1" indent="-228600">
              <a:buClr>
                <a:srgbClr val="333399"/>
              </a:buClr>
              <a:buSzPct val="75000"/>
            </a:pPr>
            <a:r>
              <a:rPr lang="en-GB" altLang="en-US" b="1" dirty="0">
                <a:latin typeface="Avalon" pitchFamily="34" charset="0"/>
              </a:rPr>
              <a:t>R</a:t>
            </a:r>
            <a:r>
              <a:rPr lang="en-GB" altLang="en-US" b="1" baseline="30000" dirty="0">
                <a:latin typeface="Avalon" pitchFamily="34" charset="0"/>
              </a:rPr>
              <a:t>2</a:t>
            </a:r>
            <a:r>
              <a:rPr lang="en-GB" altLang="en-US" b="1" dirty="0">
                <a:latin typeface="Avalon" pitchFamily="34" charset="0"/>
              </a:rPr>
              <a:t>=1 means perfect fit. </a:t>
            </a:r>
          </a:p>
          <a:p>
            <a:pPr marL="0" lvl="1" indent="-228600">
              <a:buClr>
                <a:srgbClr val="333399"/>
              </a:buClr>
              <a:buSzPct val="75000"/>
            </a:pPr>
            <a:r>
              <a:rPr lang="en-GB" altLang="en-US" dirty="0">
                <a:latin typeface="Avalon" pitchFamily="34" charset="0"/>
              </a:rPr>
              <a:t>All data points exactly on regression line (i.e. ESS=0)</a:t>
            </a:r>
          </a:p>
          <a:p>
            <a:pPr marL="0" lvl="1" indent="-228600">
              <a:buClr>
                <a:srgbClr val="333399"/>
              </a:buClr>
              <a:buSzPct val="75000"/>
            </a:pPr>
            <a:endParaRPr lang="en-GB" altLang="en-US" dirty="0">
              <a:latin typeface="Avalon" pitchFamily="34" charset="0"/>
            </a:endParaRPr>
          </a:p>
          <a:p>
            <a:pPr marL="0" lvl="1" indent="-228600">
              <a:buClr>
                <a:srgbClr val="333399"/>
              </a:buClr>
              <a:buSzPct val="75000"/>
            </a:pPr>
            <a:r>
              <a:rPr lang="en-GB" altLang="en-US" b="1" dirty="0">
                <a:latin typeface="Avalon" pitchFamily="34" charset="0"/>
              </a:rPr>
              <a:t>R</a:t>
            </a:r>
            <a:r>
              <a:rPr lang="en-GB" altLang="en-US" b="1" baseline="30000" dirty="0">
                <a:latin typeface="Avalon" pitchFamily="34" charset="0"/>
              </a:rPr>
              <a:t>2</a:t>
            </a:r>
            <a:r>
              <a:rPr lang="en-GB" altLang="en-US" b="1" dirty="0">
                <a:latin typeface="Avalon" pitchFamily="34" charset="0"/>
              </a:rPr>
              <a:t>=0 means no relation</a:t>
            </a:r>
          </a:p>
          <a:p>
            <a:pPr marL="0" lvl="1" indent="-228600">
              <a:buClr>
                <a:srgbClr val="333399"/>
              </a:buClr>
              <a:buSzPct val="75000"/>
            </a:pPr>
            <a:r>
              <a:rPr lang="en-GB" altLang="en-US" dirty="0">
                <a:latin typeface="Avalon" pitchFamily="34" charset="0"/>
              </a:rPr>
              <a:t>The model does not have any explanatory power for y whatsoever</a:t>
            </a:r>
          </a:p>
        </p:txBody>
      </p:sp>
      <p:sp>
        <p:nvSpPr>
          <p:cNvPr id="4" name="Explosion 1 3"/>
          <p:cNvSpPr/>
          <p:nvPr/>
        </p:nvSpPr>
        <p:spPr>
          <a:xfrm>
            <a:off x="4211515" y="228600"/>
            <a:ext cx="4689231" cy="3371136"/>
          </a:xfrm>
          <a:prstGeom prst="irregularSeal1">
            <a:avLst/>
          </a:prstGeom>
          <a:solidFill>
            <a:schemeClr val="bg2"/>
          </a:solidFill>
        </p:spPr>
        <p:txBody>
          <a:bodyPr wrap="square">
            <a:spAutoFit/>
          </a:bodyPr>
          <a:lstStyle/>
          <a:p>
            <a:pPr marL="0" lvl="1" indent="-228600" algn="ctr">
              <a:buClr>
                <a:srgbClr val="333399"/>
              </a:buClr>
              <a:buSzPct val="75000"/>
            </a:pPr>
            <a:endParaRPr lang="en-GB" altLang="en-US" b="1" dirty="0">
              <a:latin typeface="Avalon" pitchFamily="34" charset="0"/>
            </a:endParaRPr>
          </a:p>
          <a:p>
            <a:pPr marL="0" lvl="1" indent="-228600" algn="ctr">
              <a:buClr>
                <a:srgbClr val="333399"/>
              </a:buClr>
              <a:buSzPct val="75000"/>
            </a:pPr>
            <a:r>
              <a:rPr lang="en-GB" altLang="en-US" b="1" dirty="0">
                <a:latin typeface="Avalon" pitchFamily="34" charset="0"/>
              </a:rPr>
              <a:t>Bigger</a:t>
            </a:r>
            <a:r>
              <a:rPr lang="en-GB" altLang="en-US" dirty="0">
                <a:latin typeface="Avalon" pitchFamily="34" charset="0"/>
              </a:rPr>
              <a:t> values of </a:t>
            </a:r>
            <a:r>
              <a:rPr lang="en-GB" altLang="en-US" b="1" dirty="0">
                <a:latin typeface="Avalon" pitchFamily="34" charset="0"/>
              </a:rPr>
              <a:t>R</a:t>
            </a:r>
            <a:r>
              <a:rPr lang="en-GB" altLang="en-US" b="1" baseline="30000" dirty="0">
                <a:latin typeface="Avalon" pitchFamily="34" charset="0"/>
              </a:rPr>
              <a:t>2</a:t>
            </a:r>
            <a:r>
              <a:rPr lang="en-GB" altLang="en-US" dirty="0">
                <a:latin typeface="Avalon" pitchFamily="34" charset="0"/>
              </a:rPr>
              <a:t> imply </a:t>
            </a:r>
            <a:r>
              <a:rPr lang="en-GB" altLang="en-US" b="1" dirty="0">
                <a:latin typeface="Avalon" pitchFamily="34" charset="0"/>
              </a:rPr>
              <a:t>more</a:t>
            </a:r>
            <a:r>
              <a:rPr lang="en-GB" altLang="en-US" dirty="0">
                <a:latin typeface="Avalon" pitchFamily="34" charset="0"/>
              </a:rPr>
              <a:t> explanatory </a:t>
            </a:r>
            <a:r>
              <a:rPr lang="en-GB" altLang="en-US" b="1" dirty="0">
                <a:latin typeface="Avalon" pitchFamily="34" charset="0"/>
              </a:rPr>
              <a:t>power</a:t>
            </a:r>
            <a:r>
              <a:rPr lang="en-GB" altLang="en-US" dirty="0">
                <a:latin typeface="Avalon" pitchFamily="34" charset="0"/>
              </a:rPr>
              <a:t> for y</a:t>
            </a:r>
          </a:p>
        </p:txBody>
      </p:sp>
    </p:spTree>
    <p:extLst>
      <p:ext uri="{BB962C8B-B14F-4D97-AF65-F5344CB8AC3E}">
        <p14:creationId xmlns:p14="http://schemas.microsoft.com/office/powerpoint/2010/main" val="2905373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26EC-D7BE-E8DD-EAD0-5611E983C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D68EC-0C6E-A101-6089-6165AEE4D35A}"/>
              </a:ext>
            </a:extLst>
          </p:cNvPr>
          <p:cNvSpPr>
            <a:spLocks noGrp="1"/>
          </p:cNvSpPr>
          <p:nvPr>
            <p:ph type="title"/>
          </p:nvPr>
        </p:nvSpPr>
        <p:spPr/>
        <p:txBody>
          <a:bodyPr/>
          <a:lstStyle/>
          <a:p>
            <a:r>
              <a:rPr lang="en-GB" altLang="en-US" dirty="0">
                <a:solidFill>
                  <a:srgbClr val="333399"/>
                </a:solidFill>
              </a:rPr>
              <a:t>Adjusted R</a:t>
            </a:r>
            <a:r>
              <a:rPr lang="en-GB" altLang="en-US" baseline="30000" dirty="0">
                <a:solidFill>
                  <a:srgbClr val="333399"/>
                </a:solidFill>
              </a:rPr>
              <a:t>2</a:t>
            </a:r>
            <a:endParaRPr lang="en-GB" dirty="0"/>
          </a:p>
        </p:txBody>
      </p:sp>
      <p:sp>
        <p:nvSpPr>
          <p:cNvPr id="3" name="Rectangle 2">
            <a:extLst>
              <a:ext uri="{FF2B5EF4-FFF2-40B4-BE49-F238E27FC236}">
                <a16:creationId xmlns:a16="http://schemas.microsoft.com/office/drawing/2014/main" id="{90976C47-6FE2-BE09-E6C2-61E4483CA1F7}"/>
              </a:ext>
            </a:extLst>
          </p:cNvPr>
          <p:cNvSpPr/>
          <p:nvPr/>
        </p:nvSpPr>
        <p:spPr>
          <a:xfrm>
            <a:off x="304800" y="1169075"/>
            <a:ext cx="7467600" cy="1477328"/>
          </a:xfrm>
          <a:prstGeom prst="rect">
            <a:avLst/>
          </a:prstGeom>
        </p:spPr>
        <p:txBody>
          <a:bodyPr wrap="square">
            <a:spAutoFit/>
          </a:bodyPr>
          <a:lstStyle/>
          <a:p>
            <a:pPr marL="0" lvl="1" indent="-228600">
              <a:buClr>
                <a:srgbClr val="333399"/>
              </a:buClr>
              <a:buSzPct val="75000"/>
            </a:pPr>
            <a:r>
              <a:rPr lang="en-GB" altLang="en-US" dirty="0">
                <a:latin typeface="Avalon" pitchFamily="34" charset="0"/>
              </a:rPr>
              <a:t>While R² always increases (or stays the same) when you add more independent variables—even if those independent variables are useless …</a:t>
            </a:r>
          </a:p>
          <a:p>
            <a:pPr marL="0" lvl="1" indent="-228600">
              <a:buClr>
                <a:srgbClr val="333399"/>
              </a:buClr>
              <a:buSzPct val="75000"/>
            </a:pPr>
            <a:endParaRPr lang="en-GB" altLang="en-US" b="1" dirty="0">
              <a:latin typeface="Avalon" pitchFamily="34" charset="0"/>
            </a:endParaRPr>
          </a:p>
          <a:p>
            <a:pPr marL="0" lvl="1" indent="-228600">
              <a:buClr>
                <a:srgbClr val="333399"/>
              </a:buClr>
              <a:buSzPct val="75000"/>
            </a:pPr>
            <a:r>
              <a:rPr lang="en-GB" altLang="en-US" dirty="0">
                <a:latin typeface="Avalon" pitchFamily="34" charset="0"/>
              </a:rPr>
              <a:t>Adjusted R² is a modified version of R² that accounts for the number of independent variables in the model.</a:t>
            </a:r>
          </a:p>
        </p:txBody>
      </p:sp>
      <p:pic>
        <p:nvPicPr>
          <p:cNvPr id="6" name="Picture 5" descr="A number with a number on it&#10;&#10;AI-generated content may be incorrect.">
            <a:extLst>
              <a:ext uri="{FF2B5EF4-FFF2-40B4-BE49-F238E27FC236}">
                <a16:creationId xmlns:a16="http://schemas.microsoft.com/office/drawing/2014/main" id="{0A0F0D37-C8D9-42D2-FB6F-6B3BD25DB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5050" y="3200400"/>
            <a:ext cx="4533900" cy="876300"/>
          </a:xfrm>
          <a:prstGeom prst="rect">
            <a:avLst/>
          </a:prstGeom>
        </p:spPr>
      </p:pic>
    </p:spTree>
    <p:extLst>
      <p:ext uri="{BB962C8B-B14F-4D97-AF65-F5344CB8AC3E}">
        <p14:creationId xmlns:p14="http://schemas.microsoft.com/office/powerpoint/2010/main" val="1048044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7239000" cy="2287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F Test for regression model</a:t>
            </a:r>
            <a:endParaRPr lang="en-GB" baseline="30000" dirty="0"/>
          </a:p>
        </p:txBody>
      </p:sp>
      <p:grpSp>
        <p:nvGrpSpPr>
          <p:cNvPr id="3" name="Group 2"/>
          <p:cNvGrpSpPr/>
          <p:nvPr/>
        </p:nvGrpSpPr>
        <p:grpSpPr>
          <a:xfrm>
            <a:off x="5655049" y="1219200"/>
            <a:ext cx="2574551" cy="1520896"/>
            <a:chOff x="5410200" y="1600200"/>
            <a:chExt cx="2574551" cy="1520896"/>
          </a:xfrm>
        </p:grpSpPr>
        <mc:AlternateContent xmlns:mc="http://schemas.openxmlformats.org/markup-compatibility/2006" xmlns:a14="http://schemas.microsoft.com/office/drawing/2010/main">
          <mc:Choice Requires="a14">
            <p:sp>
              <p:nvSpPr>
                <p:cNvPr id="11" name="Rectangle 10"/>
                <p:cNvSpPr/>
                <p:nvPr/>
              </p:nvSpPr>
              <p:spPr>
                <a:xfrm>
                  <a:off x="5410200" y="1600200"/>
                  <a:ext cx="2574551" cy="731419"/>
                </a:xfrm>
                <a:prstGeom prst="rect">
                  <a:avLst/>
                </a:prstGeom>
                <a:solidFill>
                  <a:schemeClr val="bg2"/>
                </a:solidFill>
              </p:spPr>
              <p:txBody>
                <a:bodyPr wrap="none">
                  <a:spAutoFit/>
                </a:bodyPr>
                <a:lstStyle/>
                <a:p>
                  <a:pPr/>
                  <a14:m>
                    <m:oMathPara xmlns:m="http://schemas.openxmlformats.org/officeDocument/2006/math">
                      <m:oMathParaPr>
                        <m:jc m:val="centerGroup"/>
                      </m:oMathParaPr>
                      <m:oMath xmlns:m="http://schemas.openxmlformats.org/officeDocument/2006/math">
                        <m:r>
                          <a:rPr lang="en-GB" altLang="en-US" sz="2000" b="0" i="1" dirty="0" smtClean="0">
                            <a:solidFill>
                              <a:srgbClr val="333399"/>
                            </a:solidFill>
                            <a:latin typeface="Cambria Math"/>
                          </a:rPr>
                          <m:t>𝐹</m:t>
                        </m:r>
                        <m:r>
                          <a:rPr lang="en-GB" altLang="en-US" sz="2000" b="0" i="1" dirty="0" smtClean="0">
                            <a:solidFill>
                              <a:srgbClr val="333399"/>
                            </a:solidFill>
                            <a:latin typeface="Cambria Math"/>
                          </a:rPr>
                          <m:t>=</m:t>
                        </m:r>
                        <m:f>
                          <m:fPr>
                            <m:ctrlPr>
                              <a:rPr lang="en-GB" altLang="en-US" sz="2000" b="0" i="1" dirty="0" smtClean="0">
                                <a:solidFill>
                                  <a:srgbClr val="333399"/>
                                </a:solidFill>
                                <a:latin typeface="Cambria Math" panose="02040503050406030204" pitchFamily="18" charset="0"/>
                              </a:rPr>
                            </m:ctrlPr>
                          </m:fPr>
                          <m:num>
                            <m:r>
                              <a:rPr lang="en-GB" altLang="en-US" sz="2000" b="0" i="1" dirty="0" smtClean="0">
                                <a:solidFill>
                                  <a:srgbClr val="333399"/>
                                </a:solidFill>
                                <a:latin typeface="Cambria Math"/>
                              </a:rPr>
                              <m:t>𝑅𝑆𝑆</m:t>
                            </m:r>
                            <m:r>
                              <a:rPr lang="en-GB" altLang="en-US" sz="2000" b="0" i="1" dirty="0" smtClean="0">
                                <a:solidFill>
                                  <a:srgbClr val="333399"/>
                                </a:solidFill>
                                <a:latin typeface="Cambria Math"/>
                              </a:rPr>
                              <m:t>/</m:t>
                            </m:r>
                            <m:r>
                              <a:rPr lang="en-GB" altLang="en-US" sz="2000" b="0" i="1" dirty="0" smtClean="0">
                                <a:solidFill>
                                  <a:srgbClr val="333399"/>
                                </a:solidFill>
                                <a:latin typeface="Cambria Math"/>
                              </a:rPr>
                              <m:t>𝑘</m:t>
                            </m:r>
                          </m:num>
                          <m:den>
                            <m:r>
                              <a:rPr lang="en-GB" altLang="en-US" sz="2000" b="0" i="1" dirty="0" smtClean="0">
                                <a:solidFill>
                                  <a:srgbClr val="333399"/>
                                </a:solidFill>
                                <a:latin typeface="Cambria Math"/>
                              </a:rPr>
                              <m:t>𝐸𝑆𝑆</m:t>
                            </m:r>
                            <m:r>
                              <a:rPr lang="en-GB" altLang="en-US" sz="2000" b="0" i="1" dirty="0" smtClean="0">
                                <a:solidFill>
                                  <a:srgbClr val="333399"/>
                                </a:solidFill>
                                <a:latin typeface="Cambria Math"/>
                              </a:rPr>
                              <m:t>/(</m:t>
                            </m:r>
                            <m:r>
                              <a:rPr lang="en-GB" altLang="en-US" sz="2000" b="0" i="1" dirty="0" smtClean="0">
                                <a:solidFill>
                                  <a:srgbClr val="333399"/>
                                </a:solidFill>
                                <a:latin typeface="Cambria Math"/>
                              </a:rPr>
                              <m:t>𝑛</m:t>
                            </m:r>
                            <m:r>
                              <a:rPr lang="en-GB" altLang="en-US" sz="2000" b="0" i="1" dirty="0" smtClean="0">
                                <a:solidFill>
                                  <a:srgbClr val="333399"/>
                                </a:solidFill>
                                <a:latin typeface="Cambria Math"/>
                              </a:rPr>
                              <m:t>−1−</m:t>
                            </m:r>
                            <m:r>
                              <a:rPr lang="en-GB" altLang="en-US" sz="2000" b="0" i="1" dirty="0" smtClean="0">
                                <a:solidFill>
                                  <a:srgbClr val="333399"/>
                                </a:solidFill>
                                <a:latin typeface="Cambria Math"/>
                              </a:rPr>
                              <m:t>𝑘</m:t>
                            </m:r>
                            <m:r>
                              <a:rPr lang="en-GB" altLang="en-US" sz="2000" b="0" i="1" dirty="0" smtClean="0">
                                <a:solidFill>
                                  <a:srgbClr val="333399"/>
                                </a:solidFill>
                                <a:latin typeface="Cambria Math"/>
                              </a:rPr>
                              <m:t>)</m:t>
                            </m:r>
                          </m:den>
                        </m:f>
                      </m:oMath>
                    </m:oMathPara>
                  </a14:m>
                  <a:endParaRPr lang="en-GB" altLang="en-US" sz="2000" dirty="0">
                    <a:solidFill>
                      <a:srgbClr val="333399"/>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10200" y="1600200"/>
                  <a:ext cx="2574551" cy="731419"/>
                </a:xfrm>
                <a:prstGeom prst="rect">
                  <a:avLst/>
                </a:prstGeom>
                <a:blipFill rotWithShape="1">
                  <a:blip r:embed="rId4"/>
                  <a:stretch>
                    <a:fillRect/>
                  </a:stretch>
                </a:blipFill>
              </p:spPr>
              <p:txBody>
                <a:bodyPr/>
                <a:lstStyle/>
                <a:p>
                  <a:r>
                    <a:rPr lang="en-GB">
                      <a:noFill/>
                    </a:rPr>
                    <a:t> </a:t>
                  </a:r>
                </a:p>
              </p:txBody>
            </p:sp>
          </mc:Fallback>
        </mc:AlternateContent>
        <p:cxnSp>
          <p:nvCxnSpPr>
            <p:cNvPr id="4" name="Straight Arrow Connector 3"/>
            <p:cNvCxnSpPr/>
            <p:nvPr/>
          </p:nvCxnSpPr>
          <p:spPr>
            <a:xfrm flipH="1">
              <a:off x="5715000" y="2322827"/>
              <a:ext cx="152400" cy="798269"/>
            </a:xfrm>
            <a:prstGeom prst="straightConnector1">
              <a:avLst/>
            </a:prstGeom>
            <a:ln w="28575">
              <a:solidFill>
                <a:schemeClr val="bg1">
                  <a:lumMod val="75000"/>
                </a:schemeClr>
              </a:solidFill>
              <a:tailEnd type="arrow"/>
            </a:ln>
          </p:spPr>
          <p:style>
            <a:lnRef idx="1">
              <a:schemeClr val="dk1"/>
            </a:lnRef>
            <a:fillRef idx="0">
              <a:schemeClr val="dk1"/>
            </a:fillRef>
            <a:effectRef idx="0">
              <a:schemeClr val="dk1"/>
            </a:effectRef>
            <a:fontRef idx="minor">
              <a:schemeClr val="tx1"/>
            </a:fontRef>
          </p:style>
        </p:cxnSp>
      </p:grpSp>
      <p:sp>
        <p:nvSpPr>
          <p:cNvPr id="5" name="TextBox 4">
            <a:extLst>
              <a:ext uri="{FF2B5EF4-FFF2-40B4-BE49-F238E27FC236}">
                <a16:creationId xmlns:a16="http://schemas.microsoft.com/office/drawing/2014/main" id="{94C4FAB9-4727-4C67-8B75-F3634C67597A}"/>
              </a:ext>
            </a:extLst>
          </p:cNvPr>
          <p:cNvSpPr txBox="1"/>
          <p:nvPr/>
        </p:nvSpPr>
        <p:spPr>
          <a:xfrm>
            <a:off x="914400" y="4800600"/>
            <a:ext cx="5045449" cy="923330"/>
          </a:xfrm>
          <a:prstGeom prst="rect">
            <a:avLst/>
          </a:prstGeom>
          <a:noFill/>
        </p:spPr>
        <p:txBody>
          <a:bodyPr wrap="square" rtlCol="0">
            <a:spAutoFit/>
          </a:bodyPr>
          <a:lstStyle/>
          <a:p>
            <a:r>
              <a:rPr lang="en-GB" dirty="0"/>
              <a:t>k is number of parameters (excluding the constant)</a:t>
            </a:r>
          </a:p>
          <a:p>
            <a:endParaRPr lang="en-GB" dirty="0"/>
          </a:p>
          <a:p>
            <a:r>
              <a:rPr lang="en-GB" dirty="0"/>
              <a:t>n is the number of observations</a:t>
            </a:r>
          </a:p>
        </p:txBody>
      </p:sp>
    </p:spTree>
    <p:extLst>
      <p:ext uri="{BB962C8B-B14F-4D97-AF65-F5344CB8AC3E}">
        <p14:creationId xmlns:p14="http://schemas.microsoft.com/office/powerpoint/2010/main" val="146109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401515" y="914400"/>
            <a:ext cx="8534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114300">
              <a:defRPr sz="2400">
                <a:solidFill>
                  <a:schemeClr val="tx1"/>
                </a:solidFill>
                <a:latin typeface="Times New Roman" pitchFamily="18" charset="0"/>
              </a:defRPr>
            </a:lvl2pPr>
            <a:lvl3pPr marL="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buClr>
                <a:srgbClr val="333399"/>
              </a:buClr>
              <a:buSzPct val="75000"/>
            </a:pPr>
            <a:r>
              <a:rPr lang="en-GB" altLang="en-US" sz="2000" dirty="0">
                <a:latin typeface="+mn-lt"/>
              </a:rPr>
              <a:t>Theory might suggest a non-linear relationship</a:t>
            </a:r>
          </a:p>
          <a:p>
            <a:pPr>
              <a:buClr>
                <a:srgbClr val="333399"/>
              </a:buClr>
              <a:buSzPct val="75000"/>
            </a:pPr>
            <a:endParaRPr lang="en-GB" altLang="en-US" sz="2000" dirty="0">
              <a:latin typeface="+mn-lt"/>
            </a:endParaRPr>
          </a:p>
          <a:p>
            <a:pPr>
              <a:buClr>
                <a:srgbClr val="333399"/>
              </a:buClr>
              <a:buSzPct val="75000"/>
            </a:pPr>
            <a:r>
              <a:rPr lang="en-GB" altLang="en-US" sz="2000" b="1" dirty="0">
                <a:latin typeface="+mn-lt"/>
              </a:rPr>
              <a:t>Observing</a:t>
            </a:r>
            <a:r>
              <a:rPr lang="en-GB" altLang="en-US" sz="2000" dirty="0">
                <a:latin typeface="+mn-lt"/>
              </a:rPr>
              <a:t> an</a:t>
            </a:r>
            <a:r>
              <a:rPr lang="en-GB" altLang="en-US" sz="2000" b="1" dirty="0">
                <a:latin typeface="+mn-lt"/>
              </a:rPr>
              <a:t> X-Y plot </a:t>
            </a:r>
            <a:r>
              <a:rPr lang="en-GB" altLang="en-US" sz="2000" dirty="0">
                <a:latin typeface="+mn-lt"/>
              </a:rPr>
              <a:t>or the </a:t>
            </a:r>
            <a:r>
              <a:rPr lang="en-GB" altLang="en-US" sz="2000" b="1" dirty="0">
                <a:latin typeface="+mn-lt"/>
              </a:rPr>
              <a:t>residual</a:t>
            </a:r>
            <a:r>
              <a:rPr lang="en-GB" altLang="en-US" sz="2000" dirty="0">
                <a:latin typeface="+mn-lt"/>
              </a:rPr>
              <a:t> </a:t>
            </a:r>
            <a:r>
              <a:rPr lang="en-GB" altLang="en-US" sz="2000" b="1" dirty="0">
                <a:latin typeface="+mn-lt"/>
              </a:rPr>
              <a:t>plots</a:t>
            </a:r>
            <a:r>
              <a:rPr lang="en-GB" altLang="en-US" sz="2000" dirty="0">
                <a:latin typeface="+mn-lt"/>
              </a:rPr>
              <a:t> from the regression might suggest the relationship is non-linear.</a:t>
            </a:r>
          </a:p>
        </p:txBody>
      </p:sp>
      <p:sp>
        <p:nvSpPr>
          <p:cNvPr id="136196" name="Text Box 4"/>
          <p:cNvSpPr txBox="1">
            <a:spLocks noChangeArrowheads="1"/>
          </p:cNvSpPr>
          <p:nvPr/>
        </p:nvSpPr>
        <p:spPr bwMode="auto">
          <a:xfrm>
            <a:off x="1660525" y="55626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en-US" altLang="en-US"/>
          </a:p>
        </p:txBody>
      </p:sp>
      <p:sp>
        <p:nvSpPr>
          <p:cNvPr id="2" name="Title 1"/>
          <p:cNvSpPr>
            <a:spLocks noGrp="1"/>
          </p:cNvSpPr>
          <p:nvPr>
            <p:ph type="title"/>
          </p:nvPr>
        </p:nvSpPr>
        <p:spPr/>
        <p:txBody>
          <a:bodyPr/>
          <a:lstStyle/>
          <a:p>
            <a:r>
              <a:rPr lang="en-GB" altLang="en-US" dirty="0"/>
              <a:t>Non-linearity</a:t>
            </a:r>
            <a:endParaRPr lang="en-GB" dirty="0"/>
          </a:p>
        </p:txBody>
      </p:sp>
      <p:sp>
        <p:nvSpPr>
          <p:cNvPr id="4" name="Rectangle 3"/>
          <p:cNvSpPr/>
          <p:nvPr/>
        </p:nvSpPr>
        <p:spPr>
          <a:xfrm>
            <a:off x="5659315" y="-8930"/>
            <a:ext cx="3276600" cy="923330"/>
          </a:xfrm>
          <a:prstGeom prst="rect">
            <a:avLst/>
          </a:prstGeom>
          <a:solidFill>
            <a:schemeClr val="bg2"/>
          </a:solidFill>
        </p:spPr>
        <p:txBody>
          <a:bodyPr wrap="square">
            <a:spAutoFit/>
          </a:bodyPr>
          <a:lstStyle/>
          <a:p>
            <a:pPr>
              <a:buClr>
                <a:srgbClr val="333399"/>
              </a:buClr>
              <a:buSzPct val="75000"/>
            </a:pPr>
            <a:r>
              <a:rPr lang="en-GB" altLang="en-US" dirty="0"/>
              <a:t>Either </a:t>
            </a:r>
            <a:r>
              <a:rPr lang="en-GB" altLang="en-US" b="1" dirty="0"/>
              <a:t>x or y can be transformed </a:t>
            </a:r>
            <a:r>
              <a:rPr lang="en-GB" altLang="en-US" dirty="0"/>
              <a:t>by a variety of functions, for example. ln(y), x</a:t>
            </a:r>
            <a:r>
              <a:rPr lang="en-GB" altLang="en-US" baseline="30000" dirty="0"/>
              <a:t>2 </a:t>
            </a:r>
            <a:r>
              <a:rPr lang="en-GB" altLang="en-US" dirty="0"/>
              <a:t>,1/x. </a:t>
            </a:r>
          </a:p>
        </p:txBody>
      </p:sp>
      <p:grpSp>
        <p:nvGrpSpPr>
          <p:cNvPr id="10" name="Group 9"/>
          <p:cNvGrpSpPr/>
          <p:nvPr/>
        </p:nvGrpSpPr>
        <p:grpSpPr>
          <a:xfrm>
            <a:off x="422030" y="2971800"/>
            <a:ext cx="3874901" cy="2438400"/>
            <a:chOff x="422030" y="2971800"/>
            <a:chExt cx="3874901" cy="2438400"/>
          </a:xfrm>
        </p:grpSpPr>
        <p:graphicFrame>
          <p:nvGraphicFramePr>
            <p:cNvPr id="9" name="Chart 8"/>
            <p:cNvGraphicFramePr/>
            <p:nvPr>
              <p:extLst>
                <p:ext uri="{D42A27DB-BD31-4B8C-83A1-F6EECF244321}">
                  <p14:modId xmlns:p14="http://schemas.microsoft.com/office/powerpoint/2010/main" val="648009931"/>
                </p:ext>
              </p:extLst>
            </p:nvPr>
          </p:nvGraphicFramePr>
          <p:xfrm>
            <a:off x="422030" y="2971800"/>
            <a:ext cx="3874901" cy="2217072"/>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1371600" y="5102423"/>
              <a:ext cx="2051844" cy="307777"/>
            </a:xfrm>
            <a:prstGeom prst="rect">
              <a:avLst/>
            </a:prstGeom>
          </p:spPr>
          <p:txBody>
            <a:bodyPr wrap="none">
              <a:spAutoFit/>
            </a:bodyPr>
            <a:lstStyle/>
            <a:p>
              <a:r>
                <a:rPr lang="en-GB" altLang="en-US" sz="1400" dirty="0">
                  <a:latin typeface="Cambria Math" panose="02040503050406030204" pitchFamily="18" charset="0"/>
                  <a:ea typeface="Cambria Math" panose="02040503050406030204" pitchFamily="18" charset="0"/>
                </a:rPr>
                <a:t>Hours studied for exams</a:t>
              </a:r>
              <a:endParaRPr lang="en-GB" sz="1400" dirty="0">
                <a:latin typeface="Cambria Math" panose="02040503050406030204" pitchFamily="18" charset="0"/>
                <a:ea typeface="Cambria Math" panose="02040503050406030204" pitchFamily="18" charset="0"/>
              </a:endParaRPr>
            </a:p>
          </p:txBody>
        </p:sp>
      </p:grpSp>
      <p:grpSp>
        <p:nvGrpSpPr>
          <p:cNvPr id="8" name="Group 7"/>
          <p:cNvGrpSpPr/>
          <p:nvPr/>
        </p:nvGrpSpPr>
        <p:grpSpPr>
          <a:xfrm>
            <a:off x="4668715" y="2971800"/>
            <a:ext cx="3874901" cy="2441377"/>
            <a:chOff x="4668715" y="2971800"/>
            <a:chExt cx="3874901" cy="2441377"/>
          </a:xfrm>
        </p:grpSpPr>
        <p:graphicFrame>
          <p:nvGraphicFramePr>
            <p:cNvPr id="3" name="Chart 2"/>
            <p:cNvGraphicFramePr/>
            <p:nvPr>
              <p:extLst>
                <p:ext uri="{D42A27DB-BD31-4B8C-83A1-F6EECF244321}">
                  <p14:modId xmlns:p14="http://schemas.microsoft.com/office/powerpoint/2010/main" val="4097150559"/>
                </p:ext>
              </p:extLst>
            </p:nvPr>
          </p:nvGraphicFramePr>
          <p:xfrm>
            <a:off x="4668715" y="2971800"/>
            <a:ext cx="3874901" cy="2217072"/>
          </p:xfrm>
          <a:graphic>
            <a:graphicData uri="http://schemas.openxmlformats.org/drawingml/2006/chart">
              <c:chart xmlns:c="http://schemas.openxmlformats.org/drawingml/2006/chart" xmlns:r="http://schemas.openxmlformats.org/officeDocument/2006/relationships" r:id="rId4"/>
            </a:graphicData>
          </a:graphic>
        </p:graphicFrame>
        <p:sp>
          <p:nvSpPr>
            <p:cNvPr id="12" name="Rectangle 11"/>
            <p:cNvSpPr/>
            <p:nvPr/>
          </p:nvSpPr>
          <p:spPr>
            <a:xfrm>
              <a:off x="5715000" y="5105400"/>
              <a:ext cx="2051844" cy="307777"/>
            </a:xfrm>
            <a:prstGeom prst="rect">
              <a:avLst/>
            </a:prstGeom>
          </p:spPr>
          <p:txBody>
            <a:bodyPr wrap="none">
              <a:spAutoFit/>
            </a:bodyPr>
            <a:lstStyle/>
            <a:p>
              <a:r>
                <a:rPr lang="en-GB" altLang="en-US" sz="1400" dirty="0">
                  <a:latin typeface="Cambria Math" panose="02040503050406030204" pitchFamily="18" charset="0"/>
                  <a:ea typeface="Cambria Math" panose="02040503050406030204" pitchFamily="18" charset="0"/>
                </a:rPr>
                <a:t>Hours studied for exams</a:t>
              </a:r>
              <a:endParaRPr lang="en-GB" sz="1400" dirty="0">
                <a:latin typeface="Cambria Math" panose="02040503050406030204" pitchFamily="18" charset="0"/>
                <a:ea typeface="Cambria Math" panose="02040503050406030204" pitchFamily="18" charset="0"/>
              </a:endParaRPr>
            </a:p>
          </p:txBody>
        </p:sp>
      </p:grpSp>
      <p:sp>
        <p:nvSpPr>
          <p:cNvPr id="15" name="Rectangle 14"/>
          <p:cNvSpPr/>
          <p:nvPr/>
        </p:nvSpPr>
        <p:spPr>
          <a:xfrm rot="16200000">
            <a:off x="-203745" y="3804174"/>
            <a:ext cx="1210524" cy="307777"/>
          </a:xfrm>
          <a:prstGeom prst="rect">
            <a:avLst/>
          </a:prstGeom>
        </p:spPr>
        <p:txBody>
          <a:bodyPr wrap="none">
            <a:spAutoFit/>
          </a:bodyPr>
          <a:lstStyle/>
          <a:p>
            <a:r>
              <a:rPr lang="en-GB" sz="1400" dirty="0">
                <a:latin typeface="Cambria Math" panose="02040503050406030204" pitchFamily="18" charset="0"/>
                <a:ea typeface="Cambria Math" panose="02040503050406030204" pitchFamily="18" charset="0"/>
              </a:rPr>
              <a:t>Marks scored</a:t>
            </a:r>
          </a:p>
        </p:txBody>
      </p:sp>
    </p:spTree>
    <p:extLst>
      <p:ext uri="{BB962C8B-B14F-4D97-AF65-F5344CB8AC3E}">
        <p14:creationId xmlns:p14="http://schemas.microsoft.com/office/powerpoint/2010/main" val="314239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Text Box 4"/>
          <p:cNvSpPr txBox="1">
            <a:spLocks noChangeArrowheads="1"/>
          </p:cNvSpPr>
          <p:nvPr/>
        </p:nvSpPr>
        <p:spPr bwMode="auto">
          <a:xfrm>
            <a:off x="1660525" y="55626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endParaRPr lang="en-US" altLang="en-US"/>
          </a:p>
        </p:txBody>
      </p:sp>
      <p:sp>
        <p:nvSpPr>
          <p:cNvPr id="2" name="Title 1"/>
          <p:cNvSpPr>
            <a:spLocks noGrp="1"/>
          </p:cNvSpPr>
          <p:nvPr>
            <p:ph type="title"/>
          </p:nvPr>
        </p:nvSpPr>
        <p:spPr>
          <a:xfrm>
            <a:off x="152400" y="5219700"/>
            <a:ext cx="8229600" cy="1143000"/>
          </a:xfrm>
        </p:spPr>
        <p:txBody>
          <a:bodyPr/>
          <a:lstStyle/>
          <a:p>
            <a:r>
              <a:rPr lang="en-GB" altLang="en-US" dirty="0"/>
              <a:t>10 Minutes Break</a:t>
            </a:r>
            <a:endParaRPr lang="en-GB" dirty="0"/>
          </a:p>
        </p:txBody>
      </p:sp>
    </p:spTree>
    <p:extLst>
      <p:ext uri="{BB962C8B-B14F-4D97-AF65-F5344CB8AC3E}">
        <p14:creationId xmlns:p14="http://schemas.microsoft.com/office/powerpoint/2010/main" val="1405165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7200" y="990600"/>
            <a:ext cx="5150357"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Multivariate Analysis</a:t>
            </a:r>
          </a:p>
        </p:txBody>
      </p:sp>
      <p:graphicFrame>
        <p:nvGraphicFramePr>
          <p:cNvPr id="3" name="Table 2"/>
          <p:cNvGraphicFramePr>
            <a:graphicFrameLocks noGrp="1"/>
          </p:cNvGraphicFramePr>
          <p:nvPr/>
        </p:nvGraphicFramePr>
        <p:xfrm>
          <a:off x="751624" y="2743200"/>
          <a:ext cx="7657287" cy="2476500"/>
        </p:xfrm>
        <a:graphic>
          <a:graphicData uri="http://schemas.openxmlformats.org/drawingml/2006/table">
            <a:tbl>
              <a:tblPr firstRow="1" firstCol="1">
                <a:tableStyleId>{8EC20E35-A176-4012-BC5E-935CFFF8708E}</a:tableStyleId>
              </a:tblPr>
              <a:tblGrid>
                <a:gridCol w="2018487">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Relating</a:t>
                      </a:r>
                    </a:p>
                    <a:p>
                      <a:pPr algn="ctr"/>
                      <a:r>
                        <a:rPr lang="en-GB" sz="2400" dirty="0"/>
                        <a:t>Two groups</a:t>
                      </a:r>
                    </a:p>
                  </a:txBody>
                  <a:tcPr anchor="ctr"/>
                </a:tc>
                <a:tc>
                  <a:txBody>
                    <a:bodyPr/>
                    <a:lstStyle/>
                    <a:p>
                      <a:pPr algn="ctr"/>
                      <a:r>
                        <a:rPr lang="el-GR" sz="3200" b="1" dirty="0">
                          <a:solidFill>
                            <a:schemeClr val="bg1">
                              <a:lumMod val="65000"/>
                            </a:schemeClr>
                          </a:solidFill>
                        </a:rPr>
                        <a:t>χ</a:t>
                      </a:r>
                      <a:r>
                        <a:rPr lang="en-GB" sz="3200" b="1" baseline="30000" dirty="0">
                          <a:solidFill>
                            <a:schemeClr val="bg1">
                              <a:lumMod val="65000"/>
                            </a:schemeClr>
                          </a:solidFill>
                        </a:rPr>
                        <a:t>2</a:t>
                      </a:r>
                    </a:p>
                    <a:p>
                      <a:pPr algn="ctr"/>
                      <a:r>
                        <a:rPr lang="en-GB" sz="1800" dirty="0">
                          <a:solidFill>
                            <a:schemeClr val="bg1">
                              <a:lumMod val="65000"/>
                            </a:schemeClr>
                          </a:solidFill>
                        </a:rPr>
                        <a:t>test for</a:t>
                      </a:r>
                      <a:r>
                        <a:rPr lang="en-GB" sz="1800" baseline="0" dirty="0">
                          <a:solidFill>
                            <a:schemeClr val="bg1">
                              <a:lumMod val="65000"/>
                            </a:schemeClr>
                          </a:solidFill>
                        </a:rPr>
                        <a:t> independence</a:t>
                      </a:r>
                      <a:endParaRPr lang="en-GB" sz="1800" baseline="30000" dirty="0">
                        <a:solidFill>
                          <a:schemeClr val="bg1">
                            <a:lumMod val="65000"/>
                          </a:schemeClr>
                        </a:solidFill>
                      </a:endParaRPr>
                    </a:p>
                  </a:txBody>
                  <a:tcPr anchor="ctr">
                    <a:solidFill>
                      <a:schemeClr val="bg1">
                        <a:lumMod val="85000"/>
                      </a:schemeClr>
                    </a:solidFill>
                  </a:tcPr>
                </a:tc>
                <a:tc>
                  <a:txBody>
                    <a:bodyPr/>
                    <a:lstStyle/>
                    <a:p>
                      <a:pPr algn="ctr"/>
                      <a:r>
                        <a:rPr lang="en-GB" sz="2400" b="1" baseline="0" dirty="0">
                          <a:solidFill>
                            <a:schemeClr val="bg1">
                              <a:lumMod val="65000"/>
                            </a:schemeClr>
                          </a:solidFill>
                        </a:rPr>
                        <a:t>Correlation</a:t>
                      </a:r>
                    </a:p>
                    <a:p>
                      <a:pPr algn="ctr"/>
                      <a:r>
                        <a:rPr lang="en-GB" sz="2400" b="1" baseline="0" dirty="0">
                          <a:solidFill>
                            <a:schemeClr val="bg1">
                              <a:lumMod val="65000"/>
                            </a:schemeClr>
                          </a:solidFill>
                        </a:rPr>
                        <a:t>Linear Regression</a:t>
                      </a:r>
                      <a:endParaRPr lang="en-GB" sz="2400" b="1" baseline="30000" dirty="0">
                        <a:solidFill>
                          <a:schemeClr val="bg1">
                            <a:lumMod val="65000"/>
                          </a:schemeClr>
                        </a:solidFill>
                      </a:endParaRPr>
                    </a:p>
                  </a:txBody>
                  <a:tcPr anchor="ctr">
                    <a:solidFill>
                      <a:schemeClr val="bg1">
                        <a:lumMod val="85000"/>
                      </a:schemeClr>
                    </a:solidFill>
                  </a:tcPr>
                </a:tc>
                <a:extLst>
                  <a:ext uri="{0D108BD9-81ED-4DB2-BD59-A6C34878D82A}">
                    <a16:rowId xmlns:a16="http://schemas.microsoft.com/office/drawing/2014/main" val="10001"/>
                  </a:ext>
                </a:extLst>
              </a:tr>
              <a:tr h="1047750">
                <a:tc>
                  <a:txBody>
                    <a:bodyPr/>
                    <a:lstStyle/>
                    <a:p>
                      <a:pPr algn="ctr"/>
                      <a:r>
                        <a:rPr lang="en-GB" b="0" dirty="0"/>
                        <a:t>Relating</a:t>
                      </a:r>
                    </a:p>
                    <a:p>
                      <a:pPr algn="ctr"/>
                      <a:r>
                        <a:rPr lang="en-GB" sz="2400" b="1" dirty="0"/>
                        <a:t>Many groups</a:t>
                      </a:r>
                    </a:p>
                  </a:txBody>
                  <a:tcPr anchor="ctr"/>
                </a:tc>
                <a:tc>
                  <a:txBody>
                    <a:bodyPr/>
                    <a:lstStyle/>
                    <a:p>
                      <a:pPr marL="0" algn="ctr" defTabSz="914400" rtl="0" eaLnBrk="1" latinLnBrk="0" hangingPunct="1"/>
                      <a:r>
                        <a:rPr lang="en-GB" sz="2400" b="0" kern="1200" dirty="0">
                          <a:solidFill>
                            <a:schemeClr val="tx1"/>
                          </a:solidFill>
                          <a:latin typeface="+mn-lt"/>
                          <a:ea typeface="+mn-ea"/>
                          <a:cs typeface="+mn-cs"/>
                        </a:rPr>
                        <a:t>Logistic Regression</a:t>
                      </a:r>
                    </a:p>
                  </a:txBody>
                  <a:tcPr anchor="ctr"/>
                </a:tc>
                <a:tc>
                  <a:txBody>
                    <a:bodyPr/>
                    <a:lstStyle/>
                    <a:p>
                      <a:pPr algn="ctr"/>
                      <a:r>
                        <a:rPr lang="en-GB" sz="2400" b="1" dirty="0">
                          <a:solidFill>
                            <a:schemeClr val="tx1"/>
                          </a:solidFill>
                        </a:rPr>
                        <a:t>Multiple Regression</a:t>
                      </a:r>
                    </a:p>
                  </a:txBody>
                  <a:tcPr anchor="ctr"/>
                </a:tc>
                <a:extLst>
                  <a:ext uri="{0D108BD9-81ED-4DB2-BD59-A6C34878D82A}">
                    <a16:rowId xmlns:a16="http://schemas.microsoft.com/office/drawing/2014/main" val="10002"/>
                  </a:ext>
                </a:extLst>
              </a:tr>
            </a:tbl>
          </a:graphicData>
        </a:graphic>
      </p:graphicFrame>
      <p:sp>
        <p:nvSpPr>
          <p:cNvPr id="4" name="TextBox 3"/>
          <p:cNvSpPr txBox="1"/>
          <p:nvPr/>
        </p:nvSpPr>
        <p:spPr>
          <a:xfrm>
            <a:off x="3266224" y="5215354"/>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5" name="Rounded Rectangle 4"/>
          <p:cNvSpPr/>
          <p:nvPr/>
        </p:nvSpPr>
        <p:spPr>
          <a:xfrm>
            <a:off x="3032379" y="3157954"/>
            <a:ext cx="2209800" cy="9906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607557" y="4267200"/>
            <a:ext cx="2698243" cy="838200"/>
          </a:xfrm>
          <a:prstGeom prst="roundRect">
            <a:avLst/>
          </a:prstGeom>
          <a:noFill/>
          <a:ln w="762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5715000" y="3226776"/>
            <a:ext cx="2438400" cy="8382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49464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4247147" y="3352800"/>
            <a:ext cx="4896853" cy="2819400"/>
          </a:xfrm>
          <a:prstGeom prst="rect">
            <a:avLst/>
          </a:prstGeom>
        </p:spPr>
      </p:pic>
      <p:sp>
        <p:nvSpPr>
          <p:cNvPr id="110594" name="Text Box 2"/>
          <p:cNvSpPr txBox="1">
            <a:spLocks noChangeArrowheads="1"/>
          </p:cNvSpPr>
          <p:nvPr/>
        </p:nvSpPr>
        <p:spPr bwMode="auto">
          <a:xfrm>
            <a:off x="304800" y="914400"/>
            <a:ext cx="6781800"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GB" altLang="en-US" sz="2000" dirty="0"/>
              <a:t>As with simple one variable regression, </a:t>
            </a:r>
            <a:r>
              <a:rPr lang="en-GB" altLang="en-US" sz="2000" dirty="0">
                <a:solidFill>
                  <a:srgbClr val="333399"/>
                </a:solidFill>
              </a:rPr>
              <a:t>we want to minimise:-</a:t>
            </a:r>
          </a:p>
        </p:txBody>
      </p:sp>
      <p:sp>
        <p:nvSpPr>
          <p:cNvPr id="2" name="Title 1"/>
          <p:cNvSpPr>
            <a:spLocks noGrp="1"/>
          </p:cNvSpPr>
          <p:nvPr>
            <p:ph type="title"/>
          </p:nvPr>
        </p:nvSpPr>
        <p:spPr/>
        <p:txBody>
          <a:bodyPr/>
          <a:lstStyle/>
          <a:p>
            <a:r>
              <a:rPr lang="en-GB" dirty="0"/>
              <a:t>Multiple Regression</a:t>
            </a:r>
          </a:p>
        </p:txBody>
      </p:sp>
      <mc:AlternateContent xmlns:mc="http://schemas.openxmlformats.org/markup-compatibility/2006" xmlns:a14="http://schemas.microsoft.com/office/drawing/2010/main">
        <mc:Choice Requires="a14">
          <p:sp>
            <p:nvSpPr>
              <p:cNvPr id="11" name="Rectangle 10"/>
              <p:cNvSpPr/>
              <p:nvPr/>
            </p:nvSpPr>
            <p:spPr>
              <a:xfrm>
                <a:off x="838200" y="1295400"/>
                <a:ext cx="1518557" cy="837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GB" altLang="en-US" sz="2000" i="1" smtClean="0">
                              <a:latin typeface="Cambria Math" panose="02040503050406030204" pitchFamily="18" charset="0"/>
                            </a:rPr>
                          </m:ctrlPr>
                        </m:naryPr>
                        <m:sub/>
                        <m:sup/>
                        <m:e>
                          <m:sSup>
                            <m:sSupPr>
                              <m:ctrlPr>
                                <a:rPr lang="en-GB" altLang="en-US" sz="2000" i="1" smtClean="0">
                                  <a:latin typeface="Cambria Math" panose="02040503050406030204" pitchFamily="18" charset="0"/>
                                </a:rPr>
                              </m:ctrlPr>
                            </m:sSupPr>
                            <m:e>
                              <m:d>
                                <m:dPr>
                                  <m:ctrlPr>
                                    <a:rPr lang="en-GB" altLang="en-US" sz="2000" i="1">
                                      <a:latin typeface="Cambria Math" panose="02040503050406030204" pitchFamily="18" charset="0"/>
                                    </a:rPr>
                                  </m:ctrlPr>
                                </m:dPr>
                                <m:e>
                                  <m:r>
                                    <a:rPr lang="en-GB" altLang="en-US" sz="2000" i="1" dirty="0">
                                      <a:latin typeface="Cambria Math"/>
                                    </a:rPr>
                                    <m:t>𝑦</m:t>
                                  </m:r>
                                  <m:r>
                                    <a:rPr lang="en-GB" altLang="en-US" sz="2000" i="1" dirty="0">
                                      <a:latin typeface="Cambria Math"/>
                                    </a:rPr>
                                    <m:t>−</m:t>
                                  </m:r>
                                  <m:acc>
                                    <m:accPr>
                                      <m:chr m:val="̂"/>
                                      <m:ctrlPr>
                                        <a:rPr lang="en-GB" altLang="en-US" sz="2000" i="1" dirty="0">
                                          <a:latin typeface="Cambria Math" panose="02040503050406030204" pitchFamily="18" charset="0"/>
                                        </a:rPr>
                                      </m:ctrlPr>
                                    </m:accPr>
                                    <m:e>
                                      <m:r>
                                        <a:rPr lang="en-GB" altLang="en-US" sz="2000" i="1" dirty="0">
                                          <a:latin typeface="Cambria Math"/>
                                        </a:rPr>
                                        <m:t>𝑦</m:t>
                                      </m:r>
                                    </m:e>
                                  </m:acc>
                                </m:e>
                              </m:d>
                            </m:e>
                            <m:sup>
                              <m:r>
                                <a:rPr lang="en-GB" altLang="en-US" sz="2000" b="0" i="1" smtClean="0">
                                  <a:latin typeface="Cambria Math"/>
                                </a:rPr>
                                <m:t>2</m:t>
                              </m:r>
                            </m:sup>
                          </m:sSup>
                        </m:e>
                      </m:nary>
                    </m:oMath>
                  </m:oMathPara>
                </a14:m>
                <a:endParaRPr lang="en-GB" altLang="en-US" sz="2000" dirty="0"/>
              </a:p>
            </p:txBody>
          </p:sp>
        </mc:Choice>
        <mc:Fallback xmlns="">
          <p:sp>
            <p:nvSpPr>
              <p:cNvPr id="11" name="Rectangle 10"/>
              <p:cNvSpPr>
                <a:spLocks noRot="1" noChangeAspect="1" noMove="1" noResize="1" noEditPoints="1" noAdjustHandles="1" noChangeArrowheads="1" noChangeShapeType="1" noTextEdit="1"/>
              </p:cNvSpPr>
              <p:nvPr/>
            </p:nvSpPr>
            <p:spPr>
              <a:xfrm>
                <a:off x="838200" y="1295400"/>
                <a:ext cx="1518557" cy="837665"/>
              </a:xfrm>
              <a:prstGeom prst="rect">
                <a:avLst/>
              </a:prstGeom>
              <a:blipFill>
                <a:blip r:embed="rId4"/>
                <a:stretch>
                  <a:fillRect/>
                </a:stretch>
              </a:blipFill>
            </p:spPr>
            <p:txBody>
              <a:bodyPr/>
              <a:lstStyle/>
              <a:p>
                <a:r>
                  <a:rPr lang="en-GB">
                    <a:noFill/>
                  </a:rPr>
                  <a:t> </a:t>
                </a:r>
              </a:p>
            </p:txBody>
          </p:sp>
        </mc:Fallback>
      </mc:AlternateContent>
      <p:grpSp>
        <p:nvGrpSpPr>
          <p:cNvPr id="6" name="Group 5"/>
          <p:cNvGrpSpPr/>
          <p:nvPr/>
        </p:nvGrpSpPr>
        <p:grpSpPr>
          <a:xfrm>
            <a:off x="369521" y="4363342"/>
            <a:ext cx="3429000" cy="924402"/>
            <a:chOff x="4876800" y="2509599"/>
            <a:chExt cx="3429000" cy="924402"/>
          </a:xfrm>
        </p:grpSpPr>
        <p:sp>
          <p:nvSpPr>
            <p:cNvPr id="17" name="Rounded Rectangular Callout 16"/>
            <p:cNvSpPr/>
            <p:nvPr/>
          </p:nvSpPr>
          <p:spPr>
            <a:xfrm>
              <a:off x="4876800" y="2514600"/>
              <a:ext cx="3429000" cy="919401"/>
            </a:xfrm>
            <a:prstGeom prst="wedgeRoundRectCallout">
              <a:avLst>
                <a:gd name="adj1" fmla="val 9693"/>
                <a:gd name="adj2" fmla="val -116071"/>
                <a:gd name="adj3" fmla="val 16667"/>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altLang="en-US" sz="1600" dirty="0"/>
                <a:t>Each independent variable is </a:t>
              </a:r>
              <a:r>
                <a:rPr lang="en-GB" altLang="en-US" sz="1600" b="1" dirty="0"/>
                <a:t>weighted to maximise prediction </a:t>
              </a:r>
              <a:r>
                <a:rPr lang="en-GB" altLang="en-US" sz="1600" dirty="0"/>
                <a:t>from the set of independent variables</a:t>
              </a:r>
              <a:endParaRPr lang="en-GB" sz="1600" dirty="0"/>
            </a:p>
          </p:txBody>
        </p:sp>
        <p:sp>
          <p:nvSpPr>
            <p:cNvPr id="5" name="Rounded Rectangular Callout 4"/>
            <p:cNvSpPr/>
            <p:nvPr/>
          </p:nvSpPr>
          <p:spPr>
            <a:xfrm>
              <a:off x="4876800" y="2509599"/>
              <a:ext cx="3429000" cy="919401"/>
            </a:xfrm>
            <a:prstGeom prst="wedgeRoundRectCallout">
              <a:avLst>
                <a:gd name="adj1" fmla="val 31767"/>
                <a:gd name="adj2" fmla="val -121907"/>
                <a:gd name="adj3" fmla="val 16667"/>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altLang="en-US" sz="1600" dirty="0"/>
                <a:t>Each independent variable is </a:t>
              </a:r>
              <a:r>
                <a:rPr lang="en-GB" altLang="en-US" sz="1600" b="1" dirty="0"/>
                <a:t>weighted to maximise prediction </a:t>
              </a:r>
              <a:r>
                <a:rPr lang="en-GB" altLang="en-US" sz="1600" dirty="0"/>
                <a:t>from the set of independent variables</a:t>
              </a:r>
              <a:endParaRPr lang="en-GB" sz="1600" dirty="0"/>
            </a:p>
          </p:txBody>
        </p:sp>
        <p:sp>
          <p:nvSpPr>
            <p:cNvPr id="16" name="Rounded Rectangular Callout 15"/>
            <p:cNvSpPr/>
            <p:nvPr/>
          </p:nvSpPr>
          <p:spPr>
            <a:xfrm>
              <a:off x="4876800" y="2509599"/>
              <a:ext cx="3429000" cy="919401"/>
            </a:xfrm>
            <a:prstGeom prst="wedgeRoundRectCallout">
              <a:avLst>
                <a:gd name="adj1" fmla="val 62063"/>
                <a:gd name="adj2" fmla="val -119710"/>
                <a:gd name="adj3" fmla="val 16667"/>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altLang="en-US" sz="1600" dirty="0"/>
                <a:t>Each independent variable is </a:t>
              </a:r>
              <a:r>
                <a:rPr lang="en-GB" altLang="en-US" sz="1600" b="1" dirty="0"/>
                <a:t>weighted to maximise prediction </a:t>
              </a:r>
              <a:r>
                <a:rPr lang="en-GB" altLang="en-US" sz="1600" dirty="0"/>
                <a:t>from the set of independent variables</a:t>
              </a:r>
              <a:endParaRPr lang="en-GB" sz="1600" dirty="0"/>
            </a:p>
          </p:txBody>
        </p:sp>
      </p:grpSp>
      <p:sp>
        <p:nvSpPr>
          <p:cNvPr id="7" name="Rectangle 6"/>
          <p:cNvSpPr/>
          <p:nvPr/>
        </p:nvSpPr>
        <p:spPr>
          <a:xfrm>
            <a:off x="0" y="6581001"/>
            <a:ext cx="9144000" cy="276999"/>
          </a:xfrm>
          <a:prstGeom prst="rect">
            <a:avLst/>
          </a:prstGeom>
        </p:spPr>
        <p:txBody>
          <a:bodyPr wrap="square">
            <a:spAutoFit/>
          </a:bodyPr>
          <a:lstStyle/>
          <a:p>
            <a:r>
              <a:rPr lang="en-GB" sz="1200" dirty="0"/>
              <a:t>Image source: </a:t>
            </a:r>
            <a:r>
              <a:rPr lang="en-GB" sz="1200" dirty="0">
                <a:hlinkClick r:id="rId5"/>
              </a:rPr>
              <a:t>http://www.sjsu.edu/faculty/gerstman/EpiInfo/cont-mult1.jpg</a:t>
            </a:r>
            <a:r>
              <a:rPr lang="en-GB" sz="1200" dirty="0"/>
              <a:t> </a:t>
            </a:r>
          </a:p>
        </p:txBody>
      </p:sp>
      <p:grpSp>
        <p:nvGrpSpPr>
          <p:cNvPr id="9" name="Group 8"/>
          <p:cNvGrpSpPr/>
          <p:nvPr/>
        </p:nvGrpSpPr>
        <p:grpSpPr>
          <a:xfrm>
            <a:off x="304800" y="2362200"/>
            <a:ext cx="7620000" cy="1289849"/>
            <a:chOff x="304800" y="2592288"/>
            <a:chExt cx="7620000" cy="1289849"/>
          </a:xfrm>
        </p:grpSpPr>
        <p:sp>
          <p:nvSpPr>
            <p:cNvPr id="110601" name="Text Box 9"/>
            <p:cNvSpPr txBox="1">
              <a:spLocks noChangeArrowheads="1"/>
            </p:cNvSpPr>
            <p:nvPr/>
          </p:nvSpPr>
          <p:spPr bwMode="auto">
            <a:xfrm>
              <a:off x="304800" y="2592288"/>
              <a:ext cx="7620000"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GB" altLang="en-US" sz="2000" dirty="0"/>
                <a:t>Again estimated using least squares, </a:t>
              </a:r>
              <a:r>
                <a:rPr lang="en-GB" altLang="en-US" sz="2000" dirty="0">
                  <a:solidFill>
                    <a:srgbClr val="333399"/>
                  </a:solidFill>
                </a:rPr>
                <a:t>using same principles as for one variable</a:t>
              </a:r>
              <a:r>
                <a:rPr lang="en-GB" altLang="en-US" sz="2000" dirty="0"/>
                <a:t>. Equation from the regression is</a:t>
              </a:r>
            </a:p>
          </p:txBody>
        </p:sp>
        <mc:AlternateContent xmlns:mc="http://schemas.openxmlformats.org/markup-compatibility/2006" xmlns:a14="http://schemas.microsoft.com/office/drawing/2010/main">
          <mc:Choice Requires="a14">
            <p:sp>
              <p:nvSpPr>
                <p:cNvPr id="18" name="Rectangle 17"/>
                <p:cNvSpPr/>
                <p:nvPr/>
              </p:nvSpPr>
              <p:spPr>
                <a:xfrm>
                  <a:off x="838200" y="3429000"/>
                  <a:ext cx="3688126" cy="45313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acc>
                          <m:accPr>
                            <m:chr m:val="̂"/>
                            <m:ctrlPr>
                              <a:rPr lang="en-GB" altLang="en-US" sz="2400" i="1" smtClean="0">
                                <a:latin typeface="Cambria Math" panose="02040503050406030204" pitchFamily="18" charset="0"/>
                                <a:ea typeface="Cambria Math"/>
                              </a:rPr>
                            </m:ctrlPr>
                          </m:accPr>
                          <m:e>
                            <m:r>
                              <a:rPr lang="en-US" altLang="en-US" sz="2400" b="0" i="1" smtClean="0">
                                <a:latin typeface="Cambria Math" panose="02040503050406030204" pitchFamily="18" charset="0"/>
                                <a:ea typeface="Cambria Math"/>
                              </a:rPr>
                              <m:t>𝑦</m:t>
                            </m:r>
                          </m:e>
                        </m:acc>
                        <m:r>
                          <a:rPr lang="en-GB" altLang="en-US" sz="2400" i="1" smtClean="0">
                            <a:latin typeface="Cambria Math"/>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a:ea typeface="Cambria Math"/>
                              </a:rPr>
                              <m:t>𝛽</m:t>
                            </m:r>
                          </m:e>
                          <m:sub>
                            <m:r>
                              <a:rPr lang="en-GB" altLang="en-US" sz="2400" i="1">
                                <a:latin typeface="Cambria Math"/>
                                <a:ea typeface="Cambria Math"/>
                              </a:rPr>
                              <m:t>0</m:t>
                            </m:r>
                          </m:sub>
                        </m:sSub>
                        <m:r>
                          <a:rPr lang="en-GB" altLang="en-US" sz="2400" i="1">
                            <a:latin typeface="Cambria Math"/>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a:ea typeface="Cambria Math"/>
                              </a:rPr>
                              <m:t>𝛽</m:t>
                            </m:r>
                          </m:e>
                          <m:sub>
                            <m:r>
                              <a:rPr lang="en-GB" altLang="en-US" sz="2400" i="1">
                                <a:latin typeface="Cambria Math"/>
                                <a:ea typeface="Cambria Math"/>
                              </a:rPr>
                              <m:t>1</m:t>
                            </m:r>
                          </m:sub>
                        </m:sSub>
                        <m:sSub>
                          <m:sSubPr>
                            <m:ctrlPr>
                              <a:rPr lang="en-GB" altLang="en-US" sz="2400" b="0" i="1" smtClean="0">
                                <a:latin typeface="Cambria Math" panose="02040503050406030204" pitchFamily="18" charset="0"/>
                                <a:ea typeface="Cambria Math"/>
                              </a:rPr>
                            </m:ctrlPr>
                          </m:sSubPr>
                          <m:e>
                            <m:r>
                              <a:rPr lang="en-GB" altLang="en-US" sz="2400" i="1">
                                <a:latin typeface="Cambria Math"/>
                                <a:ea typeface="Cambria Math"/>
                              </a:rPr>
                              <m:t>𝑥</m:t>
                            </m:r>
                          </m:e>
                          <m:sub>
                            <m:r>
                              <a:rPr lang="en-GB" altLang="en-US" sz="2400" b="0" i="1" smtClean="0">
                                <a:latin typeface="Cambria Math"/>
                                <a:ea typeface="Cambria Math"/>
                              </a:rPr>
                              <m:t>1</m:t>
                            </m:r>
                          </m:sub>
                        </m:sSub>
                        <m:r>
                          <a:rPr lang="en-GB" altLang="en-US" sz="2400" i="1">
                            <a:latin typeface="Cambria Math"/>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a:ea typeface="Cambria Math"/>
                              </a:rPr>
                              <m:t>𝛽</m:t>
                            </m:r>
                          </m:e>
                          <m:sub>
                            <m:r>
                              <a:rPr lang="en-GB" altLang="en-US" sz="2400" b="0" i="1" smtClean="0">
                                <a:latin typeface="Cambria Math"/>
                                <a:ea typeface="Cambria Math"/>
                              </a:rPr>
                              <m:t>2</m:t>
                            </m:r>
                          </m:sub>
                        </m:sSub>
                        <m:sSub>
                          <m:sSubPr>
                            <m:ctrlPr>
                              <a:rPr lang="en-GB" altLang="en-US" sz="2400" b="0" i="1" smtClean="0">
                                <a:latin typeface="Cambria Math" panose="02040503050406030204" pitchFamily="18" charset="0"/>
                                <a:ea typeface="Cambria Math"/>
                              </a:rPr>
                            </m:ctrlPr>
                          </m:sSubPr>
                          <m:e>
                            <m:r>
                              <a:rPr lang="en-GB" altLang="en-US" sz="2400" i="1">
                                <a:latin typeface="Cambria Math"/>
                                <a:ea typeface="Cambria Math"/>
                              </a:rPr>
                              <m:t>𝑥</m:t>
                            </m:r>
                          </m:e>
                          <m:sub>
                            <m:r>
                              <a:rPr lang="en-GB" altLang="en-US" sz="2400" b="0" i="1" smtClean="0">
                                <a:latin typeface="Cambria Math"/>
                                <a:ea typeface="Cambria Math"/>
                              </a:rPr>
                              <m:t>2</m:t>
                            </m:r>
                          </m:sub>
                        </m:sSub>
                        <m:r>
                          <a:rPr lang="en-GB" altLang="en-US" sz="2400" i="1" smtClean="0">
                            <a:latin typeface="Cambria Math"/>
                            <a:ea typeface="Cambria Math"/>
                          </a:rPr>
                          <m:t>+</m:t>
                        </m:r>
                        <m:r>
                          <a:rPr lang="en-GB" altLang="en-US" sz="2400" b="0" i="1" smtClean="0">
                            <a:latin typeface="Cambria Math"/>
                            <a:ea typeface="Cambria Math"/>
                          </a:rPr>
                          <m:t>…</m:t>
                        </m:r>
                      </m:oMath>
                    </m:oMathPara>
                  </a14:m>
                  <a:endParaRPr lang="en-GB" altLang="en-US" sz="2400" baseline="-25000" dirty="0"/>
                </a:p>
              </p:txBody>
            </p:sp>
          </mc:Choice>
          <mc:Fallback xmlns="">
            <p:sp>
              <p:nvSpPr>
                <p:cNvPr id="18" name="Rectangle 17"/>
                <p:cNvSpPr>
                  <a:spLocks noRot="1" noChangeAspect="1" noMove="1" noResize="1" noEditPoints="1" noAdjustHandles="1" noChangeArrowheads="1" noChangeShapeType="1" noTextEdit="1"/>
                </p:cNvSpPr>
                <p:nvPr/>
              </p:nvSpPr>
              <p:spPr>
                <a:xfrm>
                  <a:off x="838200" y="3429000"/>
                  <a:ext cx="3688126" cy="453137"/>
                </a:xfrm>
                <a:prstGeom prst="rect">
                  <a:avLst/>
                </a:prstGeom>
                <a:blipFill>
                  <a:blip r:embed="rId6"/>
                  <a:stretch>
                    <a:fillRect l="-496" t="-2703" b="-21622"/>
                  </a:stretch>
                </a:blipFill>
              </p:spPr>
              <p:txBody>
                <a:bodyPr/>
                <a:lstStyle/>
                <a:p>
                  <a:r>
                    <a:rPr lang="en-GB">
                      <a:noFill/>
                    </a:rPr>
                    <a:t> </a:t>
                  </a:r>
                </a:p>
              </p:txBody>
            </p:sp>
          </mc:Fallback>
        </mc:AlternateContent>
      </p:grpSp>
    </p:spTree>
    <p:extLst>
      <p:ext uri="{BB962C8B-B14F-4D97-AF65-F5344CB8AC3E}">
        <p14:creationId xmlns:p14="http://schemas.microsoft.com/office/powerpoint/2010/main" val="1767603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Multiple Regression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838200"/>
            <a:ext cx="7848600"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F5BAA3E-F0A2-E9FA-6A95-59FADE4049CF}"/>
                  </a:ext>
                </a:extLst>
              </p:cNvPr>
              <p:cNvSpPr/>
              <p:nvPr/>
            </p:nvSpPr>
            <p:spPr>
              <a:xfrm>
                <a:off x="762000" y="2514600"/>
                <a:ext cx="2998177" cy="453137"/>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altLang="en-US" sz="2400" i="1" smtClean="0">
                              <a:latin typeface="Cambria Math" panose="02040503050406030204" pitchFamily="18" charset="0"/>
                              <a:ea typeface="Cambria Math"/>
                            </a:rPr>
                          </m:ctrlPr>
                        </m:sSubPr>
                        <m:e>
                          <m:r>
                            <a:rPr lang="en-GB" altLang="en-US" sz="2400" i="1">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b="0" i="1" smtClean="0">
                              <a:latin typeface="Cambria Math" panose="02040503050406030204" pitchFamily="18" charset="0"/>
                              <a:ea typeface="Cambria Math"/>
                            </a:rPr>
                            <m:t>1</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i="1">
                              <a:latin typeface="Cambria Math" panose="02040503050406030204" pitchFamily="18" charset="0"/>
                              <a:ea typeface="Cambria Math"/>
                            </a:rPr>
                            <m:t>2</m:t>
                          </m:r>
                        </m:sub>
                      </m:sSub>
                      <m:r>
                        <a:rPr lang="en-GB" altLang="en-US" sz="2400" b="0" i="1" smtClean="0">
                          <a:latin typeface="Cambria Math" panose="02040503050406030204" pitchFamily="18" charset="0"/>
                          <a:ea typeface="Cambria Math"/>
                        </a:rPr>
                        <m:t>= … </m:t>
                      </m:r>
                      <m:r>
                        <a:rPr lang="en-GB" altLang="en-US" sz="2400" i="1">
                          <a:latin typeface="Cambria Math" panose="02040503050406030204" pitchFamily="18" charset="0"/>
                          <a:ea typeface="Cambria Math"/>
                        </a:rPr>
                        <m:t>=0</m:t>
                      </m:r>
                    </m:oMath>
                  </m:oMathPara>
                </a14:m>
                <a:endParaRPr lang="en-GB" altLang="en-US" sz="2400" baseline="-25000" dirty="0"/>
              </a:p>
            </p:txBody>
          </p:sp>
        </mc:Choice>
        <mc:Fallback xmlns="">
          <p:sp>
            <p:nvSpPr>
              <p:cNvPr id="3" name="Rectangle 2">
                <a:extLst>
                  <a:ext uri="{FF2B5EF4-FFF2-40B4-BE49-F238E27FC236}">
                    <a16:creationId xmlns:a16="http://schemas.microsoft.com/office/drawing/2014/main" id="{4F5BAA3E-F0A2-E9FA-6A95-59FADE4049CF}"/>
                  </a:ext>
                </a:extLst>
              </p:cNvPr>
              <p:cNvSpPr>
                <a:spLocks noRot="1" noChangeAspect="1" noMove="1" noResize="1" noEditPoints="1" noAdjustHandles="1" noChangeArrowheads="1" noChangeShapeType="1" noTextEdit="1"/>
              </p:cNvSpPr>
              <p:nvPr/>
            </p:nvSpPr>
            <p:spPr>
              <a:xfrm>
                <a:off x="762000" y="2514600"/>
                <a:ext cx="2998177" cy="453137"/>
              </a:xfrm>
              <a:prstGeom prst="rect">
                <a:avLst/>
              </a:prstGeom>
              <a:blipFill>
                <a:blip r:embed="rId4"/>
                <a:stretch>
                  <a:fillRect l="-407" b="-20270"/>
                </a:stretch>
              </a:blipFill>
            </p:spPr>
            <p:txBody>
              <a:bodyPr/>
              <a:lstStyle/>
              <a:p>
                <a:r>
                  <a:rPr lang="en-GB">
                    <a:noFill/>
                  </a:rPr>
                  <a:t> </a:t>
                </a:r>
              </a:p>
            </p:txBody>
          </p:sp>
        </mc:Fallback>
      </mc:AlternateContent>
    </p:spTree>
    <p:extLst>
      <p:ext uri="{BB962C8B-B14F-4D97-AF65-F5344CB8AC3E}">
        <p14:creationId xmlns:p14="http://schemas.microsoft.com/office/powerpoint/2010/main" val="1707079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2</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838200"/>
            <a:ext cx="7848600"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F5BAA3E-F0A2-E9FA-6A95-59FADE4049CF}"/>
                  </a:ext>
                </a:extLst>
              </p:cNvPr>
              <p:cNvSpPr/>
              <p:nvPr/>
            </p:nvSpPr>
            <p:spPr>
              <a:xfrm>
                <a:off x="762000" y="2514600"/>
                <a:ext cx="2998177" cy="453137"/>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altLang="en-US" sz="2400" i="1" smtClean="0">
                              <a:latin typeface="Cambria Math" panose="02040503050406030204" pitchFamily="18" charset="0"/>
                              <a:ea typeface="Cambria Math"/>
                            </a:rPr>
                          </m:ctrlPr>
                        </m:sSubPr>
                        <m:e>
                          <m:r>
                            <a:rPr lang="en-GB" altLang="en-US" sz="2400" i="1">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b="0" i="1" smtClean="0">
                              <a:latin typeface="Cambria Math" panose="02040503050406030204" pitchFamily="18" charset="0"/>
                              <a:ea typeface="Cambria Math"/>
                            </a:rPr>
                            <m:t>1</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i="1">
                              <a:latin typeface="Cambria Math" panose="02040503050406030204" pitchFamily="18" charset="0"/>
                              <a:ea typeface="Cambria Math"/>
                            </a:rPr>
                            <m:t>2</m:t>
                          </m:r>
                        </m:sub>
                      </m:sSub>
                      <m:r>
                        <a:rPr lang="en-GB" altLang="en-US" sz="2400" b="0" i="1" smtClean="0">
                          <a:latin typeface="Cambria Math" panose="02040503050406030204" pitchFamily="18" charset="0"/>
                          <a:ea typeface="Cambria Math"/>
                        </a:rPr>
                        <m:t>= … </m:t>
                      </m:r>
                      <m:r>
                        <a:rPr lang="en-GB" altLang="en-US" sz="2400" i="1">
                          <a:latin typeface="Cambria Math" panose="02040503050406030204" pitchFamily="18" charset="0"/>
                          <a:ea typeface="Cambria Math"/>
                        </a:rPr>
                        <m:t>=0</m:t>
                      </m:r>
                    </m:oMath>
                  </m:oMathPara>
                </a14:m>
                <a:endParaRPr lang="en-GB" altLang="en-US" sz="2400" baseline="-25000" dirty="0"/>
              </a:p>
            </p:txBody>
          </p:sp>
        </mc:Choice>
        <mc:Fallback xmlns="">
          <p:sp>
            <p:nvSpPr>
              <p:cNvPr id="3" name="Rectangle 2">
                <a:extLst>
                  <a:ext uri="{FF2B5EF4-FFF2-40B4-BE49-F238E27FC236}">
                    <a16:creationId xmlns:a16="http://schemas.microsoft.com/office/drawing/2014/main" id="{4F5BAA3E-F0A2-E9FA-6A95-59FADE4049CF}"/>
                  </a:ext>
                </a:extLst>
              </p:cNvPr>
              <p:cNvSpPr>
                <a:spLocks noRot="1" noChangeAspect="1" noMove="1" noResize="1" noEditPoints="1" noAdjustHandles="1" noChangeArrowheads="1" noChangeShapeType="1" noTextEdit="1"/>
              </p:cNvSpPr>
              <p:nvPr/>
            </p:nvSpPr>
            <p:spPr>
              <a:xfrm>
                <a:off x="762000" y="2514600"/>
                <a:ext cx="2998177" cy="453137"/>
              </a:xfrm>
              <a:prstGeom prst="rect">
                <a:avLst/>
              </a:prstGeom>
              <a:blipFill>
                <a:blip r:embed="rId4"/>
                <a:stretch>
                  <a:fillRect l="-407" b="-20270"/>
                </a:stretch>
              </a:blipFill>
            </p:spPr>
            <p:txBody>
              <a:bodyPr/>
              <a:lstStyle/>
              <a:p>
                <a:r>
                  <a:rPr lang="en-GB">
                    <a:noFill/>
                  </a:rPr>
                  <a:t> </a:t>
                </a:r>
              </a:p>
            </p:txBody>
          </p:sp>
        </mc:Fallback>
      </mc:AlternateContent>
      <p:sp>
        <p:nvSpPr>
          <p:cNvPr id="4" name="Text Box 5">
            <a:extLst>
              <a:ext uri="{FF2B5EF4-FFF2-40B4-BE49-F238E27FC236}">
                <a16:creationId xmlns:a16="http://schemas.microsoft.com/office/drawing/2014/main" id="{6D3CF980-9CA6-5658-F9C7-8176A04553FE}"/>
              </a:ext>
            </a:extLst>
          </p:cNvPr>
          <p:cNvSpPr txBox="1">
            <a:spLocks noChangeArrowheads="1"/>
          </p:cNvSpPr>
          <p:nvPr/>
        </p:nvSpPr>
        <p:spPr bwMode="auto">
          <a:xfrm>
            <a:off x="609600" y="5635079"/>
            <a:ext cx="8534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latin typeface="+mj-lt"/>
              </a:rPr>
              <a:t>What conclusions can we draw from the F-statistic?</a:t>
            </a:r>
          </a:p>
          <a:p>
            <a:pPr marL="457200" indent="-457200">
              <a:buAutoNum type="arabicParenBoth" startAt="2"/>
            </a:pPr>
            <a:endParaRPr lang="en-GB" altLang="en-US" sz="2000" dirty="0">
              <a:latin typeface="+mj-lt"/>
            </a:endParaRPr>
          </a:p>
        </p:txBody>
      </p:sp>
    </p:spTree>
    <p:extLst>
      <p:ext uri="{BB962C8B-B14F-4D97-AF65-F5344CB8AC3E}">
        <p14:creationId xmlns:p14="http://schemas.microsoft.com/office/powerpoint/2010/main" val="1159709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2</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838200"/>
            <a:ext cx="7848600" cy="450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F5BAA3E-F0A2-E9FA-6A95-59FADE4049CF}"/>
                  </a:ext>
                </a:extLst>
              </p:cNvPr>
              <p:cNvSpPr/>
              <p:nvPr/>
            </p:nvSpPr>
            <p:spPr>
              <a:xfrm>
                <a:off x="762000" y="2514600"/>
                <a:ext cx="2998177" cy="453137"/>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GB" altLang="en-US" sz="2400" i="1" smtClean="0">
                              <a:latin typeface="Cambria Math" panose="02040503050406030204" pitchFamily="18" charset="0"/>
                              <a:ea typeface="Cambria Math"/>
                            </a:rPr>
                          </m:ctrlPr>
                        </m:sSubPr>
                        <m:e>
                          <m:r>
                            <a:rPr lang="en-GB" altLang="en-US" sz="2400" i="1">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b="0" i="1" smtClean="0">
                              <a:latin typeface="Cambria Math" panose="02040503050406030204" pitchFamily="18" charset="0"/>
                              <a:ea typeface="Cambria Math"/>
                            </a:rPr>
                            <m:t>1</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i="1">
                              <a:latin typeface="Cambria Math" panose="02040503050406030204" pitchFamily="18" charset="0"/>
                              <a:ea typeface="Cambria Math"/>
                            </a:rPr>
                            <m:t>2</m:t>
                          </m:r>
                        </m:sub>
                      </m:sSub>
                      <m:r>
                        <a:rPr lang="en-GB" altLang="en-US" sz="2400" b="0" i="1" smtClean="0">
                          <a:latin typeface="Cambria Math" panose="02040503050406030204" pitchFamily="18" charset="0"/>
                          <a:ea typeface="Cambria Math"/>
                        </a:rPr>
                        <m:t>= … </m:t>
                      </m:r>
                      <m:r>
                        <a:rPr lang="en-GB" altLang="en-US" sz="2400" i="1">
                          <a:latin typeface="Cambria Math" panose="02040503050406030204" pitchFamily="18" charset="0"/>
                          <a:ea typeface="Cambria Math"/>
                        </a:rPr>
                        <m:t>=0</m:t>
                      </m:r>
                    </m:oMath>
                  </m:oMathPara>
                </a14:m>
                <a:endParaRPr lang="en-GB" altLang="en-US" sz="2400" baseline="-25000" dirty="0"/>
              </a:p>
            </p:txBody>
          </p:sp>
        </mc:Choice>
        <mc:Fallback xmlns="">
          <p:sp>
            <p:nvSpPr>
              <p:cNvPr id="3" name="Rectangle 2">
                <a:extLst>
                  <a:ext uri="{FF2B5EF4-FFF2-40B4-BE49-F238E27FC236}">
                    <a16:creationId xmlns:a16="http://schemas.microsoft.com/office/drawing/2014/main" id="{4F5BAA3E-F0A2-E9FA-6A95-59FADE4049CF}"/>
                  </a:ext>
                </a:extLst>
              </p:cNvPr>
              <p:cNvSpPr>
                <a:spLocks noRot="1" noChangeAspect="1" noMove="1" noResize="1" noEditPoints="1" noAdjustHandles="1" noChangeArrowheads="1" noChangeShapeType="1" noTextEdit="1"/>
              </p:cNvSpPr>
              <p:nvPr/>
            </p:nvSpPr>
            <p:spPr>
              <a:xfrm>
                <a:off x="762000" y="2514600"/>
                <a:ext cx="2998177" cy="453137"/>
              </a:xfrm>
              <a:prstGeom prst="rect">
                <a:avLst/>
              </a:prstGeom>
              <a:blipFill>
                <a:blip r:embed="rId4"/>
                <a:stretch>
                  <a:fillRect l="-407" b="-20270"/>
                </a:stretch>
              </a:blipFill>
            </p:spPr>
            <p:txBody>
              <a:bodyPr/>
              <a:lstStyle/>
              <a:p>
                <a:r>
                  <a:rPr lang="en-GB">
                    <a:noFill/>
                  </a:rPr>
                  <a:t> </a:t>
                </a:r>
              </a:p>
            </p:txBody>
          </p:sp>
        </mc:Fallback>
      </mc:AlternateContent>
      <p:sp>
        <p:nvSpPr>
          <p:cNvPr id="4" name="Text Box 5">
            <a:extLst>
              <a:ext uri="{FF2B5EF4-FFF2-40B4-BE49-F238E27FC236}">
                <a16:creationId xmlns:a16="http://schemas.microsoft.com/office/drawing/2014/main" id="{6D3CF980-9CA6-5658-F9C7-8176A04553FE}"/>
              </a:ext>
            </a:extLst>
          </p:cNvPr>
          <p:cNvSpPr txBox="1">
            <a:spLocks noChangeArrowheads="1"/>
          </p:cNvSpPr>
          <p:nvPr/>
        </p:nvSpPr>
        <p:spPr bwMode="auto">
          <a:xfrm>
            <a:off x="609600" y="5635079"/>
            <a:ext cx="853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400" dirty="0">
                <a:latin typeface="+mj-lt"/>
              </a:rPr>
              <a:t>The regression model is statistically significant.</a:t>
            </a:r>
            <a:endParaRPr lang="en-GB" altLang="en-US" sz="2000" dirty="0">
              <a:latin typeface="+mj-lt"/>
            </a:endParaRPr>
          </a:p>
        </p:txBody>
      </p:sp>
    </p:spTree>
    <p:extLst>
      <p:ext uri="{BB962C8B-B14F-4D97-AF65-F5344CB8AC3E}">
        <p14:creationId xmlns:p14="http://schemas.microsoft.com/office/powerpoint/2010/main" val="2884061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04850"/>
            <a:ext cx="8181975" cy="318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Question 3</a:t>
            </a:r>
          </a:p>
        </p:txBody>
      </p:sp>
      <p:sp>
        <p:nvSpPr>
          <p:cNvPr id="6" name="Text Box 5"/>
          <p:cNvSpPr txBox="1">
            <a:spLocks noChangeArrowheads="1"/>
          </p:cNvSpPr>
          <p:nvPr/>
        </p:nvSpPr>
        <p:spPr bwMode="auto">
          <a:xfrm>
            <a:off x="381000" y="3886200"/>
            <a:ext cx="8534400"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buAutoNum type="arabicParenBoth"/>
            </a:pPr>
            <a:r>
              <a:rPr lang="en-GB" altLang="en-US" sz="2400" dirty="0"/>
              <a:t>Please write down our equation from this model</a:t>
            </a:r>
          </a:p>
          <a:p>
            <a:r>
              <a:rPr lang="en-GB" altLang="en-US" sz="2400" dirty="0"/>
              <a:t>        EDUC =       ?      +  (      ?    ∗ PAEDUC) + (     ?   ∗SIBS)</a:t>
            </a:r>
          </a:p>
          <a:p>
            <a:pPr marL="457200" indent="-457200">
              <a:buAutoNum type="arabicParenBoth" startAt="2"/>
            </a:pPr>
            <a:r>
              <a:rPr lang="en-GB" altLang="en-US" sz="2400" dirty="0">
                <a:latin typeface="+mj-lt"/>
              </a:rPr>
              <a:t>Predict </a:t>
            </a:r>
            <a:r>
              <a:rPr lang="en-GB" altLang="en-US" sz="2400" dirty="0" err="1">
                <a:latin typeface="+mj-lt"/>
              </a:rPr>
              <a:t>educ</a:t>
            </a:r>
            <a:r>
              <a:rPr lang="en-GB" altLang="en-US" sz="2400" dirty="0">
                <a:latin typeface="+mj-lt"/>
              </a:rPr>
              <a:t> for someone for whom the father has 7 years of educations and who has 3 brothers and sisters</a:t>
            </a:r>
          </a:p>
          <a:p>
            <a:pPr marL="457200" indent="-457200">
              <a:buAutoNum type="arabicParenBoth" startAt="2"/>
            </a:pPr>
            <a:r>
              <a:rPr lang="en-GB" altLang="en-US" sz="2400" dirty="0">
                <a:latin typeface="+mj-lt"/>
              </a:rPr>
              <a:t>What is the null hypothesis for the red areas?</a:t>
            </a:r>
          </a:p>
          <a:p>
            <a:pPr marL="457200" indent="-457200">
              <a:buAutoNum type="arabicParenBoth" startAt="2"/>
            </a:pPr>
            <a:r>
              <a:rPr lang="en-GB" altLang="en-US" sz="2400" dirty="0">
                <a:latin typeface="+mj-lt"/>
              </a:rPr>
              <a:t>What conclusions can we draw from the red areas?</a:t>
            </a:r>
          </a:p>
          <a:p>
            <a:pPr marL="457200" indent="-457200">
              <a:buAutoNum type="arabicParenBoth" startAt="2"/>
            </a:pPr>
            <a:endParaRPr lang="en-GB" altLang="en-US" sz="2000" dirty="0">
              <a:latin typeface="+mj-lt"/>
            </a:endParaRPr>
          </a:p>
        </p:txBody>
      </p:sp>
      <p:sp>
        <p:nvSpPr>
          <p:cNvPr id="4" name="Rounded Rectangle 11">
            <a:extLst>
              <a:ext uri="{FF2B5EF4-FFF2-40B4-BE49-F238E27FC236}">
                <a16:creationId xmlns:a16="http://schemas.microsoft.com/office/drawing/2014/main" id="{6128E5B1-2AD2-EDC7-2787-42D073EAD648}"/>
              </a:ext>
            </a:extLst>
          </p:cNvPr>
          <p:cNvSpPr/>
          <p:nvPr/>
        </p:nvSpPr>
        <p:spPr>
          <a:xfrm>
            <a:off x="6858000" y="1828800"/>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le 11">
            <a:extLst>
              <a:ext uri="{FF2B5EF4-FFF2-40B4-BE49-F238E27FC236}">
                <a16:creationId xmlns:a16="http://schemas.microsoft.com/office/drawing/2014/main" id="{3BC104B9-B495-B310-8EFA-FE3E43772D8F}"/>
              </a:ext>
            </a:extLst>
          </p:cNvPr>
          <p:cNvSpPr/>
          <p:nvPr/>
        </p:nvSpPr>
        <p:spPr>
          <a:xfrm>
            <a:off x="6863862" y="2295525"/>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11">
            <a:extLst>
              <a:ext uri="{FF2B5EF4-FFF2-40B4-BE49-F238E27FC236}">
                <a16:creationId xmlns:a16="http://schemas.microsoft.com/office/drawing/2014/main" id="{5B4E5334-153D-4C5E-E172-D9475C8DBD0A}"/>
              </a:ext>
            </a:extLst>
          </p:cNvPr>
          <p:cNvSpPr/>
          <p:nvPr/>
        </p:nvSpPr>
        <p:spPr>
          <a:xfrm>
            <a:off x="6866426" y="2990850"/>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8942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04850"/>
            <a:ext cx="8181975" cy="318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Question 3</a:t>
            </a:r>
          </a:p>
        </p:txBody>
      </p:sp>
      <p:sp>
        <p:nvSpPr>
          <p:cNvPr id="4" name="Rounded Rectangle 11">
            <a:extLst>
              <a:ext uri="{FF2B5EF4-FFF2-40B4-BE49-F238E27FC236}">
                <a16:creationId xmlns:a16="http://schemas.microsoft.com/office/drawing/2014/main" id="{6128E5B1-2AD2-EDC7-2787-42D073EAD648}"/>
              </a:ext>
            </a:extLst>
          </p:cNvPr>
          <p:cNvSpPr/>
          <p:nvPr/>
        </p:nvSpPr>
        <p:spPr>
          <a:xfrm>
            <a:off x="6858000" y="1828800"/>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ounded Rectangle 11">
            <a:extLst>
              <a:ext uri="{FF2B5EF4-FFF2-40B4-BE49-F238E27FC236}">
                <a16:creationId xmlns:a16="http://schemas.microsoft.com/office/drawing/2014/main" id="{3BC104B9-B495-B310-8EFA-FE3E43772D8F}"/>
              </a:ext>
            </a:extLst>
          </p:cNvPr>
          <p:cNvSpPr/>
          <p:nvPr/>
        </p:nvSpPr>
        <p:spPr>
          <a:xfrm>
            <a:off x="6863862" y="2295525"/>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11">
            <a:extLst>
              <a:ext uri="{FF2B5EF4-FFF2-40B4-BE49-F238E27FC236}">
                <a16:creationId xmlns:a16="http://schemas.microsoft.com/office/drawing/2014/main" id="{5B4E5334-153D-4C5E-E172-D9475C8DBD0A}"/>
              </a:ext>
            </a:extLst>
          </p:cNvPr>
          <p:cNvSpPr/>
          <p:nvPr/>
        </p:nvSpPr>
        <p:spPr>
          <a:xfrm>
            <a:off x="6866426" y="2990850"/>
            <a:ext cx="1752600" cy="285750"/>
          </a:xfrm>
          <a:prstGeom prst="roundRect">
            <a:avLst/>
          </a:prstGeom>
          <a:solidFill>
            <a:srgbClr val="FF0000">
              <a:alpha val="12941"/>
            </a:srgb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8E60AF2-E69D-0F10-7C88-1E8CEED3BFDA}"/>
                  </a:ext>
                </a:extLst>
              </p:cNvPr>
              <p:cNvSpPr/>
              <p:nvPr/>
            </p:nvSpPr>
            <p:spPr>
              <a:xfrm>
                <a:off x="457200" y="3810000"/>
                <a:ext cx="8229600" cy="2836739"/>
              </a:xfrm>
              <a:prstGeom prst="rect">
                <a:avLst/>
              </a:prstGeom>
            </p:spPr>
            <p:txBody>
              <a:bodyPr wrap="square">
                <a:spAutoFit/>
              </a:bodyPr>
              <a:lstStyle/>
              <a:p>
                <a:r>
                  <a:rPr lang="en-GB" altLang="en-US" sz="3400" baseline="-25000" dirty="0"/>
                  <a:t>(1) EDUC =  10.711 +  (0.287∗ PAEDUC) + ( -0.116∗SIBS)</a:t>
                </a:r>
              </a:p>
              <a:p>
                <a:r>
                  <a:rPr lang="en-GB" altLang="en-US" sz="3400" baseline="-25000" dirty="0"/>
                  <a:t>(2) 10.711+0.287*7-0.116*3 = 12.372</a:t>
                </a:r>
              </a:p>
              <a:p>
                <a:r>
                  <a:rPr lang="en-GB" altLang="en-US" sz="3400" baseline="-25000" dirty="0"/>
                  <a:t>(3) </a:t>
                </a:r>
                <a:endParaRPr lang="en-GB" altLang="en-US" sz="3400" i="1" dirty="0">
                  <a:latin typeface="Cambria Math" panose="02040503050406030204" pitchFamily="18" charset="0"/>
                  <a:ea typeface="Cambria Math"/>
                </a:endParaRPr>
              </a:p>
              <a:p>
                <a:pPr/>
                <a14:m>
                  <m:oMathPara xmlns:m="http://schemas.openxmlformats.org/officeDocument/2006/math">
                    <m:oMathParaPr>
                      <m:jc m:val="left"/>
                    </m:oMathParaPr>
                    <m:oMath xmlns:m="http://schemas.openxmlformats.org/officeDocument/2006/math">
                      <m:sSub>
                        <m:sSubPr>
                          <m:ctrlPr>
                            <a:rPr lang="en-GB" altLang="en-US" sz="2400" i="1">
                              <a:latin typeface="Cambria Math" panose="02040503050406030204" pitchFamily="18" charset="0"/>
                              <a:ea typeface="Cambria Math"/>
                            </a:rPr>
                          </m:ctrlPr>
                        </m:sSubPr>
                        <m:e>
                          <m:r>
                            <a:rPr lang="en-GB" altLang="en-US" sz="2400" b="0" i="1" smtClean="0">
                              <a:latin typeface="Cambria Math" panose="02040503050406030204" pitchFamily="18" charset="0"/>
                              <a:ea typeface="Cambria Math"/>
                            </a:rPr>
                            <m:t>     </m:t>
                          </m:r>
                          <m:r>
                            <a:rPr lang="en-GB" altLang="en-US" sz="2400" b="0" i="1" smtClean="0">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b="0" i="1" smtClean="0">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i="1">
                              <a:latin typeface="Cambria Math" panose="02040503050406030204" pitchFamily="18" charset="0"/>
                              <a:ea typeface="Cambria Math"/>
                            </a:rPr>
                            <m:t>0</m:t>
                          </m:r>
                        </m:sub>
                      </m:sSub>
                      <m:r>
                        <a:rPr lang="en-GB" altLang="en-US" sz="2400" b="0" i="1" smtClean="0">
                          <a:latin typeface="Cambria Math" panose="02040503050406030204" pitchFamily="18" charset="0"/>
                          <a:ea typeface="Cambria Math"/>
                        </a:rPr>
                        <m:t>=0</m:t>
                      </m:r>
                      <m:r>
                        <a:rPr lang="en-GB" altLang="en-US" sz="2400" i="1">
                          <a:latin typeface="Cambria Math" panose="02040503050406030204" pitchFamily="18" charset="0"/>
                          <a:ea typeface="Cambria Math"/>
                        </a:rPr>
                        <m:t> </m:t>
                      </m:r>
                    </m:oMath>
                  </m:oMathPara>
                </a14:m>
                <a:endParaRPr lang="en-GB" altLang="en-US" sz="2400" baseline="-25000" dirty="0"/>
              </a:p>
              <a:p>
                <a:r>
                  <a:rPr lang="en-GB" altLang="en-US" sz="2400" baseline="-25000" dirty="0"/>
                  <a:t>       </a:t>
                </a:r>
                <a14:m>
                  <m:oMath xmlns:m="http://schemas.openxmlformats.org/officeDocument/2006/math">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b="0" i="1" smtClean="0">
                            <a:latin typeface="Cambria Math" panose="02040503050406030204" pitchFamily="18" charset="0"/>
                            <a:ea typeface="Cambria Math"/>
                          </a:rPr>
                          <m:t>1</m:t>
                        </m:r>
                      </m:sub>
                    </m:sSub>
                    <m:r>
                      <a:rPr lang="en-GB" altLang="en-US" sz="2400" i="1">
                        <a:latin typeface="Cambria Math" panose="02040503050406030204" pitchFamily="18" charset="0"/>
                        <a:ea typeface="Cambria Math"/>
                      </a:rPr>
                      <m:t>=0</m:t>
                    </m:r>
                  </m:oMath>
                </a14:m>
                <a:endParaRPr lang="en-GB" altLang="en-US" sz="2400" baseline="-25000" dirty="0"/>
              </a:p>
              <a:p>
                <a:r>
                  <a:rPr lang="en-GB" altLang="en-US" sz="2400" baseline="-25000" dirty="0"/>
                  <a:t>       </a:t>
                </a:r>
                <a14:m>
                  <m:oMath xmlns:m="http://schemas.openxmlformats.org/officeDocument/2006/math">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𝐻</m:t>
                        </m:r>
                      </m:e>
                      <m:sub>
                        <m:r>
                          <a:rPr lang="en-GB" altLang="en-US" sz="2400" i="1">
                            <a:latin typeface="Cambria Math" panose="02040503050406030204" pitchFamily="18" charset="0"/>
                            <a:ea typeface="Cambria Math"/>
                          </a:rPr>
                          <m:t>0</m:t>
                        </m:r>
                      </m:sub>
                    </m:sSub>
                    <m:r>
                      <a:rPr lang="en-GB" altLang="en-US" sz="2400" i="1">
                        <a:latin typeface="Cambria Math" panose="02040503050406030204" pitchFamily="18" charset="0"/>
                        <a:ea typeface="Cambria Math"/>
                      </a:rPr>
                      <m:t>:</m:t>
                    </m:r>
                    <m:sSub>
                      <m:sSubPr>
                        <m:ctrlPr>
                          <a:rPr lang="en-GB" altLang="en-US" sz="2400" i="1">
                            <a:latin typeface="Cambria Math" panose="02040503050406030204" pitchFamily="18" charset="0"/>
                            <a:ea typeface="Cambria Math"/>
                          </a:rPr>
                        </m:ctrlPr>
                      </m:sSubPr>
                      <m:e>
                        <m:r>
                          <a:rPr lang="en-GB" altLang="en-US" sz="2400" i="1">
                            <a:latin typeface="Cambria Math" panose="02040503050406030204" pitchFamily="18" charset="0"/>
                            <a:ea typeface="Cambria Math"/>
                          </a:rPr>
                          <m:t>𝛽</m:t>
                        </m:r>
                      </m:e>
                      <m:sub>
                        <m:r>
                          <a:rPr lang="en-GB" altLang="en-US" sz="2400" b="0" i="1" smtClean="0">
                            <a:latin typeface="Cambria Math" panose="02040503050406030204" pitchFamily="18" charset="0"/>
                            <a:ea typeface="Cambria Math"/>
                          </a:rPr>
                          <m:t>2</m:t>
                        </m:r>
                      </m:sub>
                    </m:sSub>
                    <m:r>
                      <a:rPr lang="en-GB" altLang="en-US" sz="2400" i="1">
                        <a:latin typeface="Cambria Math" panose="02040503050406030204" pitchFamily="18" charset="0"/>
                        <a:ea typeface="Cambria Math"/>
                      </a:rPr>
                      <m:t>=0</m:t>
                    </m:r>
                  </m:oMath>
                </a14:m>
                <a:endParaRPr lang="en-GB" altLang="en-US" sz="2400" baseline="-25000" dirty="0"/>
              </a:p>
              <a:p>
                <a:r>
                  <a:rPr lang="en-GB" altLang="en-US" sz="3400" baseline="-25000" dirty="0"/>
                  <a:t>(4) Reject each null hypotheses since their p-values are &lt; 0.05.</a:t>
                </a:r>
              </a:p>
            </p:txBody>
          </p:sp>
        </mc:Choice>
        <mc:Fallback xmlns="">
          <p:sp>
            <p:nvSpPr>
              <p:cNvPr id="12" name="Rectangle 11">
                <a:extLst>
                  <a:ext uri="{FF2B5EF4-FFF2-40B4-BE49-F238E27FC236}">
                    <a16:creationId xmlns:a16="http://schemas.microsoft.com/office/drawing/2014/main" id="{98E60AF2-E69D-0F10-7C88-1E8CEED3BFDA}"/>
                  </a:ext>
                </a:extLst>
              </p:cNvPr>
              <p:cNvSpPr>
                <a:spLocks noRot="1" noChangeAspect="1" noMove="1" noResize="1" noEditPoints="1" noAdjustHandles="1" noChangeArrowheads="1" noChangeShapeType="1" noTextEdit="1"/>
              </p:cNvSpPr>
              <p:nvPr/>
            </p:nvSpPr>
            <p:spPr>
              <a:xfrm>
                <a:off x="457200" y="3810000"/>
                <a:ext cx="8229600" cy="2836739"/>
              </a:xfrm>
              <a:prstGeom prst="rect">
                <a:avLst/>
              </a:prstGeom>
              <a:blipFill>
                <a:blip r:embed="rId4"/>
                <a:stretch>
                  <a:fillRect l="-963" b="-4086"/>
                </a:stretch>
              </a:blipFill>
            </p:spPr>
            <p:txBody>
              <a:bodyPr/>
              <a:lstStyle/>
              <a:p>
                <a:r>
                  <a:rPr lang="en-GB">
                    <a:noFill/>
                  </a:rPr>
                  <a:t> </a:t>
                </a:r>
              </a:p>
            </p:txBody>
          </p:sp>
        </mc:Fallback>
      </mc:AlternateContent>
    </p:spTree>
    <p:extLst>
      <p:ext uri="{BB962C8B-B14F-4D97-AF65-F5344CB8AC3E}">
        <p14:creationId xmlns:p14="http://schemas.microsoft.com/office/powerpoint/2010/main" val="328171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Text Box 3"/>
          <p:cNvSpPr txBox="1">
            <a:spLocks noChangeArrowheads="1"/>
          </p:cNvSpPr>
          <p:nvPr/>
        </p:nvSpPr>
        <p:spPr bwMode="auto">
          <a:xfrm>
            <a:off x="304800" y="729496"/>
            <a:ext cx="8382000" cy="1938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buClr>
                <a:srgbClr val="333399"/>
              </a:buClr>
              <a:buSzPct val="75000"/>
            </a:pPr>
            <a:r>
              <a:rPr lang="en-GB" altLang="en-US" sz="2000" dirty="0"/>
              <a:t>Some variables may be </a:t>
            </a:r>
            <a:r>
              <a:rPr lang="en-GB" altLang="en-US" sz="2000" b="1" dirty="0"/>
              <a:t>categorical</a:t>
            </a:r>
            <a:r>
              <a:rPr lang="en-GB" altLang="en-US" sz="2000" dirty="0"/>
              <a:t>. A common example would be </a:t>
            </a:r>
            <a:r>
              <a:rPr lang="en-GB" altLang="en-US" sz="2000" b="1" dirty="0"/>
              <a:t>gender</a:t>
            </a:r>
            <a:r>
              <a:rPr lang="en-GB" altLang="en-US" sz="2000" dirty="0"/>
              <a:t>, another example would be </a:t>
            </a:r>
            <a:r>
              <a:rPr lang="en-GB" altLang="en-US" sz="2000" b="1" dirty="0"/>
              <a:t>store location (e.g. Leeds, Manchester, and London)</a:t>
            </a:r>
          </a:p>
          <a:p>
            <a:pPr>
              <a:buClr>
                <a:srgbClr val="333399"/>
              </a:buClr>
              <a:buSzPct val="75000"/>
            </a:pPr>
            <a:endParaRPr lang="en-GB" altLang="en-US" sz="2000" dirty="0"/>
          </a:p>
          <a:p>
            <a:pPr>
              <a:buClr>
                <a:srgbClr val="333399"/>
              </a:buClr>
              <a:buSzPct val="75000"/>
            </a:pPr>
            <a:r>
              <a:rPr lang="en-GB" altLang="en-US" sz="2000" dirty="0"/>
              <a:t>Dummy variables are represented by </a:t>
            </a:r>
            <a:r>
              <a:rPr lang="en-GB" altLang="en-US" sz="2000" b="1" dirty="0"/>
              <a:t>dummy or indicator variables</a:t>
            </a:r>
            <a:r>
              <a:rPr lang="en-GB" altLang="en-US" sz="2000" dirty="0"/>
              <a:t>, which </a:t>
            </a:r>
            <a:r>
              <a:rPr lang="en-GB" altLang="en-US" sz="2000" b="1" dirty="0"/>
              <a:t>are</a:t>
            </a:r>
            <a:r>
              <a:rPr lang="en-GB" altLang="en-US" sz="2000" dirty="0"/>
              <a:t> set to </a:t>
            </a:r>
            <a:r>
              <a:rPr lang="en-GB" altLang="en-US" sz="2000" b="1" dirty="0"/>
              <a:t>1 to represent one value </a:t>
            </a:r>
            <a:r>
              <a:rPr lang="en-GB" altLang="en-US" sz="2000" dirty="0"/>
              <a:t>(say “Leeds”) and </a:t>
            </a:r>
            <a:r>
              <a:rPr lang="en-GB" altLang="en-US" sz="2000" b="1" dirty="0"/>
              <a:t>0 for all others</a:t>
            </a:r>
          </a:p>
        </p:txBody>
      </p:sp>
      <p:sp>
        <p:nvSpPr>
          <p:cNvPr id="2" name="Title 1"/>
          <p:cNvSpPr>
            <a:spLocks noGrp="1"/>
          </p:cNvSpPr>
          <p:nvPr>
            <p:ph type="title"/>
          </p:nvPr>
        </p:nvSpPr>
        <p:spPr/>
        <p:txBody>
          <a:bodyPr/>
          <a:lstStyle/>
          <a:p>
            <a:r>
              <a:rPr lang="en-GB" dirty="0"/>
              <a:t>Creating dummy variables</a:t>
            </a:r>
          </a:p>
        </p:txBody>
      </p:sp>
      <p:graphicFrame>
        <p:nvGraphicFramePr>
          <p:cNvPr id="5" name="Table 4"/>
          <p:cNvGraphicFramePr>
            <a:graphicFrameLocks noGrp="1"/>
          </p:cNvGraphicFramePr>
          <p:nvPr>
            <p:extLst>
              <p:ext uri="{D42A27DB-BD31-4B8C-83A1-F6EECF244321}">
                <p14:modId xmlns:p14="http://schemas.microsoft.com/office/powerpoint/2010/main" val="3835147904"/>
              </p:ext>
            </p:extLst>
          </p:nvPr>
        </p:nvGraphicFramePr>
        <p:xfrm>
          <a:off x="609600" y="3091577"/>
          <a:ext cx="4035616" cy="1747520"/>
        </p:xfrm>
        <a:graphic>
          <a:graphicData uri="http://schemas.openxmlformats.org/drawingml/2006/table">
            <a:tbl>
              <a:tblPr firstRow="1" bandRow="1">
                <a:tableStyleId>{5C22544A-7EE6-4342-B048-85BDC9FD1C3A}</a:tableStyleId>
              </a:tblPr>
              <a:tblGrid>
                <a:gridCol w="1325944">
                  <a:extLst>
                    <a:ext uri="{9D8B030D-6E8A-4147-A177-3AD203B41FA5}">
                      <a16:colId xmlns:a16="http://schemas.microsoft.com/office/drawing/2014/main" val="20000"/>
                    </a:ext>
                  </a:extLst>
                </a:gridCol>
                <a:gridCol w="1354836">
                  <a:extLst>
                    <a:ext uri="{9D8B030D-6E8A-4147-A177-3AD203B41FA5}">
                      <a16:colId xmlns:a16="http://schemas.microsoft.com/office/drawing/2014/main" val="20001"/>
                    </a:ext>
                  </a:extLst>
                </a:gridCol>
                <a:gridCol w="1354836">
                  <a:extLst>
                    <a:ext uri="{9D8B030D-6E8A-4147-A177-3AD203B41FA5}">
                      <a16:colId xmlns:a16="http://schemas.microsoft.com/office/drawing/2014/main" val="20002"/>
                    </a:ext>
                  </a:extLst>
                </a:gridCol>
              </a:tblGrid>
              <a:tr h="370840">
                <a:tc>
                  <a:txBody>
                    <a:bodyPr/>
                    <a:lstStyle/>
                    <a:p>
                      <a:endParaRPr lang="en-GB" dirty="0"/>
                    </a:p>
                  </a:txBody>
                  <a:tcPr/>
                </a:tc>
                <a:tc>
                  <a:txBody>
                    <a:bodyPr/>
                    <a:lstStyle/>
                    <a:p>
                      <a:r>
                        <a:rPr lang="en-GB" dirty="0"/>
                        <a:t>Dummy for </a:t>
                      </a:r>
                    </a:p>
                    <a:p>
                      <a:r>
                        <a:rPr lang="en-GB" dirty="0"/>
                        <a:t>Manchester</a:t>
                      </a:r>
                    </a:p>
                  </a:txBody>
                  <a:tcPr/>
                </a:tc>
                <a:tc>
                  <a:txBody>
                    <a:bodyPr/>
                    <a:lstStyle/>
                    <a:p>
                      <a:r>
                        <a:rPr lang="en-GB" dirty="0"/>
                        <a:t>Dummy</a:t>
                      </a:r>
                      <a:r>
                        <a:rPr lang="en-GB" baseline="0" dirty="0"/>
                        <a:t> for </a:t>
                      </a:r>
                    </a:p>
                    <a:p>
                      <a:r>
                        <a:rPr lang="en-GB" baseline="0" dirty="0"/>
                        <a:t>Leeds</a:t>
                      </a:r>
                      <a:endParaRPr lang="en-GB" dirty="0"/>
                    </a:p>
                  </a:txBody>
                  <a:tcPr/>
                </a:tc>
                <a:extLst>
                  <a:ext uri="{0D108BD9-81ED-4DB2-BD59-A6C34878D82A}">
                    <a16:rowId xmlns:a16="http://schemas.microsoft.com/office/drawing/2014/main" val="10000"/>
                  </a:ext>
                </a:extLst>
              </a:tr>
              <a:tr h="370840">
                <a:tc>
                  <a:txBody>
                    <a:bodyPr/>
                    <a:lstStyle/>
                    <a:p>
                      <a:r>
                        <a:rPr lang="en-GB" dirty="0"/>
                        <a:t>Manchester</a:t>
                      </a:r>
                    </a:p>
                  </a:txBody>
                  <a:tcPr/>
                </a:tc>
                <a:tc>
                  <a:txBody>
                    <a:bodyPr/>
                    <a:lstStyle/>
                    <a:p>
                      <a:pPr algn="ctr"/>
                      <a:r>
                        <a:rPr lang="en-GB" b="1" dirty="0"/>
                        <a:t>1</a:t>
                      </a:r>
                    </a:p>
                  </a:txBody>
                  <a:tcPr/>
                </a:tc>
                <a:tc>
                  <a:txBody>
                    <a:bodyPr/>
                    <a:lstStyle/>
                    <a:p>
                      <a:pPr algn="ctr"/>
                      <a:r>
                        <a:rPr lang="en-GB" dirty="0"/>
                        <a:t>0</a:t>
                      </a:r>
                    </a:p>
                  </a:txBody>
                  <a:tcPr/>
                </a:tc>
                <a:extLst>
                  <a:ext uri="{0D108BD9-81ED-4DB2-BD59-A6C34878D82A}">
                    <a16:rowId xmlns:a16="http://schemas.microsoft.com/office/drawing/2014/main" val="10001"/>
                  </a:ext>
                </a:extLst>
              </a:tr>
              <a:tr h="370840">
                <a:tc>
                  <a:txBody>
                    <a:bodyPr/>
                    <a:lstStyle/>
                    <a:p>
                      <a:r>
                        <a:rPr lang="en-GB" dirty="0"/>
                        <a:t>Leeds</a:t>
                      </a:r>
                    </a:p>
                  </a:txBody>
                  <a:tcPr/>
                </a:tc>
                <a:tc>
                  <a:txBody>
                    <a:bodyPr/>
                    <a:lstStyle/>
                    <a:p>
                      <a:pPr algn="ctr"/>
                      <a:r>
                        <a:rPr lang="en-GB" dirty="0"/>
                        <a:t>0</a:t>
                      </a:r>
                    </a:p>
                  </a:txBody>
                  <a:tcPr/>
                </a:tc>
                <a:tc>
                  <a:txBody>
                    <a:bodyPr/>
                    <a:lstStyle/>
                    <a:p>
                      <a:pPr algn="ctr"/>
                      <a:r>
                        <a:rPr lang="en-GB" b="1" dirty="0"/>
                        <a:t>1</a:t>
                      </a:r>
                    </a:p>
                  </a:txBody>
                  <a:tcPr/>
                </a:tc>
                <a:extLst>
                  <a:ext uri="{0D108BD9-81ED-4DB2-BD59-A6C34878D82A}">
                    <a16:rowId xmlns:a16="http://schemas.microsoft.com/office/drawing/2014/main" val="10002"/>
                  </a:ext>
                </a:extLst>
              </a:tr>
              <a:tr h="142240">
                <a:tc>
                  <a:txBody>
                    <a:bodyPr/>
                    <a:lstStyle/>
                    <a:p>
                      <a:r>
                        <a:rPr lang="en-GB" dirty="0"/>
                        <a:t>London</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10003"/>
                  </a:ext>
                </a:extLst>
              </a:tr>
            </a:tbl>
          </a:graphicData>
        </a:graphic>
      </p:graphicFrame>
      <p:sp>
        <p:nvSpPr>
          <p:cNvPr id="6" name="Rounded Rectangular Callout 5"/>
          <p:cNvSpPr/>
          <p:nvPr/>
        </p:nvSpPr>
        <p:spPr>
          <a:xfrm>
            <a:off x="5254312" y="3624977"/>
            <a:ext cx="3200400" cy="1328023"/>
          </a:xfrm>
          <a:prstGeom prst="wedgeRoundRectCallout">
            <a:avLst>
              <a:gd name="adj1" fmla="val -86767"/>
              <a:gd name="adj2" fmla="val 29397"/>
              <a:gd name="adj3" fmla="val 16667"/>
            </a:avLst>
          </a:prstGeom>
          <a:solidFill>
            <a:schemeClr val="bg2"/>
          </a:solidFill>
        </p:spPr>
        <p:style>
          <a:lnRef idx="2">
            <a:schemeClr val="accent2"/>
          </a:lnRef>
          <a:fillRef idx="1">
            <a:schemeClr val="lt1"/>
          </a:fillRef>
          <a:effectRef idx="0">
            <a:schemeClr val="accent2"/>
          </a:effectRef>
          <a:fontRef idx="minor">
            <a:schemeClr val="dk1"/>
          </a:fontRef>
        </p:style>
        <p:txBody>
          <a:bodyPr wrap="square">
            <a:spAutoFit/>
          </a:bodyPr>
          <a:lstStyle/>
          <a:p>
            <a:pPr>
              <a:buClr>
                <a:srgbClr val="333399"/>
              </a:buClr>
              <a:buSzPct val="75000"/>
            </a:pPr>
            <a:r>
              <a:rPr lang="en-GB" altLang="en-US" dirty="0"/>
              <a:t>There is a dummy variable for every value </a:t>
            </a:r>
            <a:r>
              <a:rPr lang="en-GB" altLang="en-US" b="1" dirty="0"/>
              <a:t>except for the baseline value </a:t>
            </a:r>
            <a:r>
              <a:rPr lang="en-GB" altLang="en-US" dirty="0"/>
              <a:t>(not given a variable acts as a baseline)</a:t>
            </a:r>
          </a:p>
        </p:txBody>
      </p:sp>
      <p:sp>
        <p:nvSpPr>
          <p:cNvPr id="3" name="Rectangle 2">
            <a:extLst>
              <a:ext uri="{FF2B5EF4-FFF2-40B4-BE49-F238E27FC236}">
                <a16:creationId xmlns:a16="http://schemas.microsoft.com/office/drawing/2014/main" id="{59EB7484-0E81-4D74-BFF2-1982B2207896}"/>
              </a:ext>
            </a:extLst>
          </p:cNvPr>
          <p:cNvSpPr/>
          <p:nvPr/>
        </p:nvSpPr>
        <p:spPr>
          <a:xfrm>
            <a:off x="609600" y="5221069"/>
            <a:ext cx="8382000" cy="646331"/>
          </a:xfrm>
          <a:prstGeom prst="rect">
            <a:avLst/>
          </a:prstGeom>
        </p:spPr>
        <p:txBody>
          <a:bodyPr wrap="square">
            <a:spAutoFit/>
          </a:bodyPr>
          <a:lstStyle/>
          <a:p>
            <a:r>
              <a:rPr lang="en-GB" dirty="0"/>
              <a:t>Optional Flipped Learning: Dummy Variable</a:t>
            </a:r>
          </a:p>
          <a:p>
            <a:r>
              <a:rPr lang="en-GB" dirty="0"/>
              <a:t>Week 4 of LUBS5308M Business Analytics and Decision Science</a:t>
            </a:r>
          </a:p>
        </p:txBody>
      </p:sp>
    </p:spTree>
    <p:extLst>
      <p:ext uri="{BB962C8B-B14F-4D97-AF65-F5344CB8AC3E}">
        <p14:creationId xmlns:p14="http://schemas.microsoft.com/office/powerpoint/2010/main" val="3025331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dummy variables</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85799"/>
            <a:ext cx="7581900" cy="467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3407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dummy variables</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14375"/>
            <a:ext cx="8867775" cy="378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37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4</a:t>
            </a:r>
          </a:p>
        </p:txBody>
      </p:sp>
      <p:sp>
        <p:nvSpPr>
          <p:cNvPr id="4" name="Text Box 5"/>
          <p:cNvSpPr txBox="1">
            <a:spLocks noChangeArrowheads="1"/>
          </p:cNvSpPr>
          <p:nvPr/>
        </p:nvSpPr>
        <p:spPr bwMode="auto">
          <a:xfrm>
            <a:off x="381000" y="4397514"/>
            <a:ext cx="819993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dirty="0"/>
              <a:t>(1) Equation from this model is…</a:t>
            </a:r>
          </a:p>
          <a:p>
            <a:r>
              <a:rPr lang="en-GB" altLang="en-US" sz="2000" b="1" i="0" dirty="0">
                <a:solidFill>
                  <a:srgbClr val="FF0000"/>
                </a:solidFill>
                <a:latin typeface="+mj-lt"/>
              </a:rPr>
              <a:t>EDUC =   </a:t>
            </a:r>
            <a:r>
              <a:rPr lang="en-GB" altLang="en-US" sz="2000" b="1" i="0" u="sng" dirty="0">
                <a:solidFill>
                  <a:srgbClr val="FF0000"/>
                </a:solidFill>
                <a:latin typeface="+mj-lt"/>
              </a:rPr>
              <a:t>              </a:t>
            </a:r>
            <a:r>
              <a:rPr lang="en-GB" altLang="en-US" sz="2000" b="1" i="0" dirty="0">
                <a:solidFill>
                  <a:srgbClr val="FF0000"/>
                </a:solidFill>
                <a:latin typeface="+mj-lt"/>
              </a:rPr>
              <a:t>  +  (  </a:t>
            </a:r>
            <a:r>
              <a:rPr lang="en-GB" altLang="en-US" sz="2000" b="1" i="0" u="sng" dirty="0">
                <a:solidFill>
                  <a:srgbClr val="FF0000"/>
                </a:solidFill>
                <a:latin typeface="+mj-lt"/>
              </a:rPr>
              <a:t>              </a:t>
            </a:r>
            <a:r>
              <a:rPr lang="en-GB" altLang="en-US" sz="2000" b="1" i="0" dirty="0">
                <a:solidFill>
                  <a:srgbClr val="FF0000"/>
                </a:solidFill>
                <a:latin typeface="+mj-lt"/>
              </a:rPr>
              <a:t>∗ PAEDUC)</a:t>
            </a:r>
            <a:r>
              <a:rPr lang="en-GB" altLang="en-US" sz="2000" b="1" dirty="0">
                <a:solidFill>
                  <a:srgbClr val="FF0000"/>
                </a:solidFill>
              </a:rPr>
              <a:t> + (  </a:t>
            </a:r>
            <a:r>
              <a:rPr lang="en-GB" altLang="en-US" sz="2000" b="1" u="sng" dirty="0">
                <a:solidFill>
                  <a:srgbClr val="FF0000"/>
                </a:solidFill>
              </a:rPr>
              <a:t>             </a:t>
            </a:r>
            <a:r>
              <a:rPr lang="en-GB" altLang="en-US" sz="2000" b="1" dirty="0">
                <a:solidFill>
                  <a:srgbClr val="FF0000"/>
                </a:solidFill>
              </a:rPr>
              <a:t>∗SIBS) + (  </a:t>
            </a:r>
            <a:r>
              <a:rPr lang="en-GB" altLang="en-US" sz="2000" b="1" u="sng" dirty="0">
                <a:solidFill>
                  <a:srgbClr val="FF0000"/>
                </a:solidFill>
              </a:rPr>
              <a:t>             </a:t>
            </a:r>
            <a:r>
              <a:rPr lang="en-GB" altLang="en-US" sz="2000" b="1" dirty="0">
                <a:solidFill>
                  <a:srgbClr val="FF0000"/>
                </a:solidFill>
              </a:rPr>
              <a:t>∗SEXR)</a:t>
            </a:r>
          </a:p>
          <a:p>
            <a:endParaRPr lang="en-GB" altLang="en-US" sz="2000" b="1" dirty="0">
              <a:solidFill>
                <a:srgbClr val="FF0000"/>
              </a:solidFill>
            </a:endParaRPr>
          </a:p>
          <a:p>
            <a:r>
              <a:rPr lang="en-GB" altLang="en-US" sz="2000" dirty="0"/>
              <a:t>(2) What conclusions can we draw from the above t tests</a:t>
            </a:r>
            <a:endParaRPr lang="en-US" altLang="en-US" sz="20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14375"/>
            <a:ext cx="8867775" cy="378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5488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4</a:t>
            </a:r>
          </a:p>
        </p:txBody>
      </p:sp>
      <p:sp>
        <p:nvSpPr>
          <p:cNvPr id="4" name="Text Box 5"/>
          <p:cNvSpPr txBox="1">
            <a:spLocks noChangeArrowheads="1"/>
          </p:cNvSpPr>
          <p:nvPr/>
        </p:nvSpPr>
        <p:spPr bwMode="auto">
          <a:xfrm>
            <a:off x="381000" y="4397514"/>
            <a:ext cx="82296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(1) Equation from this model is…</a:t>
            </a:r>
          </a:p>
          <a:p>
            <a:r>
              <a:rPr lang="en-GB" altLang="en-US" sz="2000" b="1" i="0" dirty="0">
                <a:solidFill>
                  <a:srgbClr val="FF0000"/>
                </a:solidFill>
                <a:latin typeface="+mj-lt"/>
              </a:rPr>
              <a:t>EDUC =   </a:t>
            </a:r>
            <a:r>
              <a:rPr lang="en-GB" altLang="en-US" sz="2000" b="1" i="0" u="sng" dirty="0">
                <a:solidFill>
                  <a:srgbClr val="FF0000"/>
                </a:solidFill>
                <a:latin typeface="+mj-lt"/>
              </a:rPr>
              <a:t>10.637 </a:t>
            </a:r>
            <a:r>
              <a:rPr lang="en-GB" altLang="en-US" sz="2000" b="1" i="0" dirty="0">
                <a:solidFill>
                  <a:srgbClr val="FF0000"/>
                </a:solidFill>
                <a:latin typeface="+mj-lt"/>
              </a:rPr>
              <a:t>  +  (  </a:t>
            </a:r>
            <a:r>
              <a:rPr lang="en-GB" altLang="en-US" sz="2000" b="1" i="0" u="sng" dirty="0">
                <a:solidFill>
                  <a:srgbClr val="FF0000"/>
                </a:solidFill>
                <a:latin typeface="+mj-lt"/>
              </a:rPr>
              <a:t>0.287 </a:t>
            </a:r>
            <a:r>
              <a:rPr lang="en-GB" altLang="en-US" sz="2000" b="1" i="0" dirty="0">
                <a:solidFill>
                  <a:srgbClr val="FF0000"/>
                </a:solidFill>
                <a:latin typeface="+mj-lt"/>
              </a:rPr>
              <a:t>∗ PAEDUC)</a:t>
            </a:r>
            <a:r>
              <a:rPr lang="en-GB" altLang="en-US" sz="2000" b="1" dirty="0">
                <a:solidFill>
                  <a:srgbClr val="FF0000"/>
                </a:solidFill>
              </a:rPr>
              <a:t> + (  </a:t>
            </a:r>
            <a:r>
              <a:rPr lang="en-GB" altLang="en-US" sz="2000" b="1" u="sng" dirty="0">
                <a:solidFill>
                  <a:srgbClr val="FF0000"/>
                </a:solidFill>
              </a:rPr>
              <a:t> -0.117 </a:t>
            </a:r>
            <a:r>
              <a:rPr lang="en-GB" altLang="en-US" sz="2000" b="1" dirty="0">
                <a:solidFill>
                  <a:srgbClr val="FF0000"/>
                </a:solidFill>
              </a:rPr>
              <a:t>∗SIBS) + (  </a:t>
            </a:r>
            <a:r>
              <a:rPr lang="en-GB" altLang="en-US" sz="2000" b="1" u="sng" dirty="0">
                <a:solidFill>
                  <a:srgbClr val="FF0000"/>
                </a:solidFill>
              </a:rPr>
              <a:t> 0.178 </a:t>
            </a:r>
            <a:r>
              <a:rPr lang="en-GB" altLang="en-US" sz="2000" b="1" dirty="0">
                <a:solidFill>
                  <a:srgbClr val="FF0000"/>
                </a:solidFill>
              </a:rPr>
              <a:t>∗SEXR)</a:t>
            </a:r>
          </a:p>
          <a:p>
            <a:endParaRPr lang="en-GB" altLang="en-US" sz="2000" b="1" dirty="0">
              <a:solidFill>
                <a:srgbClr val="FF0000"/>
              </a:solidFill>
            </a:endParaRPr>
          </a:p>
          <a:p>
            <a:r>
              <a:rPr lang="en-GB" altLang="en-US" sz="2000" dirty="0"/>
              <a:t>(2) The “SEXR" variable does not have a statistically significant effect on the dependent variable</a:t>
            </a:r>
          </a:p>
          <a:p>
            <a:r>
              <a:rPr lang="en-GB" altLang="en-US" sz="2000"/>
              <a:t>Other </a:t>
            </a:r>
            <a:r>
              <a:rPr lang="en-GB" altLang="en-US" sz="2000" dirty="0"/>
              <a:t>variables have a statistically significant effect on the dependent variable</a:t>
            </a:r>
            <a:endParaRPr lang="en-US" altLang="en-US" sz="20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714375"/>
            <a:ext cx="8867775" cy="378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8803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Creating interaction variables</a:t>
            </a:r>
          </a:p>
        </p:txBody>
      </p:sp>
      <p:sp>
        <p:nvSpPr>
          <p:cNvPr id="3" name="Rectangle 2"/>
          <p:cNvSpPr/>
          <p:nvPr/>
        </p:nvSpPr>
        <p:spPr>
          <a:xfrm>
            <a:off x="304800" y="953869"/>
            <a:ext cx="8229600" cy="1200329"/>
          </a:xfrm>
          <a:prstGeom prst="rect">
            <a:avLst/>
          </a:prstGeom>
        </p:spPr>
        <p:txBody>
          <a:bodyPr wrap="square">
            <a:spAutoFit/>
          </a:bodyPr>
          <a:lstStyle/>
          <a:p>
            <a:pPr>
              <a:buClr>
                <a:srgbClr val="333399"/>
              </a:buClr>
              <a:buSzPct val="75000"/>
            </a:pPr>
            <a:r>
              <a:rPr lang="en-GB" altLang="en-US" sz="2400" b="1" dirty="0"/>
              <a:t>The effect one</a:t>
            </a:r>
            <a:r>
              <a:rPr lang="en-GB" altLang="en-US" sz="2400" dirty="0"/>
              <a:t> independent </a:t>
            </a:r>
            <a:r>
              <a:rPr lang="en-GB" altLang="en-US" sz="2400" b="1" dirty="0"/>
              <a:t>variable</a:t>
            </a:r>
            <a:r>
              <a:rPr lang="en-GB" altLang="en-US" sz="2400" dirty="0"/>
              <a:t> </a:t>
            </a:r>
            <a:r>
              <a:rPr lang="en-GB" altLang="en-US" sz="2400" b="1" dirty="0"/>
              <a:t>has</a:t>
            </a:r>
            <a:r>
              <a:rPr lang="en-GB" altLang="en-US" sz="2400" dirty="0"/>
              <a:t> on the dependent variable </a:t>
            </a:r>
            <a:r>
              <a:rPr lang="en-GB" altLang="en-US" sz="2400" b="1" dirty="0"/>
              <a:t>might</a:t>
            </a:r>
            <a:r>
              <a:rPr lang="en-GB" altLang="en-US" sz="2400" dirty="0"/>
              <a:t> </a:t>
            </a:r>
            <a:r>
              <a:rPr lang="en-GB" altLang="en-US" sz="2400" b="1" dirty="0"/>
              <a:t>be affected by </a:t>
            </a:r>
            <a:r>
              <a:rPr lang="en-GB" altLang="en-US" sz="2400" dirty="0"/>
              <a:t>the value of a </a:t>
            </a:r>
            <a:r>
              <a:rPr lang="en-GB" altLang="en-US" sz="2400" b="1" dirty="0"/>
              <a:t>second</a:t>
            </a:r>
            <a:r>
              <a:rPr lang="en-GB" altLang="en-US" sz="2400" dirty="0"/>
              <a:t> independent </a:t>
            </a:r>
            <a:r>
              <a:rPr lang="en-GB" altLang="en-US" sz="2400" b="1" dirty="0"/>
              <a:t>variable</a:t>
            </a:r>
            <a:endParaRPr lang="en-GB" altLang="en-US" sz="2400" dirty="0"/>
          </a:p>
        </p:txBody>
      </p:sp>
      <p:sp>
        <p:nvSpPr>
          <p:cNvPr id="4" name="Rectangle 3"/>
          <p:cNvSpPr/>
          <p:nvPr/>
        </p:nvSpPr>
        <p:spPr>
          <a:xfrm>
            <a:off x="304800" y="2312075"/>
            <a:ext cx="8229600" cy="2677656"/>
          </a:xfrm>
          <a:prstGeom prst="rect">
            <a:avLst/>
          </a:prstGeom>
        </p:spPr>
        <p:txBody>
          <a:bodyPr wrap="square">
            <a:spAutoFit/>
          </a:bodyPr>
          <a:lstStyle/>
          <a:p>
            <a:pPr>
              <a:buClr>
                <a:srgbClr val="333399"/>
              </a:buClr>
              <a:buSzPct val="75000"/>
            </a:pPr>
            <a:r>
              <a:rPr lang="en-GB" altLang="en-US" sz="2400" dirty="0"/>
              <a:t>In this situation, we set up an interaction term</a:t>
            </a:r>
          </a:p>
          <a:p>
            <a:pPr lvl="1">
              <a:buClr>
                <a:srgbClr val="333399"/>
              </a:buClr>
              <a:buSzPct val="75000"/>
            </a:pPr>
            <a:endParaRPr lang="en-GB" altLang="en-US" sz="2400" dirty="0"/>
          </a:p>
          <a:p>
            <a:pPr lvl="1">
              <a:buClr>
                <a:srgbClr val="333399"/>
              </a:buClr>
              <a:buSzPct val="75000"/>
            </a:pPr>
            <a:r>
              <a:rPr lang="en-GB" altLang="en-US" sz="2400" dirty="0"/>
              <a:t>Set up a variable which is the </a:t>
            </a:r>
            <a:r>
              <a:rPr lang="en-GB" altLang="en-US" sz="2400" b="1" dirty="0"/>
              <a:t>product of the two interacting variables </a:t>
            </a:r>
            <a:r>
              <a:rPr lang="en-GB" altLang="en-US" sz="2400" dirty="0"/>
              <a:t>and include this in the model</a:t>
            </a:r>
          </a:p>
          <a:p>
            <a:pPr lvl="1">
              <a:buClr>
                <a:srgbClr val="333399"/>
              </a:buClr>
              <a:buSzPct val="75000"/>
            </a:pPr>
            <a:endParaRPr lang="en-GB" altLang="en-US" sz="2400" dirty="0"/>
          </a:p>
          <a:p>
            <a:pPr lvl="1">
              <a:buClr>
                <a:srgbClr val="333399"/>
              </a:buClr>
              <a:buSzPct val="75000"/>
            </a:pPr>
            <a:r>
              <a:rPr lang="en-GB" altLang="en-US" sz="2400" b="1" dirty="0"/>
              <a:t>If</a:t>
            </a:r>
            <a:r>
              <a:rPr lang="en-GB" altLang="en-US" sz="2400" dirty="0"/>
              <a:t> the </a:t>
            </a:r>
            <a:r>
              <a:rPr lang="en-GB" altLang="en-US" sz="2400" b="1" dirty="0"/>
              <a:t>interaction term is significant </a:t>
            </a:r>
            <a:r>
              <a:rPr lang="en-GB" altLang="en-US" sz="2400" dirty="0"/>
              <a:t>this indicates the </a:t>
            </a:r>
            <a:r>
              <a:rPr lang="en-GB" altLang="en-US" sz="2400" b="1" dirty="0"/>
              <a:t>interaction</a:t>
            </a:r>
            <a:r>
              <a:rPr lang="en-GB" altLang="en-US" sz="2400" dirty="0"/>
              <a:t> between the variables </a:t>
            </a:r>
            <a:r>
              <a:rPr lang="en-GB" altLang="en-US" sz="2400" b="1" dirty="0"/>
              <a:t>is present </a:t>
            </a:r>
            <a:r>
              <a:rPr lang="en-GB" altLang="en-US" sz="2400" dirty="0"/>
              <a:t>in the data</a:t>
            </a:r>
          </a:p>
        </p:txBody>
      </p:sp>
    </p:spTree>
    <p:extLst>
      <p:ext uri="{BB962C8B-B14F-4D97-AF65-F5344CB8AC3E}">
        <p14:creationId xmlns:p14="http://schemas.microsoft.com/office/powerpoint/2010/main" val="2501809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C45AC-0418-44EC-8505-3556D57E527F}"/>
              </a:ext>
            </a:extLst>
          </p:cNvPr>
          <p:cNvSpPr>
            <a:spLocks noGrp="1"/>
          </p:cNvSpPr>
          <p:nvPr>
            <p:ph type="title"/>
          </p:nvPr>
        </p:nvSpPr>
        <p:spPr/>
        <p:txBody>
          <a:bodyPr/>
          <a:lstStyle/>
          <a:p>
            <a:r>
              <a:rPr lang="en-GB" dirty="0"/>
              <a:t>Example interaction variable</a:t>
            </a:r>
          </a:p>
        </p:txBody>
      </p:sp>
      <p:pic>
        <p:nvPicPr>
          <p:cNvPr id="3" name="Picture 2">
            <a:extLst>
              <a:ext uri="{FF2B5EF4-FFF2-40B4-BE49-F238E27FC236}">
                <a16:creationId xmlns:a16="http://schemas.microsoft.com/office/drawing/2014/main" id="{9A8EDAFF-18B9-4C92-BC2E-1780680657A0}"/>
              </a:ext>
            </a:extLst>
          </p:cNvPr>
          <p:cNvPicPr>
            <a:picLocks noChangeAspect="1"/>
          </p:cNvPicPr>
          <p:nvPr/>
        </p:nvPicPr>
        <p:blipFill>
          <a:blip r:embed="rId2"/>
          <a:stretch>
            <a:fillRect/>
          </a:stretch>
        </p:blipFill>
        <p:spPr>
          <a:xfrm>
            <a:off x="1371600" y="1143000"/>
            <a:ext cx="5943600" cy="2371725"/>
          </a:xfrm>
          <a:prstGeom prst="rect">
            <a:avLst/>
          </a:prstGeom>
        </p:spPr>
      </p:pic>
      <p:sp>
        <p:nvSpPr>
          <p:cNvPr id="4" name="TextBox 3">
            <a:extLst>
              <a:ext uri="{FF2B5EF4-FFF2-40B4-BE49-F238E27FC236}">
                <a16:creationId xmlns:a16="http://schemas.microsoft.com/office/drawing/2014/main" id="{92613AB0-57CF-48A0-99B2-860B590F540E}"/>
              </a:ext>
            </a:extLst>
          </p:cNvPr>
          <p:cNvSpPr txBox="1"/>
          <p:nvPr/>
        </p:nvSpPr>
        <p:spPr>
          <a:xfrm>
            <a:off x="762000" y="3733800"/>
            <a:ext cx="8153400" cy="3293209"/>
          </a:xfrm>
          <a:prstGeom prst="rect">
            <a:avLst/>
          </a:prstGeom>
          <a:noFill/>
        </p:spPr>
        <p:txBody>
          <a:bodyPr wrap="square" rtlCol="0">
            <a:spAutoFit/>
          </a:bodyPr>
          <a:lstStyle/>
          <a:p>
            <a:r>
              <a:rPr lang="en-GB" dirty="0"/>
              <a:t>Predict the salary of a 45 years old woman WITH a college degree</a:t>
            </a:r>
          </a:p>
          <a:p>
            <a:endParaRPr lang="en-GB" dirty="0"/>
          </a:p>
          <a:p>
            <a:r>
              <a:rPr lang="en-GB" sz="1600" dirty="0">
                <a:solidFill>
                  <a:srgbClr val="FF0000"/>
                </a:solidFill>
              </a:rPr>
              <a:t>SALARY F_45 = CONSTANT + AGE x 45 + FEMALE x 1 + DEGREE x 1 + FEMALE_AGE x 1 x 45=</a:t>
            </a:r>
          </a:p>
          <a:p>
            <a:r>
              <a:rPr lang="en-GB" dirty="0">
                <a:solidFill>
                  <a:srgbClr val="92D050"/>
                </a:solidFill>
              </a:rPr>
              <a:t>35921.696</a:t>
            </a:r>
            <a:endParaRPr lang="en-GB" sz="1600" dirty="0">
              <a:solidFill>
                <a:srgbClr val="92D050"/>
              </a:solidFill>
            </a:endParaRPr>
          </a:p>
          <a:p>
            <a:endParaRPr lang="en-GB" dirty="0"/>
          </a:p>
          <a:p>
            <a:r>
              <a:rPr lang="en-GB" dirty="0"/>
              <a:t>Predict the salary of a 45 years old man WITH a college degree</a:t>
            </a:r>
          </a:p>
          <a:p>
            <a:endParaRPr lang="en-GB" dirty="0"/>
          </a:p>
          <a:p>
            <a:r>
              <a:rPr lang="en-GB" sz="1600" dirty="0">
                <a:solidFill>
                  <a:srgbClr val="FF0000"/>
                </a:solidFill>
              </a:rPr>
              <a:t>SALARY M_45 = CONSTANT + AGE x 45 + FEMALE x 0 + DEGREE x 1 + FEMALE_AGE x 0 x 45=</a:t>
            </a:r>
            <a:br>
              <a:rPr lang="en-GB" sz="1600" dirty="0">
                <a:solidFill>
                  <a:srgbClr val="FF0000"/>
                </a:solidFill>
              </a:rPr>
            </a:br>
            <a:r>
              <a:rPr lang="en-GB" dirty="0">
                <a:solidFill>
                  <a:srgbClr val="92D050"/>
                </a:solidFill>
              </a:rPr>
              <a:t>49248.17</a:t>
            </a:r>
            <a:br>
              <a:rPr lang="en-GB" sz="1600" dirty="0">
                <a:solidFill>
                  <a:srgbClr val="FF0000"/>
                </a:solidFill>
              </a:rPr>
            </a:br>
            <a:endParaRPr lang="en-GB" sz="1600" dirty="0">
              <a:solidFill>
                <a:srgbClr val="FF0000"/>
              </a:solidFill>
            </a:endParaRPr>
          </a:p>
          <a:p>
            <a:endParaRPr lang="en-GB" dirty="0"/>
          </a:p>
          <a:p>
            <a:endParaRPr lang="en-GB" dirty="0"/>
          </a:p>
        </p:txBody>
      </p:sp>
    </p:spTree>
    <p:extLst>
      <p:ext uri="{BB962C8B-B14F-4D97-AF65-F5344CB8AC3E}">
        <p14:creationId xmlns:p14="http://schemas.microsoft.com/office/powerpoint/2010/main" val="1640443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F3FAA2A-C482-487B-95C0-7EC699A8F773}"/>
              </a:ext>
            </a:extLst>
          </p:cNvPr>
          <p:cNvSpPr>
            <a:spLocks noGrp="1"/>
          </p:cNvSpPr>
          <p:nvPr>
            <p:ph type="title"/>
          </p:nvPr>
        </p:nvSpPr>
        <p:spPr>
          <a:xfrm>
            <a:off x="304800" y="76200"/>
            <a:ext cx="8229600" cy="1143000"/>
          </a:xfrm>
        </p:spPr>
        <p:txBody>
          <a:bodyPr>
            <a:normAutofit fontScale="90000"/>
          </a:bodyPr>
          <a:lstStyle/>
          <a:p>
            <a:r>
              <a:rPr lang="en-GB" dirty="0"/>
              <a:t>GSS full time – </a:t>
            </a:r>
            <a:r>
              <a:rPr lang="en-GB" dirty="0" err="1">
                <a:solidFill>
                  <a:srgbClr val="FF0000"/>
                </a:solidFill>
              </a:rPr>
              <a:t>rincomdol</a:t>
            </a:r>
            <a:r>
              <a:rPr lang="en-GB" dirty="0"/>
              <a:t> &amp; </a:t>
            </a:r>
            <a:r>
              <a:rPr lang="en-GB" dirty="0">
                <a:solidFill>
                  <a:srgbClr val="FFC000"/>
                </a:solidFill>
              </a:rPr>
              <a:t>log(</a:t>
            </a:r>
            <a:r>
              <a:rPr lang="en-GB" dirty="0" err="1">
                <a:solidFill>
                  <a:srgbClr val="FFC000"/>
                </a:solidFill>
              </a:rPr>
              <a:t>rincomdol</a:t>
            </a:r>
            <a:r>
              <a:rPr lang="en-GB" dirty="0">
                <a:solidFill>
                  <a:srgbClr val="FFC000"/>
                </a:solidFill>
              </a:rPr>
              <a:t>) </a:t>
            </a:r>
            <a:r>
              <a:rPr lang="en-GB" dirty="0"/>
              <a:t>~ gender age </a:t>
            </a:r>
            <a:r>
              <a:rPr lang="en-GB" dirty="0" err="1"/>
              <a:t>satjob</a:t>
            </a:r>
            <a:endParaRPr lang="en-GB" dirty="0"/>
          </a:p>
        </p:txBody>
      </p:sp>
      <p:pic>
        <p:nvPicPr>
          <p:cNvPr id="6" name="Picture 5">
            <a:extLst>
              <a:ext uri="{FF2B5EF4-FFF2-40B4-BE49-F238E27FC236}">
                <a16:creationId xmlns:a16="http://schemas.microsoft.com/office/drawing/2014/main" id="{AA0F8B85-895C-4D19-AFDB-480E6455B924}"/>
              </a:ext>
            </a:extLst>
          </p:cNvPr>
          <p:cNvPicPr>
            <a:picLocks noChangeAspect="1"/>
          </p:cNvPicPr>
          <p:nvPr/>
        </p:nvPicPr>
        <p:blipFill>
          <a:blip r:embed="rId2"/>
          <a:stretch>
            <a:fillRect/>
          </a:stretch>
        </p:blipFill>
        <p:spPr>
          <a:xfrm>
            <a:off x="228601" y="1304925"/>
            <a:ext cx="4191000" cy="1428750"/>
          </a:xfrm>
          <a:prstGeom prst="rect">
            <a:avLst/>
          </a:prstGeom>
          <a:ln>
            <a:solidFill>
              <a:srgbClr val="FF0000"/>
            </a:solidFill>
          </a:ln>
        </p:spPr>
      </p:pic>
      <p:pic>
        <p:nvPicPr>
          <p:cNvPr id="7" name="Picture 6">
            <a:extLst>
              <a:ext uri="{FF2B5EF4-FFF2-40B4-BE49-F238E27FC236}">
                <a16:creationId xmlns:a16="http://schemas.microsoft.com/office/drawing/2014/main" id="{90F45811-CD13-4179-A503-5CC0CCC61252}"/>
              </a:ext>
            </a:extLst>
          </p:cNvPr>
          <p:cNvPicPr>
            <a:picLocks noChangeAspect="1"/>
          </p:cNvPicPr>
          <p:nvPr/>
        </p:nvPicPr>
        <p:blipFill>
          <a:blip r:embed="rId3"/>
          <a:stretch>
            <a:fillRect/>
          </a:stretch>
        </p:blipFill>
        <p:spPr>
          <a:xfrm>
            <a:off x="1371600" y="2819400"/>
            <a:ext cx="5976256" cy="1850653"/>
          </a:xfrm>
          <a:prstGeom prst="rect">
            <a:avLst/>
          </a:prstGeom>
          <a:ln>
            <a:solidFill>
              <a:srgbClr val="FF0000"/>
            </a:solidFill>
          </a:ln>
        </p:spPr>
      </p:pic>
      <p:pic>
        <p:nvPicPr>
          <p:cNvPr id="8" name="Picture 7">
            <a:extLst>
              <a:ext uri="{FF2B5EF4-FFF2-40B4-BE49-F238E27FC236}">
                <a16:creationId xmlns:a16="http://schemas.microsoft.com/office/drawing/2014/main" id="{06FF92C2-DDB2-47B0-B28D-8968205F9D15}"/>
              </a:ext>
            </a:extLst>
          </p:cNvPr>
          <p:cNvPicPr>
            <a:picLocks noChangeAspect="1"/>
          </p:cNvPicPr>
          <p:nvPr/>
        </p:nvPicPr>
        <p:blipFill>
          <a:blip r:embed="rId4"/>
          <a:stretch>
            <a:fillRect/>
          </a:stretch>
        </p:blipFill>
        <p:spPr>
          <a:xfrm>
            <a:off x="4572000" y="1304926"/>
            <a:ext cx="4217276" cy="1428750"/>
          </a:xfrm>
          <a:prstGeom prst="rect">
            <a:avLst/>
          </a:prstGeom>
          <a:ln>
            <a:solidFill>
              <a:srgbClr val="FFC000"/>
            </a:solidFill>
          </a:ln>
        </p:spPr>
      </p:pic>
      <p:pic>
        <p:nvPicPr>
          <p:cNvPr id="9" name="Picture 8">
            <a:extLst>
              <a:ext uri="{FF2B5EF4-FFF2-40B4-BE49-F238E27FC236}">
                <a16:creationId xmlns:a16="http://schemas.microsoft.com/office/drawing/2014/main" id="{F05C585D-2A80-4AA7-B1EB-87CE9D471D68}"/>
              </a:ext>
            </a:extLst>
          </p:cNvPr>
          <p:cNvPicPr>
            <a:picLocks noChangeAspect="1"/>
          </p:cNvPicPr>
          <p:nvPr/>
        </p:nvPicPr>
        <p:blipFill>
          <a:blip r:embed="rId5"/>
          <a:stretch>
            <a:fillRect/>
          </a:stretch>
        </p:blipFill>
        <p:spPr>
          <a:xfrm>
            <a:off x="1383575" y="4755777"/>
            <a:ext cx="5976256" cy="1945758"/>
          </a:xfrm>
          <a:prstGeom prst="rect">
            <a:avLst/>
          </a:prstGeom>
          <a:ln>
            <a:solidFill>
              <a:srgbClr val="FFC000"/>
            </a:solidFill>
          </a:ln>
        </p:spPr>
      </p:pic>
    </p:spTree>
    <p:extLst>
      <p:ext uri="{BB962C8B-B14F-4D97-AF65-F5344CB8AC3E}">
        <p14:creationId xmlns:p14="http://schemas.microsoft.com/office/powerpoint/2010/main" val="3889319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9DB05FE-FC08-4D93-98D9-1CD6C90E40A9}"/>
              </a:ext>
            </a:extLst>
          </p:cNvPr>
          <p:cNvSpPr txBox="1">
            <a:spLocks/>
          </p:cNvSpPr>
          <p:nvPr/>
        </p:nvSpPr>
        <p:spPr>
          <a:xfrm>
            <a:off x="228600" y="152400"/>
            <a:ext cx="8229600" cy="1143000"/>
          </a:xfrm>
          <a:prstGeom prst="rect">
            <a:avLst/>
          </a:prstGeom>
        </p:spPr>
        <p:txBody>
          <a:bodyPr vert="horz" lIns="91440" tIns="45720" rIns="91440" bIns="45720" rtlCol="0" anchor="t">
            <a:normAutofit fontScale="97500" lnSpcReduction="10000"/>
          </a:bodyPr>
          <a:lstStyle>
            <a:lvl1pPr algn="l" defTabSz="914400" rtl="0" eaLnBrk="1" latinLnBrk="0" hangingPunct="1">
              <a:spcBef>
                <a:spcPct val="0"/>
              </a:spcBef>
              <a:buNone/>
              <a:defRPr sz="3600" b="1" kern="1200">
                <a:solidFill>
                  <a:schemeClr val="tx1"/>
                </a:solidFill>
                <a:latin typeface="+mj-lt"/>
                <a:ea typeface="+mj-ea"/>
                <a:cs typeface="+mj-cs"/>
              </a:defRPr>
            </a:lvl1pPr>
          </a:lstStyle>
          <a:p>
            <a:r>
              <a:rPr lang="en-GB" dirty="0"/>
              <a:t>GSS full time – </a:t>
            </a:r>
            <a:r>
              <a:rPr lang="en-GB" dirty="0" err="1">
                <a:solidFill>
                  <a:srgbClr val="FF0000"/>
                </a:solidFill>
              </a:rPr>
              <a:t>rincomdol</a:t>
            </a:r>
            <a:r>
              <a:rPr lang="en-GB" dirty="0"/>
              <a:t> &amp; </a:t>
            </a:r>
            <a:r>
              <a:rPr lang="en-GB" dirty="0">
                <a:solidFill>
                  <a:srgbClr val="FFC000"/>
                </a:solidFill>
              </a:rPr>
              <a:t>log(</a:t>
            </a:r>
            <a:r>
              <a:rPr lang="en-GB" dirty="0" err="1">
                <a:solidFill>
                  <a:srgbClr val="FFC000"/>
                </a:solidFill>
              </a:rPr>
              <a:t>rincomdol</a:t>
            </a:r>
            <a:r>
              <a:rPr lang="en-GB" dirty="0">
                <a:solidFill>
                  <a:srgbClr val="FFC000"/>
                </a:solidFill>
              </a:rPr>
              <a:t>) </a:t>
            </a:r>
            <a:r>
              <a:rPr lang="en-GB" dirty="0"/>
              <a:t>~ gender age </a:t>
            </a:r>
            <a:r>
              <a:rPr lang="en-GB" dirty="0" err="1"/>
              <a:t>satjob</a:t>
            </a:r>
            <a:endParaRPr lang="en-GB" dirty="0"/>
          </a:p>
        </p:txBody>
      </p:sp>
      <p:sp>
        <p:nvSpPr>
          <p:cNvPr id="4" name="Content Placeholder 2">
            <a:extLst>
              <a:ext uri="{FF2B5EF4-FFF2-40B4-BE49-F238E27FC236}">
                <a16:creationId xmlns:a16="http://schemas.microsoft.com/office/drawing/2014/main" id="{55089820-E5D1-49CC-BFE4-AD4326F6286C}"/>
              </a:ext>
            </a:extLst>
          </p:cNvPr>
          <p:cNvSpPr txBox="1">
            <a:spLocks/>
          </p:cNvSpPr>
          <p:nvPr/>
        </p:nvSpPr>
        <p:spPr>
          <a:xfrm>
            <a:off x="609600" y="38100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u="sng" dirty="0"/>
              <a:t>Interpretation</a:t>
            </a:r>
          </a:p>
          <a:p>
            <a:pPr marL="0" indent="0">
              <a:buFont typeface="Arial" pitchFamily="34" charset="0"/>
              <a:buNone/>
            </a:pPr>
            <a:endParaRPr lang="en-GB" sz="1800" u="sng" dirty="0"/>
          </a:p>
          <a:p>
            <a:pPr marL="0" indent="0">
              <a:buFont typeface="Arial" pitchFamily="34" charset="0"/>
              <a:buNone/>
            </a:pPr>
            <a:r>
              <a:rPr lang="en-GB" sz="1800" i="1" dirty="0"/>
              <a:t>When age increase by 1, income increases by 1.6% all else being equal</a:t>
            </a:r>
          </a:p>
          <a:p>
            <a:pPr marL="0" indent="0">
              <a:buFont typeface="Arial" pitchFamily="34" charset="0"/>
              <a:buNone/>
            </a:pPr>
            <a:endParaRPr lang="en-GB" sz="1800" i="1" dirty="0"/>
          </a:p>
          <a:p>
            <a:pPr marL="0" indent="0">
              <a:buFont typeface="Arial" pitchFamily="34" charset="0"/>
              <a:buNone/>
            </a:pPr>
            <a:r>
              <a:rPr lang="en-GB" sz="1800" i="1" dirty="0"/>
              <a:t>Men are paid 35% more than women all else being equal</a:t>
            </a:r>
          </a:p>
          <a:p>
            <a:pPr marL="0" indent="0">
              <a:buFont typeface="Arial" pitchFamily="34" charset="0"/>
              <a:buNone/>
            </a:pPr>
            <a:endParaRPr lang="en-GB" sz="1800" i="1" dirty="0"/>
          </a:p>
          <a:p>
            <a:pPr marL="0" indent="0">
              <a:buFont typeface="Arial" pitchFamily="34" charset="0"/>
              <a:buNone/>
            </a:pPr>
            <a:r>
              <a:rPr lang="en-GB" sz="1800" i="1" dirty="0"/>
              <a:t>People who aren’t satisfied with their job are paid 20% less all else being equal</a:t>
            </a:r>
          </a:p>
          <a:p>
            <a:pPr marL="0" indent="0">
              <a:buFont typeface="Arial" pitchFamily="34" charset="0"/>
              <a:buNone/>
            </a:pPr>
            <a:endParaRPr lang="en-GB" sz="1800" i="1" dirty="0"/>
          </a:p>
          <a:p>
            <a:pPr marL="0" indent="0">
              <a:buFont typeface="Arial" pitchFamily="34" charset="0"/>
              <a:buNone/>
            </a:pPr>
            <a:r>
              <a:rPr lang="en-GB" sz="1800" i="1" dirty="0"/>
              <a:t> </a:t>
            </a:r>
          </a:p>
          <a:p>
            <a:pPr marL="0" indent="0">
              <a:buFont typeface="Arial" pitchFamily="34" charset="0"/>
              <a:buNone/>
            </a:pPr>
            <a:endParaRPr lang="en-GB" sz="1800" dirty="0"/>
          </a:p>
        </p:txBody>
      </p:sp>
      <p:pic>
        <p:nvPicPr>
          <p:cNvPr id="5" name="Picture 4">
            <a:extLst>
              <a:ext uri="{FF2B5EF4-FFF2-40B4-BE49-F238E27FC236}">
                <a16:creationId xmlns:a16="http://schemas.microsoft.com/office/drawing/2014/main" id="{38A8DA82-9070-4D80-8301-FD38E8A00A88}"/>
              </a:ext>
            </a:extLst>
          </p:cNvPr>
          <p:cNvPicPr>
            <a:picLocks noChangeAspect="1"/>
          </p:cNvPicPr>
          <p:nvPr/>
        </p:nvPicPr>
        <p:blipFill>
          <a:blip r:embed="rId2"/>
          <a:stretch>
            <a:fillRect/>
          </a:stretch>
        </p:blipFill>
        <p:spPr>
          <a:xfrm>
            <a:off x="609600" y="1518076"/>
            <a:ext cx="5976256" cy="1945758"/>
          </a:xfrm>
          <a:prstGeom prst="rect">
            <a:avLst/>
          </a:prstGeom>
          <a:ln>
            <a:solidFill>
              <a:srgbClr val="FFC000"/>
            </a:solidFill>
          </a:ln>
        </p:spPr>
      </p:pic>
    </p:spTree>
    <p:extLst>
      <p:ext uri="{BB962C8B-B14F-4D97-AF65-F5344CB8AC3E}">
        <p14:creationId xmlns:p14="http://schemas.microsoft.com/office/powerpoint/2010/main" val="1335550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9C87-B66D-4F43-9D46-B64D45FD26DE}"/>
              </a:ext>
            </a:extLst>
          </p:cNvPr>
          <p:cNvSpPr>
            <a:spLocks noGrp="1"/>
          </p:cNvSpPr>
          <p:nvPr>
            <p:ph type="title"/>
          </p:nvPr>
        </p:nvSpPr>
        <p:spPr/>
        <p:txBody>
          <a:bodyPr/>
          <a:lstStyle/>
          <a:p>
            <a:r>
              <a:rPr lang="en-GB" dirty="0"/>
              <a:t>It is NOT all about R2</a:t>
            </a:r>
          </a:p>
        </p:txBody>
      </p:sp>
      <p:sp>
        <p:nvSpPr>
          <p:cNvPr id="3" name="Content Placeholder 2">
            <a:extLst>
              <a:ext uri="{FF2B5EF4-FFF2-40B4-BE49-F238E27FC236}">
                <a16:creationId xmlns:a16="http://schemas.microsoft.com/office/drawing/2014/main" id="{F862E642-97E8-4DF5-B831-BECBA9365603}"/>
              </a:ext>
            </a:extLst>
          </p:cNvPr>
          <p:cNvSpPr txBox="1">
            <a:spLocks/>
          </p:cNvSpPr>
          <p:nvPr/>
        </p:nvSpPr>
        <p:spPr>
          <a:xfrm>
            <a:off x="381000" y="12954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dirty="0"/>
              <a:t>A very high R2 can be suspicious too!</a:t>
            </a:r>
          </a:p>
          <a:p>
            <a:pPr marL="0" indent="0">
              <a:buFont typeface="Arial" pitchFamily="34" charset="0"/>
              <a:buNone/>
            </a:pPr>
            <a:endParaRPr lang="en-GB" sz="1800" i="1" dirty="0"/>
          </a:p>
          <a:p>
            <a:pPr marL="0" indent="0">
              <a:buFont typeface="Arial" pitchFamily="34" charset="0"/>
              <a:buNone/>
            </a:pPr>
            <a:r>
              <a:rPr lang="en-GB" sz="1800" i="1" dirty="0"/>
              <a:t>Overfitting?</a:t>
            </a:r>
          </a:p>
          <a:p>
            <a:pPr marL="0" indent="0">
              <a:buFont typeface="Arial" pitchFamily="34" charset="0"/>
              <a:buNone/>
            </a:pPr>
            <a:endParaRPr lang="en-GB" sz="1800" i="1" dirty="0"/>
          </a:p>
          <a:p>
            <a:pPr marL="0" indent="0">
              <a:buFont typeface="Arial" pitchFamily="34" charset="0"/>
              <a:buNone/>
            </a:pPr>
            <a:r>
              <a:rPr lang="en-GB" sz="1800" i="1" dirty="0"/>
              <a:t>Presence of outliers? </a:t>
            </a:r>
          </a:p>
          <a:p>
            <a:pPr marL="0" indent="0">
              <a:buFont typeface="Arial" pitchFamily="34" charset="0"/>
              <a:buNone/>
            </a:pPr>
            <a:endParaRPr lang="en-GB" sz="1800" i="1" dirty="0"/>
          </a:p>
          <a:p>
            <a:pPr marL="0" indent="0">
              <a:buFont typeface="Arial" pitchFamily="34" charset="0"/>
              <a:buNone/>
            </a:pPr>
            <a:r>
              <a:rPr lang="en-GB" sz="1800" i="1" dirty="0"/>
              <a:t>Out-of-sample prediction?</a:t>
            </a:r>
          </a:p>
          <a:p>
            <a:pPr marL="0" indent="0">
              <a:buFont typeface="Arial" pitchFamily="34" charset="0"/>
              <a:buNone/>
            </a:pPr>
            <a:endParaRPr lang="en-GB" sz="1800" i="1" dirty="0"/>
          </a:p>
          <a:p>
            <a:pPr marL="0" indent="0">
              <a:buFont typeface="Arial" pitchFamily="34" charset="0"/>
              <a:buNone/>
            </a:pPr>
            <a:endParaRPr lang="en-GB" sz="1800" dirty="0"/>
          </a:p>
        </p:txBody>
      </p:sp>
    </p:spTree>
    <p:extLst>
      <p:ext uri="{BB962C8B-B14F-4D97-AF65-F5344CB8AC3E}">
        <p14:creationId xmlns:p14="http://schemas.microsoft.com/office/powerpoint/2010/main" val="1615048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713BA-BF06-4F1F-A1F8-DA6AB74BC1C6}"/>
              </a:ext>
            </a:extLst>
          </p:cNvPr>
          <p:cNvSpPr>
            <a:spLocks noGrp="1"/>
          </p:cNvSpPr>
          <p:nvPr>
            <p:ph type="title"/>
          </p:nvPr>
        </p:nvSpPr>
        <p:spPr/>
        <p:txBody>
          <a:bodyPr>
            <a:normAutofit fontScale="90000"/>
          </a:bodyPr>
          <a:lstStyle/>
          <a:p>
            <a:r>
              <a:rPr lang="en-GB" dirty="0"/>
              <a:t>What about using a dummy as a dependent variable in a linear regression</a:t>
            </a:r>
          </a:p>
        </p:txBody>
      </p:sp>
      <p:sp>
        <p:nvSpPr>
          <p:cNvPr id="3" name="Content Placeholder 2">
            <a:extLst>
              <a:ext uri="{FF2B5EF4-FFF2-40B4-BE49-F238E27FC236}">
                <a16:creationId xmlns:a16="http://schemas.microsoft.com/office/drawing/2014/main" id="{CB86D3C6-D45E-4DEB-9B42-4403B7356421}"/>
              </a:ext>
            </a:extLst>
          </p:cNvPr>
          <p:cNvSpPr txBox="1">
            <a:spLocks/>
          </p:cNvSpPr>
          <p:nvPr/>
        </p:nvSpPr>
        <p:spPr>
          <a:xfrm>
            <a:off x="381000" y="12954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1800" dirty="0"/>
              <a:t>I would strongly advise against this</a:t>
            </a:r>
          </a:p>
          <a:p>
            <a:pPr marL="0" indent="0">
              <a:buFont typeface="Arial" pitchFamily="34" charset="0"/>
              <a:buNone/>
            </a:pPr>
            <a:endParaRPr lang="en-GB" sz="1800" dirty="0"/>
          </a:p>
          <a:p>
            <a:pPr marL="0" indent="0">
              <a:buFont typeface="Arial" pitchFamily="34" charset="0"/>
              <a:buNone/>
            </a:pPr>
            <a:r>
              <a:rPr lang="en-GB" sz="1800" dirty="0"/>
              <a:t>Can predict probabilities &gt; 1</a:t>
            </a:r>
          </a:p>
          <a:p>
            <a:pPr marL="0" indent="0">
              <a:buFont typeface="Arial" pitchFamily="34" charset="0"/>
              <a:buNone/>
            </a:pPr>
            <a:endParaRPr lang="en-GB" sz="1800" dirty="0"/>
          </a:p>
          <a:p>
            <a:pPr marL="0" indent="0">
              <a:buFont typeface="Arial" pitchFamily="34" charset="0"/>
              <a:buNone/>
            </a:pPr>
            <a:r>
              <a:rPr lang="en-GB" sz="1800" dirty="0"/>
              <a:t>Can predict negative probabilities</a:t>
            </a:r>
          </a:p>
          <a:p>
            <a:pPr marL="0" indent="0">
              <a:buFont typeface="Arial" pitchFamily="34" charset="0"/>
              <a:buNone/>
            </a:pPr>
            <a:endParaRPr lang="en-GB" sz="1800" dirty="0"/>
          </a:p>
          <a:p>
            <a:pPr marL="0" indent="0">
              <a:buFont typeface="Arial" pitchFamily="34" charset="0"/>
              <a:buNone/>
            </a:pPr>
            <a:r>
              <a:rPr lang="en-GB" sz="1800" dirty="0"/>
              <a:t>Makes no sense</a:t>
            </a:r>
          </a:p>
          <a:p>
            <a:pPr marL="0" indent="0">
              <a:buFont typeface="Arial" pitchFamily="34" charset="0"/>
              <a:buNone/>
            </a:pPr>
            <a:endParaRPr lang="en-GB" sz="1800" dirty="0"/>
          </a:p>
          <a:p>
            <a:pPr marL="0" indent="0">
              <a:buFont typeface="Arial" pitchFamily="34" charset="0"/>
              <a:buNone/>
            </a:pPr>
            <a:r>
              <a:rPr lang="en-GB" sz="1800" dirty="0"/>
              <a:t>Better to use a logistic regression (logit or </a:t>
            </a:r>
            <a:r>
              <a:rPr lang="en-GB" sz="1800" dirty="0" err="1"/>
              <a:t>probit</a:t>
            </a:r>
            <a:r>
              <a:rPr lang="en-GB" sz="1800" dirty="0"/>
              <a:t> model)</a:t>
            </a:r>
          </a:p>
          <a:p>
            <a:pPr marL="0" indent="0">
              <a:buFont typeface="Arial" pitchFamily="34" charset="0"/>
              <a:buNone/>
            </a:pPr>
            <a:endParaRPr lang="en-GB" sz="1800" dirty="0"/>
          </a:p>
          <a:p>
            <a:pPr marL="0" indent="0">
              <a:buFont typeface="Arial" pitchFamily="34" charset="0"/>
              <a:buNone/>
            </a:pPr>
            <a:r>
              <a:rPr lang="en-GB" sz="1800" dirty="0"/>
              <a:t>Happy to assist with these models</a:t>
            </a:r>
          </a:p>
          <a:p>
            <a:pPr marL="0" indent="0">
              <a:buFont typeface="Arial" pitchFamily="34" charset="0"/>
              <a:buNone/>
            </a:pPr>
            <a:endParaRPr lang="en-GB" sz="1800" dirty="0"/>
          </a:p>
        </p:txBody>
      </p:sp>
    </p:spTree>
    <p:extLst>
      <p:ext uri="{BB962C8B-B14F-4D97-AF65-F5344CB8AC3E}">
        <p14:creationId xmlns:p14="http://schemas.microsoft.com/office/powerpoint/2010/main" val="1234159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137B-A75F-4C0F-867C-161ACB0378DA}"/>
              </a:ext>
            </a:extLst>
          </p:cNvPr>
          <p:cNvSpPr>
            <a:spLocks noGrp="1"/>
          </p:cNvSpPr>
          <p:nvPr>
            <p:ph type="title"/>
          </p:nvPr>
        </p:nvSpPr>
        <p:spPr/>
        <p:txBody>
          <a:bodyPr/>
          <a:lstStyle/>
          <a:p>
            <a:r>
              <a:rPr lang="en-GB" dirty="0"/>
              <a:t>But let’s do it anyway (but this is stupid)</a:t>
            </a:r>
          </a:p>
        </p:txBody>
      </p:sp>
      <p:pic>
        <p:nvPicPr>
          <p:cNvPr id="3" name="Picture 2">
            <a:extLst>
              <a:ext uri="{FF2B5EF4-FFF2-40B4-BE49-F238E27FC236}">
                <a16:creationId xmlns:a16="http://schemas.microsoft.com/office/drawing/2014/main" id="{961D12CD-EBBC-41D0-BDA3-25D2AB8510F2}"/>
              </a:ext>
            </a:extLst>
          </p:cNvPr>
          <p:cNvPicPr>
            <a:picLocks noChangeAspect="1"/>
          </p:cNvPicPr>
          <p:nvPr/>
        </p:nvPicPr>
        <p:blipFill>
          <a:blip r:embed="rId2"/>
          <a:stretch>
            <a:fillRect/>
          </a:stretch>
        </p:blipFill>
        <p:spPr>
          <a:xfrm>
            <a:off x="1062037" y="1066800"/>
            <a:ext cx="7019925" cy="2124075"/>
          </a:xfrm>
          <a:prstGeom prst="rect">
            <a:avLst/>
          </a:prstGeom>
        </p:spPr>
      </p:pic>
      <p:sp>
        <p:nvSpPr>
          <p:cNvPr id="4" name="Text Box 5">
            <a:extLst>
              <a:ext uri="{FF2B5EF4-FFF2-40B4-BE49-F238E27FC236}">
                <a16:creationId xmlns:a16="http://schemas.microsoft.com/office/drawing/2014/main" id="{6B602FFE-7C8A-4E9E-A00D-5EB61C02AC41}"/>
              </a:ext>
            </a:extLst>
          </p:cNvPr>
          <p:cNvSpPr txBox="1">
            <a:spLocks noChangeArrowheads="1"/>
          </p:cNvSpPr>
          <p:nvPr/>
        </p:nvSpPr>
        <p:spPr bwMode="auto">
          <a:xfrm>
            <a:off x="472030" y="3429000"/>
            <a:ext cx="60244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2000" dirty="0"/>
              <a:t>Equation from this model is…</a:t>
            </a:r>
          </a:p>
          <a:p>
            <a:r>
              <a:rPr lang="en-GB" altLang="en-US" sz="2000" b="1" i="0" dirty="0">
                <a:latin typeface="+mj-lt"/>
              </a:rPr>
              <a:t>SATJOB2 =   </a:t>
            </a:r>
            <a:r>
              <a:rPr lang="en-GB" altLang="en-US" sz="2000" b="1" dirty="0">
                <a:latin typeface="+mj-lt"/>
              </a:rPr>
              <a:t>0.744 – 0.002 x AGE -0.000003332 x </a:t>
            </a:r>
            <a:r>
              <a:rPr lang="en-GB" altLang="en-US" sz="2000" b="1" dirty="0" err="1">
                <a:latin typeface="+mj-lt"/>
              </a:rPr>
              <a:t>rincom</a:t>
            </a:r>
            <a:endParaRPr lang="en-US" altLang="en-US" sz="2000" b="1" dirty="0"/>
          </a:p>
        </p:txBody>
      </p:sp>
      <p:sp>
        <p:nvSpPr>
          <p:cNvPr id="6" name="Text Box 5">
            <a:extLst>
              <a:ext uri="{FF2B5EF4-FFF2-40B4-BE49-F238E27FC236}">
                <a16:creationId xmlns:a16="http://schemas.microsoft.com/office/drawing/2014/main" id="{F25A11B1-9872-4049-A595-C77E315298BA}"/>
              </a:ext>
            </a:extLst>
          </p:cNvPr>
          <p:cNvSpPr txBox="1">
            <a:spLocks noChangeArrowheads="1"/>
          </p:cNvSpPr>
          <p:nvPr/>
        </p:nvSpPr>
        <p:spPr bwMode="auto">
          <a:xfrm>
            <a:off x="472030" y="4800600"/>
            <a:ext cx="752897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i="1" dirty="0">
                <a:solidFill>
                  <a:srgbClr val="FF0000"/>
                </a:solidFill>
              </a:rPr>
              <a:t>The probability that someone who is 40 years old and earns 200,000$ per year is not very satisfied with their job is -0.0024</a:t>
            </a:r>
          </a:p>
          <a:p>
            <a:endParaRPr lang="en-GB" altLang="en-US" sz="2000" i="1" dirty="0">
              <a:solidFill>
                <a:srgbClr val="FF0000"/>
              </a:solidFill>
            </a:endParaRPr>
          </a:p>
          <a:p>
            <a:r>
              <a:rPr lang="en-GB" altLang="en-US" sz="2000" i="1" dirty="0">
                <a:solidFill>
                  <a:srgbClr val="FF0000"/>
                </a:solidFill>
              </a:rPr>
              <a:t>NOPE, DOESN’T MAKE SENSE</a:t>
            </a:r>
          </a:p>
          <a:p>
            <a:endParaRPr lang="en-US" altLang="en-US" sz="2000" b="1" dirty="0"/>
          </a:p>
        </p:txBody>
      </p:sp>
    </p:spTree>
    <p:extLst>
      <p:ext uri="{BB962C8B-B14F-4D97-AF65-F5344CB8AC3E}">
        <p14:creationId xmlns:p14="http://schemas.microsoft.com/office/powerpoint/2010/main" val="3346149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7200" y="990600"/>
            <a:ext cx="5150357"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Summary</a:t>
            </a:r>
          </a:p>
        </p:txBody>
      </p:sp>
      <p:graphicFrame>
        <p:nvGraphicFramePr>
          <p:cNvPr id="3" name="Table 2"/>
          <p:cNvGraphicFramePr>
            <a:graphicFrameLocks noGrp="1"/>
          </p:cNvGraphicFramePr>
          <p:nvPr>
            <p:extLst>
              <p:ext uri="{D42A27DB-BD31-4B8C-83A1-F6EECF244321}">
                <p14:modId xmlns:p14="http://schemas.microsoft.com/office/powerpoint/2010/main" val="1086088434"/>
              </p:ext>
            </p:extLst>
          </p:nvPr>
        </p:nvGraphicFramePr>
        <p:xfrm>
          <a:off x="751624" y="2743200"/>
          <a:ext cx="7657287" cy="2476500"/>
        </p:xfrm>
        <a:graphic>
          <a:graphicData uri="http://schemas.openxmlformats.org/drawingml/2006/table">
            <a:tbl>
              <a:tblPr firstRow="1" firstCol="1">
                <a:tableStyleId>{8EC20E35-A176-4012-BC5E-935CFFF8708E}</a:tableStyleId>
              </a:tblPr>
              <a:tblGrid>
                <a:gridCol w="2018487">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81000">
                <a:tc>
                  <a:txBody>
                    <a:bodyPr/>
                    <a:lstStyle/>
                    <a:p>
                      <a:pPr algn="ctr"/>
                      <a:endParaRPr lang="en-GB" dirty="0"/>
                    </a:p>
                  </a:txBody>
                  <a:tcPr anchor="ctr"/>
                </a:tc>
                <a:tc>
                  <a:txBody>
                    <a:bodyPr/>
                    <a:lstStyle/>
                    <a:p>
                      <a:pPr algn="ctr"/>
                      <a:r>
                        <a:rPr lang="en-GB" dirty="0"/>
                        <a:t>Categorical</a:t>
                      </a:r>
                    </a:p>
                  </a:txBody>
                  <a:tcPr anchor="ctr"/>
                </a:tc>
                <a:tc>
                  <a:txBody>
                    <a:bodyPr/>
                    <a:lstStyle/>
                    <a:p>
                      <a:pPr algn="ctr"/>
                      <a:r>
                        <a:rPr lang="en-GB" dirty="0"/>
                        <a:t>Scalar</a:t>
                      </a:r>
                    </a:p>
                  </a:txBody>
                  <a:tcPr anchor="ctr"/>
                </a:tc>
                <a:extLst>
                  <a:ext uri="{0D108BD9-81ED-4DB2-BD59-A6C34878D82A}">
                    <a16:rowId xmlns:a16="http://schemas.microsoft.com/office/drawing/2014/main" val="10000"/>
                  </a:ext>
                </a:extLst>
              </a:tr>
              <a:tr h="1047750">
                <a:tc>
                  <a:txBody>
                    <a:bodyPr/>
                    <a:lstStyle/>
                    <a:p>
                      <a:pPr algn="ctr"/>
                      <a:r>
                        <a:rPr lang="en-GB" b="0" dirty="0"/>
                        <a:t>Relating</a:t>
                      </a:r>
                    </a:p>
                    <a:p>
                      <a:pPr algn="ctr"/>
                      <a:r>
                        <a:rPr lang="en-GB" sz="2400" dirty="0"/>
                        <a:t>Two groups</a:t>
                      </a:r>
                    </a:p>
                  </a:txBody>
                  <a:tcPr anchor="ctr"/>
                </a:tc>
                <a:tc>
                  <a:txBody>
                    <a:bodyPr/>
                    <a:lstStyle/>
                    <a:p>
                      <a:pPr algn="ctr"/>
                      <a:r>
                        <a:rPr lang="el-GR" sz="3200" b="1" dirty="0">
                          <a:solidFill>
                            <a:schemeClr val="bg1">
                              <a:lumMod val="65000"/>
                            </a:schemeClr>
                          </a:solidFill>
                        </a:rPr>
                        <a:t>χ</a:t>
                      </a:r>
                      <a:r>
                        <a:rPr lang="en-GB" sz="3200" b="1" baseline="30000" dirty="0">
                          <a:solidFill>
                            <a:schemeClr val="bg1">
                              <a:lumMod val="65000"/>
                            </a:schemeClr>
                          </a:solidFill>
                        </a:rPr>
                        <a:t>2</a:t>
                      </a:r>
                    </a:p>
                    <a:p>
                      <a:pPr algn="ctr"/>
                      <a:r>
                        <a:rPr lang="en-GB" sz="1800" dirty="0">
                          <a:solidFill>
                            <a:schemeClr val="bg1">
                              <a:lumMod val="65000"/>
                            </a:schemeClr>
                          </a:solidFill>
                        </a:rPr>
                        <a:t>test for</a:t>
                      </a:r>
                      <a:r>
                        <a:rPr lang="en-GB" sz="1800" baseline="0" dirty="0">
                          <a:solidFill>
                            <a:schemeClr val="bg1">
                              <a:lumMod val="65000"/>
                            </a:schemeClr>
                          </a:solidFill>
                        </a:rPr>
                        <a:t> independence</a:t>
                      </a:r>
                      <a:endParaRPr lang="en-GB" sz="1800" baseline="30000" dirty="0">
                        <a:solidFill>
                          <a:schemeClr val="bg1">
                            <a:lumMod val="65000"/>
                          </a:schemeClr>
                        </a:solidFill>
                      </a:endParaRPr>
                    </a:p>
                  </a:txBody>
                  <a:tcPr anchor="ctr">
                    <a:solidFill>
                      <a:schemeClr val="bg1">
                        <a:lumMod val="85000"/>
                      </a:schemeClr>
                    </a:solidFill>
                  </a:tcPr>
                </a:tc>
                <a:tc>
                  <a:txBody>
                    <a:bodyPr/>
                    <a:lstStyle/>
                    <a:p>
                      <a:pPr algn="ctr"/>
                      <a:r>
                        <a:rPr lang="en-GB" sz="2400" b="1" baseline="0" dirty="0">
                          <a:solidFill>
                            <a:schemeClr val="bg1">
                              <a:lumMod val="65000"/>
                            </a:schemeClr>
                          </a:solidFill>
                        </a:rPr>
                        <a:t>Correlation</a:t>
                      </a:r>
                    </a:p>
                    <a:p>
                      <a:pPr algn="ctr"/>
                      <a:r>
                        <a:rPr lang="en-GB" sz="2400" b="1" baseline="0" dirty="0">
                          <a:solidFill>
                            <a:schemeClr val="bg1">
                              <a:lumMod val="65000"/>
                            </a:schemeClr>
                          </a:solidFill>
                        </a:rPr>
                        <a:t>Linear Regression</a:t>
                      </a:r>
                      <a:endParaRPr lang="en-GB" sz="2400" b="1" baseline="30000" dirty="0">
                        <a:solidFill>
                          <a:schemeClr val="bg1">
                            <a:lumMod val="65000"/>
                          </a:schemeClr>
                        </a:solidFill>
                      </a:endParaRPr>
                    </a:p>
                  </a:txBody>
                  <a:tcPr anchor="ctr">
                    <a:solidFill>
                      <a:schemeClr val="bg1">
                        <a:lumMod val="85000"/>
                      </a:schemeClr>
                    </a:solidFill>
                  </a:tcPr>
                </a:tc>
                <a:extLst>
                  <a:ext uri="{0D108BD9-81ED-4DB2-BD59-A6C34878D82A}">
                    <a16:rowId xmlns:a16="http://schemas.microsoft.com/office/drawing/2014/main" val="10001"/>
                  </a:ext>
                </a:extLst>
              </a:tr>
              <a:tr h="1047750">
                <a:tc>
                  <a:txBody>
                    <a:bodyPr/>
                    <a:lstStyle/>
                    <a:p>
                      <a:pPr algn="ctr"/>
                      <a:r>
                        <a:rPr lang="en-GB" b="0" dirty="0"/>
                        <a:t>Relating</a:t>
                      </a:r>
                    </a:p>
                    <a:p>
                      <a:pPr algn="ctr"/>
                      <a:r>
                        <a:rPr lang="en-GB" sz="2400" b="1" dirty="0"/>
                        <a:t>Many groups</a:t>
                      </a:r>
                    </a:p>
                  </a:txBody>
                  <a:tcPr anchor="ctr"/>
                </a:tc>
                <a:tc>
                  <a:txBody>
                    <a:bodyPr/>
                    <a:lstStyle/>
                    <a:p>
                      <a:pPr marL="0" algn="ctr" defTabSz="914400" rtl="0" eaLnBrk="1" latinLnBrk="0" hangingPunct="1"/>
                      <a:r>
                        <a:rPr lang="en-GB" sz="2400" b="1" kern="1200" dirty="0">
                          <a:solidFill>
                            <a:schemeClr val="bg1">
                              <a:lumMod val="65000"/>
                            </a:schemeClr>
                          </a:solidFill>
                          <a:latin typeface="+mn-lt"/>
                          <a:ea typeface="+mn-ea"/>
                          <a:cs typeface="+mn-cs"/>
                        </a:rPr>
                        <a:t>Logistic Regression</a:t>
                      </a:r>
                    </a:p>
                  </a:txBody>
                  <a:tcPr anchor="ctr"/>
                </a:tc>
                <a:tc>
                  <a:txBody>
                    <a:bodyPr/>
                    <a:lstStyle/>
                    <a:p>
                      <a:pPr algn="ctr"/>
                      <a:r>
                        <a:rPr lang="en-GB" sz="2400" b="1" dirty="0">
                          <a:solidFill>
                            <a:schemeClr val="bg1">
                              <a:lumMod val="65000"/>
                            </a:schemeClr>
                          </a:solidFill>
                        </a:rPr>
                        <a:t>Multiple Regression</a:t>
                      </a:r>
                    </a:p>
                  </a:txBody>
                  <a:tcPr anchor="ctr"/>
                </a:tc>
                <a:extLst>
                  <a:ext uri="{0D108BD9-81ED-4DB2-BD59-A6C34878D82A}">
                    <a16:rowId xmlns:a16="http://schemas.microsoft.com/office/drawing/2014/main" val="10002"/>
                  </a:ext>
                </a:extLst>
              </a:tr>
            </a:tbl>
          </a:graphicData>
        </a:graphic>
      </p:graphicFrame>
      <p:sp>
        <p:nvSpPr>
          <p:cNvPr id="4" name="TextBox 3"/>
          <p:cNvSpPr txBox="1"/>
          <p:nvPr/>
        </p:nvSpPr>
        <p:spPr>
          <a:xfrm>
            <a:off x="3266224" y="5215354"/>
            <a:ext cx="5119543" cy="338554"/>
          </a:xfrm>
          <a:prstGeom prst="rect">
            <a:avLst/>
          </a:prstGeom>
          <a:noFill/>
        </p:spPr>
        <p:txBody>
          <a:bodyPr wrap="none" rtlCol="0">
            <a:spAutoFit/>
          </a:bodyPr>
          <a:lstStyle/>
          <a:p>
            <a:r>
              <a:rPr lang="en-GB" sz="1600" dirty="0">
                <a:solidFill>
                  <a:schemeClr val="tx1">
                    <a:lumMod val="65000"/>
                    <a:lumOff val="35000"/>
                  </a:schemeClr>
                </a:solidFill>
              </a:rPr>
              <a:t>N.B.  This is only a subset of numerous statistical techniques</a:t>
            </a:r>
          </a:p>
        </p:txBody>
      </p:sp>
      <p:sp>
        <p:nvSpPr>
          <p:cNvPr id="5" name="Rounded Rectangle 4"/>
          <p:cNvSpPr/>
          <p:nvPr/>
        </p:nvSpPr>
        <p:spPr>
          <a:xfrm>
            <a:off x="3032379" y="3157954"/>
            <a:ext cx="2209800" cy="9906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5665176" y="4267200"/>
            <a:ext cx="2590800" cy="8382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5715000" y="3226776"/>
            <a:ext cx="2438400" cy="838200"/>
          </a:xfrm>
          <a:prstGeom prst="roundRect">
            <a:avLst/>
          </a:prstGeom>
          <a:noFill/>
          <a:ln w="762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8107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a:t>
            </a:r>
          </a:p>
        </p:txBody>
      </p:sp>
      <p:sp>
        <p:nvSpPr>
          <p:cNvPr id="3" name="Content Placeholder 2"/>
          <p:cNvSpPr>
            <a:spLocks noGrp="1"/>
          </p:cNvSpPr>
          <p:nvPr>
            <p:ph idx="1"/>
          </p:nvPr>
        </p:nvSpPr>
        <p:spPr>
          <a:xfrm>
            <a:off x="457200" y="1112837"/>
            <a:ext cx="8305800" cy="4525963"/>
          </a:xfrm>
        </p:spPr>
        <p:txBody>
          <a:bodyPr>
            <a:normAutofit/>
          </a:bodyPr>
          <a:lstStyle/>
          <a:p>
            <a:pPr marL="0" indent="0">
              <a:buNone/>
            </a:pPr>
            <a:r>
              <a:rPr lang="en-GB" dirty="0"/>
              <a:t>Berenson et al. (2015)</a:t>
            </a:r>
          </a:p>
          <a:p>
            <a:pPr marL="0" indent="0">
              <a:buNone/>
            </a:pPr>
            <a:endParaRPr lang="en-GB" sz="1800" dirty="0"/>
          </a:p>
          <a:p>
            <a:pPr marL="0" indent="0">
              <a:buNone/>
            </a:pPr>
            <a:r>
              <a:rPr lang="en-GB" sz="1800" dirty="0"/>
              <a:t>Chapter 14, Introduction to multiple regression</a:t>
            </a:r>
          </a:p>
          <a:p>
            <a:pPr marL="0" indent="0">
              <a:buNone/>
            </a:pPr>
            <a:r>
              <a:rPr lang="en-GB" sz="1800" dirty="0"/>
              <a:t>	Sections 14.1 -14.2</a:t>
            </a:r>
          </a:p>
          <a:p>
            <a:pPr marL="0" indent="0">
              <a:buNone/>
            </a:pPr>
            <a:r>
              <a:rPr lang="en-GB" sz="1800" dirty="0"/>
              <a:t>	Section 14.6</a:t>
            </a:r>
          </a:p>
          <a:p>
            <a:pPr marL="0" indent="0">
              <a:buNone/>
            </a:pPr>
            <a:endParaRPr lang="en-GB" sz="1800" dirty="0"/>
          </a:p>
          <a:p>
            <a:pPr marL="0" indent="0">
              <a:buNone/>
            </a:pPr>
            <a:r>
              <a:rPr lang="en-GB" dirty="0"/>
              <a:t>LUBS5308M </a:t>
            </a:r>
          </a:p>
          <a:p>
            <a:pPr marL="0" indent="0">
              <a:buNone/>
            </a:pPr>
            <a:endParaRPr lang="en-GB" sz="1800" dirty="0"/>
          </a:p>
          <a:p>
            <a:pPr marL="0" indent="0">
              <a:buNone/>
            </a:pPr>
            <a:r>
              <a:rPr lang="en-GB" sz="1800" dirty="0"/>
              <a:t>Flipped Learning Materials and Workshop in Week 4</a:t>
            </a:r>
          </a:p>
        </p:txBody>
      </p:sp>
    </p:spTree>
    <p:extLst>
      <p:ext uri="{BB962C8B-B14F-4D97-AF65-F5344CB8AC3E}">
        <p14:creationId xmlns:p14="http://schemas.microsoft.com/office/powerpoint/2010/main" val="16931980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solidFill>
            <a:srgbClr val="FFC0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684649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Week-0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525</TotalTime>
  <Words>2039</Words>
  <Application>Microsoft Macintosh PowerPoint</Application>
  <PresentationFormat>On-screen Show (4:3)</PresentationFormat>
  <Paragraphs>462</Paragraphs>
  <Slides>45</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Avalon</vt:lpstr>
      <vt:lpstr>Arial</vt:lpstr>
      <vt:lpstr>Calibri</vt:lpstr>
      <vt:lpstr>Cambria Math</vt:lpstr>
      <vt:lpstr>Times New Roman</vt:lpstr>
      <vt:lpstr>Office Theme</vt:lpstr>
      <vt:lpstr>Module Overview</vt:lpstr>
      <vt:lpstr>Week 8 Linear Regression</vt:lpstr>
      <vt:lpstr>Regression Line</vt:lpstr>
      <vt:lpstr>What is a line?</vt:lpstr>
      <vt:lpstr>Regression Line</vt:lpstr>
      <vt:lpstr>Regression Line</vt:lpstr>
      <vt:lpstr>Regression Line</vt:lpstr>
      <vt:lpstr>Regression Line</vt:lpstr>
      <vt:lpstr>Method of Least Squares</vt:lpstr>
      <vt:lpstr>Method of Least Squares</vt:lpstr>
      <vt:lpstr>Linear Regression</vt:lpstr>
      <vt:lpstr>Linear Regression in SPSS</vt:lpstr>
      <vt:lpstr>Question 1</vt:lpstr>
      <vt:lpstr>Question 1</vt:lpstr>
      <vt:lpstr>Linear Regression</vt:lpstr>
      <vt:lpstr>Linear Regression</vt:lpstr>
      <vt:lpstr>Linear Regression</vt:lpstr>
      <vt:lpstr>Measure of fit</vt:lpstr>
      <vt:lpstr>Properties of R2</vt:lpstr>
      <vt:lpstr>Adjusted R2</vt:lpstr>
      <vt:lpstr>F Test for regression model</vt:lpstr>
      <vt:lpstr>Non-linearity</vt:lpstr>
      <vt:lpstr>10 Minutes Break</vt:lpstr>
      <vt:lpstr>Multivariate Analysis</vt:lpstr>
      <vt:lpstr>Multiple Regression</vt:lpstr>
      <vt:lpstr>Multiple Regression</vt:lpstr>
      <vt:lpstr>Question 2</vt:lpstr>
      <vt:lpstr>Question 2</vt:lpstr>
      <vt:lpstr>Question 3</vt:lpstr>
      <vt:lpstr>Question 3</vt:lpstr>
      <vt:lpstr>Creating dummy variables</vt:lpstr>
      <vt:lpstr>Creating dummy variables</vt:lpstr>
      <vt:lpstr>Creating dummy variables</vt:lpstr>
      <vt:lpstr>Question 4</vt:lpstr>
      <vt:lpstr>Question 4</vt:lpstr>
      <vt:lpstr>Creating interaction variables</vt:lpstr>
      <vt:lpstr>Example interaction variable</vt:lpstr>
      <vt:lpstr>GSS full time – rincomdol &amp; log(rincomdol) ~ gender age satjob</vt:lpstr>
      <vt:lpstr>PowerPoint Presentation</vt:lpstr>
      <vt:lpstr>It is NOT all about R2</vt:lpstr>
      <vt:lpstr>What about using a dummy as a dependent variable in a linear regression</vt:lpstr>
      <vt:lpstr>But let’s do it anyway (but this is stupid)</vt:lpstr>
      <vt:lpstr>Summary</vt:lpstr>
      <vt:lpstr>Reading…</vt:lpstr>
      <vt:lpstr>Module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Week-06</dc:title>
  <dc:creator>Sajid Siraj</dc:creator>
  <cp:lastModifiedBy>Peizhi Shi</cp:lastModifiedBy>
  <cp:revision>336</cp:revision>
  <dcterms:created xsi:type="dcterms:W3CDTF">2006-08-16T00:00:00Z</dcterms:created>
  <dcterms:modified xsi:type="dcterms:W3CDTF">2025-11-16T20:16:04Z</dcterms:modified>
</cp:coreProperties>
</file>