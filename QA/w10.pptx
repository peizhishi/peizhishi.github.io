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sldIdLst>
    <p:sldId id="392" r:id="rId5"/>
    <p:sldId id="306" r:id="rId6"/>
    <p:sldId id="326" r:id="rId7"/>
    <p:sldId id="328" r:id="rId8"/>
    <p:sldId id="358" r:id="rId9"/>
    <p:sldId id="307" r:id="rId10"/>
    <p:sldId id="332" r:id="rId11"/>
    <p:sldId id="359" r:id="rId12"/>
    <p:sldId id="360" r:id="rId13"/>
    <p:sldId id="334" r:id="rId14"/>
    <p:sldId id="394" r:id="rId15"/>
    <p:sldId id="361" r:id="rId16"/>
    <p:sldId id="362" r:id="rId17"/>
    <p:sldId id="337" r:id="rId18"/>
    <p:sldId id="372" r:id="rId19"/>
    <p:sldId id="377" r:id="rId20"/>
    <p:sldId id="389" r:id="rId21"/>
    <p:sldId id="401" r:id="rId22"/>
    <p:sldId id="400" r:id="rId23"/>
    <p:sldId id="385" r:id="rId24"/>
    <p:sldId id="378" r:id="rId25"/>
    <p:sldId id="379" r:id="rId26"/>
    <p:sldId id="344" r:id="rId27"/>
    <p:sldId id="380" r:id="rId28"/>
    <p:sldId id="345" r:id="rId29"/>
    <p:sldId id="387" r:id="rId30"/>
    <p:sldId id="315" r:id="rId31"/>
    <p:sldId id="356" r:id="rId32"/>
    <p:sldId id="322" r:id="rId33"/>
    <p:sldId id="384" r:id="rId34"/>
    <p:sldId id="371" r:id="rId35"/>
    <p:sldId id="396" r:id="rId36"/>
    <p:sldId id="397" r:id="rId37"/>
    <p:sldId id="256" r:id="rId38"/>
    <p:sldId id="393" r:id="rId39"/>
  </p:sldIdLst>
  <p:sldSz cx="9144000" cy="6858000" type="screen4x3"/>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CC726-A0E5-A7FC-1288-654C2B029DEF}" v="7" dt="2022-12-07T13:29:51.2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68" autoAdjust="0"/>
    <p:restoredTop sz="87701" autoAdjust="0"/>
  </p:normalViewPr>
  <p:slideViewPr>
    <p:cSldViewPr>
      <p:cViewPr varScale="1">
        <p:scale>
          <a:sx n="81" d="100"/>
          <a:sy n="81" d="100"/>
        </p:scale>
        <p:origin x="189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6BDA18-A924-4623-AFDA-7F89229823E3}" type="datetimeFigureOut">
              <a:rPr lang="en-GB" smtClean="0"/>
              <a:t>02/12/2025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B37484-4BD0-4B53-9749-250372656A21}" type="slidenum">
              <a:rPr lang="en-GB" smtClean="0"/>
              <a:t>‹#›</a:t>
            </a:fld>
            <a:endParaRPr lang="en-GB"/>
          </a:p>
        </p:txBody>
      </p:sp>
    </p:spTree>
    <p:extLst>
      <p:ext uri="{BB962C8B-B14F-4D97-AF65-F5344CB8AC3E}">
        <p14:creationId xmlns:p14="http://schemas.microsoft.com/office/powerpoint/2010/main" val="80844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One of the primary goals of factor analysis is often to identify a measurement model for a latent variable</a:t>
            </a:r>
          </a:p>
          <a:p>
            <a:r>
              <a:rPr lang="en-US" altLang="en-US" dirty="0"/>
              <a:t>This includes </a:t>
            </a:r>
          </a:p>
          <a:p>
            <a:pPr lvl="1"/>
            <a:r>
              <a:rPr lang="en-US" altLang="en-US" dirty="0"/>
              <a:t>identifying the items to include in the model</a:t>
            </a:r>
          </a:p>
          <a:p>
            <a:pPr lvl="1"/>
            <a:r>
              <a:rPr lang="en-US" altLang="en-US" dirty="0"/>
              <a:t>identifying how many ‘factors’ there are in the latent variable</a:t>
            </a:r>
          </a:p>
          <a:p>
            <a:pPr lvl="1"/>
            <a:r>
              <a:rPr lang="en-US" altLang="en-US" dirty="0"/>
              <a:t>identifying which items are “associated” with which factors</a:t>
            </a:r>
          </a:p>
          <a:p>
            <a:endParaRPr lang="en-GB" dirty="0"/>
          </a:p>
          <a:p>
            <a:r>
              <a:rPr lang="en-GB" dirty="0"/>
              <a:t>Usually ends up</a:t>
            </a:r>
            <a:r>
              <a:rPr lang="en-GB" baseline="0" dirty="0"/>
              <a:t> in an exploratory finding</a:t>
            </a:r>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2</a:t>
            </a:fld>
            <a:endParaRPr lang="en-GB"/>
          </a:p>
        </p:txBody>
      </p:sp>
    </p:spTree>
    <p:extLst>
      <p:ext uri="{BB962C8B-B14F-4D97-AF65-F5344CB8AC3E}">
        <p14:creationId xmlns:p14="http://schemas.microsoft.com/office/powerpoint/2010/main" val="2720147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a:t>
            </a:fld>
            <a:endParaRPr lang="en-GB"/>
          </a:p>
        </p:txBody>
      </p:sp>
    </p:spTree>
    <p:extLst>
      <p:ext uri="{BB962C8B-B14F-4D97-AF65-F5344CB8AC3E}">
        <p14:creationId xmlns:p14="http://schemas.microsoft.com/office/powerpoint/2010/main" val="74044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4</a:t>
            </a:fld>
            <a:endParaRPr lang="en-GB"/>
          </a:p>
        </p:txBody>
      </p:sp>
    </p:spTree>
    <p:extLst>
      <p:ext uri="{BB962C8B-B14F-4D97-AF65-F5344CB8AC3E}">
        <p14:creationId xmlns:p14="http://schemas.microsoft.com/office/powerpoint/2010/main" val="1864495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r>
              <a:rPr lang="en-GB" altLang="en-US" dirty="0"/>
              <a:t>So let’s move on to looking at the process of factor analysis. </a:t>
            </a:r>
          </a:p>
          <a:p>
            <a:r>
              <a:rPr lang="en-GB" altLang="en-US" dirty="0"/>
              <a:t>There is quite a lot of choice in the factor analysis procedure. The outcome also depends on exactly which variables are included in some cases. The aim is always to get fewer factors than variables and for these to be meaningful. The choice involved though does mean that two people might get different outcomes from the same data, even if they choose the same variables as input. The aim of simplicity and meaningfulness mitigates this effect.  </a:t>
            </a:r>
          </a:p>
          <a:p>
            <a:r>
              <a:rPr lang="en-GB" altLang="en-US" dirty="0"/>
              <a:t>To walk through things it is useful to look at some SPSS output. Rather than put sections in the slides I’ve handed out copies of a set of output, as it is easier for you to see the details. I’ll go through this example (which is basically data reduction) and then discuss the options a bit more once you have some context. I’ll also discuss sample size, which can give rise to queries during projects. </a:t>
            </a:r>
          </a:p>
          <a:p>
            <a:endParaRPr lang="en-US" altLang="en-US" dirty="0"/>
          </a:p>
        </p:txBody>
      </p:sp>
    </p:spTree>
    <p:extLst>
      <p:ext uri="{BB962C8B-B14F-4D97-AF65-F5344CB8AC3E}">
        <p14:creationId xmlns:p14="http://schemas.microsoft.com/office/powerpoint/2010/main" val="2541455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6</a:t>
            </a:fld>
            <a:endParaRPr lang="en-GB"/>
          </a:p>
        </p:txBody>
      </p:sp>
    </p:spTree>
    <p:extLst>
      <p:ext uri="{BB962C8B-B14F-4D97-AF65-F5344CB8AC3E}">
        <p14:creationId xmlns:p14="http://schemas.microsoft.com/office/powerpoint/2010/main" val="1966435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r>
              <a:rPr lang="en-GB" altLang="en-US" dirty="0"/>
              <a:t>So let’s move on to looking at the process of factor analysis. </a:t>
            </a:r>
          </a:p>
          <a:p>
            <a:r>
              <a:rPr lang="en-GB" altLang="en-US" dirty="0"/>
              <a:t>There is quite a lot of choice in the factor analysis procedure. The outcome also depends on exactly which variables are included in some cases. The aim is always to get fewer factors than variables and for these to be meaningful. The choice involved though does mean that two people might get different outcomes from the same data, even if they choose the same variables as input. The aim of simplicity and meaningfulness mitigates this effect.  </a:t>
            </a:r>
          </a:p>
          <a:p>
            <a:r>
              <a:rPr lang="en-GB" altLang="en-US" dirty="0"/>
              <a:t>To walk through things it is useful to look at some SPSS output. Rather than put sections in the slides I’ve handed out copies of a set of output, as it is easier for you to see the details. I’ll go through this example (which is basically data reduction) and then discuss the options a bit more once you have some context. I’ll also discuss sample size, which can give rise to queries during projects. </a:t>
            </a:r>
          </a:p>
          <a:p>
            <a:endParaRPr lang="en-US" altLang="en-US" dirty="0"/>
          </a:p>
        </p:txBody>
      </p:sp>
    </p:spTree>
    <p:extLst>
      <p:ext uri="{BB962C8B-B14F-4D97-AF65-F5344CB8AC3E}">
        <p14:creationId xmlns:p14="http://schemas.microsoft.com/office/powerpoint/2010/main" val="3526011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r>
              <a:rPr lang="en-GB" altLang="en-US" dirty="0"/>
              <a:t>So let’s move on to looking at the process of factor analysis. </a:t>
            </a:r>
          </a:p>
          <a:p>
            <a:r>
              <a:rPr lang="en-GB" altLang="en-US" dirty="0"/>
              <a:t>There is quite a lot of choice in the factor analysis procedure. The outcome also depends on exactly which variables are included in some cases. The aim is always to get fewer factors than variables and for these to be meaningful. The choice involved though does mean that two people might get different outcomes from the same data, even if they choose the same variables as input. The aim of simplicity and meaningfulness mitigates this effect.  </a:t>
            </a:r>
          </a:p>
          <a:p>
            <a:r>
              <a:rPr lang="en-GB" altLang="en-US" dirty="0"/>
              <a:t>To walk through things it is useful to look at some SPSS output. Rather than put sections in the slides I’ve handed out copies of a set of output, as it is easier for you to see the details. I’ll go through this example (which is basically data reduction) and then discuss the options a bit more once you have some context. I’ll also discuss sample size, which can give rise to queries during projects. </a:t>
            </a:r>
          </a:p>
          <a:p>
            <a:endParaRPr lang="en-US" altLang="en-US" dirty="0"/>
          </a:p>
        </p:txBody>
      </p:sp>
    </p:spTree>
    <p:extLst>
      <p:ext uri="{BB962C8B-B14F-4D97-AF65-F5344CB8AC3E}">
        <p14:creationId xmlns:p14="http://schemas.microsoft.com/office/powerpoint/2010/main" val="4213719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p:txBody>
          <a:bodyPr/>
          <a:lstStyle/>
          <a:p>
            <a:r>
              <a:rPr lang="en-GB" altLang="en-US" dirty="0"/>
              <a:t>So let’s move on to looking at the process of factor analysis. </a:t>
            </a:r>
          </a:p>
          <a:p>
            <a:r>
              <a:rPr lang="en-GB" altLang="en-US" dirty="0"/>
              <a:t>There is quite a lot of choice in the factor analysis procedure. The outcome also depends on exactly which variables are included in some cases. The aim is always to get fewer factors than variables and for these to be meaningful. The choice involved though does mean that two people might get different outcomes from the same data, even if they choose the same variables as input. The aim of simplicity and meaningfulness mitigates this effect.  </a:t>
            </a:r>
          </a:p>
          <a:p>
            <a:r>
              <a:rPr lang="en-GB" altLang="en-US" dirty="0"/>
              <a:t>To walk through things it is useful to look at some SPSS output. Rather than put sections in the slides I’ve handed out copies of a set of output, as it is easier for you to see the details. I’ll go through this example (which is basically data reduction) and then discuss the options a bit more once you have some context. I’ll also discuss sample size, which can give rise to queries during projects. </a:t>
            </a:r>
          </a:p>
          <a:p>
            <a:endParaRPr lang="en-US" altLang="en-US" dirty="0"/>
          </a:p>
        </p:txBody>
      </p:sp>
    </p:spTree>
    <p:extLst>
      <p:ext uri="{BB962C8B-B14F-4D97-AF65-F5344CB8AC3E}">
        <p14:creationId xmlns:p14="http://schemas.microsoft.com/office/powerpoint/2010/main" val="444969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p:txBody>
          <a:bodyPr/>
          <a:lstStyle/>
          <a:p>
            <a:r>
              <a:rPr lang="en-GB" altLang="en-US" dirty="0"/>
              <a:t>If you felt happy after looking at the matrix then this will be ok almost by definition.</a:t>
            </a:r>
          </a:p>
          <a:p>
            <a:r>
              <a:rPr lang="en-GB" altLang="en-US" dirty="0"/>
              <a:t>Bartlett’s test is very sensitive and affected by number of cases (so large samples would tend to be significant even if correlations are quite low). </a:t>
            </a:r>
          </a:p>
          <a:p>
            <a:r>
              <a:rPr lang="en-GB" altLang="en-US" dirty="0"/>
              <a:t>So basically a non-significant test would be dynamite, but a significant one is not particularly supportive. The one for this data is significant.</a:t>
            </a:r>
            <a:endParaRPr lang="en-US" altLang="en-US" dirty="0"/>
          </a:p>
        </p:txBody>
      </p:sp>
    </p:spTree>
    <p:extLst>
      <p:ext uri="{BB962C8B-B14F-4D97-AF65-F5344CB8AC3E}">
        <p14:creationId xmlns:p14="http://schemas.microsoft.com/office/powerpoint/2010/main" val="8056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p:txBody>
          <a:bodyPr/>
          <a:lstStyle/>
          <a:p>
            <a:r>
              <a:rPr lang="en-GB" altLang="en-US"/>
              <a:t>If you felt happy after looking at the matrix then this will be ok almost by definition.</a:t>
            </a:r>
          </a:p>
          <a:p>
            <a:r>
              <a:rPr lang="en-GB" altLang="en-US"/>
              <a:t>Bartlett’s test is very sensitive and affected by number of cases (so large samples would tend to be significant even if correlations are quite low). </a:t>
            </a:r>
          </a:p>
          <a:p>
            <a:r>
              <a:rPr lang="en-GB" altLang="en-US"/>
              <a:t>So basically a non-significant test would be dynamite, but a significant one is not particularly supportive. The one for this data is significant.</a:t>
            </a:r>
            <a:endParaRPr lang="en-US" altLang="en-US"/>
          </a:p>
        </p:txBody>
      </p:sp>
    </p:spTree>
    <p:extLst>
      <p:ext uri="{BB962C8B-B14F-4D97-AF65-F5344CB8AC3E}">
        <p14:creationId xmlns:p14="http://schemas.microsoft.com/office/powerpoint/2010/main" val="1985058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FB37484-4BD0-4B53-9749-250372656A21}" type="slidenum">
              <a:rPr lang="en-GB" smtClean="0"/>
              <a:t>13</a:t>
            </a:fld>
            <a:endParaRPr lang="en-GB"/>
          </a:p>
        </p:txBody>
      </p:sp>
    </p:spTree>
    <p:extLst>
      <p:ext uri="{BB962C8B-B14F-4D97-AF65-F5344CB8AC3E}">
        <p14:creationId xmlns:p14="http://schemas.microsoft.com/office/powerpoint/2010/main" val="1107881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14</a:t>
            </a:fld>
            <a:endParaRPr lang="en-GB"/>
          </a:p>
        </p:txBody>
      </p:sp>
    </p:spTree>
    <p:extLst>
      <p:ext uri="{BB962C8B-B14F-4D97-AF65-F5344CB8AC3E}">
        <p14:creationId xmlns:p14="http://schemas.microsoft.com/office/powerpoint/2010/main" val="2067498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15</a:t>
            </a:fld>
            <a:endParaRPr lang="en-GB"/>
          </a:p>
        </p:txBody>
      </p:sp>
    </p:spTree>
    <p:extLst>
      <p:ext uri="{BB962C8B-B14F-4D97-AF65-F5344CB8AC3E}">
        <p14:creationId xmlns:p14="http://schemas.microsoft.com/office/powerpoint/2010/main" val="1730867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r>
              <a:rPr lang="en-GB" altLang="en-US"/>
              <a:t>The values in this example are relatively high probably because they are physical characteristics of a machine. Things with individuals would be less so, maybe only 40% variation explained. </a:t>
            </a:r>
          </a:p>
          <a:p>
            <a:r>
              <a:rPr lang="en-GB" altLang="en-US"/>
              <a:t>These proportions are on the diagonals of the Reproduced Correlations, which is the correlation  matrix based on the factors extracted. If they are near this means the factors account for a lot of the original variance. Residuals are produced between observed and reproduced correlations. The % of nonredundant residuals with absolute values &gt; 0.05 should be less than 50% and small is good.</a:t>
            </a:r>
          </a:p>
          <a:p>
            <a:endParaRPr lang="en-US" altLang="en-US"/>
          </a:p>
        </p:txBody>
      </p:sp>
    </p:spTree>
    <p:extLst>
      <p:ext uri="{BB962C8B-B14F-4D97-AF65-F5344CB8AC3E}">
        <p14:creationId xmlns:p14="http://schemas.microsoft.com/office/powerpoint/2010/main" val="1017503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r>
              <a:rPr lang="en-GB" altLang="en-US"/>
              <a:t>The values in this example are relatively high probably because they are physical characteristics of a machine. Things with individuals would be less so, maybe only 40% variation explained. </a:t>
            </a:r>
          </a:p>
          <a:p>
            <a:r>
              <a:rPr lang="en-GB" altLang="en-US"/>
              <a:t>These proportions are on the diagonals of the Reproduced Correlations, which is the correlation  matrix based on the factors extracted. If they are near this means the factors account for a lot of the original variance. Residuals are produced between observed and reproduced correlations. The % of nonredundant residuals with absolute values &gt; 0.05 should be less than 50% and small is good.</a:t>
            </a:r>
          </a:p>
          <a:p>
            <a:endParaRPr lang="en-US" altLang="en-US"/>
          </a:p>
        </p:txBody>
      </p:sp>
    </p:spTree>
    <p:extLst>
      <p:ext uri="{BB962C8B-B14F-4D97-AF65-F5344CB8AC3E}">
        <p14:creationId xmlns:p14="http://schemas.microsoft.com/office/powerpoint/2010/main" val="2894592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r>
              <a:rPr lang="en-GB" altLang="en-US"/>
              <a:t>The values in this example are relatively high probably because they are physical characteristics of a machine. Things with individuals would be less so, maybe only 40% variation explained. </a:t>
            </a:r>
          </a:p>
          <a:p>
            <a:r>
              <a:rPr lang="en-GB" altLang="en-US"/>
              <a:t>These proportions are on the diagonals of the Reproduced Correlations, which is the correlation  matrix based on the factors extracted. If they are near this means the factors account for a lot of the original variance. Residuals are produced between observed and reproduced correlations. The % of nonredundant residuals with absolute values &gt; 0.05 should be less than 50% and small is good.</a:t>
            </a:r>
          </a:p>
          <a:p>
            <a:endParaRPr lang="en-US" altLang="en-US"/>
          </a:p>
        </p:txBody>
      </p:sp>
    </p:spTree>
    <p:extLst>
      <p:ext uri="{BB962C8B-B14F-4D97-AF65-F5344CB8AC3E}">
        <p14:creationId xmlns:p14="http://schemas.microsoft.com/office/powerpoint/2010/main" val="37297213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22</a:t>
            </a:fld>
            <a:endParaRPr lang="en-GB"/>
          </a:p>
        </p:txBody>
      </p:sp>
    </p:spTree>
    <p:extLst>
      <p:ext uri="{BB962C8B-B14F-4D97-AF65-F5344CB8AC3E}">
        <p14:creationId xmlns:p14="http://schemas.microsoft.com/office/powerpoint/2010/main" val="2504388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r>
              <a:rPr lang="en-GB" altLang="en-US"/>
              <a:t>Here we used an orthogonal technique, so our rotated factors are still orthogonal</a:t>
            </a:r>
          </a:p>
          <a:p>
            <a:r>
              <a:rPr lang="en-GB" altLang="en-US"/>
              <a:t>Going back to the “rotation sum of squared loadings”</a:t>
            </a:r>
          </a:p>
          <a:p>
            <a:r>
              <a:rPr lang="en-GB" altLang="en-US"/>
              <a:t>You’ll see the amount of variation explained by the rotated factors is the same as before rotation, but the % variation explained has been spread more between the factors</a:t>
            </a:r>
            <a:endParaRPr lang="en-US" altLang="en-US"/>
          </a:p>
        </p:txBody>
      </p:sp>
    </p:spTree>
    <p:extLst>
      <p:ext uri="{BB962C8B-B14F-4D97-AF65-F5344CB8AC3E}">
        <p14:creationId xmlns:p14="http://schemas.microsoft.com/office/powerpoint/2010/main" val="1746215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r>
              <a:rPr lang="en-GB" altLang="en-US"/>
              <a:t>Here we used an orthogonal technique, so our rotated factors are still orthogonal</a:t>
            </a:r>
          </a:p>
          <a:p>
            <a:r>
              <a:rPr lang="en-GB" altLang="en-US"/>
              <a:t>Going back to the “rotation sum of squared loadings”</a:t>
            </a:r>
          </a:p>
          <a:p>
            <a:r>
              <a:rPr lang="en-GB" altLang="en-US"/>
              <a:t>You’ll see the amount of variation explained by the rotated factors is the same as before rotation, but the % variation explained has been spread more between the factors</a:t>
            </a:r>
            <a:endParaRPr lang="en-US" altLang="en-US"/>
          </a:p>
        </p:txBody>
      </p:sp>
    </p:spTree>
    <p:extLst>
      <p:ext uri="{BB962C8B-B14F-4D97-AF65-F5344CB8AC3E}">
        <p14:creationId xmlns:p14="http://schemas.microsoft.com/office/powerpoint/2010/main" val="2571135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p:txBody>
          <a:bodyPr/>
          <a:lstStyle/>
          <a:p>
            <a:r>
              <a:rPr lang="en-GB" altLang="en-US"/>
              <a:t>in other words the correlation between the variable and the factor</a:t>
            </a:r>
          </a:p>
          <a:p>
            <a:r>
              <a:rPr lang="en-GB" altLang="en-US"/>
              <a:t>if you get all loadings printed initially it lets you see how close others are to your cutoff.</a:t>
            </a:r>
          </a:p>
          <a:p>
            <a:r>
              <a:rPr lang="en-GB" altLang="en-US"/>
              <a:t>the first three variables correlated with factor 1 seem performance related; engine size and horsepower, with price being paid to have this</a:t>
            </a:r>
          </a:p>
          <a:p>
            <a:r>
              <a:rPr lang="en-GB" altLang="en-US"/>
              <a:t>the second factor seems to relate to physical size</a:t>
            </a:r>
          </a:p>
          <a:p>
            <a:r>
              <a:rPr lang="en-GB" altLang="en-US"/>
              <a:t>the third related to fuel economy or possibly range</a:t>
            </a:r>
          </a:p>
          <a:p>
            <a:r>
              <a:rPr lang="en-GB" altLang="en-US"/>
              <a:t>In the application of predicting sales these factors used as scores would put more information into the model than say, using the variable which is most correlated with the factor alone. </a:t>
            </a:r>
          </a:p>
          <a:p>
            <a:r>
              <a:rPr lang="en-GB" altLang="en-US"/>
              <a:t>In applications where you are mainly focused on meaning interpretability would be the main focus. These variables could be seen as expressing aspect that influence consumer preferences. You might try running different models in this situation if you aren’t so happy with the outcome. </a:t>
            </a:r>
          </a:p>
          <a:p>
            <a:r>
              <a:rPr lang="en-GB" altLang="en-US"/>
              <a:t>If the rotation hasn’t made much difference you can consider whether another method would be better</a:t>
            </a:r>
            <a:endParaRPr lang="en-US" altLang="en-US"/>
          </a:p>
        </p:txBody>
      </p:sp>
    </p:spTree>
    <p:extLst>
      <p:ext uri="{BB962C8B-B14F-4D97-AF65-F5344CB8AC3E}">
        <p14:creationId xmlns:p14="http://schemas.microsoft.com/office/powerpoint/2010/main" val="14582417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26</a:t>
            </a:fld>
            <a:endParaRPr lang="en-GB"/>
          </a:p>
        </p:txBody>
      </p:sp>
    </p:spTree>
    <p:extLst>
      <p:ext uri="{BB962C8B-B14F-4D97-AF65-F5344CB8AC3E}">
        <p14:creationId xmlns:p14="http://schemas.microsoft.com/office/powerpoint/2010/main" val="3614459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27</a:t>
            </a:fld>
            <a:endParaRPr lang="en-GB"/>
          </a:p>
        </p:txBody>
      </p:sp>
    </p:spTree>
    <p:extLst>
      <p:ext uri="{BB962C8B-B14F-4D97-AF65-F5344CB8AC3E}">
        <p14:creationId xmlns:p14="http://schemas.microsoft.com/office/powerpoint/2010/main" val="37838666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GB" altLang="en-US"/>
              <a:t>indicator variables can be referred to as manifest variables</a:t>
            </a:r>
          </a:p>
          <a:p>
            <a:r>
              <a:rPr lang="en-GB" altLang="en-US"/>
              <a:t>they are almost always interval or ratio data – you need variation</a:t>
            </a:r>
          </a:p>
          <a:p>
            <a:endParaRPr lang="en-US" altLang="en-US"/>
          </a:p>
        </p:txBody>
      </p:sp>
    </p:spTree>
    <p:extLst>
      <p:ext uri="{BB962C8B-B14F-4D97-AF65-F5344CB8AC3E}">
        <p14:creationId xmlns:p14="http://schemas.microsoft.com/office/powerpoint/2010/main" val="2391273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29</a:t>
            </a:fld>
            <a:endParaRPr lang="en-GB"/>
          </a:p>
        </p:txBody>
      </p:sp>
    </p:spTree>
    <p:extLst>
      <p:ext uri="{BB962C8B-B14F-4D97-AF65-F5344CB8AC3E}">
        <p14:creationId xmlns:p14="http://schemas.microsoft.com/office/powerpoint/2010/main" val="34680458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30</a:t>
            </a:fld>
            <a:endParaRPr lang="en-GB"/>
          </a:p>
        </p:txBody>
      </p:sp>
    </p:spTree>
    <p:extLst>
      <p:ext uri="{BB962C8B-B14F-4D97-AF65-F5344CB8AC3E}">
        <p14:creationId xmlns:p14="http://schemas.microsoft.com/office/powerpoint/2010/main" val="2797606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31</a:t>
            </a:fld>
            <a:endParaRPr lang="en-GB"/>
          </a:p>
        </p:txBody>
      </p:sp>
    </p:spTree>
    <p:extLst>
      <p:ext uri="{BB962C8B-B14F-4D97-AF65-F5344CB8AC3E}">
        <p14:creationId xmlns:p14="http://schemas.microsoft.com/office/powerpoint/2010/main" val="28239292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32</a:t>
            </a:fld>
            <a:endParaRPr lang="en-GB"/>
          </a:p>
        </p:txBody>
      </p:sp>
    </p:spTree>
    <p:extLst>
      <p:ext uri="{BB962C8B-B14F-4D97-AF65-F5344CB8AC3E}">
        <p14:creationId xmlns:p14="http://schemas.microsoft.com/office/powerpoint/2010/main" val="569001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A20F01-F786-7A49-96BF-1440B95DB82E}" type="slidenum">
              <a:rPr lang="en-US" smtClean="0"/>
              <a:t>34</a:t>
            </a:fld>
            <a:endParaRPr lang="en-US"/>
          </a:p>
        </p:txBody>
      </p:sp>
    </p:spTree>
    <p:extLst>
      <p:ext uri="{BB962C8B-B14F-4D97-AF65-F5344CB8AC3E}">
        <p14:creationId xmlns:p14="http://schemas.microsoft.com/office/powerpoint/2010/main" val="1731684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lstStyle>
            <a:lvl1pPr algn="l">
              <a:defRPr/>
            </a:lvl1p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250"/>
            <a:ext cx="8229600" cy="11430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92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12/2/25</a:t>
            </a:fld>
            <a:endParaRPr lang="en-US"/>
          </a:p>
        </p:txBody>
      </p:sp>
      <p:sp>
        <p:nvSpPr>
          <p:cNvPr id="5" name="Footer Placeholder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0.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00.png"/><Relationship Id="rId5" Type="http://schemas.openxmlformats.org/officeDocument/2006/relationships/image" Target="../media/image90.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10.png"/><Relationship Id="rId4" Type="http://schemas.openxmlformats.org/officeDocument/2006/relationships/image" Target="../media/image90.png"/></Relationships>
</file>

<file path=ppt/slides/_rels/slide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20.png"/><Relationship Id="rId4" Type="http://schemas.openxmlformats.org/officeDocument/2006/relationships/image" Target="../media/image90.png"/></Relationships>
</file>

<file path=ppt/slides/_rels/slide1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90.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90.png"/><Relationship Id="rId4" Type="http://schemas.openxmlformats.org/officeDocument/2006/relationships/image" Target="../media/image100.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hyperlink" Target="https://outlook.office.com/bookwithme/user/dceae51b59c245e1a0a4d191ac9efc37@leeds.ac.uk?anonymous&amp;ep=plink" TargetMode="Externa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hyperlink" Target="https://leeds.bluera.com/leed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solidFill>
            <a:srgbClr val="FFFF00"/>
          </a:solidFill>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211944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Factor Analysis?</a:t>
            </a:r>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381000" y="838200"/>
                <a:ext cx="8229600" cy="4525963"/>
              </a:xfrm>
            </p:spPr>
            <p:txBody>
              <a:bodyPr>
                <a:normAutofit/>
              </a:bodyPr>
              <a:lstStyle/>
              <a:p>
                <a:pPr marL="0" indent="0">
                  <a:buNone/>
                </a:pPr>
                <a:r>
                  <a:rPr lang="en-GB" sz="2400" dirty="0"/>
                  <a:t>A technique to </a:t>
                </a:r>
                <a:r>
                  <a:rPr lang="en-GB" sz="2400" b="1" dirty="0"/>
                  <a:t>untangle </a:t>
                </a:r>
                <a:r>
                  <a:rPr lang="en-GB" sz="2400" dirty="0"/>
                  <a:t>the </a:t>
                </a:r>
                <a:r>
                  <a:rPr lang="en-GB" sz="2400" b="1" dirty="0"/>
                  <a:t>relationships</a:t>
                </a:r>
                <a:r>
                  <a:rPr lang="en-GB" sz="2400" dirty="0"/>
                  <a:t> of variables </a:t>
                </a:r>
                <a:r>
                  <a:rPr lang="en-GB" sz="2400" b="1" dirty="0"/>
                  <a:t>into</a:t>
                </a:r>
                <a:r>
                  <a:rPr lang="en-GB" sz="2400" dirty="0"/>
                  <a:t> their </a:t>
                </a:r>
                <a:r>
                  <a:rPr lang="en-GB" sz="2400" b="1" dirty="0"/>
                  <a:t>patterns</a:t>
                </a:r>
                <a:r>
                  <a:rPr lang="en-GB" sz="2400" dirty="0"/>
                  <a:t>, ending up in a smaller number of factors i.e.</a:t>
                </a:r>
              </a:p>
              <a:p>
                <a:pPr lvl="2"/>
                <a14:m>
                  <m:oMath xmlns:m="http://schemas.openxmlformats.org/officeDocument/2006/math">
                    <m:d>
                      <m:dPr>
                        <m:begChr m:val="["/>
                        <m:endChr m:val="]"/>
                        <m:ctrlPr>
                          <a:rPr lang="en-GB" i="1" dirty="0" smtClean="0">
                            <a:latin typeface="Cambria Math" panose="02040503050406030204" pitchFamily="18" charset="0"/>
                            <a:ea typeface="Cambria Math"/>
                          </a:rPr>
                        </m:ctrlPr>
                      </m:dPr>
                      <m:e>
                        <m:sSub>
                          <m:sSubPr>
                            <m:ctrlPr>
                              <a:rPr lang="en-GB" i="1" dirty="0">
                                <a:latin typeface="Cambria Math" panose="02040503050406030204" pitchFamily="18" charset="0"/>
                              </a:rPr>
                            </m:ctrlPr>
                          </m:sSubPr>
                          <m:e>
                            <m:r>
                              <a:rPr lang="en-GB" i="1" dirty="0">
                                <a:latin typeface="Cambria Math"/>
                              </a:rPr>
                              <m:t>𝑋</m:t>
                            </m:r>
                          </m:e>
                          <m:sub>
                            <m:r>
                              <a:rPr lang="en-GB" i="1" dirty="0">
                                <a:latin typeface="Cambria Math"/>
                              </a:rPr>
                              <m:t>1</m:t>
                            </m:r>
                          </m:sub>
                        </m:sSub>
                        <m:r>
                          <a:rPr lang="en-GB" i="1" dirty="0">
                            <a:latin typeface="Cambria Math"/>
                          </a:rPr>
                          <m:t>,</m:t>
                        </m:r>
                        <m:sSub>
                          <m:sSubPr>
                            <m:ctrlPr>
                              <a:rPr lang="en-GB" i="1" dirty="0">
                                <a:latin typeface="Cambria Math" panose="02040503050406030204" pitchFamily="18" charset="0"/>
                              </a:rPr>
                            </m:ctrlPr>
                          </m:sSubPr>
                          <m:e>
                            <m:r>
                              <a:rPr lang="en-GB" i="1" dirty="0">
                                <a:latin typeface="Cambria Math"/>
                              </a:rPr>
                              <m:t>𝑋</m:t>
                            </m:r>
                          </m:e>
                          <m:sub>
                            <m:r>
                              <a:rPr lang="en-GB" i="1" dirty="0">
                                <a:latin typeface="Cambria Math"/>
                              </a:rPr>
                              <m:t>2</m:t>
                            </m:r>
                          </m:sub>
                        </m:sSub>
                        <m:r>
                          <a:rPr lang="en-GB" i="1" dirty="0">
                            <a:latin typeface="Cambria Math"/>
                          </a:rPr>
                          <m:t>,</m:t>
                        </m:r>
                        <m:sSub>
                          <m:sSubPr>
                            <m:ctrlPr>
                              <a:rPr lang="en-GB" i="1" dirty="0">
                                <a:latin typeface="Cambria Math" panose="02040503050406030204" pitchFamily="18" charset="0"/>
                              </a:rPr>
                            </m:ctrlPr>
                          </m:sSubPr>
                          <m:e>
                            <m:r>
                              <a:rPr lang="en-GB" i="1" dirty="0">
                                <a:latin typeface="Cambria Math"/>
                              </a:rPr>
                              <m:t>𝑋</m:t>
                            </m:r>
                          </m:e>
                          <m:sub>
                            <m:r>
                              <a:rPr lang="en-GB" b="0" i="1" dirty="0" smtClean="0">
                                <a:latin typeface="Cambria Math"/>
                              </a:rPr>
                              <m:t>3</m:t>
                            </m:r>
                          </m:sub>
                        </m:sSub>
                        <m:r>
                          <a:rPr lang="en-GB" i="1" dirty="0">
                            <a:latin typeface="Cambria Math"/>
                          </a:rPr>
                          <m:t>,</m:t>
                        </m:r>
                        <m:sSub>
                          <m:sSubPr>
                            <m:ctrlPr>
                              <a:rPr lang="en-GB" i="1" dirty="0">
                                <a:latin typeface="Cambria Math" panose="02040503050406030204" pitchFamily="18" charset="0"/>
                              </a:rPr>
                            </m:ctrlPr>
                          </m:sSubPr>
                          <m:e>
                            <m:r>
                              <a:rPr lang="en-GB" i="1" dirty="0">
                                <a:latin typeface="Cambria Math"/>
                              </a:rPr>
                              <m:t>𝑋</m:t>
                            </m:r>
                          </m:e>
                          <m:sub>
                            <m:r>
                              <a:rPr lang="en-GB" b="0" i="1" dirty="0" smtClean="0">
                                <a:latin typeface="Cambria Math"/>
                              </a:rPr>
                              <m:t>4</m:t>
                            </m:r>
                          </m:sub>
                        </m:sSub>
                        <m:r>
                          <a:rPr lang="en-GB" i="1" dirty="0">
                            <a:latin typeface="Cambria Math"/>
                          </a:rPr>
                          <m:t>,…,</m:t>
                        </m:r>
                        <m:sSub>
                          <m:sSubPr>
                            <m:ctrlPr>
                              <a:rPr lang="en-GB" i="1" dirty="0" err="1">
                                <a:latin typeface="Cambria Math" panose="02040503050406030204" pitchFamily="18" charset="0"/>
                              </a:rPr>
                            </m:ctrlPr>
                          </m:sSubPr>
                          <m:e>
                            <m:r>
                              <a:rPr lang="en-GB" i="1" dirty="0" err="1">
                                <a:latin typeface="Cambria Math"/>
                              </a:rPr>
                              <m:t>𝑋</m:t>
                            </m:r>
                          </m:e>
                          <m:sub>
                            <m:r>
                              <a:rPr lang="en-GB" i="1" dirty="0" err="1">
                                <a:latin typeface="Cambria Math"/>
                              </a:rPr>
                              <m:t>𝑚</m:t>
                            </m:r>
                          </m:sub>
                        </m:sSub>
                      </m:e>
                    </m:d>
                    <m:r>
                      <a:rPr lang="en-GB" i="1" dirty="0" smtClean="0">
                        <a:latin typeface="Cambria Math"/>
                        <a:ea typeface="Cambria Math"/>
                      </a:rPr>
                      <m:t>↔</m:t>
                    </m:r>
                    <m:d>
                      <m:dPr>
                        <m:begChr m:val="["/>
                        <m:endChr m:val="]"/>
                        <m:ctrlPr>
                          <a:rPr lang="en-GB" i="1" dirty="0" smtClean="0">
                            <a:latin typeface="Cambria Math" panose="02040503050406030204" pitchFamily="18" charset="0"/>
                            <a:ea typeface="Cambria Math"/>
                          </a:rPr>
                        </m:ctrlPr>
                      </m:dPr>
                      <m:e>
                        <m:sSub>
                          <m:sSubPr>
                            <m:ctrlPr>
                              <a:rPr lang="en-GB" i="1" dirty="0">
                                <a:latin typeface="Cambria Math" panose="02040503050406030204" pitchFamily="18" charset="0"/>
                              </a:rPr>
                            </m:ctrlPr>
                          </m:sSubPr>
                          <m:e>
                            <m:r>
                              <a:rPr lang="en-GB" i="1" dirty="0">
                                <a:latin typeface="Cambria Math"/>
                              </a:rPr>
                              <m:t>𝐹</m:t>
                            </m:r>
                          </m:e>
                          <m:sub>
                            <m:r>
                              <a:rPr lang="en-GB" i="1" dirty="0">
                                <a:latin typeface="Cambria Math"/>
                              </a:rPr>
                              <m:t>1</m:t>
                            </m:r>
                          </m:sub>
                        </m:sSub>
                        <m:r>
                          <a:rPr lang="en-GB" i="1" dirty="0">
                            <a:latin typeface="Cambria Math"/>
                          </a:rPr>
                          <m:t>,</m:t>
                        </m:r>
                        <m:sSub>
                          <m:sSubPr>
                            <m:ctrlPr>
                              <a:rPr lang="en-GB" i="1" dirty="0">
                                <a:latin typeface="Cambria Math" panose="02040503050406030204" pitchFamily="18" charset="0"/>
                              </a:rPr>
                            </m:ctrlPr>
                          </m:sSubPr>
                          <m:e>
                            <m:r>
                              <a:rPr lang="en-GB" i="1" dirty="0">
                                <a:latin typeface="Cambria Math"/>
                              </a:rPr>
                              <m:t>𝐹</m:t>
                            </m:r>
                          </m:e>
                          <m:sub>
                            <m:r>
                              <a:rPr lang="en-GB" i="1" dirty="0">
                                <a:latin typeface="Cambria Math"/>
                              </a:rPr>
                              <m:t>2</m:t>
                            </m:r>
                          </m:sub>
                        </m:sSub>
                        <m:r>
                          <a:rPr lang="en-GB" i="1" dirty="0">
                            <a:latin typeface="Cambria Math"/>
                          </a:rPr>
                          <m:t>,…,</m:t>
                        </m:r>
                        <m:sSub>
                          <m:sSubPr>
                            <m:ctrlPr>
                              <a:rPr lang="en-GB" i="1" dirty="0" err="1">
                                <a:latin typeface="Cambria Math" panose="02040503050406030204" pitchFamily="18" charset="0"/>
                              </a:rPr>
                            </m:ctrlPr>
                          </m:sSubPr>
                          <m:e>
                            <m:r>
                              <a:rPr lang="en-GB" i="1" dirty="0" err="1">
                                <a:latin typeface="Cambria Math"/>
                              </a:rPr>
                              <m:t>𝐹</m:t>
                            </m:r>
                          </m:e>
                          <m:sub>
                            <m:r>
                              <a:rPr lang="en-GB" i="1" dirty="0" err="1">
                                <a:latin typeface="Cambria Math"/>
                              </a:rPr>
                              <m:t>𝑘</m:t>
                            </m:r>
                          </m:sub>
                        </m:sSub>
                      </m:e>
                    </m:d>
                  </m:oMath>
                </a14:m>
                <a:endParaRPr lang="en-GB" dirty="0"/>
              </a:p>
              <a:p>
                <a:endParaRPr lang="en-GB" sz="2400"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381000" y="838200"/>
                <a:ext cx="8229600" cy="4525963"/>
              </a:xfrm>
              <a:blipFill rotWithShape="1">
                <a:blip r:embed="rId3"/>
                <a:stretch>
                  <a:fillRect l="-1185" t="-1078" r="-222"/>
                </a:stretch>
              </a:blipFill>
            </p:spPr>
            <p:txBody>
              <a:bodyPr/>
              <a:lstStyle/>
              <a:p>
                <a:r>
                  <a:rPr lang="en-GB">
                    <a:noFill/>
                  </a:rPr>
                  <a:t> </a:t>
                </a:r>
              </a:p>
            </p:txBody>
          </p:sp>
        </mc:Fallback>
      </mc:AlternateContent>
      <p:sp>
        <p:nvSpPr>
          <p:cNvPr id="5" name="Rectangle 4"/>
          <p:cNvSpPr/>
          <p:nvPr/>
        </p:nvSpPr>
        <p:spPr>
          <a:xfrm>
            <a:off x="0" y="6581001"/>
            <a:ext cx="1127232" cy="276999"/>
          </a:xfrm>
          <a:prstGeom prst="rect">
            <a:avLst/>
          </a:prstGeom>
        </p:spPr>
        <p:txBody>
          <a:bodyPr wrap="none">
            <a:spAutoFit/>
          </a:bodyPr>
          <a:lstStyle/>
          <a:p>
            <a:r>
              <a:rPr lang="en-GB" sz="1200" dirty="0"/>
              <a:t>(Harman 1976)</a:t>
            </a:r>
          </a:p>
        </p:txBody>
      </p:sp>
      <p:graphicFrame>
        <p:nvGraphicFramePr>
          <p:cNvPr id="6" name="Table 5"/>
          <p:cNvGraphicFramePr>
            <a:graphicFrameLocks noGrp="1"/>
          </p:cNvGraphicFramePr>
          <p:nvPr>
            <p:extLst>
              <p:ext uri="{D42A27DB-BD31-4B8C-83A1-F6EECF244321}">
                <p14:modId xmlns:p14="http://schemas.microsoft.com/office/powerpoint/2010/main" val="1241347633"/>
              </p:ext>
            </p:extLst>
          </p:nvPr>
        </p:nvGraphicFramePr>
        <p:xfrm>
          <a:off x="1447800" y="2743200"/>
          <a:ext cx="2667000" cy="2072640"/>
        </p:xfrm>
        <a:graphic>
          <a:graphicData uri="http://schemas.openxmlformats.org/drawingml/2006/table">
            <a:tbl>
              <a:tblPr firstRow="1" bandRow="1">
                <a:tableStyleId>{073A0DAA-6AF3-43AB-8588-CEC1D06C72B9}</a:tableStyleId>
              </a:tblPr>
              <a:tblGrid>
                <a:gridCol w="333375">
                  <a:extLst>
                    <a:ext uri="{9D8B030D-6E8A-4147-A177-3AD203B41FA5}">
                      <a16:colId xmlns:a16="http://schemas.microsoft.com/office/drawing/2014/main" val="20000"/>
                    </a:ext>
                  </a:extLst>
                </a:gridCol>
                <a:gridCol w="333375">
                  <a:extLst>
                    <a:ext uri="{9D8B030D-6E8A-4147-A177-3AD203B41FA5}">
                      <a16:colId xmlns:a16="http://schemas.microsoft.com/office/drawing/2014/main" val="20001"/>
                    </a:ext>
                  </a:extLst>
                </a:gridCol>
                <a:gridCol w="333375">
                  <a:extLst>
                    <a:ext uri="{9D8B030D-6E8A-4147-A177-3AD203B41FA5}">
                      <a16:colId xmlns:a16="http://schemas.microsoft.com/office/drawing/2014/main" val="20002"/>
                    </a:ext>
                  </a:extLst>
                </a:gridCol>
                <a:gridCol w="333375">
                  <a:extLst>
                    <a:ext uri="{9D8B030D-6E8A-4147-A177-3AD203B41FA5}">
                      <a16:colId xmlns:a16="http://schemas.microsoft.com/office/drawing/2014/main" val="20003"/>
                    </a:ext>
                  </a:extLst>
                </a:gridCol>
                <a:gridCol w="333375">
                  <a:extLst>
                    <a:ext uri="{9D8B030D-6E8A-4147-A177-3AD203B41FA5}">
                      <a16:colId xmlns:a16="http://schemas.microsoft.com/office/drawing/2014/main" val="20004"/>
                    </a:ext>
                  </a:extLst>
                </a:gridCol>
                <a:gridCol w="333375">
                  <a:extLst>
                    <a:ext uri="{9D8B030D-6E8A-4147-A177-3AD203B41FA5}">
                      <a16:colId xmlns:a16="http://schemas.microsoft.com/office/drawing/2014/main" val="20005"/>
                    </a:ext>
                  </a:extLst>
                </a:gridCol>
                <a:gridCol w="333375">
                  <a:extLst>
                    <a:ext uri="{9D8B030D-6E8A-4147-A177-3AD203B41FA5}">
                      <a16:colId xmlns:a16="http://schemas.microsoft.com/office/drawing/2014/main" val="20006"/>
                    </a:ext>
                  </a:extLst>
                </a:gridCol>
                <a:gridCol w="333375">
                  <a:extLst>
                    <a:ext uri="{9D8B030D-6E8A-4147-A177-3AD203B41FA5}">
                      <a16:colId xmlns:a16="http://schemas.microsoft.com/office/drawing/2014/main" val="20007"/>
                    </a:ext>
                  </a:extLst>
                </a:gridCol>
              </a:tblGrid>
              <a:tr h="168275">
                <a:tc>
                  <a:txBody>
                    <a:bodyPr/>
                    <a:lstStyle/>
                    <a:p>
                      <a:endParaRPr lang="en-GB" sz="1100" dirty="0"/>
                    </a:p>
                  </a:txBody>
                  <a:tcPr/>
                </a:tc>
                <a:tc>
                  <a:txBody>
                    <a:bodyPr/>
                    <a:lstStyle/>
                    <a:p>
                      <a:endParaRPr lang="en-GB" sz="1100" dirty="0"/>
                    </a:p>
                  </a:txBody>
                  <a:tcPr/>
                </a:tc>
                <a:tc>
                  <a:txBody>
                    <a:bodyPr/>
                    <a:lstStyle/>
                    <a:p>
                      <a:endParaRPr lang="en-GB" sz="1100"/>
                    </a:p>
                  </a:txBody>
                  <a:tcPr/>
                </a:tc>
                <a:tc>
                  <a:txBody>
                    <a:bodyPr/>
                    <a:lstStyle/>
                    <a:p>
                      <a:endParaRPr lang="en-GB" sz="1100" dirty="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extLst>
                  <a:ext uri="{0D108BD9-81ED-4DB2-BD59-A6C34878D82A}">
                    <a16:rowId xmlns:a16="http://schemas.microsoft.com/office/drawing/2014/main" val="10000"/>
                  </a:ext>
                </a:extLst>
              </a:tr>
              <a:tr h="168275">
                <a:tc>
                  <a:txBody>
                    <a:bodyPr/>
                    <a:lstStyle/>
                    <a:p>
                      <a:endParaRPr lang="en-GB" sz="110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extLst>
                  <a:ext uri="{0D108BD9-81ED-4DB2-BD59-A6C34878D82A}">
                    <a16:rowId xmlns:a16="http://schemas.microsoft.com/office/drawing/2014/main" val="10001"/>
                  </a:ext>
                </a:extLst>
              </a:tr>
              <a:tr h="168275">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dirty="0"/>
                    </a:p>
                  </a:txBody>
                  <a:tcPr/>
                </a:tc>
                <a:tc>
                  <a:txBody>
                    <a:bodyPr/>
                    <a:lstStyle/>
                    <a:p>
                      <a:endParaRPr lang="en-GB" sz="1100" dirty="0"/>
                    </a:p>
                  </a:txBody>
                  <a:tcPr/>
                </a:tc>
                <a:tc>
                  <a:txBody>
                    <a:bodyPr/>
                    <a:lstStyle/>
                    <a:p>
                      <a:endParaRPr lang="en-GB" sz="1100" dirty="0"/>
                    </a:p>
                  </a:txBody>
                  <a:tcPr/>
                </a:tc>
                <a:tc>
                  <a:txBody>
                    <a:bodyPr/>
                    <a:lstStyle/>
                    <a:p>
                      <a:endParaRPr lang="en-GB" sz="1100"/>
                    </a:p>
                  </a:txBody>
                  <a:tcPr/>
                </a:tc>
                <a:tc>
                  <a:txBody>
                    <a:bodyPr/>
                    <a:lstStyle/>
                    <a:p>
                      <a:endParaRPr lang="en-GB" sz="1100"/>
                    </a:p>
                  </a:txBody>
                  <a:tcPr/>
                </a:tc>
                <a:extLst>
                  <a:ext uri="{0D108BD9-81ED-4DB2-BD59-A6C34878D82A}">
                    <a16:rowId xmlns:a16="http://schemas.microsoft.com/office/drawing/2014/main" val="10002"/>
                  </a:ext>
                </a:extLst>
              </a:tr>
              <a:tr h="168275">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dirty="0"/>
                    </a:p>
                  </a:txBody>
                  <a:tcPr/>
                </a:tc>
                <a:tc>
                  <a:txBody>
                    <a:bodyPr/>
                    <a:lstStyle/>
                    <a:p>
                      <a:endParaRPr lang="en-GB" sz="1100" dirty="0"/>
                    </a:p>
                  </a:txBody>
                  <a:tcPr/>
                </a:tc>
                <a:tc>
                  <a:txBody>
                    <a:bodyPr/>
                    <a:lstStyle/>
                    <a:p>
                      <a:endParaRPr lang="en-GB" sz="1100"/>
                    </a:p>
                  </a:txBody>
                  <a:tcPr/>
                </a:tc>
                <a:extLst>
                  <a:ext uri="{0D108BD9-81ED-4DB2-BD59-A6C34878D82A}">
                    <a16:rowId xmlns:a16="http://schemas.microsoft.com/office/drawing/2014/main" val="10003"/>
                  </a:ext>
                </a:extLst>
              </a:tr>
              <a:tr h="168275">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dirty="0"/>
                    </a:p>
                  </a:txBody>
                  <a:tcPr/>
                </a:tc>
                <a:tc>
                  <a:txBody>
                    <a:bodyPr/>
                    <a:lstStyle/>
                    <a:p>
                      <a:endParaRPr lang="en-GB" sz="1100" dirty="0"/>
                    </a:p>
                  </a:txBody>
                  <a:tcPr/>
                </a:tc>
                <a:extLst>
                  <a:ext uri="{0D108BD9-81ED-4DB2-BD59-A6C34878D82A}">
                    <a16:rowId xmlns:a16="http://schemas.microsoft.com/office/drawing/2014/main" val="10004"/>
                  </a:ext>
                </a:extLst>
              </a:tr>
              <a:tr h="168275">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dirty="0"/>
                    </a:p>
                  </a:txBody>
                  <a:tcPr/>
                </a:tc>
                <a:extLst>
                  <a:ext uri="{0D108BD9-81ED-4DB2-BD59-A6C34878D82A}">
                    <a16:rowId xmlns:a16="http://schemas.microsoft.com/office/drawing/2014/main" val="10005"/>
                  </a:ext>
                </a:extLst>
              </a:tr>
              <a:tr h="168275">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dirty="0"/>
                    </a:p>
                  </a:txBody>
                  <a:tcPr/>
                </a:tc>
                <a:extLst>
                  <a:ext uri="{0D108BD9-81ED-4DB2-BD59-A6C34878D82A}">
                    <a16:rowId xmlns:a16="http://schemas.microsoft.com/office/drawing/2014/main" val="10006"/>
                  </a:ext>
                </a:extLst>
              </a:tr>
              <a:tr h="168275">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a:p>
                  </a:txBody>
                  <a:tcPr/>
                </a:tc>
                <a:tc>
                  <a:txBody>
                    <a:bodyPr/>
                    <a:lstStyle/>
                    <a:p>
                      <a:endParaRPr lang="en-GB" sz="1100" dirty="0"/>
                    </a:p>
                  </a:txBody>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075153052"/>
              </p:ext>
            </p:extLst>
          </p:nvPr>
        </p:nvGraphicFramePr>
        <p:xfrm>
          <a:off x="5592337" y="2754351"/>
          <a:ext cx="1000125" cy="2072640"/>
        </p:xfrm>
        <a:graphic>
          <a:graphicData uri="http://schemas.openxmlformats.org/drawingml/2006/table">
            <a:tbl>
              <a:tblPr firstRow="1" bandRow="1">
                <a:tableStyleId>{5C22544A-7EE6-4342-B048-85BDC9FD1C3A}</a:tableStyleId>
              </a:tblPr>
              <a:tblGrid>
                <a:gridCol w="333375">
                  <a:extLst>
                    <a:ext uri="{9D8B030D-6E8A-4147-A177-3AD203B41FA5}">
                      <a16:colId xmlns:a16="http://schemas.microsoft.com/office/drawing/2014/main" val="20000"/>
                    </a:ext>
                  </a:extLst>
                </a:gridCol>
                <a:gridCol w="333375">
                  <a:extLst>
                    <a:ext uri="{9D8B030D-6E8A-4147-A177-3AD203B41FA5}">
                      <a16:colId xmlns:a16="http://schemas.microsoft.com/office/drawing/2014/main" val="20001"/>
                    </a:ext>
                  </a:extLst>
                </a:gridCol>
                <a:gridCol w="333375">
                  <a:extLst>
                    <a:ext uri="{9D8B030D-6E8A-4147-A177-3AD203B41FA5}">
                      <a16:colId xmlns:a16="http://schemas.microsoft.com/office/drawing/2014/main" val="20002"/>
                    </a:ext>
                  </a:extLst>
                </a:gridCol>
              </a:tblGrid>
              <a:tr h="168275">
                <a:tc>
                  <a:txBody>
                    <a:bodyPr/>
                    <a:lstStyle/>
                    <a:p>
                      <a:endParaRPr lang="en-GB" sz="1100" dirty="0"/>
                    </a:p>
                  </a:txBody>
                  <a:tcPr>
                    <a:solidFill>
                      <a:schemeClr val="tx1"/>
                    </a:solidFill>
                  </a:tcPr>
                </a:tc>
                <a:tc>
                  <a:txBody>
                    <a:bodyPr/>
                    <a:lstStyle/>
                    <a:p>
                      <a:endParaRPr lang="en-GB" sz="1100" dirty="0"/>
                    </a:p>
                  </a:txBody>
                  <a:tcPr>
                    <a:solidFill>
                      <a:schemeClr val="tx1"/>
                    </a:solidFill>
                  </a:tcPr>
                </a:tc>
                <a:tc>
                  <a:txBody>
                    <a:bodyPr/>
                    <a:lstStyle/>
                    <a:p>
                      <a:endParaRPr lang="en-GB" sz="1100" dirty="0"/>
                    </a:p>
                  </a:txBody>
                  <a:tcPr>
                    <a:solidFill>
                      <a:schemeClr val="tx1"/>
                    </a:solidFill>
                  </a:tcPr>
                </a:tc>
                <a:extLst>
                  <a:ext uri="{0D108BD9-81ED-4DB2-BD59-A6C34878D82A}">
                    <a16:rowId xmlns:a16="http://schemas.microsoft.com/office/drawing/2014/main" val="10000"/>
                  </a:ext>
                </a:extLst>
              </a:tr>
              <a:tr h="168275">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1"/>
                  </a:ext>
                </a:extLst>
              </a:tr>
              <a:tr h="168275">
                <a:tc>
                  <a:txBody>
                    <a:bodyPr/>
                    <a:lstStyle/>
                    <a:p>
                      <a:endParaRPr lang="en-GB" sz="110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extLst>
                  <a:ext uri="{0D108BD9-81ED-4DB2-BD59-A6C34878D82A}">
                    <a16:rowId xmlns:a16="http://schemas.microsoft.com/office/drawing/2014/main" val="10002"/>
                  </a:ext>
                </a:extLst>
              </a:tr>
              <a:tr h="168275">
                <a:tc>
                  <a:txBody>
                    <a:bodyPr/>
                    <a:lstStyle/>
                    <a:p>
                      <a:endParaRPr lang="en-GB" sz="110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extLst>
                  <a:ext uri="{0D108BD9-81ED-4DB2-BD59-A6C34878D82A}">
                    <a16:rowId xmlns:a16="http://schemas.microsoft.com/office/drawing/2014/main" val="10003"/>
                  </a:ext>
                </a:extLst>
              </a:tr>
              <a:tr h="168275">
                <a:tc>
                  <a:txBody>
                    <a:bodyPr/>
                    <a:lstStyle/>
                    <a:p>
                      <a:endParaRPr lang="en-GB" sz="110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extLst>
                  <a:ext uri="{0D108BD9-81ED-4DB2-BD59-A6C34878D82A}">
                    <a16:rowId xmlns:a16="http://schemas.microsoft.com/office/drawing/2014/main" val="10004"/>
                  </a:ext>
                </a:extLst>
              </a:tr>
              <a:tr h="168275">
                <a:tc>
                  <a:txBody>
                    <a:bodyPr/>
                    <a:lstStyle/>
                    <a:p>
                      <a:endParaRPr lang="en-GB" sz="110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extLst>
                  <a:ext uri="{0D108BD9-81ED-4DB2-BD59-A6C34878D82A}">
                    <a16:rowId xmlns:a16="http://schemas.microsoft.com/office/drawing/2014/main" val="10005"/>
                  </a:ext>
                </a:extLst>
              </a:tr>
              <a:tr h="168275">
                <a:tc>
                  <a:txBody>
                    <a:bodyPr/>
                    <a:lstStyle/>
                    <a:p>
                      <a:endParaRPr lang="en-GB" sz="110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extLst>
                  <a:ext uri="{0D108BD9-81ED-4DB2-BD59-A6C34878D82A}">
                    <a16:rowId xmlns:a16="http://schemas.microsoft.com/office/drawing/2014/main" val="10006"/>
                  </a:ext>
                </a:extLst>
              </a:tr>
              <a:tr h="168275">
                <a:tc>
                  <a:txBody>
                    <a:bodyPr/>
                    <a:lstStyle/>
                    <a:p>
                      <a:endParaRPr lang="en-GB" sz="110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956523425"/>
              </p:ext>
            </p:extLst>
          </p:nvPr>
        </p:nvGraphicFramePr>
        <p:xfrm>
          <a:off x="1447800" y="2743200"/>
          <a:ext cx="2667000" cy="2072640"/>
        </p:xfrm>
        <a:graphic>
          <a:graphicData uri="http://schemas.openxmlformats.org/drawingml/2006/table">
            <a:tbl>
              <a:tblPr firstRow="1" bandRow="1">
                <a:tableStyleId>{5C22544A-7EE6-4342-B048-85BDC9FD1C3A}</a:tableStyleId>
              </a:tblPr>
              <a:tblGrid>
                <a:gridCol w="333375">
                  <a:extLst>
                    <a:ext uri="{9D8B030D-6E8A-4147-A177-3AD203B41FA5}">
                      <a16:colId xmlns:a16="http://schemas.microsoft.com/office/drawing/2014/main" val="20000"/>
                    </a:ext>
                  </a:extLst>
                </a:gridCol>
                <a:gridCol w="333375">
                  <a:extLst>
                    <a:ext uri="{9D8B030D-6E8A-4147-A177-3AD203B41FA5}">
                      <a16:colId xmlns:a16="http://schemas.microsoft.com/office/drawing/2014/main" val="20001"/>
                    </a:ext>
                  </a:extLst>
                </a:gridCol>
                <a:gridCol w="333375">
                  <a:extLst>
                    <a:ext uri="{9D8B030D-6E8A-4147-A177-3AD203B41FA5}">
                      <a16:colId xmlns:a16="http://schemas.microsoft.com/office/drawing/2014/main" val="20002"/>
                    </a:ext>
                  </a:extLst>
                </a:gridCol>
                <a:gridCol w="333375">
                  <a:extLst>
                    <a:ext uri="{9D8B030D-6E8A-4147-A177-3AD203B41FA5}">
                      <a16:colId xmlns:a16="http://schemas.microsoft.com/office/drawing/2014/main" val="20003"/>
                    </a:ext>
                  </a:extLst>
                </a:gridCol>
                <a:gridCol w="333375">
                  <a:extLst>
                    <a:ext uri="{9D8B030D-6E8A-4147-A177-3AD203B41FA5}">
                      <a16:colId xmlns:a16="http://schemas.microsoft.com/office/drawing/2014/main" val="20004"/>
                    </a:ext>
                  </a:extLst>
                </a:gridCol>
                <a:gridCol w="333375">
                  <a:extLst>
                    <a:ext uri="{9D8B030D-6E8A-4147-A177-3AD203B41FA5}">
                      <a16:colId xmlns:a16="http://schemas.microsoft.com/office/drawing/2014/main" val="20005"/>
                    </a:ext>
                  </a:extLst>
                </a:gridCol>
                <a:gridCol w="333375">
                  <a:extLst>
                    <a:ext uri="{9D8B030D-6E8A-4147-A177-3AD203B41FA5}">
                      <a16:colId xmlns:a16="http://schemas.microsoft.com/office/drawing/2014/main" val="20006"/>
                    </a:ext>
                  </a:extLst>
                </a:gridCol>
                <a:gridCol w="333375">
                  <a:extLst>
                    <a:ext uri="{9D8B030D-6E8A-4147-A177-3AD203B41FA5}">
                      <a16:colId xmlns:a16="http://schemas.microsoft.com/office/drawing/2014/main" val="20007"/>
                    </a:ext>
                  </a:extLst>
                </a:gridCol>
              </a:tblGrid>
              <a:tr h="168275">
                <a:tc>
                  <a:txBody>
                    <a:bodyPr/>
                    <a:lstStyle/>
                    <a:p>
                      <a:endParaRPr lang="en-GB" sz="1100" dirty="0"/>
                    </a:p>
                  </a:txBody>
                  <a:tcPr>
                    <a:solidFill>
                      <a:schemeClr val="tx1"/>
                    </a:solidFill>
                  </a:tcPr>
                </a:tc>
                <a:tc>
                  <a:txBody>
                    <a:bodyPr/>
                    <a:lstStyle/>
                    <a:p>
                      <a:endParaRPr lang="en-GB" sz="1100" dirty="0"/>
                    </a:p>
                  </a:txBody>
                  <a:tcPr>
                    <a:solidFill>
                      <a:schemeClr val="tx1"/>
                    </a:solidFill>
                  </a:tcPr>
                </a:tc>
                <a:tc>
                  <a:txBody>
                    <a:bodyPr/>
                    <a:lstStyle/>
                    <a:p>
                      <a:endParaRPr lang="en-GB" sz="1100" dirty="0"/>
                    </a:p>
                  </a:txBody>
                  <a:tcPr>
                    <a:solidFill>
                      <a:schemeClr val="tx1"/>
                    </a:solidFill>
                  </a:tcPr>
                </a:tc>
                <a:tc>
                  <a:txBody>
                    <a:bodyPr/>
                    <a:lstStyle/>
                    <a:p>
                      <a:endParaRPr lang="en-GB" sz="1100" dirty="0"/>
                    </a:p>
                  </a:txBody>
                  <a:tcPr>
                    <a:solidFill>
                      <a:schemeClr val="tx1"/>
                    </a:solidFill>
                  </a:tcPr>
                </a:tc>
                <a:tc>
                  <a:txBody>
                    <a:bodyPr/>
                    <a:lstStyle/>
                    <a:p>
                      <a:endParaRPr lang="en-GB" sz="1100" dirty="0"/>
                    </a:p>
                  </a:txBody>
                  <a:tcPr>
                    <a:solidFill>
                      <a:schemeClr val="tx1"/>
                    </a:solidFill>
                  </a:tcPr>
                </a:tc>
                <a:tc>
                  <a:txBody>
                    <a:bodyPr/>
                    <a:lstStyle/>
                    <a:p>
                      <a:endParaRPr lang="en-GB" sz="1100" dirty="0"/>
                    </a:p>
                  </a:txBody>
                  <a:tcPr>
                    <a:solidFill>
                      <a:schemeClr val="tx1"/>
                    </a:solidFill>
                  </a:tcPr>
                </a:tc>
                <a:tc>
                  <a:txBody>
                    <a:bodyPr/>
                    <a:lstStyle/>
                    <a:p>
                      <a:endParaRPr lang="en-GB" sz="1100" dirty="0"/>
                    </a:p>
                  </a:txBody>
                  <a:tcPr>
                    <a:solidFill>
                      <a:schemeClr val="tx1"/>
                    </a:solidFill>
                  </a:tcPr>
                </a:tc>
                <a:tc>
                  <a:txBody>
                    <a:bodyPr/>
                    <a:lstStyle/>
                    <a:p>
                      <a:endParaRPr lang="en-GB" sz="1100" dirty="0"/>
                    </a:p>
                  </a:txBody>
                  <a:tcPr>
                    <a:solidFill>
                      <a:schemeClr val="tx1"/>
                    </a:solidFill>
                  </a:tcPr>
                </a:tc>
                <a:extLst>
                  <a:ext uri="{0D108BD9-81ED-4DB2-BD59-A6C34878D82A}">
                    <a16:rowId xmlns:a16="http://schemas.microsoft.com/office/drawing/2014/main" val="10000"/>
                  </a:ext>
                </a:extLst>
              </a:tr>
              <a:tr h="168275">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1"/>
                  </a:ext>
                </a:extLst>
              </a:tr>
              <a:tr h="168275">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2"/>
                  </a:ext>
                </a:extLst>
              </a:tr>
              <a:tr h="168275">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3"/>
                  </a:ext>
                </a:extLst>
              </a:tr>
              <a:tr h="168275">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4"/>
                  </a:ext>
                </a:extLst>
              </a:tr>
              <a:tr h="168275">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5"/>
                  </a:ext>
                </a:extLst>
              </a:tr>
              <a:tr h="168275">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6"/>
                  </a:ext>
                </a:extLst>
              </a:tr>
              <a:tr h="168275">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7"/>
                  </a:ext>
                </a:extLst>
              </a:tr>
            </a:tbl>
          </a:graphicData>
        </a:graphic>
      </p:graphicFrame>
      <p:sp>
        <p:nvSpPr>
          <p:cNvPr id="10" name="Rectangular Callout 9"/>
          <p:cNvSpPr/>
          <p:nvPr/>
        </p:nvSpPr>
        <p:spPr>
          <a:xfrm>
            <a:off x="6629400" y="1752600"/>
            <a:ext cx="2362200" cy="830997"/>
          </a:xfrm>
          <a:prstGeom prst="wedgeRectCallout">
            <a:avLst>
              <a:gd name="adj1" fmla="val -64263"/>
              <a:gd name="adj2" fmla="val 58475"/>
            </a:avLst>
          </a:prstGeom>
        </p:spPr>
        <p:style>
          <a:lnRef idx="1">
            <a:schemeClr val="dk1"/>
          </a:lnRef>
          <a:fillRef idx="2">
            <a:schemeClr val="dk1"/>
          </a:fillRef>
          <a:effectRef idx="1">
            <a:schemeClr val="dk1"/>
          </a:effectRef>
          <a:fontRef idx="minor">
            <a:schemeClr val="dk1"/>
          </a:fontRef>
        </p:style>
        <p:txBody>
          <a:bodyPr wrap="square">
            <a:spAutoFit/>
          </a:bodyPr>
          <a:lstStyle/>
          <a:p>
            <a:r>
              <a:rPr lang="en-GB" sz="1600" b="1" dirty="0"/>
              <a:t>Factor analysis assembles common variables into descriptive categories.</a:t>
            </a:r>
          </a:p>
        </p:txBody>
      </p:sp>
    </p:spTree>
    <p:extLst>
      <p:ext uri="{BB962C8B-B14F-4D97-AF65-F5344CB8AC3E}">
        <p14:creationId xmlns:p14="http://schemas.microsoft.com/office/powerpoint/2010/main" val="258329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3.33333E-6 2.59259E-6 L 0.36997 -0.00047 " pathEditMode="relative" rAng="0" ptsTypes="AA">
                                      <p:cBhvr>
                                        <p:cTn id="11" dur="2000" fill="hold"/>
                                        <p:tgtEl>
                                          <p:spTgt spid="9"/>
                                        </p:tgtEl>
                                        <p:attrNameLst>
                                          <p:attrName>ppt_x</p:attrName>
                                          <p:attrName>ppt_y</p:attrName>
                                        </p:attrNameLst>
                                      </p:cBhvr>
                                      <p:rCtr x="18490" y="-23"/>
                                    </p:animMotion>
                                  </p:childTnLst>
                                </p:cTn>
                              </p:par>
                            </p:childTnLst>
                          </p:cTn>
                        </p:par>
                      </p:childTnLst>
                    </p:cTn>
                  </p:par>
                  <p:par>
                    <p:cTn id="12" fill="hold">
                      <p:stCondLst>
                        <p:cond delay="indefinite"/>
                      </p:stCondLst>
                      <p:childTnLst>
                        <p:par>
                          <p:cTn id="13" fill="hold">
                            <p:stCondLst>
                              <p:cond delay="0"/>
                            </p:stCondLst>
                            <p:childTnLst>
                              <p:par>
                                <p:cTn id="14" presetID="16" presetClass="exit" presetSubtype="21" fill="hold" nodeType="clickEffect">
                                  <p:stCondLst>
                                    <p:cond delay="0"/>
                                  </p:stCondLst>
                                  <p:childTnLst>
                                    <p:animEffect transition="out" filter="barn(inVertical)">
                                      <p:cBhvr>
                                        <p:cTn id="15" dur="500"/>
                                        <p:tgtEl>
                                          <p:spTgt spid="9"/>
                                        </p:tgtEl>
                                      </p:cBhvr>
                                    </p:animEffect>
                                    <p:set>
                                      <p:cBhvr>
                                        <p:cTn id="16" dur="1" fill="hold">
                                          <p:stCondLst>
                                            <p:cond delay="499"/>
                                          </p:stCondLst>
                                        </p:cTn>
                                        <p:tgtEl>
                                          <p:spTgt spid="9"/>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Why Factor Analysis?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304800" y="762001"/>
                <a:ext cx="8229600" cy="609600"/>
              </a:xfrm>
            </p:spPr>
            <p:txBody>
              <a:bodyPr>
                <a:normAutofit/>
              </a:bodyPr>
              <a:lstStyle/>
              <a:p>
                <a:pPr marL="0" indent="0">
                  <a:buNone/>
                </a:pPr>
                <a:r>
                  <a:rPr lang="en-GB" sz="2400" dirty="0"/>
                  <a:t>Curse of dimensionality </a:t>
                </a:r>
                <a14:m>
                  <m:oMath xmlns:m="http://schemas.openxmlformats.org/officeDocument/2006/math">
                    <m:r>
                      <a:rPr lang="en-GB" sz="2400">
                        <a:latin typeface="Cambria Math"/>
                      </a:rPr>
                      <m:t>→</m:t>
                    </m:r>
                  </m:oMath>
                </a14:m>
                <a:r>
                  <a:rPr lang="en-GB" sz="2400" dirty="0"/>
                  <a:t> Parsimony</a:t>
                </a:r>
              </a:p>
              <a:p>
                <a:pPr marL="0" indent="0">
                  <a:buNone/>
                </a:pPr>
                <a:endParaRPr lang="en-GB" sz="2400"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304800" y="762001"/>
                <a:ext cx="8229600" cy="609600"/>
              </a:xfrm>
              <a:blipFill rotWithShape="1">
                <a:blip r:embed="rId3"/>
                <a:stretch>
                  <a:fillRect l="-1111" t="-8000"/>
                </a:stretch>
              </a:blipFill>
            </p:spPr>
            <p:txBody>
              <a:bodyPr/>
              <a:lstStyle/>
              <a:p>
                <a:r>
                  <a:rPr lang="en-GB">
                    <a:noFill/>
                  </a:rPr>
                  <a:t> </a:t>
                </a:r>
              </a:p>
            </p:txBody>
          </p:sp>
        </mc:Fallback>
      </mc:AlternateContent>
      <p:sp>
        <p:nvSpPr>
          <p:cNvPr id="6" name="Rectangle 5"/>
          <p:cNvSpPr/>
          <p:nvPr/>
        </p:nvSpPr>
        <p:spPr>
          <a:xfrm>
            <a:off x="914400" y="1106269"/>
            <a:ext cx="5867400" cy="646331"/>
          </a:xfrm>
          <a:prstGeom prst="rect">
            <a:avLst/>
          </a:prstGeom>
        </p:spPr>
        <p:txBody>
          <a:bodyPr wrap="square">
            <a:spAutoFit/>
          </a:bodyPr>
          <a:lstStyle/>
          <a:p>
            <a:r>
              <a:rPr lang="en-GB" dirty="0"/>
              <a:t>Large datasets that consist of several variables can be reduced by observing ‘groups’ of variables (i.e., factors)</a:t>
            </a:r>
          </a:p>
        </p:txBody>
      </p:sp>
      <p:grpSp>
        <p:nvGrpSpPr>
          <p:cNvPr id="9" name="Group 8"/>
          <p:cNvGrpSpPr/>
          <p:nvPr/>
        </p:nvGrpSpPr>
        <p:grpSpPr>
          <a:xfrm>
            <a:off x="914400" y="2393795"/>
            <a:ext cx="7543800" cy="3168805"/>
            <a:chOff x="1295400" y="2393795"/>
            <a:chExt cx="7543800" cy="3168805"/>
          </a:xfrm>
        </p:grpSpPr>
        <p:graphicFrame>
          <p:nvGraphicFramePr>
            <p:cNvPr id="7" name="Content Placeholder 4"/>
            <p:cNvGraphicFramePr>
              <a:graphicFrameLocks/>
            </p:cNvGraphicFramePr>
            <p:nvPr>
              <p:extLst>
                <p:ext uri="{D42A27DB-BD31-4B8C-83A1-F6EECF244321}">
                  <p14:modId xmlns:p14="http://schemas.microsoft.com/office/powerpoint/2010/main" val="909942240"/>
                </p:ext>
              </p:extLst>
            </p:nvPr>
          </p:nvGraphicFramePr>
          <p:xfrm>
            <a:off x="1371600" y="2819400"/>
            <a:ext cx="7467600" cy="2743200"/>
          </p:xfrm>
          <a:graphic>
            <a:graphicData uri="http://schemas.openxmlformats.org/drawingml/2006/table">
              <a:tbl>
                <a:tblPr bandRow="1">
                  <a:tableStyleId>{F5AB1C69-6EDB-4FF4-983F-18BD219EF322}</a:tableStyleId>
                </a:tblPr>
                <a:tblGrid>
                  <a:gridCol w="2489200">
                    <a:extLst>
                      <a:ext uri="{9D8B030D-6E8A-4147-A177-3AD203B41FA5}">
                        <a16:colId xmlns:a16="http://schemas.microsoft.com/office/drawing/2014/main" val="20000"/>
                      </a:ext>
                    </a:extLst>
                  </a:gridCol>
                  <a:gridCol w="2489200">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42900">
                  <a:tc>
                    <a:txBody>
                      <a:bodyPr/>
                      <a:lstStyle/>
                      <a:p>
                        <a:pPr algn="ctr" rtl="0" fontAlgn="t"/>
                        <a:r>
                          <a:rPr lang="en-GB" sz="1800" u="none" strike="noStrike" dirty="0">
                            <a:effectLst/>
                          </a:rPr>
                          <a:t>Talkative</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Disorganized</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Shy</a:t>
                        </a:r>
                        <a:endParaRPr lang="en-GB" sz="1800" b="1"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0"/>
                    </a:ext>
                  </a:extLst>
                </a:tr>
                <a:tr h="342900">
                  <a:tc>
                    <a:txBody>
                      <a:bodyPr/>
                      <a:lstStyle/>
                      <a:p>
                        <a:pPr algn="ctr" rtl="0" fontAlgn="t"/>
                        <a:r>
                          <a:rPr lang="en-GB" sz="1800" u="none" strike="noStrike" dirty="0">
                            <a:effectLst/>
                          </a:rPr>
                          <a:t>Does a thorough job</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a:effectLst/>
                          </a:rPr>
                          <a:t>Worries</a:t>
                        </a:r>
                        <a:endParaRPr lang="en-GB" sz="1800" b="1" i="0" u="none" strike="noStrike">
                          <a:solidFill>
                            <a:srgbClr val="000000"/>
                          </a:solidFill>
                          <a:effectLst/>
                          <a:latin typeface="Calibri"/>
                        </a:endParaRPr>
                      </a:p>
                    </a:txBody>
                    <a:tcPr marL="9525" marR="9525" marT="9525" marB="0" anchor="ctr"/>
                  </a:tc>
                  <a:tc>
                    <a:txBody>
                      <a:bodyPr/>
                      <a:lstStyle/>
                      <a:p>
                        <a:pPr algn="ctr" rtl="0" fontAlgn="t"/>
                        <a:r>
                          <a:rPr lang="en-GB" sz="1800" u="none" strike="noStrike">
                            <a:effectLst/>
                          </a:rPr>
                          <a:t>Efficient</a:t>
                        </a:r>
                        <a:endParaRPr lang="en-GB" sz="1800" b="1" i="0" u="none" strike="noStrike">
                          <a:solidFill>
                            <a:srgbClr val="000000"/>
                          </a:solidFill>
                          <a:effectLst/>
                          <a:latin typeface="Calibri"/>
                        </a:endParaRPr>
                      </a:p>
                    </a:txBody>
                    <a:tcPr marL="9525" marR="9525" marT="9525" marB="0" anchor="ctr"/>
                  </a:tc>
                  <a:extLst>
                    <a:ext uri="{0D108BD9-81ED-4DB2-BD59-A6C34878D82A}">
                      <a16:rowId xmlns:a16="http://schemas.microsoft.com/office/drawing/2014/main" val="10001"/>
                    </a:ext>
                  </a:extLst>
                </a:tr>
                <a:tr h="342900">
                  <a:tc>
                    <a:txBody>
                      <a:bodyPr/>
                      <a:lstStyle/>
                      <a:p>
                        <a:pPr algn="ctr" rtl="0" fontAlgn="t"/>
                        <a:r>
                          <a:rPr lang="en-GB" sz="1800" u="none" strike="noStrike" dirty="0">
                            <a:effectLst/>
                          </a:rPr>
                          <a:t>Depressed</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Quiet</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Calm in tense situations</a:t>
                        </a:r>
                        <a:endParaRPr lang="en-GB" sz="1800" b="1"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2"/>
                    </a:ext>
                  </a:extLst>
                </a:tr>
                <a:tr h="342900">
                  <a:tc>
                    <a:txBody>
                      <a:bodyPr/>
                      <a:lstStyle/>
                      <a:p>
                        <a:pPr algn="ctr" rtl="0" fontAlgn="t"/>
                        <a:r>
                          <a:rPr lang="en-GB" sz="1800" u="none" strike="noStrike">
                            <a:effectLst/>
                          </a:rPr>
                          <a:t>Reserved</a:t>
                        </a:r>
                        <a:endParaRPr lang="en-GB" sz="1800" b="1" i="0" u="none" strike="noStrike">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Lazy</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a:effectLst/>
                          </a:rPr>
                          <a:t>Outgoing</a:t>
                        </a:r>
                        <a:endParaRPr lang="en-GB" sz="1800" b="1" i="0" u="none" strike="noStrike">
                          <a:solidFill>
                            <a:srgbClr val="000000"/>
                          </a:solidFill>
                          <a:effectLst/>
                          <a:latin typeface="Calibri"/>
                        </a:endParaRPr>
                      </a:p>
                    </a:txBody>
                    <a:tcPr marL="9525" marR="9525" marT="9525" marB="0" anchor="ctr"/>
                  </a:tc>
                  <a:extLst>
                    <a:ext uri="{0D108BD9-81ED-4DB2-BD59-A6C34878D82A}">
                      <a16:rowId xmlns:a16="http://schemas.microsoft.com/office/drawing/2014/main" val="10003"/>
                    </a:ext>
                  </a:extLst>
                </a:tr>
                <a:tr h="342900">
                  <a:tc>
                    <a:txBody>
                      <a:bodyPr/>
                      <a:lstStyle/>
                      <a:p>
                        <a:pPr algn="ctr" rtl="0" fontAlgn="t"/>
                        <a:r>
                          <a:rPr lang="en-GB" sz="1800" u="none" strike="noStrike">
                            <a:effectLst/>
                          </a:rPr>
                          <a:t>Careless</a:t>
                        </a:r>
                        <a:endParaRPr lang="en-GB" sz="1800" b="1" i="0" u="none" strike="noStrike">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Emotionally stable</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a:effectLst/>
                          </a:rPr>
                          <a:t>Sticks to plans</a:t>
                        </a:r>
                        <a:endParaRPr lang="en-GB" sz="1800" b="1" i="0" u="none" strike="noStrike">
                          <a:solidFill>
                            <a:srgbClr val="000000"/>
                          </a:solidFill>
                          <a:effectLst/>
                          <a:latin typeface="Calibri"/>
                        </a:endParaRPr>
                      </a:p>
                    </a:txBody>
                    <a:tcPr marL="9525" marR="9525" marT="9525" marB="0" anchor="ctr"/>
                  </a:tc>
                  <a:extLst>
                    <a:ext uri="{0D108BD9-81ED-4DB2-BD59-A6C34878D82A}">
                      <a16:rowId xmlns:a16="http://schemas.microsoft.com/office/drawing/2014/main" val="10004"/>
                    </a:ext>
                  </a:extLst>
                </a:tr>
                <a:tr h="342900">
                  <a:tc>
                    <a:txBody>
                      <a:bodyPr/>
                      <a:lstStyle/>
                      <a:p>
                        <a:pPr algn="ctr" rtl="0" fontAlgn="t"/>
                        <a:r>
                          <a:rPr lang="en-GB" sz="1800" u="none" strike="noStrike">
                            <a:effectLst/>
                          </a:rPr>
                          <a:t>Relaxed</a:t>
                        </a:r>
                        <a:endParaRPr lang="en-GB" sz="1800" b="1" i="0" u="none" strike="noStrike">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Assertive</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Nervous</a:t>
                        </a:r>
                        <a:endParaRPr lang="en-GB" sz="1800" b="1"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5"/>
                    </a:ext>
                  </a:extLst>
                </a:tr>
                <a:tr h="342900">
                  <a:tc>
                    <a:txBody>
                      <a:bodyPr/>
                      <a:lstStyle/>
                      <a:p>
                        <a:pPr algn="ctr" rtl="0" fontAlgn="t"/>
                        <a:r>
                          <a:rPr lang="en-GB" sz="1800" u="none" strike="noStrike">
                            <a:effectLst/>
                          </a:rPr>
                          <a:t>Reliable</a:t>
                        </a:r>
                        <a:endParaRPr lang="en-GB" sz="1800" b="1" i="0" u="none" strike="noStrike">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Perseveres</a:t>
                        </a:r>
                        <a:endParaRPr lang="en-GB" sz="1800" b="1" i="0" u="none" strike="noStrike" dirty="0">
                          <a:solidFill>
                            <a:srgbClr val="000000"/>
                          </a:solidFill>
                          <a:effectLst/>
                          <a:latin typeface="Calibri"/>
                        </a:endParaRPr>
                      </a:p>
                    </a:txBody>
                    <a:tcPr marL="9525" marR="9525" marT="9525" marB="0" anchor="ctr"/>
                  </a:tc>
                  <a:tc>
                    <a:txBody>
                      <a:bodyPr/>
                      <a:lstStyle/>
                      <a:p>
                        <a:pPr algn="ctr" rtl="0" fontAlgn="t"/>
                        <a:r>
                          <a:rPr lang="en-GB" sz="1800" u="none" strike="noStrike" dirty="0">
                            <a:effectLst/>
                          </a:rPr>
                          <a:t>Distractible</a:t>
                        </a:r>
                        <a:endParaRPr lang="en-GB" sz="1800" b="1" i="0" u="none" strike="noStrike" dirty="0">
                          <a:solidFill>
                            <a:srgbClr val="000000"/>
                          </a:solidFill>
                          <a:effectLst/>
                          <a:latin typeface="Calibri"/>
                        </a:endParaRPr>
                      </a:p>
                    </a:txBody>
                    <a:tcPr marL="9525" marR="9525" marT="9525" marB="0" anchor="ctr"/>
                  </a:tc>
                  <a:extLst>
                    <a:ext uri="{0D108BD9-81ED-4DB2-BD59-A6C34878D82A}">
                      <a16:rowId xmlns:a16="http://schemas.microsoft.com/office/drawing/2014/main" val="10006"/>
                    </a:ext>
                  </a:extLst>
                </a:tr>
                <a:tr h="342900">
                  <a:tc>
                    <a:txBody>
                      <a:bodyPr/>
                      <a:lstStyle/>
                      <a:p>
                        <a:pPr algn="ctr" rtl="0" fontAlgn="t"/>
                        <a:r>
                          <a:rPr lang="en-GB" sz="1800" u="none" strike="noStrike">
                            <a:effectLst/>
                          </a:rPr>
                          <a:t>Tense</a:t>
                        </a:r>
                        <a:endParaRPr lang="en-GB" sz="1800" b="1" i="0" u="none" strike="noStrike">
                          <a:solidFill>
                            <a:srgbClr val="000000"/>
                          </a:solidFill>
                          <a:effectLst/>
                          <a:latin typeface="Calibri"/>
                        </a:endParaRPr>
                      </a:p>
                    </a:txBody>
                    <a:tcPr marL="9525" marR="9525" marT="9525" marB="0" anchor="ctr"/>
                  </a:tc>
                  <a:tc>
                    <a:txBody>
                      <a:bodyPr/>
                      <a:lstStyle/>
                      <a:p>
                        <a:pPr algn="ctr" fontAlgn="b"/>
                        <a:endParaRPr lang="en-GB" sz="1100" b="0" i="0" u="none" strike="noStrike" dirty="0">
                          <a:solidFill>
                            <a:srgbClr val="000000"/>
                          </a:solidFill>
                          <a:effectLst/>
                          <a:latin typeface="Arial"/>
                        </a:endParaRPr>
                      </a:p>
                    </a:txBody>
                    <a:tcPr marL="9525" marR="9525" marT="9525" marB="0" anchor="ctr"/>
                  </a:tc>
                  <a:tc>
                    <a:txBody>
                      <a:bodyPr/>
                      <a:lstStyle/>
                      <a:p>
                        <a:pPr algn="ctr" fontAlgn="b"/>
                        <a:endParaRPr lang="en-GB" sz="1100" b="0" i="0" u="none" strike="noStrike" dirty="0">
                          <a:solidFill>
                            <a:srgbClr val="000000"/>
                          </a:solidFill>
                          <a:effectLst/>
                          <a:latin typeface="Arial"/>
                        </a:endParaRPr>
                      </a:p>
                    </a:txBody>
                    <a:tcPr marL="9525" marR="9525" marT="9525" marB="0" anchor="ctr"/>
                  </a:tc>
                  <a:extLst>
                    <a:ext uri="{0D108BD9-81ED-4DB2-BD59-A6C34878D82A}">
                      <a16:rowId xmlns:a16="http://schemas.microsoft.com/office/drawing/2014/main" val="10007"/>
                    </a:ext>
                  </a:extLst>
                </a:tr>
              </a:tbl>
            </a:graphicData>
          </a:graphic>
        </p:graphicFrame>
        <p:sp>
          <p:nvSpPr>
            <p:cNvPr id="8" name="Rectangle 7"/>
            <p:cNvSpPr/>
            <p:nvPr/>
          </p:nvSpPr>
          <p:spPr>
            <a:xfrm>
              <a:off x="1295400" y="2393795"/>
              <a:ext cx="5465792" cy="369332"/>
            </a:xfrm>
            <a:prstGeom prst="rect">
              <a:avLst/>
            </a:prstGeom>
          </p:spPr>
          <p:txBody>
            <a:bodyPr wrap="none">
              <a:spAutoFit/>
            </a:bodyPr>
            <a:lstStyle/>
            <a:p>
              <a:r>
                <a:rPr lang="en-GB" b="1" dirty="0"/>
                <a:t>Consider for example: Personality assessment variables</a:t>
              </a:r>
            </a:p>
          </p:txBody>
        </p:sp>
      </p:grpSp>
      <p:sp>
        <p:nvSpPr>
          <p:cNvPr id="10" name="Content Placeholder 2"/>
          <p:cNvSpPr txBox="1">
            <a:spLocks/>
          </p:cNvSpPr>
          <p:nvPr/>
        </p:nvSpPr>
        <p:spPr>
          <a:xfrm>
            <a:off x="304800" y="1981200"/>
            <a:ext cx="8229600" cy="60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400" dirty="0"/>
              <a:t>Theory development</a:t>
            </a:r>
          </a:p>
        </p:txBody>
      </p:sp>
    </p:spTree>
    <p:extLst>
      <p:ext uri="{BB962C8B-B14F-4D97-AF65-F5344CB8AC3E}">
        <p14:creationId xmlns:p14="http://schemas.microsoft.com/office/powerpoint/2010/main" val="66617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Personality assessment</a:t>
            </a:r>
          </a:p>
        </p:txBody>
      </p:sp>
      <p:pic>
        <p:nvPicPr>
          <p:cNvPr id="7" name="Picture 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53702" y="1600200"/>
            <a:ext cx="8036595"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743200" y="972105"/>
            <a:ext cx="6096000" cy="5581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1745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5"/>
          <p:cNvSpPr>
            <a:spLocks noChangeArrowheads="1"/>
          </p:cNvSpPr>
          <p:nvPr/>
        </p:nvSpPr>
        <p:spPr bwMode="auto">
          <a:xfrm>
            <a:off x="304800" y="685800"/>
            <a:ext cx="3679597" cy="2234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accent2"/>
              </a:buClr>
            </a:pPr>
            <a:r>
              <a:rPr lang="en-GB" altLang="en-US" sz="2400" b="1" dirty="0">
                <a:effectLst/>
              </a:rPr>
              <a:t>Four stages…</a:t>
            </a:r>
          </a:p>
          <a:p>
            <a:pPr marL="457200" indent="-457200">
              <a:spcBef>
                <a:spcPct val="20000"/>
              </a:spcBef>
              <a:buClr>
                <a:schemeClr val="accent2"/>
              </a:buClr>
              <a:buFont typeface="+mj-lt"/>
              <a:buAutoNum type="arabicPeriod"/>
            </a:pPr>
            <a:r>
              <a:rPr lang="en-GB" altLang="en-US" sz="2400" dirty="0">
                <a:effectLst/>
              </a:rPr>
              <a:t>Correlation matrix</a:t>
            </a:r>
          </a:p>
          <a:p>
            <a:pPr marL="457200" indent="-457200">
              <a:spcBef>
                <a:spcPct val="20000"/>
              </a:spcBef>
              <a:buClr>
                <a:schemeClr val="accent2"/>
              </a:buClr>
              <a:buFont typeface="+mj-lt"/>
              <a:buAutoNum type="arabicPeriod"/>
            </a:pPr>
            <a:r>
              <a:rPr lang="en-GB" altLang="en-US" sz="2400" dirty="0">
                <a:effectLst/>
              </a:rPr>
              <a:t>Factor extraction</a:t>
            </a:r>
          </a:p>
          <a:p>
            <a:pPr marL="457200" indent="-457200">
              <a:spcBef>
                <a:spcPct val="20000"/>
              </a:spcBef>
              <a:buClr>
                <a:schemeClr val="accent2"/>
              </a:buClr>
              <a:buFont typeface="+mj-lt"/>
              <a:buAutoNum type="arabicPeriod"/>
            </a:pPr>
            <a:r>
              <a:rPr lang="en-GB" altLang="en-US" sz="2400" dirty="0">
                <a:effectLst/>
              </a:rPr>
              <a:t>Rotation</a:t>
            </a:r>
          </a:p>
          <a:p>
            <a:pPr marL="457200" indent="-457200">
              <a:spcBef>
                <a:spcPct val="20000"/>
              </a:spcBef>
              <a:buClr>
                <a:schemeClr val="accent2"/>
              </a:buClr>
              <a:buFont typeface="+mj-lt"/>
              <a:buAutoNum type="arabicPeriod"/>
            </a:pPr>
            <a:r>
              <a:rPr lang="en-GB" altLang="en-US" sz="2400" dirty="0">
                <a:effectLst/>
              </a:rPr>
              <a:t>Computing factor scores</a:t>
            </a:r>
          </a:p>
        </p:txBody>
      </p:sp>
      <p:sp>
        <p:nvSpPr>
          <p:cNvPr id="2" name="Title 1"/>
          <p:cNvSpPr>
            <a:spLocks noGrp="1"/>
          </p:cNvSpPr>
          <p:nvPr>
            <p:ph type="title"/>
          </p:nvPr>
        </p:nvSpPr>
        <p:spPr/>
        <p:txBody>
          <a:bodyPr/>
          <a:lstStyle/>
          <a:p>
            <a:r>
              <a:rPr lang="en-GB" dirty="0"/>
              <a:t>How to perform factor analysis</a:t>
            </a:r>
          </a:p>
        </p:txBody>
      </p:sp>
    </p:spTree>
    <p:extLst>
      <p:ext uri="{BB962C8B-B14F-4D97-AF65-F5344CB8AC3E}">
        <p14:creationId xmlns:p14="http://schemas.microsoft.com/office/powerpoint/2010/main" val="1647165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Correlation Matrix</a:t>
            </a:r>
          </a:p>
        </p:txBody>
      </p:sp>
      <p:sp>
        <p:nvSpPr>
          <p:cNvPr id="4" name="Content Placeholder 3"/>
          <p:cNvSpPr>
            <a:spLocks noGrp="1"/>
          </p:cNvSpPr>
          <p:nvPr>
            <p:ph idx="4294967295"/>
          </p:nvPr>
        </p:nvSpPr>
        <p:spPr>
          <a:xfrm>
            <a:off x="304800" y="685801"/>
            <a:ext cx="8229600" cy="1447800"/>
          </a:xfrm>
        </p:spPr>
        <p:txBody>
          <a:bodyPr>
            <a:normAutofit/>
          </a:bodyPr>
          <a:lstStyle/>
          <a:p>
            <a:pPr marL="0" indent="0">
              <a:buNone/>
            </a:pPr>
            <a:r>
              <a:rPr lang="en-GB" sz="2400" dirty="0"/>
              <a:t>The starting point of factor analysis is a correlation matrix, in which the correlations between the studied variables are presented.</a:t>
            </a:r>
          </a:p>
          <a:p>
            <a:pPr marL="0" indent="0">
              <a:buNone/>
            </a:pPr>
            <a:endParaRPr lang="en-GB" sz="2400" dirty="0"/>
          </a:p>
        </p:txBody>
      </p:sp>
      <p:grpSp>
        <p:nvGrpSpPr>
          <p:cNvPr id="10" name="Group 9"/>
          <p:cNvGrpSpPr/>
          <p:nvPr/>
        </p:nvGrpSpPr>
        <p:grpSpPr>
          <a:xfrm>
            <a:off x="4083204" y="1676400"/>
            <a:ext cx="4755996" cy="4191000"/>
            <a:chOff x="4083204" y="1676400"/>
            <a:chExt cx="4755996" cy="4191000"/>
          </a:xfrm>
        </p:grpSpPr>
        <p:pic>
          <p:nvPicPr>
            <p:cNvPr id="11" name="Picture 2"/>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114800" y="1676400"/>
              <a:ext cx="4577655"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2" name="Rectangle 11"/>
                <p:cNvSpPr/>
                <p:nvPr/>
              </p:nvSpPr>
              <p:spPr>
                <a:xfrm>
                  <a:off x="4083204" y="1871246"/>
                  <a:ext cx="4755996" cy="338554"/>
                </a:xfrm>
                <a:prstGeom prst="rect">
                  <a:avLst/>
                </a:prstGeom>
                <a:solidFill>
                  <a:srgbClr val="FFFF00"/>
                </a:solidFill>
              </p:spPr>
              <p:txBody>
                <a:bodyPr wrap="square">
                  <a:spAutoFit/>
                </a:bodyPr>
                <a:lstStyle/>
                <a:p>
                  <a14:m>
                    <m:oMath xmlns:m="http://schemas.openxmlformats.org/officeDocument/2006/math">
                      <m:sSub>
                        <m:sSubPr>
                          <m:ctrlPr>
                            <a:rPr lang="en-GB" sz="1600" i="1" dirty="0" smtClean="0">
                              <a:latin typeface="Cambria Math" panose="02040503050406030204" pitchFamily="18" charset="0"/>
                              <a:ea typeface="Cambria Math" panose="02040503050406030204" pitchFamily="18" charset="0"/>
                            </a:rPr>
                          </m:ctrlPr>
                        </m:sSubPr>
                        <m:e>
                          <m:r>
                            <a:rPr lang="en-GB" sz="1600" i="1" dirty="0">
                              <a:latin typeface="Cambria Math" panose="02040503050406030204" pitchFamily="18" charset="0"/>
                              <a:ea typeface="Cambria Math" panose="02040503050406030204" pitchFamily="18" charset="0"/>
                            </a:rPr>
                            <m:t>𝑋</m:t>
                          </m:r>
                        </m:e>
                        <m:sub>
                          <m:r>
                            <a:rPr lang="en-GB" sz="1600" i="1" dirty="0">
                              <a:latin typeface="Cambria Math" panose="02040503050406030204" pitchFamily="18" charset="0"/>
                              <a:ea typeface="Cambria Math" panose="02040503050406030204" pitchFamily="18" charset="0"/>
                            </a:rPr>
                            <m:t>1</m:t>
                          </m:r>
                        </m:sub>
                      </m:sSub>
                      <m:sSub>
                        <m:sSubPr>
                          <m:ctrlPr>
                            <a:rPr lang="en-GB" sz="1600" i="1" dirty="0">
                              <a:latin typeface="Cambria Math" panose="02040503050406030204" pitchFamily="18" charset="0"/>
                              <a:ea typeface="Cambria Math" panose="02040503050406030204" pitchFamily="18" charset="0"/>
                            </a:rPr>
                          </m:ctrlPr>
                        </m:sSubPr>
                        <m:e>
                          <m:r>
                            <a:rPr lang="en-GB" sz="1600" i="1" dirty="0">
                              <a:latin typeface="Cambria Math" panose="02040503050406030204" pitchFamily="18" charset="0"/>
                              <a:ea typeface="Cambria Math" panose="02040503050406030204" pitchFamily="18" charset="0"/>
                            </a:rPr>
                            <m:t>𝑋</m:t>
                          </m:r>
                        </m:e>
                        <m:sub>
                          <m:r>
                            <a:rPr lang="en-GB" sz="1600" b="0" i="1" dirty="0" smtClean="0">
                              <a:latin typeface="Cambria Math"/>
                              <a:ea typeface="Cambria Math" panose="02040503050406030204" pitchFamily="18" charset="0"/>
                            </a:rPr>
                            <m:t>2</m:t>
                          </m:r>
                        </m:sub>
                      </m:sSub>
                      <m:sSub>
                        <m:sSubPr>
                          <m:ctrlPr>
                            <a:rPr lang="en-GB" sz="1600" i="1" dirty="0">
                              <a:latin typeface="Cambria Math" panose="02040503050406030204" pitchFamily="18" charset="0"/>
                              <a:ea typeface="Cambria Math" panose="02040503050406030204" pitchFamily="18" charset="0"/>
                            </a:rPr>
                          </m:ctrlPr>
                        </m:sSubPr>
                        <m:e>
                          <m:r>
                            <a:rPr lang="en-GB" sz="1600" i="1" dirty="0">
                              <a:latin typeface="Cambria Math" panose="02040503050406030204" pitchFamily="18" charset="0"/>
                              <a:ea typeface="Cambria Math" panose="02040503050406030204" pitchFamily="18" charset="0"/>
                            </a:rPr>
                            <m:t>𝑋</m:t>
                          </m:r>
                        </m:e>
                        <m:sub>
                          <m:r>
                            <a:rPr lang="en-GB" sz="1600" b="0" i="1" dirty="0" smtClean="0">
                              <a:latin typeface="Cambria Math"/>
                              <a:ea typeface="Cambria Math" panose="02040503050406030204" pitchFamily="18" charset="0"/>
                            </a:rPr>
                            <m:t>3</m:t>
                          </m:r>
                        </m:sub>
                      </m:sSub>
                      <m:sSub>
                        <m:sSubPr>
                          <m:ctrlPr>
                            <a:rPr lang="en-GB" sz="1600" i="1" dirty="0">
                              <a:latin typeface="Cambria Math" panose="02040503050406030204" pitchFamily="18" charset="0"/>
                              <a:ea typeface="Cambria Math" panose="02040503050406030204" pitchFamily="18" charset="0"/>
                            </a:rPr>
                          </m:ctrlPr>
                        </m:sSubPr>
                        <m:e>
                          <m:r>
                            <a:rPr lang="en-GB" sz="1600" i="1" dirty="0">
                              <a:latin typeface="Cambria Math" panose="02040503050406030204" pitchFamily="18" charset="0"/>
                              <a:ea typeface="Cambria Math" panose="02040503050406030204" pitchFamily="18" charset="0"/>
                            </a:rPr>
                            <m:t>𝑋</m:t>
                          </m:r>
                        </m:e>
                        <m:sub>
                          <m:r>
                            <a:rPr lang="en-GB" sz="1600" b="0" i="1" dirty="0" smtClean="0">
                              <a:latin typeface="Cambria Math"/>
                              <a:ea typeface="Cambria Math" panose="02040503050406030204" pitchFamily="18" charset="0"/>
                            </a:rPr>
                            <m:t>4</m:t>
                          </m:r>
                        </m:sub>
                      </m:sSub>
                    </m:oMath>
                  </a14:m>
                  <a:r>
                    <a:rPr lang="en-GB" sz="1600" dirty="0"/>
                    <a:t>…		             	             </a:t>
                  </a:r>
                  <a14:m>
                    <m:oMath xmlns:m="http://schemas.openxmlformats.org/officeDocument/2006/math">
                      <m:sSub>
                        <m:sSubPr>
                          <m:ctrlPr>
                            <a:rPr lang="en-GB" sz="1600" i="1" dirty="0">
                              <a:latin typeface="Cambria Math" panose="02040503050406030204" pitchFamily="18" charset="0"/>
                              <a:ea typeface="Cambria Math" panose="02040503050406030204" pitchFamily="18" charset="0"/>
                            </a:rPr>
                          </m:ctrlPr>
                        </m:sSubPr>
                        <m:e>
                          <m:r>
                            <a:rPr lang="en-GB" sz="1600" i="1" dirty="0">
                              <a:latin typeface="Cambria Math" panose="02040503050406030204" pitchFamily="18" charset="0"/>
                              <a:ea typeface="Cambria Math" panose="02040503050406030204" pitchFamily="18" charset="0"/>
                            </a:rPr>
                            <m:t>𝑋</m:t>
                          </m:r>
                        </m:e>
                        <m:sub>
                          <m:r>
                            <a:rPr lang="en-GB" sz="1600" b="0" i="1" dirty="0" smtClean="0">
                              <a:latin typeface="Cambria Math"/>
                              <a:ea typeface="Cambria Math" panose="02040503050406030204" pitchFamily="18" charset="0"/>
                            </a:rPr>
                            <m:t>𝑚</m:t>
                          </m:r>
                        </m:sub>
                      </m:sSub>
                    </m:oMath>
                  </a14:m>
                  <a:endParaRPr lang="en-GB" sz="1600" dirty="0"/>
                </a:p>
              </p:txBody>
            </p:sp>
          </mc:Choice>
          <mc:Fallback xmlns="">
            <p:sp>
              <p:nvSpPr>
                <p:cNvPr id="5" name="Rectangle 4"/>
                <p:cNvSpPr>
                  <a:spLocks noRot="1" noChangeAspect="1" noMove="1" noResize="1" noEditPoints="1" noAdjustHandles="1" noChangeArrowheads="1" noChangeShapeType="1" noTextEdit="1"/>
                </p:cNvSpPr>
                <p:nvPr/>
              </p:nvSpPr>
              <p:spPr>
                <a:xfrm>
                  <a:off x="4083204" y="1871246"/>
                  <a:ext cx="4755996" cy="338554"/>
                </a:xfrm>
                <a:prstGeom prst="rect">
                  <a:avLst/>
                </a:prstGeom>
                <a:blipFill rotWithShape="1">
                  <a:blip r:embed="rId5"/>
                  <a:stretch>
                    <a:fillRect t="-5357" b="-21429"/>
                  </a:stretch>
                </a:blipFill>
              </p:spPr>
              <p:txBody>
                <a:bodyPr/>
                <a:lstStyle/>
                <a:p>
                  <a:r>
                    <a:rPr lang="en-GB">
                      <a:noFill/>
                    </a:rPr>
                    <a:t> </a:t>
                  </a:r>
                </a:p>
              </p:txBody>
            </p:sp>
          </mc:Fallback>
        </mc:AlternateContent>
      </p:grpSp>
    </p:spTree>
    <p:extLst>
      <p:ext uri="{BB962C8B-B14F-4D97-AF65-F5344CB8AC3E}">
        <p14:creationId xmlns:p14="http://schemas.microsoft.com/office/powerpoint/2010/main" val="1161726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5"/>
          <p:cNvSpPr>
            <a:spLocks noChangeArrowheads="1"/>
          </p:cNvSpPr>
          <p:nvPr/>
        </p:nvSpPr>
        <p:spPr bwMode="auto">
          <a:xfrm>
            <a:off x="304800" y="685800"/>
            <a:ext cx="3113481"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accent2"/>
              </a:buClr>
            </a:pPr>
            <a:r>
              <a:rPr lang="en-GB" altLang="en-US" sz="2400" dirty="0">
                <a:effectLst/>
              </a:rPr>
              <a:t>Computing correlations</a:t>
            </a:r>
          </a:p>
          <a:p>
            <a:pPr>
              <a:spcBef>
                <a:spcPct val="20000"/>
              </a:spcBef>
              <a:buClr>
                <a:schemeClr val="accent2"/>
              </a:buClr>
            </a:pPr>
            <a:r>
              <a:rPr lang="en-GB" altLang="en-US" sz="2400" dirty="0">
                <a:effectLst/>
              </a:rPr>
              <a:t>… for all pairs</a:t>
            </a:r>
          </a:p>
        </p:txBody>
      </p:sp>
      <p:sp>
        <p:nvSpPr>
          <p:cNvPr id="2" name="Title 1"/>
          <p:cNvSpPr>
            <a:spLocks noGrp="1"/>
          </p:cNvSpPr>
          <p:nvPr>
            <p:ph type="title"/>
          </p:nvPr>
        </p:nvSpPr>
        <p:spPr/>
        <p:txBody>
          <a:bodyPr/>
          <a:lstStyle/>
          <a:p>
            <a:r>
              <a:rPr lang="en-GB" dirty="0"/>
              <a:t>Correlation Matrix</a:t>
            </a:r>
          </a:p>
        </p:txBody>
      </p:sp>
      <p:grpSp>
        <p:nvGrpSpPr>
          <p:cNvPr id="8" name="Group 7"/>
          <p:cNvGrpSpPr/>
          <p:nvPr/>
        </p:nvGrpSpPr>
        <p:grpSpPr>
          <a:xfrm>
            <a:off x="4114800" y="-1252653"/>
            <a:ext cx="4724400" cy="3733800"/>
            <a:chOff x="4114800" y="-1252653"/>
            <a:chExt cx="4724400" cy="3733800"/>
          </a:xfrm>
        </p:grpSpPr>
        <p:pic>
          <p:nvPicPr>
            <p:cNvPr id="10" name="Picture 2"/>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flipV="1">
              <a:off x="4114800" y="-1252653"/>
              <a:ext cx="4577655"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Rectangle 4"/>
                <p:cNvSpPr/>
                <p:nvPr/>
              </p:nvSpPr>
              <p:spPr>
                <a:xfrm>
                  <a:off x="4148253" y="1970049"/>
                  <a:ext cx="4690947"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5" name="Rectangle 4"/>
                <p:cNvSpPr>
                  <a:spLocks noRot="1" noChangeAspect="1" noMove="1" noResize="1" noEditPoints="1" noAdjustHandles="1" noChangeArrowheads="1" noChangeShapeType="1" noTextEdit="1"/>
                </p:cNvSpPr>
                <p:nvPr/>
              </p:nvSpPr>
              <p:spPr>
                <a:xfrm>
                  <a:off x="4148253" y="1970049"/>
                  <a:ext cx="4690947" cy="276999"/>
                </a:xfrm>
                <a:prstGeom prst="rect">
                  <a:avLst/>
                </a:prstGeom>
                <a:blipFill rotWithShape="1">
                  <a:blip r:embed="rId5"/>
                  <a:stretch>
                    <a:fillRect b="-15217"/>
                  </a:stretch>
                </a:blipFill>
              </p:spPr>
              <p:txBody>
                <a:bodyPr/>
                <a:lstStyle/>
                <a:p>
                  <a:r>
                    <a:rPr lang="en-GB">
                      <a:noFill/>
                    </a:rPr>
                    <a:t> </a:t>
                  </a:r>
                </a:p>
              </p:txBody>
            </p:sp>
          </mc:Fallback>
        </mc:AlternateContent>
      </p:grpSp>
      <p:grpSp>
        <p:nvGrpSpPr>
          <p:cNvPr id="6" name="Group 5"/>
          <p:cNvGrpSpPr/>
          <p:nvPr/>
        </p:nvGrpSpPr>
        <p:grpSpPr>
          <a:xfrm>
            <a:off x="275063" y="2209801"/>
            <a:ext cx="4191000" cy="3810001"/>
            <a:chOff x="275063" y="2209801"/>
            <a:chExt cx="4191000" cy="3810001"/>
          </a:xfrm>
        </p:grpSpPr>
        <p:pic>
          <p:nvPicPr>
            <p:cNvPr id="11" name="Picture 2"/>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rot="5400000">
              <a:off x="541762" y="1943102"/>
              <a:ext cx="3657601"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3" name="Rectangle 12"/>
                <p:cNvSpPr/>
                <p:nvPr/>
              </p:nvSpPr>
              <p:spPr>
                <a:xfrm rot="5400000">
                  <a:off x="2125275" y="3981877"/>
                  <a:ext cx="3798850"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3" name="Rectangle 12"/>
                <p:cNvSpPr>
                  <a:spLocks noRot="1" noChangeAspect="1" noMove="1" noResize="1" noEditPoints="1" noAdjustHandles="1" noChangeArrowheads="1" noChangeShapeType="1" noTextEdit="1"/>
                </p:cNvSpPr>
                <p:nvPr/>
              </p:nvSpPr>
              <p:spPr>
                <a:xfrm rot="5400000">
                  <a:off x="2125275" y="3981877"/>
                  <a:ext cx="3798850" cy="276999"/>
                </a:xfrm>
                <a:prstGeom prst="rect">
                  <a:avLst/>
                </a:prstGeom>
                <a:blipFill rotWithShape="1">
                  <a:blip r:embed="rId6"/>
                  <a:stretch>
                    <a:fillRect l="-17778"/>
                  </a:stretch>
                </a:blipFill>
              </p:spPr>
              <p:txBody>
                <a:bodyPr/>
                <a:lstStyle/>
                <a:p>
                  <a:r>
                    <a:rPr lang="en-GB">
                      <a:noFill/>
                    </a:rPr>
                    <a:t> </a:t>
                  </a:r>
                </a:p>
              </p:txBody>
            </p:sp>
          </mc:Fallback>
        </mc:AlternateContent>
      </p:grpSp>
      <p:graphicFrame>
        <p:nvGraphicFramePr>
          <p:cNvPr id="17" name="Table 16"/>
          <p:cNvGraphicFramePr>
            <a:graphicFrameLocks noGrp="1"/>
          </p:cNvGraphicFramePr>
          <p:nvPr>
            <p:extLst>
              <p:ext uri="{D42A27DB-BD31-4B8C-83A1-F6EECF244321}">
                <p14:modId xmlns:p14="http://schemas.microsoft.com/office/powerpoint/2010/main" val="3845254383"/>
              </p:ext>
            </p:extLst>
          </p:nvPr>
        </p:nvGraphicFramePr>
        <p:xfrm>
          <a:off x="4163195" y="2247048"/>
          <a:ext cx="4529265" cy="3620355"/>
        </p:xfrm>
        <a:graphic>
          <a:graphicData uri="http://schemas.openxmlformats.org/drawingml/2006/table">
            <a:tbl>
              <a:tblPr>
                <a:tableStyleId>{5940675A-B579-460E-94D1-54222C63F5DA}</a:tableStyleId>
              </a:tblPr>
              <a:tblGrid>
                <a:gridCol w="301951">
                  <a:extLst>
                    <a:ext uri="{9D8B030D-6E8A-4147-A177-3AD203B41FA5}">
                      <a16:colId xmlns:a16="http://schemas.microsoft.com/office/drawing/2014/main" val="20000"/>
                    </a:ext>
                  </a:extLst>
                </a:gridCol>
                <a:gridCol w="301951">
                  <a:extLst>
                    <a:ext uri="{9D8B030D-6E8A-4147-A177-3AD203B41FA5}">
                      <a16:colId xmlns:a16="http://schemas.microsoft.com/office/drawing/2014/main" val="20001"/>
                    </a:ext>
                  </a:extLst>
                </a:gridCol>
                <a:gridCol w="301951">
                  <a:extLst>
                    <a:ext uri="{9D8B030D-6E8A-4147-A177-3AD203B41FA5}">
                      <a16:colId xmlns:a16="http://schemas.microsoft.com/office/drawing/2014/main" val="20002"/>
                    </a:ext>
                  </a:extLst>
                </a:gridCol>
                <a:gridCol w="301951">
                  <a:extLst>
                    <a:ext uri="{9D8B030D-6E8A-4147-A177-3AD203B41FA5}">
                      <a16:colId xmlns:a16="http://schemas.microsoft.com/office/drawing/2014/main" val="20003"/>
                    </a:ext>
                  </a:extLst>
                </a:gridCol>
                <a:gridCol w="301951">
                  <a:extLst>
                    <a:ext uri="{9D8B030D-6E8A-4147-A177-3AD203B41FA5}">
                      <a16:colId xmlns:a16="http://schemas.microsoft.com/office/drawing/2014/main" val="20004"/>
                    </a:ext>
                  </a:extLst>
                </a:gridCol>
                <a:gridCol w="301951">
                  <a:extLst>
                    <a:ext uri="{9D8B030D-6E8A-4147-A177-3AD203B41FA5}">
                      <a16:colId xmlns:a16="http://schemas.microsoft.com/office/drawing/2014/main" val="20005"/>
                    </a:ext>
                  </a:extLst>
                </a:gridCol>
                <a:gridCol w="301951">
                  <a:extLst>
                    <a:ext uri="{9D8B030D-6E8A-4147-A177-3AD203B41FA5}">
                      <a16:colId xmlns:a16="http://schemas.microsoft.com/office/drawing/2014/main" val="20006"/>
                    </a:ext>
                  </a:extLst>
                </a:gridCol>
                <a:gridCol w="301951">
                  <a:extLst>
                    <a:ext uri="{9D8B030D-6E8A-4147-A177-3AD203B41FA5}">
                      <a16:colId xmlns:a16="http://schemas.microsoft.com/office/drawing/2014/main" val="20007"/>
                    </a:ext>
                  </a:extLst>
                </a:gridCol>
                <a:gridCol w="301951">
                  <a:extLst>
                    <a:ext uri="{9D8B030D-6E8A-4147-A177-3AD203B41FA5}">
                      <a16:colId xmlns:a16="http://schemas.microsoft.com/office/drawing/2014/main" val="20008"/>
                    </a:ext>
                  </a:extLst>
                </a:gridCol>
                <a:gridCol w="301951">
                  <a:extLst>
                    <a:ext uri="{9D8B030D-6E8A-4147-A177-3AD203B41FA5}">
                      <a16:colId xmlns:a16="http://schemas.microsoft.com/office/drawing/2014/main" val="20009"/>
                    </a:ext>
                  </a:extLst>
                </a:gridCol>
                <a:gridCol w="301951">
                  <a:extLst>
                    <a:ext uri="{9D8B030D-6E8A-4147-A177-3AD203B41FA5}">
                      <a16:colId xmlns:a16="http://schemas.microsoft.com/office/drawing/2014/main" val="20010"/>
                    </a:ext>
                  </a:extLst>
                </a:gridCol>
                <a:gridCol w="301951">
                  <a:extLst>
                    <a:ext uri="{9D8B030D-6E8A-4147-A177-3AD203B41FA5}">
                      <a16:colId xmlns:a16="http://schemas.microsoft.com/office/drawing/2014/main" val="20011"/>
                    </a:ext>
                  </a:extLst>
                </a:gridCol>
                <a:gridCol w="301951">
                  <a:extLst>
                    <a:ext uri="{9D8B030D-6E8A-4147-A177-3AD203B41FA5}">
                      <a16:colId xmlns:a16="http://schemas.microsoft.com/office/drawing/2014/main" val="20012"/>
                    </a:ext>
                  </a:extLst>
                </a:gridCol>
                <a:gridCol w="301951">
                  <a:extLst>
                    <a:ext uri="{9D8B030D-6E8A-4147-A177-3AD203B41FA5}">
                      <a16:colId xmlns:a16="http://schemas.microsoft.com/office/drawing/2014/main" val="20013"/>
                    </a:ext>
                  </a:extLst>
                </a:gridCol>
                <a:gridCol w="301951">
                  <a:extLst>
                    <a:ext uri="{9D8B030D-6E8A-4147-A177-3AD203B41FA5}">
                      <a16:colId xmlns:a16="http://schemas.microsoft.com/office/drawing/2014/main" val="20014"/>
                    </a:ext>
                  </a:extLst>
                </a:gridCol>
              </a:tblGrid>
              <a:tr h="241357">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0"/>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1"/>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2"/>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3"/>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4"/>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5"/>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50000"/>
                      </a:schemeClr>
                    </a:solidFill>
                  </a:tcPr>
                </a:tc>
                <a:tc>
                  <a:txBody>
                    <a:bodyPr/>
                    <a:lstStyle/>
                    <a:p>
                      <a:endParaRPr lang="en-GB" sz="700" dirty="0"/>
                    </a:p>
                  </a:txBody>
                  <a:tcPr>
                    <a:solidFill>
                      <a:schemeClr val="bg1">
                        <a:lumMod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6"/>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7"/>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8"/>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9"/>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0"/>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1"/>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2"/>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3"/>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20823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5"/>
          <p:cNvSpPr>
            <a:spLocks noChangeArrowheads="1"/>
          </p:cNvSpPr>
          <p:nvPr/>
        </p:nvSpPr>
        <p:spPr bwMode="auto">
          <a:xfrm>
            <a:off x="304800" y="685800"/>
            <a:ext cx="46374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accent2"/>
              </a:buClr>
            </a:pPr>
            <a:r>
              <a:rPr lang="en-GB" altLang="en-US" sz="2400" dirty="0">
                <a:effectLst/>
              </a:rPr>
              <a:t>Computing correlations for all pairs</a:t>
            </a:r>
          </a:p>
        </p:txBody>
      </p:sp>
      <p:sp>
        <p:nvSpPr>
          <p:cNvPr id="2" name="Title 1"/>
          <p:cNvSpPr>
            <a:spLocks noGrp="1"/>
          </p:cNvSpPr>
          <p:nvPr>
            <p:ph type="title"/>
          </p:nvPr>
        </p:nvSpPr>
        <p:spPr/>
        <p:txBody>
          <a:bodyPr/>
          <a:lstStyle/>
          <a:p>
            <a:r>
              <a:rPr lang="en-GB" dirty="0"/>
              <a:t>Correlation Matrix</a:t>
            </a:r>
          </a:p>
        </p:txBody>
      </p:sp>
      <p:grpSp>
        <p:nvGrpSpPr>
          <p:cNvPr id="3" name="Group 2"/>
          <p:cNvGrpSpPr/>
          <p:nvPr/>
        </p:nvGrpSpPr>
        <p:grpSpPr>
          <a:xfrm>
            <a:off x="3886200" y="1970049"/>
            <a:ext cx="4953000" cy="4049753"/>
            <a:chOff x="3886200" y="1970049"/>
            <a:chExt cx="4953000" cy="4049753"/>
          </a:xfrm>
        </p:grpSpPr>
        <mc:AlternateContent xmlns:mc="http://schemas.openxmlformats.org/markup-compatibility/2006" xmlns:a14="http://schemas.microsoft.com/office/drawing/2010/main">
          <mc:Choice Requires="a14">
            <p:sp>
              <p:nvSpPr>
                <p:cNvPr id="12" name="Rectangle 11"/>
                <p:cNvSpPr/>
                <p:nvPr/>
              </p:nvSpPr>
              <p:spPr>
                <a:xfrm rot="5400000">
                  <a:off x="2125275" y="3981877"/>
                  <a:ext cx="3798850"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2" name="Rectangle 11"/>
                <p:cNvSpPr>
                  <a:spLocks noRot="1" noChangeAspect="1" noMove="1" noResize="1" noEditPoints="1" noAdjustHandles="1" noChangeArrowheads="1" noChangeShapeType="1" noTextEdit="1"/>
                </p:cNvSpPr>
                <p:nvPr/>
              </p:nvSpPr>
              <p:spPr>
                <a:xfrm rot="5400000">
                  <a:off x="2125275" y="3981877"/>
                  <a:ext cx="3798850" cy="276999"/>
                </a:xfrm>
                <a:prstGeom prst="rect">
                  <a:avLst/>
                </a:prstGeom>
                <a:blipFill rotWithShape="1">
                  <a:blip r:embed="rId3"/>
                  <a:stretch>
                    <a:fillRect l="-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148253" y="1970049"/>
                  <a:ext cx="4690947"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5" name="Rectangle 14"/>
                <p:cNvSpPr>
                  <a:spLocks noRot="1" noChangeAspect="1" noMove="1" noResize="1" noEditPoints="1" noAdjustHandles="1" noChangeArrowheads="1" noChangeShapeType="1" noTextEdit="1"/>
                </p:cNvSpPr>
                <p:nvPr/>
              </p:nvSpPr>
              <p:spPr>
                <a:xfrm>
                  <a:off x="4148253" y="1970049"/>
                  <a:ext cx="4690947" cy="276999"/>
                </a:xfrm>
                <a:prstGeom prst="rect">
                  <a:avLst/>
                </a:prstGeom>
                <a:blipFill rotWithShape="1">
                  <a:blip r:embed="rId4"/>
                  <a:stretch>
                    <a:fillRect b="-15217"/>
                  </a:stretch>
                </a:blipFill>
              </p:spPr>
              <p:txBody>
                <a:bodyPr/>
                <a:lstStyle/>
                <a:p>
                  <a:r>
                    <a:rPr lang="en-GB">
                      <a:noFill/>
                    </a:rPr>
                    <a:t> </a:t>
                  </a:r>
                </a:p>
              </p:txBody>
            </p:sp>
          </mc:Fallback>
        </mc:AlternateContent>
      </p:grpSp>
      <p:grpSp>
        <p:nvGrpSpPr>
          <p:cNvPr id="19" name="Group 18"/>
          <p:cNvGrpSpPr/>
          <p:nvPr/>
        </p:nvGrpSpPr>
        <p:grpSpPr>
          <a:xfrm>
            <a:off x="6934200" y="228600"/>
            <a:ext cx="2042482" cy="611834"/>
            <a:chOff x="2481186" y="4038600"/>
            <a:chExt cx="4010759" cy="966212"/>
          </a:xfrm>
        </p:grpSpPr>
        <p:sp>
          <p:nvSpPr>
            <p:cNvPr id="20" name="Rectangle 19"/>
            <p:cNvSpPr/>
            <p:nvPr/>
          </p:nvSpPr>
          <p:spPr>
            <a:xfrm>
              <a:off x="2667295" y="4038600"/>
              <a:ext cx="3581400" cy="228600"/>
            </a:xfrm>
            <a:prstGeom prst="rect">
              <a:avLst/>
            </a:prstGeom>
            <a:gradFill>
              <a:gsLst>
                <a:gs pos="0">
                  <a:schemeClr val="tx1"/>
                </a:gs>
                <a:gs pos="50000">
                  <a:schemeClr val="bg1"/>
                </a:gs>
                <a:gs pos="100000">
                  <a:schemeClr val="tx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21" name="Rectangle 20"/>
            <p:cNvSpPr/>
            <p:nvPr/>
          </p:nvSpPr>
          <p:spPr>
            <a:xfrm>
              <a:off x="2481186" y="4267199"/>
              <a:ext cx="397850" cy="731696"/>
            </a:xfrm>
            <a:prstGeom prst="rect">
              <a:avLst/>
            </a:prstGeom>
          </p:spPr>
          <p:txBody>
            <a:bodyPr wrap="none">
              <a:spAutoFit/>
            </a:bodyPr>
            <a:lstStyle/>
            <a:p>
              <a:r>
                <a:rPr lang="en-GB" altLang="en-US" sz="1200" b="1" dirty="0"/>
                <a:t>-1</a:t>
              </a:r>
              <a:endParaRPr lang="en-GB" sz="1200" b="1" dirty="0"/>
            </a:p>
          </p:txBody>
        </p:sp>
        <p:sp>
          <p:nvSpPr>
            <p:cNvPr id="22" name="Rectangle 21"/>
            <p:cNvSpPr/>
            <p:nvPr/>
          </p:nvSpPr>
          <p:spPr>
            <a:xfrm>
              <a:off x="6054968" y="4267199"/>
              <a:ext cx="436977" cy="731696"/>
            </a:xfrm>
            <a:prstGeom prst="rect">
              <a:avLst/>
            </a:prstGeom>
          </p:spPr>
          <p:txBody>
            <a:bodyPr wrap="none">
              <a:spAutoFit/>
            </a:bodyPr>
            <a:lstStyle/>
            <a:p>
              <a:r>
                <a:rPr lang="en-GB" altLang="en-US" sz="1200" b="1" dirty="0"/>
                <a:t>+1</a:t>
              </a:r>
              <a:endParaRPr lang="en-GB" sz="1200" b="1" dirty="0"/>
            </a:p>
          </p:txBody>
        </p:sp>
        <p:sp>
          <p:nvSpPr>
            <p:cNvPr id="23" name="Rectangle 22"/>
            <p:cNvSpPr/>
            <p:nvPr/>
          </p:nvSpPr>
          <p:spPr>
            <a:xfrm>
              <a:off x="4328931" y="4273116"/>
              <a:ext cx="338132" cy="731696"/>
            </a:xfrm>
            <a:prstGeom prst="rect">
              <a:avLst/>
            </a:prstGeom>
          </p:spPr>
          <p:txBody>
            <a:bodyPr wrap="none">
              <a:spAutoFit/>
            </a:bodyPr>
            <a:lstStyle/>
            <a:p>
              <a:r>
                <a:rPr lang="en-GB" altLang="en-US" sz="1200" b="1" dirty="0"/>
                <a:t>0</a:t>
              </a:r>
              <a:endParaRPr lang="en-GB" sz="1200" b="1" dirty="0"/>
            </a:p>
          </p:txBody>
        </p:sp>
      </p:grpSp>
      <p:graphicFrame>
        <p:nvGraphicFramePr>
          <p:cNvPr id="24" name="Table 23"/>
          <p:cNvGraphicFramePr>
            <a:graphicFrameLocks noGrp="1"/>
          </p:cNvGraphicFramePr>
          <p:nvPr>
            <p:extLst>
              <p:ext uri="{D42A27DB-BD31-4B8C-83A1-F6EECF244321}">
                <p14:modId xmlns:p14="http://schemas.microsoft.com/office/powerpoint/2010/main" val="1899187373"/>
              </p:ext>
            </p:extLst>
          </p:nvPr>
        </p:nvGraphicFramePr>
        <p:xfrm>
          <a:off x="4163195" y="2247048"/>
          <a:ext cx="4529265" cy="3620355"/>
        </p:xfrm>
        <a:graphic>
          <a:graphicData uri="http://schemas.openxmlformats.org/drawingml/2006/table">
            <a:tbl>
              <a:tblPr>
                <a:tableStyleId>{5940675A-B579-460E-94D1-54222C63F5DA}</a:tableStyleId>
              </a:tblPr>
              <a:tblGrid>
                <a:gridCol w="301951">
                  <a:extLst>
                    <a:ext uri="{9D8B030D-6E8A-4147-A177-3AD203B41FA5}">
                      <a16:colId xmlns:a16="http://schemas.microsoft.com/office/drawing/2014/main" val="20000"/>
                    </a:ext>
                  </a:extLst>
                </a:gridCol>
                <a:gridCol w="301951">
                  <a:extLst>
                    <a:ext uri="{9D8B030D-6E8A-4147-A177-3AD203B41FA5}">
                      <a16:colId xmlns:a16="http://schemas.microsoft.com/office/drawing/2014/main" val="20001"/>
                    </a:ext>
                  </a:extLst>
                </a:gridCol>
                <a:gridCol w="301951">
                  <a:extLst>
                    <a:ext uri="{9D8B030D-6E8A-4147-A177-3AD203B41FA5}">
                      <a16:colId xmlns:a16="http://schemas.microsoft.com/office/drawing/2014/main" val="20002"/>
                    </a:ext>
                  </a:extLst>
                </a:gridCol>
                <a:gridCol w="301951">
                  <a:extLst>
                    <a:ext uri="{9D8B030D-6E8A-4147-A177-3AD203B41FA5}">
                      <a16:colId xmlns:a16="http://schemas.microsoft.com/office/drawing/2014/main" val="20003"/>
                    </a:ext>
                  </a:extLst>
                </a:gridCol>
                <a:gridCol w="301951">
                  <a:extLst>
                    <a:ext uri="{9D8B030D-6E8A-4147-A177-3AD203B41FA5}">
                      <a16:colId xmlns:a16="http://schemas.microsoft.com/office/drawing/2014/main" val="20004"/>
                    </a:ext>
                  </a:extLst>
                </a:gridCol>
                <a:gridCol w="301951">
                  <a:extLst>
                    <a:ext uri="{9D8B030D-6E8A-4147-A177-3AD203B41FA5}">
                      <a16:colId xmlns:a16="http://schemas.microsoft.com/office/drawing/2014/main" val="20005"/>
                    </a:ext>
                  </a:extLst>
                </a:gridCol>
                <a:gridCol w="301951">
                  <a:extLst>
                    <a:ext uri="{9D8B030D-6E8A-4147-A177-3AD203B41FA5}">
                      <a16:colId xmlns:a16="http://schemas.microsoft.com/office/drawing/2014/main" val="20006"/>
                    </a:ext>
                  </a:extLst>
                </a:gridCol>
                <a:gridCol w="301951">
                  <a:extLst>
                    <a:ext uri="{9D8B030D-6E8A-4147-A177-3AD203B41FA5}">
                      <a16:colId xmlns:a16="http://schemas.microsoft.com/office/drawing/2014/main" val="20007"/>
                    </a:ext>
                  </a:extLst>
                </a:gridCol>
                <a:gridCol w="301951">
                  <a:extLst>
                    <a:ext uri="{9D8B030D-6E8A-4147-A177-3AD203B41FA5}">
                      <a16:colId xmlns:a16="http://schemas.microsoft.com/office/drawing/2014/main" val="20008"/>
                    </a:ext>
                  </a:extLst>
                </a:gridCol>
                <a:gridCol w="301951">
                  <a:extLst>
                    <a:ext uri="{9D8B030D-6E8A-4147-A177-3AD203B41FA5}">
                      <a16:colId xmlns:a16="http://schemas.microsoft.com/office/drawing/2014/main" val="20009"/>
                    </a:ext>
                  </a:extLst>
                </a:gridCol>
                <a:gridCol w="301951">
                  <a:extLst>
                    <a:ext uri="{9D8B030D-6E8A-4147-A177-3AD203B41FA5}">
                      <a16:colId xmlns:a16="http://schemas.microsoft.com/office/drawing/2014/main" val="20010"/>
                    </a:ext>
                  </a:extLst>
                </a:gridCol>
                <a:gridCol w="301951">
                  <a:extLst>
                    <a:ext uri="{9D8B030D-6E8A-4147-A177-3AD203B41FA5}">
                      <a16:colId xmlns:a16="http://schemas.microsoft.com/office/drawing/2014/main" val="20011"/>
                    </a:ext>
                  </a:extLst>
                </a:gridCol>
                <a:gridCol w="301951">
                  <a:extLst>
                    <a:ext uri="{9D8B030D-6E8A-4147-A177-3AD203B41FA5}">
                      <a16:colId xmlns:a16="http://schemas.microsoft.com/office/drawing/2014/main" val="20012"/>
                    </a:ext>
                  </a:extLst>
                </a:gridCol>
                <a:gridCol w="301951">
                  <a:extLst>
                    <a:ext uri="{9D8B030D-6E8A-4147-A177-3AD203B41FA5}">
                      <a16:colId xmlns:a16="http://schemas.microsoft.com/office/drawing/2014/main" val="20013"/>
                    </a:ext>
                  </a:extLst>
                </a:gridCol>
                <a:gridCol w="301951">
                  <a:extLst>
                    <a:ext uri="{9D8B030D-6E8A-4147-A177-3AD203B41FA5}">
                      <a16:colId xmlns:a16="http://schemas.microsoft.com/office/drawing/2014/main" val="20014"/>
                    </a:ext>
                  </a:extLst>
                </a:gridCol>
              </a:tblGrid>
              <a:tr h="241357">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0"/>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1"/>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2"/>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3"/>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4"/>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5"/>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6"/>
                  </a:ext>
                </a:extLst>
              </a:tr>
              <a:tr h="241357">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7"/>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8"/>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9"/>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0"/>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1"/>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2"/>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3"/>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extLst>
                  <a:ext uri="{0D108BD9-81ED-4DB2-BD59-A6C34878D82A}">
                    <a16:rowId xmlns:a16="http://schemas.microsoft.com/office/drawing/2014/main" val="10014"/>
                  </a:ext>
                </a:extLst>
              </a:tr>
            </a:tbl>
          </a:graphicData>
        </a:graphic>
      </p:graphicFrame>
      <p:grpSp>
        <p:nvGrpSpPr>
          <p:cNvPr id="5" name="Group 4"/>
          <p:cNvGrpSpPr/>
          <p:nvPr/>
        </p:nvGrpSpPr>
        <p:grpSpPr>
          <a:xfrm>
            <a:off x="328367" y="1563672"/>
            <a:ext cx="5539033" cy="2246328"/>
            <a:chOff x="328367" y="1563672"/>
            <a:chExt cx="5539033" cy="2246328"/>
          </a:xfrm>
        </p:grpSpPr>
        <mc:AlternateContent xmlns:mc="http://schemas.openxmlformats.org/markup-compatibility/2006" xmlns:a14="http://schemas.microsoft.com/office/drawing/2010/main">
          <mc:Choice Requires="a14">
            <p:sp>
              <p:nvSpPr>
                <p:cNvPr id="4" name="Rectangle 3"/>
                <p:cNvSpPr/>
                <p:nvPr/>
              </p:nvSpPr>
              <p:spPr>
                <a:xfrm>
                  <a:off x="328367" y="1563672"/>
                  <a:ext cx="2948233" cy="1532727"/>
                </a:xfrm>
                <a:prstGeom prst="rect">
                  <a:avLst/>
                </a:prstGeom>
              </p:spPr>
              <p:txBody>
                <a:bodyPr wrap="square">
                  <a:spAutoFit/>
                </a:bodyPr>
                <a:lstStyle/>
                <a:p>
                  <a:pPr>
                    <a:spcBef>
                      <a:spcPct val="20000"/>
                    </a:spcBef>
                    <a:buClr>
                      <a:schemeClr val="accent2"/>
                    </a:buClr>
                  </a:pPr>
                  <a:r>
                    <a:rPr lang="en-GB" altLang="en-US" dirty="0"/>
                    <a:t>Very </a:t>
                  </a:r>
                  <a:r>
                    <a:rPr lang="en-GB" altLang="en-US" b="1" dirty="0"/>
                    <a:t>high</a:t>
                  </a:r>
                  <a:r>
                    <a:rPr lang="en-GB" altLang="en-US" dirty="0"/>
                    <a:t> </a:t>
                  </a:r>
                  <a:r>
                    <a:rPr lang="en-GB" altLang="en-US" b="1" dirty="0"/>
                    <a:t>correlations</a:t>
                  </a:r>
                  <a:r>
                    <a:rPr lang="en-GB" altLang="en-US" dirty="0"/>
                    <a:t> should </a:t>
                  </a:r>
                  <a:r>
                    <a:rPr lang="en-GB" altLang="en-US" b="1" dirty="0"/>
                    <a:t>be investigated </a:t>
                  </a:r>
                  <a:r>
                    <a:rPr lang="en-GB" altLang="en-US" dirty="0"/>
                    <a:t>(</a:t>
                  </a:r>
                  <a14:m>
                    <m:oMath xmlns:m="http://schemas.openxmlformats.org/officeDocument/2006/math">
                      <m:r>
                        <a:rPr lang="en-GB" altLang="en-US" i="1" dirty="0" smtClean="0">
                          <a:latin typeface="Cambria Math"/>
                        </a:rPr>
                        <m:t>𝑟</m:t>
                      </m:r>
                      <m:r>
                        <a:rPr lang="en-GB" altLang="en-US" i="1" dirty="0" smtClean="0">
                          <a:latin typeface="Cambria Math"/>
                        </a:rPr>
                        <m:t>&gt;0.9</m:t>
                      </m:r>
                    </m:oMath>
                  </a14:m>
                  <a:r>
                    <a:rPr lang="en-GB" altLang="en-US" dirty="0"/>
                    <a:t>) </a:t>
                  </a:r>
                </a:p>
                <a:p>
                  <a:pPr>
                    <a:spcBef>
                      <a:spcPct val="20000"/>
                    </a:spcBef>
                    <a:buClr>
                      <a:schemeClr val="accent2"/>
                    </a:buClr>
                  </a:pPr>
                  <a:r>
                    <a:rPr lang="en-GB" altLang="en-US" dirty="0"/>
                    <a:t>For example, you might have asked </a:t>
                  </a:r>
                  <a:r>
                    <a:rPr lang="en-GB" altLang="en-US" b="1" dirty="0"/>
                    <a:t>redundant or repeated questions</a:t>
                  </a:r>
                  <a:r>
                    <a:rPr lang="en-GB" altLang="en-US" dirty="0"/>
                    <a:t>!</a:t>
                  </a:r>
                </a:p>
              </p:txBody>
            </p:sp>
          </mc:Choice>
          <mc:Fallback xmlns="">
            <p:sp>
              <p:nvSpPr>
                <p:cNvPr id="4" name="Rectangle 3"/>
                <p:cNvSpPr>
                  <a:spLocks noRot="1" noChangeAspect="1" noMove="1" noResize="1" noEditPoints="1" noAdjustHandles="1" noChangeArrowheads="1" noChangeShapeType="1" noTextEdit="1"/>
                </p:cNvSpPr>
                <p:nvPr/>
              </p:nvSpPr>
              <p:spPr>
                <a:xfrm>
                  <a:off x="328367" y="1563672"/>
                  <a:ext cx="2948233" cy="1532727"/>
                </a:xfrm>
                <a:prstGeom prst="rect">
                  <a:avLst/>
                </a:prstGeom>
                <a:blipFill rotWithShape="1">
                  <a:blip r:embed="rId5"/>
                  <a:stretch>
                    <a:fillRect l="-1860" t="-1992" r="-2273" b="-5578"/>
                  </a:stretch>
                </a:blipFill>
              </p:spPr>
              <p:txBody>
                <a:bodyPr/>
                <a:lstStyle/>
                <a:p>
                  <a:r>
                    <a:rPr lang="en-GB">
                      <a:noFill/>
                    </a:rPr>
                    <a:t> </a:t>
                  </a:r>
                </a:p>
              </p:txBody>
            </p:sp>
          </mc:Fallback>
        </mc:AlternateContent>
        <p:cxnSp>
          <p:nvCxnSpPr>
            <p:cNvPr id="25" name="Straight Arrow Connector 24"/>
            <p:cNvCxnSpPr/>
            <p:nvPr/>
          </p:nvCxnSpPr>
          <p:spPr>
            <a:xfrm>
              <a:off x="2819400" y="1970049"/>
              <a:ext cx="3048000" cy="1839951"/>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grpSp>
    </p:spTree>
    <p:extLst>
      <p:ext uri="{BB962C8B-B14F-4D97-AF65-F5344CB8AC3E}">
        <p14:creationId xmlns:p14="http://schemas.microsoft.com/office/powerpoint/2010/main" val="377255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5"/>
          <p:cNvSpPr>
            <a:spLocks noChangeArrowheads="1"/>
          </p:cNvSpPr>
          <p:nvPr/>
        </p:nvSpPr>
        <p:spPr bwMode="auto">
          <a:xfrm>
            <a:off x="304800" y="685800"/>
            <a:ext cx="45684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accent2"/>
              </a:buClr>
            </a:pPr>
            <a:r>
              <a:rPr lang="en-GB" altLang="en-US" sz="2400" dirty="0">
                <a:effectLst/>
              </a:rPr>
              <a:t>Computing correlations for all pairs</a:t>
            </a:r>
          </a:p>
        </p:txBody>
      </p:sp>
      <p:sp>
        <p:nvSpPr>
          <p:cNvPr id="2" name="Title 1"/>
          <p:cNvSpPr>
            <a:spLocks noGrp="1"/>
          </p:cNvSpPr>
          <p:nvPr>
            <p:ph type="title"/>
          </p:nvPr>
        </p:nvSpPr>
        <p:spPr/>
        <p:txBody>
          <a:bodyPr/>
          <a:lstStyle/>
          <a:p>
            <a:r>
              <a:rPr lang="en-GB" dirty="0"/>
              <a:t>Correlation Matrix</a:t>
            </a:r>
          </a:p>
        </p:txBody>
      </p:sp>
      <p:grpSp>
        <p:nvGrpSpPr>
          <p:cNvPr id="3" name="Group 2"/>
          <p:cNvGrpSpPr/>
          <p:nvPr/>
        </p:nvGrpSpPr>
        <p:grpSpPr>
          <a:xfrm>
            <a:off x="3886200" y="1970049"/>
            <a:ext cx="4953000" cy="4049753"/>
            <a:chOff x="3886200" y="1970049"/>
            <a:chExt cx="4953000" cy="4049753"/>
          </a:xfrm>
        </p:grpSpPr>
        <mc:AlternateContent xmlns:mc="http://schemas.openxmlformats.org/markup-compatibility/2006" xmlns:a14="http://schemas.microsoft.com/office/drawing/2010/main">
          <mc:Choice Requires="a14">
            <p:sp>
              <p:nvSpPr>
                <p:cNvPr id="12" name="Rectangle 11"/>
                <p:cNvSpPr/>
                <p:nvPr/>
              </p:nvSpPr>
              <p:spPr>
                <a:xfrm rot="5400000">
                  <a:off x="2125275" y="3981877"/>
                  <a:ext cx="3798850"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2" name="Rectangle 11"/>
                <p:cNvSpPr>
                  <a:spLocks noRot="1" noChangeAspect="1" noMove="1" noResize="1" noEditPoints="1" noAdjustHandles="1" noChangeArrowheads="1" noChangeShapeType="1" noTextEdit="1"/>
                </p:cNvSpPr>
                <p:nvPr/>
              </p:nvSpPr>
              <p:spPr>
                <a:xfrm rot="5400000">
                  <a:off x="2125275" y="3981877"/>
                  <a:ext cx="3798850" cy="276999"/>
                </a:xfrm>
                <a:prstGeom prst="rect">
                  <a:avLst/>
                </a:prstGeom>
                <a:blipFill rotWithShape="1">
                  <a:blip r:embed="rId3"/>
                  <a:stretch>
                    <a:fillRect l="-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4148253" y="1970049"/>
                  <a:ext cx="4690947"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5" name="Rectangle 14"/>
                <p:cNvSpPr>
                  <a:spLocks noRot="1" noChangeAspect="1" noMove="1" noResize="1" noEditPoints="1" noAdjustHandles="1" noChangeArrowheads="1" noChangeShapeType="1" noTextEdit="1"/>
                </p:cNvSpPr>
                <p:nvPr/>
              </p:nvSpPr>
              <p:spPr>
                <a:xfrm>
                  <a:off x="4148253" y="1970049"/>
                  <a:ext cx="4690947" cy="276999"/>
                </a:xfrm>
                <a:prstGeom prst="rect">
                  <a:avLst/>
                </a:prstGeom>
                <a:blipFill rotWithShape="1">
                  <a:blip r:embed="rId4"/>
                  <a:stretch>
                    <a:fillRect b="-15217"/>
                  </a:stretch>
                </a:blipFill>
              </p:spPr>
              <p:txBody>
                <a:bodyPr/>
                <a:lstStyle/>
                <a:p>
                  <a:r>
                    <a:rPr lang="en-GB">
                      <a:noFill/>
                    </a:rPr>
                    <a:t> </a:t>
                  </a:r>
                </a:p>
              </p:txBody>
            </p:sp>
          </mc:Fallback>
        </mc:AlternateContent>
      </p:grpSp>
      <p:grpSp>
        <p:nvGrpSpPr>
          <p:cNvPr id="10" name="Group 9"/>
          <p:cNvGrpSpPr/>
          <p:nvPr/>
        </p:nvGrpSpPr>
        <p:grpSpPr>
          <a:xfrm>
            <a:off x="6934200" y="228600"/>
            <a:ext cx="2042482" cy="611834"/>
            <a:chOff x="2481186" y="4038600"/>
            <a:chExt cx="4010759" cy="966212"/>
          </a:xfrm>
        </p:grpSpPr>
        <p:sp>
          <p:nvSpPr>
            <p:cNvPr id="11" name="Rectangle 10"/>
            <p:cNvSpPr/>
            <p:nvPr/>
          </p:nvSpPr>
          <p:spPr>
            <a:xfrm>
              <a:off x="2667295" y="4038600"/>
              <a:ext cx="3581400" cy="228600"/>
            </a:xfrm>
            <a:prstGeom prst="rect">
              <a:avLst/>
            </a:prstGeom>
            <a:gradFill>
              <a:gsLst>
                <a:gs pos="0">
                  <a:schemeClr val="tx1"/>
                </a:gs>
                <a:gs pos="50000">
                  <a:schemeClr val="bg1"/>
                </a:gs>
                <a:gs pos="100000">
                  <a:schemeClr val="tx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13" name="Rectangle 12"/>
            <p:cNvSpPr/>
            <p:nvPr/>
          </p:nvSpPr>
          <p:spPr>
            <a:xfrm>
              <a:off x="2481186" y="4267199"/>
              <a:ext cx="397850" cy="731696"/>
            </a:xfrm>
            <a:prstGeom prst="rect">
              <a:avLst/>
            </a:prstGeom>
          </p:spPr>
          <p:txBody>
            <a:bodyPr wrap="none">
              <a:spAutoFit/>
            </a:bodyPr>
            <a:lstStyle/>
            <a:p>
              <a:r>
                <a:rPr lang="en-GB" altLang="en-US" sz="1200" b="1" dirty="0"/>
                <a:t>-1</a:t>
              </a:r>
              <a:endParaRPr lang="en-GB" sz="1200" b="1" dirty="0"/>
            </a:p>
          </p:txBody>
        </p:sp>
        <p:sp>
          <p:nvSpPr>
            <p:cNvPr id="14" name="Rectangle 13"/>
            <p:cNvSpPr/>
            <p:nvPr/>
          </p:nvSpPr>
          <p:spPr>
            <a:xfrm>
              <a:off x="6054968" y="4267199"/>
              <a:ext cx="436977" cy="731696"/>
            </a:xfrm>
            <a:prstGeom prst="rect">
              <a:avLst/>
            </a:prstGeom>
          </p:spPr>
          <p:txBody>
            <a:bodyPr wrap="none">
              <a:spAutoFit/>
            </a:bodyPr>
            <a:lstStyle/>
            <a:p>
              <a:r>
                <a:rPr lang="en-GB" altLang="en-US" sz="1200" b="1" dirty="0"/>
                <a:t>+1</a:t>
              </a:r>
              <a:endParaRPr lang="en-GB" sz="1200" b="1" dirty="0"/>
            </a:p>
          </p:txBody>
        </p:sp>
        <p:sp>
          <p:nvSpPr>
            <p:cNvPr id="16" name="Rectangle 15"/>
            <p:cNvSpPr/>
            <p:nvPr/>
          </p:nvSpPr>
          <p:spPr>
            <a:xfrm>
              <a:off x="4328931" y="4273116"/>
              <a:ext cx="338132" cy="731696"/>
            </a:xfrm>
            <a:prstGeom prst="rect">
              <a:avLst/>
            </a:prstGeom>
          </p:spPr>
          <p:txBody>
            <a:bodyPr wrap="none">
              <a:spAutoFit/>
            </a:bodyPr>
            <a:lstStyle/>
            <a:p>
              <a:r>
                <a:rPr lang="en-GB" altLang="en-US" sz="1200" b="1" dirty="0"/>
                <a:t>0</a:t>
              </a:r>
              <a:endParaRPr lang="en-GB" sz="1200" b="1" dirty="0"/>
            </a:p>
          </p:txBody>
        </p:sp>
      </p:grpSp>
      <p:graphicFrame>
        <p:nvGraphicFramePr>
          <p:cNvPr id="18" name="Table 17"/>
          <p:cNvGraphicFramePr>
            <a:graphicFrameLocks noGrp="1"/>
          </p:cNvGraphicFramePr>
          <p:nvPr>
            <p:extLst>
              <p:ext uri="{D42A27DB-BD31-4B8C-83A1-F6EECF244321}">
                <p14:modId xmlns:p14="http://schemas.microsoft.com/office/powerpoint/2010/main" val="2534033053"/>
              </p:ext>
            </p:extLst>
          </p:nvPr>
        </p:nvGraphicFramePr>
        <p:xfrm>
          <a:off x="4163195" y="2247048"/>
          <a:ext cx="4529265" cy="3620355"/>
        </p:xfrm>
        <a:graphic>
          <a:graphicData uri="http://schemas.openxmlformats.org/drawingml/2006/table">
            <a:tbl>
              <a:tblPr>
                <a:tableStyleId>{5940675A-B579-460E-94D1-54222C63F5DA}</a:tableStyleId>
              </a:tblPr>
              <a:tblGrid>
                <a:gridCol w="301951">
                  <a:extLst>
                    <a:ext uri="{9D8B030D-6E8A-4147-A177-3AD203B41FA5}">
                      <a16:colId xmlns:a16="http://schemas.microsoft.com/office/drawing/2014/main" val="20000"/>
                    </a:ext>
                  </a:extLst>
                </a:gridCol>
                <a:gridCol w="301951">
                  <a:extLst>
                    <a:ext uri="{9D8B030D-6E8A-4147-A177-3AD203B41FA5}">
                      <a16:colId xmlns:a16="http://schemas.microsoft.com/office/drawing/2014/main" val="20001"/>
                    </a:ext>
                  </a:extLst>
                </a:gridCol>
                <a:gridCol w="301951">
                  <a:extLst>
                    <a:ext uri="{9D8B030D-6E8A-4147-A177-3AD203B41FA5}">
                      <a16:colId xmlns:a16="http://schemas.microsoft.com/office/drawing/2014/main" val="20002"/>
                    </a:ext>
                  </a:extLst>
                </a:gridCol>
                <a:gridCol w="301951">
                  <a:extLst>
                    <a:ext uri="{9D8B030D-6E8A-4147-A177-3AD203B41FA5}">
                      <a16:colId xmlns:a16="http://schemas.microsoft.com/office/drawing/2014/main" val="20003"/>
                    </a:ext>
                  </a:extLst>
                </a:gridCol>
                <a:gridCol w="301951">
                  <a:extLst>
                    <a:ext uri="{9D8B030D-6E8A-4147-A177-3AD203B41FA5}">
                      <a16:colId xmlns:a16="http://schemas.microsoft.com/office/drawing/2014/main" val="20004"/>
                    </a:ext>
                  </a:extLst>
                </a:gridCol>
                <a:gridCol w="301951">
                  <a:extLst>
                    <a:ext uri="{9D8B030D-6E8A-4147-A177-3AD203B41FA5}">
                      <a16:colId xmlns:a16="http://schemas.microsoft.com/office/drawing/2014/main" val="20005"/>
                    </a:ext>
                  </a:extLst>
                </a:gridCol>
                <a:gridCol w="301951">
                  <a:extLst>
                    <a:ext uri="{9D8B030D-6E8A-4147-A177-3AD203B41FA5}">
                      <a16:colId xmlns:a16="http://schemas.microsoft.com/office/drawing/2014/main" val="20006"/>
                    </a:ext>
                  </a:extLst>
                </a:gridCol>
                <a:gridCol w="301951">
                  <a:extLst>
                    <a:ext uri="{9D8B030D-6E8A-4147-A177-3AD203B41FA5}">
                      <a16:colId xmlns:a16="http://schemas.microsoft.com/office/drawing/2014/main" val="20007"/>
                    </a:ext>
                  </a:extLst>
                </a:gridCol>
                <a:gridCol w="301951">
                  <a:extLst>
                    <a:ext uri="{9D8B030D-6E8A-4147-A177-3AD203B41FA5}">
                      <a16:colId xmlns:a16="http://schemas.microsoft.com/office/drawing/2014/main" val="20008"/>
                    </a:ext>
                  </a:extLst>
                </a:gridCol>
                <a:gridCol w="301951">
                  <a:extLst>
                    <a:ext uri="{9D8B030D-6E8A-4147-A177-3AD203B41FA5}">
                      <a16:colId xmlns:a16="http://schemas.microsoft.com/office/drawing/2014/main" val="20009"/>
                    </a:ext>
                  </a:extLst>
                </a:gridCol>
                <a:gridCol w="301951">
                  <a:extLst>
                    <a:ext uri="{9D8B030D-6E8A-4147-A177-3AD203B41FA5}">
                      <a16:colId xmlns:a16="http://schemas.microsoft.com/office/drawing/2014/main" val="20010"/>
                    </a:ext>
                  </a:extLst>
                </a:gridCol>
                <a:gridCol w="301951">
                  <a:extLst>
                    <a:ext uri="{9D8B030D-6E8A-4147-A177-3AD203B41FA5}">
                      <a16:colId xmlns:a16="http://schemas.microsoft.com/office/drawing/2014/main" val="20011"/>
                    </a:ext>
                  </a:extLst>
                </a:gridCol>
                <a:gridCol w="301951">
                  <a:extLst>
                    <a:ext uri="{9D8B030D-6E8A-4147-A177-3AD203B41FA5}">
                      <a16:colId xmlns:a16="http://schemas.microsoft.com/office/drawing/2014/main" val="20012"/>
                    </a:ext>
                  </a:extLst>
                </a:gridCol>
                <a:gridCol w="301951">
                  <a:extLst>
                    <a:ext uri="{9D8B030D-6E8A-4147-A177-3AD203B41FA5}">
                      <a16:colId xmlns:a16="http://schemas.microsoft.com/office/drawing/2014/main" val="20013"/>
                    </a:ext>
                  </a:extLst>
                </a:gridCol>
                <a:gridCol w="301951">
                  <a:extLst>
                    <a:ext uri="{9D8B030D-6E8A-4147-A177-3AD203B41FA5}">
                      <a16:colId xmlns:a16="http://schemas.microsoft.com/office/drawing/2014/main" val="20014"/>
                    </a:ext>
                  </a:extLst>
                </a:gridCol>
              </a:tblGrid>
              <a:tr h="241357">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2"/>
                    </a:solidFill>
                  </a:tcPr>
                </a:tc>
                <a:tc>
                  <a:txBody>
                    <a:bodyPr/>
                    <a:lstStyle/>
                    <a:p>
                      <a:endParaRPr lang="en-GB" sz="700"/>
                    </a:p>
                  </a:txBody>
                  <a:tcPr>
                    <a:solidFill>
                      <a:schemeClr val="bg2"/>
                    </a:solidFill>
                  </a:tcPr>
                </a:tc>
                <a:tc>
                  <a:txBody>
                    <a:bodyPr/>
                    <a:lstStyle/>
                    <a:p>
                      <a:endParaRPr lang="en-GB" sz="700"/>
                    </a:p>
                  </a:txBody>
                  <a:tcPr>
                    <a:solidFill>
                      <a:schemeClr val="bg2"/>
                    </a:solidFill>
                  </a:tcPr>
                </a:tc>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0"/>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1"/>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2"/>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3"/>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7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4"/>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75000"/>
                      </a:schemeClr>
                    </a:solidFill>
                  </a:tcPr>
                </a:tc>
                <a:tc>
                  <a:txBody>
                    <a:bodyPr/>
                    <a:lstStyle/>
                    <a:p>
                      <a:endParaRPr lang="en-GB" sz="700" dirty="0"/>
                    </a:p>
                  </a:txBody>
                  <a:tcPr>
                    <a:solidFill>
                      <a:schemeClr val="tx1"/>
                    </a:solidFill>
                  </a:tcPr>
                </a:tc>
                <a:tc>
                  <a:txBody>
                    <a:bodyPr/>
                    <a:lstStyle/>
                    <a:p>
                      <a:endParaRPr lang="en-GB" sz="70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5"/>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50000"/>
                      </a:schemeClr>
                    </a:solidFill>
                  </a:tcPr>
                </a:tc>
                <a:tc>
                  <a:txBody>
                    <a:bodyPr/>
                    <a:lstStyle/>
                    <a:p>
                      <a:endParaRPr lang="en-GB" sz="700" dirty="0"/>
                    </a:p>
                  </a:txBody>
                  <a:tcPr>
                    <a:solidFill>
                      <a:schemeClr val="bg1">
                        <a:lumMod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85000"/>
                      </a:schemeClr>
                    </a:solidFill>
                  </a:tcPr>
                </a:tc>
                <a:extLst>
                  <a:ext uri="{0D108BD9-81ED-4DB2-BD59-A6C34878D82A}">
                    <a16:rowId xmlns:a16="http://schemas.microsoft.com/office/drawing/2014/main" val="10006"/>
                  </a:ext>
                </a:extLst>
              </a:tr>
              <a:tr h="241357">
                <a:tc>
                  <a:txBody>
                    <a:bodyPr/>
                    <a:lstStyle/>
                    <a:p>
                      <a:endParaRPr lang="en-GB" sz="700"/>
                    </a:p>
                  </a:txBody>
                  <a:tcPr>
                    <a:solidFill>
                      <a:schemeClr val="bg2"/>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2"/>
                    </a:solidFill>
                  </a:tcPr>
                </a:tc>
                <a:tc>
                  <a:txBody>
                    <a:bodyPr/>
                    <a:lstStyle/>
                    <a:p>
                      <a:endParaRPr lang="en-GB" sz="700" dirty="0"/>
                    </a:p>
                  </a:txBody>
                  <a:tcPr>
                    <a:solidFill>
                      <a:schemeClr val="bg1">
                        <a:lumMod val="7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extLst>
                  <a:ext uri="{0D108BD9-81ED-4DB2-BD59-A6C34878D82A}">
                    <a16:rowId xmlns:a16="http://schemas.microsoft.com/office/drawing/2014/main" val="10007"/>
                  </a:ext>
                </a:extLst>
              </a:tr>
              <a:tr h="241357">
                <a:tc>
                  <a:txBody>
                    <a:bodyPr/>
                    <a:lstStyle/>
                    <a:p>
                      <a:endParaRPr lang="en-GB" sz="700"/>
                    </a:p>
                  </a:txBody>
                  <a:tcPr>
                    <a:solidFill>
                      <a:schemeClr val="bg2"/>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2"/>
                    </a:solidFill>
                  </a:tcPr>
                </a:tc>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8"/>
                  </a:ext>
                </a:extLst>
              </a:tr>
              <a:tr h="241357">
                <a:tc>
                  <a:txBody>
                    <a:bodyPr/>
                    <a:lstStyle/>
                    <a:p>
                      <a:endParaRPr lang="en-GB" sz="700"/>
                    </a:p>
                  </a:txBody>
                  <a:tcPr>
                    <a:solidFill>
                      <a:schemeClr val="bg2"/>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2"/>
                    </a:solidFill>
                  </a:tcPr>
                </a:tc>
                <a:tc>
                  <a:txBody>
                    <a:bodyPr/>
                    <a:lstStyle/>
                    <a:p>
                      <a:endParaRPr lang="en-GB" sz="700" dirty="0"/>
                    </a:p>
                  </a:txBody>
                  <a:tcPr>
                    <a:solidFill>
                      <a:schemeClr val="bg2"/>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9"/>
                  </a:ext>
                </a:extLst>
              </a:tr>
              <a:tr h="241357">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75000"/>
                      </a:schemeClr>
                    </a:solidFill>
                  </a:tcPr>
                </a:tc>
                <a:tc>
                  <a:txBody>
                    <a:bodyPr/>
                    <a:lstStyle/>
                    <a:p>
                      <a:endParaRPr lang="en-GB" sz="700" dirty="0"/>
                    </a:p>
                  </a:txBody>
                  <a:tcPr>
                    <a:solidFill>
                      <a:schemeClr val="bg2"/>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10"/>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1"/>
                  </a:ext>
                </a:extLst>
              </a:tr>
              <a:tr h="241357">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2"/>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3"/>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extLst>
                  <a:ext uri="{0D108BD9-81ED-4DB2-BD59-A6C34878D82A}">
                    <a16:rowId xmlns:a16="http://schemas.microsoft.com/office/drawing/2014/main" val="10014"/>
                  </a:ext>
                </a:extLst>
              </a:tr>
            </a:tbl>
          </a:graphicData>
        </a:graphic>
      </p:graphicFrame>
      <p:sp>
        <p:nvSpPr>
          <p:cNvPr id="19" name="Explosion 1 18"/>
          <p:cNvSpPr/>
          <p:nvPr/>
        </p:nvSpPr>
        <p:spPr>
          <a:xfrm>
            <a:off x="533400" y="2323248"/>
            <a:ext cx="5257800" cy="3544152"/>
          </a:xfrm>
          <a:prstGeom prst="irregularSeal1">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2000" dirty="0"/>
              <a:t>Here, we have ordered the variables nicely, but in practice, this matrix is not so easy to read</a:t>
            </a:r>
          </a:p>
        </p:txBody>
      </p:sp>
      <p:grpSp>
        <p:nvGrpSpPr>
          <p:cNvPr id="20" name="Group 19"/>
          <p:cNvGrpSpPr/>
          <p:nvPr/>
        </p:nvGrpSpPr>
        <p:grpSpPr>
          <a:xfrm>
            <a:off x="5976986" y="911132"/>
            <a:ext cx="2633614" cy="692335"/>
            <a:chOff x="5976986" y="911132"/>
            <a:chExt cx="2633614" cy="692335"/>
          </a:xfrm>
        </p:grpSpPr>
        <p:sp>
          <p:nvSpPr>
            <p:cNvPr id="8" name="Rounded Rectangular Callout 7"/>
            <p:cNvSpPr/>
            <p:nvPr/>
          </p:nvSpPr>
          <p:spPr>
            <a:xfrm>
              <a:off x="5976986" y="911132"/>
              <a:ext cx="2633613" cy="689067"/>
            </a:xfrm>
            <a:prstGeom prst="wedgeRoundRectCallout">
              <a:avLst>
                <a:gd name="adj1" fmla="val 24268"/>
                <a:gd name="adj2" fmla="val 3265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Rounded Rectangular Callout 20"/>
                <p:cNvSpPr/>
                <p:nvPr/>
              </p:nvSpPr>
              <p:spPr>
                <a:xfrm>
                  <a:off x="5976987" y="914400"/>
                  <a:ext cx="2633613" cy="689067"/>
                </a:xfrm>
                <a:prstGeom prst="wedgeRoundRectCallout">
                  <a:avLst>
                    <a:gd name="adj1" fmla="val -9021"/>
                    <a:gd name="adj2" fmla="val 19930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GB" i="1" dirty="0" smtClean="0">
                          <a:latin typeface="Cambria Math"/>
                        </a:rPr>
                        <m:t>𝑟</m:t>
                      </m:r>
                      <m:r>
                        <a:rPr lang="en-GB" i="1" dirty="0" smtClean="0">
                          <a:latin typeface="Cambria Math"/>
                          <a:ea typeface="Cambria Math"/>
                        </a:rPr>
                        <m:t>≠</m:t>
                      </m:r>
                      <m:r>
                        <a:rPr lang="en-GB" i="1" dirty="0" smtClean="0">
                          <a:latin typeface="Cambria Math"/>
                        </a:rPr>
                        <m:t>0</m:t>
                      </m:r>
                    </m:oMath>
                  </a14:m>
                  <a:r>
                    <a:rPr lang="en-GB" dirty="0"/>
                    <a:t> for unrelated variables!</a:t>
                  </a:r>
                </a:p>
              </p:txBody>
            </p:sp>
          </mc:Choice>
          <mc:Fallback xmlns="">
            <p:sp>
              <p:nvSpPr>
                <p:cNvPr id="21" name="Rounded Rectangular Callout 20"/>
                <p:cNvSpPr>
                  <a:spLocks noRot="1" noChangeAspect="1" noMove="1" noResize="1" noEditPoints="1" noAdjustHandles="1" noChangeArrowheads="1" noChangeShapeType="1" noTextEdit="1"/>
                </p:cNvSpPr>
                <p:nvPr/>
              </p:nvSpPr>
              <p:spPr>
                <a:xfrm>
                  <a:off x="5976987" y="914400"/>
                  <a:ext cx="2633613" cy="689067"/>
                </a:xfrm>
                <a:prstGeom prst="wedgeRoundRectCallout">
                  <a:avLst>
                    <a:gd name="adj1" fmla="val -9021"/>
                    <a:gd name="adj2" fmla="val 199305"/>
                    <a:gd name="adj3" fmla="val 16667"/>
                  </a:avLst>
                </a:prstGeom>
                <a:blipFill rotWithShape="1">
                  <a:blip r:embed="rId5"/>
                  <a:stretch>
                    <a:fillRect/>
                  </a:stretch>
                </a:blipFill>
              </p:spPr>
              <p:txBody>
                <a:bodyPr/>
                <a:lstStyle/>
                <a:p>
                  <a:r>
                    <a:rPr lang="en-GB">
                      <a:noFill/>
                    </a:rPr>
                    <a:t> </a:t>
                  </a:r>
                </a:p>
              </p:txBody>
            </p:sp>
          </mc:Fallback>
        </mc:AlternateContent>
      </p:grpSp>
    </p:spTree>
    <p:extLst>
      <p:ext uri="{BB962C8B-B14F-4D97-AF65-F5344CB8AC3E}">
        <p14:creationId xmlns:p14="http://schemas.microsoft.com/office/powerpoint/2010/main" val="304671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Examining Correlations</a:t>
            </a:r>
            <a:endParaRPr lang="en-GB" dirty="0"/>
          </a:p>
        </p:txBody>
      </p:sp>
      <p:sp>
        <p:nvSpPr>
          <p:cNvPr id="121860" name="Rectangle 4"/>
          <p:cNvSpPr>
            <a:spLocks noChangeArrowheads="1"/>
          </p:cNvSpPr>
          <p:nvPr/>
        </p:nvSpPr>
        <p:spPr bwMode="auto">
          <a:xfrm>
            <a:off x="304800" y="685800"/>
            <a:ext cx="7848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chemeClr val="accent2"/>
              </a:buClr>
            </a:pPr>
            <a:r>
              <a:rPr lang="en-GB" altLang="en-US" b="1" dirty="0">
                <a:effectLst/>
                <a:latin typeface="+mn-lt"/>
              </a:rPr>
              <a:t>Bartlett’s test of sphericity</a:t>
            </a:r>
          </a:p>
          <a:p>
            <a:pPr marL="0" indent="0">
              <a:spcBef>
                <a:spcPct val="20000"/>
              </a:spcBef>
              <a:buClr>
                <a:schemeClr val="accent2"/>
              </a:buClr>
            </a:pPr>
            <a:r>
              <a:rPr lang="en-GB" altLang="en-US" dirty="0">
                <a:effectLst/>
                <a:latin typeface="+mn-lt"/>
              </a:rPr>
              <a:t>H</a:t>
            </a:r>
            <a:r>
              <a:rPr lang="en-GB" altLang="en-US" baseline="-25000" dirty="0">
                <a:effectLst/>
                <a:latin typeface="+mn-lt"/>
              </a:rPr>
              <a:t>0</a:t>
            </a:r>
            <a:r>
              <a:rPr lang="en-GB" altLang="en-US" dirty="0">
                <a:effectLst/>
                <a:latin typeface="+mn-lt"/>
              </a:rPr>
              <a:t>: the correlation matrix is an identity matrix</a:t>
            </a:r>
          </a:p>
          <a:p>
            <a:pPr marL="0" indent="0">
              <a:spcBef>
                <a:spcPct val="20000"/>
              </a:spcBef>
              <a:buClr>
                <a:schemeClr val="accent2"/>
              </a:buClr>
            </a:pPr>
            <a:r>
              <a:rPr lang="en-GB" altLang="en-US" sz="1800" dirty="0">
                <a:effectLst/>
                <a:latin typeface="+mn-lt"/>
              </a:rPr>
              <a:t>We want the correlation matrix significantly different</a:t>
            </a:r>
            <a:endParaRPr lang="en-GB" altLang="en-US" dirty="0">
              <a:effectLst/>
              <a:latin typeface="+mn-lt"/>
            </a:endParaRPr>
          </a:p>
        </p:txBody>
      </p:sp>
      <p:sp>
        <p:nvSpPr>
          <p:cNvPr id="4" name="Rectangle 3"/>
          <p:cNvSpPr/>
          <p:nvPr/>
        </p:nvSpPr>
        <p:spPr>
          <a:xfrm>
            <a:off x="304800" y="2590800"/>
            <a:ext cx="3124200" cy="1255728"/>
          </a:xfrm>
          <a:prstGeom prst="rect">
            <a:avLst/>
          </a:prstGeom>
          <a:solidFill>
            <a:schemeClr val="bg2"/>
          </a:solidFill>
        </p:spPr>
        <p:txBody>
          <a:bodyPr wrap="square">
            <a:spAutoFit/>
          </a:bodyPr>
          <a:lstStyle/>
          <a:p>
            <a:pPr>
              <a:spcBef>
                <a:spcPct val="20000"/>
              </a:spcBef>
              <a:buClr>
                <a:schemeClr val="accent2"/>
              </a:buClr>
            </a:pPr>
            <a:r>
              <a:rPr lang="en-GB" altLang="en-US" b="1" dirty="0"/>
              <a:t>NOT VERY USEFUL</a:t>
            </a:r>
          </a:p>
          <a:p>
            <a:pPr>
              <a:spcBef>
                <a:spcPct val="20000"/>
              </a:spcBef>
              <a:buClr>
                <a:schemeClr val="accent2"/>
              </a:buClr>
            </a:pPr>
            <a:r>
              <a:rPr lang="en-GB" altLang="en-US" dirty="0"/>
              <a:t>Field indicates an experienced colleague has never seen it non-significant!</a:t>
            </a:r>
            <a:endParaRPr lang="en-US" altLang="en-US" dirty="0"/>
          </a:p>
        </p:txBody>
      </p:sp>
      <p:grpSp>
        <p:nvGrpSpPr>
          <p:cNvPr id="12" name="Group 11"/>
          <p:cNvGrpSpPr/>
          <p:nvPr/>
        </p:nvGrpSpPr>
        <p:grpSpPr>
          <a:xfrm>
            <a:off x="3886200" y="1970049"/>
            <a:ext cx="4953000" cy="4049753"/>
            <a:chOff x="3886200" y="1970049"/>
            <a:chExt cx="4953000" cy="4049753"/>
          </a:xfrm>
        </p:grpSpPr>
        <mc:AlternateContent xmlns:mc="http://schemas.openxmlformats.org/markup-compatibility/2006" xmlns:a14="http://schemas.microsoft.com/office/drawing/2010/main">
          <mc:Choice Requires="a14">
            <p:sp>
              <p:nvSpPr>
                <p:cNvPr id="13" name="Rectangle 12"/>
                <p:cNvSpPr/>
                <p:nvPr/>
              </p:nvSpPr>
              <p:spPr>
                <a:xfrm rot="5400000">
                  <a:off x="2125275" y="3981877"/>
                  <a:ext cx="3798850"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3" name="Rectangle 12"/>
                <p:cNvSpPr>
                  <a:spLocks noRot="1" noChangeAspect="1" noMove="1" noResize="1" noEditPoints="1" noAdjustHandles="1" noChangeArrowheads="1" noChangeShapeType="1" noTextEdit="1"/>
                </p:cNvSpPr>
                <p:nvPr/>
              </p:nvSpPr>
              <p:spPr>
                <a:xfrm rot="5400000">
                  <a:off x="2125275" y="3981877"/>
                  <a:ext cx="3798850" cy="276999"/>
                </a:xfrm>
                <a:prstGeom prst="rect">
                  <a:avLst/>
                </a:prstGeom>
                <a:blipFill rotWithShape="1">
                  <a:blip r:embed="rId3"/>
                  <a:stretch>
                    <a:fillRect l="-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4148253" y="1970049"/>
                  <a:ext cx="4690947"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4" name="Rectangle 13"/>
                <p:cNvSpPr>
                  <a:spLocks noRot="1" noChangeAspect="1" noMove="1" noResize="1" noEditPoints="1" noAdjustHandles="1" noChangeArrowheads="1" noChangeShapeType="1" noTextEdit="1"/>
                </p:cNvSpPr>
                <p:nvPr/>
              </p:nvSpPr>
              <p:spPr>
                <a:xfrm>
                  <a:off x="4148253" y="1970049"/>
                  <a:ext cx="4690947" cy="276999"/>
                </a:xfrm>
                <a:prstGeom prst="rect">
                  <a:avLst/>
                </a:prstGeom>
                <a:blipFill rotWithShape="1">
                  <a:blip r:embed="rId4"/>
                  <a:stretch>
                    <a:fillRect b="-15217"/>
                  </a:stretch>
                </a:blipFill>
              </p:spPr>
              <p:txBody>
                <a:bodyPr/>
                <a:lstStyle/>
                <a:p>
                  <a:r>
                    <a:rPr lang="en-GB">
                      <a:noFill/>
                    </a:rPr>
                    <a:t> </a:t>
                  </a:r>
                </a:p>
              </p:txBody>
            </p:sp>
          </mc:Fallback>
        </mc:AlternateContent>
      </p:grpSp>
      <p:graphicFrame>
        <p:nvGraphicFramePr>
          <p:cNvPr id="15" name="Table 14"/>
          <p:cNvGraphicFramePr>
            <a:graphicFrameLocks noGrp="1"/>
          </p:cNvGraphicFramePr>
          <p:nvPr>
            <p:extLst>
              <p:ext uri="{D42A27DB-BD31-4B8C-83A1-F6EECF244321}">
                <p14:modId xmlns:p14="http://schemas.microsoft.com/office/powerpoint/2010/main" val="2410557619"/>
              </p:ext>
            </p:extLst>
          </p:nvPr>
        </p:nvGraphicFramePr>
        <p:xfrm>
          <a:off x="4163195" y="2247048"/>
          <a:ext cx="4529265" cy="3620355"/>
        </p:xfrm>
        <a:graphic>
          <a:graphicData uri="http://schemas.openxmlformats.org/drawingml/2006/table">
            <a:tbl>
              <a:tblPr>
                <a:tableStyleId>{5940675A-B579-460E-94D1-54222C63F5DA}</a:tableStyleId>
              </a:tblPr>
              <a:tblGrid>
                <a:gridCol w="301951">
                  <a:extLst>
                    <a:ext uri="{9D8B030D-6E8A-4147-A177-3AD203B41FA5}">
                      <a16:colId xmlns:a16="http://schemas.microsoft.com/office/drawing/2014/main" val="20000"/>
                    </a:ext>
                  </a:extLst>
                </a:gridCol>
                <a:gridCol w="301951">
                  <a:extLst>
                    <a:ext uri="{9D8B030D-6E8A-4147-A177-3AD203B41FA5}">
                      <a16:colId xmlns:a16="http://schemas.microsoft.com/office/drawing/2014/main" val="20001"/>
                    </a:ext>
                  </a:extLst>
                </a:gridCol>
                <a:gridCol w="301951">
                  <a:extLst>
                    <a:ext uri="{9D8B030D-6E8A-4147-A177-3AD203B41FA5}">
                      <a16:colId xmlns:a16="http://schemas.microsoft.com/office/drawing/2014/main" val="20002"/>
                    </a:ext>
                  </a:extLst>
                </a:gridCol>
                <a:gridCol w="301951">
                  <a:extLst>
                    <a:ext uri="{9D8B030D-6E8A-4147-A177-3AD203B41FA5}">
                      <a16:colId xmlns:a16="http://schemas.microsoft.com/office/drawing/2014/main" val="20003"/>
                    </a:ext>
                  </a:extLst>
                </a:gridCol>
                <a:gridCol w="301951">
                  <a:extLst>
                    <a:ext uri="{9D8B030D-6E8A-4147-A177-3AD203B41FA5}">
                      <a16:colId xmlns:a16="http://schemas.microsoft.com/office/drawing/2014/main" val="20004"/>
                    </a:ext>
                  </a:extLst>
                </a:gridCol>
                <a:gridCol w="301951">
                  <a:extLst>
                    <a:ext uri="{9D8B030D-6E8A-4147-A177-3AD203B41FA5}">
                      <a16:colId xmlns:a16="http://schemas.microsoft.com/office/drawing/2014/main" val="20005"/>
                    </a:ext>
                  </a:extLst>
                </a:gridCol>
                <a:gridCol w="301951">
                  <a:extLst>
                    <a:ext uri="{9D8B030D-6E8A-4147-A177-3AD203B41FA5}">
                      <a16:colId xmlns:a16="http://schemas.microsoft.com/office/drawing/2014/main" val="20006"/>
                    </a:ext>
                  </a:extLst>
                </a:gridCol>
                <a:gridCol w="301951">
                  <a:extLst>
                    <a:ext uri="{9D8B030D-6E8A-4147-A177-3AD203B41FA5}">
                      <a16:colId xmlns:a16="http://schemas.microsoft.com/office/drawing/2014/main" val="20007"/>
                    </a:ext>
                  </a:extLst>
                </a:gridCol>
                <a:gridCol w="301951">
                  <a:extLst>
                    <a:ext uri="{9D8B030D-6E8A-4147-A177-3AD203B41FA5}">
                      <a16:colId xmlns:a16="http://schemas.microsoft.com/office/drawing/2014/main" val="20008"/>
                    </a:ext>
                  </a:extLst>
                </a:gridCol>
                <a:gridCol w="301951">
                  <a:extLst>
                    <a:ext uri="{9D8B030D-6E8A-4147-A177-3AD203B41FA5}">
                      <a16:colId xmlns:a16="http://schemas.microsoft.com/office/drawing/2014/main" val="20009"/>
                    </a:ext>
                  </a:extLst>
                </a:gridCol>
                <a:gridCol w="301951">
                  <a:extLst>
                    <a:ext uri="{9D8B030D-6E8A-4147-A177-3AD203B41FA5}">
                      <a16:colId xmlns:a16="http://schemas.microsoft.com/office/drawing/2014/main" val="20010"/>
                    </a:ext>
                  </a:extLst>
                </a:gridCol>
                <a:gridCol w="301951">
                  <a:extLst>
                    <a:ext uri="{9D8B030D-6E8A-4147-A177-3AD203B41FA5}">
                      <a16:colId xmlns:a16="http://schemas.microsoft.com/office/drawing/2014/main" val="20011"/>
                    </a:ext>
                  </a:extLst>
                </a:gridCol>
                <a:gridCol w="301951">
                  <a:extLst>
                    <a:ext uri="{9D8B030D-6E8A-4147-A177-3AD203B41FA5}">
                      <a16:colId xmlns:a16="http://schemas.microsoft.com/office/drawing/2014/main" val="20012"/>
                    </a:ext>
                  </a:extLst>
                </a:gridCol>
                <a:gridCol w="301951">
                  <a:extLst>
                    <a:ext uri="{9D8B030D-6E8A-4147-A177-3AD203B41FA5}">
                      <a16:colId xmlns:a16="http://schemas.microsoft.com/office/drawing/2014/main" val="20013"/>
                    </a:ext>
                  </a:extLst>
                </a:gridCol>
                <a:gridCol w="301951">
                  <a:extLst>
                    <a:ext uri="{9D8B030D-6E8A-4147-A177-3AD203B41FA5}">
                      <a16:colId xmlns:a16="http://schemas.microsoft.com/office/drawing/2014/main" val="20014"/>
                    </a:ext>
                  </a:extLst>
                </a:gridCol>
              </a:tblGrid>
              <a:tr h="241357">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2"/>
                    </a:solidFill>
                  </a:tcPr>
                </a:tc>
                <a:tc>
                  <a:txBody>
                    <a:bodyPr/>
                    <a:lstStyle/>
                    <a:p>
                      <a:endParaRPr lang="en-GB" sz="700"/>
                    </a:p>
                  </a:txBody>
                  <a:tcPr>
                    <a:solidFill>
                      <a:schemeClr val="bg2"/>
                    </a:solidFill>
                  </a:tcPr>
                </a:tc>
                <a:tc>
                  <a:txBody>
                    <a:bodyPr/>
                    <a:lstStyle/>
                    <a:p>
                      <a:endParaRPr lang="en-GB" sz="700"/>
                    </a:p>
                  </a:txBody>
                  <a:tcPr>
                    <a:solidFill>
                      <a:schemeClr val="bg2"/>
                    </a:solidFill>
                  </a:tcPr>
                </a:tc>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0"/>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1"/>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2"/>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3"/>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7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4"/>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75000"/>
                      </a:schemeClr>
                    </a:solidFill>
                  </a:tcPr>
                </a:tc>
                <a:tc>
                  <a:txBody>
                    <a:bodyPr/>
                    <a:lstStyle/>
                    <a:p>
                      <a:endParaRPr lang="en-GB" sz="700" dirty="0"/>
                    </a:p>
                  </a:txBody>
                  <a:tcPr>
                    <a:solidFill>
                      <a:schemeClr val="tx1"/>
                    </a:solidFill>
                  </a:tcPr>
                </a:tc>
                <a:tc>
                  <a:txBody>
                    <a:bodyPr/>
                    <a:lstStyle/>
                    <a:p>
                      <a:endParaRPr lang="en-GB" sz="70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5"/>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50000"/>
                      </a:schemeClr>
                    </a:solidFill>
                  </a:tcPr>
                </a:tc>
                <a:tc>
                  <a:txBody>
                    <a:bodyPr/>
                    <a:lstStyle/>
                    <a:p>
                      <a:endParaRPr lang="en-GB" sz="700" dirty="0"/>
                    </a:p>
                  </a:txBody>
                  <a:tcPr>
                    <a:solidFill>
                      <a:schemeClr val="bg1">
                        <a:lumMod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85000"/>
                      </a:schemeClr>
                    </a:solidFill>
                  </a:tcPr>
                </a:tc>
                <a:extLst>
                  <a:ext uri="{0D108BD9-81ED-4DB2-BD59-A6C34878D82A}">
                    <a16:rowId xmlns:a16="http://schemas.microsoft.com/office/drawing/2014/main" val="10006"/>
                  </a:ext>
                </a:extLst>
              </a:tr>
              <a:tr h="241357">
                <a:tc>
                  <a:txBody>
                    <a:bodyPr/>
                    <a:lstStyle/>
                    <a:p>
                      <a:endParaRPr lang="en-GB" sz="700"/>
                    </a:p>
                  </a:txBody>
                  <a:tcPr>
                    <a:solidFill>
                      <a:schemeClr val="bg2"/>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2"/>
                    </a:solidFill>
                  </a:tcPr>
                </a:tc>
                <a:tc>
                  <a:txBody>
                    <a:bodyPr/>
                    <a:lstStyle/>
                    <a:p>
                      <a:endParaRPr lang="en-GB" sz="700" dirty="0"/>
                    </a:p>
                  </a:txBody>
                  <a:tcPr>
                    <a:solidFill>
                      <a:schemeClr val="bg1">
                        <a:lumMod val="7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extLst>
                  <a:ext uri="{0D108BD9-81ED-4DB2-BD59-A6C34878D82A}">
                    <a16:rowId xmlns:a16="http://schemas.microsoft.com/office/drawing/2014/main" val="10007"/>
                  </a:ext>
                </a:extLst>
              </a:tr>
              <a:tr h="241357">
                <a:tc>
                  <a:txBody>
                    <a:bodyPr/>
                    <a:lstStyle/>
                    <a:p>
                      <a:endParaRPr lang="en-GB" sz="700"/>
                    </a:p>
                  </a:txBody>
                  <a:tcPr>
                    <a:solidFill>
                      <a:schemeClr val="bg2"/>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2"/>
                    </a:solidFill>
                  </a:tcPr>
                </a:tc>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8"/>
                  </a:ext>
                </a:extLst>
              </a:tr>
              <a:tr h="241357">
                <a:tc>
                  <a:txBody>
                    <a:bodyPr/>
                    <a:lstStyle/>
                    <a:p>
                      <a:endParaRPr lang="en-GB" sz="700"/>
                    </a:p>
                  </a:txBody>
                  <a:tcPr>
                    <a:solidFill>
                      <a:schemeClr val="bg2"/>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2"/>
                    </a:solidFill>
                  </a:tcPr>
                </a:tc>
                <a:tc>
                  <a:txBody>
                    <a:bodyPr/>
                    <a:lstStyle/>
                    <a:p>
                      <a:endParaRPr lang="en-GB" sz="700" dirty="0"/>
                    </a:p>
                  </a:txBody>
                  <a:tcPr>
                    <a:solidFill>
                      <a:schemeClr val="bg2"/>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9"/>
                  </a:ext>
                </a:extLst>
              </a:tr>
              <a:tr h="241357">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75000"/>
                      </a:schemeClr>
                    </a:solidFill>
                  </a:tcPr>
                </a:tc>
                <a:tc>
                  <a:txBody>
                    <a:bodyPr/>
                    <a:lstStyle/>
                    <a:p>
                      <a:endParaRPr lang="en-GB" sz="700" dirty="0"/>
                    </a:p>
                  </a:txBody>
                  <a:tcPr>
                    <a:solidFill>
                      <a:schemeClr val="bg2"/>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10"/>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1"/>
                  </a:ext>
                </a:extLst>
              </a:tr>
              <a:tr h="241357">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2"/>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3"/>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extLst>
                  <a:ext uri="{0D108BD9-81ED-4DB2-BD59-A6C34878D82A}">
                    <a16:rowId xmlns:a16="http://schemas.microsoft.com/office/drawing/2014/main" val="10014"/>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319680497"/>
              </p:ext>
            </p:extLst>
          </p:nvPr>
        </p:nvGraphicFramePr>
        <p:xfrm>
          <a:off x="4157535" y="2247045"/>
          <a:ext cx="4529265" cy="3620355"/>
        </p:xfrm>
        <a:graphic>
          <a:graphicData uri="http://schemas.openxmlformats.org/drawingml/2006/table">
            <a:tbl>
              <a:tblPr>
                <a:tableStyleId>{5940675A-B579-460E-94D1-54222C63F5DA}</a:tableStyleId>
              </a:tblPr>
              <a:tblGrid>
                <a:gridCol w="301951">
                  <a:extLst>
                    <a:ext uri="{9D8B030D-6E8A-4147-A177-3AD203B41FA5}">
                      <a16:colId xmlns:a16="http://schemas.microsoft.com/office/drawing/2014/main" val="20000"/>
                    </a:ext>
                  </a:extLst>
                </a:gridCol>
                <a:gridCol w="301951">
                  <a:extLst>
                    <a:ext uri="{9D8B030D-6E8A-4147-A177-3AD203B41FA5}">
                      <a16:colId xmlns:a16="http://schemas.microsoft.com/office/drawing/2014/main" val="20001"/>
                    </a:ext>
                  </a:extLst>
                </a:gridCol>
                <a:gridCol w="301951">
                  <a:extLst>
                    <a:ext uri="{9D8B030D-6E8A-4147-A177-3AD203B41FA5}">
                      <a16:colId xmlns:a16="http://schemas.microsoft.com/office/drawing/2014/main" val="20002"/>
                    </a:ext>
                  </a:extLst>
                </a:gridCol>
                <a:gridCol w="301951">
                  <a:extLst>
                    <a:ext uri="{9D8B030D-6E8A-4147-A177-3AD203B41FA5}">
                      <a16:colId xmlns:a16="http://schemas.microsoft.com/office/drawing/2014/main" val="20003"/>
                    </a:ext>
                  </a:extLst>
                </a:gridCol>
                <a:gridCol w="301951">
                  <a:extLst>
                    <a:ext uri="{9D8B030D-6E8A-4147-A177-3AD203B41FA5}">
                      <a16:colId xmlns:a16="http://schemas.microsoft.com/office/drawing/2014/main" val="20004"/>
                    </a:ext>
                  </a:extLst>
                </a:gridCol>
                <a:gridCol w="301951">
                  <a:extLst>
                    <a:ext uri="{9D8B030D-6E8A-4147-A177-3AD203B41FA5}">
                      <a16:colId xmlns:a16="http://schemas.microsoft.com/office/drawing/2014/main" val="20005"/>
                    </a:ext>
                  </a:extLst>
                </a:gridCol>
                <a:gridCol w="301951">
                  <a:extLst>
                    <a:ext uri="{9D8B030D-6E8A-4147-A177-3AD203B41FA5}">
                      <a16:colId xmlns:a16="http://schemas.microsoft.com/office/drawing/2014/main" val="20006"/>
                    </a:ext>
                  </a:extLst>
                </a:gridCol>
                <a:gridCol w="301951">
                  <a:extLst>
                    <a:ext uri="{9D8B030D-6E8A-4147-A177-3AD203B41FA5}">
                      <a16:colId xmlns:a16="http://schemas.microsoft.com/office/drawing/2014/main" val="20007"/>
                    </a:ext>
                  </a:extLst>
                </a:gridCol>
                <a:gridCol w="301951">
                  <a:extLst>
                    <a:ext uri="{9D8B030D-6E8A-4147-A177-3AD203B41FA5}">
                      <a16:colId xmlns:a16="http://schemas.microsoft.com/office/drawing/2014/main" val="20008"/>
                    </a:ext>
                  </a:extLst>
                </a:gridCol>
                <a:gridCol w="301951">
                  <a:extLst>
                    <a:ext uri="{9D8B030D-6E8A-4147-A177-3AD203B41FA5}">
                      <a16:colId xmlns:a16="http://schemas.microsoft.com/office/drawing/2014/main" val="20009"/>
                    </a:ext>
                  </a:extLst>
                </a:gridCol>
                <a:gridCol w="301951">
                  <a:extLst>
                    <a:ext uri="{9D8B030D-6E8A-4147-A177-3AD203B41FA5}">
                      <a16:colId xmlns:a16="http://schemas.microsoft.com/office/drawing/2014/main" val="20010"/>
                    </a:ext>
                  </a:extLst>
                </a:gridCol>
                <a:gridCol w="301951">
                  <a:extLst>
                    <a:ext uri="{9D8B030D-6E8A-4147-A177-3AD203B41FA5}">
                      <a16:colId xmlns:a16="http://schemas.microsoft.com/office/drawing/2014/main" val="20011"/>
                    </a:ext>
                  </a:extLst>
                </a:gridCol>
                <a:gridCol w="301951">
                  <a:extLst>
                    <a:ext uri="{9D8B030D-6E8A-4147-A177-3AD203B41FA5}">
                      <a16:colId xmlns:a16="http://schemas.microsoft.com/office/drawing/2014/main" val="20012"/>
                    </a:ext>
                  </a:extLst>
                </a:gridCol>
                <a:gridCol w="301951">
                  <a:extLst>
                    <a:ext uri="{9D8B030D-6E8A-4147-A177-3AD203B41FA5}">
                      <a16:colId xmlns:a16="http://schemas.microsoft.com/office/drawing/2014/main" val="20013"/>
                    </a:ext>
                  </a:extLst>
                </a:gridCol>
                <a:gridCol w="301951">
                  <a:extLst>
                    <a:ext uri="{9D8B030D-6E8A-4147-A177-3AD203B41FA5}">
                      <a16:colId xmlns:a16="http://schemas.microsoft.com/office/drawing/2014/main" val="20014"/>
                    </a:ext>
                  </a:extLst>
                </a:gridCol>
              </a:tblGrid>
              <a:tr h="241357">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0"/>
                  </a:ext>
                </a:extLst>
              </a:tr>
              <a:tr h="241357">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1"/>
                  </a:ext>
                </a:extLst>
              </a:tr>
              <a:tr h="241357">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2"/>
                  </a:ext>
                </a:extLst>
              </a:tr>
              <a:tr h="241357">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3"/>
                  </a:ext>
                </a:extLst>
              </a:tr>
              <a:tr h="241357">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4"/>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5"/>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6"/>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7"/>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8"/>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9"/>
                  </a:ext>
                </a:extLst>
              </a:tr>
              <a:tr h="241357">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0"/>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1"/>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12"/>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extLst>
                  <a:ext uri="{0D108BD9-81ED-4DB2-BD59-A6C34878D82A}">
                    <a16:rowId xmlns:a16="http://schemas.microsoft.com/office/drawing/2014/main" val="10013"/>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extLst>
                  <a:ext uri="{0D108BD9-81ED-4DB2-BD59-A6C34878D82A}">
                    <a16:rowId xmlns:a16="http://schemas.microsoft.com/office/drawing/2014/main" val="10014"/>
                  </a:ext>
                </a:extLst>
              </a:tr>
            </a:tbl>
          </a:graphicData>
        </a:graphic>
      </p:graphicFrame>
      <p:grpSp>
        <p:nvGrpSpPr>
          <p:cNvPr id="22" name="Group 21"/>
          <p:cNvGrpSpPr/>
          <p:nvPr/>
        </p:nvGrpSpPr>
        <p:grpSpPr>
          <a:xfrm>
            <a:off x="6934200" y="228600"/>
            <a:ext cx="2042482" cy="611834"/>
            <a:chOff x="2481186" y="4038600"/>
            <a:chExt cx="4010759" cy="966212"/>
          </a:xfrm>
        </p:grpSpPr>
        <p:sp>
          <p:nvSpPr>
            <p:cNvPr id="23" name="Rectangle 22"/>
            <p:cNvSpPr/>
            <p:nvPr/>
          </p:nvSpPr>
          <p:spPr>
            <a:xfrm>
              <a:off x="2667295" y="4038600"/>
              <a:ext cx="3581400" cy="228600"/>
            </a:xfrm>
            <a:prstGeom prst="rect">
              <a:avLst/>
            </a:prstGeom>
            <a:gradFill>
              <a:gsLst>
                <a:gs pos="0">
                  <a:schemeClr val="tx1"/>
                </a:gs>
                <a:gs pos="50000">
                  <a:schemeClr val="bg1"/>
                </a:gs>
                <a:gs pos="100000">
                  <a:schemeClr val="tx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p>
          </p:txBody>
        </p:sp>
        <p:sp>
          <p:nvSpPr>
            <p:cNvPr id="24" name="Rectangle 23"/>
            <p:cNvSpPr/>
            <p:nvPr/>
          </p:nvSpPr>
          <p:spPr>
            <a:xfrm>
              <a:off x="2481186" y="4267199"/>
              <a:ext cx="397850" cy="731696"/>
            </a:xfrm>
            <a:prstGeom prst="rect">
              <a:avLst/>
            </a:prstGeom>
          </p:spPr>
          <p:txBody>
            <a:bodyPr wrap="none">
              <a:spAutoFit/>
            </a:bodyPr>
            <a:lstStyle/>
            <a:p>
              <a:r>
                <a:rPr lang="en-GB" altLang="en-US" sz="1200" b="1" dirty="0"/>
                <a:t>-1</a:t>
              </a:r>
              <a:endParaRPr lang="en-GB" sz="1200" b="1" dirty="0"/>
            </a:p>
          </p:txBody>
        </p:sp>
        <p:sp>
          <p:nvSpPr>
            <p:cNvPr id="25" name="Rectangle 24"/>
            <p:cNvSpPr/>
            <p:nvPr/>
          </p:nvSpPr>
          <p:spPr>
            <a:xfrm>
              <a:off x="6054968" y="4267199"/>
              <a:ext cx="436977" cy="731696"/>
            </a:xfrm>
            <a:prstGeom prst="rect">
              <a:avLst/>
            </a:prstGeom>
          </p:spPr>
          <p:txBody>
            <a:bodyPr wrap="none">
              <a:spAutoFit/>
            </a:bodyPr>
            <a:lstStyle/>
            <a:p>
              <a:r>
                <a:rPr lang="en-GB" altLang="en-US" sz="1200" b="1" dirty="0"/>
                <a:t>+1</a:t>
              </a:r>
              <a:endParaRPr lang="en-GB" sz="1200" b="1" dirty="0"/>
            </a:p>
          </p:txBody>
        </p:sp>
        <p:sp>
          <p:nvSpPr>
            <p:cNvPr id="26" name="Rectangle 25"/>
            <p:cNvSpPr/>
            <p:nvPr/>
          </p:nvSpPr>
          <p:spPr>
            <a:xfrm>
              <a:off x="4328931" y="4273116"/>
              <a:ext cx="338132" cy="731696"/>
            </a:xfrm>
            <a:prstGeom prst="rect">
              <a:avLst/>
            </a:prstGeom>
          </p:spPr>
          <p:txBody>
            <a:bodyPr wrap="none">
              <a:spAutoFit/>
            </a:bodyPr>
            <a:lstStyle/>
            <a:p>
              <a:r>
                <a:rPr lang="en-GB" altLang="en-US" sz="1200" b="1" dirty="0"/>
                <a:t>0</a:t>
              </a:r>
              <a:endParaRPr lang="en-GB" sz="1200" b="1" dirty="0"/>
            </a:p>
          </p:txBody>
        </p:sp>
      </p:grpSp>
    </p:spTree>
    <p:extLst>
      <p:ext uri="{BB962C8B-B14F-4D97-AF65-F5344CB8AC3E}">
        <p14:creationId xmlns:p14="http://schemas.microsoft.com/office/powerpoint/2010/main" val="312255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6"/>
                                        </p:tgtEl>
                                      </p:cBhvr>
                                    </p:animEffect>
                                    <p:set>
                                      <p:cBhvr>
                                        <p:cTn id="1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494A0-82B8-44E1-BB87-B7FAF68A8A8E}"/>
              </a:ext>
            </a:extLst>
          </p:cNvPr>
          <p:cNvSpPr>
            <a:spLocks noGrp="1"/>
          </p:cNvSpPr>
          <p:nvPr>
            <p:ph type="title"/>
          </p:nvPr>
        </p:nvSpPr>
        <p:spPr/>
        <p:txBody>
          <a:bodyPr/>
          <a:lstStyle/>
          <a:p>
            <a:r>
              <a:rPr lang="en-GB" dirty="0"/>
              <a:t>Note: This is an identity matrix</a:t>
            </a:r>
          </a:p>
        </p:txBody>
      </p:sp>
      <p:pic>
        <p:nvPicPr>
          <p:cNvPr id="1026" name="Picture 2" descr="What is an identity matrix? | StudyPug">
            <a:extLst>
              <a:ext uri="{FF2B5EF4-FFF2-40B4-BE49-F238E27FC236}">
                <a16:creationId xmlns:a16="http://schemas.microsoft.com/office/drawing/2014/main" id="{069AB0FA-B715-4A63-9903-8E2BDD062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216944"/>
            <a:ext cx="5008299" cy="304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487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http://www.statsdirect.com/help/content/image/pcorr_wm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340" y="5247960"/>
            <a:ext cx="1609725" cy="4953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altLang="en-US" dirty="0"/>
              <a:t>Examining Correlations</a:t>
            </a:r>
            <a:endParaRPr lang="en-GB" dirty="0"/>
          </a:p>
        </p:txBody>
      </p:sp>
      <p:sp>
        <p:nvSpPr>
          <p:cNvPr id="121860" name="Rectangle 4"/>
          <p:cNvSpPr>
            <a:spLocks noChangeArrowheads="1"/>
          </p:cNvSpPr>
          <p:nvPr/>
        </p:nvSpPr>
        <p:spPr bwMode="auto">
          <a:xfrm>
            <a:off x="304800" y="685800"/>
            <a:ext cx="7848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chemeClr val="accent2"/>
              </a:buClr>
            </a:pPr>
            <a:r>
              <a:rPr lang="en-GB" altLang="en-US" b="1" dirty="0">
                <a:latin typeface="+mn-lt"/>
              </a:rPr>
              <a:t>Kaiser-Meyer-</a:t>
            </a:r>
            <a:r>
              <a:rPr lang="en-GB" altLang="en-US" b="1" dirty="0" err="1">
                <a:latin typeface="+mn-lt"/>
              </a:rPr>
              <a:t>Olkin</a:t>
            </a:r>
            <a:r>
              <a:rPr lang="en-GB" altLang="en-US" b="1" dirty="0">
                <a:latin typeface="+mn-lt"/>
              </a:rPr>
              <a:t> (KMO) measure </a:t>
            </a:r>
            <a:r>
              <a:rPr lang="en-GB" altLang="en-US" dirty="0">
                <a:latin typeface="+mn-lt"/>
              </a:rPr>
              <a:t>of sampling adequacy</a:t>
            </a:r>
          </a:p>
          <a:p>
            <a:pPr marL="0" indent="0">
              <a:spcBef>
                <a:spcPct val="20000"/>
              </a:spcBef>
              <a:buClr>
                <a:schemeClr val="accent2"/>
              </a:buClr>
            </a:pPr>
            <a:r>
              <a:rPr lang="en-GB" altLang="en-US" dirty="0">
                <a:latin typeface="+mn-lt"/>
              </a:rPr>
              <a:t>tests the relationships between variables</a:t>
            </a:r>
          </a:p>
        </p:txBody>
      </p:sp>
      <p:grpSp>
        <p:nvGrpSpPr>
          <p:cNvPr id="12" name="Group 11"/>
          <p:cNvGrpSpPr/>
          <p:nvPr/>
        </p:nvGrpSpPr>
        <p:grpSpPr>
          <a:xfrm>
            <a:off x="3886200" y="1970049"/>
            <a:ext cx="4953000" cy="4049753"/>
            <a:chOff x="3886200" y="1970049"/>
            <a:chExt cx="4953000" cy="4049753"/>
          </a:xfrm>
        </p:grpSpPr>
        <mc:AlternateContent xmlns:mc="http://schemas.openxmlformats.org/markup-compatibility/2006" xmlns:a14="http://schemas.microsoft.com/office/drawing/2010/main">
          <mc:Choice Requires="a14">
            <p:sp>
              <p:nvSpPr>
                <p:cNvPr id="13" name="Rectangle 12"/>
                <p:cNvSpPr/>
                <p:nvPr/>
              </p:nvSpPr>
              <p:spPr>
                <a:xfrm rot="5400000">
                  <a:off x="2125275" y="3981877"/>
                  <a:ext cx="3798850"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3" name="Rectangle 12"/>
                <p:cNvSpPr>
                  <a:spLocks noRot="1" noChangeAspect="1" noMove="1" noResize="1" noEditPoints="1" noAdjustHandles="1" noChangeArrowheads="1" noChangeShapeType="1" noTextEdit="1"/>
                </p:cNvSpPr>
                <p:nvPr/>
              </p:nvSpPr>
              <p:spPr>
                <a:xfrm rot="5400000">
                  <a:off x="2125275" y="3981877"/>
                  <a:ext cx="3798850" cy="276999"/>
                </a:xfrm>
                <a:prstGeom prst="rect">
                  <a:avLst/>
                </a:prstGeom>
                <a:blipFill rotWithShape="1">
                  <a:blip r:embed="rId4"/>
                  <a:stretch>
                    <a:fillRect l="-1777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4148253" y="1970049"/>
                  <a:ext cx="4690947" cy="276999"/>
                </a:xfrm>
                <a:prstGeom prst="rect">
                  <a:avLst/>
                </a:prstGeom>
                <a:solidFill>
                  <a:srgbClr val="FFFF00"/>
                </a:solidFill>
              </p:spPr>
              <p:txBody>
                <a:bodyPr wrap="square">
                  <a:spAutoFit/>
                </a:bodyPr>
                <a:lstStyle/>
                <a:p>
                  <a14:m>
                    <m:oMath xmlns:m="http://schemas.openxmlformats.org/officeDocument/2006/math">
                      <m:sSub>
                        <m:sSubPr>
                          <m:ctrlPr>
                            <a:rPr lang="en-GB" sz="1200" i="1" dirty="0" smtClean="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i="1" dirty="0">
                              <a:latin typeface="Cambria Math" panose="02040503050406030204" pitchFamily="18" charset="0"/>
                              <a:ea typeface="Cambria Math" panose="02040503050406030204" pitchFamily="18" charset="0"/>
                            </a:rPr>
                            <m:t>1</m:t>
                          </m:r>
                        </m:sub>
                      </m:sSub>
                      <m:sSub>
                        <m:sSubPr>
                          <m:ctrlPr>
                            <a:rPr lang="en-GB" sz="1200" i="1" dirty="0">
                              <a:latin typeface="Cambria Math" panose="02040503050406030204" pitchFamily="18" charset="0"/>
                              <a:ea typeface="Cambria Math" panose="02040503050406030204" pitchFamily="18" charset="0"/>
                            </a:rPr>
                          </m:ctrlPr>
                        </m:sSubPr>
                        <m:e>
                          <m:r>
                            <a:rPr lang="en-GB" sz="1200" b="0" i="1" dirty="0" smtClean="0">
                              <a:latin typeface="Cambria Math"/>
                              <a:ea typeface="Cambria Math" panose="02040503050406030204" pitchFamily="18" charset="0"/>
                            </a:rPr>
                            <m:t>   </m:t>
                          </m:r>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2</m:t>
                          </m:r>
                        </m:sub>
                      </m:sSub>
                      <m:r>
                        <a:rPr lang="en-GB" sz="1200" b="0" i="1" dirty="0" smtClean="0">
                          <a:latin typeface="Cambria Math"/>
                          <a:ea typeface="Cambria Math" panose="02040503050406030204" pitchFamily="18" charset="0"/>
                        </a:rPr>
                        <m:t>    </m:t>
                      </m:r>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3     </m:t>
                          </m:r>
                        </m:sub>
                      </m:sSub>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4</m:t>
                          </m:r>
                        </m:sub>
                      </m:sSub>
                    </m:oMath>
                  </a14:m>
                  <a:r>
                    <a:rPr lang="en-GB" sz="1200" dirty="0"/>
                    <a:t> …			                 </a:t>
                  </a:r>
                  <a14:m>
                    <m:oMath xmlns:m="http://schemas.openxmlformats.org/officeDocument/2006/math">
                      <m:sSub>
                        <m:sSubPr>
                          <m:ctrlPr>
                            <a:rPr lang="en-GB" sz="1200" i="1" dirty="0">
                              <a:latin typeface="Cambria Math" panose="02040503050406030204" pitchFamily="18" charset="0"/>
                              <a:ea typeface="Cambria Math" panose="02040503050406030204" pitchFamily="18" charset="0"/>
                            </a:rPr>
                          </m:ctrlPr>
                        </m:sSubPr>
                        <m:e>
                          <m:r>
                            <a:rPr lang="en-GB" sz="1200" i="1" dirty="0">
                              <a:latin typeface="Cambria Math" panose="02040503050406030204" pitchFamily="18" charset="0"/>
                              <a:ea typeface="Cambria Math" panose="02040503050406030204" pitchFamily="18" charset="0"/>
                            </a:rPr>
                            <m:t>𝑋</m:t>
                          </m:r>
                        </m:e>
                        <m:sub>
                          <m:r>
                            <a:rPr lang="en-GB" sz="1200" b="0" i="1" dirty="0" smtClean="0">
                              <a:latin typeface="Cambria Math"/>
                              <a:ea typeface="Cambria Math" panose="02040503050406030204" pitchFamily="18" charset="0"/>
                            </a:rPr>
                            <m:t>𝑚</m:t>
                          </m:r>
                        </m:sub>
                      </m:sSub>
                    </m:oMath>
                  </a14:m>
                  <a:endParaRPr lang="en-GB" sz="1200" dirty="0"/>
                </a:p>
              </p:txBody>
            </p:sp>
          </mc:Choice>
          <mc:Fallback xmlns="">
            <p:sp>
              <p:nvSpPr>
                <p:cNvPr id="14" name="Rectangle 13"/>
                <p:cNvSpPr>
                  <a:spLocks noRot="1" noChangeAspect="1" noMove="1" noResize="1" noEditPoints="1" noAdjustHandles="1" noChangeArrowheads="1" noChangeShapeType="1" noTextEdit="1"/>
                </p:cNvSpPr>
                <p:nvPr/>
              </p:nvSpPr>
              <p:spPr>
                <a:xfrm>
                  <a:off x="4148253" y="1970049"/>
                  <a:ext cx="4690947" cy="276999"/>
                </a:xfrm>
                <a:prstGeom prst="rect">
                  <a:avLst/>
                </a:prstGeom>
                <a:blipFill rotWithShape="1">
                  <a:blip r:embed="rId5"/>
                  <a:stretch>
                    <a:fillRect b="-15217"/>
                  </a:stretch>
                </a:blipFill>
              </p:spPr>
              <p:txBody>
                <a:bodyPr/>
                <a:lstStyle/>
                <a:p>
                  <a:r>
                    <a:rPr lang="en-GB">
                      <a:noFill/>
                    </a:rPr>
                    <a:t> </a:t>
                  </a:r>
                </a:p>
              </p:txBody>
            </p:sp>
          </mc:Fallback>
        </mc:AlternateContent>
      </p:grpSp>
      <p:graphicFrame>
        <p:nvGraphicFramePr>
          <p:cNvPr id="15" name="Table 14"/>
          <p:cNvGraphicFramePr>
            <a:graphicFrameLocks noGrp="1"/>
          </p:cNvGraphicFramePr>
          <p:nvPr>
            <p:extLst>
              <p:ext uri="{D42A27DB-BD31-4B8C-83A1-F6EECF244321}">
                <p14:modId xmlns:p14="http://schemas.microsoft.com/office/powerpoint/2010/main" val="1280247123"/>
              </p:ext>
            </p:extLst>
          </p:nvPr>
        </p:nvGraphicFramePr>
        <p:xfrm>
          <a:off x="4163195" y="2247048"/>
          <a:ext cx="4529265" cy="3620355"/>
        </p:xfrm>
        <a:graphic>
          <a:graphicData uri="http://schemas.openxmlformats.org/drawingml/2006/table">
            <a:tbl>
              <a:tblPr>
                <a:tableStyleId>{5940675A-B579-460E-94D1-54222C63F5DA}</a:tableStyleId>
              </a:tblPr>
              <a:tblGrid>
                <a:gridCol w="301951">
                  <a:extLst>
                    <a:ext uri="{9D8B030D-6E8A-4147-A177-3AD203B41FA5}">
                      <a16:colId xmlns:a16="http://schemas.microsoft.com/office/drawing/2014/main" val="20000"/>
                    </a:ext>
                  </a:extLst>
                </a:gridCol>
                <a:gridCol w="301951">
                  <a:extLst>
                    <a:ext uri="{9D8B030D-6E8A-4147-A177-3AD203B41FA5}">
                      <a16:colId xmlns:a16="http://schemas.microsoft.com/office/drawing/2014/main" val="20001"/>
                    </a:ext>
                  </a:extLst>
                </a:gridCol>
                <a:gridCol w="301951">
                  <a:extLst>
                    <a:ext uri="{9D8B030D-6E8A-4147-A177-3AD203B41FA5}">
                      <a16:colId xmlns:a16="http://schemas.microsoft.com/office/drawing/2014/main" val="20002"/>
                    </a:ext>
                  </a:extLst>
                </a:gridCol>
                <a:gridCol w="301951">
                  <a:extLst>
                    <a:ext uri="{9D8B030D-6E8A-4147-A177-3AD203B41FA5}">
                      <a16:colId xmlns:a16="http://schemas.microsoft.com/office/drawing/2014/main" val="20003"/>
                    </a:ext>
                  </a:extLst>
                </a:gridCol>
                <a:gridCol w="301951">
                  <a:extLst>
                    <a:ext uri="{9D8B030D-6E8A-4147-A177-3AD203B41FA5}">
                      <a16:colId xmlns:a16="http://schemas.microsoft.com/office/drawing/2014/main" val="20004"/>
                    </a:ext>
                  </a:extLst>
                </a:gridCol>
                <a:gridCol w="301951">
                  <a:extLst>
                    <a:ext uri="{9D8B030D-6E8A-4147-A177-3AD203B41FA5}">
                      <a16:colId xmlns:a16="http://schemas.microsoft.com/office/drawing/2014/main" val="20005"/>
                    </a:ext>
                  </a:extLst>
                </a:gridCol>
                <a:gridCol w="301951">
                  <a:extLst>
                    <a:ext uri="{9D8B030D-6E8A-4147-A177-3AD203B41FA5}">
                      <a16:colId xmlns:a16="http://schemas.microsoft.com/office/drawing/2014/main" val="20006"/>
                    </a:ext>
                  </a:extLst>
                </a:gridCol>
                <a:gridCol w="301951">
                  <a:extLst>
                    <a:ext uri="{9D8B030D-6E8A-4147-A177-3AD203B41FA5}">
                      <a16:colId xmlns:a16="http://schemas.microsoft.com/office/drawing/2014/main" val="20007"/>
                    </a:ext>
                  </a:extLst>
                </a:gridCol>
                <a:gridCol w="301951">
                  <a:extLst>
                    <a:ext uri="{9D8B030D-6E8A-4147-A177-3AD203B41FA5}">
                      <a16:colId xmlns:a16="http://schemas.microsoft.com/office/drawing/2014/main" val="20008"/>
                    </a:ext>
                  </a:extLst>
                </a:gridCol>
                <a:gridCol w="301951">
                  <a:extLst>
                    <a:ext uri="{9D8B030D-6E8A-4147-A177-3AD203B41FA5}">
                      <a16:colId xmlns:a16="http://schemas.microsoft.com/office/drawing/2014/main" val="20009"/>
                    </a:ext>
                  </a:extLst>
                </a:gridCol>
                <a:gridCol w="301951">
                  <a:extLst>
                    <a:ext uri="{9D8B030D-6E8A-4147-A177-3AD203B41FA5}">
                      <a16:colId xmlns:a16="http://schemas.microsoft.com/office/drawing/2014/main" val="20010"/>
                    </a:ext>
                  </a:extLst>
                </a:gridCol>
                <a:gridCol w="301951">
                  <a:extLst>
                    <a:ext uri="{9D8B030D-6E8A-4147-A177-3AD203B41FA5}">
                      <a16:colId xmlns:a16="http://schemas.microsoft.com/office/drawing/2014/main" val="20011"/>
                    </a:ext>
                  </a:extLst>
                </a:gridCol>
                <a:gridCol w="301951">
                  <a:extLst>
                    <a:ext uri="{9D8B030D-6E8A-4147-A177-3AD203B41FA5}">
                      <a16:colId xmlns:a16="http://schemas.microsoft.com/office/drawing/2014/main" val="20012"/>
                    </a:ext>
                  </a:extLst>
                </a:gridCol>
                <a:gridCol w="301951">
                  <a:extLst>
                    <a:ext uri="{9D8B030D-6E8A-4147-A177-3AD203B41FA5}">
                      <a16:colId xmlns:a16="http://schemas.microsoft.com/office/drawing/2014/main" val="20013"/>
                    </a:ext>
                  </a:extLst>
                </a:gridCol>
                <a:gridCol w="301951">
                  <a:extLst>
                    <a:ext uri="{9D8B030D-6E8A-4147-A177-3AD203B41FA5}">
                      <a16:colId xmlns:a16="http://schemas.microsoft.com/office/drawing/2014/main" val="20014"/>
                    </a:ext>
                  </a:extLst>
                </a:gridCol>
              </a:tblGrid>
              <a:tr h="241357">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2"/>
                    </a:solidFill>
                  </a:tcPr>
                </a:tc>
                <a:tc>
                  <a:txBody>
                    <a:bodyPr/>
                    <a:lstStyle/>
                    <a:p>
                      <a:endParaRPr lang="en-GB" sz="700"/>
                    </a:p>
                  </a:txBody>
                  <a:tcPr>
                    <a:solidFill>
                      <a:schemeClr val="bg2"/>
                    </a:solidFill>
                  </a:tcPr>
                </a:tc>
                <a:tc>
                  <a:txBody>
                    <a:bodyPr/>
                    <a:lstStyle/>
                    <a:p>
                      <a:endParaRPr lang="en-GB" sz="700"/>
                    </a:p>
                  </a:txBody>
                  <a:tcPr>
                    <a:solidFill>
                      <a:schemeClr val="bg2"/>
                    </a:solidFill>
                  </a:tcPr>
                </a:tc>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0"/>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1"/>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extLst>
                  <a:ext uri="{0D108BD9-81ED-4DB2-BD59-A6C34878D82A}">
                    <a16:rowId xmlns:a16="http://schemas.microsoft.com/office/drawing/2014/main" val="10002"/>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50000"/>
                        <a:lumOff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3"/>
                  </a:ext>
                </a:extLst>
              </a:tr>
              <a:tr h="241357">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7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4"/>
                  </a:ext>
                </a:extLst>
              </a:tr>
              <a:tr h="241357">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75000"/>
                      </a:schemeClr>
                    </a:solidFill>
                  </a:tcPr>
                </a:tc>
                <a:tc>
                  <a:txBody>
                    <a:bodyPr/>
                    <a:lstStyle/>
                    <a:p>
                      <a:endParaRPr lang="en-GB" sz="700" dirty="0"/>
                    </a:p>
                  </a:txBody>
                  <a:tcPr>
                    <a:solidFill>
                      <a:schemeClr val="tx1"/>
                    </a:solidFill>
                  </a:tcPr>
                </a:tc>
                <a:tc>
                  <a:txBody>
                    <a:bodyPr/>
                    <a:lstStyle/>
                    <a:p>
                      <a:endParaRPr lang="en-GB" sz="70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5"/>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50000"/>
                      </a:schemeClr>
                    </a:solidFill>
                  </a:tcPr>
                </a:tc>
                <a:tc>
                  <a:txBody>
                    <a:bodyPr/>
                    <a:lstStyle/>
                    <a:p>
                      <a:endParaRPr lang="en-GB" sz="700" dirty="0"/>
                    </a:p>
                  </a:txBody>
                  <a:tcPr>
                    <a:solidFill>
                      <a:schemeClr val="bg1">
                        <a:lumMod val="50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bg1">
                        <a:lumMod val="85000"/>
                      </a:schemeClr>
                    </a:solidFill>
                  </a:tcPr>
                </a:tc>
                <a:extLst>
                  <a:ext uri="{0D108BD9-81ED-4DB2-BD59-A6C34878D82A}">
                    <a16:rowId xmlns:a16="http://schemas.microsoft.com/office/drawing/2014/main" val="10006"/>
                  </a:ext>
                </a:extLst>
              </a:tr>
              <a:tr h="241357">
                <a:tc>
                  <a:txBody>
                    <a:bodyPr/>
                    <a:lstStyle/>
                    <a:p>
                      <a:endParaRPr lang="en-GB" sz="700"/>
                    </a:p>
                  </a:txBody>
                  <a:tcPr>
                    <a:solidFill>
                      <a:schemeClr val="bg2"/>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2"/>
                    </a:solidFill>
                  </a:tcPr>
                </a:tc>
                <a:tc>
                  <a:txBody>
                    <a:bodyPr/>
                    <a:lstStyle/>
                    <a:p>
                      <a:endParaRPr lang="en-GB" sz="700" dirty="0"/>
                    </a:p>
                  </a:txBody>
                  <a:tcPr>
                    <a:solidFill>
                      <a:schemeClr val="bg1">
                        <a:lumMod val="7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extLst>
                  <a:ext uri="{0D108BD9-81ED-4DB2-BD59-A6C34878D82A}">
                    <a16:rowId xmlns:a16="http://schemas.microsoft.com/office/drawing/2014/main" val="10007"/>
                  </a:ext>
                </a:extLst>
              </a:tr>
              <a:tr h="241357">
                <a:tc>
                  <a:txBody>
                    <a:bodyPr/>
                    <a:lstStyle/>
                    <a:p>
                      <a:endParaRPr lang="en-GB" sz="700"/>
                    </a:p>
                  </a:txBody>
                  <a:tcPr>
                    <a:solidFill>
                      <a:schemeClr val="bg2"/>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50000"/>
                        <a:lumOff val="50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2"/>
                    </a:solidFill>
                  </a:tcPr>
                </a:tc>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08"/>
                  </a:ext>
                </a:extLst>
              </a:tr>
              <a:tr h="241357">
                <a:tc>
                  <a:txBody>
                    <a:bodyPr/>
                    <a:lstStyle/>
                    <a:p>
                      <a:endParaRPr lang="en-GB" sz="700"/>
                    </a:p>
                  </a:txBody>
                  <a:tcPr>
                    <a:solidFill>
                      <a:schemeClr val="bg2"/>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2"/>
                    </a:solidFill>
                  </a:tcPr>
                </a:tc>
                <a:tc>
                  <a:txBody>
                    <a:bodyPr/>
                    <a:lstStyle/>
                    <a:p>
                      <a:endParaRPr lang="en-GB" sz="700" dirty="0"/>
                    </a:p>
                  </a:txBody>
                  <a:tcPr>
                    <a:solidFill>
                      <a:schemeClr val="bg2"/>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09"/>
                  </a:ext>
                </a:extLst>
              </a:tr>
              <a:tr h="241357">
                <a:tc>
                  <a:txBody>
                    <a:bodyPr/>
                    <a:lstStyle/>
                    <a:p>
                      <a:endParaRPr lang="en-GB" sz="700" dirty="0"/>
                    </a:p>
                  </a:txBody>
                  <a:tcPr>
                    <a:solidFill>
                      <a:schemeClr val="bg2"/>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75000"/>
                      </a:schemeClr>
                    </a:solidFill>
                  </a:tcPr>
                </a:tc>
                <a:tc>
                  <a:txBody>
                    <a:bodyPr/>
                    <a:lstStyle/>
                    <a:p>
                      <a:endParaRPr lang="en-GB" sz="700" dirty="0"/>
                    </a:p>
                  </a:txBody>
                  <a:tcPr>
                    <a:solidFill>
                      <a:schemeClr val="bg2"/>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tx1">
                        <a:lumMod val="65000"/>
                        <a:lumOff val="35000"/>
                      </a:schemeClr>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extLst>
                  <a:ext uri="{0D108BD9-81ED-4DB2-BD59-A6C34878D82A}">
                    <a16:rowId xmlns:a16="http://schemas.microsoft.com/office/drawing/2014/main" val="10010"/>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lumMod val="65000"/>
                        <a:lumOff val="3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extLst>
                  <a:ext uri="{0D108BD9-81ED-4DB2-BD59-A6C34878D82A}">
                    <a16:rowId xmlns:a16="http://schemas.microsoft.com/office/drawing/2014/main" val="10011"/>
                  </a:ext>
                </a:extLst>
              </a:tr>
              <a:tr h="241357">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solidFill>
                  </a:tcPr>
                </a:tc>
                <a:tc>
                  <a:txBody>
                    <a:bodyPr/>
                    <a:lstStyle/>
                    <a:p>
                      <a:endParaRPr lang="en-GB" sz="700" dirty="0"/>
                    </a:p>
                  </a:txBody>
                  <a:tcPr>
                    <a:solidFill>
                      <a:schemeClr val="bg1"/>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2"/>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85000"/>
                      </a:schemeClr>
                    </a:solidFill>
                  </a:tcPr>
                </a:tc>
                <a:tc>
                  <a:txBody>
                    <a:bodyPr/>
                    <a:lstStyle/>
                    <a:p>
                      <a:endParaRPr lang="en-GB" sz="700" dirty="0"/>
                    </a:p>
                  </a:txBody>
                  <a:tcPr>
                    <a:solidFill>
                      <a:schemeClr val="bg1">
                        <a:lumMod val="65000"/>
                      </a:schemeClr>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tc>
                  <a:txBody>
                    <a:bodyPr/>
                    <a:lstStyle/>
                    <a:p>
                      <a:endParaRPr lang="en-GB" sz="700" dirty="0"/>
                    </a:p>
                  </a:txBody>
                  <a:tcPr>
                    <a:solidFill>
                      <a:schemeClr val="bg1">
                        <a:lumMod val="65000"/>
                      </a:schemeClr>
                    </a:solidFill>
                  </a:tcPr>
                </a:tc>
                <a:extLst>
                  <a:ext uri="{0D108BD9-81ED-4DB2-BD59-A6C34878D82A}">
                    <a16:rowId xmlns:a16="http://schemas.microsoft.com/office/drawing/2014/main" val="10013"/>
                  </a:ext>
                </a:extLst>
              </a:tr>
              <a:tr h="241357">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lumMod val="85000"/>
                      </a:schemeClr>
                    </a:solidFill>
                  </a:tcPr>
                </a:tc>
                <a:tc>
                  <a:txBody>
                    <a:bodyPr/>
                    <a:lstStyle/>
                    <a:p>
                      <a:endParaRPr lang="en-GB" sz="700" dirty="0"/>
                    </a:p>
                  </a:txBody>
                  <a:tcPr>
                    <a:solidFill>
                      <a:schemeClr val="bg1">
                        <a:lumMod val="85000"/>
                      </a:schemeClr>
                    </a:solidFill>
                  </a:tcPr>
                </a:tc>
                <a:tc>
                  <a:txBody>
                    <a:bodyPr/>
                    <a:lstStyle/>
                    <a:p>
                      <a:endParaRPr lang="en-GB" sz="700"/>
                    </a:p>
                  </a:txBody>
                  <a:tcPr>
                    <a:solidFill>
                      <a:schemeClr val="bg1"/>
                    </a:solidFill>
                  </a:tcPr>
                </a:tc>
                <a:tc>
                  <a:txBody>
                    <a:bodyPr/>
                    <a:lstStyle/>
                    <a:p>
                      <a:endParaRPr lang="en-GB" sz="700" dirty="0"/>
                    </a:p>
                  </a:txBody>
                  <a:tcPr>
                    <a:solidFill>
                      <a:schemeClr val="bg1"/>
                    </a:solidFill>
                  </a:tcPr>
                </a:tc>
                <a:tc>
                  <a:txBody>
                    <a:bodyPr/>
                    <a:lstStyle/>
                    <a:p>
                      <a:endParaRPr lang="en-GB" sz="700"/>
                    </a:p>
                  </a:txBody>
                  <a:tcPr>
                    <a:solidFill>
                      <a:schemeClr val="bg1"/>
                    </a:solidFill>
                  </a:tcPr>
                </a:tc>
                <a:tc>
                  <a:txBody>
                    <a:bodyPr/>
                    <a:lstStyle/>
                    <a:p>
                      <a:endParaRPr lang="en-GB" sz="700"/>
                    </a:p>
                  </a:txBody>
                  <a:tcPr>
                    <a:solidFill>
                      <a:schemeClr val="bg1"/>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bg1">
                        <a:lumMod val="65000"/>
                      </a:schemeClr>
                    </a:solidFill>
                  </a:tcPr>
                </a:tc>
                <a:tc>
                  <a:txBody>
                    <a:bodyPr/>
                    <a:lstStyle/>
                    <a:p>
                      <a:endParaRPr lang="en-GB" sz="700" dirty="0"/>
                    </a:p>
                  </a:txBody>
                  <a:tcPr>
                    <a:solidFill>
                      <a:schemeClr val="tx1"/>
                    </a:solidFill>
                  </a:tcPr>
                </a:tc>
                <a:extLst>
                  <a:ext uri="{0D108BD9-81ED-4DB2-BD59-A6C34878D82A}">
                    <a16:rowId xmlns:a16="http://schemas.microsoft.com/office/drawing/2014/main" val="10014"/>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22040403"/>
              </p:ext>
            </p:extLst>
          </p:nvPr>
        </p:nvGraphicFramePr>
        <p:xfrm>
          <a:off x="4163200" y="2247045"/>
          <a:ext cx="4529265" cy="3620355"/>
        </p:xfrm>
        <a:graphic>
          <a:graphicData uri="http://schemas.openxmlformats.org/drawingml/2006/table">
            <a:tbl>
              <a:tblPr>
                <a:tableStyleId>{5940675A-B579-460E-94D1-54222C63F5DA}</a:tableStyleId>
              </a:tblPr>
              <a:tblGrid>
                <a:gridCol w="301951">
                  <a:extLst>
                    <a:ext uri="{9D8B030D-6E8A-4147-A177-3AD203B41FA5}">
                      <a16:colId xmlns:a16="http://schemas.microsoft.com/office/drawing/2014/main" val="20000"/>
                    </a:ext>
                  </a:extLst>
                </a:gridCol>
                <a:gridCol w="301951">
                  <a:extLst>
                    <a:ext uri="{9D8B030D-6E8A-4147-A177-3AD203B41FA5}">
                      <a16:colId xmlns:a16="http://schemas.microsoft.com/office/drawing/2014/main" val="20001"/>
                    </a:ext>
                  </a:extLst>
                </a:gridCol>
                <a:gridCol w="301951">
                  <a:extLst>
                    <a:ext uri="{9D8B030D-6E8A-4147-A177-3AD203B41FA5}">
                      <a16:colId xmlns:a16="http://schemas.microsoft.com/office/drawing/2014/main" val="20002"/>
                    </a:ext>
                  </a:extLst>
                </a:gridCol>
                <a:gridCol w="301951">
                  <a:extLst>
                    <a:ext uri="{9D8B030D-6E8A-4147-A177-3AD203B41FA5}">
                      <a16:colId xmlns:a16="http://schemas.microsoft.com/office/drawing/2014/main" val="20003"/>
                    </a:ext>
                  </a:extLst>
                </a:gridCol>
                <a:gridCol w="301951">
                  <a:extLst>
                    <a:ext uri="{9D8B030D-6E8A-4147-A177-3AD203B41FA5}">
                      <a16:colId xmlns:a16="http://schemas.microsoft.com/office/drawing/2014/main" val="20004"/>
                    </a:ext>
                  </a:extLst>
                </a:gridCol>
                <a:gridCol w="301951">
                  <a:extLst>
                    <a:ext uri="{9D8B030D-6E8A-4147-A177-3AD203B41FA5}">
                      <a16:colId xmlns:a16="http://schemas.microsoft.com/office/drawing/2014/main" val="20005"/>
                    </a:ext>
                  </a:extLst>
                </a:gridCol>
                <a:gridCol w="301951">
                  <a:extLst>
                    <a:ext uri="{9D8B030D-6E8A-4147-A177-3AD203B41FA5}">
                      <a16:colId xmlns:a16="http://schemas.microsoft.com/office/drawing/2014/main" val="20006"/>
                    </a:ext>
                  </a:extLst>
                </a:gridCol>
                <a:gridCol w="301951">
                  <a:extLst>
                    <a:ext uri="{9D8B030D-6E8A-4147-A177-3AD203B41FA5}">
                      <a16:colId xmlns:a16="http://schemas.microsoft.com/office/drawing/2014/main" val="20007"/>
                    </a:ext>
                  </a:extLst>
                </a:gridCol>
                <a:gridCol w="301951">
                  <a:extLst>
                    <a:ext uri="{9D8B030D-6E8A-4147-A177-3AD203B41FA5}">
                      <a16:colId xmlns:a16="http://schemas.microsoft.com/office/drawing/2014/main" val="20008"/>
                    </a:ext>
                  </a:extLst>
                </a:gridCol>
                <a:gridCol w="301951">
                  <a:extLst>
                    <a:ext uri="{9D8B030D-6E8A-4147-A177-3AD203B41FA5}">
                      <a16:colId xmlns:a16="http://schemas.microsoft.com/office/drawing/2014/main" val="20009"/>
                    </a:ext>
                  </a:extLst>
                </a:gridCol>
                <a:gridCol w="301951">
                  <a:extLst>
                    <a:ext uri="{9D8B030D-6E8A-4147-A177-3AD203B41FA5}">
                      <a16:colId xmlns:a16="http://schemas.microsoft.com/office/drawing/2014/main" val="20010"/>
                    </a:ext>
                  </a:extLst>
                </a:gridCol>
                <a:gridCol w="301951">
                  <a:extLst>
                    <a:ext uri="{9D8B030D-6E8A-4147-A177-3AD203B41FA5}">
                      <a16:colId xmlns:a16="http://schemas.microsoft.com/office/drawing/2014/main" val="20011"/>
                    </a:ext>
                  </a:extLst>
                </a:gridCol>
                <a:gridCol w="301951">
                  <a:extLst>
                    <a:ext uri="{9D8B030D-6E8A-4147-A177-3AD203B41FA5}">
                      <a16:colId xmlns:a16="http://schemas.microsoft.com/office/drawing/2014/main" val="20012"/>
                    </a:ext>
                  </a:extLst>
                </a:gridCol>
                <a:gridCol w="301951">
                  <a:extLst>
                    <a:ext uri="{9D8B030D-6E8A-4147-A177-3AD203B41FA5}">
                      <a16:colId xmlns:a16="http://schemas.microsoft.com/office/drawing/2014/main" val="20013"/>
                    </a:ext>
                  </a:extLst>
                </a:gridCol>
                <a:gridCol w="301951">
                  <a:extLst>
                    <a:ext uri="{9D8B030D-6E8A-4147-A177-3AD203B41FA5}">
                      <a16:colId xmlns:a16="http://schemas.microsoft.com/office/drawing/2014/main" val="20014"/>
                    </a:ext>
                  </a:extLst>
                </a:gridCol>
              </a:tblGrid>
              <a:tr h="241357">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0"/>
                  </a:ext>
                </a:extLst>
              </a:tr>
              <a:tr h="241357">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1"/>
                  </a:ext>
                </a:extLst>
              </a:tr>
              <a:tr h="241357">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50000"/>
                        <a:lumOff val="50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2"/>
                  </a:ext>
                </a:extLst>
              </a:tr>
              <a:tr h="241357">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50000"/>
                        <a:lumOff val="50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3"/>
                  </a:ext>
                </a:extLst>
              </a:tr>
              <a:tr h="241357">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50000"/>
                        <a:lumOff val="50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4"/>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5"/>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6"/>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7"/>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50000"/>
                        <a:lumOff val="50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8"/>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09"/>
                  </a:ext>
                </a:extLst>
              </a:tr>
              <a:tr h="241357">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10"/>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85000"/>
                        <a:lumOff val="1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11"/>
                  </a:ext>
                </a:extLst>
              </a:tr>
              <a:tr h="241357">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12"/>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85000"/>
                        <a:lumOff val="1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extLst>
                  <a:ext uri="{0D108BD9-81ED-4DB2-BD59-A6C34878D82A}">
                    <a16:rowId xmlns:a16="http://schemas.microsoft.com/office/drawing/2014/main" val="10013"/>
                  </a:ext>
                </a:extLst>
              </a:tr>
              <a:tr h="241357">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endParaRPr lang="en-GB" sz="900" dirty="0">
                        <a:solidFill>
                          <a:schemeClr val="bg1"/>
                        </a:solidFill>
                      </a:endParaRPr>
                    </a:p>
                  </a:txBody>
                  <a:tcPr anchor="ctr">
                    <a:solidFill>
                      <a:schemeClr val="tx1">
                        <a:lumMod val="65000"/>
                        <a:lumOff val="35000"/>
                      </a:schemeClr>
                    </a:solidFill>
                  </a:tcPr>
                </a:tc>
                <a:tc>
                  <a:txBody>
                    <a:bodyPr/>
                    <a:lstStyle/>
                    <a:p>
                      <a:pPr algn="ctr"/>
                      <a:r>
                        <a:rPr lang="en-GB" sz="900" dirty="0">
                          <a:solidFill>
                            <a:schemeClr val="bg1"/>
                          </a:solidFill>
                        </a:rPr>
                        <a:t>K</a:t>
                      </a:r>
                    </a:p>
                  </a:txBody>
                  <a:tcPr anchor="ctr">
                    <a:solidFill>
                      <a:schemeClr val="tx1">
                        <a:lumMod val="65000"/>
                        <a:lumOff val="35000"/>
                      </a:schemeClr>
                    </a:solidFill>
                  </a:tcPr>
                </a:tc>
                <a:extLst>
                  <a:ext uri="{0D108BD9-81ED-4DB2-BD59-A6C34878D82A}">
                    <a16:rowId xmlns:a16="http://schemas.microsoft.com/office/drawing/2014/main" val="10014"/>
                  </a:ext>
                </a:extLst>
              </a:tr>
            </a:tbl>
          </a:graphicData>
        </a:graphic>
      </p:graphicFrame>
      <p:sp>
        <p:nvSpPr>
          <p:cNvPr id="3" name="Rectangle 2"/>
          <p:cNvSpPr/>
          <p:nvPr/>
        </p:nvSpPr>
        <p:spPr>
          <a:xfrm>
            <a:off x="304800" y="1828800"/>
            <a:ext cx="3581400" cy="5521512"/>
          </a:xfrm>
          <a:prstGeom prst="rect">
            <a:avLst/>
          </a:prstGeom>
        </p:spPr>
        <p:txBody>
          <a:bodyPr wrap="square">
            <a:spAutoFit/>
          </a:bodyPr>
          <a:lstStyle/>
          <a:p>
            <a:pPr>
              <a:spcBef>
                <a:spcPct val="20000"/>
              </a:spcBef>
              <a:buClr>
                <a:schemeClr val="accent2"/>
              </a:buClr>
            </a:pPr>
            <a:r>
              <a:rPr lang="en-GB" altLang="en-US" dirty="0"/>
              <a:t>This </a:t>
            </a:r>
            <a:r>
              <a:rPr lang="en-GB" altLang="en-US" b="1" dirty="0"/>
              <a:t>compares</a:t>
            </a:r>
            <a:r>
              <a:rPr lang="en-GB" altLang="en-US" dirty="0"/>
              <a:t> the magnitudes of the </a:t>
            </a:r>
            <a:r>
              <a:rPr lang="en-GB" altLang="en-US" b="1" dirty="0"/>
              <a:t>correlation</a:t>
            </a:r>
            <a:r>
              <a:rPr lang="en-GB" altLang="en-US" dirty="0"/>
              <a:t> coefficients </a:t>
            </a:r>
            <a:r>
              <a:rPr lang="en-GB" altLang="en-US" b="1" dirty="0"/>
              <a:t>and</a:t>
            </a:r>
            <a:r>
              <a:rPr lang="en-GB" altLang="en-US" dirty="0"/>
              <a:t> the </a:t>
            </a:r>
            <a:r>
              <a:rPr lang="en-GB" altLang="en-US" b="1" dirty="0"/>
              <a:t>partial correlation </a:t>
            </a:r>
            <a:r>
              <a:rPr lang="en-GB" altLang="en-US" dirty="0"/>
              <a:t>coefficients.</a:t>
            </a:r>
          </a:p>
          <a:p>
            <a:pPr>
              <a:spcBef>
                <a:spcPct val="20000"/>
              </a:spcBef>
              <a:buClr>
                <a:schemeClr val="accent2"/>
              </a:buClr>
            </a:pPr>
            <a:endParaRPr lang="en-GB" altLang="en-US" dirty="0"/>
          </a:p>
          <a:p>
            <a:pPr>
              <a:spcBef>
                <a:spcPct val="20000"/>
              </a:spcBef>
              <a:buClr>
                <a:schemeClr val="accent2"/>
              </a:buClr>
            </a:pPr>
            <a:r>
              <a:rPr lang="en-GB" dirty="0">
                <a:solidFill>
                  <a:srgbClr val="FF0000"/>
                </a:solidFill>
              </a:rPr>
              <a:t>Indicate the suitability of your data for structure detection.</a:t>
            </a:r>
            <a:endParaRPr lang="en-GB" altLang="en-US" dirty="0">
              <a:solidFill>
                <a:srgbClr val="FF0000"/>
              </a:solidFill>
            </a:endParaRPr>
          </a:p>
          <a:p>
            <a:pPr>
              <a:spcBef>
                <a:spcPct val="20000"/>
              </a:spcBef>
              <a:buClr>
                <a:schemeClr val="accent2"/>
              </a:buClr>
            </a:pPr>
            <a:endParaRPr lang="en-GB" altLang="en-US" dirty="0"/>
          </a:p>
          <a:p>
            <a:pPr fontAlgn="base"/>
            <a:r>
              <a:rPr lang="en-GB" dirty="0"/>
              <a:t>KMO returns values between 0 and 1. </a:t>
            </a:r>
          </a:p>
          <a:p>
            <a:pPr fontAlgn="base"/>
            <a:endParaRPr lang="en-GB" dirty="0"/>
          </a:p>
          <a:p>
            <a:pPr fontAlgn="base"/>
            <a:r>
              <a:rPr lang="en-GB" dirty="0"/>
              <a:t>KMO Values close to 1 generally indicate that a factor analysis may be useful with your data. If the value is less than 0.50, the results of the factor analysis probably won't be very useful.</a:t>
            </a:r>
          </a:p>
          <a:p>
            <a:br>
              <a:rPr lang="en-GB" dirty="0"/>
            </a:br>
            <a:br>
              <a:rPr lang="en-GB" dirty="0"/>
            </a:br>
            <a:endParaRPr lang="en-GB" altLang="en-US" dirty="0"/>
          </a:p>
        </p:txBody>
      </p:sp>
    </p:spTree>
    <p:extLst>
      <p:ext uri="{BB962C8B-B14F-4D97-AF65-F5344CB8AC3E}">
        <p14:creationId xmlns:p14="http://schemas.microsoft.com/office/powerpoint/2010/main" val="136231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KMO-MSA in SPSS</a:t>
            </a:r>
            <a:endParaRPr lang="en-GB"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5" y="2438400"/>
            <a:ext cx="9053974"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 name="Group 4"/>
          <p:cNvGrpSpPr/>
          <p:nvPr/>
        </p:nvGrpSpPr>
        <p:grpSpPr>
          <a:xfrm>
            <a:off x="381000" y="3048000"/>
            <a:ext cx="3581400" cy="2419124"/>
            <a:chOff x="304800" y="2963275"/>
            <a:chExt cx="3581400" cy="2419124"/>
          </a:xfrm>
        </p:grpSpPr>
        <p:sp>
          <p:nvSpPr>
            <p:cNvPr id="6" name="Rectangular Callout 5"/>
            <p:cNvSpPr/>
            <p:nvPr/>
          </p:nvSpPr>
          <p:spPr>
            <a:xfrm>
              <a:off x="304800" y="3037749"/>
              <a:ext cx="3581400" cy="1754326"/>
            </a:xfrm>
            <a:prstGeom prst="wedgeRectCallout">
              <a:avLst>
                <a:gd name="adj1" fmla="val 122883"/>
                <a:gd name="adj2" fmla="val -28242"/>
              </a:avLst>
            </a:prstGeom>
          </p:spPr>
          <p:style>
            <a:lnRef idx="2">
              <a:schemeClr val="dk1"/>
            </a:lnRef>
            <a:fillRef idx="1">
              <a:schemeClr val="lt1"/>
            </a:fillRef>
            <a:effectRef idx="0">
              <a:schemeClr val="dk1"/>
            </a:effectRef>
            <a:fontRef idx="minor">
              <a:schemeClr val="dk1"/>
            </a:fontRef>
          </p:style>
          <p:txBody>
            <a:bodyPr wrap="square">
              <a:spAutoFit/>
            </a:bodyPr>
            <a:lstStyle/>
            <a:p>
              <a:pPr>
                <a:spcBef>
                  <a:spcPct val="20000"/>
                </a:spcBef>
                <a:buClr>
                  <a:schemeClr val="accent2"/>
                </a:buClr>
              </a:pPr>
              <a:r>
                <a:rPr lang="en-GB" dirty="0"/>
                <a:t>A KMO value close to 1 indicates that the sum of partial correlations is not large relative to the sum of correlations and so factor analysis should yield distinct and reliable factors.</a:t>
              </a:r>
            </a:p>
          </p:txBody>
        </p:sp>
        <p:sp>
          <p:nvSpPr>
            <p:cNvPr id="7" name="Rectangular Callout 6"/>
            <p:cNvSpPr/>
            <p:nvPr/>
          </p:nvSpPr>
          <p:spPr>
            <a:xfrm>
              <a:off x="304800" y="2963275"/>
              <a:ext cx="3581400" cy="2419124"/>
            </a:xfrm>
            <a:prstGeom prst="wedgeRectCallout">
              <a:avLst>
                <a:gd name="adj1" fmla="val 84716"/>
                <a:gd name="adj2" fmla="val -47003"/>
              </a:avLst>
            </a:prstGeom>
          </p:spPr>
          <p:style>
            <a:lnRef idx="2">
              <a:schemeClr val="dk1"/>
            </a:lnRef>
            <a:fillRef idx="1">
              <a:schemeClr val="lt1"/>
            </a:fillRef>
            <a:effectRef idx="0">
              <a:schemeClr val="dk1"/>
            </a:effectRef>
            <a:fontRef idx="minor">
              <a:schemeClr val="dk1"/>
            </a:fontRef>
          </p:style>
          <p:txBody>
            <a:bodyPr wrap="square">
              <a:spAutoFit/>
            </a:bodyPr>
            <a:lstStyle/>
            <a:p>
              <a:pPr>
                <a:spcBef>
                  <a:spcPct val="20000"/>
                </a:spcBef>
                <a:buClr>
                  <a:schemeClr val="accent2"/>
                </a:buClr>
              </a:pPr>
              <a:r>
                <a:rPr lang="en-GB" dirty="0"/>
                <a:t>A value of 0 indicates that the sum of partial correlations is large relative to the sum correlations, indicating factor analysis is likely to be inappropriate</a:t>
              </a:r>
            </a:p>
            <a:p>
              <a:pPr>
                <a:spcBef>
                  <a:spcPct val="20000"/>
                </a:spcBef>
                <a:buClr>
                  <a:schemeClr val="accent2"/>
                </a:buClr>
              </a:pPr>
              <a:endParaRPr lang="en-GB" altLang="en-US" dirty="0"/>
            </a:p>
            <a:p>
              <a:pPr>
                <a:spcBef>
                  <a:spcPct val="20000"/>
                </a:spcBef>
                <a:buClr>
                  <a:schemeClr val="accent2"/>
                </a:buClr>
              </a:pPr>
              <a:r>
                <a:rPr lang="en-GB" altLang="en-US" dirty="0">
                  <a:solidFill>
                    <a:srgbClr val="FF0000"/>
                  </a:solidFill>
                </a:rPr>
                <a:t>Values </a:t>
              </a:r>
              <a:r>
                <a:rPr lang="en-GB" altLang="en-US" b="1" dirty="0">
                  <a:solidFill>
                    <a:srgbClr val="FF0000"/>
                  </a:solidFill>
                </a:rPr>
                <a:t>below 0.5 </a:t>
              </a:r>
              <a:r>
                <a:rPr lang="en-GB" altLang="en-US" dirty="0">
                  <a:solidFill>
                    <a:srgbClr val="FF0000"/>
                  </a:solidFill>
                </a:rPr>
                <a:t>indicate you </a:t>
              </a:r>
              <a:r>
                <a:rPr lang="en-GB" altLang="en-US" b="1" dirty="0">
                  <a:solidFill>
                    <a:srgbClr val="FF0000"/>
                  </a:solidFill>
                </a:rPr>
                <a:t>shouldn’t proceed</a:t>
              </a:r>
              <a:endParaRPr lang="en-US" altLang="en-US" b="1" dirty="0"/>
            </a:p>
          </p:txBody>
        </p:sp>
      </p:grpSp>
    </p:spTree>
    <p:extLst>
      <p:ext uri="{BB962C8B-B14F-4D97-AF65-F5344CB8AC3E}">
        <p14:creationId xmlns:p14="http://schemas.microsoft.com/office/powerpoint/2010/main" val="4138110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Factor Extraction</a:t>
            </a:r>
          </a:p>
        </p:txBody>
      </p:sp>
      <mc:AlternateContent xmlns:mc="http://schemas.openxmlformats.org/markup-compatibility/2006" xmlns:a14="http://schemas.microsoft.com/office/drawing/2010/main">
        <mc:Choice Requires="a14">
          <p:sp>
            <p:nvSpPr>
              <p:cNvPr id="4" name="Content Placeholder 3"/>
              <p:cNvSpPr>
                <a:spLocks noGrp="1"/>
              </p:cNvSpPr>
              <p:nvPr>
                <p:ph idx="4294967295"/>
              </p:nvPr>
            </p:nvSpPr>
            <p:spPr>
              <a:xfrm>
                <a:off x="304800" y="685800"/>
                <a:ext cx="8229600" cy="4525963"/>
              </a:xfrm>
            </p:spPr>
            <p:txBody>
              <a:bodyPr>
                <a:noAutofit/>
              </a:bodyPr>
              <a:lstStyle/>
              <a:p>
                <a:pPr marL="0" indent="0">
                  <a:buNone/>
                </a:pPr>
                <a:r>
                  <a:rPr lang="en-GB" altLang="en-US" sz="2400" dirty="0"/>
                  <a:t>The factors are linear combinations of the variables </a:t>
                </a:r>
              </a:p>
              <a:p>
                <a:pPr marL="400050" lvl="1" indent="0">
                  <a:buNone/>
                </a:pPr>
                <a:r>
                  <a:rPr lang="en-GB" altLang="en-US" sz="2000" dirty="0"/>
                  <a:t>(and vice versa…)</a:t>
                </a:r>
              </a:p>
              <a:p>
                <a:pPr marL="0" indent="0">
                  <a:buNone/>
                </a:pPr>
                <a:endParaRPr lang="en-GB" altLang="en-US" sz="2400" dirty="0"/>
              </a:p>
              <a:p>
                <a:pPr marL="400050" lvl="1" indent="0">
                  <a:buNone/>
                </a:pPr>
                <a14:m>
                  <m:oMathPara xmlns:m="http://schemas.openxmlformats.org/officeDocument/2006/math">
                    <m:oMathParaPr>
                      <m:jc m:val="left"/>
                    </m:oMathParaPr>
                    <m:oMath xmlns:m="http://schemas.openxmlformats.org/officeDocument/2006/math">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𝑋</m:t>
                          </m:r>
                        </m:e>
                        <m:sub>
                          <m:r>
                            <a:rPr lang="en-GB" sz="2000" i="1" dirty="0">
                              <a:latin typeface="Cambria Math" panose="02040503050406030204" pitchFamily="18" charset="0"/>
                              <a:ea typeface="Cambria Math" panose="02040503050406030204" pitchFamily="18" charset="0"/>
                            </a:rPr>
                            <m:t>1</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l-GR" sz="2000" i="1" dirty="0">
                              <a:latin typeface="Cambria Math" panose="02040503050406030204" pitchFamily="18" charset="0"/>
                              <a:ea typeface="Cambria Math" panose="02040503050406030204" pitchFamily="18" charset="0"/>
                            </a:rPr>
                            <m:t>11</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𝐹</m:t>
                          </m:r>
                        </m:e>
                        <m:sub>
                          <m:r>
                            <a:rPr lang="en-GB" sz="2000" i="1" dirty="0">
                              <a:latin typeface="Cambria Math" panose="02040503050406030204" pitchFamily="18" charset="0"/>
                              <a:ea typeface="Cambria Math" panose="02040503050406030204" pitchFamily="18" charset="0"/>
                            </a:rPr>
                            <m:t>1</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l-GR" sz="2000" i="1" dirty="0">
                              <a:latin typeface="Cambria Math" panose="02040503050406030204" pitchFamily="18" charset="0"/>
                              <a:ea typeface="Cambria Math" panose="02040503050406030204" pitchFamily="18" charset="0"/>
                            </a:rPr>
                            <m:t>12</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𝐹</m:t>
                          </m:r>
                        </m:e>
                        <m:sub>
                          <m:r>
                            <a:rPr lang="en-GB" sz="2000" i="1" dirty="0">
                              <a:latin typeface="Cambria Math" panose="02040503050406030204" pitchFamily="18" charset="0"/>
                              <a:ea typeface="Cambria Math" panose="02040503050406030204" pitchFamily="18" charset="0"/>
                            </a:rPr>
                            <m:t>2</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l-GR" sz="2000" i="1" dirty="0">
                              <a:latin typeface="Cambria Math" panose="02040503050406030204" pitchFamily="18" charset="0"/>
                              <a:ea typeface="Cambria Math" panose="02040503050406030204" pitchFamily="18" charset="0"/>
                            </a:rPr>
                            <m:t>1</m:t>
                          </m:r>
                          <m:r>
                            <a:rPr lang="en-GB" sz="2000" i="1" dirty="0">
                              <a:latin typeface="Cambria Math"/>
                              <a:ea typeface="Cambria Math" panose="02040503050406030204" pitchFamily="18" charset="0"/>
                            </a:rPr>
                            <m:t>𝑘</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err="1">
                              <a:latin typeface="Cambria Math" panose="02040503050406030204" pitchFamily="18" charset="0"/>
                              <a:ea typeface="Cambria Math" panose="02040503050406030204" pitchFamily="18" charset="0"/>
                            </a:rPr>
                            <m:t>𝐹</m:t>
                          </m:r>
                        </m:e>
                        <m:sub>
                          <m:r>
                            <a:rPr lang="en-GB" sz="2000" i="1" dirty="0">
                              <a:latin typeface="Cambria Math"/>
                              <a:ea typeface="Cambria Math" panose="02040503050406030204" pitchFamily="18" charset="0"/>
                            </a:rPr>
                            <m:t>𝑘</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𝑒</m:t>
                          </m:r>
                        </m:e>
                        <m:sub>
                          <m:r>
                            <a:rPr lang="en-GB" sz="2000" i="1" dirty="0">
                              <a:latin typeface="Cambria Math" panose="02040503050406030204" pitchFamily="18" charset="0"/>
                              <a:ea typeface="Cambria Math" panose="02040503050406030204" pitchFamily="18" charset="0"/>
                            </a:rPr>
                            <m:t>1</m:t>
                          </m:r>
                        </m:sub>
                      </m:sSub>
                    </m:oMath>
                  </m:oMathPara>
                </a14:m>
                <a:endParaRPr lang="en-GB" sz="2000" dirty="0">
                  <a:latin typeface="Cambria Math" panose="02040503050406030204" pitchFamily="18" charset="0"/>
                  <a:ea typeface="Cambria Math" panose="02040503050406030204" pitchFamily="18" charset="0"/>
                </a:endParaRPr>
              </a:p>
              <a:p>
                <a:pPr marL="400050" lvl="1" indent="0">
                  <a:buNone/>
                </a:pPr>
                <a14:m>
                  <m:oMathPara xmlns:m="http://schemas.openxmlformats.org/officeDocument/2006/math">
                    <m:oMathParaPr>
                      <m:jc m:val="left"/>
                    </m:oMathParaPr>
                    <m:oMath xmlns:m="http://schemas.openxmlformats.org/officeDocument/2006/math">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𝑋</m:t>
                          </m:r>
                        </m:e>
                        <m:sub>
                          <m:r>
                            <a:rPr lang="en-GB" sz="2000" i="1" dirty="0">
                              <a:latin typeface="Cambria Math" panose="02040503050406030204" pitchFamily="18" charset="0"/>
                              <a:ea typeface="Cambria Math" panose="02040503050406030204" pitchFamily="18" charset="0"/>
                            </a:rPr>
                            <m:t>2</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l-GR" sz="2000" i="1" dirty="0">
                              <a:latin typeface="Cambria Math" panose="02040503050406030204" pitchFamily="18" charset="0"/>
                              <a:ea typeface="Cambria Math" panose="02040503050406030204" pitchFamily="18" charset="0"/>
                            </a:rPr>
                            <m:t>21</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𝐹</m:t>
                          </m:r>
                        </m:e>
                        <m:sub>
                          <m:r>
                            <a:rPr lang="en-GB" sz="2000" i="1" dirty="0">
                              <a:latin typeface="Cambria Math" panose="02040503050406030204" pitchFamily="18" charset="0"/>
                              <a:ea typeface="Cambria Math" panose="02040503050406030204" pitchFamily="18" charset="0"/>
                            </a:rPr>
                            <m:t>1</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l-GR" sz="2000" i="1" dirty="0">
                              <a:latin typeface="Cambria Math" panose="02040503050406030204" pitchFamily="18" charset="0"/>
                              <a:ea typeface="Cambria Math" panose="02040503050406030204" pitchFamily="18" charset="0"/>
                            </a:rPr>
                            <m:t>22</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𝐹</m:t>
                          </m:r>
                        </m:e>
                        <m:sub>
                          <m:r>
                            <a:rPr lang="en-GB" sz="2000" i="1" dirty="0">
                              <a:latin typeface="Cambria Math" panose="02040503050406030204" pitchFamily="18" charset="0"/>
                              <a:ea typeface="Cambria Math" panose="02040503050406030204" pitchFamily="18" charset="0"/>
                            </a:rPr>
                            <m:t>2</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l-GR" sz="2000" i="1" dirty="0">
                              <a:latin typeface="Cambria Math" panose="02040503050406030204" pitchFamily="18" charset="0"/>
                              <a:ea typeface="Cambria Math" panose="02040503050406030204" pitchFamily="18" charset="0"/>
                            </a:rPr>
                            <m:t>2</m:t>
                          </m:r>
                          <m:r>
                            <a:rPr lang="en-GB" sz="2000" i="1" dirty="0">
                              <a:latin typeface="Cambria Math"/>
                              <a:ea typeface="Cambria Math" panose="02040503050406030204" pitchFamily="18" charset="0"/>
                            </a:rPr>
                            <m:t>𝑘</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err="1">
                              <a:latin typeface="Cambria Math" panose="02040503050406030204" pitchFamily="18" charset="0"/>
                              <a:ea typeface="Cambria Math" panose="02040503050406030204" pitchFamily="18" charset="0"/>
                            </a:rPr>
                            <m:t>𝐹</m:t>
                          </m:r>
                        </m:e>
                        <m:sub>
                          <m:r>
                            <a:rPr lang="en-GB" sz="2000" i="1" dirty="0">
                              <a:latin typeface="Cambria Math"/>
                              <a:ea typeface="Cambria Math" panose="02040503050406030204" pitchFamily="18" charset="0"/>
                            </a:rPr>
                            <m:t>𝑘</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𝑒</m:t>
                          </m:r>
                        </m:e>
                        <m:sub>
                          <m:r>
                            <a:rPr lang="en-GB" sz="2000" i="1" dirty="0">
                              <a:latin typeface="Cambria Math" panose="02040503050406030204" pitchFamily="18" charset="0"/>
                              <a:ea typeface="Cambria Math" panose="02040503050406030204" pitchFamily="18" charset="0"/>
                            </a:rPr>
                            <m:t>2</m:t>
                          </m:r>
                        </m:sub>
                      </m:sSub>
                    </m:oMath>
                  </m:oMathPara>
                </a14:m>
                <a:endParaRPr lang="en-GB" sz="2000" dirty="0">
                  <a:latin typeface="Cambria Math" panose="02040503050406030204" pitchFamily="18" charset="0"/>
                  <a:ea typeface="Cambria Math" panose="02040503050406030204" pitchFamily="18" charset="0"/>
                </a:endParaRPr>
              </a:p>
              <a:p>
                <a:pPr marL="1371600" lvl="3" indent="0">
                  <a:buNone/>
                </a:pPr>
                <a14:m>
                  <m:oMathPara xmlns:m="http://schemas.openxmlformats.org/officeDocument/2006/math">
                    <m:oMathParaPr>
                      <m:jc m:val="left"/>
                    </m:oMathParaPr>
                    <m:oMath xmlns:m="http://schemas.openxmlformats.org/officeDocument/2006/math">
                      <m:r>
                        <a:rPr lang="en-GB" i="1" dirty="0">
                          <a:latin typeface="Cambria Math" panose="02040503050406030204" pitchFamily="18" charset="0"/>
                          <a:ea typeface="Cambria Math" panose="02040503050406030204" pitchFamily="18" charset="0"/>
                        </a:rPr>
                        <m:t>… </m:t>
                      </m:r>
                    </m:oMath>
                  </m:oMathPara>
                </a14:m>
                <a:endParaRPr lang="en-GB" i="1" dirty="0">
                  <a:latin typeface="Cambria Math" panose="02040503050406030204" pitchFamily="18" charset="0"/>
                  <a:ea typeface="Cambria Math" panose="02040503050406030204" pitchFamily="18" charset="0"/>
                </a:endParaRPr>
              </a:p>
              <a:p>
                <a:pPr marL="400050" lvl="1" indent="0">
                  <a:buNone/>
                </a:pPr>
                <a14:m>
                  <m:oMathPara xmlns:m="http://schemas.openxmlformats.org/officeDocument/2006/math">
                    <m:oMathParaPr>
                      <m:jc m:val="left"/>
                    </m:oMathParaPr>
                    <m:oMath xmlns:m="http://schemas.openxmlformats.org/officeDocument/2006/math">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𝑋</m:t>
                          </m:r>
                        </m:e>
                        <m:sub>
                          <m:r>
                            <a:rPr lang="en-GB" sz="2000" i="1" dirty="0">
                              <a:latin typeface="Cambria Math"/>
                              <a:ea typeface="Cambria Math" panose="02040503050406030204" pitchFamily="18" charset="0"/>
                            </a:rPr>
                            <m:t>𝑚</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n-GB" sz="2000" i="1" dirty="0">
                              <a:latin typeface="Cambria Math"/>
                              <a:ea typeface="Cambria Math" panose="02040503050406030204" pitchFamily="18" charset="0"/>
                            </a:rPr>
                            <m:t>𝑚</m:t>
                          </m:r>
                          <m:r>
                            <a:rPr lang="en-GB" sz="2000" i="1" dirty="0">
                              <a:latin typeface="Cambria Math" panose="02040503050406030204" pitchFamily="18" charset="0"/>
                              <a:ea typeface="Cambria Math" panose="02040503050406030204" pitchFamily="18" charset="0"/>
                            </a:rPr>
                            <m:t>1</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𝐹</m:t>
                          </m:r>
                        </m:e>
                        <m:sub>
                          <m:r>
                            <a:rPr lang="en-GB" sz="2000" i="1" dirty="0">
                              <a:latin typeface="Cambria Math" panose="02040503050406030204" pitchFamily="18" charset="0"/>
                              <a:ea typeface="Cambria Math" panose="02040503050406030204" pitchFamily="18" charset="0"/>
                            </a:rPr>
                            <m:t>1</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n-GB" sz="2000" i="1" dirty="0">
                              <a:latin typeface="Cambria Math"/>
                              <a:ea typeface="Cambria Math" panose="02040503050406030204" pitchFamily="18" charset="0"/>
                            </a:rPr>
                            <m:t>𝑚</m:t>
                          </m:r>
                          <m:r>
                            <a:rPr lang="en-GB" sz="2000" i="1" dirty="0">
                              <a:latin typeface="Cambria Math" panose="02040503050406030204" pitchFamily="18" charset="0"/>
                              <a:ea typeface="Cambria Math" panose="02040503050406030204" pitchFamily="18" charset="0"/>
                            </a:rPr>
                            <m:t>2</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a:latin typeface="Cambria Math" panose="02040503050406030204" pitchFamily="18" charset="0"/>
                              <a:ea typeface="Cambria Math" panose="02040503050406030204" pitchFamily="18" charset="0"/>
                            </a:rPr>
                            <m:t>𝐹</m:t>
                          </m:r>
                        </m:e>
                        <m:sub>
                          <m:r>
                            <a:rPr lang="en-GB" sz="2000" i="1" dirty="0">
                              <a:latin typeface="Cambria Math" panose="02040503050406030204" pitchFamily="18" charset="0"/>
                              <a:ea typeface="Cambria Math" panose="02040503050406030204" pitchFamily="18" charset="0"/>
                            </a:rPr>
                            <m:t>2</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l-GR" sz="2000" i="1" dirty="0">
                              <a:latin typeface="Cambria Math" panose="02040503050406030204" pitchFamily="18" charset="0"/>
                              <a:ea typeface="Cambria Math" panose="02040503050406030204" pitchFamily="18" charset="0"/>
                            </a:rPr>
                            <m:t>𝜆</m:t>
                          </m:r>
                        </m:e>
                        <m:sub>
                          <m:r>
                            <a:rPr lang="en-GB" sz="2000" i="1" dirty="0">
                              <a:latin typeface="Cambria Math"/>
                              <a:ea typeface="Cambria Math" panose="02040503050406030204" pitchFamily="18" charset="0"/>
                            </a:rPr>
                            <m:t>𝑚𝑘</m:t>
                          </m:r>
                        </m:sub>
                      </m:sSub>
                      <m:sSub>
                        <m:sSubPr>
                          <m:ctrlPr>
                            <a:rPr lang="en-GB" sz="2000" i="1" dirty="0">
                              <a:latin typeface="Cambria Math" panose="02040503050406030204" pitchFamily="18" charset="0"/>
                              <a:ea typeface="Cambria Math" panose="02040503050406030204" pitchFamily="18" charset="0"/>
                            </a:rPr>
                          </m:ctrlPr>
                        </m:sSubPr>
                        <m:e>
                          <m:r>
                            <a:rPr lang="en-GB" sz="2000" i="1" dirty="0" err="1">
                              <a:latin typeface="Cambria Math" panose="02040503050406030204" pitchFamily="18" charset="0"/>
                              <a:ea typeface="Cambria Math" panose="02040503050406030204" pitchFamily="18" charset="0"/>
                            </a:rPr>
                            <m:t>𝐹</m:t>
                          </m:r>
                        </m:e>
                        <m:sub>
                          <m:r>
                            <a:rPr lang="en-GB" sz="2000" i="1" dirty="0">
                              <a:latin typeface="Cambria Math"/>
                              <a:ea typeface="Cambria Math" panose="02040503050406030204" pitchFamily="18" charset="0"/>
                            </a:rPr>
                            <m:t>𝑘</m:t>
                          </m:r>
                        </m:sub>
                      </m:sSub>
                      <m:r>
                        <a:rPr lang="en-GB" sz="2000" i="1" dirty="0">
                          <a:latin typeface="Cambria Math" panose="02040503050406030204" pitchFamily="18" charset="0"/>
                          <a:ea typeface="Cambria Math" panose="02040503050406030204" pitchFamily="18" charset="0"/>
                        </a:rPr>
                        <m:t>+</m:t>
                      </m:r>
                      <m:sSub>
                        <m:sSubPr>
                          <m:ctrlPr>
                            <a:rPr lang="en-GB" sz="2000" i="1" dirty="0">
                              <a:latin typeface="Cambria Math" panose="02040503050406030204" pitchFamily="18" charset="0"/>
                              <a:ea typeface="Cambria Math" panose="02040503050406030204" pitchFamily="18" charset="0"/>
                            </a:rPr>
                          </m:ctrlPr>
                        </m:sSubPr>
                        <m:e>
                          <m:r>
                            <a:rPr lang="en-GB" sz="2000" i="1" dirty="0" err="1">
                              <a:latin typeface="Cambria Math" panose="02040503050406030204" pitchFamily="18" charset="0"/>
                              <a:ea typeface="Cambria Math" panose="02040503050406030204" pitchFamily="18" charset="0"/>
                            </a:rPr>
                            <m:t>𝑒</m:t>
                          </m:r>
                        </m:e>
                        <m:sub>
                          <m:r>
                            <a:rPr lang="en-GB" sz="2000" i="1" dirty="0">
                              <a:latin typeface="Cambria Math"/>
                              <a:ea typeface="Cambria Math" panose="02040503050406030204" pitchFamily="18" charset="0"/>
                            </a:rPr>
                            <m:t>𝑚</m:t>
                          </m:r>
                        </m:sub>
                      </m:sSub>
                    </m:oMath>
                  </m:oMathPara>
                </a14:m>
                <a:endParaRPr lang="en-GB" sz="2000" dirty="0">
                  <a:latin typeface="Cambria Math" panose="02040503050406030204" pitchFamily="18" charset="0"/>
                  <a:ea typeface="Cambria Math" panose="02040503050406030204" pitchFamily="18" charset="0"/>
                </a:endParaRPr>
              </a:p>
              <a:p>
                <a:pPr marL="400050" lvl="1" indent="0">
                  <a:buClr>
                    <a:schemeClr val="accent2"/>
                  </a:buClr>
                  <a:buNone/>
                </a:pPr>
                <a:endParaRPr lang="en-GB" altLang="en-US" sz="2000" dirty="0"/>
              </a:p>
              <a:p>
                <a:pPr marL="400050" lvl="1" indent="0">
                  <a:buClr>
                    <a:schemeClr val="accent2"/>
                  </a:buClr>
                  <a:buNone/>
                </a:pPr>
                <a:r>
                  <a:rPr lang="en-GB" altLang="en-US" sz="2000" dirty="0">
                    <a:solidFill>
                      <a:srgbClr val="FF0000"/>
                    </a:solidFill>
                  </a:rPr>
                  <a:t>This is going to become clear later don’t worry</a:t>
                </a:r>
              </a:p>
              <a:p>
                <a:pPr marL="400050" lvl="1" indent="0">
                  <a:buClr>
                    <a:schemeClr val="accent2"/>
                  </a:buClr>
                  <a:buNone/>
                </a:pPr>
                <a:endParaRPr lang="en-GB" altLang="en-US" sz="2000" dirty="0"/>
              </a:p>
              <a:p>
                <a:pPr marL="0" indent="0">
                  <a:buClr>
                    <a:schemeClr val="accent2"/>
                  </a:buClr>
                  <a:buNone/>
                </a:pPr>
                <a:r>
                  <a:rPr lang="en-GB" altLang="en-US" sz="2400" dirty="0"/>
                  <a:t>We would expect some summarizing from this process</a:t>
                </a:r>
              </a:p>
              <a:p>
                <a:pPr marL="400050" lvl="1" indent="0">
                  <a:buClr>
                    <a:schemeClr val="accent2"/>
                  </a:buClr>
                  <a:buNone/>
                </a:pPr>
                <a:r>
                  <a:rPr lang="en-GB" altLang="en-US" sz="2000" dirty="0"/>
                  <a:t>less factors than input variables (i.e. </a:t>
                </a:r>
                <a14:m>
                  <m:oMath xmlns:m="http://schemas.openxmlformats.org/officeDocument/2006/math">
                    <m:r>
                      <a:rPr lang="en-GB" altLang="en-US" sz="2000" b="0" i="1" smtClean="0">
                        <a:latin typeface="Cambria Math"/>
                      </a:rPr>
                      <m:t>𝑘</m:t>
                    </m:r>
                    <m:r>
                      <a:rPr lang="en-GB" altLang="en-US" sz="2000" b="0" i="1" smtClean="0">
                        <a:latin typeface="Cambria Math"/>
                      </a:rPr>
                      <m:t>&lt;</m:t>
                    </m:r>
                    <m:r>
                      <a:rPr lang="en-GB" altLang="en-US" sz="2000" b="0" i="1" smtClean="0">
                        <a:latin typeface="Cambria Math"/>
                      </a:rPr>
                      <m:t>𝑚</m:t>
                    </m:r>
                  </m:oMath>
                </a14:m>
                <a:r>
                  <a:rPr lang="en-GB" altLang="en-US" sz="2400" dirty="0"/>
                  <a:t>)</a:t>
                </a:r>
              </a:p>
            </p:txBody>
          </p:sp>
        </mc:Choice>
        <mc:Fallback xmlns="">
          <p:sp>
            <p:nvSpPr>
              <p:cNvPr id="4" name="Content Placeholder 3"/>
              <p:cNvSpPr>
                <a:spLocks noGrp="1" noRot="1" noChangeAspect="1" noMove="1" noResize="1" noEditPoints="1" noAdjustHandles="1" noChangeArrowheads="1" noChangeShapeType="1" noTextEdit="1"/>
              </p:cNvSpPr>
              <p:nvPr>
                <p:ph idx="4294967295"/>
              </p:nvPr>
            </p:nvSpPr>
            <p:spPr>
              <a:xfrm>
                <a:off x="304800" y="685800"/>
                <a:ext cx="8229600" cy="4525963"/>
              </a:xfrm>
              <a:blipFill>
                <a:blip r:embed="rId3"/>
                <a:stretch>
                  <a:fillRect l="-1111" t="-1078" b="-1482"/>
                </a:stretch>
              </a:blipFill>
            </p:spPr>
            <p:txBody>
              <a:bodyPr/>
              <a:lstStyle/>
              <a:p>
                <a:r>
                  <a:rPr lang="en-GB">
                    <a:noFill/>
                  </a:rPr>
                  <a:t> </a:t>
                </a:r>
              </a:p>
            </p:txBody>
          </p:sp>
        </mc:Fallback>
      </mc:AlternateContent>
      <p:sp>
        <p:nvSpPr>
          <p:cNvPr id="7" name="Rectangle 6"/>
          <p:cNvSpPr/>
          <p:nvPr/>
        </p:nvSpPr>
        <p:spPr>
          <a:xfrm>
            <a:off x="5715000" y="1447800"/>
            <a:ext cx="2971800" cy="1077218"/>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pPr>
              <a:buClr>
                <a:schemeClr val="accent2"/>
              </a:buClr>
            </a:pPr>
            <a:r>
              <a:rPr lang="en-GB" altLang="en-US" sz="1600" dirty="0"/>
              <a:t>In a theory building exercise, it’s very important that the factors are meaningful – if they aren’t, you need to rethink</a:t>
            </a:r>
            <a:endParaRPr lang="en-US" altLang="en-US" sz="1600" dirty="0"/>
          </a:p>
        </p:txBody>
      </p:sp>
    </p:spTree>
    <p:extLst>
      <p:ext uri="{BB962C8B-B14F-4D97-AF65-F5344CB8AC3E}">
        <p14:creationId xmlns:p14="http://schemas.microsoft.com/office/powerpoint/2010/main" val="1186455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Factor Extraction</a:t>
            </a:r>
          </a:p>
        </p:txBody>
      </p:sp>
      <p:sp>
        <p:nvSpPr>
          <p:cNvPr id="4" name="Content Placeholder 3"/>
          <p:cNvSpPr>
            <a:spLocks noGrp="1"/>
          </p:cNvSpPr>
          <p:nvPr>
            <p:ph idx="4294967295"/>
          </p:nvPr>
        </p:nvSpPr>
        <p:spPr>
          <a:xfrm>
            <a:off x="304800" y="685801"/>
            <a:ext cx="5943600" cy="1066799"/>
          </a:xfrm>
        </p:spPr>
        <p:txBody>
          <a:bodyPr>
            <a:noAutofit/>
          </a:bodyPr>
          <a:lstStyle/>
          <a:p>
            <a:pPr marL="0" indent="0">
              <a:buClr>
                <a:schemeClr val="accent2"/>
              </a:buClr>
              <a:buNone/>
            </a:pPr>
            <a:r>
              <a:rPr lang="en-GB" altLang="en-US" sz="2400" dirty="0"/>
              <a:t>A number of approaches exists, for example…</a:t>
            </a:r>
          </a:p>
          <a:p>
            <a:pPr marL="0" indent="0">
              <a:buClr>
                <a:schemeClr val="accent2"/>
              </a:buClr>
              <a:buNone/>
            </a:pPr>
            <a:r>
              <a:rPr lang="en-GB" altLang="en-US" sz="2400" b="1" dirty="0"/>
              <a:t>Principal Component Analysis</a:t>
            </a:r>
          </a:p>
          <a:p>
            <a:pPr marL="0" indent="0">
              <a:buClr>
                <a:schemeClr val="accent2"/>
              </a:buClr>
              <a:buNone/>
            </a:pPr>
            <a:endParaRPr lang="en-GB" altLang="en-US" sz="2400" b="1" dirty="0"/>
          </a:p>
        </p:txBody>
      </p:sp>
      <p:sp>
        <p:nvSpPr>
          <p:cNvPr id="2" name="Rectangle 1"/>
          <p:cNvSpPr/>
          <p:nvPr/>
        </p:nvSpPr>
        <p:spPr>
          <a:xfrm>
            <a:off x="304800" y="2810470"/>
            <a:ext cx="4572000" cy="923330"/>
          </a:xfrm>
          <a:prstGeom prst="rect">
            <a:avLst/>
          </a:prstGeom>
        </p:spPr>
        <p:txBody>
          <a:bodyPr>
            <a:spAutoFit/>
          </a:bodyPr>
          <a:lstStyle/>
          <a:p>
            <a:pPr>
              <a:buClr>
                <a:schemeClr val="accent2"/>
              </a:buClr>
            </a:pPr>
            <a:r>
              <a:rPr lang="en-GB" altLang="en-US" dirty="0"/>
              <a:t>The </a:t>
            </a:r>
            <a:r>
              <a:rPr lang="en-GB" altLang="en-US" b="1" dirty="0"/>
              <a:t>linear combination</a:t>
            </a:r>
            <a:r>
              <a:rPr lang="en-GB" altLang="en-US" dirty="0"/>
              <a:t> of variables </a:t>
            </a:r>
            <a:r>
              <a:rPr lang="en-GB" altLang="en-US" b="1" dirty="0"/>
              <a:t>that</a:t>
            </a:r>
            <a:r>
              <a:rPr lang="en-GB" altLang="en-US" dirty="0"/>
              <a:t> </a:t>
            </a:r>
            <a:r>
              <a:rPr lang="en-GB" altLang="en-US" b="1" dirty="0"/>
              <a:t>explains</a:t>
            </a:r>
            <a:r>
              <a:rPr lang="en-GB" altLang="en-US" dirty="0"/>
              <a:t> the </a:t>
            </a:r>
            <a:r>
              <a:rPr lang="en-GB" altLang="en-US" b="1" dirty="0"/>
              <a:t>most variation is</a:t>
            </a:r>
            <a:r>
              <a:rPr lang="en-GB" altLang="en-US" dirty="0"/>
              <a:t> the </a:t>
            </a:r>
            <a:r>
              <a:rPr lang="en-GB" altLang="en-US" b="1" dirty="0"/>
              <a:t>first</a:t>
            </a:r>
            <a:r>
              <a:rPr lang="en-GB" altLang="en-US" dirty="0"/>
              <a:t> principal component</a:t>
            </a:r>
          </a:p>
        </p:txBody>
      </p:sp>
      <p:sp>
        <p:nvSpPr>
          <p:cNvPr id="6" name="Rectangle 5"/>
          <p:cNvSpPr/>
          <p:nvPr/>
        </p:nvSpPr>
        <p:spPr>
          <a:xfrm>
            <a:off x="304800" y="1752600"/>
            <a:ext cx="4572000" cy="923330"/>
          </a:xfrm>
          <a:prstGeom prst="rect">
            <a:avLst/>
          </a:prstGeom>
        </p:spPr>
        <p:txBody>
          <a:bodyPr>
            <a:spAutoFit/>
          </a:bodyPr>
          <a:lstStyle/>
          <a:p>
            <a:pPr>
              <a:buClr>
                <a:schemeClr val="accent2"/>
              </a:buClr>
            </a:pPr>
            <a:r>
              <a:rPr lang="en-GB" altLang="en-US" dirty="0"/>
              <a:t>An exploratory technique that </a:t>
            </a:r>
            <a:r>
              <a:rPr lang="en-GB" altLang="en-US" b="1" dirty="0"/>
              <a:t>converts</a:t>
            </a:r>
            <a:r>
              <a:rPr lang="en-GB" altLang="en-US" dirty="0"/>
              <a:t> a set of </a:t>
            </a:r>
            <a:r>
              <a:rPr lang="en-GB" altLang="en-US" b="1" dirty="0"/>
              <a:t>correlated variables</a:t>
            </a:r>
            <a:r>
              <a:rPr lang="en-GB" altLang="en-US" dirty="0"/>
              <a:t> </a:t>
            </a:r>
            <a:r>
              <a:rPr lang="en-GB" altLang="en-US" b="1" dirty="0"/>
              <a:t>into</a:t>
            </a:r>
            <a:r>
              <a:rPr lang="en-GB" altLang="en-US" dirty="0"/>
              <a:t> a set of </a:t>
            </a:r>
            <a:r>
              <a:rPr lang="en-GB" altLang="en-US" b="1" dirty="0"/>
              <a:t>uncorrelated variables</a:t>
            </a:r>
            <a:r>
              <a:rPr lang="en-GB" altLang="en-US" dirty="0"/>
              <a:t> (the principal components)</a:t>
            </a:r>
          </a:p>
        </p:txBody>
      </p:sp>
      <p:sp>
        <p:nvSpPr>
          <p:cNvPr id="8" name="Rectangle 7"/>
          <p:cNvSpPr/>
          <p:nvPr/>
        </p:nvSpPr>
        <p:spPr>
          <a:xfrm>
            <a:off x="304800" y="3810000"/>
            <a:ext cx="4572000" cy="1477328"/>
          </a:xfrm>
          <a:prstGeom prst="rect">
            <a:avLst/>
          </a:prstGeom>
        </p:spPr>
        <p:txBody>
          <a:bodyPr>
            <a:spAutoFit/>
          </a:bodyPr>
          <a:lstStyle/>
          <a:p>
            <a:pPr>
              <a:buClr>
                <a:schemeClr val="accent2"/>
              </a:buClr>
            </a:pPr>
            <a:r>
              <a:rPr lang="en-GB" altLang="en-US" dirty="0"/>
              <a:t>The </a:t>
            </a:r>
            <a:r>
              <a:rPr lang="en-GB" altLang="en-US" b="1" dirty="0"/>
              <a:t>second</a:t>
            </a:r>
            <a:r>
              <a:rPr lang="en-GB" altLang="en-US" dirty="0"/>
              <a:t> principal </a:t>
            </a:r>
            <a:r>
              <a:rPr lang="en-GB" altLang="en-US" b="1" dirty="0"/>
              <a:t>component</a:t>
            </a:r>
            <a:r>
              <a:rPr lang="en-GB" altLang="en-US" dirty="0"/>
              <a:t> </a:t>
            </a:r>
            <a:r>
              <a:rPr lang="en-GB" altLang="en-US" b="1" dirty="0"/>
              <a:t>is</a:t>
            </a:r>
            <a:r>
              <a:rPr lang="en-GB" altLang="en-US" dirty="0"/>
              <a:t> the combination, </a:t>
            </a:r>
            <a:r>
              <a:rPr lang="en-GB" altLang="en-US" b="1" dirty="0"/>
              <a:t>uncorrelated</a:t>
            </a:r>
            <a:r>
              <a:rPr lang="en-GB" altLang="en-US" dirty="0"/>
              <a:t> </a:t>
            </a:r>
            <a:r>
              <a:rPr lang="en-GB" altLang="en-US" b="1" dirty="0"/>
              <a:t>with</a:t>
            </a:r>
            <a:r>
              <a:rPr lang="en-GB" altLang="en-US" dirty="0"/>
              <a:t> the </a:t>
            </a:r>
            <a:r>
              <a:rPr lang="en-GB" altLang="en-US" b="1" dirty="0"/>
              <a:t>first</a:t>
            </a:r>
            <a:r>
              <a:rPr lang="en-GB" altLang="en-US" dirty="0"/>
              <a:t>, that explains the next most variance</a:t>
            </a:r>
          </a:p>
          <a:p>
            <a:pPr>
              <a:buClr>
                <a:schemeClr val="accent2"/>
              </a:buClr>
            </a:pPr>
            <a:endParaRPr lang="en-GB" altLang="en-US" dirty="0"/>
          </a:p>
          <a:p>
            <a:pPr>
              <a:buClr>
                <a:schemeClr val="accent2"/>
              </a:buClr>
            </a:pPr>
            <a:r>
              <a:rPr lang="en-GB" altLang="en-US" dirty="0"/>
              <a:t>and so on, </a:t>
            </a:r>
            <a:r>
              <a:rPr lang="en-GB" altLang="en-US" b="1" dirty="0"/>
              <a:t>until all variance </a:t>
            </a:r>
            <a:r>
              <a:rPr lang="en-GB" altLang="en-US" dirty="0"/>
              <a:t>is </a:t>
            </a:r>
            <a:r>
              <a:rPr lang="en-GB" altLang="en-US" b="1" dirty="0"/>
              <a:t>explained</a:t>
            </a:r>
          </a:p>
        </p:txBody>
      </p:sp>
      <p:grpSp>
        <p:nvGrpSpPr>
          <p:cNvPr id="44" name="Group 43"/>
          <p:cNvGrpSpPr/>
          <p:nvPr/>
        </p:nvGrpSpPr>
        <p:grpSpPr>
          <a:xfrm rot="20168339">
            <a:off x="5267619" y="2554149"/>
            <a:ext cx="3567260" cy="1863159"/>
            <a:chOff x="5140751" y="2209800"/>
            <a:chExt cx="3567260" cy="1863159"/>
          </a:xfrm>
        </p:grpSpPr>
        <p:sp>
          <p:nvSpPr>
            <p:cNvPr id="39" name="Rectangle 38"/>
            <p:cNvSpPr/>
            <p:nvPr/>
          </p:nvSpPr>
          <p:spPr>
            <a:xfrm>
              <a:off x="8077200" y="2442865"/>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47" name="Rectangle 46"/>
            <p:cNvSpPr/>
            <p:nvPr/>
          </p:nvSpPr>
          <p:spPr>
            <a:xfrm>
              <a:off x="7685594" y="2804101"/>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48" name="Rectangle 47"/>
            <p:cNvSpPr/>
            <p:nvPr/>
          </p:nvSpPr>
          <p:spPr>
            <a:xfrm>
              <a:off x="8153400" y="22098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49" name="Rectangle 48"/>
            <p:cNvSpPr/>
            <p:nvPr/>
          </p:nvSpPr>
          <p:spPr>
            <a:xfrm>
              <a:off x="8305800" y="24384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0" name="Rectangle 49"/>
            <p:cNvSpPr/>
            <p:nvPr/>
          </p:nvSpPr>
          <p:spPr>
            <a:xfrm>
              <a:off x="8077200" y="26595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1" name="Rectangle 50"/>
            <p:cNvSpPr/>
            <p:nvPr/>
          </p:nvSpPr>
          <p:spPr>
            <a:xfrm>
              <a:off x="5791200" y="3893682"/>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2" name="Rectangle 51"/>
            <p:cNvSpPr/>
            <p:nvPr/>
          </p:nvSpPr>
          <p:spPr>
            <a:xfrm>
              <a:off x="5638800" y="37338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3" name="Rectangle 52"/>
            <p:cNvSpPr/>
            <p:nvPr/>
          </p:nvSpPr>
          <p:spPr>
            <a:xfrm>
              <a:off x="6166070" y="3355344"/>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4" name="Rectangle 53"/>
            <p:cNvSpPr/>
            <p:nvPr/>
          </p:nvSpPr>
          <p:spPr>
            <a:xfrm>
              <a:off x="5140751" y="3989277"/>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5" name="Rectangle 54"/>
            <p:cNvSpPr/>
            <p:nvPr/>
          </p:nvSpPr>
          <p:spPr>
            <a:xfrm>
              <a:off x="5943600" y="38025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6" name="Rectangle 55"/>
            <p:cNvSpPr/>
            <p:nvPr/>
          </p:nvSpPr>
          <p:spPr>
            <a:xfrm>
              <a:off x="8382000" y="2214265"/>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7" name="Rectangle 56"/>
            <p:cNvSpPr/>
            <p:nvPr/>
          </p:nvSpPr>
          <p:spPr>
            <a:xfrm>
              <a:off x="6477000" y="34215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8" name="Rectangle 57"/>
            <p:cNvSpPr/>
            <p:nvPr/>
          </p:nvSpPr>
          <p:spPr>
            <a:xfrm>
              <a:off x="7239000" y="28956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59" name="Rectangle 58"/>
            <p:cNvSpPr/>
            <p:nvPr/>
          </p:nvSpPr>
          <p:spPr>
            <a:xfrm>
              <a:off x="7772400" y="35814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0" name="Rectangle 59"/>
            <p:cNvSpPr/>
            <p:nvPr/>
          </p:nvSpPr>
          <p:spPr>
            <a:xfrm>
              <a:off x="8045777" y="36501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1" name="Rectangle 60"/>
            <p:cNvSpPr/>
            <p:nvPr/>
          </p:nvSpPr>
          <p:spPr>
            <a:xfrm>
              <a:off x="5882481" y="2556441"/>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2" name="Rectangle 61"/>
            <p:cNvSpPr/>
            <p:nvPr/>
          </p:nvSpPr>
          <p:spPr>
            <a:xfrm>
              <a:off x="6096000" y="2484706"/>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3" name="Rectangle 62"/>
            <p:cNvSpPr/>
            <p:nvPr/>
          </p:nvSpPr>
          <p:spPr>
            <a:xfrm>
              <a:off x="6019800" y="2720419"/>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4" name="Rectangle 63"/>
            <p:cNvSpPr/>
            <p:nvPr/>
          </p:nvSpPr>
          <p:spPr>
            <a:xfrm>
              <a:off x="7924800" y="34977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5" name="Rectangle 64"/>
            <p:cNvSpPr/>
            <p:nvPr/>
          </p:nvSpPr>
          <p:spPr>
            <a:xfrm>
              <a:off x="7924800" y="38787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6" name="Rectangle 65"/>
            <p:cNvSpPr/>
            <p:nvPr/>
          </p:nvSpPr>
          <p:spPr>
            <a:xfrm>
              <a:off x="8153400" y="38100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7" name="Rectangle 66"/>
            <p:cNvSpPr/>
            <p:nvPr/>
          </p:nvSpPr>
          <p:spPr>
            <a:xfrm>
              <a:off x="6477000" y="25908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8" name="Rectangle 67"/>
            <p:cNvSpPr/>
            <p:nvPr/>
          </p:nvSpPr>
          <p:spPr>
            <a:xfrm>
              <a:off x="8373359" y="3355344"/>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69" name="Rectangle 68"/>
            <p:cNvSpPr/>
            <p:nvPr/>
          </p:nvSpPr>
          <p:spPr>
            <a:xfrm>
              <a:off x="5715000" y="31167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70" name="Rectangle 69"/>
            <p:cNvSpPr/>
            <p:nvPr/>
          </p:nvSpPr>
          <p:spPr>
            <a:xfrm>
              <a:off x="6248400" y="2659518"/>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71" name="Rectangle 70"/>
            <p:cNvSpPr/>
            <p:nvPr/>
          </p:nvSpPr>
          <p:spPr>
            <a:xfrm>
              <a:off x="6781800" y="30480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72" name="Rectangle 71"/>
            <p:cNvSpPr/>
            <p:nvPr/>
          </p:nvSpPr>
          <p:spPr>
            <a:xfrm>
              <a:off x="7239000" y="33528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73" name="Rectangle 72"/>
            <p:cNvSpPr/>
            <p:nvPr/>
          </p:nvSpPr>
          <p:spPr>
            <a:xfrm>
              <a:off x="8345471" y="3700375"/>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74" name="Rectangle 73"/>
            <p:cNvSpPr/>
            <p:nvPr/>
          </p:nvSpPr>
          <p:spPr>
            <a:xfrm>
              <a:off x="7086600" y="3886200"/>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75" name="Rectangle 74"/>
            <p:cNvSpPr/>
            <p:nvPr/>
          </p:nvSpPr>
          <p:spPr>
            <a:xfrm>
              <a:off x="8631811" y="3665082"/>
              <a:ext cx="76200" cy="8368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grpSp>
      <p:cxnSp>
        <p:nvCxnSpPr>
          <p:cNvPr id="46" name="Straight Connector 45"/>
          <p:cNvCxnSpPr/>
          <p:nvPr/>
        </p:nvCxnSpPr>
        <p:spPr>
          <a:xfrm flipV="1">
            <a:off x="5109721" y="2514600"/>
            <a:ext cx="3805679" cy="2010369"/>
          </a:xfrm>
          <a:prstGeom prst="line">
            <a:avLst/>
          </a:prstGeom>
        </p:spPr>
        <p:style>
          <a:lnRef idx="3">
            <a:schemeClr val="accent3"/>
          </a:lnRef>
          <a:fillRef idx="0">
            <a:schemeClr val="accent3"/>
          </a:fillRef>
          <a:effectRef idx="2">
            <a:schemeClr val="accent3"/>
          </a:effectRef>
          <a:fontRef idx="minor">
            <a:schemeClr val="tx1"/>
          </a:fontRef>
        </p:style>
      </p:cxnSp>
      <p:cxnSp>
        <p:nvCxnSpPr>
          <p:cNvPr id="82" name="Straight Connector 81"/>
          <p:cNvCxnSpPr/>
          <p:nvPr/>
        </p:nvCxnSpPr>
        <p:spPr>
          <a:xfrm>
            <a:off x="6487211" y="2438400"/>
            <a:ext cx="1219200" cy="2200869"/>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96624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barn(inVertical)">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2"/>
                                        </p:tgtEl>
                                        <p:attrNameLst>
                                          <p:attrName>style.visibility</p:attrName>
                                        </p:attrNameLst>
                                      </p:cBhvr>
                                      <p:to>
                                        <p:strVal val="visible"/>
                                      </p:to>
                                    </p:set>
                                    <p:animEffect transition="in" filter="barn(inVertical)">
                                      <p:cBhvr>
                                        <p:cTn id="2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Rectangle 5"/>
          <p:cNvSpPr>
            <a:spLocks noChangeArrowheads="1"/>
          </p:cNvSpPr>
          <p:nvPr/>
        </p:nvSpPr>
        <p:spPr bwMode="auto">
          <a:xfrm>
            <a:off x="304800" y="685801"/>
            <a:ext cx="7848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chemeClr val="accent2"/>
              </a:buClr>
            </a:pPr>
            <a:r>
              <a:rPr lang="en-GB" altLang="en-US" b="1" dirty="0">
                <a:latin typeface="+mn-lt"/>
              </a:rPr>
              <a:t>Eigenvalue</a:t>
            </a:r>
            <a:r>
              <a:rPr lang="en-GB" altLang="en-US" dirty="0">
                <a:latin typeface="+mn-lt"/>
              </a:rPr>
              <a:t> </a:t>
            </a:r>
            <a:r>
              <a:rPr lang="en-GB" altLang="en-US" b="1" dirty="0">
                <a:latin typeface="+mn-lt"/>
              </a:rPr>
              <a:t>is</a:t>
            </a:r>
            <a:r>
              <a:rPr lang="en-GB" altLang="en-US" dirty="0">
                <a:latin typeface="+mn-lt"/>
              </a:rPr>
              <a:t> the </a:t>
            </a:r>
            <a:r>
              <a:rPr lang="en-GB" altLang="en-US" b="1" dirty="0">
                <a:latin typeface="+mn-lt"/>
              </a:rPr>
              <a:t>amount of variation explained</a:t>
            </a:r>
            <a:r>
              <a:rPr lang="en-GB" altLang="en-US" dirty="0">
                <a:latin typeface="+mn-lt"/>
              </a:rPr>
              <a:t> by one component. (Principal Eigenvalue is the maximal value)</a:t>
            </a:r>
          </a:p>
        </p:txBody>
      </p:sp>
      <p:sp>
        <p:nvSpPr>
          <p:cNvPr id="2" name="Title 1"/>
          <p:cNvSpPr>
            <a:spLocks noGrp="1"/>
          </p:cNvSpPr>
          <p:nvPr>
            <p:ph type="title"/>
          </p:nvPr>
        </p:nvSpPr>
        <p:spPr/>
        <p:txBody>
          <a:bodyPr/>
          <a:lstStyle/>
          <a:p>
            <a:r>
              <a:rPr lang="en-GB" dirty="0"/>
              <a:t>Factor Extraction</a:t>
            </a:r>
          </a:p>
        </p:txBody>
      </p:sp>
      <p:sp>
        <p:nvSpPr>
          <p:cNvPr id="4" name="Rectangle 3"/>
          <p:cNvSpPr/>
          <p:nvPr/>
        </p:nvSpPr>
        <p:spPr>
          <a:xfrm>
            <a:off x="304800" y="1600200"/>
            <a:ext cx="4572000" cy="1181862"/>
          </a:xfrm>
          <a:prstGeom prst="rect">
            <a:avLst/>
          </a:prstGeom>
        </p:spPr>
        <p:txBody>
          <a:bodyPr>
            <a:spAutoFit/>
          </a:bodyPr>
          <a:lstStyle/>
          <a:p>
            <a:pPr>
              <a:spcBef>
                <a:spcPct val="20000"/>
              </a:spcBef>
              <a:buClr>
                <a:schemeClr val="accent2"/>
              </a:buClr>
            </a:pPr>
            <a:r>
              <a:rPr lang="en-GB" altLang="en-US" dirty="0"/>
              <a:t>As a default SPSS uses the eigenvalue as a basis for retaining factors; it </a:t>
            </a:r>
            <a:r>
              <a:rPr lang="en-GB" altLang="en-US" b="1" dirty="0"/>
              <a:t>extracts factors with eigenvalue &gt; 1</a:t>
            </a:r>
          </a:p>
          <a:p>
            <a:pPr lvl="1">
              <a:spcBef>
                <a:spcPct val="20000"/>
              </a:spcBef>
              <a:buClr>
                <a:schemeClr val="accent2"/>
              </a:buClr>
            </a:pPr>
            <a:r>
              <a:rPr lang="en-GB" altLang="en-US" sz="1400" dirty="0"/>
              <a:t>a rule put forward by Kaiser</a:t>
            </a:r>
            <a:r>
              <a:rPr lang="en-GB" altLang="en-US" sz="1400" baseline="30000" dirty="0"/>
              <a:t>1</a:t>
            </a:r>
            <a:endParaRPr lang="en-GB" altLang="en-US" dirty="0"/>
          </a:p>
        </p:txBody>
      </p:sp>
      <p:sp>
        <p:nvSpPr>
          <p:cNvPr id="5" name="Rectangle 4"/>
          <p:cNvSpPr/>
          <p:nvPr/>
        </p:nvSpPr>
        <p:spPr>
          <a:xfrm>
            <a:off x="304800" y="2880074"/>
            <a:ext cx="3657600" cy="1532727"/>
          </a:xfrm>
          <a:prstGeom prst="rect">
            <a:avLst/>
          </a:prstGeom>
        </p:spPr>
        <p:txBody>
          <a:bodyPr wrap="square">
            <a:spAutoFit/>
          </a:bodyPr>
          <a:lstStyle/>
          <a:p>
            <a:pPr>
              <a:spcBef>
                <a:spcPct val="20000"/>
              </a:spcBef>
              <a:buClr>
                <a:schemeClr val="accent2"/>
              </a:buClr>
            </a:pPr>
            <a:r>
              <a:rPr lang="en-GB" altLang="en-US" dirty="0"/>
              <a:t>Or, we </a:t>
            </a:r>
            <a:r>
              <a:rPr lang="en-GB" altLang="en-US" b="1" dirty="0"/>
              <a:t>look at the scree plot, and</a:t>
            </a:r>
            <a:r>
              <a:rPr lang="en-GB" altLang="en-US" dirty="0"/>
              <a:t> usually observe how many factors there are, before </a:t>
            </a:r>
            <a:r>
              <a:rPr lang="en-GB" altLang="en-US" b="1" dirty="0"/>
              <a:t>the point of inflection</a:t>
            </a:r>
            <a:r>
              <a:rPr lang="en-GB" altLang="en-US" baseline="30000" dirty="0"/>
              <a:t>2</a:t>
            </a:r>
            <a:endParaRPr lang="en-GB" altLang="en-US" b="1" dirty="0"/>
          </a:p>
          <a:p>
            <a:pPr>
              <a:spcBef>
                <a:spcPct val="20000"/>
              </a:spcBef>
              <a:buClr>
                <a:schemeClr val="accent2"/>
              </a:buClr>
            </a:pPr>
            <a:endParaRPr lang="en-US" altLang="en-US" b="1"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133600"/>
            <a:ext cx="4050151" cy="3209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0" y="6096000"/>
            <a:ext cx="8686801" cy="600164"/>
          </a:xfrm>
          <a:prstGeom prst="rect">
            <a:avLst/>
          </a:prstGeom>
        </p:spPr>
        <p:txBody>
          <a:bodyPr wrap="square">
            <a:spAutoFit/>
          </a:bodyPr>
          <a:lstStyle/>
          <a:p>
            <a:r>
              <a:rPr lang="en-GB" sz="1100" dirty="0"/>
              <a:t>Kaiser, H.F. (1960). The application of electronic computers to factor analysis. </a:t>
            </a:r>
            <a:r>
              <a:rPr lang="en-GB" sz="1100" i="1" dirty="0"/>
              <a:t>Educational and Psychological Measurement, 20</a:t>
            </a:r>
            <a:r>
              <a:rPr lang="en-GB" sz="1100" dirty="0"/>
              <a:t>, 141–151. </a:t>
            </a:r>
          </a:p>
          <a:p>
            <a:r>
              <a:rPr lang="en-GB" sz="1100" dirty="0"/>
              <a:t>Cattell, R.B. (1966). The scree test for the number of factors. </a:t>
            </a:r>
            <a:r>
              <a:rPr lang="en-GB" sz="1100" i="1" dirty="0"/>
              <a:t>Multivariate </a:t>
            </a:r>
            <a:r>
              <a:rPr lang="en-GB" sz="1100" i="1" dirty="0" err="1"/>
              <a:t>Behavioral</a:t>
            </a:r>
            <a:r>
              <a:rPr lang="en-GB" sz="1100" i="1" dirty="0"/>
              <a:t> Research, 1</a:t>
            </a:r>
            <a:r>
              <a:rPr lang="en-GB" sz="1100" dirty="0"/>
              <a:t>, 245–276.</a:t>
            </a:r>
          </a:p>
          <a:p>
            <a:endParaRPr lang="en-GB" sz="1100" dirty="0"/>
          </a:p>
        </p:txBody>
      </p:sp>
    </p:spTree>
    <p:extLst>
      <p:ext uri="{BB962C8B-B14F-4D97-AF65-F5344CB8AC3E}">
        <p14:creationId xmlns:p14="http://schemas.microsoft.com/office/powerpoint/2010/main" val="234284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Factor Extraction</a:t>
            </a:r>
          </a:p>
        </p:txBody>
      </p:sp>
      <p:grpSp>
        <p:nvGrpSpPr>
          <p:cNvPr id="3" name="Group 2"/>
          <p:cNvGrpSpPr/>
          <p:nvPr/>
        </p:nvGrpSpPr>
        <p:grpSpPr>
          <a:xfrm>
            <a:off x="1752600" y="3242733"/>
            <a:ext cx="5875401" cy="2478018"/>
            <a:chOff x="2362200" y="2895600"/>
            <a:chExt cx="5875401" cy="2478018"/>
          </a:xfrm>
        </p:grpSpPr>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895600"/>
              <a:ext cx="5875401" cy="2478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124200" y="3048000"/>
              <a:ext cx="4286879" cy="646331"/>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HOW MANY FACTORS IN FACTOR ANALYSIS?</a:t>
              </a:r>
            </a:p>
            <a:p>
              <a:r>
                <a:rPr lang="en-GB" b="1" dirty="0"/>
                <a:t>READ THE 2-PAGE ARTICLE ON VLE</a:t>
              </a:r>
            </a:p>
          </p:txBody>
        </p:sp>
      </p:grpSp>
      <p:sp>
        <p:nvSpPr>
          <p:cNvPr id="8" name="Rectangle 7"/>
          <p:cNvSpPr/>
          <p:nvPr/>
        </p:nvSpPr>
        <p:spPr>
          <a:xfrm>
            <a:off x="304800" y="838200"/>
            <a:ext cx="8382000" cy="2031325"/>
          </a:xfrm>
          <a:prstGeom prst="rect">
            <a:avLst/>
          </a:prstGeom>
        </p:spPr>
        <p:txBody>
          <a:bodyPr wrap="square">
            <a:spAutoFit/>
          </a:bodyPr>
          <a:lstStyle/>
          <a:p>
            <a:pPr>
              <a:buClr>
                <a:schemeClr val="accent2"/>
              </a:buClr>
            </a:pPr>
            <a:r>
              <a:rPr lang="en-GB" altLang="en-US" dirty="0"/>
              <a:t>More appropriate approaches:-</a:t>
            </a:r>
          </a:p>
          <a:p>
            <a:pPr lvl="1">
              <a:buClr>
                <a:schemeClr val="accent2"/>
              </a:buClr>
            </a:pPr>
            <a:r>
              <a:rPr lang="en-GB" b="1" dirty="0"/>
              <a:t>Minimum average partial</a:t>
            </a:r>
            <a:r>
              <a:rPr lang="en-GB" b="1" baseline="30000" dirty="0"/>
              <a:t>3</a:t>
            </a:r>
            <a:r>
              <a:rPr lang="en-GB" b="1" dirty="0"/>
              <a:t> (MAP) </a:t>
            </a:r>
          </a:p>
          <a:p>
            <a:pPr lvl="2">
              <a:buClr>
                <a:schemeClr val="accent2"/>
              </a:buClr>
            </a:pPr>
            <a:r>
              <a:rPr lang="en-GB" dirty="0" err="1"/>
              <a:t>Velicer</a:t>
            </a:r>
            <a:r>
              <a:rPr lang="en-GB" dirty="0"/>
              <a:t>, W.F. (1976). Determining the number of components from the matrix of partial correlations.</a:t>
            </a:r>
          </a:p>
          <a:p>
            <a:pPr lvl="1">
              <a:buClr>
                <a:schemeClr val="accent2"/>
              </a:buClr>
            </a:pPr>
            <a:r>
              <a:rPr lang="en-GB" b="1" dirty="0"/>
              <a:t>Parallel Analysis</a:t>
            </a:r>
            <a:r>
              <a:rPr lang="en-GB" b="1" baseline="30000" dirty="0"/>
              <a:t>4</a:t>
            </a:r>
          </a:p>
          <a:p>
            <a:pPr lvl="2"/>
            <a:r>
              <a:rPr lang="en-GB" dirty="0"/>
              <a:t>Horn, J.L. (1965). A rationale and test for the number of factors in factor analysis. </a:t>
            </a:r>
            <a:r>
              <a:rPr lang="en-GB" i="1" dirty="0" err="1"/>
              <a:t>Psychometrika</a:t>
            </a:r>
            <a:r>
              <a:rPr lang="en-GB" i="1" dirty="0"/>
              <a:t>, 30</a:t>
            </a:r>
            <a:r>
              <a:rPr lang="en-GB" dirty="0"/>
              <a:t>, 179–185.</a:t>
            </a:r>
          </a:p>
        </p:txBody>
      </p:sp>
    </p:spTree>
    <p:extLst>
      <p:ext uri="{BB962C8B-B14F-4D97-AF65-F5344CB8AC3E}">
        <p14:creationId xmlns:p14="http://schemas.microsoft.com/office/powerpoint/2010/main" val="2905059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33E0-0015-4A95-8D6B-3B1A7712F7B4}"/>
              </a:ext>
            </a:extLst>
          </p:cNvPr>
          <p:cNvSpPr>
            <a:spLocks noGrp="1"/>
          </p:cNvSpPr>
          <p:nvPr>
            <p:ph type="title"/>
          </p:nvPr>
        </p:nvSpPr>
        <p:spPr>
          <a:xfrm>
            <a:off x="304800" y="6019800"/>
            <a:ext cx="8229600" cy="1143000"/>
          </a:xfrm>
        </p:spPr>
        <p:txBody>
          <a:bodyPr/>
          <a:lstStyle/>
          <a:p>
            <a:r>
              <a:rPr lang="en-GB" dirty="0"/>
              <a:t>10 Minutes Break</a:t>
            </a:r>
          </a:p>
        </p:txBody>
      </p:sp>
    </p:spTree>
    <p:extLst>
      <p:ext uri="{BB962C8B-B14F-4D97-AF65-F5344CB8AC3E}">
        <p14:creationId xmlns:p14="http://schemas.microsoft.com/office/powerpoint/2010/main" val="1750543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633E0-0015-4A95-8D6B-3B1A7712F7B4}"/>
              </a:ext>
            </a:extLst>
          </p:cNvPr>
          <p:cNvSpPr>
            <a:spLocks noGrp="1"/>
          </p:cNvSpPr>
          <p:nvPr>
            <p:ph type="title"/>
          </p:nvPr>
        </p:nvSpPr>
        <p:spPr/>
        <p:txBody>
          <a:bodyPr/>
          <a:lstStyle/>
          <a:p>
            <a:r>
              <a:rPr lang="en-GB" dirty="0"/>
              <a:t>Communalities</a:t>
            </a:r>
          </a:p>
        </p:txBody>
      </p:sp>
      <p:sp>
        <p:nvSpPr>
          <p:cNvPr id="3" name="Rectangle 2">
            <a:extLst>
              <a:ext uri="{FF2B5EF4-FFF2-40B4-BE49-F238E27FC236}">
                <a16:creationId xmlns:a16="http://schemas.microsoft.com/office/drawing/2014/main" id="{0BE95B5C-7A35-4B83-94F3-67509D47B423}"/>
              </a:ext>
            </a:extLst>
          </p:cNvPr>
          <p:cNvSpPr/>
          <p:nvPr/>
        </p:nvSpPr>
        <p:spPr>
          <a:xfrm>
            <a:off x="3695700" y="1524000"/>
            <a:ext cx="5181600" cy="923330"/>
          </a:xfrm>
          <a:prstGeom prst="rect">
            <a:avLst/>
          </a:prstGeom>
        </p:spPr>
        <p:txBody>
          <a:bodyPr wrap="square">
            <a:spAutoFit/>
          </a:bodyPr>
          <a:lstStyle/>
          <a:p>
            <a:r>
              <a:rPr lang="en-GB" b="1" dirty="0">
                <a:solidFill>
                  <a:srgbClr val="202124"/>
                </a:solidFill>
                <a:latin typeface="arial" panose="020B0604020202020204" pitchFamily="34" charset="0"/>
              </a:rPr>
              <a:t>Communalities</a:t>
            </a:r>
            <a:r>
              <a:rPr lang="en-GB" dirty="0">
                <a:solidFill>
                  <a:srgbClr val="202124"/>
                </a:solidFill>
                <a:latin typeface="arial" panose="020B0604020202020204" pitchFamily="34" charset="0"/>
              </a:rPr>
              <a:t> – This is the proportion of each variable's variance that can be explained by the </a:t>
            </a:r>
            <a:r>
              <a:rPr lang="en-GB" b="1" dirty="0">
                <a:solidFill>
                  <a:srgbClr val="202124"/>
                </a:solidFill>
                <a:latin typeface="arial" panose="020B0604020202020204" pitchFamily="34" charset="0"/>
              </a:rPr>
              <a:t>factors</a:t>
            </a:r>
            <a:r>
              <a:rPr lang="en-GB" dirty="0">
                <a:solidFill>
                  <a:srgbClr val="202124"/>
                </a:solidFill>
                <a:latin typeface="arial" panose="020B0604020202020204" pitchFamily="34" charset="0"/>
              </a:rPr>
              <a:t> (e.g., the underlying latent continua)</a:t>
            </a:r>
            <a:endParaRPr lang="en-GB" dirty="0"/>
          </a:p>
        </p:txBody>
      </p:sp>
      <p:pic>
        <p:nvPicPr>
          <p:cNvPr id="4" name="Picture 3">
            <a:extLst>
              <a:ext uri="{FF2B5EF4-FFF2-40B4-BE49-F238E27FC236}">
                <a16:creationId xmlns:a16="http://schemas.microsoft.com/office/drawing/2014/main" id="{39C03A01-D437-41BF-81A1-C14CDC3CFC55}"/>
              </a:ext>
            </a:extLst>
          </p:cNvPr>
          <p:cNvPicPr>
            <a:picLocks noChangeAspect="1"/>
          </p:cNvPicPr>
          <p:nvPr/>
        </p:nvPicPr>
        <p:blipFill>
          <a:blip r:embed="rId2"/>
          <a:stretch>
            <a:fillRect/>
          </a:stretch>
        </p:blipFill>
        <p:spPr>
          <a:xfrm>
            <a:off x="0" y="1219200"/>
            <a:ext cx="3695700" cy="4000500"/>
          </a:xfrm>
          <a:prstGeom prst="rect">
            <a:avLst/>
          </a:prstGeom>
        </p:spPr>
      </p:pic>
    </p:spTree>
    <p:extLst>
      <p:ext uri="{BB962C8B-B14F-4D97-AF65-F5344CB8AC3E}">
        <p14:creationId xmlns:p14="http://schemas.microsoft.com/office/powerpoint/2010/main" val="263348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5" y="1143000"/>
            <a:ext cx="9105900" cy="452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4538281" y="846826"/>
            <a:ext cx="4571215" cy="5638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Factor Extraction</a:t>
            </a:r>
          </a:p>
        </p:txBody>
      </p:sp>
      <p:grpSp>
        <p:nvGrpSpPr>
          <p:cNvPr id="8" name="Group 7"/>
          <p:cNvGrpSpPr/>
          <p:nvPr/>
        </p:nvGrpSpPr>
        <p:grpSpPr>
          <a:xfrm>
            <a:off x="4676193" y="2309214"/>
            <a:ext cx="3651250" cy="3124200"/>
            <a:chOff x="5111750" y="2057400"/>
            <a:chExt cx="3651250" cy="3124200"/>
          </a:xfrm>
        </p:grpSpPr>
        <p:cxnSp>
          <p:nvCxnSpPr>
            <p:cNvPr id="39" name="Straight Connector 38"/>
            <p:cNvCxnSpPr/>
            <p:nvPr/>
          </p:nvCxnSpPr>
          <p:spPr>
            <a:xfrm>
              <a:off x="6927948" y="2057400"/>
              <a:ext cx="0" cy="3124200"/>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a:xfrm>
              <a:off x="5111750" y="3544347"/>
              <a:ext cx="3651250" cy="0"/>
            </a:xfrm>
            <a:prstGeom prst="line">
              <a:avLst/>
            </a:prstGeom>
          </p:spPr>
          <p:style>
            <a:lnRef idx="2">
              <a:schemeClr val="dk1"/>
            </a:lnRef>
            <a:fillRef idx="0">
              <a:schemeClr val="dk1"/>
            </a:fillRef>
            <a:effectRef idx="1">
              <a:schemeClr val="dk1"/>
            </a:effectRef>
            <a:fontRef idx="minor">
              <a:schemeClr val="tx1"/>
            </a:fontRef>
          </p:style>
        </p:cxnSp>
      </p:grpSp>
      <p:sp>
        <p:nvSpPr>
          <p:cNvPr id="3" name="TextBox 2"/>
          <p:cNvSpPr txBox="1"/>
          <p:nvPr/>
        </p:nvSpPr>
        <p:spPr>
          <a:xfrm>
            <a:off x="8273992" y="3625883"/>
            <a:ext cx="465192" cy="307777"/>
          </a:xfrm>
          <a:prstGeom prst="rect">
            <a:avLst/>
          </a:prstGeom>
          <a:noFill/>
        </p:spPr>
        <p:txBody>
          <a:bodyPr wrap="none" rtlCol="0">
            <a:spAutoFit/>
          </a:bodyPr>
          <a:lstStyle/>
          <a:p>
            <a:r>
              <a:rPr lang="en-GB" sz="1400" b="1" dirty="0"/>
              <a:t>PC1</a:t>
            </a:r>
          </a:p>
        </p:txBody>
      </p:sp>
      <p:sp>
        <p:nvSpPr>
          <p:cNvPr id="42" name="TextBox 41"/>
          <p:cNvSpPr txBox="1"/>
          <p:nvPr/>
        </p:nvSpPr>
        <p:spPr>
          <a:xfrm>
            <a:off x="6277828" y="2056941"/>
            <a:ext cx="466794" cy="307777"/>
          </a:xfrm>
          <a:prstGeom prst="rect">
            <a:avLst/>
          </a:prstGeom>
          <a:noFill/>
        </p:spPr>
        <p:txBody>
          <a:bodyPr wrap="none" rtlCol="0">
            <a:spAutoFit/>
          </a:bodyPr>
          <a:lstStyle/>
          <a:p>
            <a:r>
              <a:rPr lang="en-GB" sz="1400" b="1" dirty="0"/>
              <a:t>PC2</a:t>
            </a:r>
          </a:p>
        </p:txBody>
      </p:sp>
      <p:grpSp>
        <p:nvGrpSpPr>
          <p:cNvPr id="48" name="Group 47"/>
          <p:cNvGrpSpPr/>
          <p:nvPr/>
        </p:nvGrpSpPr>
        <p:grpSpPr>
          <a:xfrm>
            <a:off x="4676193" y="2309673"/>
            <a:ext cx="3651250" cy="3124200"/>
            <a:chOff x="5111750" y="2057400"/>
            <a:chExt cx="3651250" cy="3124200"/>
          </a:xfrm>
        </p:grpSpPr>
        <p:cxnSp>
          <p:nvCxnSpPr>
            <p:cNvPr id="79" name="Straight Connector 78"/>
            <p:cNvCxnSpPr/>
            <p:nvPr/>
          </p:nvCxnSpPr>
          <p:spPr>
            <a:xfrm>
              <a:off x="6927948" y="2057400"/>
              <a:ext cx="0" cy="312420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cxnSp>
          <p:nvCxnSpPr>
            <p:cNvPr id="80" name="Straight Connector 79"/>
            <p:cNvCxnSpPr/>
            <p:nvPr/>
          </p:nvCxnSpPr>
          <p:spPr>
            <a:xfrm>
              <a:off x="5111750" y="3544347"/>
              <a:ext cx="3651250" cy="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grpSp>
      <p:sp>
        <p:nvSpPr>
          <p:cNvPr id="47" name="TextBox 46"/>
          <p:cNvSpPr txBox="1"/>
          <p:nvPr/>
        </p:nvSpPr>
        <p:spPr>
          <a:xfrm>
            <a:off x="6277828" y="2057400"/>
            <a:ext cx="466794" cy="307777"/>
          </a:xfrm>
          <a:prstGeom prst="rect">
            <a:avLst/>
          </a:prstGeom>
          <a:noFill/>
        </p:spPr>
        <p:txBody>
          <a:bodyPr wrap="none" rtlCol="0">
            <a:spAutoFit/>
          </a:bodyPr>
          <a:lstStyle/>
          <a:p>
            <a:r>
              <a:rPr lang="en-GB" sz="1400" b="1" dirty="0">
                <a:solidFill>
                  <a:schemeClr val="bg1">
                    <a:lumMod val="75000"/>
                  </a:schemeClr>
                </a:solidFill>
              </a:rPr>
              <a:t>PC2</a:t>
            </a:r>
          </a:p>
        </p:txBody>
      </p:sp>
      <p:grpSp>
        <p:nvGrpSpPr>
          <p:cNvPr id="82" name="Group 81"/>
          <p:cNvGrpSpPr/>
          <p:nvPr/>
        </p:nvGrpSpPr>
        <p:grpSpPr>
          <a:xfrm>
            <a:off x="4683858" y="2338754"/>
            <a:ext cx="3651250" cy="3124200"/>
            <a:chOff x="5172173" y="1812715"/>
            <a:chExt cx="3651250" cy="3124200"/>
          </a:xfrm>
          <a:solidFill>
            <a:schemeClr val="bg1">
              <a:lumMod val="85000"/>
            </a:schemeClr>
          </a:solidFill>
        </p:grpSpPr>
        <p:grpSp>
          <p:nvGrpSpPr>
            <p:cNvPr id="83" name="Group 82"/>
            <p:cNvGrpSpPr/>
            <p:nvPr/>
          </p:nvGrpSpPr>
          <p:grpSpPr>
            <a:xfrm>
              <a:off x="5172173" y="1812715"/>
              <a:ext cx="3651250" cy="3124200"/>
              <a:chOff x="5111750" y="2057400"/>
              <a:chExt cx="3651250" cy="3124200"/>
            </a:xfrm>
            <a:grpFill/>
          </p:grpSpPr>
          <p:cxnSp>
            <p:nvCxnSpPr>
              <p:cNvPr id="108" name="Straight Connector 107"/>
              <p:cNvCxnSpPr/>
              <p:nvPr/>
            </p:nvCxnSpPr>
            <p:spPr>
              <a:xfrm>
                <a:off x="6927948" y="2057400"/>
                <a:ext cx="0" cy="3124200"/>
              </a:xfrm>
              <a:prstGeom prst="line">
                <a:avLst/>
              </a:prstGeom>
              <a:grpFill/>
              <a:ln>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cxnSp>
            <p:nvCxnSpPr>
              <p:cNvPr id="109" name="Straight Connector 108"/>
              <p:cNvCxnSpPr/>
              <p:nvPr/>
            </p:nvCxnSpPr>
            <p:spPr>
              <a:xfrm>
                <a:off x="5111750" y="3544347"/>
                <a:ext cx="3651250" cy="0"/>
              </a:xfrm>
              <a:prstGeom prst="line">
                <a:avLst/>
              </a:prstGeom>
              <a:grpFill/>
              <a:ln>
                <a:solidFill>
                  <a:schemeClr val="tx1">
                    <a:lumMod val="50000"/>
                    <a:lumOff val="50000"/>
                  </a:schemeClr>
                </a:solidFill>
              </a:ln>
            </p:spPr>
            <p:style>
              <a:lnRef idx="2">
                <a:schemeClr val="dk1"/>
              </a:lnRef>
              <a:fillRef idx="0">
                <a:schemeClr val="dk1"/>
              </a:fillRef>
              <a:effectRef idx="1">
                <a:schemeClr val="dk1"/>
              </a:effectRef>
              <a:fontRef idx="minor">
                <a:schemeClr val="tx1"/>
              </a:fontRef>
            </p:style>
          </p:cxnSp>
        </p:grpSp>
        <p:sp>
          <p:nvSpPr>
            <p:cNvPr id="84" name="Rectangle 83"/>
            <p:cNvSpPr/>
            <p:nvPr/>
          </p:nvSpPr>
          <p:spPr>
            <a:xfrm>
              <a:off x="8077200" y="2442865"/>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85" name="Rectangle 84"/>
            <p:cNvSpPr/>
            <p:nvPr/>
          </p:nvSpPr>
          <p:spPr>
            <a:xfrm>
              <a:off x="7848600" y="2514600"/>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86" name="Rectangle 85"/>
            <p:cNvSpPr/>
            <p:nvPr/>
          </p:nvSpPr>
          <p:spPr>
            <a:xfrm>
              <a:off x="8153400" y="2209800"/>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87" name="Rectangle 86"/>
            <p:cNvSpPr/>
            <p:nvPr/>
          </p:nvSpPr>
          <p:spPr>
            <a:xfrm>
              <a:off x="8305800" y="2438400"/>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88" name="Rectangle 87"/>
            <p:cNvSpPr/>
            <p:nvPr/>
          </p:nvSpPr>
          <p:spPr>
            <a:xfrm>
              <a:off x="8077200" y="2659518"/>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89" name="Rectangle 88"/>
            <p:cNvSpPr/>
            <p:nvPr/>
          </p:nvSpPr>
          <p:spPr>
            <a:xfrm>
              <a:off x="5791200" y="3893682"/>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90" name="Rectangle 89"/>
            <p:cNvSpPr/>
            <p:nvPr/>
          </p:nvSpPr>
          <p:spPr>
            <a:xfrm>
              <a:off x="5638800" y="3733800"/>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91" name="Rectangle 90"/>
            <p:cNvSpPr/>
            <p:nvPr/>
          </p:nvSpPr>
          <p:spPr>
            <a:xfrm>
              <a:off x="5943600" y="3657600"/>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92" name="Rectangle 91"/>
            <p:cNvSpPr/>
            <p:nvPr/>
          </p:nvSpPr>
          <p:spPr>
            <a:xfrm>
              <a:off x="5562600" y="3969882"/>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93" name="Rectangle 92"/>
            <p:cNvSpPr/>
            <p:nvPr/>
          </p:nvSpPr>
          <p:spPr>
            <a:xfrm>
              <a:off x="5943600" y="3802518"/>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94" name="Rectangle 93"/>
            <p:cNvSpPr/>
            <p:nvPr/>
          </p:nvSpPr>
          <p:spPr>
            <a:xfrm>
              <a:off x="8382000" y="2214265"/>
              <a:ext cx="76200" cy="83682"/>
            </a:xfrm>
            <a:prstGeom prst="rect">
              <a:avLst/>
            </a:prstGeom>
            <a:grpFill/>
            <a:ln>
              <a:solidFill>
                <a:schemeClr val="tx1">
                  <a:lumMod val="50000"/>
                  <a:lumOff val="5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96" name="Rectangle 95"/>
            <p:cNvSpPr/>
            <p:nvPr/>
          </p:nvSpPr>
          <p:spPr>
            <a:xfrm>
              <a:off x="7772400" y="3581400"/>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97" name="Rectangle 96"/>
            <p:cNvSpPr/>
            <p:nvPr/>
          </p:nvSpPr>
          <p:spPr>
            <a:xfrm>
              <a:off x="8045777" y="3650118"/>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98" name="Rectangle 97"/>
            <p:cNvSpPr/>
            <p:nvPr/>
          </p:nvSpPr>
          <p:spPr>
            <a:xfrm>
              <a:off x="5882481" y="2556441"/>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99" name="Rectangle 98"/>
            <p:cNvSpPr/>
            <p:nvPr/>
          </p:nvSpPr>
          <p:spPr>
            <a:xfrm>
              <a:off x="6096000" y="2484706"/>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0" name="Rectangle 99"/>
            <p:cNvSpPr/>
            <p:nvPr/>
          </p:nvSpPr>
          <p:spPr>
            <a:xfrm>
              <a:off x="6019800" y="2720419"/>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1" name="Rectangle 100"/>
            <p:cNvSpPr/>
            <p:nvPr/>
          </p:nvSpPr>
          <p:spPr>
            <a:xfrm>
              <a:off x="7924800" y="3497718"/>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2" name="Rectangle 101"/>
            <p:cNvSpPr/>
            <p:nvPr/>
          </p:nvSpPr>
          <p:spPr>
            <a:xfrm>
              <a:off x="7924800" y="3878718"/>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3" name="Rectangle 102"/>
            <p:cNvSpPr/>
            <p:nvPr/>
          </p:nvSpPr>
          <p:spPr>
            <a:xfrm>
              <a:off x="8153400" y="3810000"/>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4" name="Rectangle 103"/>
            <p:cNvSpPr/>
            <p:nvPr/>
          </p:nvSpPr>
          <p:spPr>
            <a:xfrm>
              <a:off x="6477000" y="2590800"/>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5" name="Rectangle 104"/>
            <p:cNvSpPr/>
            <p:nvPr/>
          </p:nvSpPr>
          <p:spPr>
            <a:xfrm>
              <a:off x="8373359" y="3835306"/>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6" name="Rectangle 105"/>
            <p:cNvSpPr/>
            <p:nvPr/>
          </p:nvSpPr>
          <p:spPr>
            <a:xfrm>
              <a:off x="6248400" y="2659518"/>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7" name="Rectangle 106"/>
            <p:cNvSpPr/>
            <p:nvPr/>
          </p:nvSpPr>
          <p:spPr>
            <a:xfrm>
              <a:off x="8153400" y="4031118"/>
              <a:ext cx="76200" cy="83682"/>
            </a:xfrm>
            <a:prstGeom prst="rect">
              <a:avLst/>
            </a:prstGeom>
            <a:grpFill/>
            <a:ln>
              <a:solidFill>
                <a:schemeClr val="tx1">
                  <a:lumMod val="50000"/>
                  <a:lumOff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grpSp>
    </p:spTree>
    <p:extLst>
      <p:ext uri="{BB962C8B-B14F-4D97-AF65-F5344CB8AC3E}">
        <p14:creationId xmlns:p14="http://schemas.microsoft.com/office/powerpoint/2010/main" val="1977233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1" name="Rectangle 5"/>
          <p:cNvSpPr>
            <a:spLocks noChangeArrowheads="1"/>
          </p:cNvSpPr>
          <p:nvPr/>
        </p:nvSpPr>
        <p:spPr bwMode="auto">
          <a:xfrm>
            <a:off x="304800" y="685801"/>
            <a:ext cx="7848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chemeClr val="accent2"/>
              </a:buClr>
            </a:pPr>
            <a:r>
              <a:rPr lang="en-GB" altLang="en-US" dirty="0">
                <a:latin typeface="+mn-lt"/>
              </a:rPr>
              <a:t>After extraction, typically variables have high loadings on the most important factor and less on each of the others</a:t>
            </a:r>
          </a:p>
        </p:txBody>
      </p:sp>
      <p:sp>
        <p:nvSpPr>
          <p:cNvPr id="2" name="Title 1"/>
          <p:cNvSpPr>
            <a:spLocks noGrp="1"/>
          </p:cNvSpPr>
          <p:nvPr>
            <p:ph type="title"/>
          </p:nvPr>
        </p:nvSpPr>
        <p:spPr/>
        <p:txBody>
          <a:bodyPr/>
          <a:lstStyle/>
          <a:p>
            <a:r>
              <a:rPr lang="en-GB" dirty="0"/>
              <a:t>Factor Rotation</a:t>
            </a:r>
          </a:p>
        </p:txBody>
      </p:sp>
      <p:sp>
        <p:nvSpPr>
          <p:cNvPr id="4" name="Rectangle 3"/>
          <p:cNvSpPr/>
          <p:nvPr/>
        </p:nvSpPr>
        <p:spPr>
          <a:xfrm>
            <a:off x="304800" y="1600200"/>
            <a:ext cx="4572000" cy="646331"/>
          </a:xfrm>
          <a:prstGeom prst="rect">
            <a:avLst/>
          </a:prstGeom>
        </p:spPr>
        <p:txBody>
          <a:bodyPr>
            <a:spAutoFit/>
          </a:bodyPr>
          <a:lstStyle/>
          <a:p>
            <a:pPr>
              <a:spcBef>
                <a:spcPct val="20000"/>
              </a:spcBef>
              <a:buClr>
                <a:schemeClr val="accent2"/>
              </a:buClr>
            </a:pPr>
            <a:r>
              <a:rPr lang="en-GB" altLang="en-US" dirty="0"/>
              <a:t>This doesn’t achieve what we want in terms of interpretability!</a:t>
            </a:r>
          </a:p>
        </p:txBody>
      </p:sp>
      <p:sp>
        <p:nvSpPr>
          <p:cNvPr id="5" name="Rectangle 4"/>
          <p:cNvSpPr/>
          <p:nvPr/>
        </p:nvSpPr>
        <p:spPr>
          <a:xfrm>
            <a:off x="304800" y="2498872"/>
            <a:ext cx="3657600" cy="1311128"/>
          </a:xfrm>
          <a:prstGeom prst="rect">
            <a:avLst/>
          </a:prstGeom>
        </p:spPr>
        <p:txBody>
          <a:bodyPr wrap="square">
            <a:spAutoFit/>
          </a:bodyPr>
          <a:lstStyle/>
          <a:p>
            <a:pPr>
              <a:spcBef>
                <a:spcPct val="20000"/>
              </a:spcBef>
              <a:buClr>
                <a:schemeClr val="accent2"/>
              </a:buClr>
            </a:pPr>
            <a:r>
              <a:rPr lang="en-GB" altLang="en-US" b="1" dirty="0"/>
              <a:t>Rotation can improve</a:t>
            </a:r>
            <a:r>
              <a:rPr lang="en-GB" altLang="en-US" dirty="0"/>
              <a:t> the situation</a:t>
            </a:r>
          </a:p>
          <a:p>
            <a:pPr>
              <a:spcBef>
                <a:spcPct val="20000"/>
              </a:spcBef>
              <a:buClr>
                <a:schemeClr val="accent2"/>
              </a:buClr>
            </a:pPr>
            <a:endParaRPr lang="en-GB" altLang="en-US" dirty="0"/>
          </a:p>
          <a:p>
            <a:pPr>
              <a:spcBef>
                <a:spcPct val="20000"/>
              </a:spcBef>
              <a:buClr>
                <a:schemeClr val="accent2"/>
              </a:buClr>
            </a:pPr>
            <a:r>
              <a:rPr lang="en-GB" altLang="en-US" dirty="0"/>
              <a:t>Think of the </a:t>
            </a:r>
            <a:r>
              <a:rPr lang="en-GB" altLang="en-US" b="1" dirty="0"/>
              <a:t>factor</a:t>
            </a:r>
            <a:r>
              <a:rPr lang="en-GB" altLang="en-US" dirty="0"/>
              <a:t> as </a:t>
            </a:r>
            <a:r>
              <a:rPr lang="en-GB" altLang="en-US" b="1" dirty="0"/>
              <a:t>an axis</a:t>
            </a:r>
            <a:r>
              <a:rPr lang="en-GB" altLang="en-US" dirty="0"/>
              <a:t> against which </a:t>
            </a:r>
            <a:r>
              <a:rPr lang="en-GB" altLang="en-US" b="1" dirty="0"/>
              <a:t>variables can be plotted</a:t>
            </a:r>
          </a:p>
        </p:txBody>
      </p:sp>
      <p:grpSp>
        <p:nvGrpSpPr>
          <p:cNvPr id="7" name="Group 6"/>
          <p:cNvGrpSpPr/>
          <p:nvPr/>
        </p:nvGrpSpPr>
        <p:grpSpPr>
          <a:xfrm>
            <a:off x="4676193" y="2309214"/>
            <a:ext cx="3651250" cy="3124200"/>
            <a:chOff x="5172173" y="1812715"/>
            <a:chExt cx="3651250" cy="3124200"/>
          </a:xfrm>
        </p:grpSpPr>
        <p:grpSp>
          <p:nvGrpSpPr>
            <p:cNvPr id="8" name="Group 7"/>
            <p:cNvGrpSpPr/>
            <p:nvPr/>
          </p:nvGrpSpPr>
          <p:grpSpPr>
            <a:xfrm>
              <a:off x="5172173" y="1812715"/>
              <a:ext cx="3651250" cy="3124200"/>
              <a:chOff x="5111750" y="2057400"/>
              <a:chExt cx="3651250" cy="3124200"/>
            </a:xfrm>
          </p:grpSpPr>
          <p:cxnSp>
            <p:nvCxnSpPr>
              <p:cNvPr id="39" name="Straight Connector 38"/>
              <p:cNvCxnSpPr/>
              <p:nvPr/>
            </p:nvCxnSpPr>
            <p:spPr>
              <a:xfrm>
                <a:off x="6927948" y="2057400"/>
                <a:ext cx="0" cy="3124200"/>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a:xfrm>
                <a:off x="5111750" y="3544347"/>
                <a:ext cx="3651250" cy="0"/>
              </a:xfrm>
              <a:prstGeom prst="line">
                <a:avLst/>
              </a:prstGeom>
            </p:spPr>
            <p:style>
              <a:lnRef idx="2">
                <a:schemeClr val="dk1"/>
              </a:lnRef>
              <a:fillRef idx="0">
                <a:schemeClr val="dk1"/>
              </a:fillRef>
              <a:effectRef idx="1">
                <a:schemeClr val="dk1"/>
              </a:effectRef>
              <a:fontRef idx="minor">
                <a:schemeClr val="tx1"/>
              </a:fontRef>
            </p:style>
          </p:cxnSp>
        </p:grpSp>
        <p:sp>
          <p:nvSpPr>
            <p:cNvPr id="9" name="Rectangle 8"/>
            <p:cNvSpPr/>
            <p:nvPr/>
          </p:nvSpPr>
          <p:spPr>
            <a:xfrm>
              <a:off x="8077200" y="2442865"/>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0" name="Rectangle 9"/>
            <p:cNvSpPr/>
            <p:nvPr/>
          </p:nvSpPr>
          <p:spPr>
            <a:xfrm>
              <a:off x="7848600" y="251460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 name="Rectangle 10"/>
            <p:cNvSpPr/>
            <p:nvPr/>
          </p:nvSpPr>
          <p:spPr>
            <a:xfrm>
              <a:off x="8153400" y="220980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2" name="Rectangle 11"/>
            <p:cNvSpPr/>
            <p:nvPr/>
          </p:nvSpPr>
          <p:spPr>
            <a:xfrm>
              <a:off x="8305800" y="243840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3" name="Rectangle 12"/>
            <p:cNvSpPr/>
            <p:nvPr/>
          </p:nvSpPr>
          <p:spPr>
            <a:xfrm>
              <a:off x="8077200" y="265951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4" name="Rectangle 13"/>
            <p:cNvSpPr/>
            <p:nvPr/>
          </p:nvSpPr>
          <p:spPr>
            <a:xfrm>
              <a:off x="5791200" y="3893682"/>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5" name="Rectangle 14"/>
            <p:cNvSpPr/>
            <p:nvPr/>
          </p:nvSpPr>
          <p:spPr>
            <a:xfrm>
              <a:off x="5638800" y="373380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6" name="Rectangle 15"/>
            <p:cNvSpPr/>
            <p:nvPr/>
          </p:nvSpPr>
          <p:spPr>
            <a:xfrm>
              <a:off x="5943600" y="365760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7" name="Rectangle 16"/>
            <p:cNvSpPr/>
            <p:nvPr/>
          </p:nvSpPr>
          <p:spPr>
            <a:xfrm>
              <a:off x="5562600" y="3969882"/>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 name="Rectangle 17"/>
            <p:cNvSpPr/>
            <p:nvPr/>
          </p:nvSpPr>
          <p:spPr>
            <a:xfrm>
              <a:off x="5943600" y="380251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9" name="Rectangle 18"/>
            <p:cNvSpPr/>
            <p:nvPr/>
          </p:nvSpPr>
          <p:spPr>
            <a:xfrm>
              <a:off x="8382000" y="2214265"/>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 name="Rectangle 21"/>
            <p:cNvSpPr/>
            <p:nvPr/>
          </p:nvSpPr>
          <p:spPr>
            <a:xfrm>
              <a:off x="7772400" y="3581400"/>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 name="Rectangle 22"/>
            <p:cNvSpPr/>
            <p:nvPr/>
          </p:nvSpPr>
          <p:spPr>
            <a:xfrm>
              <a:off x="8045777" y="365011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4" name="Rectangle 23"/>
            <p:cNvSpPr/>
            <p:nvPr/>
          </p:nvSpPr>
          <p:spPr>
            <a:xfrm>
              <a:off x="5882481" y="2556441"/>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5" name="Rectangle 24"/>
            <p:cNvSpPr/>
            <p:nvPr/>
          </p:nvSpPr>
          <p:spPr>
            <a:xfrm>
              <a:off x="6096000" y="248470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6" name="Rectangle 25"/>
            <p:cNvSpPr/>
            <p:nvPr/>
          </p:nvSpPr>
          <p:spPr>
            <a:xfrm>
              <a:off x="6019800" y="272041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7" name="Rectangle 26"/>
            <p:cNvSpPr/>
            <p:nvPr/>
          </p:nvSpPr>
          <p:spPr>
            <a:xfrm>
              <a:off x="7924800" y="349771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8" name="Rectangle 27"/>
            <p:cNvSpPr/>
            <p:nvPr/>
          </p:nvSpPr>
          <p:spPr>
            <a:xfrm>
              <a:off x="7924800" y="387871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9" name="Rectangle 28"/>
            <p:cNvSpPr/>
            <p:nvPr/>
          </p:nvSpPr>
          <p:spPr>
            <a:xfrm>
              <a:off x="8153400" y="3810000"/>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30" name="Rectangle 29"/>
            <p:cNvSpPr/>
            <p:nvPr/>
          </p:nvSpPr>
          <p:spPr>
            <a:xfrm>
              <a:off x="6477000" y="2590800"/>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31" name="Rectangle 30"/>
            <p:cNvSpPr/>
            <p:nvPr/>
          </p:nvSpPr>
          <p:spPr>
            <a:xfrm>
              <a:off x="8373359" y="383530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33" name="Rectangle 32"/>
            <p:cNvSpPr/>
            <p:nvPr/>
          </p:nvSpPr>
          <p:spPr>
            <a:xfrm>
              <a:off x="6248400" y="265951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36" name="Rectangle 35"/>
            <p:cNvSpPr/>
            <p:nvPr/>
          </p:nvSpPr>
          <p:spPr>
            <a:xfrm>
              <a:off x="8153400" y="403111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grpSp>
      <p:sp>
        <p:nvSpPr>
          <p:cNvPr id="3" name="TextBox 2"/>
          <p:cNvSpPr txBox="1"/>
          <p:nvPr/>
        </p:nvSpPr>
        <p:spPr>
          <a:xfrm>
            <a:off x="8273992" y="3625883"/>
            <a:ext cx="465192" cy="307777"/>
          </a:xfrm>
          <a:prstGeom prst="rect">
            <a:avLst/>
          </a:prstGeom>
          <a:noFill/>
        </p:spPr>
        <p:txBody>
          <a:bodyPr wrap="none" rtlCol="0">
            <a:spAutoFit/>
          </a:bodyPr>
          <a:lstStyle/>
          <a:p>
            <a:r>
              <a:rPr lang="en-GB" sz="1400" b="1" dirty="0"/>
              <a:t>PC1</a:t>
            </a:r>
          </a:p>
        </p:txBody>
      </p:sp>
      <p:sp>
        <p:nvSpPr>
          <p:cNvPr id="42" name="TextBox 41"/>
          <p:cNvSpPr txBox="1"/>
          <p:nvPr/>
        </p:nvSpPr>
        <p:spPr>
          <a:xfrm>
            <a:off x="6277828" y="2056941"/>
            <a:ext cx="466794" cy="307777"/>
          </a:xfrm>
          <a:prstGeom prst="rect">
            <a:avLst/>
          </a:prstGeom>
          <a:noFill/>
        </p:spPr>
        <p:txBody>
          <a:bodyPr wrap="none" rtlCol="0">
            <a:spAutoFit/>
          </a:bodyPr>
          <a:lstStyle/>
          <a:p>
            <a:r>
              <a:rPr lang="en-GB" sz="1400" b="1" dirty="0"/>
              <a:t>PC2</a:t>
            </a:r>
          </a:p>
        </p:txBody>
      </p:sp>
      <p:cxnSp>
        <p:nvCxnSpPr>
          <p:cNvPr id="79" name="Straight Connector 78"/>
          <p:cNvCxnSpPr/>
          <p:nvPr/>
        </p:nvCxnSpPr>
        <p:spPr>
          <a:xfrm>
            <a:off x="6492391" y="2309673"/>
            <a:ext cx="0" cy="312420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cxnSp>
        <p:nvCxnSpPr>
          <p:cNvPr id="80" name="Straight Connector 79"/>
          <p:cNvCxnSpPr/>
          <p:nvPr/>
        </p:nvCxnSpPr>
        <p:spPr>
          <a:xfrm>
            <a:off x="4676193" y="3796620"/>
            <a:ext cx="3651250" cy="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sp>
        <p:nvSpPr>
          <p:cNvPr id="49" name="Rectangle 48"/>
          <p:cNvSpPr/>
          <p:nvPr/>
        </p:nvSpPr>
        <p:spPr>
          <a:xfrm>
            <a:off x="7581220" y="293982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0" name="Rectangle 49"/>
          <p:cNvSpPr/>
          <p:nvPr/>
        </p:nvSpPr>
        <p:spPr>
          <a:xfrm>
            <a:off x="7352620" y="30115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1" name="Rectangle 50"/>
          <p:cNvSpPr/>
          <p:nvPr/>
        </p:nvSpPr>
        <p:spPr>
          <a:xfrm>
            <a:off x="7657420" y="27067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2" name="Rectangle 51"/>
          <p:cNvSpPr/>
          <p:nvPr/>
        </p:nvSpPr>
        <p:spPr>
          <a:xfrm>
            <a:off x="7809820" y="29353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3" name="Rectangle 52"/>
          <p:cNvSpPr/>
          <p:nvPr/>
        </p:nvSpPr>
        <p:spPr>
          <a:xfrm>
            <a:off x="7581220" y="315647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4" name="Rectangle 53"/>
          <p:cNvSpPr/>
          <p:nvPr/>
        </p:nvSpPr>
        <p:spPr>
          <a:xfrm>
            <a:off x="5295220" y="439064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5" name="Rectangle 54"/>
          <p:cNvSpPr/>
          <p:nvPr/>
        </p:nvSpPr>
        <p:spPr>
          <a:xfrm>
            <a:off x="5142820" y="42307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6" name="Rectangle 55"/>
          <p:cNvSpPr/>
          <p:nvPr/>
        </p:nvSpPr>
        <p:spPr>
          <a:xfrm>
            <a:off x="5447620" y="41545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7" name="Rectangle 56"/>
          <p:cNvSpPr/>
          <p:nvPr/>
        </p:nvSpPr>
        <p:spPr>
          <a:xfrm>
            <a:off x="5066620" y="446684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8" name="Rectangle 57"/>
          <p:cNvSpPr/>
          <p:nvPr/>
        </p:nvSpPr>
        <p:spPr>
          <a:xfrm>
            <a:off x="5447620" y="429947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59" name="Rectangle 58"/>
          <p:cNvSpPr/>
          <p:nvPr/>
        </p:nvSpPr>
        <p:spPr>
          <a:xfrm>
            <a:off x="7886020" y="271122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62" name="Rectangle 61"/>
          <p:cNvSpPr/>
          <p:nvPr/>
        </p:nvSpPr>
        <p:spPr>
          <a:xfrm>
            <a:off x="7276420" y="40783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63" name="Rectangle 62"/>
          <p:cNvSpPr/>
          <p:nvPr/>
        </p:nvSpPr>
        <p:spPr>
          <a:xfrm>
            <a:off x="7549797" y="41470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64" name="Rectangle 63"/>
          <p:cNvSpPr/>
          <p:nvPr/>
        </p:nvSpPr>
        <p:spPr>
          <a:xfrm>
            <a:off x="5386501" y="305339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65" name="Rectangle 64"/>
          <p:cNvSpPr/>
          <p:nvPr/>
        </p:nvSpPr>
        <p:spPr>
          <a:xfrm>
            <a:off x="5600020" y="2981664"/>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66" name="Rectangle 65"/>
          <p:cNvSpPr/>
          <p:nvPr/>
        </p:nvSpPr>
        <p:spPr>
          <a:xfrm>
            <a:off x="5523820" y="3217377"/>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68" name="Rectangle 67"/>
          <p:cNvSpPr/>
          <p:nvPr/>
        </p:nvSpPr>
        <p:spPr>
          <a:xfrm>
            <a:off x="7428820" y="43756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69" name="Rectangle 68"/>
          <p:cNvSpPr/>
          <p:nvPr/>
        </p:nvSpPr>
        <p:spPr>
          <a:xfrm>
            <a:off x="7657420" y="43069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70" name="Rectangle 69"/>
          <p:cNvSpPr/>
          <p:nvPr/>
        </p:nvSpPr>
        <p:spPr>
          <a:xfrm>
            <a:off x="5981020" y="30877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71" name="Rectangle 70"/>
          <p:cNvSpPr/>
          <p:nvPr/>
        </p:nvSpPr>
        <p:spPr>
          <a:xfrm>
            <a:off x="7877379" y="4332264"/>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73" name="Rectangle 72"/>
          <p:cNvSpPr/>
          <p:nvPr/>
        </p:nvSpPr>
        <p:spPr>
          <a:xfrm>
            <a:off x="5752420" y="31564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76" name="Rectangle 75"/>
          <p:cNvSpPr/>
          <p:nvPr/>
        </p:nvSpPr>
        <p:spPr>
          <a:xfrm>
            <a:off x="7657420" y="45280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7" name="TextBox 46"/>
          <p:cNvSpPr txBox="1"/>
          <p:nvPr/>
        </p:nvSpPr>
        <p:spPr>
          <a:xfrm>
            <a:off x="6277828" y="2057400"/>
            <a:ext cx="466794" cy="307777"/>
          </a:xfrm>
          <a:prstGeom prst="rect">
            <a:avLst/>
          </a:prstGeom>
          <a:noFill/>
        </p:spPr>
        <p:txBody>
          <a:bodyPr wrap="none" rtlCol="0">
            <a:spAutoFit/>
          </a:bodyPr>
          <a:lstStyle/>
          <a:p>
            <a:r>
              <a:rPr lang="en-GB" sz="1400" b="1" dirty="0">
                <a:solidFill>
                  <a:schemeClr val="bg1">
                    <a:lumMod val="75000"/>
                  </a:schemeClr>
                </a:solidFill>
              </a:rPr>
              <a:t>PC2</a:t>
            </a:r>
          </a:p>
        </p:txBody>
      </p:sp>
      <p:grpSp>
        <p:nvGrpSpPr>
          <p:cNvPr id="94" name="Group 93"/>
          <p:cNvGrpSpPr/>
          <p:nvPr/>
        </p:nvGrpSpPr>
        <p:grpSpPr>
          <a:xfrm rot="21183845">
            <a:off x="4916903" y="2122326"/>
            <a:ext cx="3404962" cy="3200400"/>
            <a:chOff x="4944234" y="2743200"/>
            <a:chExt cx="3404962" cy="3200400"/>
          </a:xfrm>
        </p:grpSpPr>
        <p:grpSp>
          <p:nvGrpSpPr>
            <p:cNvPr id="96" name="Group 95"/>
            <p:cNvGrpSpPr/>
            <p:nvPr/>
          </p:nvGrpSpPr>
          <p:grpSpPr>
            <a:xfrm>
              <a:off x="4944234" y="3046761"/>
              <a:ext cx="3189528" cy="2896839"/>
              <a:chOff x="3439872" y="3362227"/>
              <a:chExt cx="3189528" cy="2896839"/>
            </a:xfrm>
          </p:grpSpPr>
          <p:sp>
            <p:nvSpPr>
              <p:cNvPr id="97" name="Circular Arrow 96"/>
              <p:cNvSpPr/>
              <p:nvPr/>
            </p:nvSpPr>
            <p:spPr>
              <a:xfrm rot="17763965" flipV="1">
                <a:off x="5306402" y="4175161"/>
                <a:ext cx="1222395" cy="1166656"/>
              </a:xfrm>
              <a:prstGeom prst="circularArrow">
                <a:avLst>
                  <a:gd name="adj1" fmla="val 12500"/>
                  <a:gd name="adj2" fmla="val 1142319"/>
                  <a:gd name="adj3" fmla="val 20457681"/>
                  <a:gd name="adj4" fmla="val 16008728"/>
                  <a:gd name="adj5" fmla="val 12500"/>
                </a:avLst>
              </a:prstGeom>
              <a:solidFill>
                <a:schemeClr val="bg1">
                  <a:lumMod val="8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cxnSp>
            <p:nvCxnSpPr>
              <p:cNvPr id="98" name="Straight Connector 97"/>
              <p:cNvCxnSpPr/>
              <p:nvPr/>
            </p:nvCxnSpPr>
            <p:spPr>
              <a:xfrm flipH="1">
                <a:off x="3439872" y="3838281"/>
                <a:ext cx="3189528" cy="1740653"/>
              </a:xfrm>
              <a:prstGeom prst="line">
                <a:avLst/>
              </a:prstGeom>
            </p:spPr>
            <p:style>
              <a:lnRef idx="2">
                <a:schemeClr val="dk1"/>
              </a:lnRef>
              <a:fillRef idx="0">
                <a:schemeClr val="dk1"/>
              </a:fillRef>
              <a:effectRef idx="1">
                <a:schemeClr val="dk1"/>
              </a:effectRef>
              <a:fontRef idx="minor">
                <a:schemeClr val="tx1"/>
              </a:fontRef>
            </p:style>
          </p:cxnSp>
          <p:cxnSp>
            <p:nvCxnSpPr>
              <p:cNvPr id="99" name="Straight Connector 98"/>
              <p:cNvCxnSpPr/>
              <p:nvPr/>
            </p:nvCxnSpPr>
            <p:spPr>
              <a:xfrm flipH="1" flipV="1">
                <a:off x="4155020" y="3362227"/>
                <a:ext cx="1771423" cy="2896839"/>
              </a:xfrm>
              <a:prstGeom prst="line">
                <a:avLst/>
              </a:prstGeom>
            </p:spPr>
            <p:style>
              <a:lnRef idx="2">
                <a:schemeClr val="dk1"/>
              </a:lnRef>
              <a:fillRef idx="0">
                <a:schemeClr val="dk1"/>
              </a:fillRef>
              <a:effectRef idx="1">
                <a:schemeClr val="dk1"/>
              </a:effectRef>
              <a:fontRef idx="minor">
                <a:schemeClr val="tx1"/>
              </a:fontRef>
            </p:style>
          </p:cxnSp>
        </p:grpSp>
        <p:sp>
          <p:nvSpPr>
            <p:cNvPr id="100" name="TextBox 99"/>
            <p:cNvSpPr txBox="1"/>
            <p:nvPr/>
          </p:nvSpPr>
          <p:spPr>
            <a:xfrm>
              <a:off x="7991406" y="3276600"/>
              <a:ext cx="357790" cy="307777"/>
            </a:xfrm>
            <a:prstGeom prst="rect">
              <a:avLst/>
            </a:prstGeom>
            <a:noFill/>
          </p:spPr>
          <p:txBody>
            <a:bodyPr wrap="none" rtlCol="0">
              <a:spAutoFit/>
            </a:bodyPr>
            <a:lstStyle/>
            <a:p>
              <a:r>
                <a:rPr lang="en-GB" sz="1400" b="1" dirty="0"/>
                <a:t>F1</a:t>
              </a:r>
            </a:p>
          </p:txBody>
        </p:sp>
        <p:sp>
          <p:nvSpPr>
            <p:cNvPr id="101" name="TextBox 100"/>
            <p:cNvSpPr txBox="1"/>
            <p:nvPr/>
          </p:nvSpPr>
          <p:spPr>
            <a:xfrm>
              <a:off x="5410200" y="2743200"/>
              <a:ext cx="357790" cy="307777"/>
            </a:xfrm>
            <a:prstGeom prst="rect">
              <a:avLst/>
            </a:prstGeom>
            <a:noFill/>
          </p:spPr>
          <p:txBody>
            <a:bodyPr wrap="none" rtlCol="0">
              <a:spAutoFit/>
            </a:bodyPr>
            <a:lstStyle/>
            <a:p>
              <a:r>
                <a:rPr lang="en-GB" sz="1400" b="1" dirty="0"/>
                <a:t>F2</a:t>
              </a:r>
            </a:p>
          </p:txBody>
        </p:sp>
      </p:grpSp>
    </p:spTree>
    <p:extLst>
      <p:ext uri="{BB962C8B-B14F-4D97-AF65-F5344CB8AC3E}">
        <p14:creationId xmlns:p14="http://schemas.microsoft.com/office/powerpoint/2010/main" val="267558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fade">
                                      <p:cBhvr>
                                        <p:cTn id="17"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5" y="1143000"/>
            <a:ext cx="9105900" cy="452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normAutofit/>
          </a:bodyPr>
          <a:lstStyle/>
          <a:p>
            <a:r>
              <a:rPr lang="en-GB" altLang="en-US" dirty="0">
                <a:latin typeface="Avalon" pitchFamily="34" charset="0"/>
              </a:rPr>
              <a:t>Unrotated versus Rotated</a:t>
            </a:r>
            <a:endParaRPr lang="en-GB" dirty="0"/>
          </a:p>
        </p:txBody>
      </p:sp>
    </p:spTree>
    <p:extLst>
      <p:ext uri="{BB962C8B-B14F-4D97-AF65-F5344CB8AC3E}">
        <p14:creationId xmlns:p14="http://schemas.microsoft.com/office/powerpoint/2010/main" val="1739802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Types of Rotation</a:t>
            </a:r>
          </a:p>
        </p:txBody>
      </p:sp>
      <p:sp>
        <p:nvSpPr>
          <p:cNvPr id="3" name="Text Placeholder 2"/>
          <p:cNvSpPr>
            <a:spLocks noGrp="1"/>
          </p:cNvSpPr>
          <p:nvPr>
            <p:ph type="body" idx="1"/>
          </p:nvPr>
        </p:nvSpPr>
        <p:spPr>
          <a:xfrm>
            <a:off x="457200" y="666750"/>
            <a:ext cx="4040188" cy="639762"/>
          </a:xfrm>
          <a:solidFill>
            <a:schemeClr val="accent3">
              <a:lumMod val="20000"/>
              <a:lumOff val="80000"/>
            </a:schemeClr>
          </a:solidFill>
        </p:spPr>
        <p:txBody>
          <a:bodyPr/>
          <a:lstStyle/>
          <a:p>
            <a:r>
              <a:rPr lang="en-GB" dirty="0"/>
              <a:t>Orthogonal</a:t>
            </a:r>
          </a:p>
        </p:txBody>
      </p:sp>
      <p:sp>
        <p:nvSpPr>
          <p:cNvPr id="4" name="Content Placeholder 3"/>
          <p:cNvSpPr>
            <a:spLocks noGrp="1"/>
          </p:cNvSpPr>
          <p:nvPr>
            <p:ph sz="half" idx="2"/>
          </p:nvPr>
        </p:nvSpPr>
        <p:spPr>
          <a:xfrm>
            <a:off x="457200" y="1306512"/>
            <a:ext cx="4040188" cy="3951288"/>
          </a:xfrm>
        </p:spPr>
        <p:txBody>
          <a:bodyPr>
            <a:normAutofit/>
          </a:bodyPr>
          <a:lstStyle/>
          <a:p>
            <a:pPr marL="0" indent="0">
              <a:buNone/>
            </a:pPr>
            <a:r>
              <a:rPr lang="en-GB" altLang="en-US" sz="2000" dirty="0"/>
              <a:t>factors are rotated, but kept uncorrelated (axes perpendicular)</a:t>
            </a:r>
            <a:endParaRPr lang="en-GB" sz="2000" dirty="0"/>
          </a:p>
        </p:txBody>
      </p:sp>
      <p:sp>
        <p:nvSpPr>
          <p:cNvPr id="5" name="Text Placeholder 4"/>
          <p:cNvSpPr>
            <a:spLocks noGrp="1"/>
          </p:cNvSpPr>
          <p:nvPr>
            <p:ph type="body" sz="quarter" idx="3"/>
          </p:nvPr>
        </p:nvSpPr>
        <p:spPr>
          <a:xfrm>
            <a:off x="4645025" y="666750"/>
            <a:ext cx="4041775" cy="639762"/>
          </a:xfrm>
          <a:solidFill>
            <a:schemeClr val="accent4">
              <a:lumMod val="20000"/>
              <a:lumOff val="80000"/>
            </a:schemeClr>
          </a:solidFill>
        </p:spPr>
        <p:txBody>
          <a:bodyPr/>
          <a:lstStyle/>
          <a:p>
            <a:r>
              <a:rPr lang="en-GB" dirty="0"/>
              <a:t>Oblique</a:t>
            </a:r>
          </a:p>
        </p:txBody>
      </p:sp>
      <p:sp>
        <p:nvSpPr>
          <p:cNvPr id="6" name="Content Placeholder 5"/>
          <p:cNvSpPr>
            <a:spLocks noGrp="1"/>
          </p:cNvSpPr>
          <p:nvPr>
            <p:ph sz="quarter" idx="4"/>
          </p:nvPr>
        </p:nvSpPr>
        <p:spPr>
          <a:xfrm>
            <a:off x="4645025" y="1306512"/>
            <a:ext cx="4041775" cy="3951288"/>
          </a:xfrm>
        </p:spPr>
        <p:txBody>
          <a:bodyPr>
            <a:normAutofit/>
          </a:bodyPr>
          <a:lstStyle/>
          <a:p>
            <a:pPr marL="0" indent="0">
              <a:buNone/>
            </a:pPr>
            <a:r>
              <a:rPr lang="en-GB" altLang="en-US" sz="2000" dirty="0"/>
              <a:t>factors can correlate, so angle between axes varies</a:t>
            </a:r>
            <a:endParaRPr lang="en-GB" sz="2000" dirty="0"/>
          </a:p>
        </p:txBody>
      </p:sp>
      <p:sp>
        <p:nvSpPr>
          <p:cNvPr id="58" name="TextBox 57"/>
          <p:cNvSpPr txBox="1"/>
          <p:nvPr/>
        </p:nvSpPr>
        <p:spPr>
          <a:xfrm>
            <a:off x="4211001" y="3590686"/>
            <a:ext cx="465192" cy="307777"/>
          </a:xfrm>
          <a:prstGeom prst="rect">
            <a:avLst/>
          </a:prstGeom>
          <a:noFill/>
        </p:spPr>
        <p:txBody>
          <a:bodyPr wrap="none" rtlCol="0">
            <a:spAutoFit/>
          </a:bodyPr>
          <a:lstStyle/>
          <a:p>
            <a:r>
              <a:rPr lang="en-GB" sz="1400" b="1" dirty="0"/>
              <a:t>PC1</a:t>
            </a:r>
          </a:p>
        </p:txBody>
      </p:sp>
      <p:sp>
        <p:nvSpPr>
          <p:cNvPr id="59" name="TextBox 58"/>
          <p:cNvSpPr txBox="1"/>
          <p:nvPr/>
        </p:nvSpPr>
        <p:spPr>
          <a:xfrm>
            <a:off x="2214837" y="2021744"/>
            <a:ext cx="466794" cy="307777"/>
          </a:xfrm>
          <a:prstGeom prst="rect">
            <a:avLst/>
          </a:prstGeom>
          <a:noFill/>
        </p:spPr>
        <p:txBody>
          <a:bodyPr wrap="none" rtlCol="0">
            <a:spAutoFit/>
          </a:bodyPr>
          <a:lstStyle/>
          <a:p>
            <a:r>
              <a:rPr lang="en-GB" sz="1400" b="1" dirty="0"/>
              <a:t>PC2</a:t>
            </a:r>
          </a:p>
        </p:txBody>
      </p:sp>
      <p:grpSp>
        <p:nvGrpSpPr>
          <p:cNvPr id="24" name="Group 23"/>
          <p:cNvGrpSpPr/>
          <p:nvPr/>
        </p:nvGrpSpPr>
        <p:grpSpPr>
          <a:xfrm>
            <a:off x="613202" y="2274476"/>
            <a:ext cx="3651250" cy="3124200"/>
            <a:chOff x="5111750" y="2057400"/>
            <a:chExt cx="3651250" cy="3124200"/>
          </a:xfrm>
        </p:grpSpPr>
        <p:cxnSp>
          <p:nvCxnSpPr>
            <p:cNvPr id="55" name="Straight Connector 54"/>
            <p:cNvCxnSpPr/>
            <p:nvPr/>
          </p:nvCxnSpPr>
          <p:spPr>
            <a:xfrm>
              <a:off x="6927948" y="2057400"/>
              <a:ext cx="0" cy="312420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cxnSp>
          <p:nvCxnSpPr>
            <p:cNvPr id="56" name="Straight Connector 55"/>
            <p:cNvCxnSpPr/>
            <p:nvPr/>
          </p:nvCxnSpPr>
          <p:spPr>
            <a:xfrm>
              <a:off x="5111750" y="3544347"/>
              <a:ext cx="3651250" cy="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grpSp>
      <p:sp>
        <p:nvSpPr>
          <p:cNvPr id="25" name="Rectangle 24"/>
          <p:cNvSpPr/>
          <p:nvPr/>
        </p:nvSpPr>
        <p:spPr>
          <a:xfrm>
            <a:off x="3518229" y="290462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6" name="Rectangle 25"/>
          <p:cNvSpPr/>
          <p:nvPr/>
        </p:nvSpPr>
        <p:spPr>
          <a:xfrm>
            <a:off x="3289629" y="29763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7" name="Rectangle 26"/>
          <p:cNvSpPr/>
          <p:nvPr/>
        </p:nvSpPr>
        <p:spPr>
          <a:xfrm>
            <a:off x="3594429" y="26715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8" name="Rectangle 27"/>
          <p:cNvSpPr/>
          <p:nvPr/>
        </p:nvSpPr>
        <p:spPr>
          <a:xfrm>
            <a:off x="3746829" y="29001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9" name="Rectangle 28"/>
          <p:cNvSpPr/>
          <p:nvPr/>
        </p:nvSpPr>
        <p:spPr>
          <a:xfrm>
            <a:off x="3518229" y="3121279"/>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30" name="Rectangle 29"/>
          <p:cNvSpPr/>
          <p:nvPr/>
        </p:nvSpPr>
        <p:spPr>
          <a:xfrm>
            <a:off x="1232229" y="435544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31" name="Rectangle 30"/>
          <p:cNvSpPr/>
          <p:nvPr/>
        </p:nvSpPr>
        <p:spPr>
          <a:xfrm>
            <a:off x="1079829" y="41955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32" name="Rectangle 31"/>
          <p:cNvSpPr/>
          <p:nvPr/>
        </p:nvSpPr>
        <p:spPr>
          <a:xfrm>
            <a:off x="1384629" y="41193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33" name="Rectangle 32"/>
          <p:cNvSpPr/>
          <p:nvPr/>
        </p:nvSpPr>
        <p:spPr>
          <a:xfrm>
            <a:off x="1003629" y="443164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34" name="Rectangle 33"/>
          <p:cNvSpPr/>
          <p:nvPr/>
        </p:nvSpPr>
        <p:spPr>
          <a:xfrm>
            <a:off x="1384629" y="4264279"/>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35" name="Rectangle 34"/>
          <p:cNvSpPr/>
          <p:nvPr/>
        </p:nvSpPr>
        <p:spPr>
          <a:xfrm>
            <a:off x="3823029" y="267602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38" name="Rectangle 37"/>
          <p:cNvSpPr/>
          <p:nvPr/>
        </p:nvSpPr>
        <p:spPr>
          <a:xfrm>
            <a:off x="3213429" y="4043161"/>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39" name="Rectangle 38"/>
          <p:cNvSpPr/>
          <p:nvPr/>
        </p:nvSpPr>
        <p:spPr>
          <a:xfrm>
            <a:off x="3486806" y="41118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0" name="Rectangle 39"/>
          <p:cNvSpPr/>
          <p:nvPr/>
        </p:nvSpPr>
        <p:spPr>
          <a:xfrm>
            <a:off x="1323510" y="3018202"/>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1" name="Rectangle 40"/>
          <p:cNvSpPr/>
          <p:nvPr/>
        </p:nvSpPr>
        <p:spPr>
          <a:xfrm>
            <a:off x="1537029" y="2946467"/>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2" name="Rectangle 41"/>
          <p:cNvSpPr/>
          <p:nvPr/>
        </p:nvSpPr>
        <p:spPr>
          <a:xfrm>
            <a:off x="1460829" y="3182180"/>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3" name="Rectangle 42"/>
          <p:cNvSpPr/>
          <p:nvPr/>
        </p:nvSpPr>
        <p:spPr>
          <a:xfrm>
            <a:off x="3365829" y="39594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4" name="Rectangle 43"/>
          <p:cNvSpPr/>
          <p:nvPr/>
        </p:nvSpPr>
        <p:spPr>
          <a:xfrm>
            <a:off x="3365829" y="43404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5" name="Rectangle 44"/>
          <p:cNvSpPr/>
          <p:nvPr/>
        </p:nvSpPr>
        <p:spPr>
          <a:xfrm>
            <a:off x="3594429" y="4271761"/>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6" name="Rectangle 45"/>
          <p:cNvSpPr/>
          <p:nvPr/>
        </p:nvSpPr>
        <p:spPr>
          <a:xfrm>
            <a:off x="1918029" y="3052561"/>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7" name="Rectangle 46"/>
          <p:cNvSpPr/>
          <p:nvPr/>
        </p:nvSpPr>
        <p:spPr>
          <a:xfrm>
            <a:off x="3814388" y="4297067"/>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49" name="Rectangle 48"/>
          <p:cNvSpPr/>
          <p:nvPr/>
        </p:nvSpPr>
        <p:spPr>
          <a:xfrm>
            <a:off x="1689429" y="31212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52" name="Rectangle 51"/>
          <p:cNvSpPr/>
          <p:nvPr/>
        </p:nvSpPr>
        <p:spPr>
          <a:xfrm>
            <a:off x="3594429" y="44928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2" name="TextBox 21"/>
          <p:cNvSpPr txBox="1"/>
          <p:nvPr/>
        </p:nvSpPr>
        <p:spPr>
          <a:xfrm>
            <a:off x="4211001" y="3591145"/>
            <a:ext cx="465192" cy="307777"/>
          </a:xfrm>
          <a:prstGeom prst="rect">
            <a:avLst/>
          </a:prstGeom>
          <a:noFill/>
        </p:spPr>
        <p:txBody>
          <a:bodyPr wrap="none" rtlCol="0">
            <a:spAutoFit/>
          </a:bodyPr>
          <a:lstStyle/>
          <a:p>
            <a:r>
              <a:rPr lang="en-GB" sz="1400" b="1" dirty="0">
                <a:solidFill>
                  <a:schemeClr val="bg1">
                    <a:lumMod val="75000"/>
                  </a:schemeClr>
                </a:solidFill>
              </a:rPr>
              <a:t>PC1</a:t>
            </a:r>
          </a:p>
        </p:txBody>
      </p:sp>
      <p:sp>
        <p:nvSpPr>
          <p:cNvPr id="23" name="TextBox 22"/>
          <p:cNvSpPr txBox="1"/>
          <p:nvPr/>
        </p:nvSpPr>
        <p:spPr>
          <a:xfrm>
            <a:off x="2214837" y="2022203"/>
            <a:ext cx="466794" cy="307777"/>
          </a:xfrm>
          <a:prstGeom prst="rect">
            <a:avLst/>
          </a:prstGeom>
          <a:noFill/>
        </p:spPr>
        <p:txBody>
          <a:bodyPr wrap="none" rtlCol="0">
            <a:spAutoFit/>
          </a:bodyPr>
          <a:lstStyle/>
          <a:p>
            <a:r>
              <a:rPr lang="en-GB" sz="1400" b="1" dirty="0">
                <a:solidFill>
                  <a:schemeClr val="bg1">
                    <a:lumMod val="75000"/>
                  </a:schemeClr>
                </a:solidFill>
              </a:rPr>
              <a:t>PC2</a:t>
            </a:r>
          </a:p>
        </p:txBody>
      </p:sp>
      <p:grpSp>
        <p:nvGrpSpPr>
          <p:cNvPr id="15" name="Group 14"/>
          <p:cNvGrpSpPr/>
          <p:nvPr/>
        </p:nvGrpSpPr>
        <p:grpSpPr>
          <a:xfrm>
            <a:off x="881243" y="2411393"/>
            <a:ext cx="3189528" cy="2770207"/>
            <a:chOff x="3439872" y="3362229"/>
            <a:chExt cx="3189528" cy="2770207"/>
          </a:xfrm>
        </p:grpSpPr>
        <p:sp>
          <p:nvSpPr>
            <p:cNvPr id="18" name="Circular Arrow 17"/>
            <p:cNvSpPr/>
            <p:nvPr/>
          </p:nvSpPr>
          <p:spPr>
            <a:xfrm rot="17763965" flipV="1">
              <a:off x="5306402" y="4175161"/>
              <a:ext cx="1222395" cy="1166656"/>
            </a:xfrm>
            <a:prstGeom prst="circularArrow">
              <a:avLst>
                <a:gd name="adj1" fmla="val 12500"/>
                <a:gd name="adj2" fmla="val 1142319"/>
                <a:gd name="adj3" fmla="val 20457681"/>
                <a:gd name="adj4" fmla="val 17898299"/>
                <a:gd name="adj5" fmla="val 12500"/>
              </a:avLst>
            </a:prstGeom>
            <a:solidFill>
              <a:schemeClr val="bg1">
                <a:lumMod val="8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cxnSp>
          <p:nvCxnSpPr>
            <p:cNvPr id="19" name="Straight Connector 18"/>
            <p:cNvCxnSpPr/>
            <p:nvPr/>
          </p:nvCxnSpPr>
          <p:spPr>
            <a:xfrm flipH="1">
              <a:off x="3439872" y="3838281"/>
              <a:ext cx="3189528" cy="1740653"/>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flipH="1" flipV="1">
              <a:off x="4230438" y="3362229"/>
              <a:ext cx="1541620" cy="2770207"/>
            </a:xfrm>
            <a:prstGeom prst="line">
              <a:avLst/>
            </a:prstGeom>
          </p:spPr>
          <p:style>
            <a:lnRef idx="2">
              <a:schemeClr val="dk1"/>
            </a:lnRef>
            <a:fillRef idx="0">
              <a:schemeClr val="dk1"/>
            </a:fillRef>
            <a:effectRef idx="1">
              <a:schemeClr val="dk1"/>
            </a:effectRef>
            <a:fontRef idx="minor">
              <a:schemeClr val="tx1"/>
            </a:fontRef>
          </p:style>
        </p:cxnSp>
      </p:grpSp>
      <p:sp>
        <p:nvSpPr>
          <p:cNvPr id="16" name="TextBox 15"/>
          <p:cNvSpPr txBox="1"/>
          <p:nvPr/>
        </p:nvSpPr>
        <p:spPr>
          <a:xfrm>
            <a:off x="3928415" y="2641230"/>
            <a:ext cx="357790" cy="307777"/>
          </a:xfrm>
          <a:prstGeom prst="rect">
            <a:avLst/>
          </a:prstGeom>
          <a:noFill/>
        </p:spPr>
        <p:txBody>
          <a:bodyPr wrap="none" rtlCol="0">
            <a:spAutoFit/>
          </a:bodyPr>
          <a:lstStyle/>
          <a:p>
            <a:r>
              <a:rPr lang="en-GB" sz="1400" b="1" dirty="0"/>
              <a:t>F1</a:t>
            </a:r>
          </a:p>
        </p:txBody>
      </p:sp>
      <p:sp>
        <p:nvSpPr>
          <p:cNvPr id="17" name="TextBox 16"/>
          <p:cNvSpPr txBox="1"/>
          <p:nvPr/>
        </p:nvSpPr>
        <p:spPr>
          <a:xfrm>
            <a:off x="1347209" y="2107830"/>
            <a:ext cx="357790" cy="307777"/>
          </a:xfrm>
          <a:prstGeom prst="rect">
            <a:avLst/>
          </a:prstGeom>
          <a:noFill/>
        </p:spPr>
        <p:txBody>
          <a:bodyPr wrap="none" rtlCol="0">
            <a:spAutoFit/>
          </a:bodyPr>
          <a:lstStyle/>
          <a:p>
            <a:r>
              <a:rPr lang="en-GB" sz="1400" b="1" dirty="0"/>
              <a:t>F2</a:t>
            </a:r>
          </a:p>
        </p:txBody>
      </p:sp>
      <p:grpSp>
        <p:nvGrpSpPr>
          <p:cNvPr id="106" name="Group 105"/>
          <p:cNvGrpSpPr/>
          <p:nvPr/>
        </p:nvGrpSpPr>
        <p:grpSpPr>
          <a:xfrm>
            <a:off x="4676193" y="2309673"/>
            <a:ext cx="3651250" cy="3124200"/>
            <a:chOff x="5111750" y="2057400"/>
            <a:chExt cx="3651250" cy="3124200"/>
          </a:xfrm>
        </p:grpSpPr>
        <p:cxnSp>
          <p:nvCxnSpPr>
            <p:cNvPr id="137" name="Straight Connector 136"/>
            <p:cNvCxnSpPr/>
            <p:nvPr/>
          </p:nvCxnSpPr>
          <p:spPr>
            <a:xfrm>
              <a:off x="6927948" y="2057400"/>
              <a:ext cx="0" cy="312420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cxnSp>
          <p:nvCxnSpPr>
            <p:cNvPr id="138" name="Straight Connector 137"/>
            <p:cNvCxnSpPr/>
            <p:nvPr/>
          </p:nvCxnSpPr>
          <p:spPr>
            <a:xfrm>
              <a:off x="5111750" y="3544347"/>
              <a:ext cx="3651250" cy="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grpSp>
      <p:sp>
        <p:nvSpPr>
          <p:cNvPr id="107" name="Rectangle 106"/>
          <p:cNvSpPr/>
          <p:nvPr/>
        </p:nvSpPr>
        <p:spPr>
          <a:xfrm>
            <a:off x="7581220" y="293982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08" name="Rectangle 107"/>
          <p:cNvSpPr/>
          <p:nvPr/>
        </p:nvSpPr>
        <p:spPr>
          <a:xfrm>
            <a:off x="7352620" y="30115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09" name="Rectangle 108"/>
          <p:cNvSpPr/>
          <p:nvPr/>
        </p:nvSpPr>
        <p:spPr>
          <a:xfrm>
            <a:off x="7657420" y="27067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0" name="Rectangle 109"/>
          <p:cNvSpPr/>
          <p:nvPr/>
        </p:nvSpPr>
        <p:spPr>
          <a:xfrm>
            <a:off x="7809820" y="29353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1" name="Rectangle 110"/>
          <p:cNvSpPr/>
          <p:nvPr/>
        </p:nvSpPr>
        <p:spPr>
          <a:xfrm>
            <a:off x="7581220" y="315647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2" name="Rectangle 111"/>
          <p:cNvSpPr/>
          <p:nvPr/>
        </p:nvSpPr>
        <p:spPr>
          <a:xfrm>
            <a:off x="5295220" y="439064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3" name="Rectangle 112"/>
          <p:cNvSpPr/>
          <p:nvPr/>
        </p:nvSpPr>
        <p:spPr>
          <a:xfrm>
            <a:off x="5142820" y="42307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4" name="Rectangle 113"/>
          <p:cNvSpPr/>
          <p:nvPr/>
        </p:nvSpPr>
        <p:spPr>
          <a:xfrm>
            <a:off x="5447620" y="41545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5" name="Rectangle 114"/>
          <p:cNvSpPr/>
          <p:nvPr/>
        </p:nvSpPr>
        <p:spPr>
          <a:xfrm>
            <a:off x="5066620" y="446684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6" name="Rectangle 115"/>
          <p:cNvSpPr/>
          <p:nvPr/>
        </p:nvSpPr>
        <p:spPr>
          <a:xfrm>
            <a:off x="5447620" y="429947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17" name="Rectangle 116"/>
          <p:cNvSpPr/>
          <p:nvPr/>
        </p:nvSpPr>
        <p:spPr>
          <a:xfrm>
            <a:off x="7886020" y="271122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20" name="Rectangle 119"/>
          <p:cNvSpPr/>
          <p:nvPr/>
        </p:nvSpPr>
        <p:spPr>
          <a:xfrm>
            <a:off x="7276420" y="40783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1" name="Rectangle 120"/>
          <p:cNvSpPr/>
          <p:nvPr/>
        </p:nvSpPr>
        <p:spPr>
          <a:xfrm>
            <a:off x="7549797" y="41470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2" name="Rectangle 121"/>
          <p:cNvSpPr/>
          <p:nvPr/>
        </p:nvSpPr>
        <p:spPr>
          <a:xfrm>
            <a:off x="5386501" y="305339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3" name="Rectangle 122"/>
          <p:cNvSpPr/>
          <p:nvPr/>
        </p:nvSpPr>
        <p:spPr>
          <a:xfrm>
            <a:off x="5600020" y="2981664"/>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4" name="Rectangle 123"/>
          <p:cNvSpPr/>
          <p:nvPr/>
        </p:nvSpPr>
        <p:spPr>
          <a:xfrm>
            <a:off x="5523820" y="3217377"/>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5" name="Rectangle 124"/>
          <p:cNvSpPr/>
          <p:nvPr/>
        </p:nvSpPr>
        <p:spPr>
          <a:xfrm>
            <a:off x="7428820" y="39946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6" name="Rectangle 125"/>
          <p:cNvSpPr/>
          <p:nvPr/>
        </p:nvSpPr>
        <p:spPr>
          <a:xfrm>
            <a:off x="7428820" y="43756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7" name="Rectangle 126"/>
          <p:cNvSpPr/>
          <p:nvPr/>
        </p:nvSpPr>
        <p:spPr>
          <a:xfrm>
            <a:off x="7657420" y="43069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8" name="Rectangle 127"/>
          <p:cNvSpPr/>
          <p:nvPr/>
        </p:nvSpPr>
        <p:spPr>
          <a:xfrm>
            <a:off x="5981020" y="30877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29" name="Rectangle 128"/>
          <p:cNvSpPr/>
          <p:nvPr/>
        </p:nvSpPr>
        <p:spPr>
          <a:xfrm>
            <a:off x="7877379" y="4332264"/>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31" name="Rectangle 130"/>
          <p:cNvSpPr/>
          <p:nvPr/>
        </p:nvSpPr>
        <p:spPr>
          <a:xfrm>
            <a:off x="5752420" y="31564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34" name="Rectangle 133"/>
          <p:cNvSpPr/>
          <p:nvPr/>
        </p:nvSpPr>
        <p:spPr>
          <a:xfrm>
            <a:off x="7657420" y="45280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04" name="TextBox 103"/>
          <p:cNvSpPr txBox="1"/>
          <p:nvPr/>
        </p:nvSpPr>
        <p:spPr>
          <a:xfrm>
            <a:off x="8273992" y="3626342"/>
            <a:ext cx="465192" cy="307777"/>
          </a:xfrm>
          <a:prstGeom prst="rect">
            <a:avLst/>
          </a:prstGeom>
          <a:noFill/>
        </p:spPr>
        <p:txBody>
          <a:bodyPr wrap="none" rtlCol="0">
            <a:spAutoFit/>
          </a:bodyPr>
          <a:lstStyle/>
          <a:p>
            <a:r>
              <a:rPr lang="en-GB" sz="1400" b="1" dirty="0">
                <a:solidFill>
                  <a:schemeClr val="bg1">
                    <a:lumMod val="75000"/>
                  </a:schemeClr>
                </a:solidFill>
              </a:rPr>
              <a:t>PC1</a:t>
            </a:r>
          </a:p>
        </p:txBody>
      </p:sp>
      <p:sp>
        <p:nvSpPr>
          <p:cNvPr id="105" name="TextBox 104"/>
          <p:cNvSpPr txBox="1"/>
          <p:nvPr/>
        </p:nvSpPr>
        <p:spPr>
          <a:xfrm>
            <a:off x="6277828" y="2057400"/>
            <a:ext cx="466794" cy="307777"/>
          </a:xfrm>
          <a:prstGeom prst="rect">
            <a:avLst/>
          </a:prstGeom>
          <a:noFill/>
        </p:spPr>
        <p:txBody>
          <a:bodyPr wrap="none" rtlCol="0">
            <a:spAutoFit/>
          </a:bodyPr>
          <a:lstStyle/>
          <a:p>
            <a:r>
              <a:rPr lang="en-GB" sz="1400" b="1" dirty="0">
                <a:solidFill>
                  <a:schemeClr val="bg1">
                    <a:lumMod val="75000"/>
                  </a:schemeClr>
                </a:solidFill>
              </a:rPr>
              <a:t>PC2</a:t>
            </a:r>
          </a:p>
        </p:txBody>
      </p:sp>
      <p:grpSp>
        <p:nvGrpSpPr>
          <p:cNvPr id="96" name="Group 95"/>
          <p:cNvGrpSpPr/>
          <p:nvPr/>
        </p:nvGrpSpPr>
        <p:grpSpPr>
          <a:xfrm>
            <a:off x="4900010" y="2676427"/>
            <a:ext cx="3449186" cy="1986868"/>
            <a:chOff x="4900010" y="3276600"/>
            <a:chExt cx="3449186" cy="1986868"/>
          </a:xfrm>
        </p:grpSpPr>
        <p:grpSp>
          <p:nvGrpSpPr>
            <p:cNvPr id="97" name="Group 96"/>
            <p:cNvGrpSpPr/>
            <p:nvPr/>
          </p:nvGrpSpPr>
          <p:grpSpPr>
            <a:xfrm>
              <a:off x="4944234" y="3522815"/>
              <a:ext cx="3189528" cy="1740653"/>
              <a:chOff x="3439872" y="3838281"/>
              <a:chExt cx="3189528" cy="1740653"/>
            </a:xfrm>
          </p:grpSpPr>
          <p:sp>
            <p:nvSpPr>
              <p:cNvPr id="100" name="Circular Arrow 99"/>
              <p:cNvSpPr/>
              <p:nvPr/>
            </p:nvSpPr>
            <p:spPr>
              <a:xfrm rot="17763965" flipV="1">
                <a:off x="5306402" y="4175161"/>
                <a:ext cx="1222395" cy="1166656"/>
              </a:xfrm>
              <a:prstGeom prst="circularArrow">
                <a:avLst>
                  <a:gd name="adj1" fmla="val 12500"/>
                  <a:gd name="adj2" fmla="val 1142319"/>
                  <a:gd name="adj3" fmla="val 20457681"/>
                  <a:gd name="adj4" fmla="val 18108100"/>
                  <a:gd name="adj5" fmla="val 12500"/>
                </a:avLst>
              </a:prstGeom>
              <a:solidFill>
                <a:schemeClr val="bg1">
                  <a:lumMod val="8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cxnSp>
            <p:nvCxnSpPr>
              <p:cNvPr id="101" name="Straight Connector 100"/>
              <p:cNvCxnSpPr/>
              <p:nvPr/>
            </p:nvCxnSpPr>
            <p:spPr>
              <a:xfrm flipH="1">
                <a:off x="3439872" y="3838281"/>
                <a:ext cx="3189528" cy="1740653"/>
              </a:xfrm>
              <a:prstGeom prst="line">
                <a:avLst/>
              </a:prstGeom>
            </p:spPr>
            <p:style>
              <a:lnRef idx="2">
                <a:schemeClr val="dk1"/>
              </a:lnRef>
              <a:fillRef idx="0">
                <a:schemeClr val="dk1"/>
              </a:fillRef>
              <a:effectRef idx="1">
                <a:schemeClr val="dk1"/>
              </a:effectRef>
              <a:fontRef idx="minor">
                <a:schemeClr val="tx1"/>
              </a:fontRef>
            </p:style>
          </p:cxnSp>
          <p:cxnSp>
            <p:nvCxnSpPr>
              <p:cNvPr id="102" name="Straight Connector 101"/>
              <p:cNvCxnSpPr/>
              <p:nvPr/>
            </p:nvCxnSpPr>
            <p:spPr>
              <a:xfrm flipH="1" flipV="1">
                <a:off x="3619605" y="3926738"/>
                <a:ext cx="2781300" cy="1652196"/>
              </a:xfrm>
              <a:prstGeom prst="line">
                <a:avLst/>
              </a:prstGeom>
            </p:spPr>
            <p:style>
              <a:lnRef idx="2">
                <a:schemeClr val="dk1"/>
              </a:lnRef>
              <a:fillRef idx="0">
                <a:schemeClr val="dk1"/>
              </a:fillRef>
              <a:effectRef idx="1">
                <a:schemeClr val="dk1"/>
              </a:effectRef>
              <a:fontRef idx="minor">
                <a:schemeClr val="tx1"/>
              </a:fontRef>
            </p:style>
          </p:cxnSp>
        </p:grpSp>
        <p:sp>
          <p:nvSpPr>
            <p:cNvPr id="98" name="TextBox 97"/>
            <p:cNvSpPr txBox="1"/>
            <p:nvPr/>
          </p:nvSpPr>
          <p:spPr>
            <a:xfrm>
              <a:off x="7991406" y="3276600"/>
              <a:ext cx="357790" cy="307777"/>
            </a:xfrm>
            <a:prstGeom prst="rect">
              <a:avLst/>
            </a:prstGeom>
            <a:noFill/>
          </p:spPr>
          <p:txBody>
            <a:bodyPr wrap="none" rtlCol="0">
              <a:spAutoFit/>
            </a:bodyPr>
            <a:lstStyle/>
            <a:p>
              <a:r>
                <a:rPr lang="en-GB" sz="1400" b="1" dirty="0"/>
                <a:t>F1</a:t>
              </a:r>
            </a:p>
          </p:txBody>
        </p:sp>
        <p:sp>
          <p:nvSpPr>
            <p:cNvPr id="99" name="TextBox 98"/>
            <p:cNvSpPr txBox="1"/>
            <p:nvPr/>
          </p:nvSpPr>
          <p:spPr>
            <a:xfrm>
              <a:off x="4900010" y="3343373"/>
              <a:ext cx="357790" cy="307777"/>
            </a:xfrm>
            <a:prstGeom prst="rect">
              <a:avLst/>
            </a:prstGeom>
            <a:noFill/>
          </p:spPr>
          <p:txBody>
            <a:bodyPr wrap="none" rtlCol="0">
              <a:spAutoFit/>
            </a:bodyPr>
            <a:lstStyle/>
            <a:p>
              <a:r>
                <a:rPr lang="en-GB" sz="1400" b="1" dirty="0"/>
                <a:t>F2</a:t>
              </a:r>
            </a:p>
          </p:txBody>
        </p:sp>
      </p:grpSp>
    </p:spTree>
    <p:extLst>
      <p:ext uri="{BB962C8B-B14F-4D97-AF65-F5344CB8AC3E}">
        <p14:creationId xmlns:p14="http://schemas.microsoft.com/office/powerpoint/2010/main" val="1900412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Box 177"/>
          <p:cNvSpPr txBox="1"/>
          <p:nvPr/>
        </p:nvSpPr>
        <p:spPr>
          <a:xfrm>
            <a:off x="4211001" y="3590686"/>
            <a:ext cx="465192" cy="307777"/>
          </a:xfrm>
          <a:prstGeom prst="rect">
            <a:avLst/>
          </a:prstGeom>
          <a:noFill/>
        </p:spPr>
        <p:txBody>
          <a:bodyPr wrap="none" rtlCol="0">
            <a:spAutoFit/>
          </a:bodyPr>
          <a:lstStyle/>
          <a:p>
            <a:r>
              <a:rPr lang="en-GB" sz="1400" b="1" dirty="0"/>
              <a:t>PC1</a:t>
            </a:r>
          </a:p>
        </p:txBody>
      </p:sp>
      <p:grpSp>
        <p:nvGrpSpPr>
          <p:cNvPr id="179" name="Group 178"/>
          <p:cNvGrpSpPr/>
          <p:nvPr/>
        </p:nvGrpSpPr>
        <p:grpSpPr>
          <a:xfrm>
            <a:off x="613202" y="2274476"/>
            <a:ext cx="3651250" cy="3124200"/>
            <a:chOff x="5111750" y="2057400"/>
            <a:chExt cx="3651250" cy="3124200"/>
          </a:xfrm>
        </p:grpSpPr>
        <p:cxnSp>
          <p:nvCxnSpPr>
            <p:cNvPr id="180" name="Straight Connector 179"/>
            <p:cNvCxnSpPr/>
            <p:nvPr/>
          </p:nvCxnSpPr>
          <p:spPr>
            <a:xfrm>
              <a:off x="6927948" y="2057400"/>
              <a:ext cx="0" cy="312420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cxnSp>
          <p:nvCxnSpPr>
            <p:cNvPr id="181" name="Straight Connector 180"/>
            <p:cNvCxnSpPr/>
            <p:nvPr/>
          </p:nvCxnSpPr>
          <p:spPr>
            <a:xfrm>
              <a:off x="5111750" y="3544347"/>
              <a:ext cx="3651250" cy="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grpSp>
      <p:sp>
        <p:nvSpPr>
          <p:cNvPr id="182" name="Rectangle 181"/>
          <p:cNvSpPr/>
          <p:nvPr/>
        </p:nvSpPr>
        <p:spPr>
          <a:xfrm>
            <a:off x="3518229" y="290462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3" name="Rectangle 182"/>
          <p:cNvSpPr/>
          <p:nvPr/>
        </p:nvSpPr>
        <p:spPr>
          <a:xfrm>
            <a:off x="3289629" y="29763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4" name="Rectangle 183"/>
          <p:cNvSpPr/>
          <p:nvPr/>
        </p:nvSpPr>
        <p:spPr>
          <a:xfrm>
            <a:off x="3594429" y="26715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5" name="Rectangle 184"/>
          <p:cNvSpPr/>
          <p:nvPr/>
        </p:nvSpPr>
        <p:spPr>
          <a:xfrm>
            <a:off x="3746829" y="29001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6" name="Rectangle 185"/>
          <p:cNvSpPr/>
          <p:nvPr/>
        </p:nvSpPr>
        <p:spPr>
          <a:xfrm>
            <a:off x="3518229" y="3121279"/>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7" name="Rectangle 186"/>
          <p:cNvSpPr/>
          <p:nvPr/>
        </p:nvSpPr>
        <p:spPr>
          <a:xfrm>
            <a:off x="1232229" y="435544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8" name="Rectangle 187"/>
          <p:cNvSpPr/>
          <p:nvPr/>
        </p:nvSpPr>
        <p:spPr>
          <a:xfrm>
            <a:off x="1079829" y="41955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89" name="Rectangle 188"/>
          <p:cNvSpPr/>
          <p:nvPr/>
        </p:nvSpPr>
        <p:spPr>
          <a:xfrm>
            <a:off x="1384629" y="4119361"/>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90" name="Rectangle 189"/>
          <p:cNvSpPr/>
          <p:nvPr/>
        </p:nvSpPr>
        <p:spPr>
          <a:xfrm>
            <a:off x="1003629" y="443164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91" name="Rectangle 190"/>
          <p:cNvSpPr/>
          <p:nvPr/>
        </p:nvSpPr>
        <p:spPr>
          <a:xfrm>
            <a:off x="1384629" y="4264279"/>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92" name="Rectangle 191"/>
          <p:cNvSpPr/>
          <p:nvPr/>
        </p:nvSpPr>
        <p:spPr>
          <a:xfrm>
            <a:off x="3823029" y="267602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193" name="Rectangle 192"/>
          <p:cNvSpPr/>
          <p:nvPr/>
        </p:nvSpPr>
        <p:spPr>
          <a:xfrm>
            <a:off x="3213429" y="4043161"/>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94" name="Rectangle 193"/>
          <p:cNvSpPr/>
          <p:nvPr/>
        </p:nvSpPr>
        <p:spPr>
          <a:xfrm>
            <a:off x="3486806" y="41118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95" name="Rectangle 194"/>
          <p:cNvSpPr/>
          <p:nvPr/>
        </p:nvSpPr>
        <p:spPr>
          <a:xfrm>
            <a:off x="1323510" y="3018202"/>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96" name="Rectangle 195"/>
          <p:cNvSpPr/>
          <p:nvPr/>
        </p:nvSpPr>
        <p:spPr>
          <a:xfrm>
            <a:off x="1537029" y="2946467"/>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97" name="Rectangle 196"/>
          <p:cNvSpPr/>
          <p:nvPr/>
        </p:nvSpPr>
        <p:spPr>
          <a:xfrm>
            <a:off x="1460829" y="3182180"/>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98" name="Rectangle 197"/>
          <p:cNvSpPr/>
          <p:nvPr/>
        </p:nvSpPr>
        <p:spPr>
          <a:xfrm>
            <a:off x="3365829" y="39594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199" name="Rectangle 198"/>
          <p:cNvSpPr/>
          <p:nvPr/>
        </p:nvSpPr>
        <p:spPr>
          <a:xfrm>
            <a:off x="3365829" y="43404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00" name="Rectangle 199"/>
          <p:cNvSpPr/>
          <p:nvPr/>
        </p:nvSpPr>
        <p:spPr>
          <a:xfrm>
            <a:off x="3594429" y="4271761"/>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01" name="Rectangle 200"/>
          <p:cNvSpPr/>
          <p:nvPr/>
        </p:nvSpPr>
        <p:spPr>
          <a:xfrm>
            <a:off x="1918029" y="3052561"/>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02" name="Rectangle 201"/>
          <p:cNvSpPr/>
          <p:nvPr/>
        </p:nvSpPr>
        <p:spPr>
          <a:xfrm>
            <a:off x="3814388" y="4297067"/>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03" name="Rectangle 202"/>
          <p:cNvSpPr/>
          <p:nvPr/>
        </p:nvSpPr>
        <p:spPr>
          <a:xfrm>
            <a:off x="1689429" y="31212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04" name="Rectangle 203"/>
          <p:cNvSpPr/>
          <p:nvPr/>
        </p:nvSpPr>
        <p:spPr>
          <a:xfrm>
            <a:off x="3594429" y="449287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05" name="TextBox 204"/>
          <p:cNvSpPr txBox="1"/>
          <p:nvPr/>
        </p:nvSpPr>
        <p:spPr>
          <a:xfrm>
            <a:off x="4211001" y="3591145"/>
            <a:ext cx="465192" cy="307777"/>
          </a:xfrm>
          <a:prstGeom prst="rect">
            <a:avLst/>
          </a:prstGeom>
          <a:noFill/>
        </p:spPr>
        <p:txBody>
          <a:bodyPr wrap="none" rtlCol="0">
            <a:spAutoFit/>
          </a:bodyPr>
          <a:lstStyle/>
          <a:p>
            <a:r>
              <a:rPr lang="en-GB" sz="1400" b="1" dirty="0">
                <a:solidFill>
                  <a:schemeClr val="bg1">
                    <a:lumMod val="75000"/>
                  </a:schemeClr>
                </a:solidFill>
              </a:rPr>
              <a:t>PC1</a:t>
            </a:r>
          </a:p>
        </p:txBody>
      </p:sp>
      <p:grpSp>
        <p:nvGrpSpPr>
          <p:cNvPr id="206" name="Group 205"/>
          <p:cNvGrpSpPr/>
          <p:nvPr/>
        </p:nvGrpSpPr>
        <p:grpSpPr>
          <a:xfrm>
            <a:off x="881243" y="2411393"/>
            <a:ext cx="3189528" cy="2770207"/>
            <a:chOff x="3439872" y="3362229"/>
            <a:chExt cx="3189528" cy="2770207"/>
          </a:xfrm>
        </p:grpSpPr>
        <p:sp>
          <p:nvSpPr>
            <p:cNvPr id="207" name="Circular Arrow 17"/>
            <p:cNvSpPr/>
            <p:nvPr/>
          </p:nvSpPr>
          <p:spPr>
            <a:xfrm rot="17763965" flipV="1">
              <a:off x="5306402" y="4175161"/>
              <a:ext cx="1222395" cy="1166656"/>
            </a:xfrm>
            <a:prstGeom prst="circularArrow">
              <a:avLst>
                <a:gd name="adj1" fmla="val 12500"/>
                <a:gd name="adj2" fmla="val 1142319"/>
                <a:gd name="adj3" fmla="val 20457681"/>
                <a:gd name="adj4" fmla="val 18208454"/>
                <a:gd name="adj5" fmla="val 12500"/>
              </a:avLst>
            </a:prstGeom>
            <a:solidFill>
              <a:schemeClr val="bg1">
                <a:lumMod val="8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cxnSp>
          <p:nvCxnSpPr>
            <p:cNvPr id="208" name="Straight Connector 207"/>
            <p:cNvCxnSpPr/>
            <p:nvPr/>
          </p:nvCxnSpPr>
          <p:spPr>
            <a:xfrm flipH="1">
              <a:off x="3439872" y="3838281"/>
              <a:ext cx="3189528" cy="1740653"/>
            </a:xfrm>
            <a:prstGeom prst="line">
              <a:avLst/>
            </a:prstGeom>
          </p:spPr>
          <p:style>
            <a:lnRef idx="2">
              <a:schemeClr val="dk1"/>
            </a:lnRef>
            <a:fillRef idx="0">
              <a:schemeClr val="dk1"/>
            </a:fillRef>
            <a:effectRef idx="1">
              <a:schemeClr val="dk1"/>
            </a:effectRef>
            <a:fontRef idx="minor">
              <a:schemeClr val="tx1"/>
            </a:fontRef>
          </p:style>
        </p:cxnSp>
        <p:cxnSp>
          <p:nvCxnSpPr>
            <p:cNvPr id="209" name="Straight Connector 208"/>
            <p:cNvCxnSpPr/>
            <p:nvPr/>
          </p:nvCxnSpPr>
          <p:spPr>
            <a:xfrm flipH="1" flipV="1">
              <a:off x="4230438" y="3362229"/>
              <a:ext cx="1541620" cy="2770207"/>
            </a:xfrm>
            <a:prstGeom prst="line">
              <a:avLst/>
            </a:prstGeom>
          </p:spPr>
          <p:style>
            <a:lnRef idx="2">
              <a:schemeClr val="dk1"/>
            </a:lnRef>
            <a:fillRef idx="0">
              <a:schemeClr val="dk1"/>
            </a:fillRef>
            <a:effectRef idx="1">
              <a:schemeClr val="dk1"/>
            </a:effectRef>
            <a:fontRef idx="minor">
              <a:schemeClr val="tx1"/>
            </a:fontRef>
          </p:style>
        </p:cxnSp>
      </p:grpSp>
      <p:sp>
        <p:nvSpPr>
          <p:cNvPr id="210" name="TextBox 209"/>
          <p:cNvSpPr txBox="1"/>
          <p:nvPr/>
        </p:nvSpPr>
        <p:spPr>
          <a:xfrm>
            <a:off x="3928415" y="2641230"/>
            <a:ext cx="357790" cy="307777"/>
          </a:xfrm>
          <a:prstGeom prst="rect">
            <a:avLst/>
          </a:prstGeom>
          <a:noFill/>
        </p:spPr>
        <p:txBody>
          <a:bodyPr wrap="none" rtlCol="0">
            <a:spAutoFit/>
          </a:bodyPr>
          <a:lstStyle/>
          <a:p>
            <a:r>
              <a:rPr lang="en-GB" sz="1400" b="1" dirty="0"/>
              <a:t>F1</a:t>
            </a:r>
          </a:p>
        </p:txBody>
      </p:sp>
      <p:sp>
        <p:nvSpPr>
          <p:cNvPr id="211" name="TextBox 210"/>
          <p:cNvSpPr txBox="1"/>
          <p:nvPr/>
        </p:nvSpPr>
        <p:spPr>
          <a:xfrm>
            <a:off x="1347209" y="2107830"/>
            <a:ext cx="357790" cy="307777"/>
          </a:xfrm>
          <a:prstGeom prst="rect">
            <a:avLst/>
          </a:prstGeom>
          <a:noFill/>
        </p:spPr>
        <p:txBody>
          <a:bodyPr wrap="none" rtlCol="0">
            <a:spAutoFit/>
          </a:bodyPr>
          <a:lstStyle/>
          <a:p>
            <a:r>
              <a:rPr lang="en-GB" sz="1400" b="1" dirty="0"/>
              <a:t>F2</a:t>
            </a:r>
          </a:p>
        </p:txBody>
      </p:sp>
      <p:grpSp>
        <p:nvGrpSpPr>
          <p:cNvPr id="212" name="Group 211"/>
          <p:cNvGrpSpPr/>
          <p:nvPr/>
        </p:nvGrpSpPr>
        <p:grpSpPr>
          <a:xfrm>
            <a:off x="4676193" y="2309673"/>
            <a:ext cx="3651250" cy="3124200"/>
            <a:chOff x="5111750" y="2057400"/>
            <a:chExt cx="3651250" cy="3124200"/>
          </a:xfrm>
        </p:grpSpPr>
        <p:cxnSp>
          <p:nvCxnSpPr>
            <p:cNvPr id="213" name="Straight Connector 212"/>
            <p:cNvCxnSpPr/>
            <p:nvPr/>
          </p:nvCxnSpPr>
          <p:spPr>
            <a:xfrm>
              <a:off x="6927948" y="2057400"/>
              <a:ext cx="0" cy="312420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cxnSp>
          <p:nvCxnSpPr>
            <p:cNvPr id="214" name="Straight Connector 213"/>
            <p:cNvCxnSpPr/>
            <p:nvPr/>
          </p:nvCxnSpPr>
          <p:spPr>
            <a:xfrm>
              <a:off x="5111750" y="3544347"/>
              <a:ext cx="3651250" cy="0"/>
            </a:xfrm>
            <a:prstGeom prst="line">
              <a:avLst/>
            </a:prstGeom>
            <a:ln>
              <a:solidFill>
                <a:schemeClr val="bg1"/>
              </a:solidFill>
            </a:ln>
            <a:effectLst/>
          </p:spPr>
          <p:style>
            <a:lnRef idx="2">
              <a:schemeClr val="dk1"/>
            </a:lnRef>
            <a:fillRef idx="0">
              <a:schemeClr val="dk1"/>
            </a:fillRef>
            <a:effectRef idx="1">
              <a:schemeClr val="dk1"/>
            </a:effectRef>
            <a:fontRef idx="minor">
              <a:schemeClr val="tx1"/>
            </a:fontRef>
          </p:style>
        </p:cxnSp>
      </p:grpSp>
      <p:sp>
        <p:nvSpPr>
          <p:cNvPr id="215" name="Rectangle 214"/>
          <p:cNvSpPr/>
          <p:nvPr/>
        </p:nvSpPr>
        <p:spPr>
          <a:xfrm>
            <a:off x="7581220" y="293982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16" name="Rectangle 215"/>
          <p:cNvSpPr/>
          <p:nvPr/>
        </p:nvSpPr>
        <p:spPr>
          <a:xfrm>
            <a:off x="7352620" y="30115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17" name="Rectangle 216"/>
          <p:cNvSpPr/>
          <p:nvPr/>
        </p:nvSpPr>
        <p:spPr>
          <a:xfrm>
            <a:off x="7657420" y="27067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18" name="Rectangle 217"/>
          <p:cNvSpPr/>
          <p:nvPr/>
        </p:nvSpPr>
        <p:spPr>
          <a:xfrm>
            <a:off x="7809820" y="29353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19" name="Rectangle 218"/>
          <p:cNvSpPr/>
          <p:nvPr/>
        </p:nvSpPr>
        <p:spPr>
          <a:xfrm>
            <a:off x="7581220" y="315647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0" name="Rectangle 219"/>
          <p:cNvSpPr/>
          <p:nvPr/>
        </p:nvSpPr>
        <p:spPr>
          <a:xfrm>
            <a:off x="5295220" y="439064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1" name="Rectangle 220"/>
          <p:cNvSpPr/>
          <p:nvPr/>
        </p:nvSpPr>
        <p:spPr>
          <a:xfrm>
            <a:off x="5142820" y="42307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2" name="Rectangle 221"/>
          <p:cNvSpPr/>
          <p:nvPr/>
        </p:nvSpPr>
        <p:spPr>
          <a:xfrm>
            <a:off x="5447620" y="4154558"/>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3" name="Rectangle 222"/>
          <p:cNvSpPr/>
          <p:nvPr/>
        </p:nvSpPr>
        <p:spPr>
          <a:xfrm>
            <a:off x="5066620" y="4466840"/>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4" name="Rectangle 223"/>
          <p:cNvSpPr/>
          <p:nvPr/>
        </p:nvSpPr>
        <p:spPr>
          <a:xfrm>
            <a:off x="5447620" y="4299476"/>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5" name="Rectangle 224"/>
          <p:cNvSpPr/>
          <p:nvPr/>
        </p:nvSpPr>
        <p:spPr>
          <a:xfrm>
            <a:off x="7886020" y="2711223"/>
            <a:ext cx="76200" cy="8368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26" name="Rectangle 225"/>
          <p:cNvSpPr/>
          <p:nvPr/>
        </p:nvSpPr>
        <p:spPr>
          <a:xfrm>
            <a:off x="7276420" y="40783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27" name="Rectangle 226"/>
          <p:cNvSpPr/>
          <p:nvPr/>
        </p:nvSpPr>
        <p:spPr>
          <a:xfrm>
            <a:off x="7549797" y="41470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28" name="Rectangle 227"/>
          <p:cNvSpPr/>
          <p:nvPr/>
        </p:nvSpPr>
        <p:spPr>
          <a:xfrm>
            <a:off x="5386501" y="3053399"/>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29" name="Rectangle 228"/>
          <p:cNvSpPr/>
          <p:nvPr/>
        </p:nvSpPr>
        <p:spPr>
          <a:xfrm>
            <a:off x="5600020" y="2981664"/>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0" name="Rectangle 229"/>
          <p:cNvSpPr/>
          <p:nvPr/>
        </p:nvSpPr>
        <p:spPr>
          <a:xfrm>
            <a:off x="5523820" y="3217377"/>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1" name="Rectangle 230"/>
          <p:cNvSpPr/>
          <p:nvPr/>
        </p:nvSpPr>
        <p:spPr>
          <a:xfrm>
            <a:off x="7428820" y="39946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2" name="Rectangle 231"/>
          <p:cNvSpPr/>
          <p:nvPr/>
        </p:nvSpPr>
        <p:spPr>
          <a:xfrm>
            <a:off x="7428820" y="43756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3" name="Rectangle 232"/>
          <p:cNvSpPr/>
          <p:nvPr/>
        </p:nvSpPr>
        <p:spPr>
          <a:xfrm>
            <a:off x="7657420" y="43069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4" name="Rectangle 233"/>
          <p:cNvSpPr/>
          <p:nvPr/>
        </p:nvSpPr>
        <p:spPr>
          <a:xfrm>
            <a:off x="5981020" y="3087758"/>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5" name="Rectangle 234"/>
          <p:cNvSpPr/>
          <p:nvPr/>
        </p:nvSpPr>
        <p:spPr>
          <a:xfrm>
            <a:off x="7877379" y="4332264"/>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6" name="Rectangle 235"/>
          <p:cNvSpPr/>
          <p:nvPr/>
        </p:nvSpPr>
        <p:spPr>
          <a:xfrm>
            <a:off x="5752420" y="31564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7" name="Rectangle 236"/>
          <p:cNvSpPr/>
          <p:nvPr/>
        </p:nvSpPr>
        <p:spPr>
          <a:xfrm>
            <a:off x="7657420" y="4528076"/>
            <a:ext cx="76200" cy="8368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38" name="TextBox 237"/>
          <p:cNvSpPr txBox="1"/>
          <p:nvPr/>
        </p:nvSpPr>
        <p:spPr>
          <a:xfrm>
            <a:off x="8273992" y="3626342"/>
            <a:ext cx="465192" cy="307777"/>
          </a:xfrm>
          <a:prstGeom prst="rect">
            <a:avLst/>
          </a:prstGeom>
          <a:noFill/>
        </p:spPr>
        <p:txBody>
          <a:bodyPr wrap="none" rtlCol="0">
            <a:spAutoFit/>
          </a:bodyPr>
          <a:lstStyle/>
          <a:p>
            <a:r>
              <a:rPr lang="en-GB" sz="1400" b="1" dirty="0">
                <a:solidFill>
                  <a:schemeClr val="bg1">
                    <a:lumMod val="75000"/>
                  </a:schemeClr>
                </a:solidFill>
              </a:rPr>
              <a:t>PC1</a:t>
            </a:r>
          </a:p>
        </p:txBody>
      </p:sp>
      <p:grpSp>
        <p:nvGrpSpPr>
          <p:cNvPr id="239" name="Group 238"/>
          <p:cNvGrpSpPr/>
          <p:nvPr/>
        </p:nvGrpSpPr>
        <p:grpSpPr>
          <a:xfrm>
            <a:off x="4900010" y="2676427"/>
            <a:ext cx="3449186" cy="1986868"/>
            <a:chOff x="4900010" y="3276600"/>
            <a:chExt cx="3449186" cy="1986868"/>
          </a:xfrm>
        </p:grpSpPr>
        <p:grpSp>
          <p:nvGrpSpPr>
            <p:cNvPr id="240" name="Group 239"/>
            <p:cNvGrpSpPr/>
            <p:nvPr/>
          </p:nvGrpSpPr>
          <p:grpSpPr>
            <a:xfrm>
              <a:off x="4944234" y="3522815"/>
              <a:ext cx="3189528" cy="1740653"/>
              <a:chOff x="3439872" y="3838281"/>
              <a:chExt cx="3189528" cy="1740653"/>
            </a:xfrm>
          </p:grpSpPr>
          <p:sp>
            <p:nvSpPr>
              <p:cNvPr id="243" name="Circular Arrow 99"/>
              <p:cNvSpPr/>
              <p:nvPr/>
            </p:nvSpPr>
            <p:spPr>
              <a:xfrm rot="17763965" flipV="1">
                <a:off x="5306402" y="4175161"/>
                <a:ext cx="1222395" cy="1166656"/>
              </a:xfrm>
              <a:prstGeom prst="circularArrow">
                <a:avLst>
                  <a:gd name="adj1" fmla="val 12500"/>
                  <a:gd name="adj2" fmla="val 1142319"/>
                  <a:gd name="adj3" fmla="val 20457681"/>
                  <a:gd name="adj4" fmla="val 18218676"/>
                  <a:gd name="adj5" fmla="val 12500"/>
                </a:avLst>
              </a:prstGeom>
              <a:solidFill>
                <a:schemeClr val="bg1">
                  <a:lumMod val="85000"/>
                </a:schemeClr>
              </a:solidFill>
              <a:ln>
                <a:solidFill>
                  <a:schemeClr val="bg1">
                    <a:lumMod val="6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dirty="0">
                  <a:solidFill>
                    <a:schemeClr val="tx1"/>
                  </a:solidFill>
                </a:endParaRPr>
              </a:p>
            </p:txBody>
          </p:sp>
          <p:cxnSp>
            <p:nvCxnSpPr>
              <p:cNvPr id="244" name="Straight Connector 243"/>
              <p:cNvCxnSpPr/>
              <p:nvPr/>
            </p:nvCxnSpPr>
            <p:spPr>
              <a:xfrm flipH="1">
                <a:off x="3439872" y="3838281"/>
                <a:ext cx="3189528" cy="1740653"/>
              </a:xfrm>
              <a:prstGeom prst="line">
                <a:avLst/>
              </a:prstGeom>
            </p:spPr>
            <p:style>
              <a:lnRef idx="2">
                <a:schemeClr val="dk1"/>
              </a:lnRef>
              <a:fillRef idx="0">
                <a:schemeClr val="dk1"/>
              </a:fillRef>
              <a:effectRef idx="1">
                <a:schemeClr val="dk1"/>
              </a:effectRef>
              <a:fontRef idx="minor">
                <a:schemeClr val="tx1"/>
              </a:fontRef>
            </p:style>
          </p:cxnSp>
          <p:cxnSp>
            <p:nvCxnSpPr>
              <p:cNvPr id="245" name="Straight Connector 244"/>
              <p:cNvCxnSpPr/>
              <p:nvPr/>
            </p:nvCxnSpPr>
            <p:spPr>
              <a:xfrm flipH="1" flipV="1">
                <a:off x="3619605" y="3926738"/>
                <a:ext cx="2781300" cy="1652196"/>
              </a:xfrm>
              <a:prstGeom prst="line">
                <a:avLst/>
              </a:prstGeom>
            </p:spPr>
            <p:style>
              <a:lnRef idx="2">
                <a:schemeClr val="dk1"/>
              </a:lnRef>
              <a:fillRef idx="0">
                <a:schemeClr val="dk1"/>
              </a:fillRef>
              <a:effectRef idx="1">
                <a:schemeClr val="dk1"/>
              </a:effectRef>
              <a:fontRef idx="minor">
                <a:schemeClr val="tx1"/>
              </a:fontRef>
            </p:style>
          </p:cxnSp>
        </p:grpSp>
        <p:sp>
          <p:nvSpPr>
            <p:cNvPr id="241" name="TextBox 240"/>
            <p:cNvSpPr txBox="1"/>
            <p:nvPr/>
          </p:nvSpPr>
          <p:spPr>
            <a:xfrm>
              <a:off x="7991406" y="3276600"/>
              <a:ext cx="357790" cy="307777"/>
            </a:xfrm>
            <a:prstGeom prst="rect">
              <a:avLst/>
            </a:prstGeom>
            <a:noFill/>
          </p:spPr>
          <p:txBody>
            <a:bodyPr wrap="none" rtlCol="0">
              <a:spAutoFit/>
            </a:bodyPr>
            <a:lstStyle/>
            <a:p>
              <a:r>
                <a:rPr lang="en-GB" sz="1400" b="1" dirty="0"/>
                <a:t>F1</a:t>
              </a:r>
            </a:p>
          </p:txBody>
        </p:sp>
        <p:sp>
          <p:nvSpPr>
            <p:cNvPr id="242" name="TextBox 241"/>
            <p:cNvSpPr txBox="1"/>
            <p:nvPr/>
          </p:nvSpPr>
          <p:spPr>
            <a:xfrm>
              <a:off x="4900010" y="3343373"/>
              <a:ext cx="357790" cy="307777"/>
            </a:xfrm>
            <a:prstGeom prst="rect">
              <a:avLst/>
            </a:prstGeom>
            <a:noFill/>
          </p:spPr>
          <p:txBody>
            <a:bodyPr wrap="none" rtlCol="0">
              <a:spAutoFit/>
            </a:bodyPr>
            <a:lstStyle/>
            <a:p>
              <a:r>
                <a:rPr lang="en-GB" sz="1400" b="1" dirty="0"/>
                <a:t>F2</a:t>
              </a:r>
            </a:p>
          </p:txBody>
        </p:sp>
      </p:grpSp>
      <p:sp>
        <p:nvSpPr>
          <p:cNvPr id="2" name="Title 1"/>
          <p:cNvSpPr>
            <a:spLocks noGrp="1"/>
          </p:cNvSpPr>
          <p:nvPr>
            <p:ph type="title"/>
          </p:nvPr>
        </p:nvSpPr>
        <p:spPr/>
        <p:txBody>
          <a:bodyPr>
            <a:normAutofit/>
          </a:bodyPr>
          <a:lstStyle/>
          <a:p>
            <a:r>
              <a:rPr lang="en-GB" dirty="0"/>
              <a:t>Which type of rotation</a:t>
            </a:r>
          </a:p>
        </p:txBody>
      </p:sp>
      <p:sp>
        <p:nvSpPr>
          <p:cNvPr id="3" name="Text Placeholder 2"/>
          <p:cNvSpPr>
            <a:spLocks noGrp="1"/>
          </p:cNvSpPr>
          <p:nvPr>
            <p:ph type="body" idx="1"/>
          </p:nvPr>
        </p:nvSpPr>
        <p:spPr>
          <a:xfrm>
            <a:off x="457200" y="666750"/>
            <a:ext cx="4040188" cy="639762"/>
          </a:xfrm>
          <a:solidFill>
            <a:schemeClr val="accent3">
              <a:lumMod val="20000"/>
              <a:lumOff val="80000"/>
            </a:schemeClr>
          </a:solidFill>
        </p:spPr>
        <p:txBody>
          <a:bodyPr/>
          <a:lstStyle/>
          <a:p>
            <a:r>
              <a:rPr lang="en-GB" dirty="0"/>
              <a:t>Orthogonal</a:t>
            </a:r>
          </a:p>
        </p:txBody>
      </p:sp>
      <p:sp>
        <p:nvSpPr>
          <p:cNvPr id="4" name="Content Placeholder 3"/>
          <p:cNvSpPr>
            <a:spLocks noGrp="1"/>
          </p:cNvSpPr>
          <p:nvPr>
            <p:ph sz="half" idx="2"/>
          </p:nvPr>
        </p:nvSpPr>
        <p:spPr>
          <a:xfrm>
            <a:off x="457200" y="1306512"/>
            <a:ext cx="4040188" cy="3951288"/>
          </a:xfrm>
        </p:spPr>
        <p:txBody>
          <a:bodyPr>
            <a:normAutofit/>
          </a:bodyPr>
          <a:lstStyle/>
          <a:p>
            <a:pPr marL="0" indent="0">
              <a:buNone/>
            </a:pPr>
            <a:r>
              <a:rPr lang="en-GB" altLang="en-US" sz="2000" dirty="0"/>
              <a:t>factors are rotated, but kept uncorrelated (axes perpendicular)</a:t>
            </a:r>
          </a:p>
        </p:txBody>
      </p:sp>
      <p:sp>
        <p:nvSpPr>
          <p:cNvPr id="5" name="Text Placeholder 4"/>
          <p:cNvSpPr>
            <a:spLocks noGrp="1"/>
          </p:cNvSpPr>
          <p:nvPr>
            <p:ph type="body" sz="quarter" idx="3"/>
          </p:nvPr>
        </p:nvSpPr>
        <p:spPr>
          <a:xfrm>
            <a:off x="4645025" y="666750"/>
            <a:ext cx="4041775" cy="639762"/>
          </a:xfrm>
          <a:solidFill>
            <a:schemeClr val="accent4">
              <a:lumMod val="20000"/>
              <a:lumOff val="80000"/>
            </a:schemeClr>
          </a:solidFill>
        </p:spPr>
        <p:txBody>
          <a:bodyPr/>
          <a:lstStyle/>
          <a:p>
            <a:r>
              <a:rPr lang="en-GB" dirty="0"/>
              <a:t>Oblique</a:t>
            </a:r>
          </a:p>
        </p:txBody>
      </p:sp>
      <p:sp>
        <p:nvSpPr>
          <p:cNvPr id="6" name="Content Placeholder 5"/>
          <p:cNvSpPr>
            <a:spLocks noGrp="1"/>
          </p:cNvSpPr>
          <p:nvPr>
            <p:ph sz="quarter" idx="4"/>
          </p:nvPr>
        </p:nvSpPr>
        <p:spPr>
          <a:xfrm>
            <a:off x="4645025" y="1306512"/>
            <a:ext cx="4041775" cy="3951288"/>
          </a:xfrm>
        </p:spPr>
        <p:txBody>
          <a:bodyPr>
            <a:normAutofit/>
          </a:bodyPr>
          <a:lstStyle/>
          <a:p>
            <a:pPr marL="0" indent="0">
              <a:buNone/>
            </a:pPr>
            <a:r>
              <a:rPr lang="en-GB" altLang="en-US" sz="2000" dirty="0"/>
              <a:t>factors can correlate, so angle between axes varies</a:t>
            </a:r>
            <a:endParaRPr lang="en-GB" sz="2000" dirty="0"/>
          </a:p>
        </p:txBody>
      </p:sp>
      <p:sp>
        <p:nvSpPr>
          <p:cNvPr id="59" name="TextBox 58"/>
          <p:cNvSpPr txBox="1"/>
          <p:nvPr/>
        </p:nvSpPr>
        <p:spPr>
          <a:xfrm>
            <a:off x="2214837" y="2021744"/>
            <a:ext cx="466794" cy="307777"/>
          </a:xfrm>
          <a:prstGeom prst="rect">
            <a:avLst/>
          </a:prstGeom>
          <a:noFill/>
        </p:spPr>
        <p:txBody>
          <a:bodyPr wrap="none" rtlCol="0">
            <a:spAutoFit/>
          </a:bodyPr>
          <a:lstStyle/>
          <a:p>
            <a:r>
              <a:rPr lang="en-GB" sz="1400" b="1" dirty="0"/>
              <a:t>PC2</a:t>
            </a:r>
          </a:p>
        </p:txBody>
      </p:sp>
      <p:sp>
        <p:nvSpPr>
          <p:cNvPr id="9" name="Rectangle 8"/>
          <p:cNvSpPr/>
          <p:nvPr/>
        </p:nvSpPr>
        <p:spPr>
          <a:xfrm>
            <a:off x="5029200" y="4438471"/>
            <a:ext cx="2999718"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GB" altLang="en-US" sz="2400" b="1" dirty="0" err="1"/>
              <a:t>oblimin</a:t>
            </a:r>
            <a:r>
              <a:rPr lang="en-GB" altLang="en-US" sz="2400" dirty="0"/>
              <a:t> and </a:t>
            </a:r>
            <a:r>
              <a:rPr lang="en-GB" altLang="en-US" sz="2400" b="1" dirty="0" err="1"/>
              <a:t>promax</a:t>
            </a:r>
            <a:r>
              <a:rPr lang="en-GB" altLang="en-US" sz="2400" dirty="0"/>
              <a:t> are widely-used oblique rotations</a:t>
            </a:r>
            <a:endParaRPr lang="en-GB" sz="2400" dirty="0"/>
          </a:p>
        </p:txBody>
      </p:sp>
      <p:sp>
        <p:nvSpPr>
          <p:cNvPr id="175" name="Rectangle 174"/>
          <p:cNvSpPr/>
          <p:nvPr/>
        </p:nvSpPr>
        <p:spPr>
          <a:xfrm>
            <a:off x="852770" y="4411609"/>
            <a:ext cx="2999718" cy="120032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GB" altLang="en-US" sz="2400" b="1" dirty="0" err="1"/>
              <a:t>varimax</a:t>
            </a:r>
            <a:r>
              <a:rPr lang="en-GB" altLang="en-US" sz="2400" dirty="0"/>
              <a:t> is a common orthogonal rotation option</a:t>
            </a:r>
            <a:endParaRPr lang="en-GB" sz="2400" dirty="0"/>
          </a:p>
        </p:txBody>
      </p:sp>
      <p:sp>
        <p:nvSpPr>
          <p:cNvPr id="10" name="Rectangle 9"/>
          <p:cNvSpPr/>
          <p:nvPr/>
        </p:nvSpPr>
        <p:spPr>
          <a:xfrm>
            <a:off x="466627" y="1371600"/>
            <a:ext cx="3986397" cy="9233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spcBef>
                <a:spcPct val="20000"/>
              </a:spcBef>
              <a:buClr>
                <a:schemeClr val="accent2"/>
              </a:buClr>
            </a:pPr>
            <a:r>
              <a:rPr lang="en-GB" altLang="en-US" dirty="0"/>
              <a:t>Easier to report and commonly used, correlation between factors would be expected for data on humans</a:t>
            </a:r>
            <a:r>
              <a:rPr lang="en-GB" altLang="en-US" baseline="30000" dirty="0"/>
              <a:t>1</a:t>
            </a:r>
            <a:endParaRPr lang="en-GB" altLang="en-US" dirty="0"/>
          </a:p>
        </p:txBody>
      </p:sp>
      <p:sp>
        <p:nvSpPr>
          <p:cNvPr id="176" name="Rectangle 175"/>
          <p:cNvSpPr/>
          <p:nvPr/>
        </p:nvSpPr>
        <p:spPr>
          <a:xfrm>
            <a:off x="4668201" y="1371600"/>
            <a:ext cx="4018599"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spcBef>
                <a:spcPct val="20000"/>
              </a:spcBef>
              <a:buClr>
                <a:schemeClr val="accent2"/>
              </a:buClr>
            </a:pPr>
            <a:r>
              <a:rPr lang="en-GB" altLang="en-US" dirty="0"/>
              <a:t>Experts</a:t>
            </a:r>
            <a:r>
              <a:rPr lang="en-GB" altLang="en-US" baseline="30000" dirty="0"/>
              <a:t>2</a:t>
            </a:r>
            <a:r>
              <a:rPr lang="en-GB" altLang="en-US" dirty="0"/>
              <a:t> suggest trying an oblique rotation and examining the correlations between factors</a:t>
            </a:r>
            <a:endParaRPr lang="en-GB" dirty="0"/>
          </a:p>
        </p:txBody>
      </p:sp>
      <p:sp>
        <p:nvSpPr>
          <p:cNvPr id="177" name="Rectangle 176"/>
          <p:cNvSpPr/>
          <p:nvPr/>
        </p:nvSpPr>
        <p:spPr>
          <a:xfrm>
            <a:off x="15228" y="6324600"/>
            <a:ext cx="1432572" cy="461665"/>
          </a:xfrm>
          <a:prstGeom prst="rect">
            <a:avLst/>
          </a:prstGeom>
        </p:spPr>
        <p:txBody>
          <a:bodyPr wrap="none">
            <a:spAutoFit/>
          </a:bodyPr>
          <a:lstStyle/>
          <a:p>
            <a:r>
              <a:rPr lang="en-GB" altLang="en-US" sz="1200" baseline="30000" dirty="0"/>
              <a:t>1</a:t>
            </a:r>
            <a:r>
              <a:rPr lang="en-GB" altLang="en-US" sz="1200" dirty="0"/>
              <a:t>Field</a:t>
            </a:r>
          </a:p>
          <a:p>
            <a:r>
              <a:rPr lang="en-GB" altLang="en-US" sz="1200" baseline="30000" dirty="0"/>
              <a:t>2</a:t>
            </a:r>
            <a:r>
              <a:rPr lang="en-GB" altLang="en-US" sz="1200" dirty="0"/>
              <a:t>Tabachnick &amp; </a:t>
            </a:r>
            <a:r>
              <a:rPr lang="en-GB" altLang="en-US" sz="1200" dirty="0" err="1"/>
              <a:t>Fidell</a:t>
            </a:r>
            <a:endParaRPr lang="en-GB" sz="1200" dirty="0"/>
          </a:p>
        </p:txBody>
      </p:sp>
    </p:spTree>
    <p:extLst>
      <p:ext uri="{BB962C8B-B14F-4D97-AF65-F5344CB8AC3E}">
        <p14:creationId xmlns:p14="http://schemas.microsoft.com/office/powerpoint/2010/main" val="17222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fade">
                                      <p:cBhvr>
                                        <p:cTn id="12" dur="500"/>
                                        <p:tgtEl>
                                          <p:spTgt spid="1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5"/>
                                        </p:tgtEl>
                                        <p:attrNameLst>
                                          <p:attrName>style.visibility</p:attrName>
                                        </p:attrNameLst>
                                      </p:cBhvr>
                                      <p:to>
                                        <p:strVal val="visible"/>
                                      </p:to>
                                    </p:set>
                                    <p:animEffect transition="in" filter="fade">
                                      <p:cBhvr>
                                        <p:cTn id="17" dur="500"/>
                                        <p:tgtEl>
                                          <p:spTgt spid="17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5" grpId="0" animBg="1"/>
      <p:bldP spid="10" grpId="0" animBg="1"/>
      <p:bldP spid="17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9" name="Rectangle 5"/>
          <p:cNvSpPr>
            <a:spLocks noChangeArrowheads="1"/>
          </p:cNvSpPr>
          <p:nvPr/>
        </p:nvSpPr>
        <p:spPr bwMode="auto">
          <a:xfrm>
            <a:off x="304800" y="685800"/>
            <a:ext cx="4639434"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chemeClr val="accent2"/>
              </a:buClr>
            </a:pPr>
            <a:r>
              <a:rPr lang="en-GB" altLang="en-US" dirty="0">
                <a:effectLst/>
                <a:latin typeface="+mn-lt"/>
              </a:rPr>
              <a:t>Shows the </a:t>
            </a:r>
            <a:r>
              <a:rPr lang="en-GB" altLang="en-US" b="1" dirty="0">
                <a:effectLst/>
                <a:latin typeface="+mn-lt"/>
              </a:rPr>
              <a:t>loading of each variable onto each factor</a:t>
            </a:r>
            <a:r>
              <a:rPr lang="en-GB" altLang="en-US" dirty="0">
                <a:effectLst/>
                <a:latin typeface="+mn-lt"/>
              </a:rPr>
              <a:t> after rotation</a:t>
            </a:r>
          </a:p>
          <a:p>
            <a:pPr marL="0" indent="0">
              <a:spcBef>
                <a:spcPct val="20000"/>
              </a:spcBef>
              <a:buClr>
                <a:schemeClr val="accent2"/>
              </a:buClr>
            </a:pPr>
            <a:endParaRPr lang="en-GB" altLang="en-US" dirty="0">
              <a:effectLst/>
              <a:latin typeface="+mn-lt"/>
            </a:endParaRPr>
          </a:p>
          <a:p>
            <a:pPr marL="0" indent="0">
              <a:spcBef>
                <a:spcPct val="20000"/>
              </a:spcBef>
              <a:buClr>
                <a:schemeClr val="accent2"/>
              </a:buClr>
            </a:pPr>
            <a:r>
              <a:rPr lang="en-GB" altLang="en-US" b="1" dirty="0">
                <a:effectLst/>
                <a:latin typeface="+mn-lt"/>
              </a:rPr>
              <a:t>This is the output </a:t>
            </a:r>
            <a:r>
              <a:rPr lang="en-GB" altLang="en-US" dirty="0">
                <a:effectLst/>
                <a:latin typeface="+mn-lt"/>
              </a:rPr>
              <a:t>we interpret for the factors</a:t>
            </a:r>
          </a:p>
        </p:txBody>
      </p:sp>
      <p:sp>
        <p:nvSpPr>
          <p:cNvPr id="2" name="Title 1"/>
          <p:cNvSpPr>
            <a:spLocks noGrp="1"/>
          </p:cNvSpPr>
          <p:nvPr>
            <p:ph type="title"/>
          </p:nvPr>
        </p:nvSpPr>
        <p:spPr/>
        <p:txBody>
          <a:bodyPr/>
          <a:lstStyle/>
          <a:p>
            <a:r>
              <a:rPr lang="en-GB" dirty="0"/>
              <a:t>Factor Rotation Matrix</a:t>
            </a:r>
          </a:p>
        </p:txBody>
      </p:sp>
      <p:sp>
        <p:nvSpPr>
          <p:cNvPr id="3" name="Rectangle 2"/>
          <p:cNvSpPr/>
          <p:nvPr/>
        </p:nvSpPr>
        <p:spPr>
          <a:xfrm>
            <a:off x="609600" y="3105834"/>
            <a:ext cx="3581400" cy="93276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spcBef>
                <a:spcPct val="20000"/>
              </a:spcBef>
              <a:buClr>
                <a:schemeClr val="accent2"/>
              </a:buClr>
            </a:pPr>
            <a:r>
              <a:rPr lang="en-GB" altLang="en-US" dirty="0"/>
              <a:t>Different people define different cut-off point. Most </a:t>
            </a:r>
            <a:r>
              <a:rPr lang="en-GB" altLang="en-US" b="1" dirty="0"/>
              <a:t>common cut-off points are  0.4 and 0.5</a:t>
            </a:r>
          </a:p>
        </p:txBody>
      </p:sp>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066800"/>
            <a:ext cx="4298172" cy="4727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274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Personality assessment</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1517769629"/>
              </p:ext>
            </p:extLst>
          </p:nvPr>
        </p:nvGraphicFramePr>
        <p:xfrm>
          <a:off x="2895600" y="1066800"/>
          <a:ext cx="5943597" cy="5470368"/>
        </p:xfrm>
        <a:graphic>
          <a:graphicData uri="http://schemas.openxmlformats.org/drawingml/2006/table">
            <a:tbl>
              <a:tblPr>
                <a:tableStyleId>{7E9639D4-E3E2-4D34-9284-5A2195B3D0D7}</a:tableStyleId>
              </a:tblPr>
              <a:tblGrid>
                <a:gridCol w="1921932">
                  <a:extLst>
                    <a:ext uri="{9D8B030D-6E8A-4147-A177-3AD203B41FA5}">
                      <a16:colId xmlns:a16="http://schemas.microsoft.com/office/drawing/2014/main" val="20000"/>
                    </a:ext>
                  </a:extLst>
                </a:gridCol>
                <a:gridCol w="804333">
                  <a:extLst>
                    <a:ext uri="{9D8B030D-6E8A-4147-A177-3AD203B41FA5}">
                      <a16:colId xmlns:a16="http://schemas.microsoft.com/office/drawing/2014/main" val="20001"/>
                    </a:ext>
                  </a:extLst>
                </a:gridCol>
                <a:gridCol w="804333">
                  <a:extLst>
                    <a:ext uri="{9D8B030D-6E8A-4147-A177-3AD203B41FA5}">
                      <a16:colId xmlns:a16="http://schemas.microsoft.com/office/drawing/2014/main" val="20002"/>
                    </a:ext>
                  </a:extLst>
                </a:gridCol>
                <a:gridCol w="804333">
                  <a:extLst>
                    <a:ext uri="{9D8B030D-6E8A-4147-A177-3AD203B41FA5}">
                      <a16:colId xmlns:a16="http://schemas.microsoft.com/office/drawing/2014/main" val="20003"/>
                    </a:ext>
                  </a:extLst>
                </a:gridCol>
                <a:gridCol w="804333">
                  <a:extLst>
                    <a:ext uri="{9D8B030D-6E8A-4147-A177-3AD203B41FA5}">
                      <a16:colId xmlns:a16="http://schemas.microsoft.com/office/drawing/2014/main" val="20004"/>
                    </a:ext>
                  </a:extLst>
                </a:gridCol>
                <a:gridCol w="804333">
                  <a:extLst>
                    <a:ext uri="{9D8B030D-6E8A-4147-A177-3AD203B41FA5}">
                      <a16:colId xmlns:a16="http://schemas.microsoft.com/office/drawing/2014/main" val="20005"/>
                    </a:ext>
                  </a:extLst>
                </a:gridCol>
              </a:tblGrid>
              <a:tr h="143728">
                <a:tc>
                  <a:txBody>
                    <a:bodyPr/>
                    <a:lstStyle/>
                    <a:p>
                      <a:pPr algn="l" fontAlgn="b"/>
                      <a:r>
                        <a:rPr lang="en-GB" sz="1400" u="none" strike="noStrike" dirty="0">
                          <a:effectLst/>
                        </a:rPr>
                        <a:t> </a:t>
                      </a:r>
                      <a:endParaRPr lang="en-GB" sz="1400" b="0" i="0" u="none" strike="noStrike" dirty="0">
                        <a:solidFill>
                          <a:srgbClr val="000000"/>
                        </a:solidFill>
                        <a:effectLst/>
                        <a:latin typeface="Arial"/>
                      </a:endParaRPr>
                    </a:p>
                  </a:txBody>
                  <a:tcPr marL="9492" marR="9492" marT="9492"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r" fontAlgn="b"/>
                      <a:r>
                        <a:rPr lang="en-GB" sz="1400" b="1" u="none" strike="noStrike" dirty="0">
                          <a:effectLst/>
                        </a:rPr>
                        <a:t>F1</a:t>
                      </a:r>
                      <a:endParaRPr lang="en-GB" sz="1400" b="1" i="0" u="none" strike="noStrike" dirty="0">
                        <a:solidFill>
                          <a:srgbClr val="000000"/>
                        </a:solidFill>
                        <a:effectLst/>
                        <a:latin typeface="Arial"/>
                      </a:endParaRPr>
                    </a:p>
                  </a:txBody>
                  <a:tcPr marL="9492" marR="9492" marT="9492" marB="0" anchor="b">
                    <a:lnT w="12700" cap="flat" cmpd="sng" algn="ctr">
                      <a:solidFill>
                        <a:schemeClr val="tx1"/>
                      </a:solidFill>
                      <a:prstDash val="solid"/>
                      <a:round/>
                      <a:headEnd type="none" w="med" len="med"/>
                      <a:tailEnd type="none" w="med" len="med"/>
                    </a:lnT>
                  </a:tcPr>
                </a:tc>
                <a:tc>
                  <a:txBody>
                    <a:bodyPr/>
                    <a:lstStyle/>
                    <a:p>
                      <a:pPr algn="r" fontAlgn="b"/>
                      <a:r>
                        <a:rPr lang="en-GB" sz="1400" b="1" u="none" strike="noStrike" dirty="0">
                          <a:effectLst/>
                        </a:rPr>
                        <a:t>F2</a:t>
                      </a:r>
                      <a:endParaRPr lang="en-GB" sz="1400" b="1" i="0" u="none" strike="noStrike" dirty="0">
                        <a:solidFill>
                          <a:srgbClr val="000000"/>
                        </a:solidFill>
                        <a:effectLst/>
                        <a:latin typeface="Arial"/>
                      </a:endParaRPr>
                    </a:p>
                  </a:txBody>
                  <a:tcPr marL="9492" marR="9492" marT="9492" marB="0" anchor="b">
                    <a:lnT w="12700" cap="flat" cmpd="sng" algn="ctr">
                      <a:solidFill>
                        <a:schemeClr val="tx1"/>
                      </a:solidFill>
                      <a:prstDash val="solid"/>
                      <a:round/>
                      <a:headEnd type="none" w="med" len="med"/>
                      <a:tailEnd type="none" w="med" len="med"/>
                    </a:lnT>
                  </a:tcPr>
                </a:tc>
                <a:tc>
                  <a:txBody>
                    <a:bodyPr/>
                    <a:lstStyle/>
                    <a:p>
                      <a:pPr algn="r" fontAlgn="b"/>
                      <a:r>
                        <a:rPr lang="en-GB" sz="1400" b="1" u="none" strike="noStrike" dirty="0">
                          <a:effectLst/>
                        </a:rPr>
                        <a:t>F3</a:t>
                      </a:r>
                      <a:endParaRPr lang="en-GB" sz="1400" b="1" i="0" u="none" strike="noStrike" dirty="0">
                        <a:solidFill>
                          <a:srgbClr val="000000"/>
                        </a:solidFill>
                        <a:effectLst/>
                        <a:latin typeface="Arial"/>
                      </a:endParaRPr>
                    </a:p>
                  </a:txBody>
                  <a:tcPr marL="9492" marR="9492" marT="9492" marB="0" anchor="b">
                    <a:lnT w="12700" cap="flat" cmpd="sng" algn="ctr">
                      <a:solidFill>
                        <a:schemeClr val="tx1"/>
                      </a:solidFill>
                      <a:prstDash val="solid"/>
                      <a:round/>
                      <a:headEnd type="none" w="med" len="med"/>
                      <a:tailEnd type="none" w="med" len="med"/>
                    </a:lnT>
                  </a:tcPr>
                </a:tc>
                <a:tc>
                  <a:txBody>
                    <a:bodyPr/>
                    <a:lstStyle/>
                    <a:p>
                      <a:pPr algn="r" fontAlgn="b"/>
                      <a:r>
                        <a:rPr lang="en-GB" sz="1400" b="1" u="none" strike="noStrike" dirty="0">
                          <a:effectLst/>
                        </a:rPr>
                        <a:t>F4</a:t>
                      </a:r>
                      <a:endParaRPr lang="en-GB" sz="1400" b="1" i="0" u="none" strike="noStrike" dirty="0">
                        <a:solidFill>
                          <a:srgbClr val="000000"/>
                        </a:solidFill>
                        <a:effectLst/>
                        <a:latin typeface="Arial"/>
                      </a:endParaRPr>
                    </a:p>
                  </a:txBody>
                  <a:tcPr marL="9492" marR="9492" marT="9492" marB="0" anchor="b">
                    <a:lnT w="12700" cap="flat" cmpd="sng" algn="ctr">
                      <a:solidFill>
                        <a:schemeClr val="tx1"/>
                      </a:solidFill>
                      <a:prstDash val="solid"/>
                      <a:round/>
                      <a:headEnd type="none" w="med" len="med"/>
                      <a:tailEnd type="none" w="med" len="med"/>
                    </a:lnT>
                  </a:tcPr>
                </a:tc>
                <a:tc>
                  <a:txBody>
                    <a:bodyPr/>
                    <a:lstStyle/>
                    <a:p>
                      <a:pPr algn="r" fontAlgn="b"/>
                      <a:r>
                        <a:rPr lang="en-GB" sz="1400" b="1" u="none" strike="noStrike" dirty="0">
                          <a:effectLst/>
                        </a:rPr>
                        <a:t>F5</a:t>
                      </a:r>
                      <a:endParaRPr lang="en-GB" sz="1400" b="1" i="0" u="none" strike="noStrike" dirty="0">
                        <a:solidFill>
                          <a:srgbClr val="000000"/>
                        </a:solidFill>
                        <a:effectLst/>
                        <a:latin typeface="Arial"/>
                      </a:endParaRPr>
                    </a:p>
                  </a:txBody>
                  <a:tcPr marL="9492" marR="9492" marT="9492"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43728">
                <a:tc>
                  <a:txBody>
                    <a:bodyPr/>
                    <a:lstStyle/>
                    <a:p>
                      <a:pPr algn="r" fontAlgn="t"/>
                      <a:r>
                        <a:rPr lang="en-GB" sz="1400" b="1" u="none" strike="noStrike" dirty="0">
                          <a:effectLst/>
                        </a:rPr>
                        <a:t>Talkative</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b="1" u="none" strike="noStrike" dirty="0">
                          <a:effectLst/>
                        </a:rPr>
                        <a:t>-.743</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.349</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-.006</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.149</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-.080</a:t>
                      </a:r>
                      <a:endParaRPr lang="en-GB" sz="1400" b="0"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43728">
                <a:tc>
                  <a:txBody>
                    <a:bodyPr/>
                    <a:lstStyle/>
                    <a:p>
                      <a:pPr algn="r" fontAlgn="t"/>
                      <a:r>
                        <a:rPr lang="en-GB" sz="1400" b="1" u="none" strike="noStrike" dirty="0">
                          <a:effectLst/>
                        </a:rPr>
                        <a:t>Does a thorough job</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.002</a:t>
                      </a:r>
                      <a:endParaRPr lang="en-GB" sz="1400" b="0" i="0" u="none" strike="noStrike">
                        <a:solidFill>
                          <a:srgbClr val="000000"/>
                        </a:solidFill>
                        <a:effectLst/>
                        <a:latin typeface="Arial"/>
                      </a:endParaRPr>
                    </a:p>
                  </a:txBody>
                  <a:tcPr marL="9492" marR="9492" marT="9492" marB="0"/>
                </a:tc>
                <a:tc>
                  <a:txBody>
                    <a:bodyPr/>
                    <a:lstStyle/>
                    <a:p>
                      <a:pPr algn="r" fontAlgn="t"/>
                      <a:r>
                        <a:rPr lang="en-GB" sz="1400" b="1" u="none" strike="noStrike" dirty="0">
                          <a:effectLst/>
                        </a:rPr>
                        <a:t>.734</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.017</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a:effectLst/>
                        </a:rPr>
                        <a:t>-.164</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.184</a:t>
                      </a:r>
                      <a:endParaRPr lang="en-GB" sz="1400" b="0"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43728">
                <a:tc>
                  <a:txBody>
                    <a:bodyPr/>
                    <a:lstStyle/>
                    <a:p>
                      <a:pPr algn="r" fontAlgn="t"/>
                      <a:r>
                        <a:rPr lang="en-GB" sz="1400" b="1" u="none" strike="noStrike" dirty="0">
                          <a:effectLst/>
                        </a:rPr>
                        <a:t>Depressed</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.242</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-.286</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.626</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.038</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a:effectLst/>
                        </a:rPr>
                        <a:t>.250</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43728">
                <a:tc>
                  <a:txBody>
                    <a:bodyPr/>
                    <a:lstStyle/>
                    <a:p>
                      <a:pPr algn="r" fontAlgn="t"/>
                      <a:r>
                        <a:rPr lang="en-GB" sz="1400" b="1" u="none" strike="noStrike" dirty="0">
                          <a:effectLst/>
                        </a:rPr>
                        <a:t>Reserved</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b="1" u="none" strike="noStrike" dirty="0">
                          <a:effectLst/>
                        </a:rPr>
                        <a:t>.776</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.095</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.129</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.095</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a:effectLst/>
                        </a:rPr>
                        <a:t>.097</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143728">
                <a:tc>
                  <a:txBody>
                    <a:bodyPr/>
                    <a:lstStyle/>
                    <a:p>
                      <a:pPr algn="r" fontAlgn="t"/>
                      <a:r>
                        <a:rPr lang="en-GB" sz="1400" b="1" u="none" strike="noStrike" dirty="0">
                          <a:effectLst/>
                        </a:rPr>
                        <a:t>Careless</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.017</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-.387</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.088</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.637</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-.068</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43728">
                <a:tc>
                  <a:txBody>
                    <a:bodyPr/>
                    <a:lstStyle/>
                    <a:p>
                      <a:pPr algn="r" fontAlgn="t"/>
                      <a:r>
                        <a:rPr lang="en-GB" sz="1400" b="1" u="none" strike="noStrike" dirty="0">
                          <a:effectLst/>
                        </a:rPr>
                        <a:t>Relaxed</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.004</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.091</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-.757</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-.040</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.057</a:t>
                      </a:r>
                      <a:endParaRPr lang="en-GB" sz="1400" b="0"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43728">
                <a:tc>
                  <a:txBody>
                    <a:bodyPr/>
                    <a:lstStyle/>
                    <a:p>
                      <a:pPr algn="r" fontAlgn="t"/>
                      <a:r>
                        <a:rPr lang="en-GB" sz="1400" b="1" u="none" strike="noStrike" dirty="0">
                          <a:effectLst/>
                        </a:rPr>
                        <a:t>Reliable</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-.066</a:t>
                      </a:r>
                      <a:endParaRPr lang="en-GB" sz="1400" b="0" i="0" u="none" strike="noStrike">
                        <a:solidFill>
                          <a:srgbClr val="000000"/>
                        </a:solidFill>
                        <a:effectLst/>
                        <a:latin typeface="Arial"/>
                      </a:endParaRPr>
                    </a:p>
                  </a:txBody>
                  <a:tcPr marL="9492" marR="9492" marT="9492" marB="0"/>
                </a:tc>
                <a:tc>
                  <a:txBody>
                    <a:bodyPr/>
                    <a:lstStyle/>
                    <a:p>
                      <a:pPr algn="r" fontAlgn="t"/>
                      <a:r>
                        <a:rPr lang="en-GB" sz="1400" b="1" u="none" strike="noStrike" dirty="0">
                          <a:effectLst/>
                        </a:rPr>
                        <a:t>.783</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-.043</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-.095</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-.117</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143728">
                <a:tc>
                  <a:txBody>
                    <a:bodyPr/>
                    <a:lstStyle/>
                    <a:p>
                      <a:pPr algn="r" fontAlgn="t"/>
                      <a:r>
                        <a:rPr lang="en-GB" sz="1400" b="1" u="none" strike="noStrike" dirty="0">
                          <a:effectLst/>
                        </a:rPr>
                        <a:t>Tense</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.117</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.027</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.723</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.245</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.134</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143728">
                <a:tc>
                  <a:txBody>
                    <a:bodyPr/>
                    <a:lstStyle/>
                    <a:p>
                      <a:pPr algn="r" fontAlgn="t"/>
                      <a:r>
                        <a:rPr lang="en-GB" sz="1400" b="1" u="none" strike="noStrike" dirty="0">
                          <a:effectLst/>
                        </a:rPr>
                        <a:t>Disorganized</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-.009</a:t>
                      </a:r>
                      <a:endParaRPr lang="en-GB" sz="1400" b="0" i="0" u="none" strike="noStrike">
                        <a:solidFill>
                          <a:srgbClr val="000000"/>
                        </a:solidFill>
                        <a:effectLst/>
                        <a:latin typeface="Arial"/>
                      </a:endParaRPr>
                    </a:p>
                  </a:txBody>
                  <a:tcPr marL="9492" marR="9492" marT="9492" marB="0"/>
                </a:tc>
                <a:tc>
                  <a:txBody>
                    <a:bodyPr/>
                    <a:lstStyle/>
                    <a:p>
                      <a:pPr algn="r" fontAlgn="t"/>
                      <a:r>
                        <a:rPr lang="en-GB" sz="1400" b="1" u="none" strike="noStrike" dirty="0">
                          <a:effectLst/>
                        </a:rPr>
                        <a:t>-.420</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-.057</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.536</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-.297</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43728">
                <a:tc>
                  <a:txBody>
                    <a:bodyPr/>
                    <a:lstStyle/>
                    <a:p>
                      <a:pPr algn="r" fontAlgn="t"/>
                      <a:r>
                        <a:rPr lang="en-GB" sz="1400" b="1" u="none" strike="noStrike" dirty="0">
                          <a:effectLst/>
                        </a:rPr>
                        <a:t>Worries</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a:effectLst/>
                        </a:rPr>
                        <a:t>.135</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.206</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.648</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.029</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-.199</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43728">
                <a:tc>
                  <a:txBody>
                    <a:bodyPr/>
                    <a:lstStyle/>
                    <a:p>
                      <a:pPr algn="r" fontAlgn="t"/>
                      <a:r>
                        <a:rPr lang="en-GB" sz="1400" b="1" u="none" strike="noStrike" dirty="0">
                          <a:effectLst/>
                        </a:rPr>
                        <a:t>Quiet</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b="1" u="none" strike="noStrike" dirty="0">
                          <a:effectLst/>
                        </a:rPr>
                        <a:t>.864</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.001</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.077</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.024</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.010</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1"/>
                  </a:ext>
                </a:extLst>
              </a:tr>
              <a:tr h="143728">
                <a:tc>
                  <a:txBody>
                    <a:bodyPr/>
                    <a:lstStyle/>
                    <a:p>
                      <a:pPr algn="r" fontAlgn="t"/>
                      <a:r>
                        <a:rPr lang="en-GB" sz="1400" b="1" u="none" strike="noStrike" dirty="0">
                          <a:effectLst/>
                        </a:rPr>
                        <a:t>Lazy</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dirty="0">
                          <a:effectLst/>
                        </a:rPr>
                        <a:t>.024</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-.606</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.083</a:t>
                      </a:r>
                      <a:endParaRPr lang="en-GB" sz="1400" b="0" i="0" u="none" strike="noStrike">
                        <a:solidFill>
                          <a:srgbClr val="000000"/>
                        </a:solidFill>
                        <a:effectLst/>
                        <a:latin typeface="Arial"/>
                      </a:endParaRPr>
                    </a:p>
                  </a:txBody>
                  <a:tcPr marL="9492" marR="9492" marT="9492" marB="0"/>
                </a:tc>
                <a:tc>
                  <a:txBody>
                    <a:bodyPr/>
                    <a:lstStyle/>
                    <a:p>
                      <a:pPr algn="r" fontAlgn="t"/>
                      <a:r>
                        <a:rPr lang="en-GB" sz="1400" b="1" u="none" strike="noStrike" dirty="0">
                          <a:effectLst/>
                        </a:rPr>
                        <a:t>.446</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.048</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2"/>
                  </a:ext>
                </a:extLst>
              </a:tr>
              <a:tr h="143728">
                <a:tc>
                  <a:txBody>
                    <a:bodyPr/>
                    <a:lstStyle/>
                    <a:p>
                      <a:pPr algn="r" fontAlgn="t"/>
                      <a:r>
                        <a:rPr lang="en-GB" sz="1400" b="1" u="none" strike="noStrike" dirty="0">
                          <a:effectLst/>
                        </a:rPr>
                        <a:t>Emotionally stable</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dirty="0">
                          <a:effectLst/>
                        </a:rPr>
                        <a:t>-.109</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.175</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-.718</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.108</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.039</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43728">
                <a:tc>
                  <a:txBody>
                    <a:bodyPr/>
                    <a:lstStyle/>
                    <a:p>
                      <a:pPr algn="r" fontAlgn="t"/>
                      <a:r>
                        <a:rPr lang="en-GB" sz="1400" b="1" u="none" strike="noStrike" dirty="0">
                          <a:effectLst/>
                        </a:rPr>
                        <a:t>Assertive</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b="1" u="none" strike="noStrike" dirty="0">
                          <a:effectLst/>
                        </a:rPr>
                        <a:t>-.515</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.081</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-.195</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.108</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.499</a:t>
                      </a:r>
                      <a:endParaRPr lang="en-GB" sz="1400" b="1"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10014"/>
                  </a:ext>
                </a:extLst>
              </a:tr>
              <a:tr h="143728">
                <a:tc>
                  <a:txBody>
                    <a:bodyPr/>
                    <a:lstStyle/>
                    <a:p>
                      <a:pPr algn="r" fontAlgn="t"/>
                      <a:r>
                        <a:rPr lang="en-GB" sz="1400" b="1" u="none" strike="noStrike" dirty="0">
                          <a:effectLst/>
                        </a:rPr>
                        <a:t>Perseveres</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dirty="0">
                          <a:effectLst/>
                        </a:rPr>
                        <a:t>-.064</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.726</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-.022</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-.208</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.022</a:t>
                      </a:r>
                      <a:endParaRPr lang="en-GB" sz="1400" b="0"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5"/>
                  </a:ext>
                </a:extLst>
              </a:tr>
              <a:tr h="143728">
                <a:tc>
                  <a:txBody>
                    <a:bodyPr/>
                    <a:lstStyle/>
                    <a:p>
                      <a:pPr algn="r" fontAlgn="t"/>
                      <a:r>
                        <a:rPr lang="en-GB" sz="1400" b="1" u="none" strike="noStrike" dirty="0">
                          <a:effectLst/>
                        </a:rPr>
                        <a:t>Shy</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b="1" u="none" strike="noStrike" dirty="0">
                          <a:effectLst/>
                        </a:rPr>
                        <a:t>.734</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.101</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.069</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.192</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-.180</a:t>
                      </a:r>
                      <a:endParaRPr lang="en-GB" sz="1400" b="0"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6"/>
                  </a:ext>
                </a:extLst>
              </a:tr>
              <a:tr h="143728">
                <a:tc>
                  <a:txBody>
                    <a:bodyPr/>
                    <a:lstStyle/>
                    <a:p>
                      <a:pPr algn="r" fontAlgn="t"/>
                      <a:r>
                        <a:rPr lang="en-GB" sz="1400" b="1" u="none" strike="noStrike" dirty="0">
                          <a:effectLst/>
                        </a:rPr>
                        <a:t>Efficient</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dirty="0">
                          <a:effectLst/>
                        </a:rPr>
                        <a:t>.050</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.463</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-.020</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-.211</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.647</a:t>
                      </a:r>
                      <a:endParaRPr lang="en-GB" sz="1400" b="1"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10017"/>
                  </a:ext>
                </a:extLst>
              </a:tr>
              <a:tr h="103517">
                <a:tc>
                  <a:txBody>
                    <a:bodyPr/>
                    <a:lstStyle/>
                    <a:p>
                      <a:pPr algn="r" fontAlgn="t"/>
                      <a:r>
                        <a:rPr lang="en-GB" sz="1400" b="1" u="none" strike="noStrike" dirty="0">
                          <a:effectLst/>
                        </a:rPr>
                        <a:t>Calm in tense situations</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dirty="0">
                          <a:effectLst/>
                        </a:rPr>
                        <a:t>.022</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dirty="0">
                          <a:effectLst/>
                        </a:rPr>
                        <a:t>-.014</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-.631</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-.020</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.456</a:t>
                      </a:r>
                      <a:endParaRPr lang="en-GB" sz="1400" b="1" i="0" u="none" strike="noStrike" dirty="0">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solidFill>
                      <a:srgbClr val="FFFF00"/>
                    </a:solidFill>
                  </a:tcPr>
                </a:tc>
                <a:extLst>
                  <a:ext uri="{0D108BD9-81ED-4DB2-BD59-A6C34878D82A}">
                    <a16:rowId xmlns:a16="http://schemas.microsoft.com/office/drawing/2014/main" val="10018"/>
                  </a:ext>
                </a:extLst>
              </a:tr>
              <a:tr h="143728">
                <a:tc>
                  <a:txBody>
                    <a:bodyPr/>
                    <a:lstStyle/>
                    <a:p>
                      <a:pPr algn="r" fontAlgn="t"/>
                      <a:r>
                        <a:rPr lang="en-GB" sz="1400" b="1" u="none" strike="noStrike" dirty="0">
                          <a:effectLst/>
                        </a:rPr>
                        <a:t>Outgoing</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b="1" u="none" strike="noStrike" dirty="0">
                          <a:effectLst/>
                        </a:rPr>
                        <a:t>-.699</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.218</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-.191</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.224</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.024</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9"/>
                  </a:ext>
                </a:extLst>
              </a:tr>
              <a:tr h="143728">
                <a:tc>
                  <a:txBody>
                    <a:bodyPr/>
                    <a:lstStyle/>
                    <a:p>
                      <a:pPr algn="r" fontAlgn="t"/>
                      <a:r>
                        <a:rPr lang="en-GB" sz="1400" b="1" u="none" strike="noStrike" dirty="0">
                          <a:effectLst/>
                        </a:rPr>
                        <a:t>Sticks to plans</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dirty="0">
                          <a:effectLst/>
                        </a:rPr>
                        <a:t>-.064</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b="1" u="none" strike="noStrike" dirty="0">
                          <a:effectLst/>
                        </a:rPr>
                        <a:t>.598</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-.084</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dirty="0">
                          <a:effectLst/>
                        </a:rPr>
                        <a:t>-.077</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.237</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20"/>
                  </a:ext>
                </a:extLst>
              </a:tr>
              <a:tr h="143728">
                <a:tc>
                  <a:txBody>
                    <a:bodyPr/>
                    <a:lstStyle/>
                    <a:p>
                      <a:pPr algn="r" fontAlgn="t"/>
                      <a:r>
                        <a:rPr lang="en-GB" sz="1400" b="1" u="none" strike="noStrike" dirty="0">
                          <a:effectLst/>
                        </a:rPr>
                        <a:t>Nervous</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b="1" u="none" strike="noStrike" dirty="0">
                          <a:effectLst/>
                        </a:rPr>
                        <a:t>.426</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.058</a:t>
                      </a:r>
                      <a:endParaRPr lang="en-GB" sz="1400" b="0" i="0" u="none" strike="noStrike">
                        <a:solidFill>
                          <a:srgbClr val="000000"/>
                        </a:solidFill>
                        <a:effectLst/>
                        <a:latin typeface="Arial"/>
                      </a:endParaRPr>
                    </a:p>
                  </a:txBody>
                  <a:tcPr marL="9492" marR="9492" marT="9492" marB="0"/>
                </a:tc>
                <a:tc>
                  <a:txBody>
                    <a:bodyPr/>
                    <a:lstStyle/>
                    <a:p>
                      <a:pPr algn="r" fontAlgn="t"/>
                      <a:r>
                        <a:rPr lang="en-GB" sz="1400" b="1" u="none" strike="noStrike" dirty="0">
                          <a:effectLst/>
                        </a:rPr>
                        <a:t>.519</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dirty="0">
                          <a:effectLst/>
                        </a:rPr>
                        <a:t>.338</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-.013</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21"/>
                  </a:ext>
                </a:extLst>
              </a:tr>
              <a:tr h="143728">
                <a:tc>
                  <a:txBody>
                    <a:bodyPr/>
                    <a:lstStyle/>
                    <a:p>
                      <a:pPr algn="r" fontAlgn="t"/>
                      <a:r>
                        <a:rPr lang="en-GB" sz="1400" b="1" u="none" strike="noStrike" dirty="0">
                          <a:effectLst/>
                        </a:rPr>
                        <a:t>Distractible</a:t>
                      </a:r>
                      <a:endParaRPr lang="en-GB" sz="1400" b="1"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tcPr>
                </a:tc>
                <a:tc>
                  <a:txBody>
                    <a:bodyPr/>
                    <a:lstStyle/>
                    <a:p>
                      <a:pPr algn="r" fontAlgn="t"/>
                      <a:r>
                        <a:rPr lang="en-GB" sz="1400" u="none" strike="noStrike" dirty="0">
                          <a:effectLst/>
                        </a:rPr>
                        <a:t>-.030</a:t>
                      </a:r>
                      <a:endParaRPr lang="en-GB" sz="1400" b="0" i="0" u="none" strike="noStrike" dirty="0">
                        <a:solidFill>
                          <a:srgbClr val="000000"/>
                        </a:solidFill>
                        <a:effectLst/>
                        <a:latin typeface="Arial"/>
                      </a:endParaRPr>
                    </a:p>
                  </a:txBody>
                  <a:tcPr marL="9492" marR="9492" marT="9492" marB="0"/>
                </a:tc>
                <a:tc>
                  <a:txBody>
                    <a:bodyPr/>
                    <a:lstStyle/>
                    <a:p>
                      <a:pPr algn="r" fontAlgn="t"/>
                      <a:r>
                        <a:rPr lang="en-GB" sz="1400" u="none" strike="noStrike">
                          <a:effectLst/>
                        </a:rPr>
                        <a:t>-.254</a:t>
                      </a:r>
                      <a:endParaRPr lang="en-GB" sz="1400" b="0" i="0" u="none" strike="noStrike">
                        <a:solidFill>
                          <a:srgbClr val="000000"/>
                        </a:solidFill>
                        <a:effectLst/>
                        <a:latin typeface="Arial"/>
                      </a:endParaRPr>
                    </a:p>
                  </a:txBody>
                  <a:tcPr marL="9492" marR="9492" marT="9492" marB="0"/>
                </a:tc>
                <a:tc>
                  <a:txBody>
                    <a:bodyPr/>
                    <a:lstStyle/>
                    <a:p>
                      <a:pPr algn="r" fontAlgn="t"/>
                      <a:r>
                        <a:rPr lang="en-GB" sz="1400" u="none" strike="noStrike">
                          <a:effectLst/>
                        </a:rPr>
                        <a:t>.147</a:t>
                      </a:r>
                      <a:endParaRPr lang="en-GB" sz="1400" b="0" i="0" u="none" strike="noStrike">
                        <a:solidFill>
                          <a:srgbClr val="000000"/>
                        </a:solidFill>
                        <a:effectLst/>
                        <a:latin typeface="Arial"/>
                      </a:endParaRPr>
                    </a:p>
                  </a:txBody>
                  <a:tcPr marL="9492" marR="9492" marT="9492" marB="0"/>
                </a:tc>
                <a:tc>
                  <a:txBody>
                    <a:bodyPr/>
                    <a:lstStyle/>
                    <a:p>
                      <a:pPr algn="r" fontAlgn="t"/>
                      <a:r>
                        <a:rPr lang="en-GB" sz="1400" b="1" u="none" strike="noStrike" dirty="0">
                          <a:effectLst/>
                        </a:rPr>
                        <a:t>.727</a:t>
                      </a:r>
                      <a:endParaRPr lang="en-GB" sz="1400" b="1" i="0" u="none" strike="noStrike" dirty="0">
                        <a:solidFill>
                          <a:srgbClr val="000000"/>
                        </a:solidFill>
                        <a:effectLst/>
                        <a:latin typeface="Arial"/>
                      </a:endParaRPr>
                    </a:p>
                  </a:txBody>
                  <a:tcPr marL="9492" marR="9492" marT="9492" marB="0">
                    <a:solidFill>
                      <a:srgbClr val="FFFF00"/>
                    </a:solidFill>
                  </a:tcPr>
                </a:tc>
                <a:tc>
                  <a:txBody>
                    <a:bodyPr/>
                    <a:lstStyle/>
                    <a:p>
                      <a:pPr algn="r" fontAlgn="t"/>
                      <a:r>
                        <a:rPr lang="en-GB" sz="1400" u="none" strike="noStrike">
                          <a:effectLst/>
                        </a:rPr>
                        <a:t>.037</a:t>
                      </a:r>
                      <a:endParaRPr lang="en-GB" sz="1400" b="0" i="0" u="none" strike="noStrike">
                        <a:solidFill>
                          <a:srgbClr val="000000"/>
                        </a:solidFill>
                        <a:effectLst/>
                        <a:latin typeface="Arial"/>
                      </a:endParaRPr>
                    </a:p>
                  </a:txBody>
                  <a:tcPr marL="9492" marR="9492" marT="9492" marB="0">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22"/>
                  </a:ext>
                </a:extLst>
              </a:tr>
              <a:tr h="315865">
                <a:tc gridSpan="6">
                  <a:txBody>
                    <a:bodyPr/>
                    <a:lstStyle/>
                    <a:p>
                      <a:pPr lvl="5" algn="l" fontAlgn="t"/>
                      <a:r>
                        <a:rPr lang="en-GB" sz="1100" u="none" strike="noStrike" dirty="0">
                          <a:effectLst/>
                        </a:rPr>
                        <a:t>Extraction Method: Principal Component Analysis. </a:t>
                      </a:r>
                      <a:br>
                        <a:rPr lang="en-GB" sz="1100" u="none" strike="noStrike" dirty="0">
                          <a:effectLst/>
                        </a:rPr>
                      </a:br>
                      <a:r>
                        <a:rPr lang="en-GB" sz="1100" u="none" strike="noStrike" dirty="0">
                          <a:effectLst/>
                        </a:rPr>
                        <a:t>Rotation Method: </a:t>
                      </a:r>
                      <a:r>
                        <a:rPr lang="en-GB" sz="1100" u="none" strike="noStrike" dirty="0" err="1">
                          <a:effectLst/>
                        </a:rPr>
                        <a:t>Varimax</a:t>
                      </a:r>
                      <a:r>
                        <a:rPr lang="en-GB" sz="1100" u="none" strike="noStrike" dirty="0">
                          <a:effectLst/>
                        </a:rPr>
                        <a:t> with Kaiser Normalization.</a:t>
                      </a:r>
                      <a:endParaRPr lang="en-GB" sz="1100" b="0" i="0" u="none" strike="noStrike" dirty="0">
                        <a:solidFill>
                          <a:srgbClr val="000000"/>
                        </a:solidFill>
                        <a:effectLst/>
                        <a:latin typeface="Arial"/>
                      </a:endParaRPr>
                    </a:p>
                  </a:txBody>
                  <a:tcPr marL="9492" marR="9492" marT="949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3"/>
                  </a:ext>
                </a:extLst>
              </a:tr>
            </a:tbl>
          </a:graphicData>
        </a:graphic>
      </p:graphicFrame>
      <p:sp>
        <p:nvSpPr>
          <p:cNvPr id="3" name="Cloud 2"/>
          <p:cNvSpPr/>
          <p:nvPr/>
        </p:nvSpPr>
        <p:spPr>
          <a:xfrm>
            <a:off x="914400" y="2209800"/>
            <a:ext cx="2667000" cy="1676400"/>
          </a:xfrm>
          <a:prstGeom prst="cloud">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ysClr val="windowText" lastClr="000000"/>
                </a:solidFill>
              </a:rPr>
              <a:t>Cut-off value</a:t>
            </a:r>
          </a:p>
          <a:p>
            <a:pPr algn="ctr"/>
            <a:r>
              <a:rPr lang="en-GB" dirty="0">
                <a:solidFill>
                  <a:sysClr val="windowText" lastClr="000000"/>
                </a:solidFill>
              </a:rPr>
              <a:t>&gt; </a:t>
            </a:r>
            <a:r>
              <a:rPr lang="en-GB" b="1" dirty="0">
                <a:solidFill>
                  <a:sysClr val="windowText" lastClr="000000"/>
                </a:solidFill>
              </a:rPr>
              <a:t>0.4</a:t>
            </a:r>
          </a:p>
        </p:txBody>
      </p:sp>
    </p:spTree>
    <p:extLst>
      <p:ext uri="{BB962C8B-B14F-4D97-AF65-F5344CB8AC3E}">
        <p14:creationId xmlns:p14="http://schemas.microsoft.com/office/powerpoint/2010/main" val="2708061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Limitations</a:t>
            </a:r>
          </a:p>
        </p:txBody>
      </p:sp>
      <p:sp>
        <p:nvSpPr>
          <p:cNvPr id="3" name="Rectangle 2"/>
          <p:cNvSpPr/>
          <p:nvPr/>
        </p:nvSpPr>
        <p:spPr>
          <a:xfrm>
            <a:off x="304800" y="685800"/>
            <a:ext cx="8305800" cy="1631216"/>
          </a:xfrm>
          <a:prstGeom prst="rect">
            <a:avLst/>
          </a:prstGeom>
        </p:spPr>
        <p:txBody>
          <a:bodyPr wrap="square">
            <a:spAutoFit/>
          </a:bodyPr>
          <a:lstStyle/>
          <a:p>
            <a:r>
              <a:rPr lang="en-GB" sz="2000" dirty="0"/>
              <a:t>Several…</a:t>
            </a:r>
          </a:p>
          <a:p>
            <a:r>
              <a:rPr lang="en-GB" sz="2000" dirty="0"/>
              <a:t> </a:t>
            </a:r>
          </a:p>
          <a:p>
            <a:r>
              <a:rPr lang="en-GB" sz="2000" dirty="0"/>
              <a:t>Note that we are using correlation so…</a:t>
            </a:r>
          </a:p>
          <a:p>
            <a:r>
              <a:rPr lang="en-GB" sz="2000" dirty="0"/>
              <a:t>	Errors should roughly be normally distributed</a:t>
            </a:r>
          </a:p>
          <a:p>
            <a:r>
              <a:rPr lang="en-GB" sz="2000" dirty="0"/>
              <a:t>	Sample size is important to test the significance</a:t>
            </a:r>
          </a:p>
        </p:txBody>
      </p:sp>
      <p:sp>
        <p:nvSpPr>
          <p:cNvPr id="4" name="Rectangle 3"/>
          <p:cNvSpPr/>
          <p:nvPr/>
        </p:nvSpPr>
        <p:spPr>
          <a:xfrm>
            <a:off x="304800" y="2797314"/>
            <a:ext cx="8305800" cy="707886"/>
          </a:xfrm>
          <a:prstGeom prst="rect">
            <a:avLst/>
          </a:prstGeom>
        </p:spPr>
        <p:txBody>
          <a:bodyPr wrap="square">
            <a:spAutoFit/>
          </a:bodyPr>
          <a:lstStyle/>
          <a:p>
            <a:r>
              <a:rPr lang="en-GB" sz="2000" dirty="0"/>
              <a:t>Naming the factors can be problematic… </a:t>
            </a:r>
          </a:p>
          <a:p>
            <a:r>
              <a:rPr lang="en-GB" sz="2000" dirty="0"/>
              <a:t>Factor names may not accurately reflect the variables within the factor…</a:t>
            </a:r>
          </a:p>
        </p:txBody>
      </p:sp>
      <p:sp>
        <p:nvSpPr>
          <p:cNvPr id="5" name="Rectangle 4"/>
          <p:cNvSpPr/>
          <p:nvPr/>
        </p:nvSpPr>
        <p:spPr>
          <a:xfrm>
            <a:off x="304800" y="3711714"/>
            <a:ext cx="8305800" cy="707886"/>
          </a:xfrm>
          <a:prstGeom prst="rect">
            <a:avLst/>
          </a:prstGeom>
        </p:spPr>
        <p:txBody>
          <a:bodyPr wrap="square">
            <a:spAutoFit/>
          </a:bodyPr>
          <a:lstStyle/>
          <a:p>
            <a:r>
              <a:rPr lang="en-GB" sz="2000" dirty="0"/>
              <a:t>Some variables may load onto multiple factors which is known as split loadings. Split loadings are sometimes difficult to interpret</a:t>
            </a:r>
          </a:p>
        </p:txBody>
      </p:sp>
    </p:spTree>
    <p:extLst>
      <p:ext uri="{BB962C8B-B14F-4D97-AF65-F5344CB8AC3E}">
        <p14:creationId xmlns:p14="http://schemas.microsoft.com/office/powerpoint/2010/main" val="1297928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Ways of using factor analysis</a:t>
            </a:r>
          </a:p>
        </p:txBody>
      </p:sp>
      <p:sp>
        <p:nvSpPr>
          <p:cNvPr id="3" name="Text Placeholder 2"/>
          <p:cNvSpPr>
            <a:spLocks noGrp="1"/>
          </p:cNvSpPr>
          <p:nvPr>
            <p:ph type="body" idx="1"/>
          </p:nvPr>
        </p:nvSpPr>
        <p:spPr>
          <a:xfrm>
            <a:off x="457200" y="762000"/>
            <a:ext cx="4040188" cy="639762"/>
          </a:xfrm>
          <a:solidFill>
            <a:schemeClr val="accent6">
              <a:lumMod val="20000"/>
              <a:lumOff val="80000"/>
            </a:schemeClr>
          </a:solidFill>
        </p:spPr>
        <p:txBody>
          <a:bodyPr/>
          <a:lstStyle/>
          <a:p>
            <a:r>
              <a:rPr lang="en-GB" altLang="en-US" dirty="0"/>
              <a:t>Exploratory Factor Analysis</a:t>
            </a:r>
            <a:endParaRPr lang="en-GB" dirty="0"/>
          </a:p>
        </p:txBody>
      </p:sp>
      <p:sp>
        <p:nvSpPr>
          <p:cNvPr id="5" name="Content Placeholder 4"/>
          <p:cNvSpPr>
            <a:spLocks noGrp="1"/>
          </p:cNvSpPr>
          <p:nvPr>
            <p:ph sz="half" idx="2"/>
          </p:nvPr>
        </p:nvSpPr>
        <p:spPr>
          <a:xfrm>
            <a:off x="457200" y="1401762"/>
            <a:ext cx="4040188" cy="3951288"/>
          </a:xfrm>
        </p:spPr>
        <p:txBody>
          <a:bodyPr>
            <a:normAutofit/>
          </a:bodyPr>
          <a:lstStyle/>
          <a:p>
            <a:pPr marL="0" indent="0">
              <a:buNone/>
            </a:pPr>
            <a:r>
              <a:rPr lang="en-GB" sz="2000" dirty="0"/>
              <a:t>We collect the data</a:t>
            </a:r>
            <a:r>
              <a:rPr lang="en-GB" sz="2000" b="1" dirty="0"/>
              <a:t> </a:t>
            </a:r>
            <a:r>
              <a:rPr lang="en-GB" sz="2000" b="1" u="sng" dirty="0"/>
              <a:t>to explore the </a:t>
            </a:r>
            <a:r>
              <a:rPr lang="en-GB" altLang="en-US" sz="2000" b="1" u="sng" dirty="0"/>
              <a:t>underlying dimensions </a:t>
            </a:r>
            <a:r>
              <a:rPr lang="en-GB" altLang="en-US" sz="2000" dirty="0"/>
              <a:t>or factors that underlie complex phenomena</a:t>
            </a:r>
            <a:endParaRPr lang="en-GB" sz="2000" dirty="0"/>
          </a:p>
        </p:txBody>
      </p:sp>
      <p:sp>
        <p:nvSpPr>
          <p:cNvPr id="6" name="Text Placeholder 5"/>
          <p:cNvSpPr>
            <a:spLocks noGrp="1"/>
          </p:cNvSpPr>
          <p:nvPr>
            <p:ph type="body" sz="quarter" idx="3"/>
          </p:nvPr>
        </p:nvSpPr>
        <p:spPr>
          <a:xfrm>
            <a:off x="4645025" y="762000"/>
            <a:ext cx="4041775" cy="639762"/>
          </a:xfrm>
          <a:solidFill>
            <a:schemeClr val="accent3">
              <a:lumMod val="20000"/>
              <a:lumOff val="80000"/>
            </a:schemeClr>
          </a:solidFill>
        </p:spPr>
        <p:txBody>
          <a:bodyPr/>
          <a:lstStyle/>
          <a:p>
            <a:r>
              <a:rPr lang="en-GB" altLang="en-US" dirty="0"/>
              <a:t>Confirmatory Factor Analysis</a:t>
            </a:r>
            <a:endParaRPr lang="en-GB" dirty="0"/>
          </a:p>
        </p:txBody>
      </p:sp>
      <p:sp>
        <p:nvSpPr>
          <p:cNvPr id="17" name="Content Placeholder 16"/>
          <p:cNvSpPr>
            <a:spLocks noGrp="1"/>
          </p:cNvSpPr>
          <p:nvPr>
            <p:ph sz="quarter" idx="4"/>
          </p:nvPr>
        </p:nvSpPr>
        <p:spPr>
          <a:xfrm>
            <a:off x="4645025" y="1401762"/>
            <a:ext cx="4041775" cy="3951288"/>
          </a:xfrm>
        </p:spPr>
        <p:txBody>
          <a:bodyPr>
            <a:normAutofit/>
          </a:bodyPr>
          <a:lstStyle/>
          <a:p>
            <a:pPr marL="0" indent="0">
              <a:buNone/>
            </a:pPr>
            <a:r>
              <a:rPr lang="en-GB" altLang="en-US" sz="2000" dirty="0"/>
              <a:t>We </a:t>
            </a:r>
            <a:r>
              <a:rPr lang="en-GB" altLang="en-US" sz="2000" b="1" u="sng" dirty="0"/>
              <a:t>hypothesize the underlying factors</a:t>
            </a:r>
            <a:r>
              <a:rPr lang="en-GB" altLang="en-US" sz="2000" dirty="0"/>
              <a:t> along with their relationships and test our hypothesis by fitting the available data into this model. </a:t>
            </a:r>
            <a:endParaRPr lang="en-GB" sz="2000" dirty="0"/>
          </a:p>
        </p:txBody>
      </p:sp>
      <p:sp>
        <p:nvSpPr>
          <p:cNvPr id="4" name="Rectangle 3"/>
          <p:cNvSpPr/>
          <p:nvPr/>
        </p:nvSpPr>
        <p:spPr>
          <a:xfrm rot="719819">
            <a:off x="551312" y="3014106"/>
            <a:ext cx="2680995" cy="70788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altLang="en-US" sz="2000" dirty="0"/>
              <a:t>How many factors are there?</a:t>
            </a:r>
            <a:endParaRPr lang="en-GB" sz="2000" dirty="0"/>
          </a:p>
        </p:txBody>
      </p:sp>
      <p:sp>
        <p:nvSpPr>
          <p:cNvPr id="8" name="Rectangle 7"/>
          <p:cNvSpPr/>
          <p:nvPr/>
        </p:nvSpPr>
        <p:spPr>
          <a:xfrm rot="20447858">
            <a:off x="5894038" y="3245873"/>
            <a:ext cx="2936009"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GB" altLang="en-US" sz="2000" dirty="0"/>
              <a:t>Is data confirming the factors that my model suggests?</a:t>
            </a:r>
            <a:endParaRPr lang="en-GB" sz="2000" dirty="0"/>
          </a:p>
        </p:txBody>
      </p:sp>
      <p:sp>
        <p:nvSpPr>
          <p:cNvPr id="9" name="Rectangle 8"/>
          <p:cNvSpPr/>
          <p:nvPr/>
        </p:nvSpPr>
        <p:spPr>
          <a:xfrm rot="21050190">
            <a:off x="1181738" y="3676897"/>
            <a:ext cx="2762694" cy="7078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GB" altLang="en-US" sz="2000" dirty="0"/>
              <a:t>Which variables are mapped on these factors</a:t>
            </a:r>
            <a:endParaRPr lang="en-GB" sz="2000" dirty="0"/>
          </a:p>
        </p:txBody>
      </p:sp>
      <p:sp>
        <p:nvSpPr>
          <p:cNvPr id="10" name="Rectangle 9"/>
          <p:cNvSpPr/>
          <p:nvPr/>
        </p:nvSpPr>
        <p:spPr>
          <a:xfrm rot="805945">
            <a:off x="4918863" y="4362174"/>
            <a:ext cx="2936009" cy="70788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GB" altLang="en-US" sz="2000" dirty="0"/>
              <a:t>Are the variables correctly loading on these factors?</a:t>
            </a:r>
            <a:endParaRPr lang="en-GB" sz="2000" dirty="0"/>
          </a:p>
        </p:txBody>
      </p:sp>
    </p:spTree>
    <p:extLst>
      <p:ext uri="{BB962C8B-B14F-4D97-AF65-F5344CB8AC3E}">
        <p14:creationId xmlns:p14="http://schemas.microsoft.com/office/powerpoint/2010/main" val="15428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fade">
                                      <p:cBhvr>
                                        <p:cTn id="17" dur="500"/>
                                        <p:tgtEl>
                                          <p:spTgt spid="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4" grpId="0" animBg="1"/>
      <p:bldP spid="8" grpId="0" animBg="1"/>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Exercise</a:t>
            </a:r>
          </a:p>
        </p:txBody>
      </p:sp>
      <p:graphicFrame>
        <p:nvGraphicFramePr>
          <p:cNvPr id="4" name="Table 3"/>
          <p:cNvGraphicFramePr>
            <a:graphicFrameLocks noGrp="1"/>
          </p:cNvGraphicFramePr>
          <p:nvPr>
            <p:extLst>
              <p:ext uri="{D42A27DB-BD31-4B8C-83A1-F6EECF244321}">
                <p14:modId xmlns:p14="http://schemas.microsoft.com/office/powerpoint/2010/main" val="1287266454"/>
              </p:ext>
            </p:extLst>
          </p:nvPr>
        </p:nvGraphicFramePr>
        <p:xfrm>
          <a:off x="761999" y="838200"/>
          <a:ext cx="7467601" cy="3396615"/>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66801">
                  <a:extLst>
                    <a:ext uri="{9D8B030D-6E8A-4147-A177-3AD203B41FA5}">
                      <a16:colId xmlns:a16="http://schemas.microsoft.com/office/drawing/2014/main" val="20002"/>
                    </a:ext>
                  </a:extLst>
                </a:gridCol>
              </a:tblGrid>
              <a:tr h="190500">
                <a:tc>
                  <a:txBody>
                    <a:bodyPr/>
                    <a:lstStyle/>
                    <a:p>
                      <a:pPr algn="l" fontAlgn="ctr"/>
                      <a:endParaRPr lang="en-GB" sz="1600" b="0" i="0" u="none" strike="noStrike" dirty="0">
                        <a:solidFill>
                          <a:srgbClr val="000000"/>
                        </a:solidFill>
                        <a:effectLst/>
                        <a:latin typeface="+mn-lt"/>
                      </a:endParaRPr>
                    </a:p>
                  </a:txBody>
                  <a:tcPr marL="9525" marR="9525" marT="9525" marB="0" anchor="ctr"/>
                </a:tc>
                <a:tc>
                  <a:txBody>
                    <a:bodyPr/>
                    <a:lstStyle/>
                    <a:p>
                      <a:pPr algn="ctr" fontAlgn="b"/>
                      <a:r>
                        <a:rPr lang="en-GB" sz="1600" b="1" i="0" u="none" strike="noStrike" dirty="0">
                          <a:solidFill>
                            <a:schemeClr val="bg1"/>
                          </a:solidFill>
                          <a:effectLst/>
                          <a:latin typeface="+mn-lt"/>
                        </a:rPr>
                        <a:t>F1</a:t>
                      </a:r>
                    </a:p>
                  </a:txBody>
                  <a:tcPr marL="9525" marR="9525" marT="9525" marB="0" anchor="b"/>
                </a:tc>
                <a:tc>
                  <a:txBody>
                    <a:bodyPr/>
                    <a:lstStyle/>
                    <a:p>
                      <a:pPr algn="ctr" fontAlgn="b"/>
                      <a:r>
                        <a:rPr lang="en-GB" sz="1600" b="1" i="0" u="none" strike="noStrike" dirty="0">
                          <a:solidFill>
                            <a:schemeClr val="bg1"/>
                          </a:solidFill>
                          <a:effectLst/>
                          <a:latin typeface="+mn-lt"/>
                        </a:rPr>
                        <a:t>F2</a:t>
                      </a:r>
                    </a:p>
                  </a:txBody>
                  <a:tcPr marL="9525" marR="9525" marT="9525" marB="0" anchor="b"/>
                </a:tc>
                <a:extLst>
                  <a:ext uri="{0D108BD9-81ED-4DB2-BD59-A6C34878D82A}">
                    <a16:rowId xmlns:a16="http://schemas.microsoft.com/office/drawing/2014/main" val="10000"/>
                  </a:ext>
                </a:extLst>
              </a:tr>
              <a:tr h="190500">
                <a:tc>
                  <a:txBody>
                    <a:bodyPr/>
                    <a:lstStyle/>
                    <a:p>
                      <a:pPr algn="l" fontAlgn="ctr"/>
                      <a:r>
                        <a:rPr lang="en-GB" sz="2000" u="none" strike="noStrike" dirty="0">
                          <a:effectLst/>
                          <a:latin typeface="+mn-lt"/>
                        </a:rPr>
                        <a:t> To attract large customers</a:t>
                      </a:r>
                      <a:endParaRPr lang="en-GB" sz="2000" b="0" i="0" u="none" strike="noStrike" dirty="0">
                        <a:solidFill>
                          <a:srgbClr val="000000"/>
                        </a:solidFill>
                        <a:effectLst/>
                        <a:latin typeface="+mn-lt"/>
                      </a:endParaRPr>
                    </a:p>
                  </a:txBody>
                  <a:tcPr marL="9525" marR="9525" marT="9525" marB="0" anchor="ct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GB" sz="2000" u="none" strike="noStrike" dirty="0">
                          <a:effectLst/>
                          <a:latin typeface="+mn-lt"/>
                        </a:rPr>
                        <a:t>0.74100</a:t>
                      </a:r>
                      <a:endParaRPr lang="en-GB" sz="2000" b="0" i="0" u="none" strike="noStrike" dirty="0">
                        <a:solidFill>
                          <a:srgbClr val="000000"/>
                        </a:solidFill>
                        <a:effectLst/>
                        <a:latin typeface="+mn-lt"/>
                      </a:endParaRPr>
                    </a:p>
                  </a:txBody>
                  <a:tcPr marL="9525" marR="9525" marT="9525"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GB" sz="2000" u="none" strike="noStrike" dirty="0">
                          <a:effectLst/>
                          <a:latin typeface="+mn-lt"/>
                        </a:rPr>
                        <a:t>0.22288</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1"/>
                  </a:ext>
                </a:extLst>
              </a:tr>
              <a:tr h="190500">
                <a:tc>
                  <a:txBody>
                    <a:bodyPr/>
                    <a:lstStyle/>
                    <a:p>
                      <a:pPr algn="l" fontAlgn="ctr"/>
                      <a:r>
                        <a:rPr lang="en-GB" sz="2000" u="none" strike="noStrike" dirty="0">
                          <a:effectLst/>
                          <a:latin typeface="+mn-lt"/>
                        </a:rPr>
                        <a:t> As a final ‘clincher’ for a sale</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0.78508</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0.17410</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2"/>
                  </a:ext>
                </a:extLst>
              </a:tr>
              <a:tr h="190500">
                <a:tc>
                  <a:txBody>
                    <a:bodyPr/>
                    <a:lstStyle/>
                    <a:p>
                      <a:pPr algn="l" fontAlgn="ctr"/>
                      <a:r>
                        <a:rPr lang="en-GB" sz="2000" u="none" strike="noStrike" dirty="0">
                          <a:effectLst/>
                          <a:latin typeface="+mn-lt"/>
                        </a:rPr>
                        <a:t> To promote slow moving products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0.09721</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0.90158</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3"/>
                  </a:ext>
                </a:extLst>
              </a:tr>
              <a:tr h="190500">
                <a:tc>
                  <a:txBody>
                    <a:bodyPr/>
                    <a:lstStyle/>
                    <a:p>
                      <a:pPr algn="l" fontAlgn="ctr"/>
                      <a:r>
                        <a:rPr lang="en-GB" sz="2000" u="none" strike="noStrike" dirty="0">
                          <a:effectLst/>
                          <a:latin typeface="+mn-lt"/>
                        </a:rPr>
                        <a:t> When customers insist</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0.68154</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-0.06330</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4"/>
                  </a:ext>
                </a:extLst>
              </a:tr>
              <a:tr h="190500">
                <a:tc>
                  <a:txBody>
                    <a:bodyPr/>
                    <a:lstStyle/>
                    <a:p>
                      <a:pPr algn="l" fontAlgn="ctr"/>
                      <a:r>
                        <a:rPr lang="en-GB" sz="2000" u="none" strike="noStrike" dirty="0">
                          <a:effectLst/>
                          <a:latin typeface="+mn-lt"/>
                        </a:rPr>
                        <a:t> To keep in line with competitors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0.69488</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0.13033</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5"/>
                  </a:ext>
                </a:extLst>
              </a:tr>
              <a:tr h="190500">
                <a:tc>
                  <a:txBody>
                    <a:bodyPr/>
                    <a:lstStyle/>
                    <a:p>
                      <a:pPr algn="l" fontAlgn="ctr"/>
                      <a:r>
                        <a:rPr lang="en-GB" sz="2000" u="none" strike="noStrike" dirty="0">
                          <a:effectLst/>
                          <a:latin typeface="+mn-lt"/>
                        </a:rPr>
                        <a:t> To reward loyal customers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0.51613</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0.46329</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6"/>
                  </a:ext>
                </a:extLst>
              </a:tr>
              <a:tr h="190500">
                <a:tc>
                  <a:txBody>
                    <a:bodyPr/>
                    <a:lstStyle/>
                    <a:p>
                      <a:pPr algn="l" fontAlgn="ctr"/>
                      <a:r>
                        <a:rPr lang="en-GB" sz="2000" u="none" strike="noStrike" dirty="0">
                          <a:effectLst/>
                          <a:latin typeface="+mn-lt"/>
                        </a:rPr>
                        <a:t> To promote declining products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0.13069</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0.91726</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7"/>
                  </a:ext>
                </a:extLst>
              </a:tr>
              <a:tr h="190500">
                <a:tc>
                  <a:txBody>
                    <a:bodyPr/>
                    <a:lstStyle/>
                    <a:p>
                      <a:pPr algn="l" fontAlgn="ctr"/>
                      <a:r>
                        <a:rPr lang="en-GB" sz="2000" u="none" strike="noStrike" dirty="0">
                          <a:effectLst/>
                          <a:latin typeface="+mn-lt"/>
                        </a:rPr>
                        <a:t> To promote new products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0.27239</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0.81636</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8"/>
                  </a:ext>
                </a:extLst>
              </a:tr>
              <a:tr h="190500">
                <a:tc>
                  <a:txBody>
                    <a:bodyPr/>
                    <a:lstStyle/>
                    <a:p>
                      <a:pPr algn="l" fontAlgn="ctr"/>
                      <a:r>
                        <a:rPr lang="en-GB" sz="2000" u="none" strike="noStrike" dirty="0">
                          <a:effectLst/>
                          <a:latin typeface="+mn-lt"/>
                        </a:rPr>
                        <a:t> To win customers from rivals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0.73544</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0.37578</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9"/>
                  </a:ext>
                </a:extLst>
              </a:tr>
              <a:tr h="190500">
                <a:tc>
                  <a:txBody>
                    <a:bodyPr/>
                    <a:lstStyle/>
                    <a:p>
                      <a:pPr algn="l" fontAlgn="ctr"/>
                      <a:r>
                        <a:rPr lang="en-GB" sz="2000" u="none" strike="noStrike" dirty="0">
                          <a:effectLst/>
                          <a:latin typeface="+mn-lt"/>
                        </a:rPr>
                        <a:t> To gain new customers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0.68838</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0.43811</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10"/>
                  </a:ext>
                </a:extLst>
              </a:tr>
            </a:tbl>
          </a:graphicData>
        </a:graphic>
      </p:graphicFrame>
      <p:sp>
        <p:nvSpPr>
          <p:cNvPr id="8" name="TextBox 7">
            <a:extLst>
              <a:ext uri="{FF2B5EF4-FFF2-40B4-BE49-F238E27FC236}">
                <a16:creationId xmlns:a16="http://schemas.microsoft.com/office/drawing/2014/main" id="{5792A54A-963E-8E2B-62C6-A523C5356FB1}"/>
              </a:ext>
            </a:extLst>
          </p:cNvPr>
          <p:cNvSpPr txBox="1"/>
          <p:nvPr/>
        </p:nvSpPr>
        <p:spPr>
          <a:xfrm>
            <a:off x="381000" y="4495800"/>
            <a:ext cx="8458200" cy="1815882"/>
          </a:xfrm>
          <a:prstGeom prst="rect">
            <a:avLst/>
          </a:prstGeom>
          <a:noFill/>
        </p:spPr>
        <p:txBody>
          <a:bodyPr wrap="square">
            <a:spAutoFit/>
          </a:bodyPr>
          <a:lstStyle/>
          <a:p>
            <a:r>
              <a:rPr lang="en-GB" sz="2800" dirty="0"/>
              <a:t>(a) Please illustrate the groups of variables that load onto the two factors identified, using a threshold of 0.4.</a:t>
            </a:r>
          </a:p>
          <a:p>
            <a:r>
              <a:rPr lang="en-GB" sz="2800" dirty="0"/>
              <a:t>(b) Please name each factor.</a:t>
            </a:r>
          </a:p>
          <a:p>
            <a:r>
              <a:rPr lang="en-GB" sz="2800" dirty="0"/>
              <a:t>(c) Does split loading exist?</a:t>
            </a:r>
          </a:p>
        </p:txBody>
      </p:sp>
    </p:spTree>
    <p:extLst>
      <p:ext uri="{BB962C8B-B14F-4D97-AF65-F5344CB8AC3E}">
        <p14:creationId xmlns:p14="http://schemas.microsoft.com/office/powerpoint/2010/main" val="562608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Exercise</a:t>
            </a:r>
          </a:p>
        </p:txBody>
      </p:sp>
      <p:graphicFrame>
        <p:nvGraphicFramePr>
          <p:cNvPr id="4" name="Table 3"/>
          <p:cNvGraphicFramePr>
            <a:graphicFrameLocks noGrp="1"/>
          </p:cNvGraphicFramePr>
          <p:nvPr>
            <p:extLst>
              <p:ext uri="{D42A27DB-BD31-4B8C-83A1-F6EECF244321}">
                <p14:modId xmlns:p14="http://schemas.microsoft.com/office/powerpoint/2010/main" val="952565449"/>
              </p:ext>
            </p:extLst>
          </p:nvPr>
        </p:nvGraphicFramePr>
        <p:xfrm>
          <a:off x="761999" y="1708785"/>
          <a:ext cx="7467601" cy="3396615"/>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66801">
                  <a:extLst>
                    <a:ext uri="{9D8B030D-6E8A-4147-A177-3AD203B41FA5}">
                      <a16:colId xmlns:a16="http://schemas.microsoft.com/office/drawing/2014/main" val="20002"/>
                    </a:ext>
                  </a:extLst>
                </a:gridCol>
              </a:tblGrid>
              <a:tr h="190500">
                <a:tc>
                  <a:txBody>
                    <a:bodyPr/>
                    <a:lstStyle/>
                    <a:p>
                      <a:pPr algn="l" fontAlgn="ctr"/>
                      <a:endParaRPr lang="en-GB" sz="1600" b="0" i="0" u="none" strike="noStrike" dirty="0">
                        <a:solidFill>
                          <a:srgbClr val="000000"/>
                        </a:solidFill>
                        <a:effectLst/>
                        <a:latin typeface="+mn-lt"/>
                      </a:endParaRPr>
                    </a:p>
                  </a:txBody>
                  <a:tcPr marL="9525" marR="9525" marT="9525" marB="0" anchor="ctr"/>
                </a:tc>
                <a:tc>
                  <a:txBody>
                    <a:bodyPr/>
                    <a:lstStyle/>
                    <a:p>
                      <a:pPr algn="ctr" fontAlgn="b"/>
                      <a:r>
                        <a:rPr lang="en-GB" sz="1600" b="1" i="0" u="none" strike="noStrike" dirty="0">
                          <a:solidFill>
                            <a:schemeClr val="bg1"/>
                          </a:solidFill>
                          <a:effectLst/>
                          <a:latin typeface="+mn-lt"/>
                        </a:rPr>
                        <a:t>F1</a:t>
                      </a:r>
                    </a:p>
                  </a:txBody>
                  <a:tcPr marL="9525" marR="9525" marT="9525" marB="0" anchor="b"/>
                </a:tc>
                <a:tc>
                  <a:txBody>
                    <a:bodyPr/>
                    <a:lstStyle/>
                    <a:p>
                      <a:pPr algn="ctr" fontAlgn="b"/>
                      <a:r>
                        <a:rPr lang="en-GB" sz="1600" b="1" i="0" u="none" strike="noStrike" dirty="0">
                          <a:solidFill>
                            <a:schemeClr val="bg1"/>
                          </a:solidFill>
                          <a:effectLst/>
                          <a:latin typeface="+mn-lt"/>
                        </a:rPr>
                        <a:t>F2</a:t>
                      </a:r>
                    </a:p>
                  </a:txBody>
                  <a:tcPr marL="9525" marR="9525" marT="9525" marB="0" anchor="b"/>
                </a:tc>
                <a:extLst>
                  <a:ext uri="{0D108BD9-81ED-4DB2-BD59-A6C34878D82A}">
                    <a16:rowId xmlns:a16="http://schemas.microsoft.com/office/drawing/2014/main" val="10000"/>
                  </a:ext>
                </a:extLst>
              </a:tr>
              <a:tr h="190500">
                <a:tc>
                  <a:txBody>
                    <a:bodyPr/>
                    <a:lstStyle/>
                    <a:p>
                      <a:pPr algn="l" fontAlgn="ctr"/>
                      <a:r>
                        <a:rPr lang="en-GB" sz="2000" u="none" strike="noStrike" dirty="0">
                          <a:effectLst/>
                          <a:latin typeface="+mn-lt"/>
                        </a:rPr>
                        <a:t> To attract large customers</a:t>
                      </a:r>
                      <a:endParaRPr lang="en-GB" sz="2000" b="0" i="0" u="none" strike="noStrike" dirty="0">
                        <a:solidFill>
                          <a:srgbClr val="000000"/>
                        </a:solidFill>
                        <a:effectLst/>
                        <a:latin typeface="+mn-lt"/>
                      </a:endParaRPr>
                    </a:p>
                  </a:txBody>
                  <a:tcPr marL="9525" marR="9525" marT="9525" marB="0" anchor="ctr"/>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en-GB" sz="2000" u="none" strike="noStrike" dirty="0">
                          <a:effectLst/>
                          <a:latin typeface="+mn-lt"/>
                        </a:rPr>
                        <a:t>0.74100</a:t>
                      </a:r>
                      <a:endParaRPr lang="en-GB" sz="2000" b="0" i="0" u="none" strike="noStrike" dirty="0">
                        <a:solidFill>
                          <a:srgbClr val="000000"/>
                        </a:solidFill>
                        <a:effectLst/>
                        <a:latin typeface="+mn-lt"/>
                      </a:endParaRPr>
                    </a:p>
                  </a:txBody>
                  <a:tcPr marL="9525" marR="9525" marT="9525"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1"/>
                  </a:ext>
                </a:extLst>
              </a:tr>
              <a:tr h="190500">
                <a:tc>
                  <a:txBody>
                    <a:bodyPr/>
                    <a:lstStyle/>
                    <a:p>
                      <a:pPr algn="l" fontAlgn="ctr"/>
                      <a:r>
                        <a:rPr lang="en-GB" sz="2000" u="none" strike="noStrike" dirty="0">
                          <a:effectLst/>
                          <a:latin typeface="+mn-lt"/>
                        </a:rPr>
                        <a:t> As a final ‘clincher’ for a sale</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0.78508</a:t>
                      </a:r>
                      <a:endParaRPr lang="en-GB" sz="2000" b="0" i="0" u="none" strike="noStrike" dirty="0">
                        <a:solidFill>
                          <a:srgbClr val="000000"/>
                        </a:solidFill>
                        <a:effectLst/>
                        <a:latin typeface="+mn-lt"/>
                      </a:endParaRPr>
                    </a:p>
                  </a:txBody>
                  <a:tcPr marL="9525" marR="9525" marT="9525" marB="0" anchor="b"/>
                </a:tc>
                <a:tc>
                  <a:txBody>
                    <a:bodyPr/>
                    <a:lstStyle/>
                    <a:p>
                      <a:pPr algn="r" fontAlgn="b"/>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2"/>
                  </a:ext>
                </a:extLst>
              </a:tr>
              <a:tr h="190500">
                <a:tc>
                  <a:txBody>
                    <a:bodyPr/>
                    <a:lstStyle/>
                    <a:p>
                      <a:pPr algn="l" fontAlgn="ctr"/>
                      <a:r>
                        <a:rPr lang="en-GB" sz="2000" u="none" strike="noStrike" dirty="0">
                          <a:effectLst/>
                          <a:latin typeface="+mn-lt"/>
                        </a:rPr>
                        <a:t> To promote slow moving products</a:t>
                      </a:r>
                      <a:endParaRPr lang="en-GB" sz="2000" b="0" i="0" u="none" strike="noStrike" dirty="0">
                        <a:solidFill>
                          <a:srgbClr val="000000"/>
                        </a:solidFill>
                        <a:effectLst/>
                        <a:latin typeface="+mn-lt"/>
                      </a:endParaRPr>
                    </a:p>
                  </a:txBody>
                  <a:tcPr marL="9525" marR="9525" marT="9525" marB="0" anchor="ctr"/>
                </a:tc>
                <a:tc>
                  <a:txBody>
                    <a:bodyPr/>
                    <a:lstStyle/>
                    <a:p>
                      <a:pPr algn="r" fontAlgn="b"/>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0.90158</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3"/>
                  </a:ext>
                </a:extLst>
              </a:tr>
              <a:tr h="190500">
                <a:tc>
                  <a:txBody>
                    <a:bodyPr/>
                    <a:lstStyle/>
                    <a:p>
                      <a:pPr algn="l" fontAlgn="ctr"/>
                      <a:r>
                        <a:rPr lang="en-GB" sz="2000" u="none" strike="noStrike" dirty="0">
                          <a:effectLst/>
                          <a:latin typeface="+mn-lt"/>
                        </a:rPr>
                        <a:t> When customers insist</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0.68154</a:t>
                      </a:r>
                      <a:endParaRPr lang="en-GB" sz="2000" b="0" i="0" u="none" strike="noStrike" dirty="0">
                        <a:solidFill>
                          <a:srgbClr val="000000"/>
                        </a:solidFill>
                        <a:effectLst/>
                        <a:latin typeface="+mn-lt"/>
                      </a:endParaRPr>
                    </a:p>
                  </a:txBody>
                  <a:tcPr marL="9525" marR="9525" marT="9525" marB="0" anchor="b"/>
                </a:tc>
                <a:tc>
                  <a:txBody>
                    <a:bodyPr/>
                    <a:lstStyle/>
                    <a:p>
                      <a:pPr algn="r" fontAlgn="b"/>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4"/>
                  </a:ext>
                </a:extLst>
              </a:tr>
              <a:tr h="190500">
                <a:tc>
                  <a:txBody>
                    <a:bodyPr/>
                    <a:lstStyle/>
                    <a:p>
                      <a:pPr algn="l" fontAlgn="ctr"/>
                      <a:r>
                        <a:rPr lang="en-GB" sz="2000" u="none" strike="noStrike" dirty="0">
                          <a:effectLst/>
                          <a:latin typeface="+mn-lt"/>
                        </a:rPr>
                        <a:t> To keep in line with competitors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0.69488</a:t>
                      </a:r>
                      <a:endParaRPr lang="en-GB" sz="2000" b="0" i="0" u="none" strike="noStrike" dirty="0">
                        <a:solidFill>
                          <a:srgbClr val="000000"/>
                        </a:solidFill>
                        <a:effectLst/>
                        <a:latin typeface="+mn-lt"/>
                      </a:endParaRPr>
                    </a:p>
                  </a:txBody>
                  <a:tcPr marL="9525" marR="9525" marT="9525" marB="0" anchor="b"/>
                </a:tc>
                <a:tc>
                  <a:txBody>
                    <a:bodyPr/>
                    <a:lstStyle/>
                    <a:p>
                      <a:pPr algn="r" fontAlgn="b"/>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5"/>
                  </a:ext>
                </a:extLst>
              </a:tr>
              <a:tr h="190500">
                <a:tc>
                  <a:txBody>
                    <a:bodyPr/>
                    <a:lstStyle/>
                    <a:p>
                      <a:pPr algn="l" fontAlgn="ctr"/>
                      <a:r>
                        <a:rPr lang="en-GB" sz="2000" u="none" strike="noStrike" dirty="0">
                          <a:effectLst/>
                          <a:latin typeface="+mn-lt"/>
                        </a:rPr>
                        <a:t> To reward loyal customers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0.51613</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solidFill>
                            <a:schemeClr val="accent6"/>
                          </a:solidFill>
                          <a:effectLst/>
                          <a:latin typeface="+mn-lt"/>
                        </a:rPr>
                        <a:t>0.46329</a:t>
                      </a:r>
                      <a:endParaRPr lang="en-GB" sz="2000" b="0" i="0" u="none" strike="noStrike" dirty="0">
                        <a:solidFill>
                          <a:schemeClr val="accent6"/>
                        </a:solidFill>
                        <a:effectLst/>
                        <a:latin typeface="+mn-lt"/>
                      </a:endParaRPr>
                    </a:p>
                  </a:txBody>
                  <a:tcPr marL="9525" marR="9525" marT="9525" marB="0" anchor="b"/>
                </a:tc>
                <a:extLst>
                  <a:ext uri="{0D108BD9-81ED-4DB2-BD59-A6C34878D82A}">
                    <a16:rowId xmlns:a16="http://schemas.microsoft.com/office/drawing/2014/main" val="10006"/>
                  </a:ext>
                </a:extLst>
              </a:tr>
              <a:tr h="190500">
                <a:tc>
                  <a:txBody>
                    <a:bodyPr/>
                    <a:lstStyle/>
                    <a:p>
                      <a:pPr algn="l" fontAlgn="ctr"/>
                      <a:r>
                        <a:rPr lang="en-GB" sz="2000" u="none" strike="noStrike" dirty="0">
                          <a:effectLst/>
                          <a:latin typeface="+mn-lt"/>
                        </a:rPr>
                        <a:t> To promote declining products</a:t>
                      </a:r>
                      <a:endParaRPr lang="en-GB" sz="2000" b="0" i="0" u="none" strike="noStrike" dirty="0">
                        <a:solidFill>
                          <a:srgbClr val="000000"/>
                        </a:solidFill>
                        <a:effectLst/>
                        <a:latin typeface="+mn-lt"/>
                      </a:endParaRPr>
                    </a:p>
                  </a:txBody>
                  <a:tcPr marL="9525" marR="9525" marT="9525" marB="0" anchor="ctr"/>
                </a:tc>
                <a:tc>
                  <a:txBody>
                    <a:bodyPr/>
                    <a:lstStyle/>
                    <a:p>
                      <a:pPr algn="r" fontAlgn="b"/>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0.91726</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7"/>
                  </a:ext>
                </a:extLst>
              </a:tr>
              <a:tr h="190500">
                <a:tc>
                  <a:txBody>
                    <a:bodyPr/>
                    <a:lstStyle/>
                    <a:p>
                      <a:pPr algn="l" fontAlgn="ctr"/>
                      <a:r>
                        <a:rPr lang="en-GB" sz="2000" u="none" strike="noStrike" dirty="0">
                          <a:effectLst/>
                          <a:latin typeface="+mn-lt"/>
                        </a:rPr>
                        <a:t> To promote new products</a:t>
                      </a:r>
                      <a:endParaRPr lang="en-GB" sz="2000" b="0" i="0" u="none" strike="noStrike" dirty="0">
                        <a:solidFill>
                          <a:srgbClr val="000000"/>
                        </a:solidFill>
                        <a:effectLst/>
                        <a:latin typeface="+mn-lt"/>
                      </a:endParaRPr>
                    </a:p>
                  </a:txBody>
                  <a:tcPr marL="9525" marR="9525" marT="9525" marB="0" anchor="ctr"/>
                </a:tc>
                <a:tc>
                  <a:txBody>
                    <a:bodyPr/>
                    <a:lstStyle/>
                    <a:p>
                      <a:pPr algn="r" fontAlgn="b"/>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effectLst/>
                          <a:latin typeface="+mn-lt"/>
                        </a:rPr>
                        <a:t>0.81636</a:t>
                      </a:r>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8"/>
                  </a:ext>
                </a:extLst>
              </a:tr>
              <a:tr h="190500">
                <a:tc>
                  <a:txBody>
                    <a:bodyPr/>
                    <a:lstStyle/>
                    <a:p>
                      <a:pPr algn="l" fontAlgn="ctr"/>
                      <a:r>
                        <a:rPr lang="en-GB" sz="2000" u="none" strike="noStrike" dirty="0">
                          <a:effectLst/>
                          <a:latin typeface="+mn-lt"/>
                        </a:rPr>
                        <a:t> To win customers from rivals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0.73544</a:t>
                      </a:r>
                      <a:endParaRPr lang="en-GB" sz="2000" b="0" i="0" u="none" strike="noStrike" dirty="0">
                        <a:solidFill>
                          <a:srgbClr val="000000"/>
                        </a:solidFill>
                        <a:effectLst/>
                        <a:latin typeface="+mn-lt"/>
                      </a:endParaRPr>
                    </a:p>
                  </a:txBody>
                  <a:tcPr marL="9525" marR="9525" marT="9525" marB="0" anchor="b"/>
                </a:tc>
                <a:tc>
                  <a:txBody>
                    <a:bodyPr/>
                    <a:lstStyle/>
                    <a:p>
                      <a:pPr algn="r" fontAlgn="b"/>
                      <a:endParaRPr lang="en-GB" sz="20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0009"/>
                  </a:ext>
                </a:extLst>
              </a:tr>
              <a:tr h="190500">
                <a:tc>
                  <a:txBody>
                    <a:bodyPr/>
                    <a:lstStyle/>
                    <a:p>
                      <a:pPr algn="l" fontAlgn="ctr"/>
                      <a:r>
                        <a:rPr lang="en-GB" sz="2000" u="none" strike="noStrike" dirty="0">
                          <a:effectLst/>
                          <a:latin typeface="+mn-lt"/>
                        </a:rPr>
                        <a:t> To gain new customers</a:t>
                      </a:r>
                      <a:endParaRPr lang="en-GB" sz="2000" b="0" i="0" u="none" strike="noStrike" dirty="0">
                        <a:solidFill>
                          <a:srgbClr val="000000"/>
                        </a:solidFill>
                        <a:effectLst/>
                        <a:latin typeface="+mn-lt"/>
                      </a:endParaRPr>
                    </a:p>
                  </a:txBody>
                  <a:tcPr marL="9525" marR="9525" marT="9525" marB="0" anchor="ctr"/>
                </a:tc>
                <a:tc>
                  <a:txBody>
                    <a:bodyPr/>
                    <a:lstStyle/>
                    <a:p>
                      <a:pPr algn="r" fontAlgn="b"/>
                      <a:r>
                        <a:rPr lang="en-GB" sz="2000" u="none" strike="noStrike" dirty="0">
                          <a:effectLst/>
                          <a:latin typeface="+mn-lt"/>
                        </a:rPr>
                        <a:t>0.68838</a:t>
                      </a:r>
                      <a:endParaRPr lang="en-GB" sz="2000" b="0" i="0" u="none" strike="noStrike" dirty="0">
                        <a:solidFill>
                          <a:srgbClr val="000000"/>
                        </a:solidFill>
                        <a:effectLst/>
                        <a:latin typeface="+mn-lt"/>
                      </a:endParaRPr>
                    </a:p>
                  </a:txBody>
                  <a:tcPr marL="9525" marR="9525" marT="9525" marB="0" anchor="b"/>
                </a:tc>
                <a:tc>
                  <a:txBody>
                    <a:bodyPr/>
                    <a:lstStyle/>
                    <a:p>
                      <a:pPr algn="r" fontAlgn="b"/>
                      <a:r>
                        <a:rPr lang="en-GB" sz="2000" u="none" strike="noStrike" dirty="0">
                          <a:solidFill>
                            <a:schemeClr val="accent6"/>
                          </a:solidFill>
                          <a:effectLst/>
                          <a:latin typeface="+mn-lt"/>
                        </a:rPr>
                        <a:t>0.43811</a:t>
                      </a:r>
                      <a:endParaRPr lang="en-GB" sz="2000" b="0" i="0" u="none" strike="noStrike" dirty="0">
                        <a:solidFill>
                          <a:schemeClr val="accent6"/>
                        </a:solidFill>
                        <a:effectLst/>
                        <a:latin typeface="+mn-lt"/>
                      </a:endParaRPr>
                    </a:p>
                  </a:txBody>
                  <a:tcPr marL="9525" marR="9525" marT="9525" marB="0" anchor="b"/>
                </a:tc>
                <a:extLst>
                  <a:ext uri="{0D108BD9-81ED-4DB2-BD59-A6C34878D82A}">
                    <a16:rowId xmlns:a16="http://schemas.microsoft.com/office/drawing/2014/main" val="10010"/>
                  </a:ext>
                </a:extLst>
              </a:tr>
            </a:tbl>
          </a:graphicData>
        </a:graphic>
      </p:graphicFrame>
      <p:sp>
        <p:nvSpPr>
          <p:cNvPr id="6" name="Rectangular Callout 5"/>
          <p:cNvSpPr/>
          <p:nvPr/>
        </p:nvSpPr>
        <p:spPr>
          <a:xfrm>
            <a:off x="6934200" y="533400"/>
            <a:ext cx="1600200" cy="685800"/>
          </a:xfrm>
          <a:prstGeom prst="wedgeRectCallout">
            <a:avLst>
              <a:gd name="adj1" fmla="val 3547"/>
              <a:gd name="adj2" fmla="val 16966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Products related</a:t>
            </a:r>
          </a:p>
        </p:txBody>
      </p:sp>
      <p:sp>
        <p:nvSpPr>
          <p:cNvPr id="7" name="Rectangular Callout 6"/>
          <p:cNvSpPr/>
          <p:nvPr/>
        </p:nvSpPr>
        <p:spPr>
          <a:xfrm>
            <a:off x="4572000" y="190500"/>
            <a:ext cx="1752600" cy="685800"/>
          </a:xfrm>
          <a:prstGeom prst="wedgeRectCallout">
            <a:avLst>
              <a:gd name="adj1" fmla="val 58159"/>
              <a:gd name="adj2" fmla="val 207048"/>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Customers related</a:t>
            </a:r>
          </a:p>
        </p:txBody>
      </p:sp>
    </p:spTree>
    <p:extLst>
      <p:ext uri="{BB962C8B-B14F-4D97-AF65-F5344CB8AC3E}">
        <p14:creationId xmlns:p14="http://schemas.microsoft.com/office/powerpoint/2010/main" val="549287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762000"/>
          </a:xfrm>
        </p:spPr>
        <p:txBody>
          <a:bodyPr/>
          <a:lstStyle/>
          <a:p>
            <a:r>
              <a:rPr lang="en-GB" dirty="0"/>
              <a:t>Summary</a:t>
            </a:r>
          </a:p>
        </p:txBody>
      </p:sp>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extLst>
                  <p:ext uri="{D42A27DB-BD31-4B8C-83A1-F6EECF244321}">
                    <p14:modId xmlns:p14="http://schemas.microsoft.com/office/powerpoint/2010/main" val="3465492262"/>
                  </p:ext>
                </p:extLst>
              </p:nvPr>
            </p:nvGraphicFramePr>
            <p:xfrm>
              <a:off x="961326" y="1153945"/>
              <a:ext cx="2225888" cy="4663440"/>
            </p:xfrm>
            <a:graphic>
              <a:graphicData uri="http://schemas.openxmlformats.org/drawingml/2006/table">
                <a:tbl>
                  <a:tblPr firstRow="1" bandRow="1">
                    <a:tableStyleId>{5C22544A-7EE6-4342-B048-85BDC9FD1C3A}</a:tableStyleId>
                  </a:tblPr>
                  <a:tblGrid>
                    <a:gridCol w="317984">
                      <a:extLst>
                        <a:ext uri="{9D8B030D-6E8A-4147-A177-3AD203B41FA5}">
                          <a16:colId xmlns:a16="http://schemas.microsoft.com/office/drawing/2014/main" val="20000"/>
                        </a:ext>
                      </a:extLst>
                    </a:gridCol>
                    <a:gridCol w="317984">
                      <a:extLst>
                        <a:ext uri="{9D8B030D-6E8A-4147-A177-3AD203B41FA5}">
                          <a16:colId xmlns:a16="http://schemas.microsoft.com/office/drawing/2014/main" val="20001"/>
                        </a:ext>
                      </a:extLst>
                    </a:gridCol>
                    <a:gridCol w="317984">
                      <a:extLst>
                        <a:ext uri="{9D8B030D-6E8A-4147-A177-3AD203B41FA5}">
                          <a16:colId xmlns:a16="http://schemas.microsoft.com/office/drawing/2014/main" val="20002"/>
                        </a:ext>
                      </a:extLst>
                    </a:gridCol>
                    <a:gridCol w="317984">
                      <a:extLst>
                        <a:ext uri="{9D8B030D-6E8A-4147-A177-3AD203B41FA5}">
                          <a16:colId xmlns:a16="http://schemas.microsoft.com/office/drawing/2014/main" val="20003"/>
                        </a:ext>
                      </a:extLst>
                    </a:gridCol>
                    <a:gridCol w="317984">
                      <a:extLst>
                        <a:ext uri="{9D8B030D-6E8A-4147-A177-3AD203B41FA5}">
                          <a16:colId xmlns:a16="http://schemas.microsoft.com/office/drawing/2014/main" val="20004"/>
                        </a:ext>
                      </a:extLst>
                    </a:gridCol>
                    <a:gridCol w="317984">
                      <a:extLst>
                        <a:ext uri="{9D8B030D-6E8A-4147-A177-3AD203B41FA5}">
                          <a16:colId xmlns:a16="http://schemas.microsoft.com/office/drawing/2014/main" val="20005"/>
                        </a:ext>
                      </a:extLst>
                    </a:gridCol>
                    <a:gridCol w="317984">
                      <a:extLst>
                        <a:ext uri="{9D8B030D-6E8A-4147-A177-3AD203B41FA5}">
                          <a16:colId xmlns:a16="http://schemas.microsoft.com/office/drawing/2014/main" val="20006"/>
                        </a:ext>
                      </a:extLst>
                    </a:gridCol>
                  </a:tblGrid>
                  <a:tr h="259080">
                    <a:tc>
                      <a:txBody>
                        <a:bodyPr/>
                        <a:lstStyle/>
                        <a:p>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i="1" dirty="0" smtClean="0">
                                        <a:latin typeface="Cambria Math"/>
                                      </a:rPr>
                                      <m:t>1</m:t>
                                    </m:r>
                                  </m:sub>
                                </m:sSub>
                              </m:oMath>
                            </m:oMathPara>
                          </a14:m>
                          <a:endParaRPr lang="en-GB" sz="1100" dirty="0"/>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b="1" i="1" dirty="0" smtClean="0">
                                        <a:latin typeface="Cambria Math"/>
                                      </a:rPr>
                                      <m:t>𝟐</m:t>
                                    </m:r>
                                  </m:sub>
                                </m:sSub>
                              </m:oMath>
                            </m:oMathPara>
                          </a14:m>
                          <a:endParaRPr lang="en-GB" sz="1100" dirty="0"/>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b="1" i="1" dirty="0" smtClean="0">
                                        <a:latin typeface="Cambria Math"/>
                                      </a:rPr>
                                      <m:t>𝟑</m:t>
                                    </m:r>
                                  </m:sub>
                                </m:sSub>
                              </m:oMath>
                            </m:oMathPara>
                          </a14:m>
                          <a:endParaRPr lang="en-GB" sz="1100" dirty="0"/>
                        </a:p>
                      </a:txBody>
                      <a:tcPr>
                        <a:solidFill>
                          <a:schemeClr val="tx1"/>
                        </a:solidFill>
                      </a:tcPr>
                    </a:tc>
                    <a:tc>
                      <a:txBody>
                        <a:bodyPr/>
                        <a:lstStyle/>
                        <a:p>
                          <a:r>
                            <a:rPr lang="en-GB" sz="1100" dirty="0"/>
                            <a:t>.</a:t>
                          </a:r>
                        </a:p>
                      </a:txBody>
                      <a:tcPr>
                        <a:solidFill>
                          <a:schemeClr val="tx1"/>
                        </a:solidFill>
                      </a:tcPr>
                    </a:tc>
                    <a:tc>
                      <a:txBody>
                        <a:bodyPr/>
                        <a:lstStyle/>
                        <a:p>
                          <a:r>
                            <a:rPr lang="en-GB" sz="1100" dirty="0"/>
                            <a:t>.</a:t>
                          </a:r>
                        </a:p>
                      </a:txBody>
                      <a:tcPr>
                        <a:solidFill>
                          <a:schemeClr val="tx1"/>
                        </a:solidFill>
                      </a:tcPr>
                    </a:tc>
                    <a:tc>
                      <a:txBody>
                        <a:bodyPr/>
                        <a:lstStyle/>
                        <a:p>
                          <a:r>
                            <a:rPr lang="en-GB" sz="1100" dirty="0"/>
                            <a:t>.</a:t>
                          </a:r>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b="1" i="1" dirty="0" smtClean="0">
                                        <a:latin typeface="Cambria Math"/>
                                      </a:rPr>
                                      <m:t>𝒎</m:t>
                                    </m:r>
                                  </m:sub>
                                </m:sSub>
                              </m:oMath>
                            </m:oMathPara>
                          </a14:m>
                          <a:endParaRPr lang="en-GB" sz="1100" dirty="0"/>
                        </a:p>
                      </a:txBody>
                      <a:tcPr>
                        <a:solidFill>
                          <a:schemeClr val="tx1"/>
                        </a:solidFill>
                      </a:tcPr>
                    </a:tc>
                    <a:extLst>
                      <a:ext uri="{0D108BD9-81ED-4DB2-BD59-A6C34878D82A}">
                        <a16:rowId xmlns:a16="http://schemas.microsoft.com/office/drawing/2014/main" val="10000"/>
                      </a:ext>
                    </a:extLst>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1"/>
                      </a:ext>
                    </a:extLst>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2"/>
                      </a:ext>
                    </a:extLst>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3"/>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extLst>
                      <a:ext uri="{0D108BD9-81ED-4DB2-BD59-A6C34878D82A}">
                        <a16:rowId xmlns:a16="http://schemas.microsoft.com/office/drawing/2014/main" val="10004"/>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5"/>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6"/>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7"/>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8"/>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9"/>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0"/>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1"/>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2"/>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3"/>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4"/>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5"/>
                      </a:ext>
                    </a:extLst>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6"/>
                      </a:ext>
                    </a:extLst>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17"/>
                      </a:ext>
                    </a:extLst>
                  </a:tr>
                </a:tbl>
              </a:graphicData>
            </a:graphic>
          </p:graphicFrame>
        </mc:Choice>
        <mc:Fallback xmlns="">
          <p:graphicFrame>
            <p:nvGraphicFramePr>
              <p:cNvPr id="18" name="Table 17"/>
              <p:cNvGraphicFramePr>
                <a:graphicFrameLocks noGrp="1"/>
              </p:cNvGraphicFramePr>
              <p:nvPr>
                <p:extLst>
                  <p:ext uri="{D42A27DB-BD31-4B8C-83A1-F6EECF244321}">
                    <p14:modId xmlns:p14="http://schemas.microsoft.com/office/powerpoint/2010/main" val="3465492262"/>
                  </p:ext>
                </p:extLst>
              </p:nvPr>
            </p:nvGraphicFramePr>
            <p:xfrm>
              <a:off x="961326" y="1153945"/>
              <a:ext cx="2225888" cy="4663440"/>
            </p:xfrm>
            <a:graphic>
              <a:graphicData uri="http://schemas.openxmlformats.org/drawingml/2006/table">
                <a:tbl>
                  <a:tblPr firstRow="1" bandRow="1">
                    <a:tableStyleId>{5C22544A-7EE6-4342-B048-85BDC9FD1C3A}</a:tableStyleId>
                  </a:tblPr>
                  <a:tblGrid>
                    <a:gridCol w="317984"/>
                    <a:gridCol w="317984"/>
                    <a:gridCol w="317984"/>
                    <a:gridCol w="317984"/>
                    <a:gridCol w="317984"/>
                    <a:gridCol w="317984"/>
                    <a:gridCol w="317984"/>
                  </a:tblGrid>
                  <a:tr h="259080">
                    <a:tc>
                      <a:txBody>
                        <a:bodyPr/>
                        <a:lstStyle/>
                        <a:p>
                          <a:endParaRPr lang="en-US"/>
                        </a:p>
                      </a:txBody>
                      <a:tcPr>
                        <a:blipFill rotWithShape="1">
                          <a:blip r:embed="rId3"/>
                          <a:stretch>
                            <a:fillRect l="-1923" t="-2326" r="-601923" b="-1681395"/>
                          </a:stretch>
                        </a:blipFill>
                      </a:tcPr>
                    </a:tc>
                    <a:tc>
                      <a:txBody>
                        <a:bodyPr/>
                        <a:lstStyle/>
                        <a:p>
                          <a:endParaRPr lang="en-US"/>
                        </a:p>
                      </a:txBody>
                      <a:tcPr>
                        <a:blipFill rotWithShape="1">
                          <a:blip r:embed="rId3"/>
                          <a:stretch>
                            <a:fillRect l="-101923" t="-2326" r="-501923" b="-1681395"/>
                          </a:stretch>
                        </a:blipFill>
                      </a:tcPr>
                    </a:tc>
                    <a:tc>
                      <a:txBody>
                        <a:bodyPr/>
                        <a:lstStyle/>
                        <a:p>
                          <a:endParaRPr lang="en-US"/>
                        </a:p>
                      </a:txBody>
                      <a:tcPr>
                        <a:blipFill rotWithShape="1">
                          <a:blip r:embed="rId3"/>
                          <a:stretch>
                            <a:fillRect l="-201923" t="-2326" r="-401923" b="-1681395"/>
                          </a:stretch>
                        </a:blipFill>
                      </a:tcPr>
                    </a:tc>
                    <a:tc>
                      <a:txBody>
                        <a:bodyPr/>
                        <a:lstStyle/>
                        <a:p>
                          <a:r>
                            <a:rPr lang="en-GB" sz="1100" dirty="0" smtClean="0"/>
                            <a:t>.</a:t>
                          </a:r>
                          <a:endParaRPr lang="en-GB" sz="1100" dirty="0"/>
                        </a:p>
                      </a:txBody>
                      <a:tcPr>
                        <a:solidFill>
                          <a:schemeClr val="tx1"/>
                        </a:solidFill>
                      </a:tcPr>
                    </a:tc>
                    <a:tc>
                      <a:txBody>
                        <a:bodyPr/>
                        <a:lstStyle/>
                        <a:p>
                          <a:r>
                            <a:rPr lang="en-GB" sz="1100" dirty="0" smtClean="0"/>
                            <a:t>.</a:t>
                          </a:r>
                          <a:endParaRPr lang="en-GB" sz="1100" dirty="0"/>
                        </a:p>
                      </a:txBody>
                      <a:tcPr>
                        <a:solidFill>
                          <a:schemeClr val="tx1"/>
                        </a:solidFill>
                      </a:tcPr>
                    </a:tc>
                    <a:tc>
                      <a:txBody>
                        <a:bodyPr/>
                        <a:lstStyle/>
                        <a:p>
                          <a:r>
                            <a:rPr lang="en-GB" sz="1100" dirty="0" smtClean="0"/>
                            <a:t>.</a:t>
                          </a:r>
                          <a:endParaRPr lang="en-GB" sz="1100" dirty="0"/>
                        </a:p>
                      </a:txBody>
                      <a:tcPr>
                        <a:solidFill>
                          <a:schemeClr val="tx1"/>
                        </a:solidFill>
                      </a:tcPr>
                    </a:tc>
                    <a:tc>
                      <a:txBody>
                        <a:bodyPr/>
                        <a:lstStyle/>
                        <a:p>
                          <a:endParaRPr lang="en-US"/>
                        </a:p>
                      </a:txBody>
                      <a:tcPr>
                        <a:blipFill rotWithShape="1">
                          <a:blip r:embed="rId3"/>
                          <a:stretch>
                            <a:fillRect l="-603846" t="-2326" b="-1681395"/>
                          </a:stretch>
                        </a:blipFill>
                      </a:tcPr>
                    </a:tc>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accent2">
                            <a:lumMod val="40000"/>
                            <a:lumOff val="60000"/>
                          </a:schemeClr>
                        </a:solidFill>
                      </a:tcPr>
                    </a:tc>
                    <a:tc>
                      <a:txBody>
                        <a:bodyPr/>
                        <a:lstStyle/>
                        <a:p>
                          <a:endParaRPr lang="en-GB" sz="1100"/>
                        </a:p>
                      </a:txBody>
                      <a:tcPr>
                        <a:solidFill>
                          <a:schemeClr val="accent2">
                            <a:lumMod val="40000"/>
                            <a:lumOff val="60000"/>
                          </a:schemeClr>
                        </a:solidFill>
                      </a:tcPr>
                    </a:tc>
                    <a:tc>
                      <a:txBody>
                        <a:bodyPr/>
                        <a:lstStyle/>
                        <a:p>
                          <a:endParaRPr lang="en-GB" sz="1100" dirty="0"/>
                        </a:p>
                      </a:txBody>
                      <a:tcPr>
                        <a:solidFill>
                          <a:srgbClr val="7030A0"/>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r>
                </a:tbl>
              </a:graphicData>
            </a:graphic>
          </p:graphicFrame>
        </mc:Fallback>
      </mc:AlternateContent>
      <p:graphicFrame>
        <p:nvGraphicFramePr>
          <p:cNvPr id="19" name="Table 18"/>
          <p:cNvGraphicFramePr>
            <a:graphicFrameLocks noGrp="1"/>
          </p:cNvGraphicFramePr>
          <p:nvPr>
            <p:extLst>
              <p:ext uri="{D42A27DB-BD31-4B8C-83A1-F6EECF244321}">
                <p14:modId xmlns:p14="http://schemas.microsoft.com/office/powerpoint/2010/main" val="1653301888"/>
              </p:ext>
            </p:extLst>
          </p:nvPr>
        </p:nvGraphicFramePr>
        <p:xfrm>
          <a:off x="152400" y="1156041"/>
          <a:ext cx="790575" cy="4663440"/>
        </p:xfrm>
        <a:graphic>
          <a:graphicData uri="http://schemas.openxmlformats.org/drawingml/2006/table">
            <a:tbl>
              <a:tblPr firstRow="1" bandRow="1">
                <a:tableStyleId>{5C22544A-7EE6-4342-B048-85BDC9FD1C3A}</a:tableStyleId>
              </a:tblPr>
              <a:tblGrid>
                <a:gridCol w="790575">
                  <a:extLst>
                    <a:ext uri="{9D8B030D-6E8A-4147-A177-3AD203B41FA5}">
                      <a16:colId xmlns:a16="http://schemas.microsoft.com/office/drawing/2014/main" val="20000"/>
                    </a:ext>
                  </a:extLst>
                </a:gridCol>
              </a:tblGrid>
              <a:tr h="259080">
                <a:tc>
                  <a:txBody>
                    <a:bodyPr/>
                    <a:lstStyle/>
                    <a:p>
                      <a:pPr algn="r"/>
                      <a:endParaRPr lang="en-GB" sz="11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9080">
                <a:tc>
                  <a:txBody>
                    <a:bodyPr/>
                    <a:lstStyle/>
                    <a:p>
                      <a:pPr algn="r"/>
                      <a:r>
                        <a:rPr lang="en-GB" sz="1100" dirty="0"/>
                        <a:t>Sample1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9080">
                <a:tc>
                  <a:txBody>
                    <a:bodyPr/>
                    <a:lstStyle/>
                    <a:p>
                      <a:pPr algn="r"/>
                      <a:r>
                        <a:rPr lang="en-GB" sz="1100" dirty="0"/>
                        <a:t>Sample2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9080">
                <a:tc>
                  <a:txBody>
                    <a:bodyPr/>
                    <a:lstStyle/>
                    <a:p>
                      <a:pPr algn="r"/>
                      <a:r>
                        <a:rPr lang="en-GB" sz="1100" dirty="0"/>
                        <a:t>Sample3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9080">
                <a:tc>
                  <a:txBody>
                    <a:bodyPr/>
                    <a:lstStyle/>
                    <a:p>
                      <a:pPr algn="r"/>
                      <a:r>
                        <a:rPr lang="en-GB" sz="1100" dirty="0"/>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9080">
                <a:tc>
                  <a:txBody>
                    <a:bodyPr/>
                    <a:lstStyle/>
                    <a:p>
                      <a:pPr algn="r"/>
                      <a:r>
                        <a:rPr lang="en-GB" sz="1100" dirty="0"/>
                        <a:t>Sample 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mc:AlternateContent xmlns:mc="http://schemas.openxmlformats.org/markup-compatibility/2006" xmlns:a14="http://schemas.microsoft.com/office/drawing/2010/main">
        <mc:Choice Requires="a14">
          <p:graphicFrame>
            <p:nvGraphicFramePr>
              <p:cNvPr id="20" name="Table 19"/>
              <p:cNvGraphicFramePr>
                <a:graphicFrameLocks noGrp="1"/>
              </p:cNvGraphicFramePr>
              <p:nvPr>
                <p:extLst>
                  <p:ext uri="{D42A27DB-BD31-4B8C-83A1-F6EECF244321}">
                    <p14:modId xmlns:p14="http://schemas.microsoft.com/office/powerpoint/2010/main" val="1559548122"/>
                  </p:ext>
                </p:extLst>
              </p:nvPr>
            </p:nvGraphicFramePr>
            <p:xfrm>
              <a:off x="4327312" y="2192464"/>
              <a:ext cx="2225888" cy="2072640"/>
            </p:xfrm>
            <a:graphic>
              <a:graphicData uri="http://schemas.openxmlformats.org/drawingml/2006/table">
                <a:tbl>
                  <a:tblPr firstRow="1" bandRow="1">
                    <a:tableStyleId>{5C22544A-7EE6-4342-B048-85BDC9FD1C3A}</a:tableStyleId>
                  </a:tblPr>
                  <a:tblGrid>
                    <a:gridCol w="317984">
                      <a:extLst>
                        <a:ext uri="{9D8B030D-6E8A-4147-A177-3AD203B41FA5}">
                          <a16:colId xmlns:a16="http://schemas.microsoft.com/office/drawing/2014/main" val="20000"/>
                        </a:ext>
                      </a:extLst>
                    </a:gridCol>
                    <a:gridCol w="317984">
                      <a:extLst>
                        <a:ext uri="{9D8B030D-6E8A-4147-A177-3AD203B41FA5}">
                          <a16:colId xmlns:a16="http://schemas.microsoft.com/office/drawing/2014/main" val="20001"/>
                        </a:ext>
                      </a:extLst>
                    </a:gridCol>
                    <a:gridCol w="317984">
                      <a:extLst>
                        <a:ext uri="{9D8B030D-6E8A-4147-A177-3AD203B41FA5}">
                          <a16:colId xmlns:a16="http://schemas.microsoft.com/office/drawing/2014/main" val="20002"/>
                        </a:ext>
                      </a:extLst>
                    </a:gridCol>
                    <a:gridCol w="317984">
                      <a:extLst>
                        <a:ext uri="{9D8B030D-6E8A-4147-A177-3AD203B41FA5}">
                          <a16:colId xmlns:a16="http://schemas.microsoft.com/office/drawing/2014/main" val="20003"/>
                        </a:ext>
                      </a:extLst>
                    </a:gridCol>
                    <a:gridCol w="317984">
                      <a:extLst>
                        <a:ext uri="{9D8B030D-6E8A-4147-A177-3AD203B41FA5}">
                          <a16:colId xmlns:a16="http://schemas.microsoft.com/office/drawing/2014/main" val="20004"/>
                        </a:ext>
                      </a:extLst>
                    </a:gridCol>
                    <a:gridCol w="317984">
                      <a:extLst>
                        <a:ext uri="{9D8B030D-6E8A-4147-A177-3AD203B41FA5}">
                          <a16:colId xmlns:a16="http://schemas.microsoft.com/office/drawing/2014/main" val="20005"/>
                        </a:ext>
                      </a:extLst>
                    </a:gridCol>
                    <a:gridCol w="317984">
                      <a:extLst>
                        <a:ext uri="{9D8B030D-6E8A-4147-A177-3AD203B41FA5}">
                          <a16:colId xmlns:a16="http://schemas.microsoft.com/office/drawing/2014/main" val="20006"/>
                        </a:ext>
                      </a:extLst>
                    </a:gridCol>
                  </a:tblGrid>
                  <a:tr h="259080">
                    <a:tc>
                      <a:txBody>
                        <a:bodyPr/>
                        <a:lstStyle/>
                        <a:p>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i="1" dirty="0" smtClean="0">
                                        <a:latin typeface="Cambria Math"/>
                                      </a:rPr>
                                      <m:t>1</m:t>
                                    </m:r>
                                  </m:sub>
                                </m:sSub>
                              </m:oMath>
                            </m:oMathPara>
                          </a14:m>
                          <a:endParaRPr lang="en-GB" sz="1100" dirty="0"/>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b="1" i="1" dirty="0" smtClean="0">
                                        <a:latin typeface="Cambria Math"/>
                                      </a:rPr>
                                      <m:t>𝟐</m:t>
                                    </m:r>
                                  </m:sub>
                                </m:sSub>
                              </m:oMath>
                            </m:oMathPara>
                          </a14:m>
                          <a:endParaRPr lang="en-GB" sz="1100" dirty="0"/>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b="1" i="1" dirty="0" smtClean="0">
                                        <a:latin typeface="Cambria Math"/>
                                      </a:rPr>
                                      <m:t>𝟑</m:t>
                                    </m:r>
                                  </m:sub>
                                </m:sSub>
                              </m:oMath>
                            </m:oMathPara>
                          </a14:m>
                          <a:endParaRPr lang="en-GB" sz="1100" dirty="0"/>
                        </a:p>
                      </a:txBody>
                      <a:tcPr>
                        <a:solidFill>
                          <a:schemeClr val="tx1"/>
                        </a:solidFill>
                      </a:tcPr>
                    </a:tc>
                    <a:tc>
                      <a:txBody>
                        <a:bodyPr/>
                        <a:lstStyle/>
                        <a:p>
                          <a:r>
                            <a:rPr lang="en-GB" sz="1100" dirty="0"/>
                            <a:t>.</a:t>
                          </a:r>
                        </a:p>
                      </a:txBody>
                      <a:tcPr>
                        <a:solidFill>
                          <a:schemeClr val="tx1"/>
                        </a:solidFill>
                      </a:tcPr>
                    </a:tc>
                    <a:tc>
                      <a:txBody>
                        <a:bodyPr/>
                        <a:lstStyle/>
                        <a:p>
                          <a:r>
                            <a:rPr lang="en-GB" sz="1100" dirty="0"/>
                            <a:t>.</a:t>
                          </a:r>
                        </a:p>
                      </a:txBody>
                      <a:tcPr>
                        <a:solidFill>
                          <a:schemeClr val="tx1"/>
                        </a:solidFill>
                      </a:tcPr>
                    </a:tc>
                    <a:tc>
                      <a:txBody>
                        <a:bodyPr/>
                        <a:lstStyle/>
                        <a:p>
                          <a:r>
                            <a:rPr lang="en-GB" sz="1100" dirty="0"/>
                            <a:t>.</a:t>
                          </a:r>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𝒗</m:t>
                                    </m:r>
                                  </m:e>
                                  <m:sub>
                                    <m:r>
                                      <a:rPr lang="en-GB" sz="1100" b="1" i="1" dirty="0" smtClean="0">
                                        <a:latin typeface="Cambria Math"/>
                                      </a:rPr>
                                      <m:t>𝒎</m:t>
                                    </m:r>
                                  </m:sub>
                                </m:sSub>
                              </m:oMath>
                            </m:oMathPara>
                          </a14:m>
                          <a:endParaRPr lang="en-GB" sz="1100" dirty="0"/>
                        </a:p>
                      </a:txBody>
                      <a:tcPr>
                        <a:solidFill>
                          <a:schemeClr val="tx1"/>
                        </a:solidFill>
                      </a:tcPr>
                    </a:tc>
                    <a:extLst>
                      <a:ext uri="{0D108BD9-81ED-4DB2-BD59-A6C34878D82A}">
                        <a16:rowId xmlns:a16="http://schemas.microsoft.com/office/drawing/2014/main" val="10000"/>
                      </a:ext>
                    </a:extLst>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bg2"/>
                        </a:solidFill>
                      </a:tcPr>
                    </a:tc>
                    <a:tc>
                      <a:txBody>
                        <a:bodyPr/>
                        <a:lstStyle/>
                        <a:p>
                          <a:endParaRPr lang="en-GB" sz="1100" dirty="0"/>
                        </a:p>
                      </a:txBody>
                      <a:tcPr>
                        <a:solidFill>
                          <a:schemeClr val="bg2"/>
                        </a:solidFill>
                      </a:tcPr>
                    </a:tc>
                    <a:tc>
                      <a:txBody>
                        <a:bodyPr/>
                        <a:lstStyle/>
                        <a:p>
                          <a:endParaRPr lang="en-GB" sz="1100"/>
                        </a:p>
                      </a:txBody>
                      <a:tcPr>
                        <a:solidFill>
                          <a:schemeClr val="bg2"/>
                        </a:solidFill>
                      </a:tcPr>
                    </a:tc>
                    <a:extLst>
                      <a:ext uri="{0D108BD9-81ED-4DB2-BD59-A6C34878D82A}">
                        <a16:rowId xmlns:a16="http://schemas.microsoft.com/office/drawing/2014/main" val="10001"/>
                      </a:ext>
                    </a:extLst>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bg2"/>
                        </a:solidFill>
                      </a:tcPr>
                    </a:tc>
                    <a:tc>
                      <a:txBody>
                        <a:bodyPr/>
                        <a:lstStyle/>
                        <a:p>
                          <a:endParaRPr lang="en-GB" sz="1100" dirty="0"/>
                        </a:p>
                      </a:txBody>
                      <a:tcPr>
                        <a:solidFill>
                          <a:schemeClr val="bg2"/>
                        </a:solidFill>
                      </a:tcPr>
                    </a:tc>
                    <a:tc>
                      <a:txBody>
                        <a:bodyPr/>
                        <a:lstStyle/>
                        <a:p>
                          <a:endParaRPr lang="en-GB" sz="1100" dirty="0"/>
                        </a:p>
                      </a:txBody>
                      <a:tcPr>
                        <a:solidFill>
                          <a:schemeClr val="bg2"/>
                        </a:solidFill>
                      </a:tcPr>
                    </a:tc>
                    <a:extLst>
                      <a:ext uri="{0D108BD9-81ED-4DB2-BD59-A6C34878D82A}">
                        <a16:rowId xmlns:a16="http://schemas.microsoft.com/office/drawing/2014/main" val="10002"/>
                      </a:ext>
                    </a:extLst>
                  </a:tr>
                  <a:tr h="259080">
                    <a:tc>
                      <a:txBody>
                        <a:bodyPr/>
                        <a:lstStyle/>
                        <a:p>
                          <a:endParaRPr lang="en-GB" sz="1100" dirty="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extLst>
                      <a:ext uri="{0D108BD9-81ED-4DB2-BD59-A6C34878D82A}">
                        <a16:rowId xmlns:a16="http://schemas.microsoft.com/office/drawing/2014/main" val="10003"/>
                      </a:ext>
                    </a:extLst>
                  </a:tr>
                  <a:tr h="259080">
                    <a:tc>
                      <a:txBody>
                        <a:bodyPr/>
                        <a:lstStyle/>
                        <a:p>
                          <a:endParaRPr lang="en-GB" sz="1100" dirty="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extLst>
                      <a:ext uri="{0D108BD9-81ED-4DB2-BD59-A6C34878D82A}">
                        <a16:rowId xmlns:a16="http://schemas.microsoft.com/office/drawing/2014/main" val="10004"/>
                      </a:ext>
                    </a:extLst>
                  </a:tr>
                  <a:tr h="259080">
                    <a:tc>
                      <a:txBody>
                        <a:bodyPr/>
                        <a:lstStyle/>
                        <a:p>
                          <a:endParaRPr lang="en-GB" sz="1100"/>
                        </a:p>
                      </a:txBody>
                      <a:tcPr>
                        <a:solidFill>
                          <a:schemeClr val="bg2"/>
                        </a:solidFill>
                      </a:tcPr>
                    </a:tc>
                    <a:tc>
                      <a:txBody>
                        <a:bodyPr/>
                        <a:lstStyle/>
                        <a:p>
                          <a:endParaRPr lang="en-GB" sz="1100" dirty="0"/>
                        </a:p>
                      </a:txBody>
                      <a:tcPr>
                        <a:solidFill>
                          <a:schemeClr val="bg2"/>
                        </a:solidFill>
                      </a:tcPr>
                    </a:tc>
                    <a:tc>
                      <a:txBody>
                        <a:bodyPr/>
                        <a:lstStyle/>
                        <a:p>
                          <a:endParaRPr lang="en-GB" sz="1100" dirty="0"/>
                        </a:p>
                      </a:txBody>
                      <a:tcPr>
                        <a:solidFill>
                          <a:schemeClr val="bg1">
                            <a:lumMod val="85000"/>
                          </a:schemeClr>
                        </a:solidFill>
                      </a:tcPr>
                    </a:tc>
                    <a:tc>
                      <a:txBody>
                        <a:bodyPr/>
                        <a:lstStyle/>
                        <a:p>
                          <a:endParaRPr lang="en-GB" sz="1100"/>
                        </a:p>
                      </a:txBody>
                      <a:tcPr>
                        <a:solidFill>
                          <a:schemeClr val="bg1">
                            <a:lumMod val="85000"/>
                          </a:schemeClr>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5"/>
                      </a:ext>
                    </a:extLst>
                  </a:tr>
                  <a:tr h="259080">
                    <a:tc>
                      <a:txBody>
                        <a:bodyPr/>
                        <a:lstStyle/>
                        <a:p>
                          <a:endParaRPr lang="en-GB" sz="1100"/>
                        </a:p>
                      </a:txBody>
                      <a:tcPr>
                        <a:solidFill>
                          <a:schemeClr val="bg2"/>
                        </a:solidFill>
                      </a:tcPr>
                    </a:tc>
                    <a:tc>
                      <a:txBody>
                        <a:bodyPr/>
                        <a:lstStyle/>
                        <a:p>
                          <a:endParaRPr lang="en-GB" sz="1100" dirty="0"/>
                        </a:p>
                      </a:txBody>
                      <a:tcPr>
                        <a:solidFill>
                          <a:schemeClr val="bg2"/>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6"/>
                      </a:ext>
                    </a:extLst>
                  </a:tr>
                  <a:tr h="259080">
                    <a:tc>
                      <a:txBody>
                        <a:bodyPr/>
                        <a:lstStyle/>
                        <a:p>
                          <a:endParaRPr lang="en-GB" sz="1100"/>
                        </a:p>
                      </a:txBody>
                      <a:tcPr>
                        <a:solidFill>
                          <a:schemeClr val="bg2"/>
                        </a:solidFill>
                      </a:tcPr>
                    </a:tc>
                    <a:tc>
                      <a:txBody>
                        <a:bodyPr/>
                        <a:lstStyle/>
                        <a:p>
                          <a:endParaRPr lang="en-GB" sz="1100" dirty="0"/>
                        </a:p>
                      </a:txBody>
                      <a:tcPr>
                        <a:solidFill>
                          <a:schemeClr val="bg2"/>
                        </a:solidFill>
                      </a:tcPr>
                    </a:tc>
                    <a:tc>
                      <a:txBody>
                        <a:bodyPr/>
                        <a:lstStyle/>
                        <a:p>
                          <a:endParaRPr lang="en-GB" sz="110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extLst>
                      <a:ext uri="{0D108BD9-81ED-4DB2-BD59-A6C34878D82A}">
                        <a16:rowId xmlns:a16="http://schemas.microsoft.com/office/drawing/2014/main" val="10007"/>
                      </a:ext>
                    </a:extLst>
                  </a:tr>
                </a:tbl>
              </a:graphicData>
            </a:graphic>
          </p:graphicFrame>
        </mc:Choice>
        <mc:Fallback xmlns="">
          <p:graphicFrame>
            <p:nvGraphicFramePr>
              <p:cNvPr id="20" name="Table 19"/>
              <p:cNvGraphicFramePr>
                <a:graphicFrameLocks noGrp="1"/>
              </p:cNvGraphicFramePr>
              <p:nvPr>
                <p:extLst>
                  <p:ext uri="{D42A27DB-BD31-4B8C-83A1-F6EECF244321}">
                    <p14:modId xmlns:p14="http://schemas.microsoft.com/office/powerpoint/2010/main" val="1559548122"/>
                  </p:ext>
                </p:extLst>
              </p:nvPr>
            </p:nvGraphicFramePr>
            <p:xfrm>
              <a:off x="4327312" y="2192464"/>
              <a:ext cx="2225888" cy="2072640"/>
            </p:xfrm>
            <a:graphic>
              <a:graphicData uri="http://schemas.openxmlformats.org/drawingml/2006/table">
                <a:tbl>
                  <a:tblPr firstRow="1" bandRow="1">
                    <a:tableStyleId>{5C22544A-7EE6-4342-B048-85BDC9FD1C3A}</a:tableStyleId>
                  </a:tblPr>
                  <a:tblGrid>
                    <a:gridCol w="317984"/>
                    <a:gridCol w="317984"/>
                    <a:gridCol w="317984"/>
                    <a:gridCol w="317984"/>
                    <a:gridCol w="317984"/>
                    <a:gridCol w="317984"/>
                    <a:gridCol w="317984"/>
                  </a:tblGrid>
                  <a:tr h="259080">
                    <a:tc>
                      <a:txBody>
                        <a:bodyPr/>
                        <a:lstStyle/>
                        <a:p>
                          <a:endParaRPr lang="en-US"/>
                        </a:p>
                      </a:txBody>
                      <a:tcPr>
                        <a:blipFill rotWithShape="1">
                          <a:blip r:embed="rId4"/>
                          <a:stretch>
                            <a:fillRect l="-1923" t="-2326" r="-601923" b="-690698"/>
                          </a:stretch>
                        </a:blipFill>
                      </a:tcPr>
                    </a:tc>
                    <a:tc>
                      <a:txBody>
                        <a:bodyPr/>
                        <a:lstStyle/>
                        <a:p>
                          <a:endParaRPr lang="en-US"/>
                        </a:p>
                      </a:txBody>
                      <a:tcPr>
                        <a:blipFill rotWithShape="1">
                          <a:blip r:embed="rId4"/>
                          <a:stretch>
                            <a:fillRect l="-101923" t="-2326" r="-501923" b="-690698"/>
                          </a:stretch>
                        </a:blipFill>
                      </a:tcPr>
                    </a:tc>
                    <a:tc>
                      <a:txBody>
                        <a:bodyPr/>
                        <a:lstStyle/>
                        <a:p>
                          <a:endParaRPr lang="en-US"/>
                        </a:p>
                      </a:txBody>
                      <a:tcPr>
                        <a:blipFill rotWithShape="1">
                          <a:blip r:embed="rId4"/>
                          <a:stretch>
                            <a:fillRect l="-201923" t="-2326" r="-401923" b="-690698"/>
                          </a:stretch>
                        </a:blipFill>
                      </a:tcPr>
                    </a:tc>
                    <a:tc>
                      <a:txBody>
                        <a:bodyPr/>
                        <a:lstStyle/>
                        <a:p>
                          <a:r>
                            <a:rPr lang="en-GB" sz="1100" dirty="0" smtClean="0"/>
                            <a:t>.</a:t>
                          </a:r>
                          <a:endParaRPr lang="en-GB" sz="1100" dirty="0"/>
                        </a:p>
                      </a:txBody>
                      <a:tcPr>
                        <a:solidFill>
                          <a:schemeClr val="tx1"/>
                        </a:solidFill>
                      </a:tcPr>
                    </a:tc>
                    <a:tc>
                      <a:txBody>
                        <a:bodyPr/>
                        <a:lstStyle/>
                        <a:p>
                          <a:r>
                            <a:rPr lang="en-GB" sz="1100" dirty="0" smtClean="0"/>
                            <a:t>.</a:t>
                          </a:r>
                          <a:endParaRPr lang="en-GB" sz="1100" dirty="0"/>
                        </a:p>
                      </a:txBody>
                      <a:tcPr>
                        <a:solidFill>
                          <a:schemeClr val="tx1"/>
                        </a:solidFill>
                      </a:tcPr>
                    </a:tc>
                    <a:tc>
                      <a:txBody>
                        <a:bodyPr/>
                        <a:lstStyle/>
                        <a:p>
                          <a:r>
                            <a:rPr lang="en-GB" sz="1100" dirty="0" smtClean="0"/>
                            <a:t>.</a:t>
                          </a:r>
                          <a:endParaRPr lang="en-GB" sz="1100" dirty="0"/>
                        </a:p>
                      </a:txBody>
                      <a:tcPr>
                        <a:solidFill>
                          <a:schemeClr val="tx1"/>
                        </a:solidFill>
                      </a:tcPr>
                    </a:tc>
                    <a:tc>
                      <a:txBody>
                        <a:bodyPr/>
                        <a:lstStyle/>
                        <a:p>
                          <a:endParaRPr lang="en-US"/>
                        </a:p>
                      </a:txBody>
                      <a:tcPr>
                        <a:blipFill rotWithShape="1">
                          <a:blip r:embed="rId4"/>
                          <a:stretch>
                            <a:fillRect l="-603846" t="-2326" b="-690698"/>
                          </a:stretch>
                        </a:blipFill>
                      </a:tcPr>
                    </a:tc>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bg2"/>
                        </a:solidFill>
                      </a:tcPr>
                    </a:tc>
                    <a:tc>
                      <a:txBody>
                        <a:bodyPr/>
                        <a:lstStyle/>
                        <a:p>
                          <a:endParaRPr lang="en-GB" sz="1100" dirty="0"/>
                        </a:p>
                      </a:txBody>
                      <a:tcPr>
                        <a:solidFill>
                          <a:schemeClr val="bg2"/>
                        </a:solidFill>
                      </a:tcPr>
                    </a:tc>
                    <a:tc>
                      <a:txBody>
                        <a:bodyPr/>
                        <a:lstStyle/>
                        <a:p>
                          <a:endParaRPr lang="en-GB" sz="1100"/>
                        </a:p>
                      </a:txBody>
                      <a:tcPr>
                        <a:solidFill>
                          <a:schemeClr val="bg2"/>
                        </a:solidFill>
                      </a:tcPr>
                    </a:tc>
                  </a:tr>
                  <a:tr h="259080">
                    <a:tc>
                      <a:txBody>
                        <a:bodyPr/>
                        <a:lstStyle/>
                        <a:p>
                          <a:endParaRPr lang="en-GB" sz="1100" dirty="0"/>
                        </a:p>
                      </a:txBody>
                      <a:tcPr>
                        <a:solidFill>
                          <a:srgbClr val="00B050"/>
                        </a:solidFill>
                      </a:tcPr>
                    </a:tc>
                    <a:tc>
                      <a:txBody>
                        <a:bodyPr/>
                        <a:lstStyle/>
                        <a:p>
                          <a:endParaRPr lang="en-GB" sz="1100" dirty="0"/>
                        </a:p>
                      </a:txBody>
                      <a:tcPr>
                        <a:solidFill>
                          <a:srgbClr val="00B050"/>
                        </a:solidFill>
                      </a:tcPr>
                    </a:tc>
                    <a:tc>
                      <a:txBody>
                        <a:bodyPr/>
                        <a:lstStyle/>
                        <a:p>
                          <a:endParaRPr lang="en-GB" sz="110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bg2"/>
                        </a:solidFill>
                      </a:tcPr>
                    </a:tc>
                    <a:tc>
                      <a:txBody>
                        <a:bodyPr/>
                        <a:lstStyle/>
                        <a:p>
                          <a:endParaRPr lang="en-GB" sz="1100" dirty="0"/>
                        </a:p>
                      </a:txBody>
                      <a:tcPr>
                        <a:solidFill>
                          <a:schemeClr val="bg2"/>
                        </a:solidFill>
                      </a:tcPr>
                    </a:tc>
                    <a:tc>
                      <a:txBody>
                        <a:bodyPr/>
                        <a:lstStyle/>
                        <a:p>
                          <a:endParaRPr lang="en-GB" sz="1100" dirty="0"/>
                        </a:p>
                      </a:txBody>
                      <a:tcPr>
                        <a:solidFill>
                          <a:schemeClr val="bg2"/>
                        </a:solidFill>
                      </a:tcPr>
                    </a:tc>
                  </a:tr>
                  <a:tr h="259080">
                    <a:tc>
                      <a:txBody>
                        <a:bodyPr/>
                        <a:lstStyle/>
                        <a:p>
                          <a:endParaRPr lang="en-GB" sz="1100" dirty="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tr>
                  <a:tr h="259080">
                    <a:tc>
                      <a:txBody>
                        <a:bodyPr/>
                        <a:lstStyle/>
                        <a:p>
                          <a:endParaRPr lang="en-GB" sz="1100" dirty="0"/>
                        </a:p>
                      </a:txBody>
                      <a:tcPr>
                        <a:solidFill>
                          <a:schemeClr val="bg2">
                            <a:lumMod val="90000"/>
                          </a:schemeClr>
                        </a:solidFill>
                      </a:tcPr>
                    </a:tc>
                    <a:tc>
                      <a:txBody>
                        <a:bodyPr/>
                        <a:lstStyle/>
                        <a:p>
                          <a:endParaRPr lang="en-GB" sz="1100" dirty="0"/>
                        </a:p>
                      </a:txBody>
                      <a:tcPr>
                        <a:solidFill>
                          <a:schemeClr val="bg2">
                            <a:lumMod val="9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tr>
                  <a:tr h="259080">
                    <a:tc>
                      <a:txBody>
                        <a:bodyPr/>
                        <a:lstStyle/>
                        <a:p>
                          <a:endParaRPr lang="en-GB" sz="1100"/>
                        </a:p>
                      </a:txBody>
                      <a:tcPr>
                        <a:solidFill>
                          <a:schemeClr val="bg2"/>
                        </a:solidFill>
                      </a:tcPr>
                    </a:tc>
                    <a:tc>
                      <a:txBody>
                        <a:bodyPr/>
                        <a:lstStyle/>
                        <a:p>
                          <a:endParaRPr lang="en-GB" sz="1100" dirty="0"/>
                        </a:p>
                      </a:txBody>
                      <a:tcPr>
                        <a:solidFill>
                          <a:schemeClr val="bg2"/>
                        </a:solidFill>
                      </a:tcPr>
                    </a:tc>
                    <a:tc>
                      <a:txBody>
                        <a:bodyPr/>
                        <a:lstStyle/>
                        <a:p>
                          <a:endParaRPr lang="en-GB" sz="1100" dirty="0"/>
                        </a:p>
                      </a:txBody>
                      <a:tcPr>
                        <a:solidFill>
                          <a:schemeClr val="bg1">
                            <a:lumMod val="85000"/>
                          </a:schemeClr>
                        </a:solidFill>
                      </a:tcPr>
                    </a:tc>
                    <a:tc>
                      <a:txBody>
                        <a:bodyPr/>
                        <a:lstStyle/>
                        <a:p>
                          <a:endParaRPr lang="en-GB" sz="1100"/>
                        </a:p>
                      </a:txBody>
                      <a:tcPr>
                        <a:solidFill>
                          <a:schemeClr val="bg1">
                            <a:lumMod val="85000"/>
                          </a:schemeClr>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chemeClr val="bg2"/>
                        </a:solidFill>
                      </a:tcPr>
                    </a:tc>
                    <a:tc>
                      <a:txBody>
                        <a:bodyPr/>
                        <a:lstStyle/>
                        <a:p>
                          <a:endParaRPr lang="en-GB" sz="1100" dirty="0"/>
                        </a:p>
                      </a:txBody>
                      <a:tcPr>
                        <a:solidFill>
                          <a:schemeClr val="bg2"/>
                        </a:solidFill>
                      </a:tcPr>
                    </a:tc>
                    <a:tc>
                      <a:txBody>
                        <a:bodyPr/>
                        <a:lstStyle/>
                        <a:p>
                          <a:endParaRPr lang="en-GB" sz="1100" dirty="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r h="259080">
                    <a:tc>
                      <a:txBody>
                        <a:bodyPr/>
                        <a:lstStyle/>
                        <a:p>
                          <a:endParaRPr lang="en-GB" sz="1100"/>
                        </a:p>
                      </a:txBody>
                      <a:tcPr>
                        <a:solidFill>
                          <a:schemeClr val="bg2"/>
                        </a:solidFill>
                      </a:tcPr>
                    </a:tc>
                    <a:tc>
                      <a:txBody>
                        <a:bodyPr/>
                        <a:lstStyle/>
                        <a:p>
                          <a:endParaRPr lang="en-GB" sz="1100" dirty="0"/>
                        </a:p>
                      </a:txBody>
                      <a:tcPr>
                        <a:solidFill>
                          <a:schemeClr val="bg2"/>
                        </a:solidFill>
                      </a:tcPr>
                    </a:tc>
                    <a:tc>
                      <a:txBody>
                        <a:bodyPr/>
                        <a:lstStyle/>
                        <a:p>
                          <a:endParaRPr lang="en-GB" sz="1100"/>
                        </a:p>
                      </a:txBody>
                      <a:tcPr>
                        <a:solidFill>
                          <a:schemeClr val="bg1">
                            <a:lumMod val="85000"/>
                          </a:schemeClr>
                        </a:solidFill>
                      </a:tcPr>
                    </a:tc>
                    <a:tc>
                      <a:txBody>
                        <a:bodyPr/>
                        <a:lstStyle/>
                        <a:p>
                          <a:endParaRPr lang="en-GB" sz="1100" dirty="0"/>
                        </a:p>
                      </a:txBody>
                      <a:tcPr>
                        <a:solidFill>
                          <a:schemeClr val="bg1">
                            <a:lumMod val="85000"/>
                          </a:schemeClr>
                        </a:solidFill>
                      </a:tcPr>
                    </a:tc>
                    <a:tc>
                      <a:txBody>
                        <a:bodyPr/>
                        <a:lstStyle/>
                        <a:p>
                          <a:endParaRPr lang="en-GB" sz="1100"/>
                        </a:p>
                      </a:txBody>
                      <a:tcPr>
                        <a:solidFill>
                          <a:srgbClr val="7030A0"/>
                        </a:solidFill>
                      </a:tcPr>
                    </a:tc>
                    <a:tc>
                      <a:txBody>
                        <a:bodyPr/>
                        <a:lstStyle/>
                        <a:p>
                          <a:endParaRPr lang="en-GB" sz="1100" dirty="0"/>
                        </a:p>
                      </a:txBody>
                      <a:tcPr>
                        <a:solidFill>
                          <a:srgbClr val="7030A0"/>
                        </a:solidFill>
                      </a:tcPr>
                    </a:tc>
                    <a:tc>
                      <a:txBody>
                        <a:bodyPr/>
                        <a:lstStyle/>
                        <a:p>
                          <a:endParaRPr lang="en-GB" sz="1100" dirty="0"/>
                        </a:p>
                      </a:txBody>
                      <a:tcPr>
                        <a:solidFill>
                          <a:srgbClr val="7030A0"/>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1" name="Table 20"/>
              <p:cNvGraphicFramePr>
                <a:graphicFrameLocks noGrp="1"/>
              </p:cNvGraphicFramePr>
              <p:nvPr>
                <p:extLst>
                  <p:ext uri="{D42A27DB-BD31-4B8C-83A1-F6EECF244321}">
                    <p14:modId xmlns:p14="http://schemas.microsoft.com/office/powerpoint/2010/main" val="1008031816"/>
                  </p:ext>
                </p:extLst>
              </p:nvPr>
            </p:nvGraphicFramePr>
            <p:xfrm>
              <a:off x="3988450" y="2194560"/>
              <a:ext cx="320511" cy="2072640"/>
            </p:xfrm>
            <a:graphic>
              <a:graphicData uri="http://schemas.openxmlformats.org/drawingml/2006/table">
                <a:tbl>
                  <a:tblPr firstCol="1">
                    <a:tableStyleId>{073A0DAA-6AF3-43AB-8588-CEC1D06C72B9}</a:tableStyleId>
                  </a:tblPr>
                  <a:tblGrid>
                    <a:gridCol w="320511">
                      <a:extLst>
                        <a:ext uri="{9D8B030D-6E8A-4147-A177-3AD203B41FA5}">
                          <a16:colId xmlns:a16="http://schemas.microsoft.com/office/drawing/2014/main" val="20000"/>
                        </a:ext>
                      </a:extLst>
                    </a:gridCol>
                  </a:tblGrid>
                  <a:tr h="259080">
                    <a:tc>
                      <a:txBody>
                        <a:bodyPr/>
                        <a:lstStyle/>
                        <a:p>
                          <a:pPr algn="r"/>
                          <a:endParaRPr lang="en-GB" sz="1100" dirty="0"/>
                        </a:p>
                      </a:txBody>
                      <a:tcPr>
                        <a:noFill/>
                      </a:tcPr>
                    </a:tc>
                    <a:extLst>
                      <a:ext uri="{0D108BD9-81ED-4DB2-BD59-A6C34878D82A}">
                        <a16:rowId xmlns:a16="http://schemas.microsoft.com/office/drawing/2014/main" val="10000"/>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b="1" i="1" smtClean="0">
                                        <a:latin typeface="Cambria Math" panose="02040503050406030204" pitchFamily="18" charset="0"/>
                                      </a:rPr>
                                    </m:ctrlPr>
                                  </m:sSubPr>
                                  <m:e>
                                    <m:r>
                                      <a:rPr lang="en-GB" sz="1100" b="1" i="1" smtClean="0">
                                        <a:latin typeface="Cambria Math"/>
                                      </a:rPr>
                                      <m:t>𝒗</m:t>
                                    </m:r>
                                  </m:e>
                                  <m:sub>
                                    <m:r>
                                      <a:rPr lang="en-GB" sz="1100" b="1" i="1" smtClean="0">
                                        <a:latin typeface="Cambria Math"/>
                                      </a:rPr>
                                      <m:t>𝟏</m:t>
                                    </m:r>
                                  </m:sub>
                                </m:sSub>
                              </m:oMath>
                            </m:oMathPara>
                          </a14:m>
                          <a:endParaRPr lang="en-GB" sz="1100" b="1" dirty="0"/>
                        </a:p>
                      </a:txBody>
                      <a:tcPr/>
                    </a:tc>
                    <a:extLst>
                      <a:ext uri="{0D108BD9-81ED-4DB2-BD59-A6C34878D82A}">
                        <a16:rowId xmlns:a16="http://schemas.microsoft.com/office/drawing/2014/main" val="10001"/>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b="1" i="1" smtClean="0">
                                        <a:latin typeface="Cambria Math" panose="02040503050406030204" pitchFamily="18" charset="0"/>
                                      </a:rPr>
                                    </m:ctrlPr>
                                  </m:sSubPr>
                                  <m:e>
                                    <m:r>
                                      <a:rPr lang="en-GB" sz="1100" b="1" i="1" smtClean="0">
                                        <a:latin typeface="Cambria Math"/>
                                      </a:rPr>
                                      <m:t>𝒗</m:t>
                                    </m:r>
                                  </m:e>
                                  <m:sub>
                                    <m:r>
                                      <a:rPr lang="en-GB" sz="1100" b="1" i="1" smtClean="0">
                                        <a:latin typeface="Cambria Math"/>
                                      </a:rPr>
                                      <m:t>𝟐</m:t>
                                    </m:r>
                                  </m:sub>
                                </m:sSub>
                              </m:oMath>
                            </m:oMathPara>
                          </a14:m>
                          <a:endParaRPr lang="en-GB" sz="1100" b="1" dirty="0"/>
                        </a:p>
                      </a:txBody>
                      <a:tcPr/>
                    </a:tc>
                    <a:extLst>
                      <a:ext uri="{0D108BD9-81ED-4DB2-BD59-A6C34878D82A}">
                        <a16:rowId xmlns:a16="http://schemas.microsoft.com/office/drawing/2014/main" val="10002"/>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b="1" i="1" smtClean="0">
                                        <a:latin typeface="Cambria Math" panose="02040503050406030204" pitchFamily="18" charset="0"/>
                                      </a:rPr>
                                    </m:ctrlPr>
                                  </m:sSubPr>
                                  <m:e>
                                    <m:r>
                                      <a:rPr lang="en-GB" sz="1100" b="1" i="1" smtClean="0">
                                        <a:latin typeface="Cambria Math"/>
                                      </a:rPr>
                                      <m:t>𝒗</m:t>
                                    </m:r>
                                  </m:e>
                                  <m:sub>
                                    <m:r>
                                      <a:rPr lang="en-GB" sz="1100" b="1" i="1" smtClean="0">
                                        <a:latin typeface="Cambria Math"/>
                                      </a:rPr>
                                      <m:t>𝟑</m:t>
                                    </m:r>
                                  </m:sub>
                                </m:sSub>
                              </m:oMath>
                            </m:oMathPara>
                          </a14:m>
                          <a:endParaRPr lang="en-GB" sz="1100" b="1" dirty="0"/>
                        </a:p>
                      </a:txBody>
                      <a:tcPr/>
                    </a:tc>
                    <a:extLst>
                      <a:ext uri="{0D108BD9-81ED-4DB2-BD59-A6C34878D82A}">
                        <a16:rowId xmlns:a16="http://schemas.microsoft.com/office/drawing/2014/main" val="10003"/>
                      </a:ext>
                    </a:extLst>
                  </a:tr>
                  <a:tr h="259080">
                    <a:tc>
                      <a:txBody>
                        <a:bodyPr/>
                        <a:lstStyle/>
                        <a:p>
                          <a:pPr algn="r"/>
                          <a:r>
                            <a:rPr lang="en-GB" sz="1100" b="1" dirty="0"/>
                            <a:t>.</a:t>
                          </a:r>
                        </a:p>
                      </a:txBody>
                      <a:tcPr/>
                    </a:tc>
                    <a:extLst>
                      <a:ext uri="{0D108BD9-81ED-4DB2-BD59-A6C34878D82A}">
                        <a16:rowId xmlns:a16="http://schemas.microsoft.com/office/drawing/2014/main" val="10004"/>
                      </a:ext>
                    </a:extLst>
                  </a:tr>
                  <a:tr h="259080">
                    <a:tc>
                      <a:txBody>
                        <a:bodyPr/>
                        <a:lstStyle/>
                        <a:p>
                          <a:pPr algn="r"/>
                          <a:r>
                            <a:rPr lang="en-GB" sz="1100" b="1" dirty="0"/>
                            <a:t>.</a:t>
                          </a:r>
                        </a:p>
                      </a:txBody>
                      <a:tcPr/>
                    </a:tc>
                    <a:extLst>
                      <a:ext uri="{0D108BD9-81ED-4DB2-BD59-A6C34878D82A}">
                        <a16:rowId xmlns:a16="http://schemas.microsoft.com/office/drawing/2014/main" val="10005"/>
                      </a:ext>
                    </a:extLst>
                  </a:tr>
                  <a:tr h="259080">
                    <a:tc>
                      <a:txBody>
                        <a:bodyPr/>
                        <a:lstStyle/>
                        <a:p>
                          <a:pPr algn="r"/>
                          <a:r>
                            <a:rPr lang="en-GB" sz="1100" b="1" dirty="0"/>
                            <a:t>.</a:t>
                          </a:r>
                        </a:p>
                      </a:txBody>
                      <a:tcPr/>
                    </a:tc>
                    <a:extLst>
                      <a:ext uri="{0D108BD9-81ED-4DB2-BD59-A6C34878D82A}">
                        <a16:rowId xmlns:a16="http://schemas.microsoft.com/office/drawing/2014/main" val="10006"/>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b="1" i="1" smtClean="0">
                                        <a:latin typeface="Cambria Math" panose="02040503050406030204" pitchFamily="18" charset="0"/>
                                      </a:rPr>
                                    </m:ctrlPr>
                                  </m:sSubPr>
                                  <m:e>
                                    <m:r>
                                      <a:rPr lang="en-GB" sz="1100" b="1" i="1" smtClean="0">
                                        <a:latin typeface="Cambria Math"/>
                                      </a:rPr>
                                      <m:t>𝒗</m:t>
                                    </m:r>
                                  </m:e>
                                  <m:sub>
                                    <m:r>
                                      <a:rPr lang="en-GB" sz="1100" b="1" i="1" smtClean="0">
                                        <a:latin typeface="Cambria Math"/>
                                      </a:rPr>
                                      <m:t>𝒎</m:t>
                                    </m:r>
                                  </m:sub>
                                </m:sSub>
                              </m:oMath>
                            </m:oMathPara>
                          </a14:m>
                          <a:endParaRPr lang="en-GB" sz="1100" b="1" dirty="0"/>
                        </a:p>
                      </a:txBody>
                      <a:tcPr/>
                    </a:tc>
                    <a:extLst>
                      <a:ext uri="{0D108BD9-81ED-4DB2-BD59-A6C34878D82A}">
                        <a16:rowId xmlns:a16="http://schemas.microsoft.com/office/drawing/2014/main" val="10007"/>
                      </a:ext>
                    </a:extLst>
                  </a:tr>
                </a:tbl>
              </a:graphicData>
            </a:graphic>
          </p:graphicFrame>
        </mc:Choice>
        <mc:Fallback xmlns="">
          <p:graphicFrame>
            <p:nvGraphicFramePr>
              <p:cNvPr id="21" name="Table 20"/>
              <p:cNvGraphicFramePr>
                <a:graphicFrameLocks noGrp="1"/>
              </p:cNvGraphicFramePr>
              <p:nvPr>
                <p:extLst>
                  <p:ext uri="{D42A27DB-BD31-4B8C-83A1-F6EECF244321}">
                    <p14:modId xmlns:p14="http://schemas.microsoft.com/office/powerpoint/2010/main" val="1008031816"/>
                  </p:ext>
                </p:extLst>
              </p:nvPr>
            </p:nvGraphicFramePr>
            <p:xfrm>
              <a:off x="3988450" y="2194560"/>
              <a:ext cx="320511" cy="2072640"/>
            </p:xfrm>
            <a:graphic>
              <a:graphicData uri="http://schemas.openxmlformats.org/drawingml/2006/table">
                <a:tbl>
                  <a:tblPr firstCol="1">
                    <a:tableStyleId>{073A0DAA-6AF3-43AB-8588-CEC1D06C72B9}</a:tableStyleId>
                  </a:tblPr>
                  <a:tblGrid>
                    <a:gridCol w="320511"/>
                  </a:tblGrid>
                  <a:tr h="259080">
                    <a:tc>
                      <a:txBody>
                        <a:bodyPr/>
                        <a:lstStyle/>
                        <a:p>
                          <a:pPr algn="r"/>
                          <a:endParaRPr lang="en-GB" sz="1100" dirty="0"/>
                        </a:p>
                      </a:txBody>
                      <a:tcPr>
                        <a:noFill/>
                      </a:tcPr>
                    </a:tc>
                  </a:tr>
                  <a:tr h="259080">
                    <a:tc>
                      <a:txBody>
                        <a:bodyPr/>
                        <a:lstStyle/>
                        <a:p>
                          <a:endParaRPr lang="en-US"/>
                        </a:p>
                      </a:txBody>
                      <a:tcPr>
                        <a:blipFill rotWithShape="1">
                          <a:blip r:embed="rId5"/>
                          <a:stretch>
                            <a:fillRect t="-102381" b="-607143"/>
                          </a:stretch>
                        </a:blipFill>
                      </a:tcPr>
                    </a:tc>
                  </a:tr>
                  <a:tr h="259080">
                    <a:tc>
                      <a:txBody>
                        <a:bodyPr/>
                        <a:lstStyle/>
                        <a:p>
                          <a:endParaRPr lang="en-US"/>
                        </a:p>
                      </a:txBody>
                      <a:tcPr>
                        <a:blipFill rotWithShape="1">
                          <a:blip r:embed="rId5"/>
                          <a:stretch>
                            <a:fillRect t="-197674" b="-493023"/>
                          </a:stretch>
                        </a:blipFill>
                      </a:tcPr>
                    </a:tc>
                  </a:tr>
                  <a:tr h="259080">
                    <a:tc>
                      <a:txBody>
                        <a:bodyPr/>
                        <a:lstStyle/>
                        <a:p>
                          <a:endParaRPr lang="en-US"/>
                        </a:p>
                      </a:txBody>
                      <a:tcPr>
                        <a:blipFill rotWithShape="1">
                          <a:blip r:embed="rId5"/>
                          <a:stretch>
                            <a:fillRect t="-304762" b="-404762"/>
                          </a:stretch>
                        </a:blipFill>
                      </a:tcPr>
                    </a:tc>
                  </a:tr>
                  <a:tr h="259080">
                    <a:tc>
                      <a:txBody>
                        <a:bodyPr/>
                        <a:lstStyle/>
                        <a:p>
                          <a:pPr algn="r"/>
                          <a:r>
                            <a:rPr lang="en-GB" sz="1100" b="1" dirty="0" smtClean="0"/>
                            <a:t>.</a:t>
                          </a:r>
                          <a:endParaRPr lang="en-GB" sz="1100" b="1" dirty="0"/>
                        </a:p>
                      </a:txBody>
                      <a:tcPr/>
                    </a:tc>
                  </a:tr>
                  <a:tr h="259080">
                    <a:tc>
                      <a:txBody>
                        <a:bodyPr/>
                        <a:lstStyle/>
                        <a:p>
                          <a:pPr algn="r"/>
                          <a:r>
                            <a:rPr lang="en-GB" sz="1100" b="1" dirty="0" smtClean="0"/>
                            <a:t>.</a:t>
                          </a:r>
                          <a:endParaRPr lang="en-GB" sz="1100" b="1" dirty="0"/>
                        </a:p>
                      </a:txBody>
                      <a:tcPr/>
                    </a:tc>
                  </a:tr>
                  <a:tr h="259080">
                    <a:tc>
                      <a:txBody>
                        <a:bodyPr/>
                        <a:lstStyle/>
                        <a:p>
                          <a:pPr algn="r"/>
                          <a:r>
                            <a:rPr lang="en-GB" sz="1100" b="1" dirty="0" smtClean="0"/>
                            <a:t>.</a:t>
                          </a:r>
                          <a:endParaRPr lang="en-GB" sz="1100" b="1" dirty="0"/>
                        </a:p>
                      </a:txBody>
                      <a:tcPr/>
                    </a:tc>
                  </a:tr>
                  <a:tr h="259080">
                    <a:tc>
                      <a:txBody>
                        <a:bodyPr/>
                        <a:lstStyle/>
                        <a:p>
                          <a:endParaRPr lang="en-US"/>
                        </a:p>
                      </a:txBody>
                      <a:tcPr>
                        <a:blipFill rotWithShape="1">
                          <a:blip r:embed="rId5"/>
                          <a:stretch>
                            <a:fillRect t="-709524"/>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2" name="Table 21"/>
              <p:cNvGraphicFramePr>
                <a:graphicFrameLocks noGrp="1"/>
              </p:cNvGraphicFramePr>
              <p:nvPr>
                <p:extLst>
                  <p:ext uri="{D42A27DB-BD31-4B8C-83A1-F6EECF244321}">
                    <p14:modId xmlns:p14="http://schemas.microsoft.com/office/powerpoint/2010/main" val="876506696"/>
                  </p:ext>
                </p:extLst>
              </p:nvPr>
            </p:nvGraphicFramePr>
            <p:xfrm>
              <a:off x="7732848" y="2192464"/>
              <a:ext cx="953952" cy="2072640"/>
            </p:xfrm>
            <a:graphic>
              <a:graphicData uri="http://schemas.openxmlformats.org/drawingml/2006/table">
                <a:tbl>
                  <a:tblPr firstRow="1" bandRow="1">
                    <a:tableStyleId>{5C22544A-7EE6-4342-B048-85BDC9FD1C3A}</a:tableStyleId>
                  </a:tblPr>
                  <a:tblGrid>
                    <a:gridCol w="317984">
                      <a:extLst>
                        <a:ext uri="{9D8B030D-6E8A-4147-A177-3AD203B41FA5}">
                          <a16:colId xmlns:a16="http://schemas.microsoft.com/office/drawing/2014/main" val="20000"/>
                        </a:ext>
                      </a:extLst>
                    </a:gridCol>
                    <a:gridCol w="317984">
                      <a:extLst>
                        <a:ext uri="{9D8B030D-6E8A-4147-A177-3AD203B41FA5}">
                          <a16:colId xmlns:a16="http://schemas.microsoft.com/office/drawing/2014/main" val="20001"/>
                        </a:ext>
                      </a:extLst>
                    </a:gridCol>
                    <a:gridCol w="317984">
                      <a:extLst>
                        <a:ext uri="{9D8B030D-6E8A-4147-A177-3AD203B41FA5}">
                          <a16:colId xmlns:a16="http://schemas.microsoft.com/office/drawing/2014/main" val="20002"/>
                        </a:ext>
                      </a:extLst>
                    </a:gridCol>
                  </a:tblGrid>
                  <a:tr h="259080">
                    <a:tc>
                      <a:txBody>
                        <a:bodyPr/>
                        <a:lstStyle/>
                        <a:p>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𝑭</m:t>
                                    </m:r>
                                  </m:e>
                                  <m:sub>
                                    <m:r>
                                      <a:rPr lang="en-GB" sz="1100" i="1" dirty="0" smtClean="0">
                                        <a:latin typeface="Cambria Math"/>
                                      </a:rPr>
                                      <m:t>1</m:t>
                                    </m:r>
                                  </m:sub>
                                </m:sSub>
                              </m:oMath>
                            </m:oMathPara>
                          </a14:m>
                          <a:endParaRPr lang="en-GB" sz="1100" dirty="0"/>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𝑭</m:t>
                                    </m:r>
                                  </m:e>
                                  <m:sub>
                                    <m:r>
                                      <a:rPr lang="en-GB" sz="1100" b="1" i="1" dirty="0" smtClean="0">
                                        <a:latin typeface="Cambria Math"/>
                                      </a:rPr>
                                      <m:t>𝟐</m:t>
                                    </m:r>
                                  </m:sub>
                                </m:sSub>
                              </m:oMath>
                            </m:oMathPara>
                          </a14:m>
                          <a:endParaRPr lang="en-GB" sz="1100" dirty="0"/>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GB" sz="1100" i="1" dirty="0" smtClean="0">
                                        <a:latin typeface="Cambria Math" panose="02040503050406030204" pitchFamily="18" charset="0"/>
                                      </a:rPr>
                                    </m:ctrlPr>
                                  </m:sSubPr>
                                  <m:e>
                                    <m:r>
                                      <a:rPr lang="en-GB" sz="1100" b="1" i="1" dirty="0" smtClean="0">
                                        <a:latin typeface="Cambria Math"/>
                                      </a:rPr>
                                      <m:t>𝑭</m:t>
                                    </m:r>
                                  </m:e>
                                  <m:sub>
                                    <m:r>
                                      <a:rPr lang="en-GB" sz="1100" b="1" i="1" dirty="0" smtClean="0">
                                        <a:latin typeface="Cambria Math"/>
                                      </a:rPr>
                                      <m:t>𝟑</m:t>
                                    </m:r>
                                  </m:sub>
                                </m:sSub>
                              </m:oMath>
                            </m:oMathPara>
                          </a14:m>
                          <a:endParaRPr lang="en-GB" sz="1100" dirty="0"/>
                        </a:p>
                      </a:txBody>
                      <a:tcPr>
                        <a:solidFill>
                          <a:schemeClr val="tx1"/>
                        </a:solidFill>
                      </a:tcPr>
                    </a:tc>
                    <a:extLst>
                      <a:ext uri="{0D108BD9-81ED-4DB2-BD59-A6C34878D82A}">
                        <a16:rowId xmlns:a16="http://schemas.microsoft.com/office/drawing/2014/main" val="10000"/>
                      </a:ext>
                    </a:extLst>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1"/>
                      </a:ext>
                    </a:extLst>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extLst>
                      <a:ext uri="{0D108BD9-81ED-4DB2-BD59-A6C34878D82A}">
                        <a16:rowId xmlns:a16="http://schemas.microsoft.com/office/drawing/2014/main" val="10002"/>
                      </a:ext>
                    </a:extLst>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3"/>
                      </a:ext>
                    </a:extLst>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4"/>
                      </a:ext>
                    </a:extLst>
                  </a:tr>
                  <a:tr h="259080">
                    <a:tc>
                      <a:txBody>
                        <a:bodyPr/>
                        <a:lstStyle/>
                        <a:p>
                          <a:endParaRPr lang="en-GB" sz="110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5"/>
                      </a:ext>
                    </a:extLst>
                  </a:tr>
                  <a:tr h="259080">
                    <a:tc>
                      <a:txBody>
                        <a:bodyPr/>
                        <a:lstStyle/>
                        <a:p>
                          <a:endParaRPr lang="en-GB" sz="110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6"/>
                      </a:ext>
                    </a:extLst>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extLst>
                      <a:ext uri="{0D108BD9-81ED-4DB2-BD59-A6C34878D82A}">
                        <a16:rowId xmlns:a16="http://schemas.microsoft.com/office/drawing/2014/main" val="10007"/>
                      </a:ext>
                    </a:extLst>
                  </a:tr>
                </a:tbl>
              </a:graphicData>
            </a:graphic>
          </p:graphicFrame>
        </mc:Choice>
        <mc:Fallback xmlns="">
          <p:graphicFrame>
            <p:nvGraphicFramePr>
              <p:cNvPr id="22" name="Table 21"/>
              <p:cNvGraphicFramePr>
                <a:graphicFrameLocks noGrp="1"/>
              </p:cNvGraphicFramePr>
              <p:nvPr>
                <p:extLst>
                  <p:ext uri="{D42A27DB-BD31-4B8C-83A1-F6EECF244321}">
                    <p14:modId xmlns:p14="http://schemas.microsoft.com/office/powerpoint/2010/main" val="876506696"/>
                  </p:ext>
                </p:extLst>
              </p:nvPr>
            </p:nvGraphicFramePr>
            <p:xfrm>
              <a:off x="7732848" y="2192464"/>
              <a:ext cx="953952" cy="2072640"/>
            </p:xfrm>
            <a:graphic>
              <a:graphicData uri="http://schemas.openxmlformats.org/drawingml/2006/table">
                <a:tbl>
                  <a:tblPr firstRow="1" bandRow="1">
                    <a:tableStyleId>{5C22544A-7EE6-4342-B048-85BDC9FD1C3A}</a:tableStyleId>
                  </a:tblPr>
                  <a:tblGrid>
                    <a:gridCol w="317984"/>
                    <a:gridCol w="317984"/>
                    <a:gridCol w="317984"/>
                  </a:tblGrid>
                  <a:tr h="259080">
                    <a:tc>
                      <a:txBody>
                        <a:bodyPr/>
                        <a:lstStyle/>
                        <a:p>
                          <a:endParaRPr lang="en-US"/>
                        </a:p>
                      </a:txBody>
                      <a:tcPr>
                        <a:blipFill rotWithShape="1">
                          <a:blip r:embed="rId6"/>
                          <a:stretch>
                            <a:fillRect l="-1923" t="-2326" r="-200000" b="-690698"/>
                          </a:stretch>
                        </a:blipFill>
                      </a:tcPr>
                    </a:tc>
                    <a:tc>
                      <a:txBody>
                        <a:bodyPr/>
                        <a:lstStyle/>
                        <a:p>
                          <a:endParaRPr lang="en-US"/>
                        </a:p>
                      </a:txBody>
                      <a:tcPr>
                        <a:blipFill rotWithShape="1">
                          <a:blip r:embed="rId6"/>
                          <a:stretch>
                            <a:fillRect l="-101923" t="-2326" r="-100000" b="-690698"/>
                          </a:stretch>
                        </a:blipFill>
                      </a:tcPr>
                    </a:tc>
                    <a:tc>
                      <a:txBody>
                        <a:bodyPr/>
                        <a:lstStyle/>
                        <a:p>
                          <a:endParaRPr lang="en-US"/>
                        </a:p>
                      </a:txBody>
                      <a:tcPr>
                        <a:blipFill rotWithShape="1">
                          <a:blip r:embed="rId6"/>
                          <a:stretch>
                            <a:fillRect l="-201923" t="-2326" b="-690698"/>
                          </a:stretch>
                        </a:blipFill>
                      </a:tcPr>
                    </a:tc>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a:p>
                      </a:txBody>
                      <a:tcPr>
                        <a:solidFill>
                          <a:srgbClr val="7030A0"/>
                        </a:solidFill>
                      </a:tcPr>
                    </a:tc>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r>
                  <a:tr h="259080">
                    <a:tc>
                      <a:txBody>
                        <a:bodyPr/>
                        <a:lstStyle/>
                        <a:p>
                          <a:endParaRPr lang="en-GB" sz="110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r>
                  <a:tr h="259080">
                    <a:tc>
                      <a:txBody>
                        <a:bodyPr/>
                        <a:lstStyle/>
                        <a:p>
                          <a:endParaRPr lang="en-GB" sz="1100" dirty="0"/>
                        </a:p>
                      </a:txBody>
                      <a:tcPr>
                        <a:solidFill>
                          <a:srgbClr val="00B050"/>
                        </a:solidFill>
                      </a:tcPr>
                    </a:tc>
                    <a:tc>
                      <a:txBody>
                        <a:bodyPr/>
                        <a:lstStyle/>
                        <a:p>
                          <a:endParaRPr lang="en-GB" sz="1100" dirty="0"/>
                        </a:p>
                      </a:txBody>
                      <a:tcPr>
                        <a:solidFill>
                          <a:schemeClr val="accent2">
                            <a:lumMod val="40000"/>
                            <a:lumOff val="60000"/>
                          </a:schemeClr>
                        </a:solidFill>
                      </a:tcPr>
                    </a:tc>
                    <a:tc>
                      <a:txBody>
                        <a:bodyPr/>
                        <a:lstStyle/>
                        <a:p>
                          <a:endParaRPr lang="en-GB" sz="1100" dirty="0"/>
                        </a:p>
                      </a:txBody>
                      <a:tcPr>
                        <a:solidFill>
                          <a:srgbClr val="7030A0"/>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23" name="Table 22"/>
              <p:cNvGraphicFramePr>
                <a:graphicFrameLocks noGrp="1"/>
              </p:cNvGraphicFramePr>
              <p:nvPr>
                <p:extLst>
                  <p:ext uri="{D42A27DB-BD31-4B8C-83A1-F6EECF244321}">
                    <p14:modId xmlns:p14="http://schemas.microsoft.com/office/powerpoint/2010/main" val="371454397"/>
                  </p:ext>
                </p:extLst>
              </p:nvPr>
            </p:nvGraphicFramePr>
            <p:xfrm>
              <a:off x="7393986" y="2194560"/>
              <a:ext cx="320511" cy="2072640"/>
            </p:xfrm>
            <a:graphic>
              <a:graphicData uri="http://schemas.openxmlformats.org/drawingml/2006/table">
                <a:tbl>
                  <a:tblPr firstCol="1">
                    <a:tableStyleId>{073A0DAA-6AF3-43AB-8588-CEC1D06C72B9}</a:tableStyleId>
                  </a:tblPr>
                  <a:tblGrid>
                    <a:gridCol w="320511">
                      <a:extLst>
                        <a:ext uri="{9D8B030D-6E8A-4147-A177-3AD203B41FA5}">
                          <a16:colId xmlns:a16="http://schemas.microsoft.com/office/drawing/2014/main" val="20000"/>
                        </a:ext>
                      </a:extLst>
                    </a:gridCol>
                  </a:tblGrid>
                  <a:tr h="259080">
                    <a:tc>
                      <a:txBody>
                        <a:bodyPr/>
                        <a:lstStyle/>
                        <a:p>
                          <a:pPr algn="r"/>
                          <a:endParaRPr lang="en-GB" sz="1100" dirty="0"/>
                        </a:p>
                      </a:txBody>
                      <a:tcPr>
                        <a:noFill/>
                      </a:tcPr>
                    </a:tc>
                    <a:extLst>
                      <a:ext uri="{0D108BD9-81ED-4DB2-BD59-A6C34878D82A}">
                        <a16:rowId xmlns:a16="http://schemas.microsoft.com/office/drawing/2014/main" val="10000"/>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i="1" smtClean="0">
                                        <a:latin typeface="Cambria Math" panose="02040503050406030204" pitchFamily="18" charset="0"/>
                                      </a:rPr>
                                    </m:ctrlPr>
                                  </m:sSubPr>
                                  <m:e>
                                    <m:r>
                                      <a:rPr lang="en-GB" sz="1100" smtClean="0">
                                        <a:latin typeface="Cambria Math"/>
                                      </a:rPr>
                                      <m:t>𝑣</m:t>
                                    </m:r>
                                  </m:e>
                                  <m:sub>
                                    <m:r>
                                      <a:rPr lang="en-GB" sz="1100" smtClean="0">
                                        <a:latin typeface="Cambria Math"/>
                                      </a:rPr>
                                      <m:t>1</m:t>
                                    </m:r>
                                  </m:sub>
                                </m:sSub>
                              </m:oMath>
                            </m:oMathPara>
                          </a14:m>
                          <a:endParaRPr lang="en-GB" sz="1100" dirty="0"/>
                        </a:p>
                      </a:txBody>
                      <a:tcPr/>
                    </a:tc>
                    <a:extLst>
                      <a:ext uri="{0D108BD9-81ED-4DB2-BD59-A6C34878D82A}">
                        <a16:rowId xmlns:a16="http://schemas.microsoft.com/office/drawing/2014/main" val="10001"/>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i="1" smtClean="0">
                                        <a:latin typeface="Cambria Math" panose="02040503050406030204" pitchFamily="18" charset="0"/>
                                      </a:rPr>
                                    </m:ctrlPr>
                                  </m:sSubPr>
                                  <m:e>
                                    <m:r>
                                      <a:rPr lang="en-GB" sz="1100" smtClean="0">
                                        <a:latin typeface="Cambria Math"/>
                                      </a:rPr>
                                      <m:t>𝑣</m:t>
                                    </m:r>
                                  </m:e>
                                  <m:sub>
                                    <m:r>
                                      <a:rPr lang="en-GB" sz="1100" smtClean="0">
                                        <a:latin typeface="Cambria Math"/>
                                      </a:rPr>
                                      <m:t>2</m:t>
                                    </m:r>
                                  </m:sub>
                                </m:sSub>
                              </m:oMath>
                            </m:oMathPara>
                          </a14:m>
                          <a:endParaRPr lang="en-GB" sz="1100" dirty="0"/>
                        </a:p>
                      </a:txBody>
                      <a:tcPr/>
                    </a:tc>
                    <a:extLst>
                      <a:ext uri="{0D108BD9-81ED-4DB2-BD59-A6C34878D82A}">
                        <a16:rowId xmlns:a16="http://schemas.microsoft.com/office/drawing/2014/main" val="10002"/>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i="1" smtClean="0">
                                        <a:latin typeface="Cambria Math" panose="02040503050406030204" pitchFamily="18" charset="0"/>
                                      </a:rPr>
                                    </m:ctrlPr>
                                  </m:sSubPr>
                                  <m:e>
                                    <m:r>
                                      <a:rPr lang="en-GB" sz="1100" smtClean="0">
                                        <a:latin typeface="Cambria Math"/>
                                      </a:rPr>
                                      <m:t>𝑣</m:t>
                                    </m:r>
                                  </m:e>
                                  <m:sub>
                                    <m:r>
                                      <a:rPr lang="en-GB" sz="1100" smtClean="0">
                                        <a:latin typeface="Cambria Math"/>
                                      </a:rPr>
                                      <m:t>3</m:t>
                                    </m:r>
                                  </m:sub>
                                </m:sSub>
                              </m:oMath>
                            </m:oMathPara>
                          </a14:m>
                          <a:endParaRPr lang="en-GB" sz="1100" dirty="0"/>
                        </a:p>
                      </a:txBody>
                      <a:tcPr/>
                    </a:tc>
                    <a:extLst>
                      <a:ext uri="{0D108BD9-81ED-4DB2-BD59-A6C34878D82A}">
                        <a16:rowId xmlns:a16="http://schemas.microsoft.com/office/drawing/2014/main" val="10003"/>
                      </a:ext>
                    </a:extLst>
                  </a:tr>
                  <a:tr h="259080">
                    <a:tc>
                      <a:txBody>
                        <a:bodyPr/>
                        <a:lstStyle/>
                        <a:p>
                          <a:pPr algn="r"/>
                          <a:r>
                            <a:rPr lang="en-GB" sz="1100" dirty="0"/>
                            <a:t>.</a:t>
                          </a:r>
                        </a:p>
                      </a:txBody>
                      <a:tcPr/>
                    </a:tc>
                    <a:extLst>
                      <a:ext uri="{0D108BD9-81ED-4DB2-BD59-A6C34878D82A}">
                        <a16:rowId xmlns:a16="http://schemas.microsoft.com/office/drawing/2014/main" val="10004"/>
                      </a:ext>
                    </a:extLst>
                  </a:tr>
                  <a:tr h="259080">
                    <a:tc>
                      <a:txBody>
                        <a:bodyPr/>
                        <a:lstStyle/>
                        <a:p>
                          <a:pPr algn="r"/>
                          <a:r>
                            <a:rPr lang="en-GB" sz="1100" dirty="0"/>
                            <a:t>.</a:t>
                          </a:r>
                        </a:p>
                      </a:txBody>
                      <a:tcPr/>
                    </a:tc>
                    <a:extLst>
                      <a:ext uri="{0D108BD9-81ED-4DB2-BD59-A6C34878D82A}">
                        <a16:rowId xmlns:a16="http://schemas.microsoft.com/office/drawing/2014/main" val="10005"/>
                      </a:ext>
                    </a:extLst>
                  </a:tr>
                  <a:tr h="259080">
                    <a:tc>
                      <a:txBody>
                        <a:bodyPr/>
                        <a:lstStyle/>
                        <a:p>
                          <a:pPr algn="r"/>
                          <a:r>
                            <a:rPr lang="en-GB" sz="1100" dirty="0"/>
                            <a:t>.</a:t>
                          </a:r>
                        </a:p>
                      </a:txBody>
                      <a:tcPr/>
                    </a:tc>
                    <a:extLst>
                      <a:ext uri="{0D108BD9-81ED-4DB2-BD59-A6C34878D82A}">
                        <a16:rowId xmlns:a16="http://schemas.microsoft.com/office/drawing/2014/main" val="10006"/>
                      </a:ext>
                    </a:extLst>
                  </a:tr>
                  <a:tr h="259080">
                    <a:tc>
                      <a:txBody>
                        <a:bodyPr/>
                        <a:lstStyle/>
                        <a:p>
                          <a:pPr algn="r"/>
                          <a14:m>
                            <m:oMathPara xmlns:m="http://schemas.openxmlformats.org/officeDocument/2006/math">
                              <m:oMathParaPr>
                                <m:jc m:val="right"/>
                              </m:oMathParaPr>
                              <m:oMath xmlns:m="http://schemas.openxmlformats.org/officeDocument/2006/math">
                                <m:sSub>
                                  <m:sSubPr>
                                    <m:ctrlPr>
                                      <a:rPr lang="en-GB" sz="1100" i="1" smtClean="0">
                                        <a:latin typeface="Cambria Math" panose="02040503050406030204" pitchFamily="18" charset="0"/>
                                      </a:rPr>
                                    </m:ctrlPr>
                                  </m:sSubPr>
                                  <m:e>
                                    <m:r>
                                      <a:rPr lang="en-GB" sz="1100" smtClean="0">
                                        <a:latin typeface="Cambria Math"/>
                                      </a:rPr>
                                      <m:t>𝑣</m:t>
                                    </m:r>
                                  </m:e>
                                  <m:sub>
                                    <m:r>
                                      <a:rPr lang="en-GB" sz="1100" smtClean="0">
                                        <a:latin typeface="Cambria Math"/>
                                      </a:rPr>
                                      <m:t>𝑚</m:t>
                                    </m:r>
                                  </m:sub>
                                </m:sSub>
                              </m:oMath>
                            </m:oMathPara>
                          </a14:m>
                          <a:endParaRPr lang="en-GB" sz="1100" dirty="0"/>
                        </a:p>
                      </a:txBody>
                      <a:tcPr/>
                    </a:tc>
                    <a:extLst>
                      <a:ext uri="{0D108BD9-81ED-4DB2-BD59-A6C34878D82A}">
                        <a16:rowId xmlns:a16="http://schemas.microsoft.com/office/drawing/2014/main" val="10007"/>
                      </a:ext>
                    </a:extLst>
                  </a:tr>
                </a:tbl>
              </a:graphicData>
            </a:graphic>
          </p:graphicFrame>
        </mc:Choice>
        <mc:Fallback xmlns="">
          <p:graphicFrame>
            <p:nvGraphicFramePr>
              <p:cNvPr id="23" name="Table 22"/>
              <p:cNvGraphicFramePr>
                <a:graphicFrameLocks noGrp="1"/>
              </p:cNvGraphicFramePr>
              <p:nvPr>
                <p:extLst>
                  <p:ext uri="{D42A27DB-BD31-4B8C-83A1-F6EECF244321}">
                    <p14:modId xmlns:p14="http://schemas.microsoft.com/office/powerpoint/2010/main" val="371454397"/>
                  </p:ext>
                </p:extLst>
              </p:nvPr>
            </p:nvGraphicFramePr>
            <p:xfrm>
              <a:off x="7393986" y="2194560"/>
              <a:ext cx="320511" cy="2072640"/>
            </p:xfrm>
            <a:graphic>
              <a:graphicData uri="http://schemas.openxmlformats.org/drawingml/2006/table">
                <a:tbl>
                  <a:tblPr firstCol="1">
                    <a:tableStyleId>{073A0DAA-6AF3-43AB-8588-CEC1D06C72B9}</a:tableStyleId>
                  </a:tblPr>
                  <a:tblGrid>
                    <a:gridCol w="320511"/>
                  </a:tblGrid>
                  <a:tr h="259080">
                    <a:tc>
                      <a:txBody>
                        <a:bodyPr/>
                        <a:lstStyle/>
                        <a:p>
                          <a:pPr algn="r"/>
                          <a:endParaRPr lang="en-GB" sz="1100" dirty="0"/>
                        </a:p>
                      </a:txBody>
                      <a:tcPr>
                        <a:noFill/>
                      </a:tcPr>
                    </a:tc>
                  </a:tr>
                  <a:tr h="259080">
                    <a:tc>
                      <a:txBody>
                        <a:bodyPr/>
                        <a:lstStyle/>
                        <a:p>
                          <a:endParaRPr lang="en-US"/>
                        </a:p>
                      </a:txBody>
                      <a:tcPr>
                        <a:blipFill rotWithShape="1">
                          <a:blip r:embed="rId7"/>
                          <a:stretch>
                            <a:fillRect l="-1887" t="-102381" b="-607143"/>
                          </a:stretch>
                        </a:blipFill>
                      </a:tcPr>
                    </a:tc>
                  </a:tr>
                  <a:tr h="259080">
                    <a:tc>
                      <a:txBody>
                        <a:bodyPr/>
                        <a:lstStyle/>
                        <a:p>
                          <a:endParaRPr lang="en-US"/>
                        </a:p>
                      </a:txBody>
                      <a:tcPr>
                        <a:blipFill rotWithShape="1">
                          <a:blip r:embed="rId7"/>
                          <a:stretch>
                            <a:fillRect l="-1887" t="-197674" b="-493023"/>
                          </a:stretch>
                        </a:blipFill>
                      </a:tcPr>
                    </a:tc>
                  </a:tr>
                  <a:tr h="259080">
                    <a:tc>
                      <a:txBody>
                        <a:bodyPr/>
                        <a:lstStyle/>
                        <a:p>
                          <a:endParaRPr lang="en-US"/>
                        </a:p>
                      </a:txBody>
                      <a:tcPr>
                        <a:blipFill rotWithShape="1">
                          <a:blip r:embed="rId7"/>
                          <a:stretch>
                            <a:fillRect l="-1887" t="-304762" b="-404762"/>
                          </a:stretch>
                        </a:blipFill>
                      </a:tcPr>
                    </a:tc>
                  </a:tr>
                  <a:tr h="259080">
                    <a:tc>
                      <a:txBody>
                        <a:bodyPr/>
                        <a:lstStyle/>
                        <a:p>
                          <a:pPr algn="r"/>
                          <a:r>
                            <a:rPr lang="en-GB" sz="1100" dirty="0" smtClean="0"/>
                            <a:t>.</a:t>
                          </a:r>
                          <a:endParaRPr lang="en-GB" sz="1100" dirty="0"/>
                        </a:p>
                      </a:txBody>
                      <a:tcPr/>
                    </a:tc>
                  </a:tr>
                  <a:tr h="259080">
                    <a:tc>
                      <a:txBody>
                        <a:bodyPr/>
                        <a:lstStyle/>
                        <a:p>
                          <a:pPr algn="r"/>
                          <a:r>
                            <a:rPr lang="en-GB" sz="1100" dirty="0" smtClean="0"/>
                            <a:t>.</a:t>
                          </a:r>
                          <a:endParaRPr lang="en-GB" sz="1100" dirty="0"/>
                        </a:p>
                      </a:txBody>
                      <a:tcPr/>
                    </a:tc>
                  </a:tr>
                  <a:tr h="259080">
                    <a:tc>
                      <a:txBody>
                        <a:bodyPr/>
                        <a:lstStyle/>
                        <a:p>
                          <a:pPr algn="r"/>
                          <a:r>
                            <a:rPr lang="en-GB" sz="1100" dirty="0" smtClean="0"/>
                            <a:t>.</a:t>
                          </a:r>
                          <a:endParaRPr lang="en-GB" sz="1100" dirty="0"/>
                        </a:p>
                      </a:txBody>
                      <a:tcPr/>
                    </a:tc>
                  </a:tr>
                  <a:tr h="259080">
                    <a:tc>
                      <a:txBody>
                        <a:bodyPr/>
                        <a:lstStyle/>
                        <a:p>
                          <a:endParaRPr lang="en-US"/>
                        </a:p>
                      </a:txBody>
                      <a:tcPr>
                        <a:blipFill rotWithShape="1">
                          <a:blip r:embed="rId7"/>
                          <a:stretch>
                            <a:fillRect l="-1887" t="-709524"/>
                          </a:stretch>
                        </a:blipFill>
                      </a:tcPr>
                    </a:tc>
                  </a:tr>
                </a:tbl>
              </a:graphicData>
            </a:graphic>
          </p:graphicFrame>
        </mc:Fallback>
      </mc:AlternateContent>
      <p:sp>
        <p:nvSpPr>
          <p:cNvPr id="24" name="Notched Right Arrow 23"/>
          <p:cNvSpPr/>
          <p:nvPr/>
        </p:nvSpPr>
        <p:spPr>
          <a:xfrm>
            <a:off x="3352800" y="3048000"/>
            <a:ext cx="381000" cy="304800"/>
          </a:xfrm>
          <a:prstGeom prst="notched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
        <p:nvSpPr>
          <p:cNvPr id="25" name="Notched Right Arrow 24"/>
          <p:cNvSpPr/>
          <p:nvPr/>
        </p:nvSpPr>
        <p:spPr>
          <a:xfrm>
            <a:off x="6781800" y="3048000"/>
            <a:ext cx="381000" cy="304800"/>
          </a:xfrm>
          <a:prstGeom prst="notched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210969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par>
                                <p:cTn id="12" presetID="10" presetClass="entr" presetSubtype="0" fill="hold"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Examination!</a:t>
            </a:r>
          </a:p>
        </p:txBody>
      </p:sp>
      <p:sp>
        <p:nvSpPr>
          <p:cNvPr id="3" name="Rectangle 2"/>
          <p:cNvSpPr/>
          <p:nvPr/>
        </p:nvSpPr>
        <p:spPr>
          <a:xfrm>
            <a:off x="304800" y="689045"/>
            <a:ext cx="8305800" cy="4708981"/>
          </a:xfrm>
          <a:prstGeom prst="rect">
            <a:avLst/>
          </a:prstGeom>
        </p:spPr>
        <p:txBody>
          <a:bodyPr wrap="square">
            <a:spAutoFit/>
          </a:bodyPr>
          <a:lstStyle/>
          <a:p>
            <a:endParaRPr lang="en-GB" sz="2000" dirty="0"/>
          </a:p>
          <a:p>
            <a:r>
              <a:rPr lang="en-GB" sz="2000" dirty="0"/>
              <a:t>The exam will be an 60 questions MCQ in-person</a:t>
            </a:r>
          </a:p>
          <a:p>
            <a:endParaRPr lang="en-GB" sz="2000" dirty="0"/>
          </a:p>
          <a:p>
            <a:r>
              <a:rPr lang="fr-FR" sz="2000" dirty="0"/>
              <a:t>14 Jan 2026 </a:t>
            </a:r>
            <a:r>
              <a:rPr lang="fr-FR" sz="2000" dirty="0" err="1"/>
              <a:t>from</a:t>
            </a:r>
            <a:r>
              <a:rPr lang="fr-FR" sz="2000" dirty="0"/>
              <a:t> 2:00 PM to 4:00 PM</a:t>
            </a:r>
          </a:p>
          <a:p>
            <a:endParaRPr lang="fr-FR" sz="2000" dirty="0"/>
          </a:p>
          <a:p>
            <a:r>
              <a:rPr lang="fr-FR" sz="2000" dirty="0"/>
              <a:t>Location </a:t>
            </a:r>
            <a:r>
              <a:rPr lang="fr-FR" sz="2000" dirty="0" err="1"/>
              <a:t>will</a:t>
            </a:r>
            <a:r>
              <a:rPr lang="fr-FR" sz="2000" dirty="0"/>
              <a:t> </a:t>
            </a:r>
            <a:r>
              <a:rPr lang="fr-FR" sz="2000" dirty="0" err="1"/>
              <a:t>be</a:t>
            </a:r>
            <a:r>
              <a:rPr lang="fr-FR" sz="2000" dirty="0"/>
              <a:t> </a:t>
            </a:r>
            <a:r>
              <a:rPr lang="fr-FR" sz="2000" dirty="0" err="1"/>
              <a:t>announced</a:t>
            </a:r>
            <a:r>
              <a:rPr lang="fr-FR" sz="2000" dirty="0"/>
              <a:t> </a:t>
            </a:r>
            <a:r>
              <a:rPr lang="fr-FR" sz="2000" dirty="0" err="1"/>
              <a:t>later</a:t>
            </a:r>
            <a:r>
              <a:rPr lang="fr-FR" sz="2000" dirty="0"/>
              <a:t>.</a:t>
            </a:r>
            <a:endParaRPr lang="en-GB" sz="2000" dirty="0"/>
          </a:p>
          <a:p>
            <a:endParaRPr lang="en-GB" sz="2000" dirty="0"/>
          </a:p>
          <a:p>
            <a:r>
              <a:rPr lang="en-GB" sz="2000" dirty="0"/>
              <a:t>Once you have started taking the exam you have 2 hours to complete it</a:t>
            </a:r>
          </a:p>
          <a:p>
            <a:endParaRPr lang="en-GB" sz="2000" dirty="0"/>
          </a:p>
          <a:p>
            <a:r>
              <a:rPr lang="en-GB" sz="2000" dirty="0"/>
              <a:t>You don’t lose points for no answer or wrong answers</a:t>
            </a:r>
          </a:p>
          <a:p>
            <a:endParaRPr lang="en-GB" sz="2000" dirty="0"/>
          </a:p>
          <a:p>
            <a:r>
              <a:rPr lang="en-GB" sz="2000" dirty="0"/>
              <a:t>A training (mock) exam is available online.</a:t>
            </a:r>
          </a:p>
          <a:p>
            <a:endParaRPr lang="en-GB" sz="2000" dirty="0"/>
          </a:p>
          <a:p>
            <a:r>
              <a:rPr lang="en-GB" sz="2000" dirty="0"/>
              <a:t>Try it after the seminar in computer cluster (the tutorial has been kept short on purpose to allow you to check the exam). </a:t>
            </a:r>
          </a:p>
        </p:txBody>
      </p:sp>
      <p:sp>
        <p:nvSpPr>
          <p:cNvPr id="4" name="Rectangle 3"/>
          <p:cNvSpPr/>
          <p:nvPr/>
        </p:nvSpPr>
        <p:spPr>
          <a:xfrm>
            <a:off x="304800" y="2797314"/>
            <a:ext cx="8305800" cy="400110"/>
          </a:xfrm>
          <a:prstGeom prst="rect">
            <a:avLst/>
          </a:prstGeom>
        </p:spPr>
        <p:txBody>
          <a:bodyPr wrap="square">
            <a:spAutoFit/>
          </a:bodyPr>
          <a:lstStyle/>
          <a:p>
            <a:endParaRPr lang="en-GB" sz="2000" dirty="0"/>
          </a:p>
        </p:txBody>
      </p:sp>
      <p:sp>
        <p:nvSpPr>
          <p:cNvPr id="5" name="Rectangle 4"/>
          <p:cNvSpPr/>
          <p:nvPr/>
        </p:nvSpPr>
        <p:spPr>
          <a:xfrm>
            <a:off x="304800" y="3711714"/>
            <a:ext cx="8305800" cy="400110"/>
          </a:xfrm>
          <a:prstGeom prst="rect">
            <a:avLst/>
          </a:prstGeom>
        </p:spPr>
        <p:txBody>
          <a:bodyPr wrap="square">
            <a:spAutoFit/>
          </a:bodyPr>
          <a:lstStyle/>
          <a:p>
            <a:endParaRPr lang="en-GB" sz="2000" dirty="0"/>
          </a:p>
        </p:txBody>
      </p:sp>
    </p:spTree>
    <p:extLst>
      <p:ext uri="{BB962C8B-B14F-4D97-AF65-F5344CB8AC3E}">
        <p14:creationId xmlns:p14="http://schemas.microsoft.com/office/powerpoint/2010/main" val="14541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D00C-D836-4A60-9B76-11CA4EEDEF57}"/>
              </a:ext>
            </a:extLst>
          </p:cNvPr>
          <p:cNvSpPr>
            <a:spLocks noGrp="1"/>
          </p:cNvSpPr>
          <p:nvPr>
            <p:ph type="title"/>
          </p:nvPr>
        </p:nvSpPr>
        <p:spPr/>
        <p:txBody>
          <a:bodyPr/>
          <a:lstStyle/>
          <a:p>
            <a:r>
              <a:rPr lang="en-GB" dirty="0"/>
              <a:t>When preparing for the exam</a:t>
            </a:r>
          </a:p>
        </p:txBody>
      </p:sp>
      <p:sp>
        <p:nvSpPr>
          <p:cNvPr id="3" name="Rectangle 2">
            <a:extLst>
              <a:ext uri="{FF2B5EF4-FFF2-40B4-BE49-F238E27FC236}">
                <a16:creationId xmlns:a16="http://schemas.microsoft.com/office/drawing/2014/main" id="{F7506AAE-E5A6-4BBE-BD88-B9BDAA3793FC}"/>
              </a:ext>
            </a:extLst>
          </p:cNvPr>
          <p:cNvSpPr/>
          <p:nvPr/>
        </p:nvSpPr>
        <p:spPr>
          <a:xfrm>
            <a:off x="419100" y="762000"/>
            <a:ext cx="8305800" cy="5016758"/>
          </a:xfrm>
          <a:prstGeom prst="rect">
            <a:avLst/>
          </a:prstGeom>
        </p:spPr>
        <p:txBody>
          <a:bodyPr wrap="square" lIns="91440" tIns="45720" rIns="91440" bIns="45720" anchor="t">
            <a:spAutoFit/>
          </a:bodyPr>
          <a:lstStyle/>
          <a:p>
            <a:endParaRPr lang="en-GB" sz="2000" dirty="0"/>
          </a:p>
          <a:p>
            <a:r>
              <a:rPr lang="en-GB" sz="2000" dirty="0"/>
              <a:t>Tips:</a:t>
            </a:r>
          </a:p>
          <a:p>
            <a:pPr marL="342900" indent="-342900">
              <a:buFont typeface="Arial" panose="020B0604020202020204" pitchFamily="34" charset="0"/>
              <a:buChar char="•"/>
            </a:pPr>
            <a:r>
              <a:rPr lang="en-GB" sz="2000" dirty="0"/>
              <a:t>Understand the concepts covered in the lecture slides.</a:t>
            </a:r>
          </a:p>
          <a:p>
            <a:pPr marL="342900" indent="-342900">
              <a:buFont typeface="Arial" panose="020B0604020202020204" pitchFamily="34" charset="0"/>
              <a:buChar char="•"/>
            </a:pPr>
            <a:r>
              <a:rPr lang="en-GB" sz="2000" dirty="0"/>
              <a:t>Practice 100+ questions in lecture slides and seminar worksheets </a:t>
            </a:r>
            <a:r>
              <a:rPr lang="en-GB" sz="2000" b="1" dirty="0">
                <a:solidFill>
                  <a:srgbClr val="FF0000"/>
                </a:solidFill>
              </a:rPr>
              <a:t>at least three times</a:t>
            </a:r>
            <a:r>
              <a:rPr lang="en-GB" sz="2000" dirty="0"/>
              <a:t>.</a:t>
            </a:r>
          </a:p>
          <a:p>
            <a:pPr marL="342900" indent="-342900">
              <a:buFont typeface="Arial" panose="020B0604020202020204" pitchFamily="34" charset="0"/>
              <a:buChar char="•"/>
            </a:pPr>
            <a:r>
              <a:rPr lang="en-GB" sz="2000" dirty="0"/>
              <a:t>Complete 30+ mock questions </a:t>
            </a:r>
            <a:r>
              <a:rPr lang="en-GB" sz="2000" b="1" dirty="0">
                <a:solidFill>
                  <a:srgbClr val="FF0000"/>
                </a:solidFill>
              </a:rPr>
              <a:t>within an hour</a:t>
            </a:r>
            <a:r>
              <a:rPr lang="en-GB" sz="2000" dirty="0"/>
              <a:t>.</a:t>
            </a:r>
          </a:p>
          <a:p>
            <a:endParaRPr lang="en-GB" sz="2000" dirty="0">
              <a:hlinkClick r:id="rId2"/>
            </a:endParaRPr>
          </a:p>
          <a:p>
            <a:r>
              <a:rPr lang="en-GB" sz="2000" b="1" dirty="0">
                <a:solidFill>
                  <a:srgbClr val="FF0000"/>
                </a:solidFill>
              </a:rPr>
              <a:t>Please book a meeting and talk to me!</a:t>
            </a:r>
          </a:p>
          <a:p>
            <a:pPr marL="342900" indent="-342900">
              <a:buFont typeface="Arial" panose="020B0604020202020204" pitchFamily="34" charset="0"/>
              <a:buChar char="•"/>
            </a:pPr>
            <a:r>
              <a:rPr lang="en-GB" sz="2000" dirty="0"/>
              <a:t>Available in person this Friday</a:t>
            </a:r>
          </a:p>
          <a:p>
            <a:pPr marL="342900" indent="-342900">
              <a:buFont typeface="Arial" panose="020B0604020202020204" pitchFamily="34" charset="0"/>
              <a:buChar char="•"/>
            </a:pPr>
            <a:r>
              <a:rPr lang="en-GB" sz="2000" dirty="0"/>
              <a:t>Available online on the rest days</a:t>
            </a:r>
          </a:p>
          <a:p>
            <a:endParaRPr lang="en-GB" sz="2000" dirty="0"/>
          </a:p>
          <a:p>
            <a:r>
              <a:rPr lang="en-GB" sz="2000" dirty="0"/>
              <a:t>Please send me an email if you have any questions. I will try to check email from time-to-time, and do my best to address your questions as quickly as possible.</a:t>
            </a:r>
          </a:p>
          <a:p>
            <a:endParaRPr lang="en-GB" sz="2000" dirty="0"/>
          </a:p>
          <a:p>
            <a:endParaRPr lang="en-GB" sz="2000" dirty="0"/>
          </a:p>
        </p:txBody>
      </p:sp>
    </p:spTree>
    <p:extLst>
      <p:ext uri="{BB962C8B-B14F-4D97-AF65-F5344CB8AC3E}">
        <p14:creationId xmlns:p14="http://schemas.microsoft.com/office/powerpoint/2010/main" val="1869913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AB251E9C-C019-2E46-A611-B9F37D0E4B96}"/>
              </a:ext>
            </a:extLst>
          </p:cNvPr>
          <p:cNvSpPr>
            <a:spLocks noGrp="1"/>
          </p:cNvSpPr>
          <p:nvPr>
            <p:ph type="ctrTitle"/>
          </p:nvPr>
        </p:nvSpPr>
        <p:spPr>
          <a:xfrm>
            <a:off x="298383" y="1182102"/>
            <a:ext cx="4076299" cy="582292"/>
          </a:xfrm>
        </p:spPr>
        <p:txBody>
          <a:bodyPr>
            <a:normAutofit fontScale="90000"/>
          </a:bodyPr>
          <a:lstStyle/>
          <a:p>
            <a:pPr algn="l"/>
            <a:r>
              <a:rPr lang="en-US" sz="3000">
                <a:latin typeface="Arial" panose="020B0604020202020204" pitchFamily="34" charset="0"/>
                <a:cs typeface="Arial" panose="020B0604020202020204" pitchFamily="34" charset="0"/>
              </a:rPr>
              <a:t>16x9 ration plasma template</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38787" r="1925" b="-1012"/>
          <a:stretch/>
        </p:blipFill>
        <p:spPr>
          <a:xfrm>
            <a:off x="0" y="857251"/>
            <a:ext cx="4142712" cy="4705349"/>
          </a:xfrm>
          <a:prstGeom prst="rect">
            <a:avLst/>
          </a:prstGeom>
        </p:spPr>
      </p:pic>
      <p:sp>
        <p:nvSpPr>
          <p:cNvPr id="6" name="Subtitle 2">
            <a:extLst>
              <a:ext uri="{FF2B5EF4-FFF2-40B4-BE49-F238E27FC236}">
                <a16:creationId xmlns:a16="http://schemas.microsoft.com/office/drawing/2014/main" id="{F3DFDA86-BA45-E44E-B79A-EC99AD242B98}"/>
              </a:ext>
            </a:extLst>
          </p:cNvPr>
          <p:cNvSpPr>
            <a:spLocks noGrp="1"/>
          </p:cNvSpPr>
          <p:nvPr>
            <p:ph type="subTitle" idx="1"/>
          </p:nvPr>
        </p:nvSpPr>
        <p:spPr>
          <a:xfrm>
            <a:off x="4572000" y="821076"/>
            <a:ext cx="4310714" cy="4284324"/>
          </a:xfrm>
        </p:spPr>
        <p:txBody>
          <a:bodyPr>
            <a:normAutofit/>
          </a:bodyPr>
          <a:lstStyle/>
          <a:p>
            <a:pPr algn="l"/>
            <a:r>
              <a:rPr lang="en-US" b="1" dirty="0">
                <a:latin typeface="Arial" panose="020B0604020202020204" pitchFamily="34" charset="0"/>
                <a:cs typeface="Arial" panose="020B0604020202020204" pitchFamily="34" charset="0"/>
              </a:rPr>
              <a:t>Module evaluations</a:t>
            </a:r>
          </a:p>
          <a:p>
            <a:pPr algn="l"/>
            <a:endParaRPr lang="en-US" dirty="0">
              <a:latin typeface="Arial" panose="020B0604020202020204" pitchFamily="34" charset="0"/>
              <a:cs typeface="Arial" panose="020B0604020202020204" pitchFamily="34" charset="0"/>
            </a:endParaRPr>
          </a:p>
          <a:p>
            <a:pPr algn="l"/>
            <a:r>
              <a:rPr lang="en-US" sz="1350" dirty="0">
                <a:latin typeface="Arial" panose="020B0604020202020204" pitchFamily="34" charset="0"/>
                <a:cs typeface="Arial" panose="020B0604020202020204" pitchFamily="34" charset="0"/>
              </a:rPr>
              <a:t>Scan the QR code below to complete your module evaluation surveys.</a:t>
            </a:r>
          </a:p>
          <a:p>
            <a:pPr algn="l"/>
            <a:endParaRPr lang="en-US" sz="1350" dirty="0">
              <a:latin typeface="Arial" panose="020B0604020202020204" pitchFamily="34" charset="0"/>
              <a:cs typeface="Arial" panose="020B0604020202020204" pitchFamily="34" charset="0"/>
            </a:endParaRPr>
          </a:p>
          <a:p>
            <a:pPr algn="l"/>
            <a:r>
              <a:rPr lang="en-US" sz="1350" dirty="0">
                <a:latin typeface="Arial" panose="020B0604020202020204" pitchFamily="34" charset="0"/>
                <a:cs typeface="Arial" panose="020B0604020202020204" pitchFamily="34" charset="0"/>
              </a:rPr>
              <a:t>You can also access your surveys by logging in to Minerva or visiting </a:t>
            </a:r>
            <a:r>
              <a:rPr lang="en-US" sz="1350" dirty="0">
                <a:latin typeface="Arial" charset="0"/>
                <a:ea typeface="Arial" charset="0"/>
                <a:cs typeface="Arial" charset="0"/>
                <a:hlinkClick r:id="rId4"/>
              </a:rPr>
              <a:t>https://leeds.bluera.com/leeds/</a:t>
            </a:r>
            <a:r>
              <a:rPr lang="en-US" sz="1350" dirty="0">
                <a:latin typeface="Arial" charset="0"/>
                <a:ea typeface="Arial" charset="0"/>
                <a:cs typeface="Arial" charset="0"/>
              </a:rPr>
              <a:t> </a:t>
            </a:r>
            <a:endParaRPr lang="en-US" sz="1350" dirty="0">
              <a:latin typeface="Arial" panose="020B0604020202020204" pitchFamily="34" charset="0"/>
              <a:cs typeface="Arial" panose="020B0604020202020204" pitchFamily="34" charset="0"/>
            </a:endParaRPr>
          </a:p>
          <a:p>
            <a:pPr algn="l"/>
            <a:endParaRPr lang="en-US" sz="135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0661828-4E1A-228E-A1A9-E162D913AB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200" y="3467100"/>
            <a:ext cx="20955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841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37446261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Week 7 Factor Analysi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1e97dd3-b4ca-44de-9335-788d8906ab4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626F0AC08688F4F92DDEAA80FA7A5E2" ma:contentTypeVersion="15" ma:contentTypeDescription="Create a new document." ma:contentTypeScope="" ma:versionID="33742b2a3d3ed133ed4822af36c6a4ef">
  <xsd:schema xmlns:xsd="http://www.w3.org/2001/XMLSchema" xmlns:xs="http://www.w3.org/2001/XMLSchema" xmlns:p="http://schemas.microsoft.com/office/2006/metadata/properties" xmlns:ns3="d1e97dd3-b4ca-44de-9335-788d8906ab46" xmlns:ns4="3fec1700-afbb-4cae-beae-0e3f538272b6" targetNamespace="http://schemas.microsoft.com/office/2006/metadata/properties" ma:root="true" ma:fieldsID="dbd7787774626a599f1cae180c731df4" ns3:_="" ns4:_="">
    <xsd:import namespace="d1e97dd3-b4ca-44de-9335-788d8906ab46"/>
    <xsd:import namespace="3fec1700-afbb-4cae-beae-0e3f538272b6"/>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4:SharedWithUsers" minOccurs="0"/>
                <xsd:element ref="ns4:SharedWithDetails" minOccurs="0"/>
                <xsd:element ref="ns4:SharingHintHash" minOccurs="0"/>
                <xsd:element ref="ns3:MediaServiceAutoKeyPoints" minOccurs="0"/>
                <xsd:element ref="ns3:MediaServiceKeyPoints" minOccurs="0"/>
                <xsd:element ref="ns3:MediaServiceGenerationTime" minOccurs="0"/>
                <xsd:element ref="ns3:MediaServiceEventHashCode"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97dd3-b4ca-44de-9335-788d8906ab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fec1700-afbb-4cae-beae-0e3f538272b6"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A88AC7-EF55-49E8-AD6B-BC697555E3A5}">
  <ds:schemaRefs>
    <ds:schemaRef ds:uri="http://schemas.microsoft.com/sharepoint/v3/contenttype/forms"/>
  </ds:schemaRefs>
</ds:datastoreItem>
</file>

<file path=customXml/itemProps2.xml><?xml version="1.0" encoding="utf-8"?>
<ds:datastoreItem xmlns:ds="http://schemas.openxmlformats.org/officeDocument/2006/customXml" ds:itemID="{12D9C44E-51E5-4930-9E30-216C69338D0E}">
  <ds:schemaRefs>
    <ds:schemaRef ds:uri="http://purl.org/dc/terms/"/>
    <ds:schemaRef ds:uri="http://schemas.microsoft.com/office/2006/documentManagement/types"/>
    <ds:schemaRef ds:uri="http://purl.org/dc/elements/1.1/"/>
    <ds:schemaRef ds:uri="d1e97dd3-b4ca-44de-9335-788d8906ab46"/>
    <ds:schemaRef ds:uri="http://schemas.openxmlformats.org/package/2006/metadata/core-properties"/>
    <ds:schemaRef ds:uri="3fec1700-afbb-4cae-beae-0e3f538272b6"/>
    <ds:schemaRef ds:uri="http://schemas.microsoft.com/office/infopath/2007/PartnerControl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D017F4A-1C4C-4EC8-B4D2-8AF9149EEF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97dd3-b4ca-44de-9335-788d8906ab46"/>
    <ds:schemaRef ds:uri="3fec1700-afbb-4cae-beae-0e3f538272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426</TotalTime>
  <Words>3718</Words>
  <Application>Microsoft Macintosh PowerPoint</Application>
  <PresentationFormat>On-screen Show (4:3)</PresentationFormat>
  <Paragraphs>654</Paragraphs>
  <Slides>35</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Avalon</vt:lpstr>
      <vt:lpstr>Arial</vt:lpstr>
      <vt:lpstr>Arial</vt:lpstr>
      <vt:lpstr>Calibri</vt:lpstr>
      <vt:lpstr>Cambria Math</vt:lpstr>
      <vt:lpstr>Office Theme</vt:lpstr>
      <vt:lpstr>Module Overview</vt:lpstr>
      <vt:lpstr>What is Factor Analysis?</vt:lpstr>
      <vt:lpstr>Why Factor Analysis?</vt:lpstr>
      <vt:lpstr>Example: Personality assessment</vt:lpstr>
      <vt:lpstr>How to perform factor analysis</vt:lpstr>
      <vt:lpstr>Correlation Matrix</vt:lpstr>
      <vt:lpstr>Correlation Matrix</vt:lpstr>
      <vt:lpstr>Correlation Matrix</vt:lpstr>
      <vt:lpstr>Correlation Matrix</vt:lpstr>
      <vt:lpstr>Examining Correlations</vt:lpstr>
      <vt:lpstr>Note: This is an identity matrix</vt:lpstr>
      <vt:lpstr>Examining Correlations</vt:lpstr>
      <vt:lpstr>KMO-MSA in SPSS</vt:lpstr>
      <vt:lpstr>Factor Extraction</vt:lpstr>
      <vt:lpstr>Factor Extraction</vt:lpstr>
      <vt:lpstr>Factor Extraction</vt:lpstr>
      <vt:lpstr>Factor Extraction</vt:lpstr>
      <vt:lpstr>10 Minutes Break</vt:lpstr>
      <vt:lpstr>Communalities</vt:lpstr>
      <vt:lpstr>Factor Extraction</vt:lpstr>
      <vt:lpstr>Factor Rotation</vt:lpstr>
      <vt:lpstr>Unrotated versus Rotated</vt:lpstr>
      <vt:lpstr>Types of Rotation</vt:lpstr>
      <vt:lpstr>Which type of rotation</vt:lpstr>
      <vt:lpstr>Factor Rotation Matrix</vt:lpstr>
      <vt:lpstr>Personality assessment</vt:lpstr>
      <vt:lpstr>Limitations</vt:lpstr>
      <vt:lpstr>Ways of using factor analysis</vt:lpstr>
      <vt:lpstr>Exercise</vt:lpstr>
      <vt:lpstr>Exercise</vt:lpstr>
      <vt:lpstr>Summary</vt:lpstr>
      <vt:lpstr>Examination!</vt:lpstr>
      <vt:lpstr>When preparing for the exam</vt:lpstr>
      <vt:lpstr>16x9 ration plasma template</vt:lpstr>
      <vt:lpstr>Module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7 Factor Analysis</dc:title>
  <dc:creator>Sajid Siraj</dc:creator>
  <cp:lastModifiedBy>Peizhi Shi</cp:lastModifiedBy>
  <cp:revision>314</cp:revision>
  <dcterms:created xsi:type="dcterms:W3CDTF">2006-08-16T00:00:00Z</dcterms:created>
  <dcterms:modified xsi:type="dcterms:W3CDTF">2025-12-02T11:46:42Z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0x0101009626F0AC08688F4F92DDEAA80FA7A5E2</vt:lpwstr>
  </property>
</Properties>
</file>