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charts/chart3.xml" ContentType="application/vnd.openxmlformats-officedocument.drawingml.chart+xml"/>
  <Override PartName="/ppt/notesSlides/notesSlide11.xml" ContentType="application/vnd.openxmlformats-officedocument.presentationml.notesSlide+xml"/>
  <Override PartName="/ppt/charts/chart4.xml" ContentType="application/vnd.openxmlformats-officedocument.drawingml.chart+xml"/>
  <Override PartName="/ppt/notesSlides/notesSlide12.xml" ContentType="application/vnd.openxmlformats-officedocument.presentationml.notesSlide+xml"/>
  <Override PartName="/ppt/charts/chart5.xml" ContentType="application/vnd.openxmlformats-officedocument.drawingml.chart+xml"/>
  <Override PartName="/ppt/notesSlides/notesSlide13.xml" ContentType="application/vnd.openxmlformats-officedocument.presentationml.notesSlide+xml"/>
  <Override PartName="/ppt/charts/chart6.xml" ContentType="application/vnd.openxmlformats-officedocument.drawingml.chart+xml"/>
  <Override PartName="/ppt/notesSlides/notesSlide14.xml" ContentType="application/vnd.openxmlformats-officedocument.presentationml.notesSlide+xml"/>
  <Override PartName="/ppt/charts/chart7.xml" ContentType="application/vnd.openxmlformats-officedocument.drawingml.chart+xml"/>
  <Override PartName="/ppt/notesSlides/notesSlide15.xml" ContentType="application/vnd.openxmlformats-officedocument.presentationml.notesSlide+xml"/>
  <Override PartName="/ppt/charts/chart8.xml" ContentType="application/vnd.openxmlformats-officedocument.drawingml.chart+xml"/>
  <Override PartName="/ppt/notesSlides/notesSlide16.xml" ContentType="application/vnd.openxmlformats-officedocument.presentationml.notesSlide+xml"/>
  <Override PartName="/ppt/charts/chart9.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10.xml" ContentType="application/vnd.openxmlformats-officedocument.drawingml.chart+xml"/>
  <Override PartName="/ppt/notesSlides/notesSlide25.xml" ContentType="application/vnd.openxmlformats-officedocument.presentationml.notesSlide+xml"/>
  <Override PartName="/ppt/charts/chart11.xml" ContentType="application/vnd.openxmlformats-officedocument.drawingml.chart+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12.xml" ContentType="application/vnd.openxmlformats-officedocument.drawingml.chart+xml"/>
  <Override PartName="/ppt/notesSlides/notesSlide28.xml" ContentType="application/vnd.openxmlformats-officedocument.presentationml.notesSlide+xml"/>
  <Override PartName="/ppt/charts/chart13.xml" ContentType="application/vnd.openxmlformats-officedocument.drawingml.chart+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rts/chart14.xml" ContentType="application/vnd.openxmlformats-officedocument.drawingml.chart+xml"/>
  <Override PartName="/ppt/notesSlides/notesSlide31.xml" ContentType="application/vnd.openxmlformats-officedocument.presentationml.notesSlide+xml"/>
  <Override PartName="/ppt/charts/chart15.xml" ContentType="application/vnd.openxmlformats-officedocument.drawingml.chart+xml"/>
  <Override PartName="/ppt/notesSlides/notesSlide32.xml" ContentType="application/vnd.openxmlformats-officedocument.presentationml.notesSlide+xml"/>
  <Override PartName="/ppt/charts/chart16.xml" ContentType="application/vnd.openxmlformats-officedocument.drawingml.chart+xml"/>
  <Override PartName="/ppt/notesSlides/notesSlide33.xml" ContentType="application/vnd.openxmlformats-officedocument.presentationml.notesSlide+xml"/>
  <Override PartName="/ppt/charts/chart17.xml" ContentType="application/vnd.openxmlformats-officedocument.drawingml.chart+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2"/>
  </p:notesMasterIdLst>
  <p:sldIdLst>
    <p:sldId id="485" r:id="rId5"/>
    <p:sldId id="474" r:id="rId6"/>
    <p:sldId id="354" r:id="rId7"/>
    <p:sldId id="355" r:id="rId8"/>
    <p:sldId id="363" r:id="rId9"/>
    <p:sldId id="364" r:id="rId10"/>
    <p:sldId id="365" r:id="rId11"/>
    <p:sldId id="361" r:id="rId12"/>
    <p:sldId id="407" r:id="rId13"/>
    <p:sldId id="373" r:id="rId14"/>
    <p:sldId id="408" r:id="rId15"/>
    <p:sldId id="409" r:id="rId16"/>
    <p:sldId id="410" r:id="rId17"/>
    <p:sldId id="412" r:id="rId18"/>
    <p:sldId id="413" r:id="rId19"/>
    <p:sldId id="414" r:id="rId20"/>
    <p:sldId id="416" r:id="rId21"/>
    <p:sldId id="415" r:id="rId22"/>
    <p:sldId id="417" r:id="rId23"/>
    <p:sldId id="418" r:id="rId24"/>
    <p:sldId id="481" r:id="rId25"/>
    <p:sldId id="486" r:id="rId26"/>
    <p:sldId id="419" r:id="rId27"/>
    <p:sldId id="393" r:id="rId28"/>
    <p:sldId id="394" r:id="rId29"/>
    <p:sldId id="423" r:id="rId30"/>
    <p:sldId id="424" r:id="rId31"/>
    <p:sldId id="473" r:id="rId32"/>
    <p:sldId id="425" r:id="rId33"/>
    <p:sldId id="426" r:id="rId34"/>
    <p:sldId id="399" r:id="rId35"/>
    <p:sldId id="477" r:id="rId36"/>
    <p:sldId id="427" r:id="rId37"/>
    <p:sldId id="428" r:id="rId38"/>
    <p:sldId id="400" r:id="rId39"/>
    <p:sldId id="429" r:id="rId40"/>
    <p:sldId id="402" r:id="rId41"/>
    <p:sldId id="482" r:id="rId42"/>
    <p:sldId id="478" r:id="rId43"/>
    <p:sldId id="404" r:id="rId44"/>
    <p:sldId id="467" r:id="rId45"/>
    <p:sldId id="483" r:id="rId46"/>
    <p:sldId id="484" r:id="rId47"/>
    <p:sldId id="466" r:id="rId48"/>
    <p:sldId id="475" r:id="rId49"/>
    <p:sldId id="487" r:id="rId50"/>
    <p:sldId id="472" r:id="rId51"/>
  </p:sldIdLst>
  <p:sldSz cx="9144000" cy="6858000" type="screen4x3"/>
  <p:notesSz cx="6858000" cy="9144000"/>
  <p:custDataLst>
    <p:tags r:id="rId5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EEECE1"/>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CAC99A-A91B-4094-9265-B37F8BFA90B3}" v="389" dt="2022-10-26T11:02:29.9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461" autoAdjust="0"/>
  </p:normalViewPr>
  <p:slideViewPr>
    <p:cSldViewPr>
      <p:cViewPr>
        <p:scale>
          <a:sx n="75" d="100"/>
          <a:sy n="75" d="100"/>
        </p:scale>
        <p:origin x="2466" y="3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gs" Target="tags/tag1.xml"/><Relationship Id="rId58"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itad Choicharoon" userId="7ebe6862-6727-4d05-970a-71aa57435883" providerId="ADAL" clId="{21CAC99A-A91B-4094-9265-B37F8BFA90B3}"/>
    <pc:docChg chg="undo custSel addSld delSld modSld sldOrd">
      <pc:chgData name="Aritad Choicharoon" userId="7ebe6862-6727-4d05-970a-71aa57435883" providerId="ADAL" clId="{21CAC99A-A91B-4094-9265-B37F8BFA90B3}" dt="2022-10-26T11:02:00.143" v="971"/>
      <pc:docMkLst>
        <pc:docMk/>
      </pc:docMkLst>
      <pc:sldChg chg="addSp modSp mod modAnim">
        <pc:chgData name="Aritad Choicharoon" userId="7ebe6862-6727-4d05-970a-71aa57435883" providerId="ADAL" clId="{21CAC99A-A91B-4094-9265-B37F8BFA90B3}" dt="2022-10-26T09:41:56.094" v="190"/>
        <pc:sldMkLst>
          <pc:docMk/>
          <pc:sldMk cId="2692411369" sldId="354"/>
        </pc:sldMkLst>
        <pc:spChg chg="mod">
          <ac:chgData name="Aritad Choicharoon" userId="7ebe6862-6727-4d05-970a-71aa57435883" providerId="ADAL" clId="{21CAC99A-A91B-4094-9265-B37F8BFA90B3}" dt="2022-10-26T09:39:09.885" v="88" actId="1076"/>
          <ac:spMkLst>
            <pc:docMk/>
            <pc:sldMk cId="2692411369" sldId="354"/>
            <ac:spMk id="4" creationId="{00000000-0000-0000-0000-000000000000}"/>
          </ac:spMkLst>
        </pc:spChg>
        <pc:spChg chg="add mod">
          <ac:chgData name="Aritad Choicharoon" userId="7ebe6862-6727-4d05-970a-71aa57435883" providerId="ADAL" clId="{21CAC99A-A91B-4094-9265-B37F8BFA90B3}" dt="2022-10-26T09:41:34.548" v="186" actId="403"/>
          <ac:spMkLst>
            <pc:docMk/>
            <pc:sldMk cId="2692411369" sldId="354"/>
            <ac:spMk id="5" creationId="{7D087D24-5143-BC36-EC10-BD79299972B4}"/>
          </ac:spMkLst>
        </pc:spChg>
        <pc:spChg chg="mod">
          <ac:chgData name="Aritad Choicharoon" userId="7ebe6862-6727-4d05-970a-71aa57435883" providerId="ADAL" clId="{21CAC99A-A91B-4094-9265-B37F8BFA90B3}" dt="2022-10-26T09:39:09.885" v="88" actId="1076"/>
          <ac:spMkLst>
            <pc:docMk/>
            <pc:sldMk cId="2692411369" sldId="354"/>
            <ac:spMk id="6" creationId="{00000000-0000-0000-0000-000000000000}"/>
          </ac:spMkLst>
        </pc:spChg>
        <pc:spChg chg="mod">
          <ac:chgData name="Aritad Choicharoon" userId="7ebe6862-6727-4d05-970a-71aa57435883" providerId="ADAL" clId="{21CAC99A-A91B-4094-9265-B37F8BFA90B3}" dt="2022-10-26T09:41:24.250" v="181" actId="21"/>
          <ac:spMkLst>
            <pc:docMk/>
            <pc:sldMk cId="2692411369" sldId="354"/>
            <ac:spMk id="14" creationId="{00000000-0000-0000-0000-000000000000}"/>
          </ac:spMkLst>
        </pc:spChg>
        <pc:spChg chg="mod">
          <ac:chgData name="Aritad Choicharoon" userId="7ebe6862-6727-4d05-970a-71aa57435883" providerId="ADAL" clId="{21CAC99A-A91B-4094-9265-B37F8BFA90B3}" dt="2022-10-26T09:41:54.292" v="189" actId="1076"/>
          <ac:spMkLst>
            <pc:docMk/>
            <pc:sldMk cId="2692411369" sldId="354"/>
            <ac:spMk id="197634" creationId="{00000000-0000-0000-0000-000000000000}"/>
          </ac:spMkLst>
        </pc:spChg>
        <pc:grpChg chg="mod">
          <ac:chgData name="Aritad Choicharoon" userId="7ebe6862-6727-4d05-970a-71aa57435883" providerId="ADAL" clId="{21CAC99A-A91B-4094-9265-B37F8BFA90B3}" dt="2022-10-26T09:39:09.885" v="88" actId="1076"/>
          <ac:grpSpMkLst>
            <pc:docMk/>
            <pc:sldMk cId="2692411369" sldId="354"/>
            <ac:grpSpMk id="10" creationId="{00000000-0000-0000-0000-000000000000}"/>
          </ac:grpSpMkLst>
        </pc:grpChg>
      </pc:sldChg>
      <pc:sldChg chg="modSp">
        <pc:chgData name="Aritad Choicharoon" userId="7ebe6862-6727-4d05-970a-71aa57435883" providerId="ADAL" clId="{21CAC99A-A91B-4094-9265-B37F8BFA90B3}" dt="2022-10-26T09:49:28.315" v="242" actId="20577"/>
        <pc:sldMkLst>
          <pc:docMk/>
          <pc:sldMk cId="2636191267" sldId="355"/>
        </pc:sldMkLst>
        <pc:spChg chg="mod">
          <ac:chgData name="Aritad Choicharoon" userId="7ebe6862-6727-4d05-970a-71aa57435883" providerId="ADAL" clId="{21CAC99A-A91B-4094-9265-B37F8BFA90B3}" dt="2022-10-26T09:49:26.257" v="241" actId="20577"/>
          <ac:spMkLst>
            <pc:docMk/>
            <pc:sldMk cId="2636191267" sldId="355"/>
            <ac:spMk id="3" creationId="{00000000-0000-0000-0000-000000000000}"/>
          </ac:spMkLst>
        </pc:spChg>
        <pc:spChg chg="mod">
          <ac:chgData name="Aritad Choicharoon" userId="7ebe6862-6727-4d05-970a-71aa57435883" providerId="ADAL" clId="{21CAC99A-A91B-4094-9265-B37F8BFA90B3}" dt="2022-10-26T09:49:28.315" v="242" actId="20577"/>
          <ac:spMkLst>
            <pc:docMk/>
            <pc:sldMk cId="2636191267" sldId="355"/>
            <ac:spMk id="4" creationId="{00000000-0000-0000-0000-000000000000}"/>
          </ac:spMkLst>
        </pc:spChg>
        <pc:spChg chg="mod">
          <ac:chgData name="Aritad Choicharoon" userId="7ebe6862-6727-4d05-970a-71aa57435883" providerId="ADAL" clId="{21CAC99A-A91B-4094-9265-B37F8BFA90B3}" dt="2022-10-26T09:49:12.108" v="222" actId="20577"/>
          <ac:spMkLst>
            <pc:docMk/>
            <pc:sldMk cId="2636191267" sldId="355"/>
            <ac:spMk id="18" creationId="{00000000-0000-0000-0000-000000000000}"/>
          </ac:spMkLst>
        </pc:spChg>
      </pc:sldChg>
      <pc:sldChg chg="modSp mod">
        <pc:chgData name="Aritad Choicharoon" userId="7ebe6862-6727-4d05-970a-71aa57435883" providerId="ADAL" clId="{21CAC99A-A91B-4094-9265-B37F8BFA90B3}" dt="2022-10-26T09:54:59.359" v="291" actId="1076"/>
        <pc:sldMkLst>
          <pc:docMk/>
          <pc:sldMk cId="3595602425" sldId="361"/>
        </pc:sldMkLst>
        <pc:spChg chg="mod">
          <ac:chgData name="Aritad Choicharoon" userId="7ebe6862-6727-4d05-970a-71aa57435883" providerId="ADAL" clId="{21CAC99A-A91B-4094-9265-B37F8BFA90B3}" dt="2022-10-26T09:54:59.359" v="291" actId="1076"/>
          <ac:spMkLst>
            <pc:docMk/>
            <pc:sldMk cId="3595602425" sldId="361"/>
            <ac:spMk id="8" creationId="{00000000-0000-0000-0000-000000000000}"/>
          </ac:spMkLst>
        </pc:spChg>
        <pc:spChg chg="mod">
          <ac:chgData name="Aritad Choicharoon" userId="7ebe6862-6727-4d05-970a-71aa57435883" providerId="ADAL" clId="{21CAC99A-A91B-4094-9265-B37F8BFA90B3}" dt="2022-10-26T09:54:59.359" v="291" actId="1076"/>
          <ac:spMkLst>
            <pc:docMk/>
            <pc:sldMk cId="3595602425" sldId="361"/>
            <ac:spMk id="9" creationId="{00000000-0000-0000-0000-000000000000}"/>
          </ac:spMkLst>
        </pc:spChg>
        <pc:graphicFrameChg chg="mod">
          <ac:chgData name="Aritad Choicharoon" userId="7ebe6862-6727-4d05-970a-71aa57435883" providerId="ADAL" clId="{21CAC99A-A91B-4094-9265-B37F8BFA90B3}" dt="2022-10-26T09:54:59.359" v="291" actId="1076"/>
          <ac:graphicFrameMkLst>
            <pc:docMk/>
            <pc:sldMk cId="3595602425" sldId="361"/>
            <ac:graphicFrameMk id="7" creationId="{00000000-0000-0000-0000-000000000000}"/>
          </ac:graphicFrameMkLst>
        </pc:graphicFrameChg>
      </pc:sldChg>
      <pc:sldChg chg="addSp modSp mod modAnim">
        <pc:chgData name="Aritad Choicharoon" userId="7ebe6862-6727-4d05-970a-71aa57435883" providerId="ADAL" clId="{21CAC99A-A91B-4094-9265-B37F8BFA90B3}" dt="2022-10-26T09:50:40.953" v="284"/>
        <pc:sldMkLst>
          <pc:docMk/>
          <pc:sldMk cId="20564375" sldId="363"/>
        </pc:sldMkLst>
        <pc:spChg chg="mod">
          <ac:chgData name="Aritad Choicharoon" userId="7ebe6862-6727-4d05-970a-71aa57435883" providerId="ADAL" clId="{21CAC99A-A91B-4094-9265-B37F8BFA90B3}" dt="2022-10-26T09:49:48.156" v="274" actId="20577"/>
          <ac:spMkLst>
            <pc:docMk/>
            <pc:sldMk cId="20564375" sldId="363"/>
            <ac:spMk id="4" creationId="{00000000-0000-0000-0000-000000000000}"/>
          </ac:spMkLst>
        </pc:spChg>
        <pc:spChg chg="mod">
          <ac:chgData name="Aritad Choicharoon" userId="7ebe6862-6727-4d05-970a-71aa57435883" providerId="ADAL" clId="{21CAC99A-A91B-4094-9265-B37F8BFA90B3}" dt="2022-10-26T09:49:50.705" v="276"/>
          <ac:spMkLst>
            <pc:docMk/>
            <pc:sldMk cId="20564375" sldId="363"/>
            <ac:spMk id="6" creationId="{00000000-0000-0000-0000-000000000000}"/>
          </ac:spMkLst>
        </pc:spChg>
        <pc:spChg chg="mod">
          <ac:chgData name="Aritad Choicharoon" userId="7ebe6862-6727-4d05-970a-71aa57435883" providerId="ADAL" clId="{21CAC99A-A91B-4094-9265-B37F8BFA90B3}" dt="2022-10-26T09:50:23.703" v="281" actId="1076"/>
          <ac:spMkLst>
            <pc:docMk/>
            <pc:sldMk cId="20564375" sldId="363"/>
            <ac:spMk id="7" creationId="{00000000-0000-0000-0000-000000000000}"/>
          </ac:spMkLst>
        </pc:spChg>
        <pc:spChg chg="mod">
          <ac:chgData name="Aritad Choicharoon" userId="7ebe6862-6727-4d05-970a-71aa57435883" providerId="ADAL" clId="{21CAC99A-A91B-4094-9265-B37F8BFA90B3}" dt="2022-10-26T09:50:23.703" v="281" actId="1076"/>
          <ac:spMkLst>
            <pc:docMk/>
            <pc:sldMk cId="20564375" sldId="363"/>
            <ac:spMk id="15" creationId="{00000000-0000-0000-0000-000000000000}"/>
          </ac:spMkLst>
        </pc:spChg>
        <pc:picChg chg="add mod">
          <ac:chgData name="Aritad Choicharoon" userId="7ebe6862-6727-4d05-970a-71aa57435883" providerId="ADAL" clId="{21CAC99A-A91B-4094-9265-B37F8BFA90B3}" dt="2022-10-26T09:50:36.505" v="283" actId="1076"/>
          <ac:picMkLst>
            <pc:docMk/>
            <pc:sldMk cId="20564375" sldId="363"/>
            <ac:picMk id="9" creationId="{B6227D16-9B2C-18F4-EA42-AEA7C93F1224}"/>
          </ac:picMkLst>
        </pc:picChg>
      </pc:sldChg>
      <pc:sldChg chg="addSp delSp modSp mod">
        <pc:chgData name="Aritad Choicharoon" userId="7ebe6862-6727-4d05-970a-71aa57435883" providerId="ADAL" clId="{21CAC99A-A91B-4094-9265-B37F8BFA90B3}" dt="2022-10-26T09:53:12.019" v="286"/>
        <pc:sldMkLst>
          <pc:docMk/>
          <pc:sldMk cId="4027060301" sldId="364"/>
        </pc:sldMkLst>
        <pc:spChg chg="mod">
          <ac:chgData name="Aritad Choicharoon" userId="7ebe6862-6727-4d05-970a-71aa57435883" providerId="ADAL" clId="{21CAC99A-A91B-4094-9265-B37F8BFA90B3}" dt="2022-10-26T09:53:12.019" v="286"/>
          <ac:spMkLst>
            <pc:docMk/>
            <pc:sldMk cId="4027060301" sldId="364"/>
            <ac:spMk id="6" creationId="{606A987F-8BFD-7865-78D1-85C3FEC8E6EE}"/>
          </ac:spMkLst>
        </pc:spChg>
        <pc:spChg chg="mod">
          <ac:chgData name="Aritad Choicharoon" userId="7ebe6862-6727-4d05-970a-71aa57435883" providerId="ADAL" clId="{21CAC99A-A91B-4094-9265-B37F8BFA90B3}" dt="2022-10-26T09:53:12.019" v="286"/>
          <ac:spMkLst>
            <pc:docMk/>
            <pc:sldMk cId="4027060301" sldId="364"/>
            <ac:spMk id="7" creationId="{018AFA25-E50E-5D51-6CC5-EB1FFDA23076}"/>
          </ac:spMkLst>
        </pc:spChg>
        <pc:spChg chg="mod">
          <ac:chgData name="Aritad Choicharoon" userId="7ebe6862-6727-4d05-970a-71aa57435883" providerId="ADAL" clId="{21CAC99A-A91B-4094-9265-B37F8BFA90B3}" dt="2022-10-26T09:53:12.019" v="286"/>
          <ac:spMkLst>
            <pc:docMk/>
            <pc:sldMk cId="4027060301" sldId="364"/>
            <ac:spMk id="8" creationId="{E5674EF4-6531-1222-1A92-FB064C49323A}"/>
          </ac:spMkLst>
        </pc:spChg>
        <pc:grpChg chg="add mod">
          <ac:chgData name="Aritad Choicharoon" userId="7ebe6862-6727-4d05-970a-71aa57435883" providerId="ADAL" clId="{21CAC99A-A91B-4094-9265-B37F8BFA90B3}" dt="2022-10-26T09:53:12.019" v="286"/>
          <ac:grpSpMkLst>
            <pc:docMk/>
            <pc:sldMk cId="4027060301" sldId="364"/>
            <ac:grpSpMk id="4" creationId="{4BB25F8D-ACD8-9370-912C-C16DB32F74F5}"/>
          </ac:grpSpMkLst>
        </pc:grpChg>
        <pc:grpChg chg="del">
          <ac:chgData name="Aritad Choicharoon" userId="7ebe6862-6727-4d05-970a-71aa57435883" providerId="ADAL" clId="{21CAC99A-A91B-4094-9265-B37F8BFA90B3}" dt="2022-10-26T09:53:11.601" v="285" actId="478"/>
          <ac:grpSpMkLst>
            <pc:docMk/>
            <pc:sldMk cId="4027060301" sldId="364"/>
            <ac:grpSpMk id="23" creationId="{00000000-0000-0000-0000-000000000000}"/>
          </ac:grpSpMkLst>
        </pc:grpChg>
      </pc:sldChg>
      <pc:sldChg chg="addSp delSp modSp mod">
        <pc:chgData name="Aritad Choicharoon" userId="7ebe6862-6727-4d05-970a-71aa57435883" providerId="ADAL" clId="{21CAC99A-A91B-4094-9265-B37F8BFA90B3}" dt="2022-10-26T09:53:16.304" v="288"/>
        <pc:sldMkLst>
          <pc:docMk/>
          <pc:sldMk cId="114280872" sldId="365"/>
        </pc:sldMkLst>
        <pc:spChg chg="mod">
          <ac:chgData name="Aritad Choicharoon" userId="7ebe6862-6727-4d05-970a-71aa57435883" providerId="ADAL" clId="{21CAC99A-A91B-4094-9265-B37F8BFA90B3}" dt="2022-10-26T09:53:16.304" v="288"/>
          <ac:spMkLst>
            <pc:docMk/>
            <pc:sldMk cId="114280872" sldId="365"/>
            <ac:spMk id="6" creationId="{FF1C3B40-1EE5-20D8-F41E-FBBE559E829C}"/>
          </ac:spMkLst>
        </pc:spChg>
        <pc:spChg chg="mod">
          <ac:chgData name="Aritad Choicharoon" userId="7ebe6862-6727-4d05-970a-71aa57435883" providerId="ADAL" clId="{21CAC99A-A91B-4094-9265-B37F8BFA90B3}" dt="2022-10-26T09:53:16.304" v="288"/>
          <ac:spMkLst>
            <pc:docMk/>
            <pc:sldMk cId="114280872" sldId="365"/>
            <ac:spMk id="7" creationId="{5E4C409F-C051-6113-BD00-40B84F985F39}"/>
          </ac:spMkLst>
        </pc:spChg>
        <pc:spChg chg="mod">
          <ac:chgData name="Aritad Choicharoon" userId="7ebe6862-6727-4d05-970a-71aa57435883" providerId="ADAL" clId="{21CAC99A-A91B-4094-9265-B37F8BFA90B3}" dt="2022-10-26T09:53:16.304" v="288"/>
          <ac:spMkLst>
            <pc:docMk/>
            <pc:sldMk cId="114280872" sldId="365"/>
            <ac:spMk id="8" creationId="{D7B53B26-62FD-C77B-544B-01C9AD746454}"/>
          </ac:spMkLst>
        </pc:spChg>
        <pc:grpChg chg="add mod">
          <ac:chgData name="Aritad Choicharoon" userId="7ebe6862-6727-4d05-970a-71aa57435883" providerId="ADAL" clId="{21CAC99A-A91B-4094-9265-B37F8BFA90B3}" dt="2022-10-26T09:53:16.304" v="288"/>
          <ac:grpSpMkLst>
            <pc:docMk/>
            <pc:sldMk cId="114280872" sldId="365"/>
            <ac:grpSpMk id="4" creationId="{3B3BA9FE-4C05-AB31-F7EA-F236D1A22350}"/>
          </ac:grpSpMkLst>
        </pc:grpChg>
        <pc:grpChg chg="del">
          <ac:chgData name="Aritad Choicharoon" userId="7ebe6862-6727-4d05-970a-71aa57435883" providerId="ADAL" clId="{21CAC99A-A91B-4094-9265-B37F8BFA90B3}" dt="2022-10-26T09:53:15.914" v="287" actId="478"/>
          <ac:grpSpMkLst>
            <pc:docMk/>
            <pc:sldMk cId="114280872" sldId="365"/>
            <ac:grpSpMk id="25" creationId="{00000000-0000-0000-0000-000000000000}"/>
          </ac:grpSpMkLst>
        </pc:grpChg>
      </pc:sldChg>
      <pc:sldChg chg="addSp delSp modSp mod">
        <pc:chgData name="Aritad Choicharoon" userId="7ebe6862-6727-4d05-970a-71aa57435883" providerId="ADAL" clId="{21CAC99A-A91B-4094-9265-B37F8BFA90B3}" dt="2022-10-26T09:58:27.011" v="546" actId="207"/>
        <pc:sldMkLst>
          <pc:docMk/>
          <pc:sldMk cId="3929862746" sldId="373"/>
        </pc:sldMkLst>
        <pc:spChg chg="mod">
          <ac:chgData name="Aritad Choicharoon" userId="7ebe6862-6727-4d05-970a-71aa57435883" providerId="ADAL" clId="{21CAC99A-A91B-4094-9265-B37F8BFA90B3}" dt="2022-10-26T09:58:03.690" v="541"/>
          <ac:spMkLst>
            <pc:docMk/>
            <pc:sldMk cId="3929862746" sldId="373"/>
            <ac:spMk id="9" creationId="{E862862D-37B8-43B7-7124-A2ABC289CF02}"/>
          </ac:spMkLst>
        </pc:spChg>
        <pc:spChg chg="mod">
          <ac:chgData name="Aritad Choicharoon" userId="7ebe6862-6727-4d05-970a-71aa57435883" providerId="ADAL" clId="{21CAC99A-A91B-4094-9265-B37F8BFA90B3}" dt="2022-10-26T09:58:03.690" v="541"/>
          <ac:spMkLst>
            <pc:docMk/>
            <pc:sldMk cId="3929862746" sldId="373"/>
            <ac:spMk id="10" creationId="{8A89D2B5-062C-D6FF-FB13-7568A7015D86}"/>
          </ac:spMkLst>
        </pc:spChg>
        <pc:spChg chg="mod">
          <ac:chgData name="Aritad Choicharoon" userId="7ebe6862-6727-4d05-970a-71aa57435883" providerId="ADAL" clId="{21CAC99A-A91B-4094-9265-B37F8BFA90B3}" dt="2022-10-26T09:58:03.690" v="541"/>
          <ac:spMkLst>
            <pc:docMk/>
            <pc:sldMk cId="3929862746" sldId="373"/>
            <ac:spMk id="16" creationId="{565B7BDB-D748-263E-1514-33104B30DE46}"/>
          </ac:spMkLst>
        </pc:spChg>
        <pc:spChg chg="mod">
          <ac:chgData name="Aritad Choicharoon" userId="7ebe6862-6727-4d05-970a-71aa57435883" providerId="ADAL" clId="{21CAC99A-A91B-4094-9265-B37F8BFA90B3}" dt="2022-10-26T09:58:03.690" v="541"/>
          <ac:spMkLst>
            <pc:docMk/>
            <pc:sldMk cId="3929862746" sldId="373"/>
            <ac:spMk id="17" creationId="{83784F9A-B3DD-FF04-BEC4-054CCCF6EC44}"/>
          </ac:spMkLst>
        </pc:spChg>
        <pc:spChg chg="mod">
          <ac:chgData name="Aritad Choicharoon" userId="7ebe6862-6727-4d05-970a-71aa57435883" providerId="ADAL" clId="{21CAC99A-A91B-4094-9265-B37F8BFA90B3}" dt="2022-10-26T09:58:03.690" v="541"/>
          <ac:spMkLst>
            <pc:docMk/>
            <pc:sldMk cId="3929862746" sldId="373"/>
            <ac:spMk id="18" creationId="{BA22A4EB-576A-847A-E0F7-50E87B0C92CD}"/>
          </ac:spMkLst>
        </pc:spChg>
        <pc:spChg chg="mod">
          <ac:chgData name="Aritad Choicharoon" userId="7ebe6862-6727-4d05-970a-71aa57435883" providerId="ADAL" clId="{21CAC99A-A91B-4094-9265-B37F8BFA90B3}" dt="2022-10-26T09:58:03.690" v="541"/>
          <ac:spMkLst>
            <pc:docMk/>
            <pc:sldMk cId="3929862746" sldId="373"/>
            <ac:spMk id="19" creationId="{48D3D463-E361-EE65-A42B-8602040CE01B}"/>
          </ac:spMkLst>
        </pc:spChg>
        <pc:spChg chg="mod">
          <ac:chgData name="Aritad Choicharoon" userId="7ebe6862-6727-4d05-970a-71aa57435883" providerId="ADAL" clId="{21CAC99A-A91B-4094-9265-B37F8BFA90B3}" dt="2022-10-26T09:58:03.690" v="541"/>
          <ac:spMkLst>
            <pc:docMk/>
            <pc:sldMk cId="3929862746" sldId="373"/>
            <ac:spMk id="20" creationId="{DD3A9F1D-05C8-93D8-C0C5-6FAF1A530DD6}"/>
          </ac:spMkLst>
        </pc:spChg>
        <pc:spChg chg="mod">
          <ac:chgData name="Aritad Choicharoon" userId="7ebe6862-6727-4d05-970a-71aa57435883" providerId="ADAL" clId="{21CAC99A-A91B-4094-9265-B37F8BFA90B3}" dt="2022-10-26T09:58:03.690" v="541"/>
          <ac:spMkLst>
            <pc:docMk/>
            <pc:sldMk cId="3929862746" sldId="373"/>
            <ac:spMk id="21" creationId="{DA95BC8F-AF59-E480-AC8F-16CE28B460DA}"/>
          </ac:spMkLst>
        </pc:spChg>
        <pc:spChg chg="mod">
          <ac:chgData name="Aritad Choicharoon" userId="7ebe6862-6727-4d05-970a-71aa57435883" providerId="ADAL" clId="{21CAC99A-A91B-4094-9265-B37F8BFA90B3}" dt="2022-10-26T09:58:03.690" v="541"/>
          <ac:spMkLst>
            <pc:docMk/>
            <pc:sldMk cId="3929862746" sldId="373"/>
            <ac:spMk id="22" creationId="{1BFD9118-91CC-EAA4-AE93-FD4ADD37104C}"/>
          </ac:spMkLst>
        </pc:spChg>
        <pc:spChg chg="mod">
          <ac:chgData name="Aritad Choicharoon" userId="7ebe6862-6727-4d05-970a-71aa57435883" providerId="ADAL" clId="{21CAC99A-A91B-4094-9265-B37F8BFA90B3}" dt="2022-10-26T09:58:03.690" v="541"/>
          <ac:spMkLst>
            <pc:docMk/>
            <pc:sldMk cId="3929862746" sldId="373"/>
            <ac:spMk id="23" creationId="{6CFC33AF-B8F5-3708-CE30-71D146D2499A}"/>
          </ac:spMkLst>
        </pc:spChg>
        <pc:spChg chg="mod">
          <ac:chgData name="Aritad Choicharoon" userId="7ebe6862-6727-4d05-970a-71aa57435883" providerId="ADAL" clId="{21CAC99A-A91B-4094-9265-B37F8BFA90B3}" dt="2022-10-26T09:58:03.690" v="541"/>
          <ac:spMkLst>
            <pc:docMk/>
            <pc:sldMk cId="3929862746" sldId="373"/>
            <ac:spMk id="24" creationId="{3850AB09-BB26-BE5D-7BAD-19E963EC8344}"/>
          </ac:spMkLst>
        </pc:spChg>
        <pc:spChg chg="mod">
          <ac:chgData name="Aritad Choicharoon" userId="7ebe6862-6727-4d05-970a-71aa57435883" providerId="ADAL" clId="{21CAC99A-A91B-4094-9265-B37F8BFA90B3}" dt="2022-10-26T09:58:03.690" v="541"/>
          <ac:spMkLst>
            <pc:docMk/>
            <pc:sldMk cId="3929862746" sldId="373"/>
            <ac:spMk id="25" creationId="{629E0E55-3070-2CA1-C938-3D24C04326C6}"/>
          </ac:spMkLst>
        </pc:spChg>
        <pc:spChg chg="mod">
          <ac:chgData name="Aritad Choicharoon" userId="7ebe6862-6727-4d05-970a-71aa57435883" providerId="ADAL" clId="{21CAC99A-A91B-4094-9265-B37F8BFA90B3}" dt="2022-10-26T09:58:27.011" v="546" actId="207"/>
          <ac:spMkLst>
            <pc:docMk/>
            <pc:sldMk cId="3929862746" sldId="373"/>
            <ac:spMk id="29" creationId="{55242869-F05D-CD17-749B-729E68B26EA5}"/>
          </ac:spMkLst>
        </pc:spChg>
        <pc:spChg chg="mod">
          <ac:chgData name="Aritad Choicharoon" userId="7ebe6862-6727-4d05-970a-71aa57435883" providerId="ADAL" clId="{21CAC99A-A91B-4094-9265-B37F8BFA90B3}" dt="2022-10-26T09:58:27.011" v="546" actId="207"/>
          <ac:spMkLst>
            <pc:docMk/>
            <pc:sldMk cId="3929862746" sldId="373"/>
            <ac:spMk id="30" creationId="{CC7FB55D-FF6D-DE72-2C31-3A49343B68BC}"/>
          </ac:spMkLst>
        </pc:spChg>
        <pc:spChg chg="mod">
          <ac:chgData name="Aritad Choicharoon" userId="7ebe6862-6727-4d05-970a-71aa57435883" providerId="ADAL" clId="{21CAC99A-A91B-4094-9265-B37F8BFA90B3}" dt="2022-10-26T09:58:15.187" v="544"/>
          <ac:spMkLst>
            <pc:docMk/>
            <pc:sldMk cId="3929862746" sldId="373"/>
            <ac:spMk id="233" creationId="{6705E94A-2417-19B8-4006-271B2DA2E2EA}"/>
          </ac:spMkLst>
        </pc:spChg>
        <pc:spChg chg="mod">
          <ac:chgData name="Aritad Choicharoon" userId="7ebe6862-6727-4d05-970a-71aa57435883" providerId="ADAL" clId="{21CAC99A-A91B-4094-9265-B37F8BFA90B3}" dt="2022-10-26T09:58:15.187" v="544"/>
          <ac:spMkLst>
            <pc:docMk/>
            <pc:sldMk cId="3929862746" sldId="373"/>
            <ac:spMk id="234" creationId="{AFF6E952-AAAF-C1E1-43C3-D68431E59114}"/>
          </ac:spMkLst>
        </pc:spChg>
        <pc:spChg chg="mod">
          <ac:chgData name="Aritad Choicharoon" userId="7ebe6862-6727-4d05-970a-71aa57435883" providerId="ADAL" clId="{21CAC99A-A91B-4094-9265-B37F8BFA90B3}" dt="2022-10-26T09:58:15.187" v="544"/>
          <ac:spMkLst>
            <pc:docMk/>
            <pc:sldMk cId="3929862746" sldId="373"/>
            <ac:spMk id="235" creationId="{6D0E1E60-B71F-238A-B232-8922C130D642}"/>
          </ac:spMkLst>
        </pc:spChg>
        <pc:spChg chg="mod">
          <ac:chgData name="Aritad Choicharoon" userId="7ebe6862-6727-4d05-970a-71aa57435883" providerId="ADAL" clId="{21CAC99A-A91B-4094-9265-B37F8BFA90B3}" dt="2022-10-26T09:58:15.187" v="544"/>
          <ac:spMkLst>
            <pc:docMk/>
            <pc:sldMk cId="3929862746" sldId="373"/>
            <ac:spMk id="236" creationId="{87F80951-D88A-9599-8503-C49CC7C2B8B2}"/>
          </ac:spMkLst>
        </pc:spChg>
        <pc:spChg chg="mod">
          <ac:chgData name="Aritad Choicharoon" userId="7ebe6862-6727-4d05-970a-71aa57435883" providerId="ADAL" clId="{21CAC99A-A91B-4094-9265-B37F8BFA90B3}" dt="2022-10-26T09:58:15.187" v="544"/>
          <ac:spMkLst>
            <pc:docMk/>
            <pc:sldMk cId="3929862746" sldId="373"/>
            <ac:spMk id="237" creationId="{829E5A94-9812-362E-4058-1A989F789A71}"/>
          </ac:spMkLst>
        </pc:spChg>
        <pc:spChg chg="mod">
          <ac:chgData name="Aritad Choicharoon" userId="7ebe6862-6727-4d05-970a-71aa57435883" providerId="ADAL" clId="{21CAC99A-A91B-4094-9265-B37F8BFA90B3}" dt="2022-10-26T09:58:15.187" v="544"/>
          <ac:spMkLst>
            <pc:docMk/>
            <pc:sldMk cId="3929862746" sldId="373"/>
            <ac:spMk id="238" creationId="{F0AF081E-84C4-F4C2-0F1E-901AD86D6621}"/>
          </ac:spMkLst>
        </pc:spChg>
        <pc:spChg chg="mod">
          <ac:chgData name="Aritad Choicharoon" userId="7ebe6862-6727-4d05-970a-71aa57435883" providerId="ADAL" clId="{21CAC99A-A91B-4094-9265-B37F8BFA90B3}" dt="2022-10-26T09:58:27.011" v="546" actId="207"/>
          <ac:spMkLst>
            <pc:docMk/>
            <pc:sldMk cId="3929862746" sldId="373"/>
            <ac:spMk id="246" creationId="{CE4E00CB-C573-806C-66C4-CDDDBADD411E}"/>
          </ac:spMkLst>
        </pc:spChg>
        <pc:spChg chg="mod">
          <ac:chgData name="Aritad Choicharoon" userId="7ebe6862-6727-4d05-970a-71aa57435883" providerId="ADAL" clId="{21CAC99A-A91B-4094-9265-B37F8BFA90B3}" dt="2022-10-26T09:58:27.011" v="546" actId="207"/>
          <ac:spMkLst>
            <pc:docMk/>
            <pc:sldMk cId="3929862746" sldId="373"/>
            <ac:spMk id="247" creationId="{E3F0B733-1FCD-1E97-6F4A-D0815818D8F5}"/>
          </ac:spMkLst>
        </pc:spChg>
        <pc:spChg chg="mod">
          <ac:chgData name="Aritad Choicharoon" userId="7ebe6862-6727-4d05-970a-71aa57435883" providerId="ADAL" clId="{21CAC99A-A91B-4094-9265-B37F8BFA90B3}" dt="2022-10-26T09:58:15.187" v="544"/>
          <ac:spMkLst>
            <pc:docMk/>
            <pc:sldMk cId="3929862746" sldId="373"/>
            <ac:spMk id="249" creationId="{94D4AA9E-57F6-28CF-6648-4BE813489C86}"/>
          </ac:spMkLst>
        </pc:spChg>
        <pc:spChg chg="mod">
          <ac:chgData name="Aritad Choicharoon" userId="7ebe6862-6727-4d05-970a-71aa57435883" providerId="ADAL" clId="{21CAC99A-A91B-4094-9265-B37F8BFA90B3}" dt="2022-10-26T09:58:15.187" v="544"/>
          <ac:spMkLst>
            <pc:docMk/>
            <pc:sldMk cId="3929862746" sldId="373"/>
            <ac:spMk id="250" creationId="{0AC68163-FFD1-49E4-D10F-BA8CFAA5498D}"/>
          </ac:spMkLst>
        </pc:spChg>
        <pc:grpChg chg="add del mod">
          <ac:chgData name="Aritad Choicharoon" userId="7ebe6862-6727-4d05-970a-71aa57435883" providerId="ADAL" clId="{21CAC99A-A91B-4094-9265-B37F8BFA90B3}" dt="2022-10-26T09:58:07.091" v="542"/>
          <ac:grpSpMkLst>
            <pc:docMk/>
            <pc:sldMk cId="3929862746" sldId="373"/>
            <ac:grpSpMk id="6" creationId="{9EAA355A-DD3C-FFB3-3554-0F58E9D1CF92}"/>
          </ac:grpSpMkLst>
        </pc:grpChg>
        <pc:grpChg chg="mod">
          <ac:chgData name="Aritad Choicharoon" userId="7ebe6862-6727-4d05-970a-71aa57435883" providerId="ADAL" clId="{21CAC99A-A91B-4094-9265-B37F8BFA90B3}" dt="2022-10-26T09:58:03.690" v="541"/>
          <ac:grpSpMkLst>
            <pc:docMk/>
            <pc:sldMk cId="3929862746" sldId="373"/>
            <ac:grpSpMk id="7" creationId="{B4B6F2F6-3C30-47ED-7B6B-F9CB1C8C2CDE}"/>
          </ac:grpSpMkLst>
        </pc:grpChg>
        <pc:grpChg chg="mod">
          <ac:chgData name="Aritad Choicharoon" userId="7ebe6862-6727-4d05-970a-71aa57435883" providerId="ADAL" clId="{21CAC99A-A91B-4094-9265-B37F8BFA90B3}" dt="2022-10-26T09:58:03.690" v="541"/>
          <ac:grpSpMkLst>
            <pc:docMk/>
            <pc:sldMk cId="3929862746" sldId="373"/>
            <ac:grpSpMk id="8" creationId="{F9A6531D-8D09-9D91-5DD6-36FF18E8F153}"/>
          </ac:grpSpMkLst>
        </pc:grpChg>
        <pc:grpChg chg="mod">
          <ac:chgData name="Aritad Choicharoon" userId="7ebe6862-6727-4d05-970a-71aa57435883" providerId="ADAL" clId="{21CAC99A-A91B-4094-9265-B37F8BFA90B3}" dt="2022-10-26T09:58:03.690" v="541"/>
          <ac:grpSpMkLst>
            <pc:docMk/>
            <pc:sldMk cId="3929862746" sldId="373"/>
            <ac:grpSpMk id="11" creationId="{9ACC7B4E-4E0F-BA85-7E90-CDFA0D3D1EC2}"/>
          </ac:grpSpMkLst>
        </pc:grpChg>
        <pc:grpChg chg="mod">
          <ac:chgData name="Aritad Choicharoon" userId="7ebe6862-6727-4d05-970a-71aa57435883" providerId="ADAL" clId="{21CAC99A-A91B-4094-9265-B37F8BFA90B3}" dt="2022-10-26T09:58:03.690" v="541"/>
          <ac:grpSpMkLst>
            <pc:docMk/>
            <pc:sldMk cId="3929862746" sldId="373"/>
            <ac:grpSpMk id="12" creationId="{D63161BC-7D49-20F7-2AC8-56D77AA8A685}"/>
          </ac:grpSpMkLst>
        </pc:grpChg>
        <pc:grpChg chg="mod">
          <ac:chgData name="Aritad Choicharoon" userId="7ebe6862-6727-4d05-970a-71aa57435883" providerId="ADAL" clId="{21CAC99A-A91B-4094-9265-B37F8BFA90B3}" dt="2022-10-26T09:58:03.690" v="541"/>
          <ac:grpSpMkLst>
            <pc:docMk/>
            <pc:sldMk cId="3929862746" sldId="373"/>
            <ac:grpSpMk id="13" creationId="{BAB65ACA-8549-DCFD-6B02-A5F8B1982559}"/>
          </ac:grpSpMkLst>
        </pc:grpChg>
        <pc:grpChg chg="mod">
          <ac:chgData name="Aritad Choicharoon" userId="7ebe6862-6727-4d05-970a-71aa57435883" providerId="ADAL" clId="{21CAC99A-A91B-4094-9265-B37F8BFA90B3}" dt="2022-10-26T09:58:03.690" v="541"/>
          <ac:grpSpMkLst>
            <pc:docMk/>
            <pc:sldMk cId="3929862746" sldId="373"/>
            <ac:grpSpMk id="14" creationId="{81CDCEFF-0B66-1195-B278-70EAF5A24F81}"/>
          </ac:grpSpMkLst>
        </pc:grpChg>
        <pc:grpChg chg="mod">
          <ac:chgData name="Aritad Choicharoon" userId="7ebe6862-6727-4d05-970a-71aa57435883" providerId="ADAL" clId="{21CAC99A-A91B-4094-9265-B37F8BFA90B3}" dt="2022-10-26T09:58:03.690" v="541"/>
          <ac:grpSpMkLst>
            <pc:docMk/>
            <pc:sldMk cId="3929862746" sldId="373"/>
            <ac:grpSpMk id="15" creationId="{2B568AA8-6653-5557-0862-34662A65AF83}"/>
          </ac:grpSpMkLst>
        </pc:grpChg>
        <pc:grpChg chg="add mod">
          <ac:chgData name="Aritad Choicharoon" userId="7ebe6862-6727-4d05-970a-71aa57435883" providerId="ADAL" clId="{21CAC99A-A91B-4094-9265-B37F8BFA90B3}" dt="2022-10-26T09:58:15.187" v="544"/>
          <ac:grpSpMkLst>
            <pc:docMk/>
            <pc:sldMk cId="3929862746" sldId="373"/>
            <ac:grpSpMk id="26" creationId="{C0CF3408-A063-3BDF-9E4B-AE2105A9BA89}"/>
          </ac:grpSpMkLst>
        </pc:grpChg>
        <pc:grpChg chg="mod">
          <ac:chgData name="Aritad Choicharoon" userId="7ebe6862-6727-4d05-970a-71aa57435883" providerId="ADAL" clId="{21CAC99A-A91B-4094-9265-B37F8BFA90B3}" dt="2022-10-26T09:58:15.187" v="544"/>
          <ac:grpSpMkLst>
            <pc:docMk/>
            <pc:sldMk cId="3929862746" sldId="373"/>
            <ac:grpSpMk id="27" creationId="{10C537F3-13E3-AB22-4110-318B16924D30}"/>
          </ac:grpSpMkLst>
        </pc:grpChg>
        <pc:grpChg chg="mod">
          <ac:chgData name="Aritad Choicharoon" userId="7ebe6862-6727-4d05-970a-71aa57435883" providerId="ADAL" clId="{21CAC99A-A91B-4094-9265-B37F8BFA90B3}" dt="2022-10-26T09:58:15.187" v="544"/>
          <ac:grpSpMkLst>
            <pc:docMk/>
            <pc:sldMk cId="3929862746" sldId="373"/>
            <ac:grpSpMk id="28" creationId="{C264355D-EA62-E576-5B65-A81A6A4DFD92}"/>
          </ac:grpSpMkLst>
        </pc:grpChg>
        <pc:grpChg chg="mod">
          <ac:chgData name="Aritad Choicharoon" userId="7ebe6862-6727-4d05-970a-71aa57435883" providerId="ADAL" clId="{21CAC99A-A91B-4094-9265-B37F8BFA90B3}" dt="2022-10-26T09:58:15.187" v="544"/>
          <ac:grpSpMkLst>
            <pc:docMk/>
            <pc:sldMk cId="3929862746" sldId="373"/>
            <ac:grpSpMk id="31" creationId="{3DFA903D-4A4A-81EE-78DC-AA39A0F59E22}"/>
          </ac:grpSpMkLst>
        </pc:grpChg>
        <pc:grpChg chg="mod">
          <ac:chgData name="Aritad Choicharoon" userId="7ebe6862-6727-4d05-970a-71aa57435883" providerId="ADAL" clId="{21CAC99A-A91B-4094-9265-B37F8BFA90B3}" dt="2022-10-26T09:58:15.187" v="544"/>
          <ac:grpSpMkLst>
            <pc:docMk/>
            <pc:sldMk cId="3929862746" sldId="373"/>
            <ac:grpSpMk id="224" creationId="{3F5EEDAB-E3AC-E065-3227-DC2AD5D5B2D6}"/>
          </ac:grpSpMkLst>
        </pc:grpChg>
        <pc:grpChg chg="del">
          <ac:chgData name="Aritad Choicharoon" userId="7ebe6862-6727-4d05-970a-71aa57435883" providerId="ADAL" clId="{21CAC99A-A91B-4094-9265-B37F8BFA90B3}" dt="2022-10-26T09:58:14.823" v="543" actId="478"/>
          <ac:grpSpMkLst>
            <pc:docMk/>
            <pc:sldMk cId="3929862746" sldId="373"/>
            <ac:grpSpMk id="227" creationId="{00000000-0000-0000-0000-000000000000}"/>
          </ac:grpSpMkLst>
        </pc:grpChg>
        <pc:grpChg chg="mod">
          <ac:chgData name="Aritad Choicharoon" userId="7ebe6862-6727-4d05-970a-71aa57435883" providerId="ADAL" clId="{21CAC99A-A91B-4094-9265-B37F8BFA90B3}" dt="2022-10-26T09:58:15.187" v="544"/>
          <ac:grpSpMkLst>
            <pc:docMk/>
            <pc:sldMk cId="3929862746" sldId="373"/>
            <ac:grpSpMk id="230" creationId="{BCCCEBFD-F606-095F-8470-9B5FF64B7458}"/>
          </ac:grpSpMkLst>
        </pc:grpChg>
        <pc:grpChg chg="mod">
          <ac:chgData name="Aritad Choicharoon" userId="7ebe6862-6727-4d05-970a-71aa57435883" providerId="ADAL" clId="{21CAC99A-A91B-4094-9265-B37F8BFA90B3}" dt="2022-10-26T09:58:15.187" v="544"/>
          <ac:grpSpMkLst>
            <pc:docMk/>
            <pc:sldMk cId="3929862746" sldId="373"/>
            <ac:grpSpMk id="231" creationId="{8F5F9765-29E9-0827-08A5-66E75079E18D}"/>
          </ac:grpSpMkLst>
        </pc:grpChg>
        <pc:grpChg chg="mod">
          <ac:chgData name="Aritad Choicharoon" userId="7ebe6862-6727-4d05-970a-71aa57435883" providerId="ADAL" clId="{21CAC99A-A91B-4094-9265-B37F8BFA90B3}" dt="2022-10-26T09:58:15.187" v="544"/>
          <ac:grpSpMkLst>
            <pc:docMk/>
            <pc:sldMk cId="3929862746" sldId="373"/>
            <ac:grpSpMk id="232" creationId="{1791E550-ABC4-7A48-F4E0-195E6FD2615D}"/>
          </ac:grpSpMkLst>
        </pc:grpChg>
      </pc:sldChg>
      <pc:sldChg chg="add del">
        <pc:chgData name="Aritad Choicharoon" userId="7ebe6862-6727-4d05-970a-71aa57435883" providerId="ADAL" clId="{21CAC99A-A91B-4094-9265-B37F8BFA90B3}" dt="2022-10-26T10:24:54.338" v="688" actId="47"/>
        <pc:sldMkLst>
          <pc:docMk/>
          <pc:sldMk cId="3912679874" sldId="396"/>
        </pc:sldMkLst>
      </pc:sldChg>
      <pc:sldChg chg="modSp">
        <pc:chgData name="Aritad Choicharoon" userId="7ebe6862-6727-4d05-970a-71aa57435883" providerId="ADAL" clId="{21CAC99A-A91B-4094-9265-B37F8BFA90B3}" dt="2022-10-26T10:26:43.061" v="700" actId="20577"/>
        <pc:sldMkLst>
          <pc:docMk/>
          <pc:sldMk cId="1374830754" sldId="399"/>
        </pc:sldMkLst>
        <pc:spChg chg="mod">
          <ac:chgData name="Aritad Choicharoon" userId="7ebe6862-6727-4d05-970a-71aa57435883" providerId="ADAL" clId="{21CAC99A-A91B-4094-9265-B37F8BFA90B3}" dt="2022-10-26T10:26:43.061" v="700" actId="20577"/>
          <ac:spMkLst>
            <pc:docMk/>
            <pc:sldMk cId="1374830754" sldId="399"/>
            <ac:spMk id="9" creationId="{00000000-0000-0000-0000-000000000000}"/>
          </ac:spMkLst>
        </pc:spChg>
      </pc:sldChg>
      <pc:sldChg chg="modSp mod">
        <pc:chgData name="Aritad Choicharoon" userId="7ebe6862-6727-4d05-970a-71aa57435883" providerId="ADAL" clId="{21CAC99A-A91B-4094-9265-B37F8BFA90B3}" dt="2022-10-26T10:59:40.924" v="962" actId="20577"/>
        <pc:sldMkLst>
          <pc:docMk/>
          <pc:sldMk cId="4224665564" sldId="402"/>
        </pc:sldMkLst>
        <pc:spChg chg="mod">
          <ac:chgData name="Aritad Choicharoon" userId="7ebe6862-6727-4d05-970a-71aa57435883" providerId="ADAL" clId="{21CAC99A-A91B-4094-9265-B37F8BFA90B3}" dt="2022-10-26T10:59:40.924" v="962" actId="20577"/>
          <ac:spMkLst>
            <pc:docMk/>
            <pc:sldMk cId="4224665564" sldId="402"/>
            <ac:spMk id="2" creationId="{00000000-0000-0000-0000-000000000000}"/>
          </ac:spMkLst>
        </pc:spChg>
      </pc:sldChg>
      <pc:sldChg chg="addSp modSp mod modAnim">
        <pc:chgData name="Aritad Choicharoon" userId="7ebe6862-6727-4d05-970a-71aa57435883" providerId="ADAL" clId="{21CAC99A-A91B-4094-9265-B37F8BFA90B3}" dt="2022-10-26T10:35:26.334" v="734"/>
        <pc:sldMkLst>
          <pc:docMk/>
          <pc:sldMk cId="439927914" sldId="404"/>
        </pc:sldMkLst>
        <pc:spChg chg="mod">
          <ac:chgData name="Aritad Choicharoon" userId="7ebe6862-6727-4d05-970a-71aa57435883" providerId="ADAL" clId="{21CAC99A-A91B-4094-9265-B37F8BFA90B3}" dt="2022-10-26T10:34:31.920" v="728" actId="20577"/>
          <ac:spMkLst>
            <pc:docMk/>
            <pc:sldMk cId="439927914" sldId="404"/>
            <ac:spMk id="2" creationId="{00000000-0000-0000-0000-000000000000}"/>
          </ac:spMkLst>
        </pc:spChg>
        <pc:spChg chg="add mod">
          <ac:chgData name="Aritad Choicharoon" userId="7ebe6862-6727-4d05-970a-71aa57435883" providerId="ADAL" clId="{21CAC99A-A91B-4094-9265-B37F8BFA90B3}" dt="2022-10-26T10:35:20.275" v="732" actId="1582"/>
          <ac:spMkLst>
            <pc:docMk/>
            <pc:sldMk cId="439927914" sldId="404"/>
            <ac:spMk id="4" creationId="{281FD2B8-0E49-6C0F-95F5-C5D664E0A671}"/>
          </ac:spMkLst>
        </pc:spChg>
      </pc:sldChg>
      <pc:sldChg chg="modSp mod">
        <pc:chgData name="Aritad Choicharoon" userId="7ebe6862-6727-4d05-970a-71aa57435883" providerId="ADAL" clId="{21CAC99A-A91B-4094-9265-B37F8BFA90B3}" dt="2022-10-26T09:57:41.804" v="540" actId="1076"/>
        <pc:sldMkLst>
          <pc:docMk/>
          <pc:sldMk cId="1013588659" sldId="407"/>
        </pc:sldMkLst>
        <pc:spChg chg="mod">
          <ac:chgData name="Aritad Choicharoon" userId="7ebe6862-6727-4d05-970a-71aa57435883" providerId="ADAL" clId="{21CAC99A-A91B-4094-9265-B37F8BFA90B3}" dt="2022-10-26T09:57:30.897" v="538" actId="20577"/>
          <ac:spMkLst>
            <pc:docMk/>
            <pc:sldMk cId="1013588659" sldId="407"/>
            <ac:spMk id="35" creationId="{00000000-0000-0000-0000-000000000000}"/>
          </ac:spMkLst>
        </pc:spChg>
        <pc:spChg chg="mod">
          <ac:chgData name="Aritad Choicharoon" userId="7ebe6862-6727-4d05-970a-71aa57435883" providerId="ADAL" clId="{21CAC99A-A91B-4094-9265-B37F8BFA90B3}" dt="2022-10-26T09:57:41.804" v="540" actId="1076"/>
          <ac:spMkLst>
            <pc:docMk/>
            <pc:sldMk cId="1013588659" sldId="407"/>
            <ac:spMk id="37" creationId="{00000000-0000-0000-0000-000000000000}"/>
          </ac:spMkLst>
        </pc:spChg>
        <pc:spChg chg="mod">
          <ac:chgData name="Aritad Choicharoon" userId="7ebe6862-6727-4d05-970a-71aa57435883" providerId="ADAL" clId="{21CAC99A-A91B-4094-9265-B37F8BFA90B3}" dt="2022-10-26T09:57:38.958" v="539" actId="1076"/>
          <ac:spMkLst>
            <pc:docMk/>
            <pc:sldMk cId="1013588659" sldId="407"/>
            <ac:spMk id="46" creationId="{00000000-0000-0000-0000-000000000000}"/>
          </ac:spMkLst>
        </pc:spChg>
      </pc:sldChg>
      <pc:sldChg chg="modSp mod">
        <pc:chgData name="Aritad Choicharoon" userId="7ebe6862-6727-4d05-970a-71aa57435883" providerId="ADAL" clId="{21CAC99A-A91B-4094-9265-B37F8BFA90B3}" dt="2022-10-26T09:59:53.453" v="548" actId="115"/>
        <pc:sldMkLst>
          <pc:docMk/>
          <pc:sldMk cId="3018361239" sldId="408"/>
        </pc:sldMkLst>
        <pc:spChg chg="mod">
          <ac:chgData name="Aritad Choicharoon" userId="7ebe6862-6727-4d05-970a-71aa57435883" providerId="ADAL" clId="{21CAC99A-A91B-4094-9265-B37F8BFA90B3}" dt="2022-10-26T09:59:53.453" v="548" actId="115"/>
          <ac:spMkLst>
            <pc:docMk/>
            <pc:sldMk cId="3018361239" sldId="408"/>
            <ac:spMk id="120" creationId="{D4B15655-F4F2-40CD-9D14-D26EE43B6721}"/>
          </ac:spMkLst>
        </pc:spChg>
      </pc:sldChg>
      <pc:sldChg chg="modSp mod">
        <pc:chgData name="Aritad Choicharoon" userId="7ebe6862-6727-4d05-970a-71aa57435883" providerId="ADAL" clId="{21CAC99A-A91B-4094-9265-B37F8BFA90B3}" dt="2022-10-26T10:19:04.004" v="684" actId="404"/>
        <pc:sldMkLst>
          <pc:docMk/>
          <pc:sldMk cId="2579989677" sldId="412"/>
        </pc:sldMkLst>
        <pc:spChg chg="mod">
          <ac:chgData name="Aritad Choicharoon" userId="7ebe6862-6727-4d05-970a-71aa57435883" providerId="ADAL" clId="{21CAC99A-A91B-4094-9265-B37F8BFA90B3}" dt="2022-10-26T10:19:04.004" v="684" actId="404"/>
          <ac:spMkLst>
            <pc:docMk/>
            <pc:sldMk cId="2579989677" sldId="412"/>
            <ac:spMk id="135" creationId="{64BFD618-A504-4963-9601-6FAB2C228892}"/>
          </ac:spMkLst>
        </pc:spChg>
      </pc:sldChg>
      <pc:sldChg chg="modSp ord">
        <pc:chgData name="Aritad Choicharoon" userId="7ebe6862-6727-4d05-970a-71aa57435883" providerId="ADAL" clId="{21CAC99A-A91B-4094-9265-B37F8BFA90B3}" dt="2022-10-26T11:00:36.530" v="968"/>
        <pc:sldMkLst>
          <pc:docMk/>
          <pc:sldMk cId="4277700710" sldId="418"/>
        </pc:sldMkLst>
        <pc:spChg chg="mod">
          <ac:chgData name="Aritad Choicharoon" userId="7ebe6862-6727-4d05-970a-71aa57435883" providerId="ADAL" clId="{21CAC99A-A91B-4094-9265-B37F8BFA90B3}" dt="2022-10-26T11:00:34.232" v="966"/>
          <ac:spMkLst>
            <pc:docMk/>
            <pc:sldMk cId="4277700710" sldId="418"/>
            <ac:spMk id="7" creationId="{00000000-0000-0000-0000-000000000000}"/>
          </ac:spMkLst>
        </pc:spChg>
      </pc:sldChg>
      <pc:sldChg chg="addSp delSp modSp mod delAnim">
        <pc:chgData name="Aritad Choicharoon" userId="7ebe6862-6727-4d05-970a-71aa57435883" providerId="ADAL" clId="{21CAC99A-A91B-4094-9265-B37F8BFA90B3}" dt="2022-10-26T10:32:34.406" v="708" actId="21"/>
        <pc:sldMkLst>
          <pc:docMk/>
          <pc:sldMk cId="1394624017" sldId="427"/>
        </pc:sldMkLst>
        <pc:spChg chg="del">
          <ac:chgData name="Aritad Choicharoon" userId="7ebe6862-6727-4d05-970a-71aa57435883" providerId="ADAL" clId="{21CAC99A-A91B-4094-9265-B37F8BFA90B3}" dt="2022-10-26T10:30:02.338" v="705" actId="478"/>
          <ac:spMkLst>
            <pc:docMk/>
            <pc:sldMk cId="1394624017" sldId="427"/>
            <ac:spMk id="34" creationId="{41C65558-994C-4797-A116-52398C8BF5CF}"/>
          </ac:spMkLst>
        </pc:spChg>
        <pc:picChg chg="add del mod">
          <ac:chgData name="Aritad Choicharoon" userId="7ebe6862-6727-4d05-970a-71aa57435883" providerId="ADAL" clId="{21CAC99A-A91B-4094-9265-B37F8BFA90B3}" dt="2022-10-26T10:32:34.406" v="708" actId="21"/>
          <ac:picMkLst>
            <pc:docMk/>
            <pc:sldMk cId="1394624017" sldId="427"/>
            <ac:picMk id="5" creationId="{25930E3C-5C8D-C416-F428-AE2BEB7F97A5}"/>
          </ac:picMkLst>
        </pc:picChg>
      </pc:sldChg>
      <pc:sldChg chg="addSp delSp modSp mod">
        <pc:chgData name="Aritad Choicharoon" userId="7ebe6862-6727-4d05-970a-71aa57435883" providerId="ADAL" clId="{21CAC99A-A91B-4094-9265-B37F8BFA90B3}" dt="2022-10-26T10:33:34.128" v="727" actId="1076"/>
        <pc:sldMkLst>
          <pc:docMk/>
          <pc:sldMk cId="2876585558" sldId="429"/>
        </pc:sldMkLst>
        <pc:picChg chg="add del mod modCrop">
          <ac:chgData name="Aritad Choicharoon" userId="7ebe6862-6727-4d05-970a-71aa57435883" providerId="ADAL" clId="{21CAC99A-A91B-4094-9265-B37F8BFA90B3}" dt="2022-10-26T10:33:21.352" v="725" actId="478"/>
          <ac:picMkLst>
            <pc:docMk/>
            <pc:sldMk cId="2876585558" sldId="429"/>
            <ac:picMk id="3" creationId="{0EE55A25-79B6-FA91-B7B0-86920B26079B}"/>
          </ac:picMkLst>
        </pc:picChg>
        <pc:picChg chg="add mod">
          <ac:chgData name="Aritad Choicharoon" userId="7ebe6862-6727-4d05-970a-71aa57435883" providerId="ADAL" clId="{21CAC99A-A91B-4094-9265-B37F8BFA90B3}" dt="2022-10-26T10:33:20.053" v="724" actId="1076"/>
          <ac:picMkLst>
            <pc:docMk/>
            <pc:sldMk cId="2876585558" sldId="429"/>
            <ac:picMk id="5" creationId="{BF33B279-C5AE-A770-117D-1D529A8CC9B1}"/>
          </ac:picMkLst>
        </pc:picChg>
        <pc:picChg chg="add mod">
          <ac:chgData name="Aritad Choicharoon" userId="7ebe6862-6727-4d05-970a-71aa57435883" providerId="ADAL" clId="{21CAC99A-A91B-4094-9265-B37F8BFA90B3}" dt="2022-10-26T10:33:34.128" v="727" actId="1076"/>
          <ac:picMkLst>
            <pc:docMk/>
            <pc:sldMk cId="2876585558" sldId="429"/>
            <ac:picMk id="7" creationId="{6881E42C-50AA-2D62-6168-3B475B8399E9}"/>
          </ac:picMkLst>
        </pc:picChg>
      </pc:sldChg>
      <pc:sldChg chg="modSp mod">
        <pc:chgData name="Aritad Choicharoon" userId="7ebe6862-6727-4d05-970a-71aa57435883" providerId="ADAL" clId="{21CAC99A-A91B-4094-9265-B37F8BFA90B3}" dt="2022-10-26T10:50:29.325" v="947" actId="121"/>
        <pc:sldMkLst>
          <pc:docMk/>
          <pc:sldMk cId="1467034771" sldId="466"/>
        </pc:sldMkLst>
        <pc:spChg chg="mod">
          <ac:chgData name="Aritad Choicharoon" userId="7ebe6862-6727-4d05-970a-71aa57435883" providerId="ADAL" clId="{21CAC99A-A91B-4094-9265-B37F8BFA90B3}" dt="2022-10-26T10:50:29.325" v="947" actId="121"/>
          <ac:spMkLst>
            <pc:docMk/>
            <pc:sldMk cId="1467034771" sldId="466"/>
            <ac:spMk id="3" creationId="{00000000-0000-0000-0000-000000000000}"/>
          </ac:spMkLst>
        </pc:spChg>
      </pc:sldChg>
      <pc:sldChg chg="addSp delSp modSp mod delAnim">
        <pc:chgData name="Aritad Choicharoon" userId="7ebe6862-6727-4d05-970a-71aa57435883" providerId="ADAL" clId="{21CAC99A-A91B-4094-9265-B37F8BFA90B3}" dt="2022-10-26T10:47:36.548" v="853" actId="20577"/>
        <pc:sldMkLst>
          <pc:docMk/>
          <pc:sldMk cId="653838078" sldId="467"/>
        </pc:sldMkLst>
        <pc:spChg chg="del mod">
          <ac:chgData name="Aritad Choicharoon" userId="7ebe6862-6727-4d05-970a-71aa57435883" providerId="ADAL" clId="{21CAC99A-A91B-4094-9265-B37F8BFA90B3}" dt="2022-10-26T10:45:59.952" v="824"/>
          <ac:spMkLst>
            <pc:docMk/>
            <pc:sldMk cId="653838078" sldId="467"/>
            <ac:spMk id="5" creationId="{00000000-0000-0000-0000-000000000000}"/>
          </ac:spMkLst>
        </pc:spChg>
        <pc:spChg chg="del">
          <ac:chgData name="Aritad Choicharoon" userId="7ebe6862-6727-4d05-970a-71aa57435883" providerId="ADAL" clId="{21CAC99A-A91B-4094-9265-B37F8BFA90B3}" dt="2022-10-26T10:45:59.949" v="818" actId="478"/>
          <ac:spMkLst>
            <pc:docMk/>
            <pc:sldMk cId="653838078" sldId="467"/>
            <ac:spMk id="15" creationId="{00000000-0000-0000-0000-000000000000}"/>
          </ac:spMkLst>
        </pc:spChg>
        <pc:spChg chg="del mod">
          <ac:chgData name="Aritad Choicharoon" userId="7ebe6862-6727-4d05-970a-71aa57435883" providerId="ADAL" clId="{21CAC99A-A91B-4094-9265-B37F8BFA90B3}" dt="2022-10-26T10:45:59.950" v="820"/>
          <ac:spMkLst>
            <pc:docMk/>
            <pc:sldMk cId="653838078" sldId="467"/>
            <ac:spMk id="16" creationId="{00000000-0000-0000-0000-000000000000}"/>
          </ac:spMkLst>
        </pc:spChg>
        <pc:spChg chg="del mod">
          <ac:chgData name="Aritad Choicharoon" userId="7ebe6862-6727-4d05-970a-71aa57435883" providerId="ADAL" clId="{21CAC99A-A91B-4094-9265-B37F8BFA90B3}" dt="2022-10-26T10:45:59.951" v="822"/>
          <ac:spMkLst>
            <pc:docMk/>
            <pc:sldMk cId="653838078" sldId="467"/>
            <ac:spMk id="17" creationId="{00000000-0000-0000-0000-000000000000}"/>
          </ac:spMkLst>
        </pc:spChg>
        <pc:spChg chg="del">
          <ac:chgData name="Aritad Choicharoon" userId="7ebe6862-6727-4d05-970a-71aa57435883" providerId="ADAL" clId="{21CAC99A-A91B-4094-9265-B37F8BFA90B3}" dt="2022-10-26T10:46:14.691" v="829" actId="478"/>
          <ac:spMkLst>
            <pc:docMk/>
            <pc:sldMk cId="653838078" sldId="467"/>
            <ac:spMk id="21" creationId="{00000000-0000-0000-0000-000000000000}"/>
          </ac:spMkLst>
        </pc:spChg>
        <pc:graphicFrameChg chg="add mod ord modGraphic">
          <ac:chgData name="Aritad Choicharoon" userId="7ebe6862-6727-4d05-970a-71aa57435883" providerId="ADAL" clId="{21CAC99A-A91B-4094-9265-B37F8BFA90B3}" dt="2022-10-26T10:47:36.548" v="853" actId="20577"/>
          <ac:graphicFrameMkLst>
            <pc:docMk/>
            <pc:sldMk cId="653838078" sldId="467"/>
            <ac:graphicFrameMk id="3" creationId="{DE97E404-437B-1F57-268A-B5B95346E19A}"/>
          </ac:graphicFrameMkLst>
        </pc:graphicFrameChg>
        <pc:graphicFrameChg chg="del mod modGraphic">
          <ac:chgData name="Aritad Choicharoon" userId="7ebe6862-6727-4d05-970a-71aa57435883" providerId="ADAL" clId="{21CAC99A-A91B-4094-9265-B37F8BFA90B3}" dt="2022-10-26T10:46:28.532" v="834" actId="478"/>
          <ac:graphicFrameMkLst>
            <pc:docMk/>
            <pc:sldMk cId="653838078" sldId="467"/>
            <ac:graphicFrameMk id="4" creationId="{00000000-0000-0000-0000-000000000000}"/>
          </ac:graphicFrameMkLst>
        </pc:graphicFrameChg>
      </pc:sldChg>
      <pc:sldChg chg="del">
        <pc:chgData name="Aritad Choicharoon" userId="7ebe6862-6727-4d05-970a-71aa57435883" providerId="ADAL" clId="{21CAC99A-A91B-4094-9265-B37F8BFA90B3}" dt="2022-10-26T10:47:42.215" v="854" actId="2696"/>
        <pc:sldMkLst>
          <pc:docMk/>
          <pc:sldMk cId="1494492068" sldId="468"/>
        </pc:sldMkLst>
      </pc:sldChg>
      <pc:sldChg chg="del">
        <pc:chgData name="Aritad Choicharoon" userId="7ebe6862-6727-4d05-970a-71aa57435883" providerId="ADAL" clId="{21CAC99A-A91B-4094-9265-B37F8BFA90B3}" dt="2022-10-26T10:51:01.887" v="949" actId="47"/>
        <pc:sldMkLst>
          <pc:docMk/>
          <pc:sldMk cId="3209003256" sldId="471"/>
        </pc:sldMkLst>
      </pc:sldChg>
      <pc:sldChg chg="modSp mod">
        <pc:chgData name="Aritad Choicharoon" userId="7ebe6862-6727-4d05-970a-71aa57435883" providerId="ADAL" clId="{21CAC99A-A91B-4094-9265-B37F8BFA90B3}" dt="2022-10-26T09:13:39.171" v="24" actId="20577"/>
        <pc:sldMkLst>
          <pc:docMk/>
          <pc:sldMk cId="1596434583" sldId="474"/>
        </pc:sldMkLst>
        <pc:spChg chg="mod">
          <ac:chgData name="Aritad Choicharoon" userId="7ebe6862-6727-4d05-970a-71aa57435883" providerId="ADAL" clId="{21CAC99A-A91B-4094-9265-B37F8BFA90B3}" dt="2022-10-26T09:13:39.171" v="24" actId="20577"/>
          <ac:spMkLst>
            <pc:docMk/>
            <pc:sldMk cId="1596434583" sldId="474"/>
            <ac:spMk id="3" creationId="{78948A70-32F3-4059-91AE-7E8317E1A4CF}"/>
          </ac:spMkLst>
        </pc:spChg>
      </pc:sldChg>
      <pc:sldChg chg="addSp delSp modSp mod setBg">
        <pc:chgData name="Aritad Choicharoon" userId="7ebe6862-6727-4d05-970a-71aa57435883" providerId="ADAL" clId="{21CAC99A-A91B-4094-9265-B37F8BFA90B3}" dt="2022-10-26T10:50:12.089" v="938" actId="208"/>
        <pc:sldMkLst>
          <pc:docMk/>
          <pc:sldMk cId="2137217454" sldId="475"/>
        </pc:sldMkLst>
        <pc:spChg chg="mod">
          <ac:chgData name="Aritad Choicharoon" userId="7ebe6862-6727-4d05-970a-71aa57435883" providerId="ADAL" clId="{21CAC99A-A91B-4094-9265-B37F8BFA90B3}" dt="2022-10-26T10:49:58.493" v="932" actId="20577"/>
          <ac:spMkLst>
            <pc:docMk/>
            <pc:sldMk cId="2137217454" sldId="475"/>
            <ac:spMk id="2" creationId="{790C4C77-9508-4F69-BBB7-7BC89AC88B70}"/>
          </ac:spMkLst>
        </pc:spChg>
        <pc:spChg chg="mod">
          <ac:chgData name="Aritad Choicharoon" userId="7ebe6862-6727-4d05-970a-71aa57435883" providerId="ADAL" clId="{21CAC99A-A91B-4094-9265-B37F8BFA90B3}" dt="2022-10-26T10:50:05.602" v="937" actId="20577"/>
          <ac:spMkLst>
            <pc:docMk/>
            <pc:sldMk cId="2137217454" sldId="475"/>
            <ac:spMk id="3" creationId="{91424561-7EAC-4041-98E8-5F15A1F036E8}"/>
          </ac:spMkLst>
        </pc:spChg>
        <pc:spChg chg="add">
          <ac:chgData name="Aritad Choicharoon" userId="7ebe6862-6727-4d05-970a-71aa57435883" providerId="ADAL" clId="{21CAC99A-A91B-4094-9265-B37F8BFA90B3}" dt="2022-10-26T10:49:54.155" v="931" actId="26606"/>
          <ac:spMkLst>
            <pc:docMk/>
            <pc:sldMk cId="2137217454" sldId="475"/>
            <ac:spMk id="11" creationId="{2B97F24A-32CE-4C1C-A50D-3016B394DCFB}"/>
          </ac:spMkLst>
        </pc:spChg>
        <pc:spChg chg="add">
          <ac:chgData name="Aritad Choicharoon" userId="7ebe6862-6727-4d05-970a-71aa57435883" providerId="ADAL" clId="{21CAC99A-A91B-4094-9265-B37F8BFA90B3}" dt="2022-10-26T10:49:54.155" v="931" actId="26606"/>
          <ac:spMkLst>
            <pc:docMk/>
            <pc:sldMk cId="2137217454" sldId="475"/>
            <ac:spMk id="13" creationId="{CD8B4F24-440B-49E9-B85D-733523DC064B}"/>
          </ac:spMkLst>
        </pc:spChg>
        <pc:picChg chg="del">
          <ac:chgData name="Aritad Choicharoon" userId="7ebe6862-6727-4d05-970a-71aa57435883" providerId="ADAL" clId="{21CAC99A-A91B-4094-9265-B37F8BFA90B3}" dt="2022-10-26T10:48:39.332" v="913" actId="478"/>
          <ac:picMkLst>
            <pc:docMk/>
            <pc:sldMk cId="2137217454" sldId="475"/>
            <ac:picMk id="4" creationId="{B0DABA29-58EF-4FDF-90CD-EB0D388A1446}"/>
          </ac:picMkLst>
        </pc:picChg>
        <pc:picChg chg="add mod">
          <ac:chgData name="Aritad Choicharoon" userId="7ebe6862-6727-4d05-970a-71aa57435883" providerId="ADAL" clId="{21CAC99A-A91B-4094-9265-B37F8BFA90B3}" dt="2022-10-26T10:50:12.089" v="938" actId="208"/>
          <ac:picMkLst>
            <pc:docMk/>
            <pc:sldMk cId="2137217454" sldId="475"/>
            <ac:picMk id="6" creationId="{F66D2E14-C50C-101E-1A4B-4B963468B624}"/>
          </ac:picMkLst>
        </pc:picChg>
      </pc:sldChg>
      <pc:sldChg chg="del">
        <pc:chgData name="Aritad Choicharoon" userId="7ebe6862-6727-4d05-970a-71aa57435883" providerId="ADAL" clId="{21CAC99A-A91B-4094-9265-B37F8BFA90B3}" dt="2022-10-26T09:13:49.921" v="25" actId="2696"/>
        <pc:sldMkLst>
          <pc:docMk/>
          <pc:sldMk cId="3254787594" sldId="476"/>
        </pc:sldMkLst>
      </pc:sldChg>
      <pc:sldChg chg="modSp mod">
        <pc:chgData name="Aritad Choicharoon" userId="7ebe6862-6727-4d05-970a-71aa57435883" providerId="ADAL" clId="{21CAC99A-A91B-4094-9265-B37F8BFA90B3}" dt="2022-10-26T10:27:11.109" v="704" actId="115"/>
        <pc:sldMkLst>
          <pc:docMk/>
          <pc:sldMk cId="3886075780" sldId="477"/>
        </pc:sldMkLst>
        <pc:spChg chg="mod">
          <ac:chgData name="Aritad Choicharoon" userId="7ebe6862-6727-4d05-970a-71aa57435883" providerId="ADAL" clId="{21CAC99A-A91B-4094-9265-B37F8BFA90B3}" dt="2022-10-26T10:27:11.109" v="704" actId="115"/>
          <ac:spMkLst>
            <pc:docMk/>
            <pc:sldMk cId="3886075780" sldId="477"/>
            <ac:spMk id="7" creationId="{F827ADC5-C601-4778-9951-6B12C83A9043}"/>
          </ac:spMkLst>
        </pc:spChg>
      </pc:sldChg>
      <pc:sldChg chg="del">
        <pc:chgData name="Aritad Choicharoon" userId="7ebe6862-6727-4d05-970a-71aa57435883" providerId="ADAL" clId="{21CAC99A-A91B-4094-9265-B37F8BFA90B3}" dt="2022-10-26T10:35:41.642" v="735" actId="47"/>
        <pc:sldMkLst>
          <pc:docMk/>
          <pc:sldMk cId="3243860213" sldId="479"/>
        </pc:sldMkLst>
      </pc:sldChg>
      <pc:sldChg chg="modSp mod ord modAnim">
        <pc:chgData name="Aritad Choicharoon" userId="7ebe6862-6727-4d05-970a-71aa57435883" providerId="ADAL" clId="{21CAC99A-A91B-4094-9265-B37F8BFA90B3}" dt="2022-10-26T11:00:28.500" v="965" actId="20577"/>
        <pc:sldMkLst>
          <pc:docMk/>
          <pc:sldMk cId="2305276883" sldId="481"/>
        </pc:sldMkLst>
        <pc:spChg chg="mod">
          <ac:chgData name="Aritad Choicharoon" userId="7ebe6862-6727-4d05-970a-71aa57435883" providerId="ADAL" clId="{21CAC99A-A91B-4094-9265-B37F8BFA90B3}" dt="2022-10-26T11:00:28.500" v="965" actId="20577"/>
          <ac:spMkLst>
            <pc:docMk/>
            <pc:sldMk cId="2305276883" sldId="481"/>
            <ac:spMk id="7" creationId="{00000000-0000-0000-0000-000000000000}"/>
          </ac:spMkLst>
        </pc:spChg>
      </pc:sldChg>
      <pc:sldChg chg="modSp add mod">
        <pc:chgData name="Aritad Choicharoon" userId="7ebe6862-6727-4d05-970a-71aa57435883" providerId="ADAL" clId="{21CAC99A-A91B-4094-9265-B37F8BFA90B3}" dt="2022-10-26T10:48:12.630" v="896" actId="207"/>
        <pc:sldMkLst>
          <pc:docMk/>
          <pc:sldMk cId="4014798689" sldId="483"/>
        </pc:sldMkLst>
        <pc:graphicFrameChg chg="mod modGraphic">
          <ac:chgData name="Aritad Choicharoon" userId="7ebe6862-6727-4d05-970a-71aa57435883" providerId="ADAL" clId="{21CAC99A-A91B-4094-9265-B37F8BFA90B3}" dt="2022-10-26T10:48:12.630" v="896" actId="207"/>
          <ac:graphicFrameMkLst>
            <pc:docMk/>
            <pc:sldMk cId="4014798689" sldId="483"/>
            <ac:graphicFrameMk id="3" creationId="{DE97E404-437B-1F57-268A-B5B95346E19A}"/>
          </ac:graphicFrameMkLst>
        </pc:graphicFrameChg>
      </pc:sldChg>
      <pc:sldChg chg="modSp add mod">
        <pc:chgData name="Aritad Choicharoon" userId="7ebe6862-6727-4d05-970a-71aa57435883" providerId="ADAL" clId="{21CAC99A-A91B-4094-9265-B37F8BFA90B3}" dt="2022-10-26T10:48:22.465" v="908" actId="20577"/>
        <pc:sldMkLst>
          <pc:docMk/>
          <pc:sldMk cId="1374294515" sldId="484"/>
        </pc:sldMkLst>
        <pc:graphicFrameChg chg="mod modGraphic">
          <ac:chgData name="Aritad Choicharoon" userId="7ebe6862-6727-4d05-970a-71aa57435883" providerId="ADAL" clId="{21CAC99A-A91B-4094-9265-B37F8BFA90B3}" dt="2022-10-26T10:48:22.465" v="908" actId="20577"/>
          <ac:graphicFrameMkLst>
            <pc:docMk/>
            <pc:sldMk cId="1374294515" sldId="484"/>
            <ac:graphicFrameMk id="3" creationId="{DE97E404-437B-1F57-268A-B5B95346E19A}"/>
          </ac:graphicFrameMkLst>
        </pc:graphicFrameChg>
      </pc:sldChg>
      <pc:sldChg chg="add">
        <pc:chgData name="Aritad Choicharoon" userId="7ebe6862-6727-4d05-970a-71aa57435883" providerId="ADAL" clId="{21CAC99A-A91B-4094-9265-B37F8BFA90B3}" dt="2022-10-26T10:51:00.183" v="948"/>
        <pc:sldMkLst>
          <pc:docMk/>
          <pc:sldMk cId="3735012131" sldId="485"/>
        </pc:sldMkLst>
      </pc:sldChg>
      <pc:sldChg chg="new del">
        <pc:chgData name="Aritad Choicharoon" userId="7ebe6862-6727-4d05-970a-71aa57435883" providerId="ADAL" clId="{21CAC99A-A91B-4094-9265-B37F8BFA90B3}" dt="2022-10-26T10:56:22.543" v="951" actId="2696"/>
        <pc:sldMkLst>
          <pc:docMk/>
          <pc:sldMk cId="186109938" sldId="486"/>
        </pc:sldMkLst>
      </pc:sldChg>
      <pc:sldChg chg="add del">
        <pc:chgData name="Aritad Choicharoon" userId="7ebe6862-6727-4d05-970a-71aa57435883" providerId="ADAL" clId="{21CAC99A-A91B-4094-9265-B37F8BFA90B3}" dt="2022-10-26T11:02:00.143" v="971"/>
        <pc:sldMkLst>
          <pc:docMk/>
          <pc:sldMk cId="1803266968" sldId="486"/>
        </pc:sldMkLst>
      </pc:sldChg>
      <pc:sldChg chg="addSp delSp add del setBg delDesignElem">
        <pc:chgData name="Aritad Choicharoon" userId="7ebe6862-6727-4d05-970a-71aa57435883" providerId="ADAL" clId="{21CAC99A-A91B-4094-9265-B37F8BFA90B3}" dt="2022-10-26T11:02:00.143" v="971"/>
        <pc:sldMkLst>
          <pc:docMk/>
          <pc:sldMk cId="888889527" sldId="487"/>
        </pc:sldMkLst>
        <pc:spChg chg="add del">
          <ac:chgData name="Aritad Choicharoon" userId="7ebe6862-6727-4d05-970a-71aa57435883" providerId="ADAL" clId="{21CAC99A-A91B-4094-9265-B37F8BFA90B3}" dt="2022-10-26T11:02:00.143" v="971"/>
          <ac:spMkLst>
            <pc:docMk/>
            <pc:sldMk cId="888889527" sldId="487"/>
            <ac:spMk id="11" creationId="{2B97F24A-32CE-4C1C-A50D-3016B394DCFB}"/>
          </ac:spMkLst>
        </pc:spChg>
        <pc:spChg chg="add del">
          <ac:chgData name="Aritad Choicharoon" userId="7ebe6862-6727-4d05-970a-71aa57435883" providerId="ADAL" clId="{21CAC99A-A91B-4094-9265-B37F8BFA90B3}" dt="2022-10-26T11:02:00.143" v="971"/>
          <ac:spMkLst>
            <pc:docMk/>
            <pc:sldMk cId="888889527" sldId="487"/>
            <ac:spMk id="13" creationId="{CD8B4F24-440B-49E9-B85D-733523DC064B}"/>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P(X)</c:v>
                </c:pt>
              </c:strCache>
            </c:strRef>
          </c:tx>
          <c:marker>
            <c:symbol val="none"/>
          </c:marker>
          <c:cat>
            <c:numRef>
              <c:f>Sheet1!$A$2:$A$27</c:f>
              <c:numCache>
                <c:formatCode>General</c:formatCode>
                <c:ptCount val="26"/>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numCache>
            </c:numRef>
          </c:cat>
          <c:val>
            <c:numRef>
              <c:f>Sheet1!$B$2:$B$27</c:f>
              <c:numCache>
                <c:formatCode>General</c:formatCode>
                <c:ptCount val="26"/>
                <c:pt idx="0">
                  <c:v>2.9576466371269874E-4</c:v>
                </c:pt>
                <c:pt idx="1">
                  <c:v>2.6096882092296928E-3</c:v>
                </c:pt>
                <c:pt idx="2">
                  <c:v>1.1283063728140154E-2</c:v>
                </c:pt>
                <c:pt idx="3">
                  <c:v>3.1858062291219229E-2</c:v>
                </c:pt>
                <c:pt idx="4">
                  <c:v>6.60586291626752E-2</c:v>
                </c:pt>
                <c:pt idx="5">
                  <c:v>0.1072481273464609</c:v>
                </c:pt>
                <c:pt idx="6">
                  <c:v>0.14194605089972764</c:v>
                </c:pt>
                <c:pt idx="7">
                  <c:v>0.15745276234255506</c:v>
                </c:pt>
                <c:pt idx="8">
                  <c:v>0.1493485760455118</c:v>
                </c:pt>
                <c:pt idx="9">
                  <c:v>0.12299294497865684</c:v>
                </c:pt>
                <c:pt idx="10">
                  <c:v>8.8989013131616376E-2</c:v>
                </c:pt>
                <c:pt idx="11">
                  <c:v>5.7105249068416922E-2</c:v>
                </c:pt>
                <c:pt idx="12">
                  <c:v>3.2751539906886187E-2</c:v>
                </c:pt>
                <c:pt idx="13">
                  <c:v>1.6894459499479753E-2</c:v>
                </c:pt>
                <c:pt idx="14">
                  <c:v>7.879348758160723E-3</c:v>
                </c:pt>
                <c:pt idx="15">
                  <c:v>3.3371359446327771E-3</c:v>
                </c:pt>
                <c:pt idx="16">
                  <c:v>1.2882326256854473E-3</c:v>
                </c:pt>
                <c:pt idx="17">
                  <c:v>4.5467033847721648E-4</c:v>
                </c:pt>
                <c:pt idx="18">
                  <c:v>1.4709922715439361E-4</c:v>
                </c:pt>
                <c:pt idx="19">
                  <c:v>4.3719894138767136E-5</c:v>
                </c:pt>
                <c:pt idx="20">
                  <c:v>1.195867692619219E-5</c:v>
                </c:pt>
                <c:pt idx="21">
                  <c:v>3.0147925024013929E-6</c:v>
                </c:pt>
                <c:pt idx="22">
                  <c:v>7.0130199922171449E-7</c:v>
                </c:pt>
                <c:pt idx="23">
                  <c:v>1.5066334510134014E-7</c:v>
                </c:pt>
                <c:pt idx="24">
                  <c:v>2.9911105277471946E-8</c:v>
                </c:pt>
                <c:pt idx="25">
                  <c:v>5.4895675568066179E-9</c:v>
                </c:pt>
              </c:numCache>
            </c:numRef>
          </c:val>
          <c:smooth val="0"/>
          <c:extLst>
            <c:ext xmlns:c16="http://schemas.microsoft.com/office/drawing/2014/chart" uri="{C3380CC4-5D6E-409C-BE32-E72D297353CC}">
              <c16:uniqueId val="{00000000-99BF-4F64-9CFE-FE316D727972}"/>
            </c:ext>
          </c:extLst>
        </c:ser>
        <c:dLbls>
          <c:showLegendKey val="0"/>
          <c:showVal val="0"/>
          <c:showCatName val="0"/>
          <c:showSerName val="0"/>
          <c:showPercent val="0"/>
          <c:showBubbleSize val="0"/>
        </c:dLbls>
        <c:smooth val="0"/>
        <c:axId val="132205184"/>
        <c:axId val="132211072"/>
      </c:lineChart>
      <c:catAx>
        <c:axId val="132205184"/>
        <c:scaling>
          <c:orientation val="minMax"/>
        </c:scaling>
        <c:delete val="1"/>
        <c:axPos val="b"/>
        <c:numFmt formatCode="General" sourceLinked="1"/>
        <c:majorTickMark val="out"/>
        <c:minorTickMark val="none"/>
        <c:tickLblPos val="nextTo"/>
        <c:crossAx val="132211072"/>
        <c:crosses val="autoZero"/>
        <c:auto val="1"/>
        <c:lblAlgn val="ctr"/>
        <c:lblOffset val="100"/>
        <c:tickLblSkip val="5"/>
        <c:tickMarkSkip val="5"/>
        <c:noMultiLvlLbl val="0"/>
      </c:catAx>
      <c:valAx>
        <c:axId val="132211072"/>
        <c:scaling>
          <c:orientation val="minMax"/>
        </c:scaling>
        <c:delete val="1"/>
        <c:axPos val="l"/>
        <c:majorGridlines/>
        <c:numFmt formatCode="General" sourceLinked="1"/>
        <c:majorTickMark val="out"/>
        <c:minorTickMark val="none"/>
        <c:tickLblPos val="nextTo"/>
        <c:crossAx val="132205184"/>
        <c:crosses val="autoZero"/>
        <c:crossBetween val="midCat"/>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P(X)</c:v>
                </c:pt>
              </c:strCache>
            </c:strRef>
          </c:tx>
          <c:marker>
            <c:symbol val="none"/>
          </c:marker>
          <c:cat>
            <c:numRef>
              <c:f>Sheet1!$A$2:$A$27</c:f>
              <c:numCache>
                <c:formatCode>General</c:formatCode>
                <c:ptCount val="26"/>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numCache>
            </c:numRef>
          </c:cat>
          <c:val>
            <c:numRef>
              <c:f>Sheet1!$B$2:$B$27</c:f>
              <c:numCache>
                <c:formatCode>General</c:formatCode>
                <c:ptCount val="26"/>
                <c:pt idx="0">
                  <c:v>2.9576466371269874E-4</c:v>
                </c:pt>
                <c:pt idx="1">
                  <c:v>2.6096882092296928E-3</c:v>
                </c:pt>
                <c:pt idx="2">
                  <c:v>1.1283063728140154E-2</c:v>
                </c:pt>
                <c:pt idx="3">
                  <c:v>3.1858062291219229E-2</c:v>
                </c:pt>
                <c:pt idx="4">
                  <c:v>6.60586291626752E-2</c:v>
                </c:pt>
                <c:pt idx="5">
                  <c:v>0.1072481273464609</c:v>
                </c:pt>
                <c:pt idx="6">
                  <c:v>0.14194605089972764</c:v>
                </c:pt>
                <c:pt idx="7">
                  <c:v>0.15745276234255506</c:v>
                </c:pt>
                <c:pt idx="8">
                  <c:v>0.1493485760455118</c:v>
                </c:pt>
                <c:pt idx="9">
                  <c:v>0.12299294497865684</c:v>
                </c:pt>
                <c:pt idx="10">
                  <c:v>8.8989013131616376E-2</c:v>
                </c:pt>
                <c:pt idx="11">
                  <c:v>5.7105249068416922E-2</c:v>
                </c:pt>
                <c:pt idx="12">
                  <c:v>3.2751539906886187E-2</c:v>
                </c:pt>
                <c:pt idx="13">
                  <c:v>1.6894459499479753E-2</c:v>
                </c:pt>
                <c:pt idx="14">
                  <c:v>7.879348758160723E-3</c:v>
                </c:pt>
                <c:pt idx="15">
                  <c:v>3.3371359446327771E-3</c:v>
                </c:pt>
                <c:pt idx="16">
                  <c:v>1.2882326256854473E-3</c:v>
                </c:pt>
                <c:pt idx="17">
                  <c:v>4.5467033847721648E-4</c:v>
                </c:pt>
                <c:pt idx="18">
                  <c:v>1.4709922715439361E-4</c:v>
                </c:pt>
                <c:pt idx="19">
                  <c:v>4.3719894138767136E-5</c:v>
                </c:pt>
                <c:pt idx="20">
                  <c:v>1.195867692619219E-5</c:v>
                </c:pt>
                <c:pt idx="21">
                  <c:v>3.0147925024013929E-6</c:v>
                </c:pt>
                <c:pt idx="22">
                  <c:v>7.0130199922171449E-7</c:v>
                </c:pt>
                <c:pt idx="23">
                  <c:v>1.5066334510134014E-7</c:v>
                </c:pt>
                <c:pt idx="24">
                  <c:v>2.9911105277471946E-8</c:v>
                </c:pt>
                <c:pt idx="25">
                  <c:v>5.4895675568066179E-9</c:v>
                </c:pt>
              </c:numCache>
            </c:numRef>
          </c:val>
          <c:smooth val="0"/>
          <c:extLst>
            <c:ext xmlns:c16="http://schemas.microsoft.com/office/drawing/2014/chart" uri="{C3380CC4-5D6E-409C-BE32-E72D297353CC}">
              <c16:uniqueId val="{00000000-B1DD-4F5E-ADEE-F1201F28B576}"/>
            </c:ext>
          </c:extLst>
        </c:ser>
        <c:dLbls>
          <c:showLegendKey val="0"/>
          <c:showVal val="0"/>
          <c:showCatName val="0"/>
          <c:showSerName val="0"/>
          <c:showPercent val="0"/>
          <c:showBubbleSize val="0"/>
        </c:dLbls>
        <c:smooth val="0"/>
        <c:axId val="131760128"/>
        <c:axId val="131761664"/>
      </c:lineChart>
      <c:catAx>
        <c:axId val="131760128"/>
        <c:scaling>
          <c:orientation val="minMax"/>
        </c:scaling>
        <c:delete val="1"/>
        <c:axPos val="b"/>
        <c:numFmt formatCode="General" sourceLinked="1"/>
        <c:majorTickMark val="out"/>
        <c:minorTickMark val="none"/>
        <c:tickLblPos val="nextTo"/>
        <c:crossAx val="131761664"/>
        <c:crosses val="autoZero"/>
        <c:auto val="1"/>
        <c:lblAlgn val="ctr"/>
        <c:lblOffset val="100"/>
        <c:tickLblSkip val="5"/>
        <c:tickMarkSkip val="5"/>
        <c:noMultiLvlLbl val="0"/>
      </c:catAx>
      <c:valAx>
        <c:axId val="131761664"/>
        <c:scaling>
          <c:orientation val="minMax"/>
        </c:scaling>
        <c:delete val="1"/>
        <c:axPos val="l"/>
        <c:majorGridlines/>
        <c:numFmt formatCode="General" sourceLinked="1"/>
        <c:majorTickMark val="out"/>
        <c:minorTickMark val="none"/>
        <c:tickLblPos val="nextTo"/>
        <c:crossAx val="131760128"/>
        <c:crosses val="autoZero"/>
        <c:crossBetween val="midCat"/>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P(X)</c:v>
                </c:pt>
              </c:strCache>
            </c:strRef>
          </c:tx>
          <c:marker>
            <c:symbol val="none"/>
          </c:marker>
          <c:cat>
            <c:numRef>
              <c:f>Sheet1!$A$2:$A$27</c:f>
              <c:numCache>
                <c:formatCode>General</c:formatCode>
                <c:ptCount val="26"/>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numCache>
            </c:numRef>
          </c:cat>
          <c:val>
            <c:numRef>
              <c:f>Sheet1!$B$2:$B$27</c:f>
              <c:numCache>
                <c:formatCode>General</c:formatCode>
                <c:ptCount val="26"/>
                <c:pt idx="0">
                  <c:v>2.9576466371269874E-4</c:v>
                </c:pt>
                <c:pt idx="1">
                  <c:v>2.6096882092296928E-3</c:v>
                </c:pt>
                <c:pt idx="2">
                  <c:v>1.1283063728140154E-2</c:v>
                </c:pt>
                <c:pt idx="3">
                  <c:v>3.1858062291219229E-2</c:v>
                </c:pt>
                <c:pt idx="4">
                  <c:v>6.60586291626752E-2</c:v>
                </c:pt>
                <c:pt idx="5">
                  <c:v>0.1072481273464609</c:v>
                </c:pt>
                <c:pt idx="6">
                  <c:v>0.14194605089972764</c:v>
                </c:pt>
                <c:pt idx="7">
                  <c:v>0.15745276234255506</c:v>
                </c:pt>
                <c:pt idx="8">
                  <c:v>0.1493485760455118</c:v>
                </c:pt>
                <c:pt idx="9">
                  <c:v>0.12299294497865684</c:v>
                </c:pt>
                <c:pt idx="10">
                  <c:v>8.8989013131616376E-2</c:v>
                </c:pt>
                <c:pt idx="11">
                  <c:v>5.7105249068416922E-2</c:v>
                </c:pt>
                <c:pt idx="12">
                  <c:v>3.2751539906886187E-2</c:v>
                </c:pt>
                <c:pt idx="13">
                  <c:v>1.6894459499479753E-2</c:v>
                </c:pt>
                <c:pt idx="14">
                  <c:v>7.879348758160723E-3</c:v>
                </c:pt>
                <c:pt idx="15">
                  <c:v>3.3371359446327771E-3</c:v>
                </c:pt>
                <c:pt idx="16">
                  <c:v>1.2882326256854473E-3</c:v>
                </c:pt>
                <c:pt idx="17">
                  <c:v>4.5467033847721648E-4</c:v>
                </c:pt>
                <c:pt idx="18">
                  <c:v>1.4709922715439361E-4</c:v>
                </c:pt>
                <c:pt idx="19">
                  <c:v>4.3719894138767136E-5</c:v>
                </c:pt>
                <c:pt idx="20">
                  <c:v>1.195867692619219E-5</c:v>
                </c:pt>
                <c:pt idx="21">
                  <c:v>3.0147925024013929E-6</c:v>
                </c:pt>
                <c:pt idx="22">
                  <c:v>7.0130199922171449E-7</c:v>
                </c:pt>
                <c:pt idx="23">
                  <c:v>1.5066334510134014E-7</c:v>
                </c:pt>
                <c:pt idx="24">
                  <c:v>2.9911105277471946E-8</c:v>
                </c:pt>
                <c:pt idx="25">
                  <c:v>5.4895675568066179E-9</c:v>
                </c:pt>
              </c:numCache>
            </c:numRef>
          </c:val>
          <c:smooth val="0"/>
          <c:extLst>
            <c:ext xmlns:c16="http://schemas.microsoft.com/office/drawing/2014/chart" uri="{C3380CC4-5D6E-409C-BE32-E72D297353CC}">
              <c16:uniqueId val="{00000000-B31E-4F99-AF88-FA6DC873C46A}"/>
            </c:ext>
          </c:extLst>
        </c:ser>
        <c:dLbls>
          <c:showLegendKey val="0"/>
          <c:showVal val="0"/>
          <c:showCatName val="0"/>
          <c:showSerName val="0"/>
          <c:showPercent val="0"/>
          <c:showBubbleSize val="0"/>
        </c:dLbls>
        <c:smooth val="0"/>
        <c:axId val="132777856"/>
        <c:axId val="132779392"/>
      </c:lineChart>
      <c:catAx>
        <c:axId val="132777856"/>
        <c:scaling>
          <c:orientation val="minMax"/>
        </c:scaling>
        <c:delete val="1"/>
        <c:axPos val="b"/>
        <c:numFmt formatCode="General" sourceLinked="1"/>
        <c:majorTickMark val="out"/>
        <c:minorTickMark val="none"/>
        <c:tickLblPos val="nextTo"/>
        <c:crossAx val="132779392"/>
        <c:crosses val="autoZero"/>
        <c:auto val="1"/>
        <c:lblAlgn val="ctr"/>
        <c:lblOffset val="100"/>
        <c:tickLblSkip val="5"/>
        <c:tickMarkSkip val="5"/>
        <c:noMultiLvlLbl val="0"/>
      </c:catAx>
      <c:valAx>
        <c:axId val="132779392"/>
        <c:scaling>
          <c:orientation val="minMax"/>
        </c:scaling>
        <c:delete val="1"/>
        <c:axPos val="l"/>
        <c:majorGridlines/>
        <c:numFmt formatCode="General" sourceLinked="1"/>
        <c:majorTickMark val="out"/>
        <c:minorTickMark val="none"/>
        <c:tickLblPos val="nextTo"/>
        <c:crossAx val="132777856"/>
        <c:crosses val="autoZero"/>
        <c:crossBetween val="midCat"/>
      </c:valAx>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P(X)</c:v>
                </c:pt>
              </c:strCache>
            </c:strRef>
          </c:tx>
          <c:marker>
            <c:symbol val="none"/>
          </c:marker>
          <c:cat>
            <c:numRef>
              <c:f>Sheet1!$A$2:$A$27</c:f>
              <c:numCache>
                <c:formatCode>General</c:formatCode>
                <c:ptCount val="26"/>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numCache>
            </c:numRef>
          </c:cat>
          <c:val>
            <c:numRef>
              <c:f>Sheet1!$B$2:$B$27</c:f>
              <c:numCache>
                <c:formatCode>General</c:formatCode>
                <c:ptCount val="26"/>
                <c:pt idx="0">
                  <c:v>2.9576466371269874E-4</c:v>
                </c:pt>
                <c:pt idx="1">
                  <c:v>2.6096882092296928E-3</c:v>
                </c:pt>
                <c:pt idx="2">
                  <c:v>1.1283063728140154E-2</c:v>
                </c:pt>
                <c:pt idx="3">
                  <c:v>3.1858062291219229E-2</c:v>
                </c:pt>
                <c:pt idx="4">
                  <c:v>6.60586291626752E-2</c:v>
                </c:pt>
                <c:pt idx="5">
                  <c:v>0.1072481273464609</c:v>
                </c:pt>
                <c:pt idx="6">
                  <c:v>0.14194605089972764</c:v>
                </c:pt>
                <c:pt idx="7">
                  <c:v>0.15745276234255506</c:v>
                </c:pt>
                <c:pt idx="8">
                  <c:v>0.1493485760455118</c:v>
                </c:pt>
                <c:pt idx="9">
                  <c:v>0.12299294497865684</c:v>
                </c:pt>
                <c:pt idx="10">
                  <c:v>8.8989013131616376E-2</c:v>
                </c:pt>
                <c:pt idx="11">
                  <c:v>5.7105249068416922E-2</c:v>
                </c:pt>
                <c:pt idx="12">
                  <c:v>3.2751539906886187E-2</c:v>
                </c:pt>
                <c:pt idx="13">
                  <c:v>1.6894459499479753E-2</c:v>
                </c:pt>
                <c:pt idx="14">
                  <c:v>7.879348758160723E-3</c:v>
                </c:pt>
                <c:pt idx="15">
                  <c:v>3.3371359446327771E-3</c:v>
                </c:pt>
                <c:pt idx="16">
                  <c:v>1.2882326256854473E-3</c:v>
                </c:pt>
                <c:pt idx="17">
                  <c:v>4.5467033847721648E-4</c:v>
                </c:pt>
                <c:pt idx="18">
                  <c:v>1.4709922715439361E-4</c:v>
                </c:pt>
                <c:pt idx="19">
                  <c:v>4.3719894138767136E-5</c:v>
                </c:pt>
                <c:pt idx="20">
                  <c:v>1.195867692619219E-5</c:v>
                </c:pt>
                <c:pt idx="21">
                  <c:v>3.0147925024013929E-6</c:v>
                </c:pt>
                <c:pt idx="22">
                  <c:v>7.0130199922171449E-7</c:v>
                </c:pt>
                <c:pt idx="23">
                  <c:v>1.5066334510134014E-7</c:v>
                </c:pt>
                <c:pt idx="24">
                  <c:v>2.9911105277471946E-8</c:v>
                </c:pt>
                <c:pt idx="25">
                  <c:v>5.4895675568066179E-9</c:v>
                </c:pt>
              </c:numCache>
            </c:numRef>
          </c:val>
          <c:smooth val="0"/>
          <c:extLst>
            <c:ext xmlns:c16="http://schemas.microsoft.com/office/drawing/2014/chart" uri="{C3380CC4-5D6E-409C-BE32-E72D297353CC}">
              <c16:uniqueId val="{00000000-595A-441A-8F24-F78E25D3FEAF}"/>
            </c:ext>
          </c:extLst>
        </c:ser>
        <c:dLbls>
          <c:showLegendKey val="0"/>
          <c:showVal val="0"/>
          <c:showCatName val="0"/>
          <c:showSerName val="0"/>
          <c:showPercent val="0"/>
          <c:showBubbleSize val="0"/>
        </c:dLbls>
        <c:smooth val="0"/>
        <c:axId val="133672960"/>
        <c:axId val="133674496"/>
      </c:lineChart>
      <c:catAx>
        <c:axId val="133672960"/>
        <c:scaling>
          <c:orientation val="minMax"/>
        </c:scaling>
        <c:delete val="1"/>
        <c:axPos val="b"/>
        <c:numFmt formatCode="General" sourceLinked="1"/>
        <c:majorTickMark val="out"/>
        <c:minorTickMark val="none"/>
        <c:tickLblPos val="nextTo"/>
        <c:crossAx val="133674496"/>
        <c:crosses val="autoZero"/>
        <c:auto val="1"/>
        <c:lblAlgn val="ctr"/>
        <c:lblOffset val="100"/>
        <c:tickLblSkip val="5"/>
        <c:tickMarkSkip val="5"/>
        <c:noMultiLvlLbl val="0"/>
      </c:catAx>
      <c:valAx>
        <c:axId val="133674496"/>
        <c:scaling>
          <c:orientation val="minMax"/>
        </c:scaling>
        <c:delete val="1"/>
        <c:axPos val="l"/>
        <c:majorGridlines/>
        <c:numFmt formatCode="General" sourceLinked="1"/>
        <c:majorTickMark val="out"/>
        <c:minorTickMark val="none"/>
        <c:tickLblPos val="nextTo"/>
        <c:crossAx val="133672960"/>
        <c:crosses val="autoZero"/>
        <c:crossBetween val="midCat"/>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P(X)</c:v>
                </c:pt>
              </c:strCache>
            </c:strRef>
          </c:tx>
          <c:marker>
            <c:symbol val="none"/>
          </c:marker>
          <c:cat>
            <c:numRef>
              <c:f>Sheet1!$A$2:$A$27</c:f>
              <c:numCache>
                <c:formatCode>General</c:formatCode>
                <c:ptCount val="26"/>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numCache>
            </c:numRef>
          </c:cat>
          <c:val>
            <c:numRef>
              <c:f>Sheet1!$B$2:$B$27</c:f>
              <c:numCache>
                <c:formatCode>General</c:formatCode>
                <c:ptCount val="26"/>
                <c:pt idx="0">
                  <c:v>2.9576466371269874E-4</c:v>
                </c:pt>
                <c:pt idx="1">
                  <c:v>2.6096882092296928E-3</c:v>
                </c:pt>
                <c:pt idx="2">
                  <c:v>1.1283063728140154E-2</c:v>
                </c:pt>
                <c:pt idx="3">
                  <c:v>3.1858062291219229E-2</c:v>
                </c:pt>
                <c:pt idx="4">
                  <c:v>6.60586291626752E-2</c:v>
                </c:pt>
                <c:pt idx="5">
                  <c:v>0.1072481273464609</c:v>
                </c:pt>
                <c:pt idx="6">
                  <c:v>0.14194605089972764</c:v>
                </c:pt>
                <c:pt idx="7">
                  <c:v>0.15745276234255506</c:v>
                </c:pt>
                <c:pt idx="8">
                  <c:v>0.1493485760455118</c:v>
                </c:pt>
                <c:pt idx="9">
                  <c:v>0.12299294497865684</c:v>
                </c:pt>
                <c:pt idx="10">
                  <c:v>8.8989013131616376E-2</c:v>
                </c:pt>
                <c:pt idx="11">
                  <c:v>5.7105249068416922E-2</c:v>
                </c:pt>
                <c:pt idx="12">
                  <c:v>3.2751539906886187E-2</c:v>
                </c:pt>
                <c:pt idx="13">
                  <c:v>1.6894459499479753E-2</c:v>
                </c:pt>
                <c:pt idx="14">
                  <c:v>7.879348758160723E-3</c:v>
                </c:pt>
                <c:pt idx="15">
                  <c:v>3.3371359446327771E-3</c:v>
                </c:pt>
                <c:pt idx="16">
                  <c:v>1.2882326256854473E-3</c:v>
                </c:pt>
                <c:pt idx="17">
                  <c:v>4.5467033847721648E-4</c:v>
                </c:pt>
                <c:pt idx="18">
                  <c:v>1.4709922715439361E-4</c:v>
                </c:pt>
                <c:pt idx="19">
                  <c:v>4.3719894138767136E-5</c:v>
                </c:pt>
                <c:pt idx="20">
                  <c:v>1.195867692619219E-5</c:v>
                </c:pt>
                <c:pt idx="21">
                  <c:v>3.0147925024013929E-6</c:v>
                </c:pt>
                <c:pt idx="22">
                  <c:v>7.0130199922171449E-7</c:v>
                </c:pt>
                <c:pt idx="23">
                  <c:v>1.5066334510134014E-7</c:v>
                </c:pt>
                <c:pt idx="24">
                  <c:v>2.9911105277471946E-8</c:v>
                </c:pt>
                <c:pt idx="25">
                  <c:v>5.4895675568066179E-9</c:v>
                </c:pt>
              </c:numCache>
            </c:numRef>
          </c:val>
          <c:smooth val="0"/>
          <c:extLst>
            <c:ext xmlns:c16="http://schemas.microsoft.com/office/drawing/2014/chart" uri="{C3380CC4-5D6E-409C-BE32-E72D297353CC}">
              <c16:uniqueId val="{00000000-6B05-466B-B14D-E165E973823F}"/>
            </c:ext>
          </c:extLst>
        </c:ser>
        <c:dLbls>
          <c:showLegendKey val="0"/>
          <c:showVal val="0"/>
          <c:showCatName val="0"/>
          <c:showSerName val="0"/>
          <c:showPercent val="0"/>
          <c:showBubbleSize val="0"/>
        </c:dLbls>
        <c:smooth val="0"/>
        <c:axId val="133152128"/>
        <c:axId val="133272704"/>
      </c:lineChart>
      <c:catAx>
        <c:axId val="133152128"/>
        <c:scaling>
          <c:orientation val="minMax"/>
        </c:scaling>
        <c:delete val="1"/>
        <c:axPos val="b"/>
        <c:numFmt formatCode="General" sourceLinked="1"/>
        <c:majorTickMark val="out"/>
        <c:minorTickMark val="none"/>
        <c:tickLblPos val="nextTo"/>
        <c:crossAx val="133272704"/>
        <c:crosses val="autoZero"/>
        <c:auto val="1"/>
        <c:lblAlgn val="ctr"/>
        <c:lblOffset val="100"/>
        <c:tickLblSkip val="5"/>
        <c:tickMarkSkip val="5"/>
        <c:noMultiLvlLbl val="0"/>
      </c:catAx>
      <c:valAx>
        <c:axId val="133272704"/>
        <c:scaling>
          <c:orientation val="minMax"/>
        </c:scaling>
        <c:delete val="1"/>
        <c:axPos val="l"/>
        <c:majorGridlines/>
        <c:numFmt formatCode="General" sourceLinked="1"/>
        <c:majorTickMark val="out"/>
        <c:minorTickMark val="none"/>
        <c:tickLblPos val="nextTo"/>
        <c:crossAx val="133152128"/>
        <c:crosses val="autoZero"/>
        <c:crossBetween val="midCat"/>
      </c:valAx>
    </c:plotArea>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areaChart>
        <c:grouping val="standard"/>
        <c:varyColors val="0"/>
        <c:ser>
          <c:idx val="0"/>
          <c:order val="0"/>
          <c:tx>
            <c:strRef>
              <c:f>Sheet1!$B$1</c:f>
              <c:strCache>
                <c:ptCount val="1"/>
                <c:pt idx="0">
                  <c:v>P(X)</c:v>
                </c:pt>
              </c:strCache>
            </c:strRef>
          </c:tx>
          <c:cat>
            <c:numRef>
              <c:f>Sheet1!$A$2:$A$27</c:f>
              <c:numCache>
                <c:formatCode>General</c:formatCode>
                <c:ptCount val="26"/>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numCache>
            </c:numRef>
          </c:cat>
          <c:val>
            <c:numRef>
              <c:f>Sheet1!$B$2:$B$27</c:f>
              <c:numCache>
                <c:formatCode>General</c:formatCode>
                <c:ptCount val="26"/>
                <c:pt idx="0">
                  <c:v>2.9576466371269874E-4</c:v>
                </c:pt>
                <c:pt idx="1">
                  <c:v>2.6096882092296928E-3</c:v>
                </c:pt>
                <c:pt idx="2">
                  <c:v>1.1283063728140154E-2</c:v>
                </c:pt>
                <c:pt idx="3">
                  <c:v>3.1858062291219229E-2</c:v>
                </c:pt>
                <c:pt idx="4">
                  <c:v>6.60586291626752E-2</c:v>
                </c:pt>
                <c:pt idx="5">
                  <c:v>0.1072481273464609</c:v>
                </c:pt>
                <c:pt idx="6">
                  <c:v>0.14194605089972764</c:v>
                </c:pt>
                <c:pt idx="7">
                  <c:v>0.15745276234255506</c:v>
                </c:pt>
                <c:pt idx="8">
                  <c:v>0.1493485760455118</c:v>
                </c:pt>
                <c:pt idx="9">
                  <c:v>0.12299294497865684</c:v>
                </c:pt>
                <c:pt idx="10">
                  <c:v>8.8989013131616376E-2</c:v>
                </c:pt>
                <c:pt idx="11">
                  <c:v>5.7105249068416922E-2</c:v>
                </c:pt>
                <c:pt idx="12">
                  <c:v>3.2751539906886187E-2</c:v>
                </c:pt>
                <c:pt idx="13">
                  <c:v>1.6894459499479753E-2</c:v>
                </c:pt>
                <c:pt idx="14">
                  <c:v>7.879348758160723E-3</c:v>
                </c:pt>
                <c:pt idx="15">
                  <c:v>3.3371359446327771E-3</c:v>
                </c:pt>
                <c:pt idx="16">
                  <c:v>1.2882326256854473E-3</c:v>
                </c:pt>
                <c:pt idx="17">
                  <c:v>4.5467033847721648E-4</c:v>
                </c:pt>
                <c:pt idx="18">
                  <c:v>1.4709922715439361E-4</c:v>
                </c:pt>
                <c:pt idx="19">
                  <c:v>4.3719894138767136E-5</c:v>
                </c:pt>
                <c:pt idx="20">
                  <c:v>1.195867692619219E-5</c:v>
                </c:pt>
                <c:pt idx="21">
                  <c:v>3.0147925024013929E-6</c:v>
                </c:pt>
                <c:pt idx="22">
                  <c:v>7.0130199922171449E-7</c:v>
                </c:pt>
                <c:pt idx="23">
                  <c:v>1.5066334510134014E-7</c:v>
                </c:pt>
                <c:pt idx="24">
                  <c:v>2.9911105277471946E-8</c:v>
                </c:pt>
                <c:pt idx="25">
                  <c:v>5.4895675568066179E-9</c:v>
                </c:pt>
              </c:numCache>
            </c:numRef>
          </c:val>
          <c:extLst>
            <c:ext xmlns:c16="http://schemas.microsoft.com/office/drawing/2014/chart" uri="{C3380CC4-5D6E-409C-BE32-E72D297353CC}">
              <c16:uniqueId val="{00000000-2A33-44BA-9D7F-6A06E2075B2C}"/>
            </c:ext>
          </c:extLst>
        </c:ser>
        <c:ser>
          <c:idx val="1"/>
          <c:order val="1"/>
          <c:tx>
            <c:strRef>
              <c:f>Sheet1!$C$1</c:f>
              <c:strCache>
                <c:ptCount val="1"/>
                <c:pt idx="0">
                  <c:v>Acceptable</c:v>
                </c:pt>
              </c:strCache>
            </c:strRef>
          </c:tx>
          <c:spPr>
            <a:solidFill>
              <a:schemeClr val="tx2">
                <a:lumMod val="20000"/>
                <a:lumOff val="80000"/>
              </a:schemeClr>
            </a:solidFill>
          </c:spPr>
          <c:cat>
            <c:numRef>
              <c:f>Sheet1!$A$2:$A$27</c:f>
              <c:numCache>
                <c:formatCode>General</c:formatCode>
                <c:ptCount val="26"/>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numCache>
            </c:numRef>
          </c:cat>
          <c:val>
            <c:numRef>
              <c:f>Sheet1!$C$2:$C$27</c:f>
              <c:numCache>
                <c:formatCode>General</c:formatCode>
                <c:ptCount val="26"/>
                <c:pt idx="3">
                  <c:v>3.1858062291219229E-2</c:v>
                </c:pt>
                <c:pt idx="4">
                  <c:v>6.60586291626752E-2</c:v>
                </c:pt>
                <c:pt idx="5">
                  <c:v>0.1072481273464609</c:v>
                </c:pt>
                <c:pt idx="6">
                  <c:v>0.14194605089972764</c:v>
                </c:pt>
                <c:pt idx="7">
                  <c:v>0.15745276234255506</c:v>
                </c:pt>
                <c:pt idx="8">
                  <c:v>0.1493485760455118</c:v>
                </c:pt>
                <c:pt idx="9">
                  <c:v>0.12299294497865684</c:v>
                </c:pt>
                <c:pt idx="10">
                  <c:v>8.8989013131616376E-2</c:v>
                </c:pt>
                <c:pt idx="11">
                  <c:v>5.7105249068416922E-2</c:v>
                </c:pt>
                <c:pt idx="12">
                  <c:v>3.2751539906886187E-2</c:v>
                </c:pt>
              </c:numCache>
            </c:numRef>
          </c:val>
          <c:extLst>
            <c:ext xmlns:c16="http://schemas.microsoft.com/office/drawing/2014/chart" uri="{C3380CC4-5D6E-409C-BE32-E72D297353CC}">
              <c16:uniqueId val="{00000001-2A33-44BA-9D7F-6A06E2075B2C}"/>
            </c:ext>
          </c:extLst>
        </c:ser>
        <c:dLbls>
          <c:showLegendKey val="0"/>
          <c:showVal val="0"/>
          <c:showCatName val="0"/>
          <c:showSerName val="0"/>
          <c:showPercent val="0"/>
          <c:showBubbleSize val="0"/>
        </c:dLbls>
        <c:axId val="133841664"/>
        <c:axId val="133843200"/>
      </c:areaChart>
      <c:catAx>
        <c:axId val="133841664"/>
        <c:scaling>
          <c:orientation val="minMax"/>
        </c:scaling>
        <c:delete val="1"/>
        <c:axPos val="b"/>
        <c:numFmt formatCode="General" sourceLinked="1"/>
        <c:majorTickMark val="out"/>
        <c:minorTickMark val="none"/>
        <c:tickLblPos val="nextTo"/>
        <c:crossAx val="133843200"/>
        <c:crosses val="autoZero"/>
        <c:auto val="1"/>
        <c:lblAlgn val="ctr"/>
        <c:lblOffset val="100"/>
        <c:noMultiLvlLbl val="0"/>
      </c:catAx>
      <c:valAx>
        <c:axId val="133843200"/>
        <c:scaling>
          <c:orientation val="minMax"/>
        </c:scaling>
        <c:delete val="1"/>
        <c:axPos val="l"/>
        <c:majorGridlines/>
        <c:numFmt formatCode="General" sourceLinked="1"/>
        <c:majorTickMark val="out"/>
        <c:minorTickMark val="none"/>
        <c:tickLblPos val="nextTo"/>
        <c:crossAx val="133841664"/>
        <c:crosses val="autoZero"/>
        <c:crossBetween val="midCat"/>
      </c:valAx>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areaChart>
        <c:grouping val="standard"/>
        <c:varyColors val="0"/>
        <c:ser>
          <c:idx val="0"/>
          <c:order val="0"/>
          <c:tx>
            <c:strRef>
              <c:f>Sheet1!$B$1</c:f>
              <c:strCache>
                <c:ptCount val="1"/>
                <c:pt idx="0">
                  <c:v>P(X)</c:v>
                </c:pt>
              </c:strCache>
            </c:strRef>
          </c:tx>
          <c:cat>
            <c:numRef>
              <c:f>Sheet1!$A$2:$A$27</c:f>
              <c:numCache>
                <c:formatCode>General</c:formatCode>
                <c:ptCount val="26"/>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numCache>
            </c:numRef>
          </c:cat>
          <c:val>
            <c:numRef>
              <c:f>Sheet1!$B$2:$B$27</c:f>
              <c:numCache>
                <c:formatCode>General</c:formatCode>
                <c:ptCount val="26"/>
                <c:pt idx="0">
                  <c:v>2.9576466371269874E-4</c:v>
                </c:pt>
                <c:pt idx="1">
                  <c:v>2.6096882092296928E-3</c:v>
                </c:pt>
                <c:pt idx="2">
                  <c:v>1.1283063728140154E-2</c:v>
                </c:pt>
                <c:pt idx="3">
                  <c:v>3.1858062291219229E-2</c:v>
                </c:pt>
                <c:pt idx="4">
                  <c:v>6.60586291626752E-2</c:v>
                </c:pt>
                <c:pt idx="5">
                  <c:v>0.1072481273464609</c:v>
                </c:pt>
                <c:pt idx="6">
                  <c:v>0.14194605089972764</c:v>
                </c:pt>
                <c:pt idx="7">
                  <c:v>0.15745276234255506</c:v>
                </c:pt>
                <c:pt idx="8">
                  <c:v>0.1493485760455118</c:v>
                </c:pt>
                <c:pt idx="9">
                  <c:v>0.12299294497865684</c:v>
                </c:pt>
                <c:pt idx="10">
                  <c:v>8.8989013131616376E-2</c:v>
                </c:pt>
                <c:pt idx="11">
                  <c:v>5.7105249068416922E-2</c:v>
                </c:pt>
                <c:pt idx="12">
                  <c:v>3.2751539906886187E-2</c:v>
                </c:pt>
                <c:pt idx="13">
                  <c:v>1.6894459499479753E-2</c:v>
                </c:pt>
                <c:pt idx="14">
                  <c:v>7.879348758160723E-3</c:v>
                </c:pt>
                <c:pt idx="15">
                  <c:v>3.3371359446327771E-3</c:v>
                </c:pt>
                <c:pt idx="16">
                  <c:v>1.2882326256854473E-3</c:v>
                </c:pt>
                <c:pt idx="17">
                  <c:v>4.5467033847721648E-4</c:v>
                </c:pt>
                <c:pt idx="18">
                  <c:v>1.4709922715439361E-4</c:v>
                </c:pt>
                <c:pt idx="19">
                  <c:v>4.3719894138767136E-5</c:v>
                </c:pt>
                <c:pt idx="20">
                  <c:v>1.195867692619219E-5</c:v>
                </c:pt>
                <c:pt idx="21">
                  <c:v>3.0147925024013929E-6</c:v>
                </c:pt>
                <c:pt idx="22">
                  <c:v>7.0130199922171449E-7</c:v>
                </c:pt>
                <c:pt idx="23">
                  <c:v>1.5066334510134014E-7</c:v>
                </c:pt>
                <c:pt idx="24">
                  <c:v>2.9911105277471946E-8</c:v>
                </c:pt>
                <c:pt idx="25">
                  <c:v>5.4895675568066179E-9</c:v>
                </c:pt>
              </c:numCache>
            </c:numRef>
          </c:val>
          <c:extLst>
            <c:ext xmlns:c16="http://schemas.microsoft.com/office/drawing/2014/chart" uri="{C3380CC4-5D6E-409C-BE32-E72D297353CC}">
              <c16:uniqueId val="{00000000-918E-4301-932D-DD24F395382C}"/>
            </c:ext>
          </c:extLst>
        </c:ser>
        <c:ser>
          <c:idx val="1"/>
          <c:order val="1"/>
          <c:tx>
            <c:strRef>
              <c:f>Sheet1!$C$1</c:f>
              <c:strCache>
                <c:ptCount val="1"/>
                <c:pt idx="0">
                  <c:v>Acceptable</c:v>
                </c:pt>
              </c:strCache>
            </c:strRef>
          </c:tx>
          <c:spPr>
            <a:solidFill>
              <a:schemeClr val="tx2">
                <a:lumMod val="20000"/>
                <a:lumOff val="80000"/>
              </a:schemeClr>
            </a:solidFill>
          </c:spPr>
          <c:cat>
            <c:numRef>
              <c:f>Sheet1!$A$2:$A$27</c:f>
              <c:numCache>
                <c:formatCode>General</c:formatCode>
                <c:ptCount val="26"/>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numCache>
            </c:numRef>
          </c:cat>
          <c:val>
            <c:numRef>
              <c:f>Sheet1!$C$2:$C$27</c:f>
              <c:numCache>
                <c:formatCode>General</c:formatCode>
                <c:ptCount val="26"/>
                <c:pt idx="3">
                  <c:v>3.1858062291219229E-2</c:v>
                </c:pt>
                <c:pt idx="4">
                  <c:v>6.60586291626752E-2</c:v>
                </c:pt>
                <c:pt idx="5">
                  <c:v>0.1072481273464609</c:v>
                </c:pt>
                <c:pt idx="6">
                  <c:v>0.14194605089972764</c:v>
                </c:pt>
                <c:pt idx="7">
                  <c:v>0.15745276234255506</c:v>
                </c:pt>
                <c:pt idx="8">
                  <c:v>0.1493485760455118</c:v>
                </c:pt>
                <c:pt idx="9">
                  <c:v>0.12299294497865684</c:v>
                </c:pt>
                <c:pt idx="10">
                  <c:v>8.8989013131616376E-2</c:v>
                </c:pt>
                <c:pt idx="11">
                  <c:v>5.7105249068416922E-2</c:v>
                </c:pt>
                <c:pt idx="12">
                  <c:v>3.2751539906886187E-2</c:v>
                </c:pt>
              </c:numCache>
            </c:numRef>
          </c:val>
          <c:extLst>
            <c:ext xmlns:c16="http://schemas.microsoft.com/office/drawing/2014/chart" uri="{C3380CC4-5D6E-409C-BE32-E72D297353CC}">
              <c16:uniqueId val="{00000001-918E-4301-932D-DD24F395382C}"/>
            </c:ext>
          </c:extLst>
        </c:ser>
        <c:dLbls>
          <c:showLegendKey val="0"/>
          <c:showVal val="0"/>
          <c:showCatName val="0"/>
          <c:showSerName val="0"/>
          <c:showPercent val="0"/>
          <c:showBubbleSize val="0"/>
        </c:dLbls>
        <c:axId val="134496256"/>
        <c:axId val="134497792"/>
      </c:areaChart>
      <c:catAx>
        <c:axId val="134496256"/>
        <c:scaling>
          <c:orientation val="minMax"/>
        </c:scaling>
        <c:delete val="1"/>
        <c:axPos val="b"/>
        <c:numFmt formatCode="General" sourceLinked="1"/>
        <c:majorTickMark val="out"/>
        <c:minorTickMark val="none"/>
        <c:tickLblPos val="nextTo"/>
        <c:crossAx val="134497792"/>
        <c:crosses val="autoZero"/>
        <c:auto val="1"/>
        <c:lblAlgn val="ctr"/>
        <c:lblOffset val="100"/>
        <c:noMultiLvlLbl val="0"/>
      </c:catAx>
      <c:valAx>
        <c:axId val="134497792"/>
        <c:scaling>
          <c:orientation val="minMax"/>
        </c:scaling>
        <c:delete val="1"/>
        <c:axPos val="l"/>
        <c:majorGridlines/>
        <c:numFmt formatCode="General" sourceLinked="1"/>
        <c:majorTickMark val="out"/>
        <c:minorTickMark val="none"/>
        <c:tickLblPos val="nextTo"/>
        <c:crossAx val="134496256"/>
        <c:crosses val="autoZero"/>
        <c:crossBetween val="midCat"/>
      </c:valAx>
    </c:plotArea>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areaChart>
        <c:grouping val="standard"/>
        <c:varyColors val="0"/>
        <c:ser>
          <c:idx val="0"/>
          <c:order val="0"/>
          <c:tx>
            <c:strRef>
              <c:f>Sheet1!$B$1</c:f>
              <c:strCache>
                <c:ptCount val="1"/>
                <c:pt idx="0">
                  <c:v>P(X)</c:v>
                </c:pt>
              </c:strCache>
            </c:strRef>
          </c:tx>
          <c:cat>
            <c:numRef>
              <c:f>Sheet1!$A$2:$A$27</c:f>
              <c:numCache>
                <c:formatCode>General</c:formatCode>
                <c:ptCount val="26"/>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numCache>
            </c:numRef>
          </c:cat>
          <c:val>
            <c:numRef>
              <c:f>Sheet1!$B$2:$B$27</c:f>
              <c:numCache>
                <c:formatCode>General</c:formatCode>
                <c:ptCount val="26"/>
                <c:pt idx="0">
                  <c:v>2.9576466371269874E-4</c:v>
                </c:pt>
                <c:pt idx="1">
                  <c:v>2.6096882092296928E-3</c:v>
                </c:pt>
                <c:pt idx="2">
                  <c:v>1.1283063728140154E-2</c:v>
                </c:pt>
                <c:pt idx="3">
                  <c:v>3.1858062291219229E-2</c:v>
                </c:pt>
                <c:pt idx="4">
                  <c:v>6.60586291626752E-2</c:v>
                </c:pt>
                <c:pt idx="5">
                  <c:v>0.1072481273464609</c:v>
                </c:pt>
                <c:pt idx="6">
                  <c:v>0.14194605089972764</c:v>
                </c:pt>
                <c:pt idx="7">
                  <c:v>0.15745276234255506</c:v>
                </c:pt>
                <c:pt idx="8">
                  <c:v>0.1493485760455118</c:v>
                </c:pt>
                <c:pt idx="9">
                  <c:v>0.12299294497865684</c:v>
                </c:pt>
                <c:pt idx="10">
                  <c:v>8.8989013131616376E-2</c:v>
                </c:pt>
                <c:pt idx="11">
                  <c:v>5.7105249068416922E-2</c:v>
                </c:pt>
                <c:pt idx="12">
                  <c:v>3.2751539906886187E-2</c:v>
                </c:pt>
                <c:pt idx="13">
                  <c:v>1.6894459499479753E-2</c:v>
                </c:pt>
                <c:pt idx="14">
                  <c:v>7.879348758160723E-3</c:v>
                </c:pt>
                <c:pt idx="15">
                  <c:v>3.3371359446327771E-3</c:v>
                </c:pt>
                <c:pt idx="16">
                  <c:v>1.2882326256854473E-3</c:v>
                </c:pt>
                <c:pt idx="17">
                  <c:v>4.5467033847721648E-4</c:v>
                </c:pt>
                <c:pt idx="18">
                  <c:v>1.4709922715439361E-4</c:v>
                </c:pt>
                <c:pt idx="19">
                  <c:v>4.3719894138767136E-5</c:v>
                </c:pt>
                <c:pt idx="20">
                  <c:v>1.195867692619219E-5</c:v>
                </c:pt>
                <c:pt idx="21">
                  <c:v>3.0147925024013929E-6</c:v>
                </c:pt>
                <c:pt idx="22">
                  <c:v>7.0130199922171449E-7</c:v>
                </c:pt>
                <c:pt idx="23">
                  <c:v>1.5066334510134014E-7</c:v>
                </c:pt>
                <c:pt idx="24">
                  <c:v>2.9911105277471946E-8</c:v>
                </c:pt>
                <c:pt idx="25">
                  <c:v>5.4895675568066179E-9</c:v>
                </c:pt>
              </c:numCache>
            </c:numRef>
          </c:val>
          <c:extLst>
            <c:ext xmlns:c16="http://schemas.microsoft.com/office/drawing/2014/chart" uri="{C3380CC4-5D6E-409C-BE32-E72D297353CC}">
              <c16:uniqueId val="{00000000-9DC6-4CE3-A9C5-BA09CA64F3AF}"/>
            </c:ext>
          </c:extLst>
        </c:ser>
        <c:ser>
          <c:idx val="1"/>
          <c:order val="1"/>
          <c:tx>
            <c:strRef>
              <c:f>Sheet1!$C$1</c:f>
              <c:strCache>
                <c:ptCount val="1"/>
                <c:pt idx="0">
                  <c:v>Acceptable</c:v>
                </c:pt>
              </c:strCache>
            </c:strRef>
          </c:tx>
          <c:spPr>
            <a:solidFill>
              <a:schemeClr val="tx2">
                <a:lumMod val="20000"/>
                <a:lumOff val="80000"/>
              </a:schemeClr>
            </a:solidFill>
          </c:spPr>
          <c:cat>
            <c:numRef>
              <c:f>Sheet1!$A$2:$A$27</c:f>
              <c:numCache>
                <c:formatCode>General</c:formatCode>
                <c:ptCount val="26"/>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numCache>
            </c:numRef>
          </c:cat>
          <c:val>
            <c:numRef>
              <c:f>Sheet1!$C$2:$C$27</c:f>
              <c:numCache>
                <c:formatCode>General</c:formatCode>
                <c:ptCount val="26"/>
                <c:pt idx="3">
                  <c:v>3.1858062291219229E-2</c:v>
                </c:pt>
                <c:pt idx="4">
                  <c:v>6.60586291626752E-2</c:v>
                </c:pt>
                <c:pt idx="5">
                  <c:v>0.1072481273464609</c:v>
                </c:pt>
                <c:pt idx="6">
                  <c:v>0.14194605089972764</c:v>
                </c:pt>
                <c:pt idx="7">
                  <c:v>0.15745276234255506</c:v>
                </c:pt>
                <c:pt idx="8">
                  <c:v>0.1493485760455118</c:v>
                </c:pt>
                <c:pt idx="9">
                  <c:v>0.12299294497865684</c:v>
                </c:pt>
                <c:pt idx="10">
                  <c:v>8.8989013131616376E-2</c:v>
                </c:pt>
                <c:pt idx="11">
                  <c:v>5.7105249068416922E-2</c:v>
                </c:pt>
                <c:pt idx="12">
                  <c:v>3.2751539906886187E-2</c:v>
                </c:pt>
              </c:numCache>
            </c:numRef>
          </c:val>
          <c:extLst>
            <c:ext xmlns:c16="http://schemas.microsoft.com/office/drawing/2014/chart" uri="{C3380CC4-5D6E-409C-BE32-E72D297353CC}">
              <c16:uniqueId val="{00000001-9DC6-4CE3-A9C5-BA09CA64F3AF}"/>
            </c:ext>
          </c:extLst>
        </c:ser>
        <c:dLbls>
          <c:showLegendKey val="0"/>
          <c:showVal val="0"/>
          <c:showCatName val="0"/>
          <c:showSerName val="0"/>
          <c:showPercent val="0"/>
          <c:showBubbleSize val="0"/>
        </c:dLbls>
        <c:axId val="135167360"/>
        <c:axId val="135173248"/>
      </c:areaChart>
      <c:catAx>
        <c:axId val="135167360"/>
        <c:scaling>
          <c:orientation val="minMax"/>
        </c:scaling>
        <c:delete val="1"/>
        <c:axPos val="b"/>
        <c:numFmt formatCode="General" sourceLinked="1"/>
        <c:majorTickMark val="out"/>
        <c:minorTickMark val="none"/>
        <c:tickLblPos val="nextTo"/>
        <c:crossAx val="135173248"/>
        <c:crosses val="autoZero"/>
        <c:auto val="1"/>
        <c:lblAlgn val="ctr"/>
        <c:lblOffset val="100"/>
        <c:noMultiLvlLbl val="0"/>
      </c:catAx>
      <c:valAx>
        <c:axId val="135173248"/>
        <c:scaling>
          <c:orientation val="minMax"/>
        </c:scaling>
        <c:delete val="1"/>
        <c:axPos val="l"/>
        <c:majorGridlines/>
        <c:numFmt formatCode="General" sourceLinked="1"/>
        <c:majorTickMark val="out"/>
        <c:minorTickMark val="none"/>
        <c:tickLblPos val="nextTo"/>
        <c:crossAx val="135167360"/>
        <c:crosses val="autoZero"/>
        <c:crossBetween val="midCat"/>
      </c:valAx>
    </c:plotArea>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areaChart>
        <c:grouping val="standard"/>
        <c:varyColors val="0"/>
        <c:ser>
          <c:idx val="0"/>
          <c:order val="0"/>
          <c:tx>
            <c:strRef>
              <c:f>Sheet1!$B$1</c:f>
              <c:strCache>
                <c:ptCount val="1"/>
                <c:pt idx="0">
                  <c:v>P(X)</c:v>
                </c:pt>
              </c:strCache>
            </c:strRef>
          </c:tx>
          <c:spPr>
            <a:solidFill>
              <a:schemeClr val="tx2">
                <a:lumMod val="20000"/>
                <a:lumOff val="80000"/>
              </a:schemeClr>
            </a:solidFill>
          </c:spPr>
          <c:cat>
            <c:numRef>
              <c:f>Sheet1!$A$2:$A$27</c:f>
              <c:numCache>
                <c:formatCode>General</c:formatCode>
                <c:ptCount val="26"/>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numCache>
            </c:numRef>
          </c:cat>
          <c:val>
            <c:numRef>
              <c:f>Sheet1!$B$2:$B$27</c:f>
              <c:numCache>
                <c:formatCode>General</c:formatCode>
                <c:ptCount val="26"/>
                <c:pt idx="0">
                  <c:v>2.9576466371269874E-4</c:v>
                </c:pt>
                <c:pt idx="1">
                  <c:v>2.6096882092296928E-3</c:v>
                </c:pt>
                <c:pt idx="2">
                  <c:v>1.1283063728140154E-2</c:v>
                </c:pt>
                <c:pt idx="3">
                  <c:v>3.1858062291219229E-2</c:v>
                </c:pt>
                <c:pt idx="4">
                  <c:v>6.60586291626752E-2</c:v>
                </c:pt>
                <c:pt idx="5">
                  <c:v>0.1072481273464609</c:v>
                </c:pt>
                <c:pt idx="6">
                  <c:v>0.14194605089972764</c:v>
                </c:pt>
                <c:pt idx="7">
                  <c:v>0.15745276234255506</c:v>
                </c:pt>
                <c:pt idx="8">
                  <c:v>0.1493485760455118</c:v>
                </c:pt>
                <c:pt idx="9">
                  <c:v>0.12299294497865684</c:v>
                </c:pt>
                <c:pt idx="10">
                  <c:v>8.8989013131616376E-2</c:v>
                </c:pt>
                <c:pt idx="11">
                  <c:v>5.7105249068416922E-2</c:v>
                </c:pt>
                <c:pt idx="12">
                  <c:v>3.2751539906886187E-2</c:v>
                </c:pt>
                <c:pt idx="13">
                  <c:v>1.6894459499479753E-2</c:v>
                </c:pt>
                <c:pt idx="14">
                  <c:v>7.879348758160723E-3</c:v>
                </c:pt>
                <c:pt idx="15">
                  <c:v>3.3371359446327771E-3</c:v>
                </c:pt>
                <c:pt idx="16">
                  <c:v>1.2882326256854473E-3</c:v>
                </c:pt>
                <c:pt idx="17">
                  <c:v>4.5467033847721648E-4</c:v>
                </c:pt>
                <c:pt idx="18">
                  <c:v>1.4709922715439361E-4</c:v>
                </c:pt>
                <c:pt idx="19">
                  <c:v>4.3719894138767136E-5</c:v>
                </c:pt>
                <c:pt idx="20">
                  <c:v>1.195867692619219E-5</c:v>
                </c:pt>
                <c:pt idx="21">
                  <c:v>3.0147925024013929E-6</c:v>
                </c:pt>
                <c:pt idx="22">
                  <c:v>7.0130199922171449E-7</c:v>
                </c:pt>
                <c:pt idx="23">
                  <c:v>1.5066334510134014E-7</c:v>
                </c:pt>
                <c:pt idx="24">
                  <c:v>2.9911105277471946E-8</c:v>
                </c:pt>
                <c:pt idx="25">
                  <c:v>5.4895675568066179E-9</c:v>
                </c:pt>
              </c:numCache>
            </c:numRef>
          </c:val>
          <c:extLst>
            <c:ext xmlns:c16="http://schemas.microsoft.com/office/drawing/2014/chart" uri="{C3380CC4-5D6E-409C-BE32-E72D297353CC}">
              <c16:uniqueId val="{00000000-8BF9-4D3F-AB01-AC8C27A16FA6}"/>
            </c:ext>
          </c:extLst>
        </c:ser>
        <c:ser>
          <c:idx val="1"/>
          <c:order val="1"/>
          <c:tx>
            <c:strRef>
              <c:f>Sheet1!$C$1</c:f>
              <c:strCache>
                <c:ptCount val="1"/>
                <c:pt idx="0">
                  <c:v>Acceptable</c:v>
                </c:pt>
              </c:strCache>
            </c:strRef>
          </c:tx>
          <c:spPr>
            <a:solidFill>
              <a:schemeClr val="accent1"/>
            </a:solidFill>
          </c:spPr>
          <c:cat>
            <c:numRef>
              <c:f>Sheet1!$A$2:$A$27</c:f>
              <c:numCache>
                <c:formatCode>General</c:formatCode>
                <c:ptCount val="26"/>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numCache>
            </c:numRef>
          </c:cat>
          <c:val>
            <c:numRef>
              <c:f>Sheet1!$C$2:$C$27</c:f>
              <c:numCache>
                <c:formatCode>General</c:formatCode>
                <c:ptCount val="26"/>
                <c:pt idx="0">
                  <c:v>2.9576466371269874E-4</c:v>
                </c:pt>
                <c:pt idx="1">
                  <c:v>2.6096882092296928E-3</c:v>
                </c:pt>
                <c:pt idx="2">
                  <c:v>1.1283063728140154E-2</c:v>
                </c:pt>
                <c:pt idx="3">
                  <c:v>3.1858062291219229E-2</c:v>
                </c:pt>
                <c:pt idx="4">
                  <c:v>6.60586291626752E-2</c:v>
                </c:pt>
                <c:pt idx="5">
                  <c:v>0.1072481273464609</c:v>
                </c:pt>
              </c:numCache>
            </c:numRef>
          </c:val>
          <c:extLst>
            <c:ext xmlns:c16="http://schemas.microsoft.com/office/drawing/2014/chart" uri="{C3380CC4-5D6E-409C-BE32-E72D297353CC}">
              <c16:uniqueId val="{00000001-8BF9-4D3F-AB01-AC8C27A16FA6}"/>
            </c:ext>
          </c:extLst>
        </c:ser>
        <c:dLbls>
          <c:showLegendKey val="0"/>
          <c:showVal val="0"/>
          <c:showCatName val="0"/>
          <c:showSerName val="0"/>
          <c:showPercent val="0"/>
          <c:showBubbleSize val="0"/>
        </c:dLbls>
        <c:axId val="134836608"/>
        <c:axId val="134838144"/>
      </c:areaChart>
      <c:catAx>
        <c:axId val="134836608"/>
        <c:scaling>
          <c:orientation val="minMax"/>
        </c:scaling>
        <c:delete val="1"/>
        <c:axPos val="b"/>
        <c:numFmt formatCode="General" sourceLinked="1"/>
        <c:majorTickMark val="out"/>
        <c:minorTickMark val="none"/>
        <c:tickLblPos val="nextTo"/>
        <c:crossAx val="134838144"/>
        <c:crosses val="autoZero"/>
        <c:auto val="1"/>
        <c:lblAlgn val="ctr"/>
        <c:lblOffset val="100"/>
        <c:noMultiLvlLbl val="0"/>
      </c:catAx>
      <c:valAx>
        <c:axId val="134838144"/>
        <c:scaling>
          <c:orientation val="minMax"/>
        </c:scaling>
        <c:delete val="1"/>
        <c:axPos val="l"/>
        <c:majorGridlines/>
        <c:numFmt formatCode="General" sourceLinked="1"/>
        <c:majorTickMark val="out"/>
        <c:minorTickMark val="none"/>
        <c:tickLblPos val="nextTo"/>
        <c:crossAx val="134836608"/>
        <c:crosses val="autoZero"/>
        <c:crossBetween val="midCat"/>
      </c:valAx>
    </c:plotArea>
    <c:plotVisOnly val="1"/>
    <c:dispBlanksAs val="gap"/>
    <c:showDLblsOverMax val="0"/>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
          <c:y val="7.4362304645914062E-2"/>
          <c:w val="1"/>
          <c:h val="0.91211727632755613"/>
        </c:manualLayout>
      </c:layout>
      <c:lineChart>
        <c:grouping val="standard"/>
        <c:varyColors val="0"/>
        <c:ser>
          <c:idx val="0"/>
          <c:order val="0"/>
          <c:tx>
            <c:strRef>
              <c:f>Sheet1!$B$1</c:f>
              <c:strCache>
                <c:ptCount val="1"/>
                <c:pt idx="0">
                  <c:v>SQRT_N</c:v>
                </c:pt>
              </c:strCache>
            </c:strRef>
          </c:tx>
          <c:spPr>
            <a:ln>
              <a:solidFill>
                <a:schemeClr val="tx1"/>
              </a:solidFill>
            </a:ln>
          </c:spPr>
          <c:marker>
            <c:symbol val="none"/>
          </c:marker>
          <c:cat>
            <c:numRef>
              <c:f>Sheet1!$A$2:$A$62</c:f>
              <c:numCache>
                <c:formatCode>General</c:formatCode>
                <c:ptCount val="61"/>
                <c:pt idx="0">
                  <c:v>-3</c:v>
                </c:pt>
                <c:pt idx="1">
                  <c:v>-2.9</c:v>
                </c:pt>
                <c:pt idx="2">
                  <c:v>-2.8</c:v>
                </c:pt>
                <c:pt idx="3">
                  <c:v>-2.7</c:v>
                </c:pt>
                <c:pt idx="4">
                  <c:v>-2.6</c:v>
                </c:pt>
                <c:pt idx="5">
                  <c:v>-2.5</c:v>
                </c:pt>
                <c:pt idx="6">
                  <c:v>-2.4</c:v>
                </c:pt>
                <c:pt idx="7">
                  <c:v>-2.2999999999999998</c:v>
                </c:pt>
                <c:pt idx="8">
                  <c:v>-2.2000000000000002</c:v>
                </c:pt>
                <c:pt idx="9">
                  <c:v>-2.1</c:v>
                </c:pt>
                <c:pt idx="10">
                  <c:v>-2</c:v>
                </c:pt>
                <c:pt idx="11">
                  <c:v>-1.9</c:v>
                </c:pt>
                <c:pt idx="12">
                  <c:v>-1.8</c:v>
                </c:pt>
                <c:pt idx="13">
                  <c:v>-1.7</c:v>
                </c:pt>
                <c:pt idx="14">
                  <c:v>-1.6</c:v>
                </c:pt>
                <c:pt idx="15">
                  <c:v>-1.5</c:v>
                </c:pt>
                <c:pt idx="16">
                  <c:v>-1.4</c:v>
                </c:pt>
                <c:pt idx="17">
                  <c:v>-1.3</c:v>
                </c:pt>
                <c:pt idx="18">
                  <c:v>-1.2</c:v>
                </c:pt>
                <c:pt idx="19">
                  <c:v>-1.1000000000000001</c:v>
                </c:pt>
                <c:pt idx="20">
                  <c:v>-1</c:v>
                </c:pt>
                <c:pt idx="21">
                  <c:v>-0.9</c:v>
                </c:pt>
                <c:pt idx="22">
                  <c:v>-0.8</c:v>
                </c:pt>
                <c:pt idx="23">
                  <c:v>-0.7</c:v>
                </c:pt>
                <c:pt idx="24">
                  <c:v>-0.6</c:v>
                </c:pt>
                <c:pt idx="25">
                  <c:v>-0.5</c:v>
                </c:pt>
                <c:pt idx="26">
                  <c:v>-0.4</c:v>
                </c:pt>
                <c:pt idx="27">
                  <c:v>-0.3</c:v>
                </c:pt>
                <c:pt idx="28">
                  <c:v>-0.2</c:v>
                </c:pt>
                <c:pt idx="29">
                  <c:v>-0.1</c:v>
                </c:pt>
                <c:pt idx="30">
                  <c:v>0</c:v>
                </c:pt>
                <c:pt idx="31">
                  <c:v>0.1</c:v>
                </c:pt>
                <c:pt idx="32">
                  <c:v>0.2</c:v>
                </c:pt>
                <c:pt idx="33">
                  <c:v>0.3</c:v>
                </c:pt>
                <c:pt idx="34">
                  <c:v>0.4</c:v>
                </c:pt>
                <c:pt idx="35">
                  <c:v>0.5</c:v>
                </c:pt>
                <c:pt idx="36">
                  <c:v>0.6</c:v>
                </c:pt>
                <c:pt idx="37">
                  <c:v>0.7</c:v>
                </c:pt>
                <c:pt idx="38">
                  <c:v>0.8</c:v>
                </c:pt>
                <c:pt idx="39">
                  <c:v>0.9</c:v>
                </c:pt>
                <c:pt idx="40">
                  <c:v>1</c:v>
                </c:pt>
                <c:pt idx="41">
                  <c:v>1.1000000000000001</c:v>
                </c:pt>
                <c:pt idx="42">
                  <c:v>1.2</c:v>
                </c:pt>
                <c:pt idx="43">
                  <c:v>1.3</c:v>
                </c:pt>
                <c:pt idx="44">
                  <c:v>1.4</c:v>
                </c:pt>
                <c:pt idx="45">
                  <c:v>1.5</c:v>
                </c:pt>
                <c:pt idx="46">
                  <c:v>1.6</c:v>
                </c:pt>
                <c:pt idx="47">
                  <c:v>1.7</c:v>
                </c:pt>
                <c:pt idx="48">
                  <c:v>1.8</c:v>
                </c:pt>
                <c:pt idx="49">
                  <c:v>1.9</c:v>
                </c:pt>
                <c:pt idx="50">
                  <c:v>2</c:v>
                </c:pt>
                <c:pt idx="51">
                  <c:v>2.1</c:v>
                </c:pt>
                <c:pt idx="52">
                  <c:v>2.2000000000000002</c:v>
                </c:pt>
                <c:pt idx="53">
                  <c:v>2.2999999999999998</c:v>
                </c:pt>
                <c:pt idx="54">
                  <c:v>2.4</c:v>
                </c:pt>
                <c:pt idx="55">
                  <c:v>2.5</c:v>
                </c:pt>
                <c:pt idx="56">
                  <c:v>2.6</c:v>
                </c:pt>
                <c:pt idx="57">
                  <c:v>2.7</c:v>
                </c:pt>
                <c:pt idx="58">
                  <c:v>2.8</c:v>
                </c:pt>
                <c:pt idx="59">
                  <c:v>2.9</c:v>
                </c:pt>
                <c:pt idx="60">
                  <c:v>3</c:v>
                </c:pt>
              </c:numCache>
            </c:numRef>
          </c:cat>
          <c:val>
            <c:numRef>
              <c:f>Sheet1!$B$2:$B$62</c:f>
              <c:numCache>
                <c:formatCode>0.00E+00</c:formatCode>
                <c:ptCount val="61"/>
                <c:pt idx="0">
                  <c:v>1.9641300000000001E-5</c:v>
                </c:pt>
                <c:pt idx="1">
                  <c:v>3.5432599999999997E-5</c:v>
                </c:pt>
                <c:pt idx="2">
                  <c:v>6.2654400000000001E-5</c:v>
                </c:pt>
                <c:pt idx="3" formatCode="General">
                  <c:v>1.08596E-4</c:v>
                </c:pt>
                <c:pt idx="4" formatCode="General">
                  <c:v>1.8449699999999999E-4</c:v>
                </c:pt>
                <c:pt idx="5" formatCode="General">
                  <c:v>3.0724099999999998E-4</c:v>
                </c:pt>
                <c:pt idx="6" formatCode="General">
                  <c:v>5.0151500000000001E-4</c:v>
                </c:pt>
                <c:pt idx="7" formatCode="General">
                  <c:v>8.0242099999999999E-4</c:v>
                </c:pt>
                <c:pt idx="8" formatCode="General">
                  <c:v>1.258447E-3</c:v>
                </c:pt>
                <c:pt idx="9" formatCode="General">
                  <c:v>1.9345569999999999E-3</c:v>
                </c:pt>
                <c:pt idx="10" formatCode="General">
                  <c:v>2.915024E-3</c:v>
                </c:pt>
                <c:pt idx="11" formatCode="General">
                  <c:v>4.3054349999999998E-3</c:v>
                </c:pt>
                <c:pt idx="12" formatCode="General">
                  <c:v>6.2331269999999998E-3</c:v>
                </c:pt>
                <c:pt idx="13" formatCode="General">
                  <c:v>8.8452289999999996E-3</c:v>
                </c:pt>
                <c:pt idx="14" formatCode="General">
                  <c:v>1.2303432E-2</c:v>
                </c:pt>
                <c:pt idx="15" formatCode="General">
                  <c:v>1.6774807999999999E-2</c:v>
                </c:pt>
                <c:pt idx="16" formatCode="General">
                  <c:v>2.2418314000000002E-2</c:v>
                </c:pt>
                <c:pt idx="17" formatCode="General">
                  <c:v>2.9367193999999999E-2</c:v>
                </c:pt>
                <c:pt idx="18" formatCode="General">
                  <c:v>3.7708223999999999E-2</c:v>
                </c:pt>
                <c:pt idx="19" formatCode="General">
                  <c:v>4.7459570999999999E-2</c:v>
                </c:pt>
                <c:pt idx="20" formatCode="General">
                  <c:v>5.8549832000000003E-2</c:v>
                </c:pt>
                <c:pt idx="21" formatCode="General">
                  <c:v>7.0801359999999994E-2</c:v>
                </c:pt>
                <c:pt idx="22" formatCode="General">
                  <c:v>8.3921196000000003E-2</c:v>
                </c:pt>
                <c:pt idx="23" formatCode="General">
                  <c:v>9.7502518999999996E-2</c:v>
                </c:pt>
                <c:pt idx="24" formatCode="General">
                  <c:v>0.111038636</c:v>
                </c:pt>
                <c:pt idx="25" formatCode="General">
                  <c:v>0.15291438900000001</c:v>
                </c:pt>
                <c:pt idx="26" formatCode="General">
                  <c:v>0.14545666600000001</c:v>
                </c:pt>
                <c:pt idx="27" formatCode="General">
                  <c:v>0.13562289599999999</c:v>
                </c:pt>
                <c:pt idx="28" formatCode="General">
                  <c:v>0.12394999399999999</c:v>
                </c:pt>
                <c:pt idx="29" formatCode="General">
                  <c:v>0.15757132500000001</c:v>
                </c:pt>
                <c:pt idx="30" formatCode="General">
                  <c:v>0.15915494299999999</c:v>
                </c:pt>
                <c:pt idx="31" formatCode="General">
                  <c:v>0.15757132500000001</c:v>
                </c:pt>
                <c:pt idx="32" formatCode="General">
                  <c:v>0.12394999399999999</c:v>
                </c:pt>
                <c:pt idx="33" formatCode="General">
                  <c:v>0.13562289599999999</c:v>
                </c:pt>
                <c:pt idx="34" formatCode="General">
                  <c:v>0.14545666600000001</c:v>
                </c:pt>
                <c:pt idx="35" formatCode="General">
                  <c:v>0.15291438900000001</c:v>
                </c:pt>
                <c:pt idx="36" formatCode="General">
                  <c:v>0.111038636</c:v>
                </c:pt>
                <c:pt idx="37" formatCode="General">
                  <c:v>9.7502518999999996E-2</c:v>
                </c:pt>
                <c:pt idx="38" formatCode="General">
                  <c:v>8.3921196000000003E-2</c:v>
                </c:pt>
                <c:pt idx="39" formatCode="General">
                  <c:v>7.0801359999999994E-2</c:v>
                </c:pt>
                <c:pt idx="40" formatCode="General">
                  <c:v>5.8549832000000003E-2</c:v>
                </c:pt>
                <c:pt idx="41" formatCode="General">
                  <c:v>4.7459570999999999E-2</c:v>
                </c:pt>
                <c:pt idx="42" formatCode="General">
                  <c:v>3.7708223999999999E-2</c:v>
                </c:pt>
                <c:pt idx="43" formatCode="General">
                  <c:v>2.9367193999999999E-2</c:v>
                </c:pt>
                <c:pt idx="44" formatCode="General">
                  <c:v>2.2418314000000002E-2</c:v>
                </c:pt>
                <c:pt idx="45" formatCode="General">
                  <c:v>1.6774807999999999E-2</c:v>
                </c:pt>
                <c:pt idx="46" formatCode="General">
                  <c:v>1.2303432E-2</c:v>
                </c:pt>
                <c:pt idx="47" formatCode="General">
                  <c:v>8.8452289999999996E-3</c:v>
                </c:pt>
                <c:pt idx="48" formatCode="General">
                  <c:v>6.2331269999999998E-3</c:v>
                </c:pt>
                <c:pt idx="49" formatCode="General">
                  <c:v>4.3054349999999998E-3</c:v>
                </c:pt>
                <c:pt idx="50" formatCode="General">
                  <c:v>2.915024E-3</c:v>
                </c:pt>
                <c:pt idx="51" formatCode="General">
                  <c:v>1.9345569999999999E-3</c:v>
                </c:pt>
                <c:pt idx="52" formatCode="General">
                  <c:v>1.258447E-3</c:v>
                </c:pt>
                <c:pt idx="53" formatCode="General">
                  <c:v>8.0242099999999999E-4</c:v>
                </c:pt>
                <c:pt idx="54" formatCode="General">
                  <c:v>5.0151500000000001E-4</c:v>
                </c:pt>
                <c:pt idx="55" formatCode="General">
                  <c:v>3.0724099999999998E-4</c:v>
                </c:pt>
                <c:pt idx="56" formatCode="General">
                  <c:v>1.8449699999999999E-4</c:v>
                </c:pt>
                <c:pt idx="57" formatCode="General">
                  <c:v>1.08596E-4</c:v>
                </c:pt>
                <c:pt idx="58">
                  <c:v>6.2654400000000001E-5</c:v>
                </c:pt>
                <c:pt idx="59">
                  <c:v>3.5432599999999997E-5</c:v>
                </c:pt>
                <c:pt idx="60">
                  <c:v>1.9641300000000001E-5</c:v>
                </c:pt>
              </c:numCache>
            </c:numRef>
          </c:val>
          <c:smooth val="0"/>
          <c:extLst>
            <c:ext xmlns:c16="http://schemas.microsoft.com/office/drawing/2014/chart" uri="{C3380CC4-5D6E-409C-BE32-E72D297353CC}">
              <c16:uniqueId val="{00000000-7434-4CEF-ADEE-9BD6EB9DB646}"/>
            </c:ext>
          </c:extLst>
        </c:ser>
        <c:ser>
          <c:idx val="1"/>
          <c:order val="1"/>
          <c:tx>
            <c:strRef>
              <c:f>Sheet1!$C$1</c:f>
              <c:strCache>
                <c:ptCount val="1"/>
                <c:pt idx="0">
                  <c:v>3.16227766</c:v>
                </c:pt>
              </c:strCache>
            </c:strRef>
          </c:tx>
          <c:spPr>
            <a:ln>
              <a:noFill/>
            </a:ln>
          </c:spPr>
          <c:marker>
            <c:symbol val="none"/>
          </c:marker>
          <c:cat>
            <c:numRef>
              <c:f>Sheet1!$A$2:$A$62</c:f>
              <c:numCache>
                <c:formatCode>General</c:formatCode>
                <c:ptCount val="61"/>
                <c:pt idx="0">
                  <c:v>-3</c:v>
                </c:pt>
                <c:pt idx="1">
                  <c:v>-2.9</c:v>
                </c:pt>
                <c:pt idx="2">
                  <c:v>-2.8</c:v>
                </c:pt>
                <c:pt idx="3">
                  <c:v>-2.7</c:v>
                </c:pt>
                <c:pt idx="4">
                  <c:v>-2.6</c:v>
                </c:pt>
                <c:pt idx="5">
                  <c:v>-2.5</c:v>
                </c:pt>
                <c:pt idx="6">
                  <c:v>-2.4</c:v>
                </c:pt>
                <c:pt idx="7">
                  <c:v>-2.2999999999999998</c:v>
                </c:pt>
                <c:pt idx="8">
                  <c:v>-2.2000000000000002</c:v>
                </c:pt>
                <c:pt idx="9">
                  <c:v>-2.1</c:v>
                </c:pt>
                <c:pt idx="10">
                  <c:v>-2</c:v>
                </c:pt>
                <c:pt idx="11">
                  <c:v>-1.9</c:v>
                </c:pt>
                <c:pt idx="12">
                  <c:v>-1.8</c:v>
                </c:pt>
                <c:pt idx="13">
                  <c:v>-1.7</c:v>
                </c:pt>
                <c:pt idx="14">
                  <c:v>-1.6</c:v>
                </c:pt>
                <c:pt idx="15">
                  <c:v>-1.5</c:v>
                </c:pt>
                <c:pt idx="16">
                  <c:v>-1.4</c:v>
                </c:pt>
                <c:pt idx="17">
                  <c:v>-1.3</c:v>
                </c:pt>
                <c:pt idx="18">
                  <c:v>-1.2</c:v>
                </c:pt>
                <c:pt idx="19">
                  <c:v>-1.1000000000000001</c:v>
                </c:pt>
                <c:pt idx="20">
                  <c:v>-1</c:v>
                </c:pt>
                <c:pt idx="21">
                  <c:v>-0.9</c:v>
                </c:pt>
                <c:pt idx="22">
                  <c:v>-0.8</c:v>
                </c:pt>
                <c:pt idx="23">
                  <c:v>-0.7</c:v>
                </c:pt>
                <c:pt idx="24">
                  <c:v>-0.6</c:v>
                </c:pt>
                <c:pt idx="25">
                  <c:v>-0.5</c:v>
                </c:pt>
                <c:pt idx="26">
                  <c:v>-0.4</c:v>
                </c:pt>
                <c:pt idx="27">
                  <c:v>-0.3</c:v>
                </c:pt>
                <c:pt idx="28">
                  <c:v>-0.2</c:v>
                </c:pt>
                <c:pt idx="29">
                  <c:v>-0.1</c:v>
                </c:pt>
                <c:pt idx="30">
                  <c:v>0</c:v>
                </c:pt>
                <c:pt idx="31">
                  <c:v>0.1</c:v>
                </c:pt>
                <c:pt idx="32">
                  <c:v>0.2</c:v>
                </c:pt>
                <c:pt idx="33">
                  <c:v>0.3</c:v>
                </c:pt>
                <c:pt idx="34">
                  <c:v>0.4</c:v>
                </c:pt>
                <c:pt idx="35">
                  <c:v>0.5</c:v>
                </c:pt>
                <c:pt idx="36">
                  <c:v>0.6</c:v>
                </c:pt>
                <c:pt idx="37">
                  <c:v>0.7</c:v>
                </c:pt>
                <c:pt idx="38">
                  <c:v>0.8</c:v>
                </c:pt>
                <c:pt idx="39">
                  <c:v>0.9</c:v>
                </c:pt>
                <c:pt idx="40">
                  <c:v>1</c:v>
                </c:pt>
                <c:pt idx="41">
                  <c:v>1.1000000000000001</c:v>
                </c:pt>
                <c:pt idx="42">
                  <c:v>1.2</c:v>
                </c:pt>
                <c:pt idx="43">
                  <c:v>1.3</c:v>
                </c:pt>
                <c:pt idx="44">
                  <c:v>1.4</c:v>
                </c:pt>
                <c:pt idx="45">
                  <c:v>1.5</c:v>
                </c:pt>
                <c:pt idx="46">
                  <c:v>1.6</c:v>
                </c:pt>
                <c:pt idx="47">
                  <c:v>1.7</c:v>
                </c:pt>
                <c:pt idx="48">
                  <c:v>1.8</c:v>
                </c:pt>
                <c:pt idx="49">
                  <c:v>1.9</c:v>
                </c:pt>
                <c:pt idx="50">
                  <c:v>2</c:v>
                </c:pt>
                <c:pt idx="51">
                  <c:v>2.1</c:v>
                </c:pt>
                <c:pt idx="52">
                  <c:v>2.2000000000000002</c:v>
                </c:pt>
                <c:pt idx="53">
                  <c:v>2.2999999999999998</c:v>
                </c:pt>
                <c:pt idx="54">
                  <c:v>2.4</c:v>
                </c:pt>
                <c:pt idx="55">
                  <c:v>2.5</c:v>
                </c:pt>
                <c:pt idx="56">
                  <c:v>2.6</c:v>
                </c:pt>
                <c:pt idx="57">
                  <c:v>2.7</c:v>
                </c:pt>
                <c:pt idx="58">
                  <c:v>2.8</c:v>
                </c:pt>
                <c:pt idx="59">
                  <c:v>2.9</c:v>
                </c:pt>
                <c:pt idx="60">
                  <c:v>3</c:v>
                </c:pt>
              </c:numCache>
            </c:numRef>
          </c:cat>
          <c:val>
            <c:numRef>
              <c:f>Sheet1!$C$2:$C$62</c:f>
              <c:numCache>
                <c:formatCode>0.00E+00</c:formatCode>
                <c:ptCount val="61"/>
                <c:pt idx="0">
                  <c:v>2.19575E-13</c:v>
                </c:pt>
                <c:pt idx="1">
                  <c:v>1.4186200000000001E-12</c:v>
                </c:pt>
                <c:pt idx="2">
                  <c:v>8.6035899999999993E-12</c:v>
                </c:pt>
                <c:pt idx="3">
                  <c:v>4.8980999999999997E-11</c:v>
                </c:pt>
                <c:pt idx="4">
                  <c:v>2.6176300000000001E-10</c:v>
                </c:pt>
                <c:pt idx="5">
                  <c:v>1.3131699999999999E-9</c:v>
                </c:pt>
                <c:pt idx="6">
                  <c:v>6.1839800000000004E-9</c:v>
                </c:pt>
                <c:pt idx="7">
                  <c:v>2.7336800000000001E-8</c:v>
                </c:pt>
                <c:pt idx="8">
                  <c:v>1.13438E-7</c:v>
                </c:pt>
                <c:pt idx="9">
                  <c:v>4.4187900000000001E-7</c:v>
                </c:pt>
                <c:pt idx="10">
                  <c:v>1.6157799999999999E-6</c:v>
                </c:pt>
                <c:pt idx="11">
                  <c:v>5.5461500000000003E-6</c:v>
                </c:pt>
                <c:pt idx="12">
                  <c:v>1.7870400000000001E-5</c:v>
                </c:pt>
                <c:pt idx="13">
                  <c:v>5.4051800000000003E-5</c:v>
                </c:pt>
                <c:pt idx="14" formatCode="General">
                  <c:v>1.53468E-4</c:v>
                </c:pt>
                <c:pt idx="15" formatCode="General">
                  <c:v>4.0903499999999998E-4</c:v>
                </c:pt>
                <c:pt idx="16" formatCode="General">
                  <c:v>1.0233760000000001E-3</c:v>
                </c:pt>
                <c:pt idx="17" formatCode="General">
                  <c:v>2.403489E-3</c:v>
                </c:pt>
                <c:pt idx="18" formatCode="General">
                  <c:v>5.2988560000000002E-3</c:v>
                </c:pt>
                <c:pt idx="19" formatCode="General">
                  <c:v>1.0966167000000001E-2</c:v>
                </c:pt>
                <c:pt idx="20" formatCode="General">
                  <c:v>2.1303962999999999E-2</c:v>
                </c:pt>
                <c:pt idx="21" formatCode="General">
                  <c:v>3.8850691E-2</c:v>
                </c:pt>
                <c:pt idx="22" formatCode="General">
                  <c:v>6.6507389E-2</c:v>
                </c:pt>
                <c:pt idx="23" formatCode="General">
                  <c:v>0.106874442</c:v>
                </c:pt>
                <c:pt idx="24" formatCode="General">
                  <c:v>0.16121692200000001</c:v>
                </c:pt>
                <c:pt idx="25" formatCode="General">
                  <c:v>0.22828648300000001</c:v>
                </c:pt>
                <c:pt idx="26" formatCode="General">
                  <c:v>0.30344680800000001</c:v>
                </c:pt>
                <c:pt idx="27" formatCode="General">
                  <c:v>0.37863238300000002</c:v>
                </c:pt>
                <c:pt idx="28" formatCode="General">
                  <c:v>0.443491951</c:v>
                </c:pt>
                <c:pt idx="29" formatCode="General">
                  <c:v>0.487625641</c:v>
                </c:pt>
                <c:pt idx="30" formatCode="General">
                  <c:v>0.50329212099999998</c:v>
                </c:pt>
                <c:pt idx="31" formatCode="General">
                  <c:v>0.487625641</c:v>
                </c:pt>
                <c:pt idx="32" formatCode="General">
                  <c:v>0.443491951</c:v>
                </c:pt>
                <c:pt idx="33" formatCode="General">
                  <c:v>0.37863238300000002</c:v>
                </c:pt>
                <c:pt idx="34" formatCode="General">
                  <c:v>0.30344680800000001</c:v>
                </c:pt>
                <c:pt idx="35" formatCode="General">
                  <c:v>0.22828648300000001</c:v>
                </c:pt>
                <c:pt idx="36" formatCode="General">
                  <c:v>0.16121692200000001</c:v>
                </c:pt>
                <c:pt idx="37" formatCode="General">
                  <c:v>0.106874442</c:v>
                </c:pt>
                <c:pt idx="38" formatCode="General">
                  <c:v>6.6507389E-2</c:v>
                </c:pt>
                <c:pt idx="39" formatCode="General">
                  <c:v>3.8850691E-2</c:v>
                </c:pt>
                <c:pt idx="40" formatCode="General">
                  <c:v>2.1303962999999999E-2</c:v>
                </c:pt>
                <c:pt idx="41" formatCode="General">
                  <c:v>1.0966167000000001E-2</c:v>
                </c:pt>
                <c:pt idx="42" formatCode="General">
                  <c:v>5.2988560000000002E-3</c:v>
                </c:pt>
                <c:pt idx="43" formatCode="General">
                  <c:v>2.403489E-3</c:v>
                </c:pt>
                <c:pt idx="44" formatCode="General">
                  <c:v>1.0233760000000001E-3</c:v>
                </c:pt>
                <c:pt idx="45" formatCode="General">
                  <c:v>4.0903499999999998E-4</c:v>
                </c:pt>
                <c:pt idx="46" formatCode="General">
                  <c:v>1.53468E-4</c:v>
                </c:pt>
                <c:pt idx="47">
                  <c:v>5.4051800000000003E-5</c:v>
                </c:pt>
                <c:pt idx="48">
                  <c:v>1.7870400000000001E-5</c:v>
                </c:pt>
                <c:pt idx="49">
                  <c:v>5.5461500000000003E-6</c:v>
                </c:pt>
                <c:pt idx="50">
                  <c:v>1.6157799999999999E-6</c:v>
                </c:pt>
                <c:pt idx="51">
                  <c:v>4.4187900000000001E-7</c:v>
                </c:pt>
                <c:pt idx="52">
                  <c:v>1.13438E-7</c:v>
                </c:pt>
                <c:pt idx="53">
                  <c:v>2.7336800000000001E-8</c:v>
                </c:pt>
                <c:pt idx="54">
                  <c:v>6.1839800000000004E-9</c:v>
                </c:pt>
                <c:pt idx="55">
                  <c:v>1.3131699999999999E-9</c:v>
                </c:pt>
                <c:pt idx="56">
                  <c:v>2.6176300000000001E-10</c:v>
                </c:pt>
                <c:pt idx="57">
                  <c:v>4.8980999999999997E-11</c:v>
                </c:pt>
                <c:pt idx="58">
                  <c:v>8.6035899999999993E-12</c:v>
                </c:pt>
                <c:pt idx="59">
                  <c:v>1.4186200000000001E-12</c:v>
                </c:pt>
                <c:pt idx="60">
                  <c:v>2.19575E-13</c:v>
                </c:pt>
              </c:numCache>
            </c:numRef>
          </c:val>
          <c:smooth val="0"/>
          <c:extLst>
            <c:ext xmlns:c16="http://schemas.microsoft.com/office/drawing/2014/chart" uri="{C3380CC4-5D6E-409C-BE32-E72D297353CC}">
              <c16:uniqueId val="{00000001-7434-4CEF-ADEE-9BD6EB9DB646}"/>
            </c:ext>
          </c:extLst>
        </c:ser>
        <c:ser>
          <c:idx val="2"/>
          <c:order val="2"/>
          <c:tx>
            <c:strRef>
              <c:f>Sheet1!$D$1</c:f>
              <c:strCache>
                <c:ptCount val="1"/>
                <c:pt idx="0">
                  <c:v>7.071067812</c:v>
                </c:pt>
              </c:strCache>
            </c:strRef>
          </c:tx>
          <c:spPr>
            <a:ln>
              <a:noFill/>
            </a:ln>
          </c:spPr>
          <c:marker>
            <c:symbol val="none"/>
          </c:marker>
          <c:cat>
            <c:numRef>
              <c:f>Sheet1!$A$2:$A$62</c:f>
              <c:numCache>
                <c:formatCode>General</c:formatCode>
                <c:ptCount val="61"/>
                <c:pt idx="0">
                  <c:v>-3</c:v>
                </c:pt>
                <c:pt idx="1">
                  <c:v>-2.9</c:v>
                </c:pt>
                <c:pt idx="2">
                  <c:v>-2.8</c:v>
                </c:pt>
                <c:pt idx="3">
                  <c:v>-2.7</c:v>
                </c:pt>
                <c:pt idx="4">
                  <c:v>-2.6</c:v>
                </c:pt>
                <c:pt idx="5">
                  <c:v>-2.5</c:v>
                </c:pt>
                <c:pt idx="6">
                  <c:v>-2.4</c:v>
                </c:pt>
                <c:pt idx="7">
                  <c:v>-2.2999999999999998</c:v>
                </c:pt>
                <c:pt idx="8">
                  <c:v>-2.2000000000000002</c:v>
                </c:pt>
                <c:pt idx="9">
                  <c:v>-2.1</c:v>
                </c:pt>
                <c:pt idx="10">
                  <c:v>-2</c:v>
                </c:pt>
                <c:pt idx="11">
                  <c:v>-1.9</c:v>
                </c:pt>
                <c:pt idx="12">
                  <c:v>-1.8</c:v>
                </c:pt>
                <c:pt idx="13">
                  <c:v>-1.7</c:v>
                </c:pt>
                <c:pt idx="14">
                  <c:v>-1.6</c:v>
                </c:pt>
                <c:pt idx="15">
                  <c:v>-1.5</c:v>
                </c:pt>
                <c:pt idx="16">
                  <c:v>-1.4</c:v>
                </c:pt>
                <c:pt idx="17">
                  <c:v>-1.3</c:v>
                </c:pt>
                <c:pt idx="18">
                  <c:v>-1.2</c:v>
                </c:pt>
                <c:pt idx="19">
                  <c:v>-1.1000000000000001</c:v>
                </c:pt>
                <c:pt idx="20">
                  <c:v>-1</c:v>
                </c:pt>
                <c:pt idx="21">
                  <c:v>-0.9</c:v>
                </c:pt>
                <c:pt idx="22">
                  <c:v>-0.8</c:v>
                </c:pt>
                <c:pt idx="23">
                  <c:v>-0.7</c:v>
                </c:pt>
                <c:pt idx="24">
                  <c:v>-0.6</c:v>
                </c:pt>
                <c:pt idx="25">
                  <c:v>-0.5</c:v>
                </c:pt>
                <c:pt idx="26">
                  <c:v>-0.4</c:v>
                </c:pt>
                <c:pt idx="27">
                  <c:v>-0.3</c:v>
                </c:pt>
                <c:pt idx="28">
                  <c:v>-0.2</c:v>
                </c:pt>
                <c:pt idx="29">
                  <c:v>-0.1</c:v>
                </c:pt>
                <c:pt idx="30">
                  <c:v>0</c:v>
                </c:pt>
                <c:pt idx="31">
                  <c:v>0.1</c:v>
                </c:pt>
                <c:pt idx="32">
                  <c:v>0.2</c:v>
                </c:pt>
                <c:pt idx="33">
                  <c:v>0.3</c:v>
                </c:pt>
                <c:pt idx="34">
                  <c:v>0.4</c:v>
                </c:pt>
                <c:pt idx="35">
                  <c:v>0.5</c:v>
                </c:pt>
                <c:pt idx="36">
                  <c:v>0.6</c:v>
                </c:pt>
                <c:pt idx="37">
                  <c:v>0.7</c:v>
                </c:pt>
                <c:pt idx="38">
                  <c:v>0.8</c:v>
                </c:pt>
                <c:pt idx="39">
                  <c:v>0.9</c:v>
                </c:pt>
                <c:pt idx="40">
                  <c:v>1</c:v>
                </c:pt>
                <c:pt idx="41">
                  <c:v>1.1000000000000001</c:v>
                </c:pt>
                <c:pt idx="42">
                  <c:v>1.2</c:v>
                </c:pt>
                <c:pt idx="43">
                  <c:v>1.3</c:v>
                </c:pt>
                <c:pt idx="44">
                  <c:v>1.4</c:v>
                </c:pt>
                <c:pt idx="45">
                  <c:v>1.5</c:v>
                </c:pt>
                <c:pt idx="46">
                  <c:v>1.6</c:v>
                </c:pt>
                <c:pt idx="47">
                  <c:v>1.7</c:v>
                </c:pt>
                <c:pt idx="48">
                  <c:v>1.8</c:v>
                </c:pt>
                <c:pt idx="49">
                  <c:v>1.9</c:v>
                </c:pt>
                <c:pt idx="50">
                  <c:v>2</c:v>
                </c:pt>
                <c:pt idx="51">
                  <c:v>2.1</c:v>
                </c:pt>
                <c:pt idx="52">
                  <c:v>2.2000000000000002</c:v>
                </c:pt>
                <c:pt idx="53">
                  <c:v>2.2999999999999998</c:v>
                </c:pt>
                <c:pt idx="54">
                  <c:v>2.4</c:v>
                </c:pt>
                <c:pt idx="55">
                  <c:v>2.5</c:v>
                </c:pt>
                <c:pt idx="56">
                  <c:v>2.6</c:v>
                </c:pt>
                <c:pt idx="57">
                  <c:v>2.7</c:v>
                </c:pt>
                <c:pt idx="58">
                  <c:v>2.8</c:v>
                </c:pt>
                <c:pt idx="59">
                  <c:v>2.9</c:v>
                </c:pt>
                <c:pt idx="60">
                  <c:v>3</c:v>
                </c:pt>
              </c:numCache>
            </c:numRef>
          </c:cat>
          <c:val>
            <c:numRef>
              <c:f>Sheet1!$D$2:$D$62</c:f>
              <c:numCache>
                <c:formatCode>0.00E+00</c:formatCode>
                <c:ptCount val="61"/>
                <c:pt idx="0">
                  <c:v>2.5880599999999998E-28</c:v>
                </c:pt>
                <c:pt idx="1">
                  <c:v>1.6781100000000001E-26</c:v>
                </c:pt>
                <c:pt idx="2">
                  <c:v>9.4459900000000003E-25</c:v>
                </c:pt>
                <c:pt idx="3">
                  <c:v>4.6158999999999998E-23</c:v>
                </c:pt>
                <c:pt idx="4">
                  <c:v>1.9581600000000001E-21</c:v>
                </c:pt>
                <c:pt idx="5">
                  <c:v>7.2114000000000001E-20</c:v>
                </c:pt>
                <c:pt idx="6">
                  <c:v>2.3055399999999999E-18</c:v>
                </c:pt>
                <c:pt idx="7">
                  <c:v>6.3989400000000002E-17</c:v>
                </c:pt>
                <c:pt idx="8">
                  <c:v>1.54179E-15</c:v>
                </c:pt>
                <c:pt idx="9">
                  <c:v>3.2249500000000003E-14</c:v>
                </c:pt>
                <c:pt idx="10">
                  <c:v>5.8560199999999999E-13</c:v>
                </c:pt>
                <c:pt idx="11">
                  <c:v>9.2313100000000002E-12</c:v>
                </c:pt>
                <c:pt idx="12">
                  <c:v>1.2632999999999999E-10</c:v>
                </c:pt>
                <c:pt idx="13">
                  <c:v>1.50082E-9</c:v>
                </c:pt>
                <c:pt idx="14">
                  <c:v>1.5478699999999999E-8</c:v>
                </c:pt>
                <c:pt idx="15">
                  <c:v>1.38587E-7</c:v>
                </c:pt>
                <c:pt idx="16">
                  <c:v>1.07719E-6</c:v>
                </c:pt>
                <c:pt idx="17">
                  <c:v>7.2684300000000001E-6</c:v>
                </c:pt>
                <c:pt idx="18">
                  <c:v>4.2576700000000002E-5</c:v>
                </c:pt>
                <c:pt idx="19" formatCode="General">
                  <c:v>2.1651400000000001E-4</c:v>
                </c:pt>
                <c:pt idx="20" formatCode="General">
                  <c:v>9.5582700000000002E-4</c:v>
                </c:pt>
                <c:pt idx="21" formatCode="General">
                  <c:v>3.663155E-3</c:v>
                </c:pt>
                <c:pt idx="22" formatCode="General">
                  <c:v>1.2187445E-2</c:v>
                </c:pt>
                <c:pt idx="23" formatCode="General">
                  <c:v>3.5200717999999999E-2</c:v>
                </c:pt>
                <c:pt idx="24" formatCode="General">
                  <c:v>8.8261615000000002E-2</c:v>
                </c:pt>
                <c:pt idx="25" formatCode="General">
                  <c:v>0.192120497</c:v>
                </c:pt>
                <c:pt idx="26" formatCode="General">
                  <c:v>0.36304212200000002</c:v>
                </c:pt>
                <c:pt idx="27" formatCode="General">
                  <c:v>0.59555492200000004</c:v>
                </c:pt>
                <c:pt idx="28" formatCode="General">
                  <c:v>0.84814109100000001</c:v>
                </c:pt>
                <c:pt idx="29" formatCode="General">
                  <c:v>1.0485662529999999</c:v>
                </c:pt>
                <c:pt idx="30" formatCode="General">
                  <c:v>1.125395395</c:v>
                </c:pt>
                <c:pt idx="31" formatCode="General">
                  <c:v>1.0485662529999999</c:v>
                </c:pt>
                <c:pt idx="32" formatCode="General">
                  <c:v>0.84814109100000001</c:v>
                </c:pt>
                <c:pt idx="33" formatCode="General">
                  <c:v>0.59555492200000004</c:v>
                </c:pt>
                <c:pt idx="34" formatCode="General">
                  <c:v>0.36304212200000002</c:v>
                </c:pt>
                <c:pt idx="35" formatCode="General">
                  <c:v>0.192120497</c:v>
                </c:pt>
                <c:pt idx="36" formatCode="General">
                  <c:v>8.8261615000000002E-2</c:v>
                </c:pt>
                <c:pt idx="37" formatCode="General">
                  <c:v>3.5200717999999999E-2</c:v>
                </c:pt>
                <c:pt idx="38" formatCode="General">
                  <c:v>1.2187445E-2</c:v>
                </c:pt>
                <c:pt idx="39" formatCode="General">
                  <c:v>3.663155E-3</c:v>
                </c:pt>
                <c:pt idx="40" formatCode="General">
                  <c:v>9.5582700000000002E-4</c:v>
                </c:pt>
                <c:pt idx="41" formatCode="General">
                  <c:v>2.1651400000000001E-4</c:v>
                </c:pt>
                <c:pt idx="42">
                  <c:v>4.2576700000000002E-5</c:v>
                </c:pt>
                <c:pt idx="43">
                  <c:v>7.2684300000000001E-6</c:v>
                </c:pt>
                <c:pt idx="44">
                  <c:v>1.07719E-6</c:v>
                </c:pt>
                <c:pt idx="45">
                  <c:v>1.38587E-7</c:v>
                </c:pt>
                <c:pt idx="46">
                  <c:v>1.5478699999999999E-8</c:v>
                </c:pt>
                <c:pt idx="47">
                  <c:v>1.50082E-9</c:v>
                </c:pt>
                <c:pt idx="48">
                  <c:v>1.2632999999999999E-10</c:v>
                </c:pt>
                <c:pt idx="49">
                  <c:v>9.2313100000000002E-12</c:v>
                </c:pt>
                <c:pt idx="50">
                  <c:v>5.8560199999999999E-13</c:v>
                </c:pt>
                <c:pt idx="51">
                  <c:v>3.2249500000000003E-14</c:v>
                </c:pt>
                <c:pt idx="52">
                  <c:v>1.54179E-15</c:v>
                </c:pt>
                <c:pt idx="53">
                  <c:v>6.3989400000000002E-17</c:v>
                </c:pt>
                <c:pt idx="54">
                  <c:v>2.3055399999999999E-18</c:v>
                </c:pt>
                <c:pt idx="55">
                  <c:v>7.2114000000000001E-20</c:v>
                </c:pt>
                <c:pt idx="56">
                  <c:v>1.9581600000000001E-21</c:v>
                </c:pt>
                <c:pt idx="57">
                  <c:v>4.6158999999999998E-23</c:v>
                </c:pt>
                <c:pt idx="58">
                  <c:v>9.4459900000000003E-25</c:v>
                </c:pt>
                <c:pt idx="59">
                  <c:v>1.6781100000000001E-26</c:v>
                </c:pt>
                <c:pt idx="60">
                  <c:v>2.5880599999999998E-28</c:v>
                </c:pt>
              </c:numCache>
            </c:numRef>
          </c:val>
          <c:smooth val="0"/>
          <c:extLst>
            <c:ext xmlns:c16="http://schemas.microsoft.com/office/drawing/2014/chart" uri="{C3380CC4-5D6E-409C-BE32-E72D297353CC}">
              <c16:uniqueId val="{00000002-7434-4CEF-ADEE-9BD6EB9DB646}"/>
            </c:ext>
          </c:extLst>
        </c:ser>
        <c:dLbls>
          <c:showLegendKey val="0"/>
          <c:showVal val="0"/>
          <c:showCatName val="0"/>
          <c:showSerName val="0"/>
          <c:showPercent val="0"/>
          <c:showBubbleSize val="0"/>
        </c:dLbls>
        <c:smooth val="0"/>
        <c:axId val="135625728"/>
        <c:axId val="135627520"/>
      </c:lineChart>
      <c:catAx>
        <c:axId val="135625728"/>
        <c:scaling>
          <c:orientation val="minMax"/>
        </c:scaling>
        <c:delete val="1"/>
        <c:axPos val="b"/>
        <c:numFmt formatCode="General" sourceLinked="1"/>
        <c:majorTickMark val="out"/>
        <c:minorTickMark val="none"/>
        <c:tickLblPos val="nextTo"/>
        <c:crossAx val="135627520"/>
        <c:crosses val="autoZero"/>
        <c:auto val="1"/>
        <c:lblAlgn val="ctr"/>
        <c:lblOffset val="100"/>
        <c:noMultiLvlLbl val="0"/>
      </c:catAx>
      <c:valAx>
        <c:axId val="135627520"/>
        <c:scaling>
          <c:orientation val="minMax"/>
        </c:scaling>
        <c:delete val="1"/>
        <c:axPos val="l"/>
        <c:numFmt formatCode="0.00E+00" sourceLinked="1"/>
        <c:majorTickMark val="out"/>
        <c:minorTickMark val="none"/>
        <c:tickLblPos val="nextTo"/>
        <c:crossAx val="135625728"/>
        <c:crosses val="autoZero"/>
        <c:crossBetween val="between"/>
      </c:valAx>
      <c:spPr>
        <a:noFill/>
        <a:ln w="25400">
          <a:noFill/>
        </a:ln>
      </c:spPr>
    </c:plotArea>
    <c:plotVisOnly val="1"/>
    <c:dispBlanksAs val="gap"/>
    <c:showDLblsOverMax val="0"/>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
          <c:y val="7.4362304645914062E-2"/>
          <c:w val="1"/>
          <c:h val="0.91211727632755613"/>
        </c:manualLayout>
      </c:layout>
      <c:lineChart>
        <c:grouping val="standard"/>
        <c:varyColors val="0"/>
        <c:ser>
          <c:idx val="0"/>
          <c:order val="0"/>
          <c:tx>
            <c:strRef>
              <c:f>Sheet1!$B$1</c:f>
              <c:strCache>
                <c:ptCount val="1"/>
                <c:pt idx="0">
                  <c:v>SQRT_N</c:v>
                </c:pt>
              </c:strCache>
            </c:strRef>
          </c:tx>
          <c:spPr>
            <a:ln>
              <a:solidFill>
                <a:schemeClr val="tx1"/>
              </a:solidFill>
            </a:ln>
          </c:spPr>
          <c:marker>
            <c:symbol val="none"/>
          </c:marker>
          <c:cat>
            <c:numRef>
              <c:f>Sheet1!$A$2:$A$62</c:f>
              <c:numCache>
                <c:formatCode>General</c:formatCode>
                <c:ptCount val="61"/>
                <c:pt idx="0">
                  <c:v>-3</c:v>
                </c:pt>
                <c:pt idx="1">
                  <c:v>-2.9</c:v>
                </c:pt>
                <c:pt idx="2">
                  <c:v>-2.8</c:v>
                </c:pt>
                <c:pt idx="3">
                  <c:v>-2.7</c:v>
                </c:pt>
                <c:pt idx="4">
                  <c:v>-2.6</c:v>
                </c:pt>
                <c:pt idx="5">
                  <c:v>-2.5</c:v>
                </c:pt>
                <c:pt idx="6">
                  <c:v>-2.4</c:v>
                </c:pt>
                <c:pt idx="7">
                  <c:v>-2.2999999999999998</c:v>
                </c:pt>
                <c:pt idx="8">
                  <c:v>-2.2000000000000002</c:v>
                </c:pt>
                <c:pt idx="9">
                  <c:v>-2.1</c:v>
                </c:pt>
                <c:pt idx="10">
                  <c:v>-2</c:v>
                </c:pt>
                <c:pt idx="11">
                  <c:v>-1.9</c:v>
                </c:pt>
                <c:pt idx="12">
                  <c:v>-1.8</c:v>
                </c:pt>
                <c:pt idx="13">
                  <c:v>-1.7</c:v>
                </c:pt>
                <c:pt idx="14">
                  <c:v>-1.6</c:v>
                </c:pt>
                <c:pt idx="15">
                  <c:v>-1.5</c:v>
                </c:pt>
                <c:pt idx="16">
                  <c:v>-1.4</c:v>
                </c:pt>
                <c:pt idx="17">
                  <c:v>-1.3</c:v>
                </c:pt>
                <c:pt idx="18">
                  <c:v>-1.2</c:v>
                </c:pt>
                <c:pt idx="19">
                  <c:v>-1.1000000000000001</c:v>
                </c:pt>
                <c:pt idx="20">
                  <c:v>-1</c:v>
                </c:pt>
                <c:pt idx="21">
                  <c:v>-0.9</c:v>
                </c:pt>
                <c:pt idx="22">
                  <c:v>-0.8</c:v>
                </c:pt>
                <c:pt idx="23">
                  <c:v>-0.7</c:v>
                </c:pt>
                <c:pt idx="24">
                  <c:v>-0.6</c:v>
                </c:pt>
                <c:pt idx="25">
                  <c:v>-0.5</c:v>
                </c:pt>
                <c:pt idx="26">
                  <c:v>-0.4</c:v>
                </c:pt>
                <c:pt idx="27">
                  <c:v>-0.3</c:v>
                </c:pt>
                <c:pt idx="28">
                  <c:v>-0.2</c:v>
                </c:pt>
                <c:pt idx="29">
                  <c:v>-0.1</c:v>
                </c:pt>
                <c:pt idx="30">
                  <c:v>0</c:v>
                </c:pt>
                <c:pt idx="31">
                  <c:v>0.1</c:v>
                </c:pt>
                <c:pt idx="32">
                  <c:v>0.2</c:v>
                </c:pt>
                <c:pt idx="33">
                  <c:v>0.3</c:v>
                </c:pt>
                <c:pt idx="34">
                  <c:v>0.4</c:v>
                </c:pt>
                <c:pt idx="35">
                  <c:v>0.5</c:v>
                </c:pt>
                <c:pt idx="36">
                  <c:v>0.6</c:v>
                </c:pt>
                <c:pt idx="37">
                  <c:v>0.7</c:v>
                </c:pt>
                <c:pt idx="38">
                  <c:v>0.8</c:v>
                </c:pt>
                <c:pt idx="39">
                  <c:v>0.9</c:v>
                </c:pt>
                <c:pt idx="40">
                  <c:v>1</c:v>
                </c:pt>
                <c:pt idx="41">
                  <c:v>1.1000000000000001</c:v>
                </c:pt>
                <c:pt idx="42">
                  <c:v>1.2</c:v>
                </c:pt>
                <c:pt idx="43">
                  <c:v>1.3</c:v>
                </c:pt>
                <c:pt idx="44">
                  <c:v>1.4</c:v>
                </c:pt>
                <c:pt idx="45">
                  <c:v>1.5</c:v>
                </c:pt>
                <c:pt idx="46">
                  <c:v>1.6</c:v>
                </c:pt>
                <c:pt idx="47">
                  <c:v>1.7</c:v>
                </c:pt>
                <c:pt idx="48">
                  <c:v>1.8</c:v>
                </c:pt>
                <c:pt idx="49">
                  <c:v>1.9</c:v>
                </c:pt>
                <c:pt idx="50">
                  <c:v>2</c:v>
                </c:pt>
                <c:pt idx="51">
                  <c:v>2.1</c:v>
                </c:pt>
                <c:pt idx="52">
                  <c:v>2.2000000000000002</c:v>
                </c:pt>
                <c:pt idx="53">
                  <c:v>2.2999999999999998</c:v>
                </c:pt>
                <c:pt idx="54">
                  <c:v>2.4</c:v>
                </c:pt>
                <c:pt idx="55">
                  <c:v>2.5000000000000102</c:v>
                </c:pt>
                <c:pt idx="56">
                  <c:v>2.6</c:v>
                </c:pt>
                <c:pt idx="57">
                  <c:v>2.7</c:v>
                </c:pt>
                <c:pt idx="58">
                  <c:v>2.80000000000001</c:v>
                </c:pt>
                <c:pt idx="59">
                  <c:v>2.9000000000000101</c:v>
                </c:pt>
                <c:pt idx="60">
                  <c:v>3.0000000000000102</c:v>
                </c:pt>
              </c:numCache>
            </c:numRef>
          </c:cat>
          <c:val>
            <c:numRef>
              <c:f>Sheet1!$B$2:$B$62</c:f>
              <c:numCache>
                <c:formatCode>General</c:formatCode>
                <c:ptCount val="61"/>
                <c:pt idx="0">
                  <c:v>1.9641280346397437E-5</c:v>
                </c:pt>
                <c:pt idx="1">
                  <c:v>3.5432642208482576E-5</c:v>
                </c:pt>
                <c:pt idx="2">
                  <c:v>6.2654373762500076E-5</c:v>
                </c:pt>
                <c:pt idx="3">
                  <c:v>1.0859588240644479E-4</c:v>
                </c:pt>
                <c:pt idx="4">
                  <c:v>1.844970532032499E-4</c:v>
                </c:pt>
                <c:pt idx="5">
                  <c:v>3.0724131819283507E-4</c:v>
                </c:pt>
                <c:pt idx="6">
                  <c:v>5.015149871266364E-4</c:v>
                </c:pt>
                <c:pt idx="7">
                  <c:v>8.0242106721409789E-4</c:v>
                </c:pt>
                <c:pt idx="8">
                  <c:v>1.2584467376058936E-3</c:v>
                </c:pt>
                <c:pt idx="9">
                  <c:v>1.934556715369451E-3</c:v>
                </c:pt>
                <c:pt idx="10">
                  <c:v>2.9150244650281935E-3</c:v>
                </c:pt>
                <c:pt idx="11">
                  <c:v>4.3054351485446677E-3</c:v>
                </c:pt>
                <c:pt idx="12">
                  <c:v>6.2331274957362452E-3</c:v>
                </c:pt>
                <c:pt idx="13">
                  <c:v>8.845228955443667E-3</c:v>
                </c:pt>
                <c:pt idx="14">
                  <c:v>1.2303431565987106E-2</c:v>
                </c:pt>
                <c:pt idx="15">
                  <c:v>1.6774807587073417E-2</c:v>
                </c:pt>
                <c:pt idx="16">
                  <c:v>2.2418313965703162E-2</c:v>
                </c:pt>
                <c:pt idx="17">
                  <c:v>2.9367194340447818E-2</c:v>
                </c:pt>
                <c:pt idx="18">
                  <c:v>3.7708223949943401E-2</c:v>
                </c:pt>
                <c:pt idx="19">
                  <c:v>4.7459571037821731E-2</c:v>
                </c:pt>
                <c:pt idx="20">
                  <c:v>5.8549831524319168E-2</c:v>
                </c:pt>
                <c:pt idx="21">
                  <c:v>7.0801360213682801E-2</c:v>
                </c:pt>
                <c:pt idx="22">
                  <c:v>8.3921195741358937E-2</c:v>
                </c:pt>
                <c:pt idx="23">
                  <c:v>9.7502518903013785E-2</c:v>
                </c:pt>
                <c:pt idx="24">
                  <c:v>0.11103863597239756</c:v>
                </c:pt>
                <c:pt idx="25">
                  <c:v>0.15291438851158204</c:v>
                </c:pt>
                <c:pt idx="26">
                  <c:v>0.14545666578175079</c:v>
                </c:pt>
                <c:pt idx="27">
                  <c:v>0.13562289623902943</c:v>
                </c:pt>
                <c:pt idx="28">
                  <c:v>0.12394999430965298</c:v>
                </c:pt>
                <c:pt idx="29">
                  <c:v>0.1575713249484893</c:v>
                </c:pt>
                <c:pt idx="30">
                  <c:v>0.15915494309189535</c:v>
                </c:pt>
                <c:pt idx="31">
                  <c:v>0.1575713249484893</c:v>
                </c:pt>
                <c:pt idx="32">
                  <c:v>0.12394999430965298</c:v>
                </c:pt>
                <c:pt idx="33">
                  <c:v>0.13562289623902943</c:v>
                </c:pt>
                <c:pt idx="34">
                  <c:v>0.14545666578175079</c:v>
                </c:pt>
                <c:pt idx="35">
                  <c:v>0.15291438851158204</c:v>
                </c:pt>
                <c:pt idx="36">
                  <c:v>0.11103863597239756</c:v>
                </c:pt>
                <c:pt idx="37">
                  <c:v>9.7502518903013785E-2</c:v>
                </c:pt>
                <c:pt idx="38">
                  <c:v>8.3921195741358937E-2</c:v>
                </c:pt>
                <c:pt idx="39">
                  <c:v>7.0801360213682801E-2</c:v>
                </c:pt>
                <c:pt idx="40">
                  <c:v>5.8549831524319168E-2</c:v>
                </c:pt>
                <c:pt idx="41">
                  <c:v>4.7459571037821731E-2</c:v>
                </c:pt>
                <c:pt idx="42">
                  <c:v>3.7708223949943401E-2</c:v>
                </c:pt>
                <c:pt idx="43">
                  <c:v>2.9367194340447818E-2</c:v>
                </c:pt>
                <c:pt idx="44">
                  <c:v>2.2418313965703162E-2</c:v>
                </c:pt>
                <c:pt idx="45">
                  <c:v>1.6774807587073417E-2</c:v>
                </c:pt>
                <c:pt idx="46">
                  <c:v>1.2303431565987106E-2</c:v>
                </c:pt>
                <c:pt idx="47">
                  <c:v>8.845228955443667E-3</c:v>
                </c:pt>
                <c:pt idx="48">
                  <c:v>6.2331274957362452E-3</c:v>
                </c:pt>
                <c:pt idx="49">
                  <c:v>4.3054351485446677E-3</c:v>
                </c:pt>
                <c:pt idx="50">
                  <c:v>2.9150244650281935E-3</c:v>
                </c:pt>
                <c:pt idx="51">
                  <c:v>1.934556715369451E-3</c:v>
                </c:pt>
                <c:pt idx="52">
                  <c:v>1.2584467376058936E-3</c:v>
                </c:pt>
                <c:pt idx="53">
                  <c:v>8.0242106721409789E-4</c:v>
                </c:pt>
                <c:pt idx="54">
                  <c:v>5.015149871266364E-4</c:v>
                </c:pt>
                <c:pt idx="55">
                  <c:v>3.0724131819281919E-4</c:v>
                </c:pt>
                <c:pt idx="56">
                  <c:v>1.844970532032499E-4</c:v>
                </c:pt>
                <c:pt idx="57">
                  <c:v>1.0859588240644479E-4</c:v>
                </c:pt>
                <c:pt idx="58">
                  <c:v>6.2654373762496512E-5</c:v>
                </c:pt>
                <c:pt idx="59">
                  <c:v>3.5432642208480502E-5</c:v>
                </c:pt>
                <c:pt idx="60">
                  <c:v>1.9641280346396251E-5</c:v>
                </c:pt>
              </c:numCache>
            </c:numRef>
          </c:val>
          <c:smooth val="0"/>
          <c:extLst>
            <c:ext xmlns:c16="http://schemas.microsoft.com/office/drawing/2014/chart" uri="{C3380CC4-5D6E-409C-BE32-E72D297353CC}">
              <c16:uniqueId val="{00000000-B7CD-41E0-AC4C-39DB95896441}"/>
            </c:ext>
          </c:extLst>
        </c:ser>
        <c:ser>
          <c:idx val="1"/>
          <c:order val="1"/>
          <c:tx>
            <c:strRef>
              <c:f>Sheet1!$C$1</c:f>
              <c:strCache>
                <c:ptCount val="1"/>
                <c:pt idx="0">
                  <c:v>3.16227766</c:v>
                </c:pt>
              </c:strCache>
            </c:strRef>
          </c:tx>
          <c:marker>
            <c:symbol val="none"/>
          </c:marker>
          <c:cat>
            <c:numRef>
              <c:f>Sheet1!$A$2:$A$62</c:f>
              <c:numCache>
                <c:formatCode>General</c:formatCode>
                <c:ptCount val="61"/>
                <c:pt idx="0">
                  <c:v>-3</c:v>
                </c:pt>
                <c:pt idx="1">
                  <c:v>-2.9</c:v>
                </c:pt>
                <c:pt idx="2">
                  <c:v>-2.8</c:v>
                </c:pt>
                <c:pt idx="3">
                  <c:v>-2.7</c:v>
                </c:pt>
                <c:pt idx="4">
                  <c:v>-2.6</c:v>
                </c:pt>
                <c:pt idx="5">
                  <c:v>-2.5</c:v>
                </c:pt>
                <c:pt idx="6">
                  <c:v>-2.4</c:v>
                </c:pt>
                <c:pt idx="7">
                  <c:v>-2.2999999999999998</c:v>
                </c:pt>
                <c:pt idx="8">
                  <c:v>-2.2000000000000002</c:v>
                </c:pt>
                <c:pt idx="9">
                  <c:v>-2.1</c:v>
                </c:pt>
                <c:pt idx="10">
                  <c:v>-2</c:v>
                </c:pt>
                <c:pt idx="11">
                  <c:v>-1.9</c:v>
                </c:pt>
                <c:pt idx="12">
                  <c:v>-1.8</c:v>
                </c:pt>
                <c:pt idx="13">
                  <c:v>-1.7</c:v>
                </c:pt>
                <c:pt idx="14">
                  <c:v>-1.6</c:v>
                </c:pt>
                <c:pt idx="15">
                  <c:v>-1.5</c:v>
                </c:pt>
                <c:pt idx="16">
                  <c:v>-1.4</c:v>
                </c:pt>
                <c:pt idx="17">
                  <c:v>-1.3</c:v>
                </c:pt>
                <c:pt idx="18">
                  <c:v>-1.2</c:v>
                </c:pt>
                <c:pt idx="19">
                  <c:v>-1.1000000000000001</c:v>
                </c:pt>
                <c:pt idx="20">
                  <c:v>-1</c:v>
                </c:pt>
                <c:pt idx="21">
                  <c:v>-0.9</c:v>
                </c:pt>
                <c:pt idx="22">
                  <c:v>-0.8</c:v>
                </c:pt>
                <c:pt idx="23">
                  <c:v>-0.7</c:v>
                </c:pt>
                <c:pt idx="24">
                  <c:v>-0.6</c:v>
                </c:pt>
                <c:pt idx="25">
                  <c:v>-0.5</c:v>
                </c:pt>
                <c:pt idx="26">
                  <c:v>-0.4</c:v>
                </c:pt>
                <c:pt idx="27">
                  <c:v>-0.3</c:v>
                </c:pt>
                <c:pt idx="28">
                  <c:v>-0.2</c:v>
                </c:pt>
                <c:pt idx="29">
                  <c:v>-0.1</c:v>
                </c:pt>
                <c:pt idx="30">
                  <c:v>0</c:v>
                </c:pt>
                <c:pt idx="31">
                  <c:v>0.1</c:v>
                </c:pt>
                <c:pt idx="32">
                  <c:v>0.2</c:v>
                </c:pt>
                <c:pt idx="33">
                  <c:v>0.3</c:v>
                </c:pt>
                <c:pt idx="34">
                  <c:v>0.4</c:v>
                </c:pt>
                <c:pt idx="35">
                  <c:v>0.5</c:v>
                </c:pt>
                <c:pt idx="36">
                  <c:v>0.6</c:v>
                </c:pt>
                <c:pt idx="37">
                  <c:v>0.7</c:v>
                </c:pt>
                <c:pt idx="38">
                  <c:v>0.8</c:v>
                </c:pt>
                <c:pt idx="39">
                  <c:v>0.9</c:v>
                </c:pt>
                <c:pt idx="40">
                  <c:v>1</c:v>
                </c:pt>
                <c:pt idx="41">
                  <c:v>1.1000000000000001</c:v>
                </c:pt>
                <c:pt idx="42">
                  <c:v>1.2</c:v>
                </c:pt>
                <c:pt idx="43">
                  <c:v>1.3</c:v>
                </c:pt>
                <c:pt idx="44">
                  <c:v>1.4</c:v>
                </c:pt>
                <c:pt idx="45">
                  <c:v>1.5</c:v>
                </c:pt>
                <c:pt idx="46">
                  <c:v>1.6</c:v>
                </c:pt>
                <c:pt idx="47">
                  <c:v>1.7</c:v>
                </c:pt>
                <c:pt idx="48">
                  <c:v>1.8</c:v>
                </c:pt>
                <c:pt idx="49">
                  <c:v>1.9</c:v>
                </c:pt>
                <c:pt idx="50">
                  <c:v>2</c:v>
                </c:pt>
                <c:pt idx="51">
                  <c:v>2.1</c:v>
                </c:pt>
                <c:pt idx="52">
                  <c:v>2.2000000000000002</c:v>
                </c:pt>
                <c:pt idx="53">
                  <c:v>2.2999999999999998</c:v>
                </c:pt>
                <c:pt idx="54">
                  <c:v>2.4</c:v>
                </c:pt>
                <c:pt idx="55">
                  <c:v>2.5000000000000102</c:v>
                </c:pt>
                <c:pt idx="56">
                  <c:v>2.6</c:v>
                </c:pt>
                <c:pt idx="57">
                  <c:v>2.7</c:v>
                </c:pt>
                <c:pt idx="58">
                  <c:v>2.80000000000001</c:v>
                </c:pt>
                <c:pt idx="59">
                  <c:v>2.9000000000000101</c:v>
                </c:pt>
                <c:pt idx="60">
                  <c:v>3.0000000000000102</c:v>
                </c:pt>
              </c:numCache>
            </c:numRef>
          </c:cat>
          <c:val>
            <c:numRef>
              <c:f>Sheet1!$C$2:$C$62</c:f>
              <c:numCache>
                <c:formatCode>General</c:formatCode>
                <c:ptCount val="61"/>
                <c:pt idx="0">
                  <c:v>2.1957479692438417E-13</c:v>
                </c:pt>
                <c:pt idx="1">
                  <c:v>1.4186156125976263E-12</c:v>
                </c:pt>
                <c:pt idx="2">
                  <c:v>8.6035915791690236E-12</c:v>
                </c:pt>
                <c:pt idx="3">
                  <c:v>4.8980999351042892E-11</c:v>
                </c:pt>
                <c:pt idx="4">
                  <c:v>2.6176302621139729E-10</c:v>
                </c:pt>
                <c:pt idx="5">
                  <c:v>1.3131724694912204E-9</c:v>
                </c:pt>
                <c:pt idx="6">
                  <c:v>6.1839794944819354E-9</c:v>
                </c:pt>
                <c:pt idx="7">
                  <c:v>2.7336764892971163E-8</c:v>
                </c:pt>
                <c:pt idx="8">
                  <c:v>1.1343811461984197E-7</c:v>
                </c:pt>
                <c:pt idx="9">
                  <c:v>4.4187933027691353E-7</c:v>
                </c:pt>
                <c:pt idx="10">
                  <c:v>1.6157760991585231E-6</c:v>
                </c:pt>
                <c:pt idx="11">
                  <c:v>5.5461482920681163E-6</c:v>
                </c:pt>
                <c:pt idx="12">
                  <c:v>1.7870412630700963E-5</c:v>
                </c:pt>
                <c:pt idx="13">
                  <c:v>5.4051840785899258E-5</c:v>
                </c:pt>
                <c:pt idx="14">
                  <c:v>1.5346848375637971E-4</c:v>
                </c:pt>
                <c:pt idx="15">
                  <c:v>4.0903523562266345E-4</c:v>
                </c:pt>
                <c:pt idx="16">
                  <c:v>1.0233755697151635E-3</c:v>
                </c:pt>
                <c:pt idx="17">
                  <c:v>2.40348919692796E-3</c:v>
                </c:pt>
                <c:pt idx="18">
                  <c:v>5.2988558962158445E-3</c:v>
                </c:pt>
                <c:pt idx="19">
                  <c:v>1.0966166831794077E-2</c:v>
                </c:pt>
                <c:pt idx="20">
                  <c:v>2.1303962728789781E-2</c:v>
                </c:pt>
                <c:pt idx="21">
                  <c:v>3.8850690666012294E-2</c:v>
                </c:pt>
                <c:pt idx="22">
                  <c:v>6.6507389155984586E-2</c:v>
                </c:pt>
                <c:pt idx="23">
                  <c:v>0.10687444193864395</c:v>
                </c:pt>
                <c:pt idx="24">
                  <c:v>0.1612169222688204</c:v>
                </c:pt>
                <c:pt idx="25">
                  <c:v>0.22828648286694625</c:v>
                </c:pt>
                <c:pt idx="26">
                  <c:v>0.30344680806711366</c:v>
                </c:pt>
                <c:pt idx="27">
                  <c:v>0.37863238336140181</c:v>
                </c:pt>
                <c:pt idx="28">
                  <c:v>0.44349195093252719</c:v>
                </c:pt>
                <c:pt idx="29">
                  <c:v>0.48762564102724698</c:v>
                </c:pt>
                <c:pt idx="30">
                  <c:v>0.50329212101807197</c:v>
                </c:pt>
                <c:pt idx="31">
                  <c:v>0.48762564102724698</c:v>
                </c:pt>
                <c:pt idx="32">
                  <c:v>0.44349195093252719</c:v>
                </c:pt>
                <c:pt idx="33">
                  <c:v>0.37863238336140181</c:v>
                </c:pt>
                <c:pt idx="34">
                  <c:v>0.30344680806711366</c:v>
                </c:pt>
                <c:pt idx="35">
                  <c:v>0.22828648286694625</c:v>
                </c:pt>
                <c:pt idx="36">
                  <c:v>0.1612169222688204</c:v>
                </c:pt>
                <c:pt idx="37">
                  <c:v>0.10687444193864395</c:v>
                </c:pt>
                <c:pt idx="38">
                  <c:v>6.6507389155984586E-2</c:v>
                </c:pt>
                <c:pt idx="39">
                  <c:v>3.8850690666012294E-2</c:v>
                </c:pt>
                <c:pt idx="40">
                  <c:v>2.1303962728789781E-2</c:v>
                </c:pt>
                <c:pt idx="41">
                  <c:v>1.0966166831794077E-2</c:v>
                </c:pt>
                <c:pt idx="42">
                  <c:v>5.2988558962158445E-3</c:v>
                </c:pt>
                <c:pt idx="43">
                  <c:v>2.40348919692796E-3</c:v>
                </c:pt>
                <c:pt idx="44">
                  <c:v>1.0233755697151635E-3</c:v>
                </c:pt>
                <c:pt idx="45">
                  <c:v>4.0903523562266345E-4</c:v>
                </c:pt>
                <c:pt idx="46">
                  <c:v>1.5346848375637971E-4</c:v>
                </c:pt>
                <c:pt idx="47">
                  <c:v>5.4051840785899258E-5</c:v>
                </c:pt>
                <c:pt idx="48">
                  <c:v>1.7870412630700963E-5</c:v>
                </c:pt>
                <c:pt idx="49">
                  <c:v>5.5461482920681163E-6</c:v>
                </c:pt>
                <c:pt idx="50">
                  <c:v>1.6157760991585231E-6</c:v>
                </c:pt>
                <c:pt idx="51">
                  <c:v>4.4187933027691353E-7</c:v>
                </c:pt>
                <c:pt idx="52">
                  <c:v>1.1343811461984197E-7</c:v>
                </c:pt>
                <c:pt idx="53">
                  <c:v>2.7336764892971163E-8</c:v>
                </c:pt>
                <c:pt idx="54">
                  <c:v>6.1839794944819354E-9</c:v>
                </c:pt>
                <c:pt idx="55">
                  <c:v>1.3131724694910057E-9</c:v>
                </c:pt>
                <c:pt idx="56">
                  <c:v>2.6176302621139729E-10</c:v>
                </c:pt>
                <c:pt idx="57">
                  <c:v>4.8980999351042892E-11</c:v>
                </c:pt>
                <c:pt idx="58">
                  <c:v>8.6035915791674953E-12</c:v>
                </c:pt>
                <c:pt idx="59">
                  <c:v>1.4186156125973641E-12</c:v>
                </c:pt>
                <c:pt idx="60">
                  <c:v>2.1957479692434206E-13</c:v>
                </c:pt>
              </c:numCache>
            </c:numRef>
          </c:val>
          <c:smooth val="0"/>
          <c:extLst>
            <c:ext xmlns:c16="http://schemas.microsoft.com/office/drawing/2014/chart" uri="{C3380CC4-5D6E-409C-BE32-E72D297353CC}">
              <c16:uniqueId val="{00000001-B7CD-41E0-AC4C-39DB95896441}"/>
            </c:ext>
          </c:extLst>
        </c:ser>
        <c:ser>
          <c:idx val="2"/>
          <c:order val="2"/>
          <c:tx>
            <c:strRef>
              <c:f>Sheet1!$D$1</c:f>
              <c:strCache>
                <c:ptCount val="1"/>
                <c:pt idx="0">
                  <c:v>7.071067812</c:v>
                </c:pt>
              </c:strCache>
            </c:strRef>
          </c:tx>
          <c:marker>
            <c:symbol val="none"/>
          </c:marker>
          <c:cat>
            <c:numRef>
              <c:f>Sheet1!$A$2:$A$62</c:f>
              <c:numCache>
                <c:formatCode>General</c:formatCode>
                <c:ptCount val="61"/>
                <c:pt idx="0">
                  <c:v>-3</c:v>
                </c:pt>
                <c:pt idx="1">
                  <c:v>-2.9</c:v>
                </c:pt>
                <c:pt idx="2">
                  <c:v>-2.8</c:v>
                </c:pt>
                <c:pt idx="3">
                  <c:v>-2.7</c:v>
                </c:pt>
                <c:pt idx="4">
                  <c:v>-2.6</c:v>
                </c:pt>
                <c:pt idx="5">
                  <c:v>-2.5</c:v>
                </c:pt>
                <c:pt idx="6">
                  <c:v>-2.4</c:v>
                </c:pt>
                <c:pt idx="7">
                  <c:v>-2.2999999999999998</c:v>
                </c:pt>
                <c:pt idx="8">
                  <c:v>-2.2000000000000002</c:v>
                </c:pt>
                <c:pt idx="9">
                  <c:v>-2.1</c:v>
                </c:pt>
                <c:pt idx="10">
                  <c:v>-2</c:v>
                </c:pt>
                <c:pt idx="11">
                  <c:v>-1.9</c:v>
                </c:pt>
                <c:pt idx="12">
                  <c:v>-1.8</c:v>
                </c:pt>
                <c:pt idx="13">
                  <c:v>-1.7</c:v>
                </c:pt>
                <c:pt idx="14">
                  <c:v>-1.6</c:v>
                </c:pt>
                <c:pt idx="15">
                  <c:v>-1.5</c:v>
                </c:pt>
                <c:pt idx="16">
                  <c:v>-1.4</c:v>
                </c:pt>
                <c:pt idx="17">
                  <c:v>-1.3</c:v>
                </c:pt>
                <c:pt idx="18">
                  <c:v>-1.2</c:v>
                </c:pt>
                <c:pt idx="19">
                  <c:v>-1.1000000000000001</c:v>
                </c:pt>
                <c:pt idx="20">
                  <c:v>-1</c:v>
                </c:pt>
                <c:pt idx="21">
                  <c:v>-0.9</c:v>
                </c:pt>
                <c:pt idx="22">
                  <c:v>-0.8</c:v>
                </c:pt>
                <c:pt idx="23">
                  <c:v>-0.7</c:v>
                </c:pt>
                <c:pt idx="24">
                  <c:v>-0.6</c:v>
                </c:pt>
                <c:pt idx="25">
                  <c:v>-0.5</c:v>
                </c:pt>
                <c:pt idx="26">
                  <c:v>-0.4</c:v>
                </c:pt>
                <c:pt idx="27">
                  <c:v>-0.3</c:v>
                </c:pt>
                <c:pt idx="28">
                  <c:v>-0.2</c:v>
                </c:pt>
                <c:pt idx="29">
                  <c:v>-0.1</c:v>
                </c:pt>
                <c:pt idx="30">
                  <c:v>0</c:v>
                </c:pt>
                <c:pt idx="31">
                  <c:v>0.1</c:v>
                </c:pt>
                <c:pt idx="32">
                  <c:v>0.2</c:v>
                </c:pt>
                <c:pt idx="33">
                  <c:v>0.3</c:v>
                </c:pt>
                <c:pt idx="34">
                  <c:v>0.4</c:v>
                </c:pt>
                <c:pt idx="35">
                  <c:v>0.5</c:v>
                </c:pt>
                <c:pt idx="36">
                  <c:v>0.6</c:v>
                </c:pt>
                <c:pt idx="37">
                  <c:v>0.7</c:v>
                </c:pt>
                <c:pt idx="38">
                  <c:v>0.8</c:v>
                </c:pt>
                <c:pt idx="39">
                  <c:v>0.9</c:v>
                </c:pt>
                <c:pt idx="40">
                  <c:v>1</c:v>
                </c:pt>
                <c:pt idx="41">
                  <c:v>1.1000000000000001</c:v>
                </c:pt>
                <c:pt idx="42">
                  <c:v>1.2</c:v>
                </c:pt>
                <c:pt idx="43">
                  <c:v>1.3</c:v>
                </c:pt>
                <c:pt idx="44">
                  <c:v>1.4</c:v>
                </c:pt>
                <c:pt idx="45">
                  <c:v>1.5</c:v>
                </c:pt>
                <c:pt idx="46">
                  <c:v>1.6</c:v>
                </c:pt>
                <c:pt idx="47">
                  <c:v>1.7</c:v>
                </c:pt>
                <c:pt idx="48">
                  <c:v>1.8</c:v>
                </c:pt>
                <c:pt idx="49">
                  <c:v>1.9</c:v>
                </c:pt>
                <c:pt idx="50">
                  <c:v>2</c:v>
                </c:pt>
                <c:pt idx="51">
                  <c:v>2.1</c:v>
                </c:pt>
                <c:pt idx="52">
                  <c:v>2.2000000000000002</c:v>
                </c:pt>
                <c:pt idx="53">
                  <c:v>2.2999999999999998</c:v>
                </c:pt>
                <c:pt idx="54">
                  <c:v>2.4</c:v>
                </c:pt>
                <c:pt idx="55">
                  <c:v>2.5000000000000102</c:v>
                </c:pt>
                <c:pt idx="56">
                  <c:v>2.6</c:v>
                </c:pt>
                <c:pt idx="57">
                  <c:v>2.7</c:v>
                </c:pt>
                <c:pt idx="58">
                  <c:v>2.80000000000001</c:v>
                </c:pt>
                <c:pt idx="59">
                  <c:v>2.9000000000000101</c:v>
                </c:pt>
                <c:pt idx="60">
                  <c:v>3.0000000000000102</c:v>
                </c:pt>
              </c:numCache>
            </c:numRef>
          </c:cat>
          <c:val>
            <c:numRef>
              <c:f>Sheet1!$D$2:$D$62</c:f>
              <c:numCache>
                <c:formatCode>General</c:formatCode>
                <c:ptCount val="61"/>
                <c:pt idx="0">
                  <c:v>2.5880552686716993E-28</c:v>
                </c:pt>
                <c:pt idx="1">
                  <c:v>1.6781073068391347E-26</c:v>
                </c:pt>
                <c:pt idx="2">
                  <c:v>9.4459881322512352E-25</c:v>
                </c:pt>
                <c:pt idx="3">
                  <c:v>4.6159016640960584E-23</c:v>
                </c:pt>
                <c:pt idx="4">
                  <c:v>1.9581555418077432E-21</c:v>
                </c:pt>
                <c:pt idx="5">
                  <c:v>7.2113954135510934E-20</c:v>
                </c:pt>
                <c:pt idx="6">
                  <c:v>2.3055413620368978E-18</c:v>
                </c:pt>
                <c:pt idx="7">
                  <c:v>6.3989396166666672E-17</c:v>
                </c:pt>
                <c:pt idx="8">
                  <c:v>1.5417877521612201E-15</c:v>
                </c:pt>
                <c:pt idx="9">
                  <c:v>3.2249475524857863E-14</c:v>
                </c:pt>
                <c:pt idx="10">
                  <c:v>5.8560153461795485E-13</c:v>
                </c:pt>
                <c:pt idx="11">
                  <c:v>9.2313080059855102E-12</c:v>
                </c:pt>
                <c:pt idx="12">
                  <c:v>1.2632978656947972E-10</c:v>
                </c:pt>
                <c:pt idx="13">
                  <c:v>1.5008240089704121E-9</c:v>
                </c:pt>
                <c:pt idx="14">
                  <c:v>1.5478727695183599E-8</c:v>
                </c:pt>
                <c:pt idx="15">
                  <c:v>1.3858691809610366E-7</c:v>
                </c:pt>
                <c:pt idx="16">
                  <c:v>1.0771859973664762E-6</c:v>
                </c:pt>
                <c:pt idx="17">
                  <c:v>7.2684305797877243E-6</c:v>
                </c:pt>
                <c:pt idx="18">
                  <c:v>4.2576708077666142E-5</c:v>
                </c:pt>
                <c:pt idx="19">
                  <c:v>2.1651350879289832E-4</c:v>
                </c:pt>
                <c:pt idx="20">
                  <c:v>9.558272370024781E-4</c:v>
                </c:pt>
                <c:pt idx="21">
                  <c:v>3.6631549620575994E-3</c:v>
                </c:pt>
                <c:pt idx="22">
                  <c:v>1.2187444904116725E-2</c:v>
                </c:pt>
                <c:pt idx="23">
                  <c:v>3.5200718257056646E-2</c:v>
                </c:pt>
                <c:pt idx="24">
                  <c:v>8.8261615097269944E-2</c:v>
                </c:pt>
                <c:pt idx="25">
                  <c:v>0.19212049672868228</c:v>
                </c:pt>
                <c:pt idx="26">
                  <c:v>0.36304212174060607</c:v>
                </c:pt>
                <c:pt idx="27">
                  <c:v>0.59555492158537293</c:v>
                </c:pt>
                <c:pt idx="28">
                  <c:v>0.84814109098093893</c:v>
                </c:pt>
                <c:pt idx="29">
                  <c:v>1.0485662534989972</c:v>
                </c:pt>
                <c:pt idx="30">
                  <c:v>1.1253953952177929</c:v>
                </c:pt>
                <c:pt idx="31">
                  <c:v>1.0485662534989972</c:v>
                </c:pt>
                <c:pt idx="32">
                  <c:v>0.84814109098093893</c:v>
                </c:pt>
                <c:pt idx="33">
                  <c:v>0.59555492158537293</c:v>
                </c:pt>
                <c:pt idx="34">
                  <c:v>0.36304212174060607</c:v>
                </c:pt>
                <c:pt idx="35">
                  <c:v>0.19212049672868228</c:v>
                </c:pt>
                <c:pt idx="36">
                  <c:v>8.8261615097269944E-2</c:v>
                </c:pt>
                <c:pt idx="37">
                  <c:v>3.5200718257056646E-2</c:v>
                </c:pt>
                <c:pt idx="38">
                  <c:v>1.2187444904116725E-2</c:v>
                </c:pt>
                <c:pt idx="39">
                  <c:v>3.6631549620575994E-3</c:v>
                </c:pt>
                <c:pt idx="40">
                  <c:v>9.558272370024781E-4</c:v>
                </c:pt>
                <c:pt idx="41">
                  <c:v>2.1651350879289832E-4</c:v>
                </c:pt>
                <c:pt idx="42">
                  <c:v>4.2576708077666142E-5</c:v>
                </c:pt>
                <c:pt idx="43">
                  <c:v>7.2684305797877243E-6</c:v>
                </c:pt>
                <c:pt idx="44">
                  <c:v>1.0771859973664762E-6</c:v>
                </c:pt>
                <c:pt idx="45">
                  <c:v>1.3858691809610366E-7</c:v>
                </c:pt>
                <c:pt idx="46">
                  <c:v>1.5478727695183599E-8</c:v>
                </c:pt>
                <c:pt idx="47">
                  <c:v>1.5008240089704121E-9</c:v>
                </c:pt>
                <c:pt idx="48">
                  <c:v>1.2632978656947972E-10</c:v>
                </c:pt>
                <c:pt idx="49">
                  <c:v>9.2313080059855102E-12</c:v>
                </c:pt>
                <c:pt idx="50">
                  <c:v>5.8560153461795485E-13</c:v>
                </c:pt>
                <c:pt idx="51">
                  <c:v>3.2249475524857863E-14</c:v>
                </c:pt>
                <c:pt idx="52">
                  <c:v>1.5417877521612201E-15</c:v>
                </c:pt>
                <c:pt idx="53">
                  <c:v>6.3989396166666672E-17</c:v>
                </c:pt>
                <c:pt idx="54">
                  <c:v>2.3055413620368978E-18</c:v>
                </c:pt>
                <c:pt idx="55">
                  <c:v>7.2113954135484801E-20</c:v>
                </c:pt>
                <c:pt idx="56">
                  <c:v>1.9581555418077432E-21</c:v>
                </c:pt>
                <c:pt idx="57">
                  <c:v>4.6159016640960584E-23</c:v>
                </c:pt>
                <c:pt idx="58">
                  <c:v>9.4459881322474093E-25</c:v>
                </c:pt>
                <c:pt idx="59">
                  <c:v>1.678107306838443E-26</c:v>
                </c:pt>
                <c:pt idx="60">
                  <c:v>2.5880552686705962E-28</c:v>
                </c:pt>
              </c:numCache>
            </c:numRef>
          </c:val>
          <c:smooth val="0"/>
          <c:extLst>
            <c:ext xmlns:c16="http://schemas.microsoft.com/office/drawing/2014/chart" uri="{C3380CC4-5D6E-409C-BE32-E72D297353CC}">
              <c16:uniqueId val="{00000002-B7CD-41E0-AC4C-39DB95896441}"/>
            </c:ext>
          </c:extLst>
        </c:ser>
        <c:dLbls>
          <c:showLegendKey val="0"/>
          <c:showVal val="0"/>
          <c:showCatName val="0"/>
          <c:showSerName val="0"/>
          <c:showPercent val="0"/>
          <c:showBubbleSize val="0"/>
        </c:dLbls>
        <c:smooth val="0"/>
        <c:axId val="135218304"/>
        <c:axId val="135219840"/>
      </c:lineChart>
      <c:catAx>
        <c:axId val="135218304"/>
        <c:scaling>
          <c:orientation val="minMax"/>
        </c:scaling>
        <c:delete val="1"/>
        <c:axPos val="b"/>
        <c:numFmt formatCode="General" sourceLinked="1"/>
        <c:majorTickMark val="out"/>
        <c:minorTickMark val="none"/>
        <c:tickLblPos val="nextTo"/>
        <c:crossAx val="135219840"/>
        <c:crosses val="autoZero"/>
        <c:auto val="1"/>
        <c:lblAlgn val="ctr"/>
        <c:lblOffset val="100"/>
        <c:noMultiLvlLbl val="0"/>
      </c:catAx>
      <c:valAx>
        <c:axId val="135219840"/>
        <c:scaling>
          <c:orientation val="minMax"/>
        </c:scaling>
        <c:delete val="1"/>
        <c:axPos val="l"/>
        <c:numFmt formatCode="General" sourceLinked="1"/>
        <c:majorTickMark val="out"/>
        <c:minorTickMark val="none"/>
        <c:tickLblPos val="nextTo"/>
        <c:crossAx val="135218304"/>
        <c:crosses val="autoZero"/>
        <c:crossBetween val="between"/>
      </c:valAx>
      <c:spPr>
        <a:noFill/>
        <a:ln w="25400">
          <a:noFill/>
        </a:ln>
      </c:spPr>
    </c:plotArea>
    <c:plotVisOnly val="1"/>
    <c:dispBlanksAs val="gap"/>
    <c:showDLblsOverMax val="0"/>
  </c:chart>
  <c:txPr>
    <a:bodyPr/>
    <a:lstStyle/>
    <a:p>
      <a:pPr>
        <a:defRPr sz="1800"/>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
          <c:y val="7.4362304645914062E-2"/>
          <c:w val="1"/>
          <c:h val="0.91211727632755613"/>
        </c:manualLayout>
      </c:layout>
      <c:lineChart>
        <c:grouping val="standard"/>
        <c:varyColors val="0"/>
        <c:ser>
          <c:idx val="0"/>
          <c:order val="0"/>
          <c:tx>
            <c:strRef>
              <c:f>Sheet1!$B$1</c:f>
              <c:strCache>
                <c:ptCount val="1"/>
                <c:pt idx="0">
                  <c:v>SQRT_N</c:v>
                </c:pt>
              </c:strCache>
            </c:strRef>
          </c:tx>
          <c:spPr>
            <a:ln>
              <a:solidFill>
                <a:schemeClr val="tx1"/>
              </a:solidFill>
            </a:ln>
          </c:spPr>
          <c:marker>
            <c:symbol val="none"/>
          </c:marker>
          <c:cat>
            <c:numRef>
              <c:f>Sheet1!$A$2:$A$62</c:f>
              <c:numCache>
                <c:formatCode>General</c:formatCode>
                <c:ptCount val="61"/>
                <c:pt idx="0">
                  <c:v>-3</c:v>
                </c:pt>
                <c:pt idx="1">
                  <c:v>-2.9</c:v>
                </c:pt>
                <c:pt idx="2">
                  <c:v>-2.8</c:v>
                </c:pt>
                <c:pt idx="3">
                  <c:v>-2.7</c:v>
                </c:pt>
                <c:pt idx="4">
                  <c:v>-2.6</c:v>
                </c:pt>
                <c:pt idx="5">
                  <c:v>-2.5</c:v>
                </c:pt>
                <c:pt idx="6">
                  <c:v>-2.4</c:v>
                </c:pt>
                <c:pt idx="7">
                  <c:v>-2.2999999999999998</c:v>
                </c:pt>
                <c:pt idx="8">
                  <c:v>-2.2000000000000002</c:v>
                </c:pt>
                <c:pt idx="9">
                  <c:v>-2.1</c:v>
                </c:pt>
                <c:pt idx="10">
                  <c:v>-2</c:v>
                </c:pt>
                <c:pt idx="11">
                  <c:v>-1.9</c:v>
                </c:pt>
                <c:pt idx="12">
                  <c:v>-1.8</c:v>
                </c:pt>
                <c:pt idx="13">
                  <c:v>-1.7</c:v>
                </c:pt>
                <c:pt idx="14">
                  <c:v>-1.6</c:v>
                </c:pt>
                <c:pt idx="15">
                  <c:v>-1.5</c:v>
                </c:pt>
                <c:pt idx="16">
                  <c:v>-1.4</c:v>
                </c:pt>
                <c:pt idx="17">
                  <c:v>-1.3</c:v>
                </c:pt>
                <c:pt idx="18">
                  <c:v>-1.2</c:v>
                </c:pt>
                <c:pt idx="19">
                  <c:v>-1.1000000000000001</c:v>
                </c:pt>
                <c:pt idx="20">
                  <c:v>-1</c:v>
                </c:pt>
                <c:pt idx="21">
                  <c:v>-0.9</c:v>
                </c:pt>
                <c:pt idx="22">
                  <c:v>-0.8</c:v>
                </c:pt>
                <c:pt idx="23">
                  <c:v>-0.7</c:v>
                </c:pt>
                <c:pt idx="24">
                  <c:v>-0.6</c:v>
                </c:pt>
                <c:pt idx="25">
                  <c:v>-0.5</c:v>
                </c:pt>
                <c:pt idx="26">
                  <c:v>-0.4</c:v>
                </c:pt>
                <c:pt idx="27">
                  <c:v>-0.3</c:v>
                </c:pt>
                <c:pt idx="28">
                  <c:v>-0.2</c:v>
                </c:pt>
                <c:pt idx="29">
                  <c:v>-0.1</c:v>
                </c:pt>
                <c:pt idx="30">
                  <c:v>0</c:v>
                </c:pt>
                <c:pt idx="31">
                  <c:v>0.1</c:v>
                </c:pt>
                <c:pt idx="32">
                  <c:v>0.2</c:v>
                </c:pt>
                <c:pt idx="33">
                  <c:v>0.3</c:v>
                </c:pt>
                <c:pt idx="34">
                  <c:v>0.4</c:v>
                </c:pt>
                <c:pt idx="35">
                  <c:v>0.5</c:v>
                </c:pt>
                <c:pt idx="36">
                  <c:v>0.6</c:v>
                </c:pt>
                <c:pt idx="37">
                  <c:v>0.7</c:v>
                </c:pt>
                <c:pt idx="38">
                  <c:v>0.8</c:v>
                </c:pt>
                <c:pt idx="39">
                  <c:v>0.9</c:v>
                </c:pt>
                <c:pt idx="40">
                  <c:v>1</c:v>
                </c:pt>
                <c:pt idx="41">
                  <c:v>1.1000000000000001</c:v>
                </c:pt>
                <c:pt idx="42">
                  <c:v>1.2</c:v>
                </c:pt>
                <c:pt idx="43">
                  <c:v>1.3</c:v>
                </c:pt>
                <c:pt idx="44">
                  <c:v>1.4</c:v>
                </c:pt>
                <c:pt idx="45">
                  <c:v>1.5</c:v>
                </c:pt>
                <c:pt idx="46">
                  <c:v>1.6</c:v>
                </c:pt>
                <c:pt idx="47">
                  <c:v>1.7</c:v>
                </c:pt>
                <c:pt idx="48">
                  <c:v>1.8</c:v>
                </c:pt>
                <c:pt idx="49">
                  <c:v>1.9</c:v>
                </c:pt>
                <c:pt idx="50">
                  <c:v>2</c:v>
                </c:pt>
                <c:pt idx="51">
                  <c:v>2.1</c:v>
                </c:pt>
                <c:pt idx="52">
                  <c:v>2.2000000000000002</c:v>
                </c:pt>
                <c:pt idx="53">
                  <c:v>2.2999999999999998</c:v>
                </c:pt>
                <c:pt idx="54">
                  <c:v>2.4</c:v>
                </c:pt>
                <c:pt idx="55">
                  <c:v>2.5</c:v>
                </c:pt>
                <c:pt idx="56">
                  <c:v>2.6</c:v>
                </c:pt>
                <c:pt idx="57">
                  <c:v>2.7</c:v>
                </c:pt>
                <c:pt idx="58">
                  <c:v>2.8</c:v>
                </c:pt>
                <c:pt idx="59">
                  <c:v>2.9</c:v>
                </c:pt>
                <c:pt idx="60">
                  <c:v>3</c:v>
                </c:pt>
              </c:numCache>
            </c:numRef>
          </c:cat>
          <c:val>
            <c:numRef>
              <c:f>Sheet1!$B$2:$B$62</c:f>
              <c:numCache>
                <c:formatCode>0.00E+00</c:formatCode>
                <c:ptCount val="61"/>
                <c:pt idx="0">
                  <c:v>1.9641300000000001E-5</c:v>
                </c:pt>
                <c:pt idx="1">
                  <c:v>3.5432599999999997E-5</c:v>
                </c:pt>
                <c:pt idx="2">
                  <c:v>6.2654400000000001E-5</c:v>
                </c:pt>
                <c:pt idx="3" formatCode="General">
                  <c:v>1.08596E-4</c:v>
                </c:pt>
                <c:pt idx="4" formatCode="General">
                  <c:v>1.8449699999999999E-4</c:v>
                </c:pt>
                <c:pt idx="5" formatCode="General">
                  <c:v>3.0724099999999998E-4</c:v>
                </c:pt>
                <c:pt idx="6" formatCode="General">
                  <c:v>5.0151500000000001E-4</c:v>
                </c:pt>
                <c:pt idx="7" formatCode="General">
                  <c:v>8.0242099999999999E-4</c:v>
                </c:pt>
                <c:pt idx="8" formatCode="General">
                  <c:v>1.258447E-3</c:v>
                </c:pt>
                <c:pt idx="9" formatCode="General">
                  <c:v>1.9345569999999999E-3</c:v>
                </c:pt>
                <c:pt idx="10" formatCode="General">
                  <c:v>2.915024E-3</c:v>
                </c:pt>
                <c:pt idx="11" formatCode="General">
                  <c:v>4.3054349999999998E-3</c:v>
                </c:pt>
                <c:pt idx="12" formatCode="General">
                  <c:v>6.2331269999999998E-3</c:v>
                </c:pt>
                <c:pt idx="13" formatCode="General">
                  <c:v>8.8452289999999996E-3</c:v>
                </c:pt>
                <c:pt idx="14" formatCode="General">
                  <c:v>1.2303432E-2</c:v>
                </c:pt>
                <c:pt idx="15" formatCode="General">
                  <c:v>1.6774807999999999E-2</c:v>
                </c:pt>
                <c:pt idx="16" formatCode="General">
                  <c:v>2.2418314000000002E-2</c:v>
                </c:pt>
                <c:pt idx="17" formatCode="General">
                  <c:v>2.9367193999999999E-2</c:v>
                </c:pt>
                <c:pt idx="18" formatCode="General">
                  <c:v>3.7708223999999999E-2</c:v>
                </c:pt>
                <c:pt idx="19" formatCode="General">
                  <c:v>4.7459570999999999E-2</c:v>
                </c:pt>
                <c:pt idx="20" formatCode="General">
                  <c:v>5.8549832000000003E-2</c:v>
                </c:pt>
                <c:pt idx="21" formatCode="General">
                  <c:v>7.0801359999999994E-2</c:v>
                </c:pt>
                <c:pt idx="22" formatCode="General">
                  <c:v>8.3921196000000003E-2</c:v>
                </c:pt>
                <c:pt idx="23" formatCode="General">
                  <c:v>9.7502518999999996E-2</c:v>
                </c:pt>
                <c:pt idx="24" formatCode="General">
                  <c:v>0.111038636</c:v>
                </c:pt>
                <c:pt idx="25" formatCode="General">
                  <c:v>0.15291438900000001</c:v>
                </c:pt>
                <c:pt idx="26" formatCode="General">
                  <c:v>0.14545666600000001</c:v>
                </c:pt>
                <c:pt idx="27" formatCode="General">
                  <c:v>0.13562289599999999</c:v>
                </c:pt>
                <c:pt idx="28" formatCode="General">
                  <c:v>0.12394999399999999</c:v>
                </c:pt>
                <c:pt idx="29" formatCode="General">
                  <c:v>0.15757132500000001</c:v>
                </c:pt>
                <c:pt idx="30" formatCode="General">
                  <c:v>0.15915494299999999</c:v>
                </c:pt>
                <c:pt idx="31" formatCode="General">
                  <c:v>0.15757132500000001</c:v>
                </c:pt>
                <c:pt idx="32" formatCode="General">
                  <c:v>0.12394999399999999</c:v>
                </c:pt>
                <c:pt idx="33" formatCode="General">
                  <c:v>0.13562289599999999</c:v>
                </c:pt>
                <c:pt idx="34" formatCode="General">
                  <c:v>0.14545666600000001</c:v>
                </c:pt>
                <c:pt idx="35" formatCode="General">
                  <c:v>0.15291438900000001</c:v>
                </c:pt>
                <c:pt idx="36" formatCode="General">
                  <c:v>0.111038636</c:v>
                </c:pt>
                <c:pt idx="37" formatCode="General">
                  <c:v>9.7502518999999996E-2</c:v>
                </c:pt>
                <c:pt idx="38" formatCode="General">
                  <c:v>8.3921196000000003E-2</c:v>
                </c:pt>
                <c:pt idx="39" formatCode="General">
                  <c:v>7.0801359999999994E-2</c:v>
                </c:pt>
                <c:pt idx="40" formatCode="General">
                  <c:v>5.8549832000000003E-2</c:v>
                </c:pt>
                <c:pt idx="41" formatCode="General">
                  <c:v>4.7459570999999999E-2</c:v>
                </c:pt>
                <c:pt idx="42" formatCode="General">
                  <c:v>3.7708223999999999E-2</c:v>
                </c:pt>
                <c:pt idx="43" formatCode="General">
                  <c:v>2.9367193999999999E-2</c:v>
                </c:pt>
                <c:pt idx="44" formatCode="General">
                  <c:v>2.2418314000000002E-2</c:v>
                </c:pt>
                <c:pt idx="45" formatCode="General">
                  <c:v>1.6774807999999999E-2</c:v>
                </c:pt>
                <c:pt idx="46" formatCode="General">
                  <c:v>1.2303432E-2</c:v>
                </c:pt>
                <c:pt idx="47" formatCode="General">
                  <c:v>8.8452289999999996E-3</c:v>
                </c:pt>
                <c:pt idx="48" formatCode="General">
                  <c:v>6.2331269999999998E-3</c:v>
                </c:pt>
                <c:pt idx="49" formatCode="General">
                  <c:v>4.3054349999999998E-3</c:v>
                </c:pt>
                <c:pt idx="50" formatCode="General">
                  <c:v>2.915024E-3</c:v>
                </c:pt>
                <c:pt idx="51" formatCode="General">
                  <c:v>1.9345569999999999E-3</c:v>
                </c:pt>
                <c:pt idx="52" formatCode="General">
                  <c:v>1.258447E-3</c:v>
                </c:pt>
                <c:pt idx="53" formatCode="General">
                  <c:v>8.0242099999999999E-4</c:v>
                </c:pt>
                <c:pt idx="54" formatCode="General">
                  <c:v>5.0151500000000001E-4</c:v>
                </c:pt>
                <c:pt idx="55" formatCode="General">
                  <c:v>3.0724099999999998E-4</c:v>
                </c:pt>
                <c:pt idx="56" formatCode="General">
                  <c:v>1.8449699999999999E-4</c:v>
                </c:pt>
                <c:pt idx="57" formatCode="General">
                  <c:v>1.08596E-4</c:v>
                </c:pt>
                <c:pt idx="58">
                  <c:v>6.2654400000000001E-5</c:v>
                </c:pt>
                <c:pt idx="59">
                  <c:v>3.5432599999999997E-5</c:v>
                </c:pt>
                <c:pt idx="60">
                  <c:v>1.9641300000000001E-5</c:v>
                </c:pt>
              </c:numCache>
            </c:numRef>
          </c:val>
          <c:smooth val="0"/>
          <c:extLst>
            <c:ext xmlns:c16="http://schemas.microsoft.com/office/drawing/2014/chart" uri="{C3380CC4-5D6E-409C-BE32-E72D297353CC}">
              <c16:uniqueId val="{00000000-BD62-49FE-A93A-CDF9D197FA86}"/>
            </c:ext>
          </c:extLst>
        </c:ser>
        <c:ser>
          <c:idx val="1"/>
          <c:order val="1"/>
          <c:tx>
            <c:strRef>
              <c:f>Sheet1!$C$1</c:f>
              <c:strCache>
                <c:ptCount val="1"/>
                <c:pt idx="0">
                  <c:v>Column1</c:v>
                </c:pt>
              </c:strCache>
            </c:strRef>
          </c:tx>
          <c:marker>
            <c:symbol val="none"/>
          </c:marker>
          <c:cat>
            <c:numRef>
              <c:f>Sheet1!$A$2:$A$62</c:f>
              <c:numCache>
                <c:formatCode>General</c:formatCode>
                <c:ptCount val="61"/>
                <c:pt idx="0">
                  <c:v>-3</c:v>
                </c:pt>
                <c:pt idx="1">
                  <c:v>-2.9</c:v>
                </c:pt>
                <c:pt idx="2">
                  <c:v>-2.8</c:v>
                </c:pt>
                <c:pt idx="3">
                  <c:v>-2.7</c:v>
                </c:pt>
                <c:pt idx="4">
                  <c:v>-2.6</c:v>
                </c:pt>
                <c:pt idx="5">
                  <c:v>-2.5</c:v>
                </c:pt>
                <c:pt idx="6">
                  <c:v>-2.4</c:v>
                </c:pt>
                <c:pt idx="7">
                  <c:v>-2.2999999999999998</c:v>
                </c:pt>
                <c:pt idx="8">
                  <c:v>-2.2000000000000002</c:v>
                </c:pt>
                <c:pt idx="9">
                  <c:v>-2.1</c:v>
                </c:pt>
                <c:pt idx="10">
                  <c:v>-2</c:v>
                </c:pt>
                <c:pt idx="11">
                  <c:v>-1.9</c:v>
                </c:pt>
                <c:pt idx="12">
                  <c:v>-1.8</c:v>
                </c:pt>
                <c:pt idx="13">
                  <c:v>-1.7</c:v>
                </c:pt>
                <c:pt idx="14">
                  <c:v>-1.6</c:v>
                </c:pt>
                <c:pt idx="15">
                  <c:v>-1.5</c:v>
                </c:pt>
                <c:pt idx="16">
                  <c:v>-1.4</c:v>
                </c:pt>
                <c:pt idx="17">
                  <c:v>-1.3</c:v>
                </c:pt>
                <c:pt idx="18">
                  <c:v>-1.2</c:v>
                </c:pt>
                <c:pt idx="19">
                  <c:v>-1.1000000000000001</c:v>
                </c:pt>
                <c:pt idx="20">
                  <c:v>-1</c:v>
                </c:pt>
                <c:pt idx="21">
                  <c:v>-0.9</c:v>
                </c:pt>
                <c:pt idx="22">
                  <c:v>-0.8</c:v>
                </c:pt>
                <c:pt idx="23">
                  <c:v>-0.7</c:v>
                </c:pt>
                <c:pt idx="24">
                  <c:v>-0.6</c:v>
                </c:pt>
                <c:pt idx="25">
                  <c:v>-0.5</c:v>
                </c:pt>
                <c:pt idx="26">
                  <c:v>-0.4</c:v>
                </c:pt>
                <c:pt idx="27">
                  <c:v>-0.3</c:v>
                </c:pt>
                <c:pt idx="28">
                  <c:v>-0.2</c:v>
                </c:pt>
                <c:pt idx="29">
                  <c:v>-0.1</c:v>
                </c:pt>
                <c:pt idx="30">
                  <c:v>0</c:v>
                </c:pt>
                <c:pt idx="31">
                  <c:v>0.1</c:v>
                </c:pt>
                <c:pt idx="32">
                  <c:v>0.2</c:v>
                </c:pt>
                <c:pt idx="33">
                  <c:v>0.3</c:v>
                </c:pt>
                <c:pt idx="34">
                  <c:v>0.4</c:v>
                </c:pt>
                <c:pt idx="35">
                  <c:v>0.5</c:v>
                </c:pt>
                <c:pt idx="36">
                  <c:v>0.6</c:v>
                </c:pt>
                <c:pt idx="37">
                  <c:v>0.7</c:v>
                </c:pt>
                <c:pt idx="38">
                  <c:v>0.8</c:v>
                </c:pt>
                <c:pt idx="39">
                  <c:v>0.9</c:v>
                </c:pt>
                <c:pt idx="40">
                  <c:v>1</c:v>
                </c:pt>
                <c:pt idx="41">
                  <c:v>1.1000000000000001</c:v>
                </c:pt>
                <c:pt idx="42">
                  <c:v>1.2</c:v>
                </c:pt>
                <c:pt idx="43">
                  <c:v>1.3</c:v>
                </c:pt>
                <c:pt idx="44">
                  <c:v>1.4</c:v>
                </c:pt>
                <c:pt idx="45">
                  <c:v>1.5</c:v>
                </c:pt>
                <c:pt idx="46">
                  <c:v>1.6</c:v>
                </c:pt>
                <c:pt idx="47">
                  <c:v>1.7</c:v>
                </c:pt>
                <c:pt idx="48">
                  <c:v>1.8</c:v>
                </c:pt>
                <c:pt idx="49">
                  <c:v>1.9</c:v>
                </c:pt>
                <c:pt idx="50">
                  <c:v>2</c:v>
                </c:pt>
                <c:pt idx="51">
                  <c:v>2.1</c:v>
                </c:pt>
                <c:pt idx="52">
                  <c:v>2.2000000000000002</c:v>
                </c:pt>
                <c:pt idx="53">
                  <c:v>2.2999999999999998</c:v>
                </c:pt>
                <c:pt idx="54">
                  <c:v>2.4</c:v>
                </c:pt>
                <c:pt idx="55">
                  <c:v>2.5</c:v>
                </c:pt>
                <c:pt idx="56">
                  <c:v>2.6</c:v>
                </c:pt>
                <c:pt idx="57">
                  <c:v>2.7</c:v>
                </c:pt>
                <c:pt idx="58">
                  <c:v>2.8</c:v>
                </c:pt>
                <c:pt idx="59">
                  <c:v>2.9</c:v>
                </c:pt>
                <c:pt idx="60">
                  <c:v>3</c:v>
                </c:pt>
              </c:numCache>
            </c:numRef>
          </c:cat>
          <c:val>
            <c:numRef>
              <c:f>Sheet1!$C$2:$C$62</c:f>
              <c:numCache>
                <c:formatCode>0.00E+00</c:formatCode>
                <c:ptCount val="61"/>
                <c:pt idx="0">
                  <c:v>2.19575E-13</c:v>
                </c:pt>
                <c:pt idx="1">
                  <c:v>1.4186200000000001E-12</c:v>
                </c:pt>
                <c:pt idx="2">
                  <c:v>8.6035899999999993E-12</c:v>
                </c:pt>
                <c:pt idx="3">
                  <c:v>4.8980999999999997E-11</c:v>
                </c:pt>
                <c:pt idx="4">
                  <c:v>2.6176300000000001E-10</c:v>
                </c:pt>
                <c:pt idx="5">
                  <c:v>1.3131699999999999E-9</c:v>
                </c:pt>
                <c:pt idx="6">
                  <c:v>6.1839800000000004E-9</c:v>
                </c:pt>
                <c:pt idx="7">
                  <c:v>2.7336800000000001E-8</c:v>
                </c:pt>
                <c:pt idx="8">
                  <c:v>1.13438E-7</c:v>
                </c:pt>
                <c:pt idx="9">
                  <c:v>4.4187900000000001E-7</c:v>
                </c:pt>
                <c:pt idx="10">
                  <c:v>1.6157799999999999E-6</c:v>
                </c:pt>
                <c:pt idx="11">
                  <c:v>5.5461500000000003E-6</c:v>
                </c:pt>
                <c:pt idx="12">
                  <c:v>1.7870400000000001E-5</c:v>
                </c:pt>
                <c:pt idx="13">
                  <c:v>5.4051800000000003E-5</c:v>
                </c:pt>
                <c:pt idx="14" formatCode="General">
                  <c:v>1.53468E-4</c:v>
                </c:pt>
                <c:pt idx="15" formatCode="General">
                  <c:v>4.0903499999999998E-4</c:v>
                </c:pt>
                <c:pt idx="16" formatCode="General">
                  <c:v>1.0233760000000001E-3</c:v>
                </c:pt>
                <c:pt idx="17" formatCode="General">
                  <c:v>2.403489E-3</c:v>
                </c:pt>
                <c:pt idx="18" formatCode="General">
                  <c:v>5.2988560000000002E-3</c:v>
                </c:pt>
                <c:pt idx="19" formatCode="General">
                  <c:v>1.0966167000000001E-2</c:v>
                </c:pt>
                <c:pt idx="20" formatCode="General">
                  <c:v>2.1303962999999999E-2</c:v>
                </c:pt>
                <c:pt idx="21" formatCode="General">
                  <c:v>3.8850691E-2</c:v>
                </c:pt>
                <c:pt idx="22" formatCode="General">
                  <c:v>6.6507389E-2</c:v>
                </c:pt>
                <c:pt idx="23" formatCode="General">
                  <c:v>0.106874442</c:v>
                </c:pt>
                <c:pt idx="24" formatCode="General">
                  <c:v>0.16121692200000001</c:v>
                </c:pt>
                <c:pt idx="25" formatCode="General">
                  <c:v>0.22828648300000001</c:v>
                </c:pt>
                <c:pt idx="26" formatCode="General">
                  <c:v>0.30344680800000001</c:v>
                </c:pt>
                <c:pt idx="27" formatCode="General">
                  <c:v>0.37863238300000002</c:v>
                </c:pt>
                <c:pt idx="28" formatCode="General">
                  <c:v>0.443491951</c:v>
                </c:pt>
                <c:pt idx="29" formatCode="General">
                  <c:v>0.487625641</c:v>
                </c:pt>
                <c:pt idx="30" formatCode="General">
                  <c:v>0.50329212099999998</c:v>
                </c:pt>
                <c:pt idx="31" formatCode="General">
                  <c:v>0.487625641</c:v>
                </c:pt>
                <c:pt idx="32" formatCode="General">
                  <c:v>0.443491951</c:v>
                </c:pt>
                <c:pt idx="33" formatCode="General">
                  <c:v>0.37863238300000002</c:v>
                </c:pt>
                <c:pt idx="34" formatCode="General">
                  <c:v>0.30344680800000001</c:v>
                </c:pt>
                <c:pt idx="35" formatCode="General">
                  <c:v>0.22828648300000001</c:v>
                </c:pt>
                <c:pt idx="36" formatCode="General">
                  <c:v>0.16121692200000001</c:v>
                </c:pt>
                <c:pt idx="37" formatCode="General">
                  <c:v>0.106874442</c:v>
                </c:pt>
                <c:pt idx="38" formatCode="General">
                  <c:v>6.6507389E-2</c:v>
                </c:pt>
                <c:pt idx="39" formatCode="General">
                  <c:v>3.8850691E-2</c:v>
                </c:pt>
                <c:pt idx="40" formatCode="General">
                  <c:v>2.1303962999999999E-2</c:v>
                </c:pt>
                <c:pt idx="41" formatCode="General">
                  <c:v>1.0966167000000001E-2</c:v>
                </c:pt>
                <c:pt idx="42" formatCode="General">
                  <c:v>5.2988560000000002E-3</c:v>
                </c:pt>
                <c:pt idx="43" formatCode="General">
                  <c:v>2.403489E-3</c:v>
                </c:pt>
                <c:pt idx="44" formatCode="General">
                  <c:v>1.0233760000000001E-3</c:v>
                </c:pt>
                <c:pt idx="45" formatCode="General">
                  <c:v>4.0903499999999998E-4</c:v>
                </c:pt>
                <c:pt idx="46" formatCode="General">
                  <c:v>1.53468E-4</c:v>
                </c:pt>
                <c:pt idx="47">
                  <c:v>5.4051800000000003E-5</c:v>
                </c:pt>
                <c:pt idx="48">
                  <c:v>1.7870400000000001E-5</c:v>
                </c:pt>
                <c:pt idx="49">
                  <c:v>5.5461500000000003E-6</c:v>
                </c:pt>
                <c:pt idx="50">
                  <c:v>1.6157799999999999E-6</c:v>
                </c:pt>
                <c:pt idx="51">
                  <c:v>4.4187900000000001E-7</c:v>
                </c:pt>
                <c:pt idx="52">
                  <c:v>1.13438E-7</c:v>
                </c:pt>
                <c:pt idx="53">
                  <c:v>2.7336800000000001E-8</c:v>
                </c:pt>
                <c:pt idx="54">
                  <c:v>6.1839800000000004E-9</c:v>
                </c:pt>
                <c:pt idx="55">
                  <c:v>1.3131699999999999E-9</c:v>
                </c:pt>
                <c:pt idx="56">
                  <c:v>2.6176300000000001E-10</c:v>
                </c:pt>
                <c:pt idx="57">
                  <c:v>4.8980999999999997E-11</c:v>
                </c:pt>
                <c:pt idx="58">
                  <c:v>8.6035899999999993E-12</c:v>
                </c:pt>
                <c:pt idx="59">
                  <c:v>1.4186200000000001E-12</c:v>
                </c:pt>
                <c:pt idx="60">
                  <c:v>2.19575E-13</c:v>
                </c:pt>
              </c:numCache>
            </c:numRef>
          </c:val>
          <c:smooth val="0"/>
          <c:extLst>
            <c:ext xmlns:c16="http://schemas.microsoft.com/office/drawing/2014/chart" uri="{C3380CC4-5D6E-409C-BE32-E72D297353CC}">
              <c16:uniqueId val="{00000001-BD62-49FE-A93A-CDF9D197FA86}"/>
            </c:ext>
          </c:extLst>
        </c:ser>
        <c:ser>
          <c:idx val="2"/>
          <c:order val="2"/>
          <c:tx>
            <c:strRef>
              <c:f>Sheet1!$D$1</c:f>
              <c:strCache>
                <c:ptCount val="1"/>
                <c:pt idx="0">
                  <c:v>Column2</c:v>
                </c:pt>
              </c:strCache>
            </c:strRef>
          </c:tx>
          <c:spPr>
            <a:ln>
              <a:noFill/>
            </a:ln>
          </c:spPr>
          <c:marker>
            <c:symbol val="none"/>
          </c:marker>
          <c:cat>
            <c:numRef>
              <c:f>Sheet1!$A$2:$A$62</c:f>
              <c:numCache>
                <c:formatCode>General</c:formatCode>
                <c:ptCount val="61"/>
                <c:pt idx="0">
                  <c:v>-3</c:v>
                </c:pt>
                <c:pt idx="1">
                  <c:v>-2.9</c:v>
                </c:pt>
                <c:pt idx="2">
                  <c:v>-2.8</c:v>
                </c:pt>
                <c:pt idx="3">
                  <c:v>-2.7</c:v>
                </c:pt>
                <c:pt idx="4">
                  <c:v>-2.6</c:v>
                </c:pt>
                <c:pt idx="5">
                  <c:v>-2.5</c:v>
                </c:pt>
                <c:pt idx="6">
                  <c:v>-2.4</c:v>
                </c:pt>
                <c:pt idx="7">
                  <c:v>-2.2999999999999998</c:v>
                </c:pt>
                <c:pt idx="8">
                  <c:v>-2.2000000000000002</c:v>
                </c:pt>
                <c:pt idx="9">
                  <c:v>-2.1</c:v>
                </c:pt>
                <c:pt idx="10">
                  <c:v>-2</c:v>
                </c:pt>
                <c:pt idx="11">
                  <c:v>-1.9</c:v>
                </c:pt>
                <c:pt idx="12">
                  <c:v>-1.8</c:v>
                </c:pt>
                <c:pt idx="13">
                  <c:v>-1.7</c:v>
                </c:pt>
                <c:pt idx="14">
                  <c:v>-1.6</c:v>
                </c:pt>
                <c:pt idx="15">
                  <c:v>-1.5</c:v>
                </c:pt>
                <c:pt idx="16">
                  <c:v>-1.4</c:v>
                </c:pt>
                <c:pt idx="17">
                  <c:v>-1.3</c:v>
                </c:pt>
                <c:pt idx="18">
                  <c:v>-1.2</c:v>
                </c:pt>
                <c:pt idx="19">
                  <c:v>-1.1000000000000001</c:v>
                </c:pt>
                <c:pt idx="20">
                  <c:v>-1</c:v>
                </c:pt>
                <c:pt idx="21">
                  <c:v>-0.9</c:v>
                </c:pt>
                <c:pt idx="22">
                  <c:v>-0.8</c:v>
                </c:pt>
                <c:pt idx="23">
                  <c:v>-0.7</c:v>
                </c:pt>
                <c:pt idx="24">
                  <c:v>-0.6</c:v>
                </c:pt>
                <c:pt idx="25">
                  <c:v>-0.5</c:v>
                </c:pt>
                <c:pt idx="26">
                  <c:v>-0.4</c:v>
                </c:pt>
                <c:pt idx="27">
                  <c:v>-0.3</c:v>
                </c:pt>
                <c:pt idx="28">
                  <c:v>-0.2</c:v>
                </c:pt>
                <c:pt idx="29">
                  <c:v>-0.1</c:v>
                </c:pt>
                <c:pt idx="30">
                  <c:v>0</c:v>
                </c:pt>
                <c:pt idx="31">
                  <c:v>0.1</c:v>
                </c:pt>
                <c:pt idx="32">
                  <c:v>0.2</c:v>
                </c:pt>
                <c:pt idx="33">
                  <c:v>0.3</c:v>
                </c:pt>
                <c:pt idx="34">
                  <c:v>0.4</c:v>
                </c:pt>
                <c:pt idx="35">
                  <c:v>0.5</c:v>
                </c:pt>
                <c:pt idx="36">
                  <c:v>0.6</c:v>
                </c:pt>
                <c:pt idx="37">
                  <c:v>0.7</c:v>
                </c:pt>
                <c:pt idx="38">
                  <c:v>0.8</c:v>
                </c:pt>
                <c:pt idx="39">
                  <c:v>0.9</c:v>
                </c:pt>
                <c:pt idx="40">
                  <c:v>1</c:v>
                </c:pt>
                <c:pt idx="41">
                  <c:v>1.1000000000000001</c:v>
                </c:pt>
                <c:pt idx="42">
                  <c:v>1.2</c:v>
                </c:pt>
                <c:pt idx="43">
                  <c:v>1.3</c:v>
                </c:pt>
                <c:pt idx="44">
                  <c:v>1.4</c:v>
                </c:pt>
                <c:pt idx="45">
                  <c:v>1.5</c:v>
                </c:pt>
                <c:pt idx="46">
                  <c:v>1.6</c:v>
                </c:pt>
                <c:pt idx="47">
                  <c:v>1.7</c:v>
                </c:pt>
                <c:pt idx="48">
                  <c:v>1.8</c:v>
                </c:pt>
                <c:pt idx="49">
                  <c:v>1.9</c:v>
                </c:pt>
                <c:pt idx="50">
                  <c:v>2</c:v>
                </c:pt>
                <c:pt idx="51">
                  <c:v>2.1</c:v>
                </c:pt>
                <c:pt idx="52">
                  <c:v>2.2000000000000002</c:v>
                </c:pt>
                <c:pt idx="53">
                  <c:v>2.2999999999999998</c:v>
                </c:pt>
                <c:pt idx="54">
                  <c:v>2.4</c:v>
                </c:pt>
                <c:pt idx="55">
                  <c:v>2.5</c:v>
                </c:pt>
                <c:pt idx="56">
                  <c:v>2.6</c:v>
                </c:pt>
                <c:pt idx="57">
                  <c:v>2.7</c:v>
                </c:pt>
                <c:pt idx="58">
                  <c:v>2.8</c:v>
                </c:pt>
                <c:pt idx="59">
                  <c:v>2.9</c:v>
                </c:pt>
                <c:pt idx="60">
                  <c:v>3</c:v>
                </c:pt>
              </c:numCache>
            </c:numRef>
          </c:cat>
          <c:val>
            <c:numRef>
              <c:f>Sheet1!$D$2:$D$62</c:f>
              <c:numCache>
                <c:formatCode>0.00E+00</c:formatCode>
                <c:ptCount val="61"/>
                <c:pt idx="0">
                  <c:v>2.5880599999999998E-28</c:v>
                </c:pt>
                <c:pt idx="1">
                  <c:v>1.6781100000000001E-26</c:v>
                </c:pt>
                <c:pt idx="2">
                  <c:v>9.4459900000000003E-25</c:v>
                </c:pt>
                <c:pt idx="3">
                  <c:v>4.6158999999999998E-23</c:v>
                </c:pt>
                <c:pt idx="4">
                  <c:v>1.9581600000000001E-21</c:v>
                </c:pt>
                <c:pt idx="5">
                  <c:v>7.2114000000000001E-20</c:v>
                </c:pt>
                <c:pt idx="6">
                  <c:v>2.3055399999999999E-18</c:v>
                </c:pt>
                <c:pt idx="7">
                  <c:v>6.3989400000000002E-17</c:v>
                </c:pt>
                <c:pt idx="8">
                  <c:v>1.54179E-15</c:v>
                </c:pt>
                <c:pt idx="9">
                  <c:v>3.2249500000000003E-14</c:v>
                </c:pt>
                <c:pt idx="10">
                  <c:v>5.8560199999999999E-13</c:v>
                </c:pt>
                <c:pt idx="11">
                  <c:v>9.2313100000000002E-12</c:v>
                </c:pt>
                <c:pt idx="12">
                  <c:v>1.2632999999999999E-10</c:v>
                </c:pt>
                <c:pt idx="13">
                  <c:v>1.50082E-9</c:v>
                </c:pt>
                <c:pt idx="14">
                  <c:v>1.5478699999999999E-8</c:v>
                </c:pt>
                <c:pt idx="15">
                  <c:v>1.38587E-7</c:v>
                </c:pt>
                <c:pt idx="16">
                  <c:v>1.07719E-6</c:v>
                </c:pt>
                <c:pt idx="17">
                  <c:v>7.2684300000000001E-6</c:v>
                </c:pt>
                <c:pt idx="18">
                  <c:v>4.2576700000000002E-5</c:v>
                </c:pt>
                <c:pt idx="19" formatCode="General">
                  <c:v>2.1651400000000001E-4</c:v>
                </c:pt>
                <c:pt idx="20" formatCode="General">
                  <c:v>9.5582700000000002E-4</c:v>
                </c:pt>
                <c:pt idx="21" formatCode="General">
                  <c:v>3.663155E-3</c:v>
                </c:pt>
                <c:pt idx="22" formatCode="General">
                  <c:v>1.2187445E-2</c:v>
                </c:pt>
                <c:pt idx="23" formatCode="General">
                  <c:v>3.5200717999999999E-2</c:v>
                </c:pt>
                <c:pt idx="24" formatCode="General">
                  <c:v>8.8261615000000002E-2</c:v>
                </c:pt>
                <c:pt idx="25" formatCode="General">
                  <c:v>0.192120497</c:v>
                </c:pt>
                <c:pt idx="26" formatCode="General">
                  <c:v>0.36304212200000002</c:v>
                </c:pt>
                <c:pt idx="27" formatCode="General">
                  <c:v>0.59555492200000004</c:v>
                </c:pt>
                <c:pt idx="28" formatCode="General">
                  <c:v>0.84814109100000001</c:v>
                </c:pt>
                <c:pt idx="29" formatCode="General">
                  <c:v>1.0485662529999999</c:v>
                </c:pt>
                <c:pt idx="30" formatCode="General">
                  <c:v>1.125395395</c:v>
                </c:pt>
                <c:pt idx="31" formatCode="General">
                  <c:v>1.0485662529999999</c:v>
                </c:pt>
                <c:pt idx="32" formatCode="General">
                  <c:v>0.84814109100000001</c:v>
                </c:pt>
                <c:pt idx="33" formatCode="General">
                  <c:v>0.59555492200000004</c:v>
                </c:pt>
                <c:pt idx="34" formatCode="General">
                  <c:v>0.36304212200000002</c:v>
                </c:pt>
                <c:pt idx="35" formatCode="General">
                  <c:v>0.192120497</c:v>
                </c:pt>
                <c:pt idx="36" formatCode="General">
                  <c:v>8.8261615000000002E-2</c:v>
                </c:pt>
                <c:pt idx="37" formatCode="General">
                  <c:v>3.5200717999999999E-2</c:v>
                </c:pt>
                <c:pt idx="38" formatCode="General">
                  <c:v>1.2187445E-2</c:v>
                </c:pt>
                <c:pt idx="39" formatCode="General">
                  <c:v>3.663155E-3</c:v>
                </c:pt>
                <c:pt idx="40" formatCode="General">
                  <c:v>9.5582700000000002E-4</c:v>
                </c:pt>
                <c:pt idx="41" formatCode="General">
                  <c:v>2.1651400000000001E-4</c:v>
                </c:pt>
                <c:pt idx="42">
                  <c:v>4.2576700000000002E-5</c:v>
                </c:pt>
                <c:pt idx="43">
                  <c:v>7.2684300000000001E-6</c:v>
                </c:pt>
                <c:pt idx="44">
                  <c:v>1.07719E-6</c:v>
                </c:pt>
                <c:pt idx="45">
                  <c:v>1.38587E-7</c:v>
                </c:pt>
                <c:pt idx="46">
                  <c:v>1.5478699999999999E-8</c:v>
                </c:pt>
                <c:pt idx="47">
                  <c:v>1.50082E-9</c:v>
                </c:pt>
                <c:pt idx="48">
                  <c:v>1.2632999999999999E-10</c:v>
                </c:pt>
                <c:pt idx="49">
                  <c:v>9.2313100000000002E-12</c:v>
                </c:pt>
                <c:pt idx="50">
                  <c:v>5.8560199999999999E-13</c:v>
                </c:pt>
                <c:pt idx="51">
                  <c:v>3.2249500000000003E-14</c:v>
                </c:pt>
                <c:pt idx="52">
                  <c:v>1.54179E-15</c:v>
                </c:pt>
                <c:pt idx="53">
                  <c:v>6.3989400000000002E-17</c:v>
                </c:pt>
                <c:pt idx="54">
                  <c:v>2.3055399999999999E-18</c:v>
                </c:pt>
                <c:pt idx="55">
                  <c:v>7.2114000000000001E-20</c:v>
                </c:pt>
                <c:pt idx="56">
                  <c:v>1.9581600000000001E-21</c:v>
                </c:pt>
                <c:pt idx="57">
                  <c:v>4.6158999999999998E-23</c:v>
                </c:pt>
                <c:pt idx="58">
                  <c:v>9.4459900000000003E-25</c:v>
                </c:pt>
                <c:pt idx="59">
                  <c:v>1.6781100000000001E-26</c:v>
                </c:pt>
                <c:pt idx="60">
                  <c:v>2.5880599999999998E-28</c:v>
                </c:pt>
              </c:numCache>
            </c:numRef>
          </c:val>
          <c:smooth val="0"/>
          <c:extLst>
            <c:ext xmlns:c16="http://schemas.microsoft.com/office/drawing/2014/chart" uri="{C3380CC4-5D6E-409C-BE32-E72D297353CC}">
              <c16:uniqueId val="{00000002-BD62-49FE-A93A-CDF9D197FA86}"/>
            </c:ext>
          </c:extLst>
        </c:ser>
        <c:dLbls>
          <c:showLegendKey val="0"/>
          <c:showVal val="0"/>
          <c:showCatName val="0"/>
          <c:showSerName val="0"/>
          <c:showPercent val="0"/>
          <c:showBubbleSize val="0"/>
        </c:dLbls>
        <c:smooth val="0"/>
        <c:axId val="135378048"/>
        <c:axId val="135379584"/>
      </c:lineChart>
      <c:catAx>
        <c:axId val="135378048"/>
        <c:scaling>
          <c:orientation val="minMax"/>
        </c:scaling>
        <c:delete val="1"/>
        <c:axPos val="b"/>
        <c:numFmt formatCode="General" sourceLinked="1"/>
        <c:majorTickMark val="out"/>
        <c:minorTickMark val="none"/>
        <c:tickLblPos val="nextTo"/>
        <c:crossAx val="135379584"/>
        <c:crosses val="autoZero"/>
        <c:auto val="1"/>
        <c:lblAlgn val="ctr"/>
        <c:lblOffset val="100"/>
        <c:noMultiLvlLbl val="0"/>
      </c:catAx>
      <c:valAx>
        <c:axId val="135379584"/>
        <c:scaling>
          <c:orientation val="minMax"/>
        </c:scaling>
        <c:delete val="1"/>
        <c:axPos val="l"/>
        <c:numFmt formatCode="0.00E+00" sourceLinked="1"/>
        <c:majorTickMark val="out"/>
        <c:minorTickMark val="none"/>
        <c:tickLblPos val="nextTo"/>
        <c:crossAx val="135378048"/>
        <c:crosses val="autoZero"/>
        <c:crossBetween val="between"/>
      </c:valAx>
      <c:spPr>
        <a:noFill/>
        <a:ln w="25400">
          <a:noFill/>
        </a:ln>
      </c:spPr>
    </c:plotArea>
    <c:plotVisOnly val="1"/>
    <c:dispBlanksAs val="gap"/>
    <c:showDLblsOverMax val="0"/>
  </c:chart>
  <c:txPr>
    <a:bodyPr/>
    <a:lstStyle/>
    <a:p>
      <a:pPr>
        <a:defRPr sz="1800"/>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
          <c:y val="7.4362304645914062E-2"/>
          <c:w val="1"/>
          <c:h val="0.91211727632755613"/>
        </c:manualLayout>
      </c:layout>
      <c:lineChart>
        <c:grouping val="standard"/>
        <c:varyColors val="0"/>
        <c:ser>
          <c:idx val="0"/>
          <c:order val="0"/>
          <c:tx>
            <c:strRef>
              <c:f>Sheet1!$B$1</c:f>
              <c:strCache>
                <c:ptCount val="1"/>
                <c:pt idx="0">
                  <c:v>SQRT_N</c:v>
                </c:pt>
              </c:strCache>
            </c:strRef>
          </c:tx>
          <c:spPr>
            <a:ln>
              <a:noFill/>
            </a:ln>
          </c:spPr>
          <c:marker>
            <c:symbol val="none"/>
          </c:marker>
          <c:cat>
            <c:numRef>
              <c:f>Sheet1!$A$2:$A$62</c:f>
              <c:numCache>
                <c:formatCode>General</c:formatCode>
                <c:ptCount val="61"/>
                <c:pt idx="0">
                  <c:v>-3</c:v>
                </c:pt>
                <c:pt idx="1">
                  <c:v>-2.9</c:v>
                </c:pt>
                <c:pt idx="2">
                  <c:v>-2.8</c:v>
                </c:pt>
                <c:pt idx="3">
                  <c:v>-2.7</c:v>
                </c:pt>
                <c:pt idx="4">
                  <c:v>-2.6</c:v>
                </c:pt>
                <c:pt idx="5">
                  <c:v>-2.5</c:v>
                </c:pt>
                <c:pt idx="6">
                  <c:v>-2.4</c:v>
                </c:pt>
                <c:pt idx="7">
                  <c:v>-2.2999999999999998</c:v>
                </c:pt>
                <c:pt idx="8">
                  <c:v>-2.2000000000000002</c:v>
                </c:pt>
                <c:pt idx="9">
                  <c:v>-2.1</c:v>
                </c:pt>
                <c:pt idx="10">
                  <c:v>-2</c:v>
                </c:pt>
                <c:pt idx="11">
                  <c:v>-1.9</c:v>
                </c:pt>
                <c:pt idx="12">
                  <c:v>-1.8</c:v>
                </c:pt>
                <c:pt idx="13">
                  <c:v>-1.7</c:v>
                </c:pt>
                <c:pt idx="14">
                  <c:v>-1.6</c:v>
                </c:pt>
                <c:pt idx="15">
                  <c:v>-1.5</c:v>
                </c:pt>
                <c:pt idx="16">
                  <c:v>-1.4</c:v>
                </c:pt>
                <c:pt idx="17">
                  <c:v>-1.3</c:v>
                </c:pt>
                <c:pt idx="18">
                  <c:v>-1.2</c:v>
                </c:pt>
                <c:pt idx="19">
                  <c:v>-1.1000000000000001</c:v>
                </c:pt>
                <c:pt idx="20">
                  <c:v>-1</c:v>
                </c:pt>
                <c:pt idx="21">
                  <c:v>-0.9</c:v>
                </c:pt>
                <c:pt idx="22">
                  <c:v>-0.8</c:v>
                </c:pt>
                <c:pt idx="23">
                  <c:v>-0.7</c:v>
                </c:pt>
                <c:pt idx="24">
                  <c:v>-0.6</c:v>
                </c:pt>
                <c:pt idx="25">
                  <c:v>-0.5</c:v>
                </c:pt>
                <c:pt idx="26">
                  <c:v>-0.4</c:v>
                </c:pt>
                <c:pt idx="27">
                  <c:v>-0.3</c:v>
                </c:pt>
                <c:pt idx="28">
                  <c:v>-0.2</c:v>
                </c:pt>
                <c:pt idx="29">
                  <c:v>-0.1</c:v>
                </c:pt>
                <c:pt idx="30">
                  <c:v>0</c:v>
                </c:pt>
                <c:pt idx="31">
                  <c:v>0.1</c:v>
                </c:pt>
                <c:pt idx="32">
                  <c:v>0.2</c:v>
                </c:pt>
                <c:pt idx="33">
                  <c:v>0.3</c:v>
                </c:pt>
                <c:pt idx="34">
                  <c:v>0.4</c:v>
                </c:pt>
                <c:pt idx="35">
                  <c:v>0.5</c:v>
                </c:pt>
                <c:pt idx="36">
                  <c:v>0.6</c:v>
                </c:pt>
                <c:pt idx="37">
                  <c:v>0.7</c:v>
                </c:pt>
                <c:pt idx="38">
                  <c:v>0.8</c:v>
                </c:pt>
                <c:pt idx="39">
                  <c:v>0.9</c:v>
                </c:pt>
                <c:pt idx="40">
                  <c:v>1</c:v>
                </c:pt>
                <c:pt idx="41">
                  <c:v>1.1000000000000001</c:v>
                </c:pt>
                <c:pt idx="42">
                  <c:v>1.2</c:v>
                </c:pt>
                <c:pt idx="43">
                  <c:v>1.3</c:v>
                </c:pt>
                <c:pt idx="44">
                  <c:v>1.4</c:v>
                </c:pt>
                <c:pt idx="45">
                  <c:v>1.5</c:v>
                </c:pt>
                <c:pt idx="46">
                  <c:v>1.6</c:v>
                </c:pt>
                <c:pt idx="47">
                  <c:v>1.7</c:v>
                </c:pt>
                <c:pt idx="48">
                  <c:v>1.8</c:v>
                </c:pt>
                <c:pt idx="49">
                  <c:v>1.9</c:v>
                </c:pt>
                <c:pt idx="50">
                  <c:v>2</c:v>
                </c:pt>
                <c:pt idx="51">
                  <c:v>2.1</c:v>
                </c:pt>
                <c:pt idx="52">
                  <c:v>2.2000000000000002</c:v>
                </c:pt>
                <c:pt idx="53">
                  <c:v>2.2999999999999998</c:v>
                </c:pt>
                <c:pt idx="54">
                  <c:v>2.4</c:v>
                </c:pt>
                <c:pt idx="55">
                  <c:v>2.5000000000000102</c:v>
                </c:pt>
                <c:pt idx="56">
                  <c:v>2.6</c:v>
                </c:pt>
                <c:pt idx="57">
                  <c:v>2.7</c:v>
                </c:pt>
                <c:pt idx="58">
                  <c:v>2.80000000000001</c:v>
                </c:pt>
                <c:pt idx="59">
                  <c:v>2.9000000000000101</c:v>
                </c:pt>
                <c:pt idx="60">
                  <c:v>3.0000000000000102</c:v>
                </c:pt>
              </c:numCache>
            </c:numRef>
          </c:cat>
          <c:val>
            <c:numRef>
              <c:f>Sheet1!$B$2:$B$62</c:f>
              <c:numCache>
                <c:formatCode>General</c:formatCode>
                <c:ptCount val="61"/>
                <c:pt idx="0">
                  <c:v>1.9641280346397437E-5</c:v>
                </c:pt>
                <c:pt idx="1">
                  <c:v>3.5432642208482576E-5</c:v>
                </c:pt>
                <c:pt idx="2">
                  <c:v>6.2654373762500076E-5</c:v>
                </c:pt>
                <c:pt idx="3">
                  <c:v>1.0859588240644479E-4</c:v>
                </c:pt>
                <c:pt idx="4">
                  <c:v>1.844970532032499E-4</c:v>
                </c:pt>
                <c:pt idx="5">
                  <c:v>3.0724131819283507E-4</c:v>
                </c:pt>
                <c:pt idx="6">
                  <c:v>5.015149871266364E-4</c:v>
                </c:pt>
                <c:pt idx="7">
                  <c:v>8.0242106721409789E-4</c:v>
                </c:pt>
                <c:pt idx="8">
                  <c:v>1.2584467376058936E-3</c:v>
                </c:pt>
                <c:pt idx="9">
                  <c:v>1.934556715369451E-3</c:v>
                </c:pt>
                <c:pt idx="10">
                  <c:v>2.9150244650281935E-3</c:v>
                </c:pt>
                <c:pt idx="11">
                  <c:v>4.3054351485446677E-3</c:v>
                </c:pt>
                <c:pt idx="12">
                  <c:v>6.2331274957362452E-3</c:v>
                </c:pt>
                <c:pt idx="13">
                  <c:v>8.845228955443667E-3</c:v>
                </c:pt>
                <c:pt idx="14">
                  <c:v>1.2303431565987106E-2</c:v>
                </c:pt>
                <c:pt idx="15">
                  <c:v>1.6774807587073417E-2</c:v>
                </c:pt>
                <c:pt idx="16">
                  <c:v>2.2418313965703162E-2</c:v>
                </c:pt>
                <c:pt idx="17">
                  <c:v>2.9367194340447818E-2</c:v>
                </c:pt>
                <c:pt idx="18">
                  <c:v>3.7708223949943401E-2</c:v>
                </c:pt>
                <c:pt idx="19">
                  <c:v>4.7459571037821731E-2</c:v>
                </c:pt>
                <c:pt idx="20">
                  <c:v>5.8549831524319168E-2</c:v>
                </c:pt>
                <c:pt idx="21">
                  <c:v>7.0801360213682801E-2</c:v>
                </c:pt>
                <c:pt idx="22">
                  <c:v>8.3921195741358937E-2</c:v>
                </c:pt>
                <c:pt idx="23">
                  <c:v>9.7502518903013785E-2</c:v>
                </c:pt>
                <c:pt idx="24">
                  <c:v>0.11103863597239756</c:v>
                </c:pt>
                <c:pt idx="25">
                  <c:v>0.12394999430965298</c:v>
                </c:pt>
                <c:pt idx="26">
                  <c:v>0.13562289623902943</c:v>
                </c:pt>
                <c:pt idx="27">
                  <c:v>0.14545666578175079</c:v>
                </c:pt>
                <c:pt idx="28">
                  <c:v>0.15291438851158204</c:v>
                </c:pt>
                <c:pt idx="29">
                  <c:v>0.1575713249484893</c:v>
                </c:pt>
                <c:pt idx="30">
                  <c:v>0.15915494309189535</c:v>
                </c:pt>
                <c:pt idx="31">
                  <c:v>0.1575713249484893</c:v>
                </c:pt>
                <c:pt idx="32">
                  <c:v>0.15291438851158204</c:v>
                </c:pt>
                <c:pt idx="33">
                  <c:v>0.14545666578175079</c:v>
                </c:pt>
                <c:pt idx="34">
                  <c:v>0.13562289623902943</c:v>
                </c:pt>
                <c:pt idx="35">
                  <c:v>0.12394999430965298</c:v>
                </c:pt>
                <c:pt idx="36">
                  <c:v>0.11103863597239756</c:v>
                </c:pt>
                <c:pt idx="37">
                  <c:v>9.7502518903013785E-2</c:v>
                </c:pt>
                <c:pt idx="38">
                  <c:v>8.3921195741358937E-2</c:v>
                </c:pt>
                <c:pt idx="39">
                  <c:v>7.0801360213682801E-2</c:v>
                </c:pt>
                <c:pt idx="40">
                  <c:v>5.8549831524319168E-2</c:v>
                </c:pt>
                <c:pt idx="41">
                  <c:v>4.7459571037821731E-2</c:v>
                </c:pt>
                <c:pt idx="42">
                  <c:v>3.7708223949943401E-2</c:v>
                </c:pt>
                <c:pt idx="43">
                  <c:v>2.9367194340447818E-2</c:v>
                </c:pt>
                <c:pt idx="44">
                  <c:v>2.2418313965703162E-2</c:v>
                </c:pt>
                <c:pt idx="45">
                  <c:v>1.6774807587073417E-2</c:v>
                </c:pt>
                <c:pt idx="46">
                  <c:v>1.2303431565987106E-2</c:v>
                </c:pt>
                <c:pt idx="47">
                  <c:v>8.845228955443667E-3</c:v>
                </c:pt>
                <c:pt idx="48">
                  <c:v>6.2331274957362452E-3</c:v>
                </c:pt>
                <c:pt idx="49">
                  <c:v>4.3054351485446677E-3</c:v>
                </c:pt>
                <c:pt idx="50">
                  <c:v>2.9150244650281935E-3</c:v>
                </c:pt>
                <c:pt idx="51">
                  <c:v>1.934556715369451E-3</c:v>
                </c:pt>
                <c:pt idx="52">
                  <c:v>1.2584467376058936E-3</c:v>
                </c:pt>
                <c:pt idx="53">
                  <c:v>8.0242106721409789E-4</c:v>
                </c:pt>
                <c:pt idx="54">
                  <c:v>5.015149871266364E-4</c:v>
                </c:pt>
                <c:pt idx="55">
                  <c:v>3.0724131819281919E-4</c:v>
                </c:pt>
                <c:pt idx="56">
                  <c:v>1.844970532032499E-4</c:v>
                </c:pt>
                <c:pt idx="57">
                  <c:v>1.0859588240644479E-4</c:v>
                </c:pt>
                <c:pt idx="58">
                  <c:v>6.2654373762496512E-5</c:v>
                </c:pt>
                <c:pt idx="59">
                  <c:v>3.5432642208480502E-5</c:v>
                </c:pt>
                <c:pt idx="60">
                  <c:v>1.9641280346396251E-5</c:v>
                </c:pt>
              </c:numCache>
            </c:numRef>
          </c:val>
          <c:smooth val="0"/>
          <c:extLst>
            <c:ext xmlns:c16="http://schemas.microsoft.com/office/drawing/2014/chart" uri="{C3380CC4-5D6E-409C-BE32-E72D297353CC}">
              <c16:uniqueId val="{00000000-7CCB-40EC-8B53-DC99E7E52D3A}"/>
            </c:ext>
          </c:extLst>
        </c:ser>
        <c:ser>
          <c:idx val="1"/>
          <c:order val="1"/>
          <c:tx>
            <c:strRef>
              <c:f>Sheet1!$C$1</c:f>
              <c:strCache>
                <c:ptCount val="1"/>
                <c:pt idx="0">
                  <c:v>3.16227766</c:v>
                </c:pt>
              </c:strCache>
            </c:strRef>
          </c:tx>
          <c:marker>
            <c:symbol val="none"/>
          </c:marker>
          <c:cat>
            <c:numRef>
              <c:f>Sheet1!$A$2:$A$62</c:f>
              <c:numCache>
                <c:formatCode>General</c:formatCode>
                <c:ptCount val="61"/>
                <c:pt idx="0">
                  <c:v>-3</c:v>
                </c:pt>
                <c:pt idx="1">
                  <c:v>-2.9</c:v>
                </c:pt>
                <c:pt idx="2">
                  <c:v>-2.8</c:v>
                </c:pt>
                <c:pt idx="3">
                  <c:v>-2.7</c:v>
                </c:pt>
                <c:pt idx="4">
                  <c:v>-2.6</c:v>
                </c:pt>
                <c:pt idx="5">
                  <c:v>-2.5</c:v>
                </c:pt>
                <c:pt idx="6">
                  <c:v>-2.4</c:v>
                </c:pt>
                <c:pt idx="7">
                  <c:v>-2.2999999999999998</c:v>
                </c:pt>
                <c:pt idx="8">
                  <c:v>-2.2000000000000002</c:v>
                </c:pt>
                <c:pt idx="9">
                  <c:v>-2.1</c:v>
                </c:pt>
                <c:pt idx="10">
                  <c:v>-2</c:v>
                </c:pt>
                <c:pt idx="11">
                  <c:v>-1.9</c:v>
                </c:pt>
                <c:pt idx="12">
                  <c:v>-1.8</c:v>
                </c:pt>
                <c:pt idx="13">
                  <c:v>-1.7</c:v>
                </c:pt>
                <c:pt idx="14">
                  <c:v>-1.6</c:v>
                </c:pt>
                <c:pt idx="15">
                  <c:v>-1.5</c:v>
                </c:pt>
                <c:pt idx="16">
                  <c:v>-1.4</c:v>
                </c:pt>
                <c:pt idx="17">
                  <c:v>-1.3</c:v>
                </c:pt>
                <c:pt idx="18">
                  <c:v>-1.2</c:v>
                </c:pt>
                <c:pt idx="19">
                  <c:v>-1.1000000000000001</c:v>
                </c:pt>
                <c:pt idx="20">
                  <c:v>-1</c:v>
                </c:pt>
                <c:pt idx="21">
                  <c:v>-0.9</c:v>
                </c:pt>
                <c:pt idx="22">
                  <c:v>-0.8</c:v>
                </c:pt>
                <c:pt idx="23">
                  <c:v>-0.7</c:v>
                </c:pt>
                <c:pt idx="24">
                  <c:v>-0.6</c:v>
                </c:pt>
                <c:pt idx="25">
                  <c:v>-0.5</c:v>
                </c:pt>
                <c:pt idx="26">
                  <c:v>-0.4</c:v>
                </c:pt>
                <c:pt idx="27">
                  <c:v>-0.3</c:v>
                </c:pt>
                <c:pt idx="28">
                  <c:v>-0.2</c:v>
                </c:pt>
                <c:pt idx="29">
                  <c:v>-0.1</c:v>
                </c:pt>
                <c:pt idx="30">
                  <c:v>0</c:v>
                </c:pt>
                <c:pt idx="31">
                  <c:v>0.1</c:v>
                </c:pt>
                <c:pt idx="32">
                  <c:v>0.2</c:v>
                </c:pt>
                <c:pt idx="33">
                  <c:v>0.3</c:v>
                </c:pt>
                <c:pt idx="34">
                  <c:v>0.4</c:v>
                </c:pt>
                <c:pt idx="35">
                  <c:v>0.5</c:v>
                </c:pt>
                <c:pt idx="36">
                  <c:v>0.6</c:v>
                </c:pt>
                <c:pt idx="37">
                  <c:v>0.7</c:v>
                </c:pt>
                <c:pt idx="38">
                  <c:v>0.8</c:v>
                </c:pt>
                <c:pt idx="39">
                  <c:v>0.9</c:v>
                </c:pt>
                <c:pt idx="40">
                  <c:v>1</c:v>
                </c:pt>
                <c:pt idx="41">
                  <c:v>1.1000000000000001</c:v>
                </c:pt>
                <c:pt idx="42">
                  <c:v>1.2</c:v>
                </c:pt>
                <c:pt idx="43">
                  <c:v>1.3</c:v>
                </c:pt>
                <c:pt idx="44">
                  <c:v>1.4</c:v>
                </c:pt>
                <c:pt idx="45">
                  <c:v>1.5</c:v>
                </c:pt>
                <c:pt idx="46">
                  <c:v>1.6</c:v>
                </c:pt>
                <c:pt idx="47">
                  <c:v>1.7</c:v>
                </c:pt>
                <c:pt idx="48">
                  <c:v>1.8</c:v>
                </c:pt>
                <c:pt idx="49">
                  <c:v>1.9</c:v>
                </c:pt>
                <c:pt idx="50">
                  <c:v>2</c:v>
                </c:pt>
                <c:pt idx="51">
                  <c:v>2.1</c:v>
                </c:pt>
                <c:pt idx="52">
                  <c:v>2.2000000000000002</c:v>
                </c:pt>
                <c:pt idx="53">
                  <c:v>2.2999999999999998</c:v>
                </c:pt>
                <c:pt idx="54">
                  <c:v>2.4</c:v>
                </c:pt>
                <c:pt idx="55">
                  <c:v>2.5000000000000102</c:v>
                </c:pt>
                <c:pt idx="56">
                  <c:v>2.6</c:v>
                </c:pt>
                <c:pt idx="57">
                  <c:v>2.7</c:v>
                </c:pt>
                <c:pt idx="58">
                  <c:v>2.80000000000001</c:v>
                </c:pt>
                <c:pt idx="59">
                  <c:v>2.9000000000000101</c:v>
                </c:pt>
                <c:pt idx="60">
                  <c:v>3.0000000000000102</c:v>
                </c:pt>
              </c:numCache>
            </c:numRef>
          </c:cat>
          <c:val>
            <c:numRef>
              <c:f>Sheet1!$C$2:$C$62</c:f>
              <c:numCache>
                <c:formatCode>General</c:formatCode>
                <c:ptCount val="61"/>
                <c:pt idx="0">
                  <c:v>2.1957479692438417E-13</c:v>
                </c:pt>
                <c:pt idx="1">
                  <c:v>1.4186156125976263E-12</c:v>
                </c:pt>
                <c:pt idx="2">
                  <c:v>8.6035915791690236E-12</c:v>
                </c:pt>
                <c:pt idx="3">
                  <c:v>4.8980999351042892E-11</c:v>
                </c:pt>
                <c:pt idx="4">
                  <c:v>2.6176302621139729E-10</c:v>
                </c:pt>
                <c:pt idx="5">
                  <c:v>1.3131724694912204E-9</c:v>
                </c:pt>
                <c:pt idx="6">
                  <c:v>6.1839794944819354E-9</c:v>
                </c:pt>
                <c:pt idx="7">
                  <c:v>2.7336764892971163E-8</c:v>
                </c:pt>
                <c:pt idx="8">
                  <c:v>1.1343811461984197E-7</c:v>
                </c:pt>
                <c:pt idx="9">
                  <c:v>4.4187933027691353E-7</c:v>
                </c:pt>
                <c:pt idx="10">
                  <c:v>1.6157760991585231E-6</c:v>
                </c:pt>
                <c:pt idx="11">
                  <c:v>5.5461482920681163E-6</c:v>
                </c:pt>
                <c:pt idx="12">
                  <c:v>1.7870412630700963E-5</c:v>
                </c:pt>
                <c:pt idx="13">
                  <c:v>5.4051840785899258E-5</c:v>
                </c:pt>
                <c:pt idx="14">
                  <c:v>1.5346848375637971E-4</c:v>
                </c:pt>
                <c:pt idx="15">
                  <c:v>4.0903523562266345E-4</c:v>
                </c:pt>
                <c:pt idx="16">
                  <c:v>1.0233755697151635E-3</c:v>
                </c:pt>
                <c:pt idx="17">
                  <c:v>2.40348919692796E-3</c:v>
                </c:pt>
                <c:pt idx="18">
                  <c:v>5.2988558962158445E-3</c:v>
                </c:pt>
                <c:pt idx="19">
                  <c:v>1.0966166831794077E-2</c:v>
                </c:pt>
                <c:pt idx="20">
                  <c:v>2.1303962728789781E-2</c:v>
                </c:pt>
                <c:pt idx="21">
                  <c:v>3.8850690666012294E-2</c:v>
                </c:pt>
                <c:pt idx="22">
                  <c:v>6.6507389155984586E-2</c:v>
                </c:pt>
                <c:pt idx="23">
                  <c:v>0.10687444193864395</c:v>
                </c:pt>
                <c:pt idx="24">
                  <c:v>0.1612169222688204</c:v>
                </c:pt>
                <c:pt idx="25">
                  <c:v>0.22828648286694625</c:v>
                </c:pt>
                <c:pt idx="26">
                  <c:v>0.30344680806711366</c:v>
                </c:pt>
                <c:pt idx="27">
                  <c:v>0.37863238336140181</c:v>
                </c:pt>
                <c:pt idx="28">
                  <c:v>0.44349195093252719</c:v>
                </c:pt>
                <c:pt idx="29">
                  <c:v>0.48762564102724698</c:v>
                </c:pt>
                <c:pt idx="30">
                  <c:v>0.50329212101807197</c:v>
                </c:pt>
                <c:pt idx="31">
                  <c:v>0.48762564102724698</c:v>
                </c:pt>
                <c:pt idx="32">
                  <c:v>0.44349195093252719</c:v>
                </c:pt>
                <c:pt idx="33">
                  <c:v>0.37863238336140181</c:v>
                </c:pt>
                <c:pt idx="34">
                  <c:v>0.30344680806711366</c:v>
                </c:pt>
                <c:pt idx="35">
                  <c:v>0.22828648286694625</c:v>
                </c:pt>
                <c:pt idx="36">
                  <c:v>0.1612169222688204</c:v>
                </c:pt>
                <c:pt idx="37">
                  <c:v>0.10687444193864395</c:v>
                </c:pt>
                <c:pt idx="38">
                  <c:v>6.6507389155984586E-2</c:v>
                </c:pt>
                <c:pt idx="39">
                  <c:v>3.8850690666012294E-2</c:v>
                </c:pt>
                <c:pt idx="40">
                  <c:v>2.1303962728789781E-2</c:v>
                </c:pt>
                <c:pt idx="41">
                  <c:v>1.0966166831794077E-2</c:v>
                </c:pt>
                <c:pt idx="42">
                  <c:v>5.2988558962158445E-3</c:v>
                </c:pt>
                <c:pt idx="43">
                  <c:v>2.40348919692796E-3</c:v>
                </c:pt>
                <c:pt idx="44">
                  <c:v>1.0233755697151635E-3</c:v>
                </c:pt>
                <c:pt idx="45">
                  <c:v>4.0903523562266345E-4</c:v>
                </c:pt>
                <c:pt idx="46">
                  <c:v>1.5346848375637971E-4</c:v>
                </c:pt>
                <c:pt idx="47">
                  <c:v>5.4051840785899258E-5</c:v>
                </c:pt>
                <c:pt idx="48">
                  <c:v>1.7870412630700963E-5</c:v>
                </c:pt>
                <c:pt idx="49">
                  <c:v>5.5461482920681163E-6</c:v>
                </c:pt>
                <c:pt idx="50">
                  <c:v>1.6157760991585231E-6</c:v>
                </c:pt>
                <c:pt idx="51">
                  <c:v>4.4187933027691353E-7</c:v>
                </c:pt>
                <c:pt idx="52">
                  <c:v>1.1343811461984197E-7</c:v>
                </c:pt>
                <c:pt idx="53">
                  <c:v>2.7336764892971163E-8</c:v>
                </c:pt>
                <c:pt idx="54">
                  <c:v>6.1839794944819354E-9</c:v>
                </c:pt>
                <c:pt idx="55">
                  <c:v>1.3131724694910057E-9</c:v>
                </c:pt>
                <c:pt idx="56">
                  <c:v>2.6176302621139729E-10</c:v>
                </c:pt>
                <c:pt idx="57">
                  <c:v>4.8980999351042892E-11</c:v>
                </c:pt>
                <c:pt idx="58">
                  <c:v>8.6035915791674953E-12</c:v>
                </c:pt>
                <c:pt idx="59">
                  <c:v>1.4186156125973641E-12</c:v>
                </c:pt>
                <c:pt idx="60">
                  <c:v>2.1957479692434206E-13</c:v>
                </c:pt>
              </c:numCache>
            </c:numRef>
          </c:val>
          <c:smooth val="0"/>
          <c:extLst>
            <c:ext xmlns:c16="http://schemas.microsoft.com/office/drawing/2014/chart" uri="{C3380CC4-5D6E-409C-BE32-E72D297353CC}">
              <c16:uniqueId val="{00000001-7CCB-40EC-8B53-DC99E7E52D3A}"/>
            </c:ext>
          </c:extLst>
        </c:ser>
        <c:ser>
          <c:idx val="2"/>
          <c:order val="2"/>
          <c:tx>
            <c:strRef>
              <c:f>Sheet1!$D$1</c:f>
              <c:strCache>
                <c:ptCount val="1"/>
                <c:pt idx="0">
                  <c:v>7.071067812</c:v>
                </c:pt>
              </c:strCache>
            </c:strRef>
          </c:tx>
          <c:spPr>
            <a:ln>
              <a:noFill/>
            </a:ln>
          </c:spPr>
          <c:marker>
            <c:symbol val="none"/>
          </c:marker>
          <c:cat>
            <c:numRef>
              <c:f>Sheet1!$A$2:$A$62</c:f>
              <c:numCache>
                <c:formatCode>General</c:formatCode>
                <c:ptCount val="61"/>
                <c:pt idx="0">
                  <c:v>-3</c:v>
                </c:pt>
                <c:pt idx="1">
                  <c:v>-2.9</c:v>
                </c:pt>
                <c:pt idx="2">
                  <c:v>-2.8</c:v>
                </c:pt>
                <c:pt idx="3">
                  <c:v>-2.7</c:v>
                </c:pt>
                <c:pt idx="4">
                  <c:v>-2.6</c:v>
                </c:pt>
                <c:pt idx="5">
                  <c:v>-2.5</c:v>
                </c:pt>
                <c:pt idx="6">
                  <c:v>-2.4</c:v>
                </c:pt>
                <c:pt idx="7">
                  <c:v>-2.2999999999999998</c:v>
                </c:pt>
                <c:pt idx="8">
                  <c:v>-2.2000000000000002</c:v>
                </c:pt>
                <c:pt idx="9">
                  <c:v>-2.1</c:v>
                </c:pt>
                <c:pt idx="10">
                  <c:v>-2</c:v>
                </c:pt>
                <c:pt idx="11">
                  <c:v>-1.9</c:v>
                </c:pt>
                <c:pt idx="12">
                  <c:v>-1.8</c:v>
                </c:pt>
                <c:pt idx="13">
                  <c:v>-1.7</c:v>
                </c:pt>
                <c:pt idx="14">
                  <c:v>-1.6</c:v>
                </c:pt>
                <c:pt idx="15">
                  <c:v>-1.5</c:v>
                </c:pt>
                <c:pt idx="16">
                  <c:v>-1.4</c:v>
                </c:pt>
                <c:pt idx="17">
                  <c:v>-1.3</c:v>
                </c:pt>
                <c:pt idx="18">
                  <c:v>-1.2</c:v>
                </c:pt>
                <c:pt idx="19">
                  <c:v>-1.1000000000000001</c:v>
                </c:pt>
                <c:pt idx="20">
                  <c:v>-1</c:v>
                </c:pt>
                <c:pt idx="21">
                  <c:v>-0.9</c:v>
                </c:pt>
                <c:pt idx="22">
                  <c:v>-0.8</c:v>
                </c:pt>
                <c:pt idx="23">
                  <c:v>-0.7</c:v>
                </c:pt>
                <c:pt idx="24">
                  <c:v>-0.6</c:v>
                </c:pt>
                <c:pt idx="25">
                  <c:v>-0.5</c:v>
                </c:pt>
                <c:pt idx="26">
                  <c:v>-0.4</c:v>
                </c:pt>
                <c:pt idx="27">
                  <c:v>-0.3</c:v>
                </c:pt>
                <c:pt idx="28">
                  <c:v>-0.2</c:v>
                </c:pt>
                <c:pt idx="29">
                  <c:v>-0.1</c:v>
                </c:pt>
                <c:pt idx="30">
                  <c:v>0</c:v>
                </c:pt>
                <c:pt idx="31">
                  <c:v>0.1</c:v>
                </c:pt>
                <c:pt idx="32">
                  <c:v>0.2</c:v>
                </c:pt>
                <c:pt idx="33">
                  <c:v>0.3</c:v>
                </c:pt>
                <c:pt idx="34">
                  <c:v>0.4</c:v>
                </c:pt>
                <c:pt idx="35">
                  <c:v>0.5</c:v>
                </c:pt>
                <c:pt idx="36">
                  <c:v>0.6</c:v>
                </c:pt>
                <c:pt idx="37">
                  <c:v>0.7</c:v>
                </c:pt>
                <c:pt idx="38">
                  <c:v>0.8</c:v>
                </c:pt>
                <c:pt idx="39">
                  <c:v>0.9</c:v>
                </c:pt>
                <c:pt idx="40">
                  <c:v>1</c:v>
                </c:pt>
                <c:pt idx="41">
                  <c:v>1.1000000000000001</c:v>
                </c:pt>
                <c:pt idx="42">
                  <c:v>1.2</c:v>
                </c:pt>
                <c:pt idx="43">
                  <c:v>1.3</c:v>
                </c:pt>
                <c:pt idx="44">
                  <c:v>1.4</c:v>
                </c:pt>
                <c:pt idx="45">
                  <c:v>1.5</c:v>
                </c:pt>
                <c:pt idx="46">
                  <c:v>1.6</c:v>
                </c:pt>
                <c:pt idx="47">
                  <c:v>1.7</c:v>
                </c:pt>
                <c:pt idx="48">
                  <c:v>1.8</c:v>
                </c:pt>
                <c:pt idx="49">
                  <c:v>1.9</c:v>
                </c:pt>
                <c:pt idx="50">
                  <c:v>2</c:v>
                </c:pt>
                <c:pt idx="51">
                  <c:v>2.1</c:v>
                </c:pt>
                <c:pt idx="52">
                  <c:v>2.2000000000000002</c:v>
                </c:pt>
                <c:pt idx="53">
                  <c:v>2.2999999999999998</c:v>
                </c:pt>
                <c:pt idx="54">
                  <c:v>2.4</c:v>
                </c:pt>
                <c:pt idx="55">
                  <c:v>2.5000000000000102</c:v>
                </c:pt>
                <c:pt idx="56">
                  <c:v>2.6</c:v>
                </c:pt>
                <c:pt idx="57">
                  <c:v>2.7</c:v>
                </c:pt>
                <c:pt idx="58">
                  <c:v>2.80000000000001</c:v>
                </c:pt>
                <c:pt idx="59">
                  <c:v>2.9000000000000101</c:v>
                </c:pt>
                <c:pt idx="60">
                  <c:v>3.0000000000000102</c:v>
                </c:pt>
              </c:numCache>
            </c:numRef>
          </c:cat>
          <c:val>
            <c:numRef>
              <c:f>Sheet1!$D$2:$D$62</c:f>
              <c:numCache>
                <c:formatCode>General</c:formatCode>
                <c:ptCount val="61"/>
                <c:pt idx="0">
                  <c:v>2.5880552686716993E-28</c:v>
                </c:pt>
                <c:pt idx="1">
                  <c:v>1.6781073068391347E-26</c:v>
                </c:pt>
                <c:pt idx="2">
                  <c:v>9.4459881322512352E-25</c:v>
                </c:pt>
                <c:pt idx="3">
                  <c:v>4.6159016640960584E-23</c:v>
                </c:pt>
                <c:pt idx="4">
                  <c:v>1.9581555418077432E-21</c:v>
                </c:pt>
                <c:pt idx="5">
                  <c:v>7.2113954135510934E-20</c:v>
                </c:pt>
                <c:pt idx="6">
                  <c:v>2.3055413620368978E-18</c:v>
                </c:pt>
                <c:pt idx="7">
                  <c:v>6.3989396166666672E-17</c:v>
                </c:pt>
                <c:pt idx="8">
                  <c:v>1.5417877521612201E-15</c:v>
                </c:pt>
                <c:pt idx="9">
                  <c:v>3.2249475524857863E-14</c:v>
                </c:pt>
                <c:pt idx="10">
                  <c:v>5.8560153461795485E-13</c:v>
                </c:pt>
                <c:pt idx="11">
                  <c:v>9.2313080059855102E-12</c:v>
                </c:pt>
                <c:pt idx="12">
                  <c:v>1.2632978656947972E-10</c:v>
                </c:pt>
                <c:pt idx="13">
                  <c:v>1.5008240089704121E-9</c:v>
                </c:pt>
                <c:pt idx="14">
                  <c:v>1.5478727695183599E-8</c:v>
                </c:pt>
                <c:pt idx="15">
                  <c:v>1.3858691809610366E-7</c:v>
                </c:pt>
                <c:pt idx="16">
                  <c:v>1.0771859973664762E-6</c:v>
                </c:pt>
                <c:pt idx="17">
                  <c:v>7.2684305797877243E-6</c:v>
                </c:pt>
                <c:pt idx="18">
                  <c:v>4.2576708077666142E-5</c:v>
                </c:pt>
                <c:pt idx="19">
                  <c:v>2.1651350879289832E-4</c:v>
                </c:pt>
                <c:pt idx="20">
                  <c:v>9.558272370024781E-4</c:v>
                </c:pt>
                <c:pt idx="21">
                  <c:v>3.6631549620575994E-3</c:v>
                </c:pt>
                <c:pt idx="22">
                  <c:v>1.2187444904116725E-2</c:v>
                </c:pt>
                <c:pt idx="23">
                  <c:v>3.5200718257056646E-2</c:v>
                </c:pt>
                <c:pt idx="24">
                  <c:v>8.8261615097269944E-2</c:v>
                </c:pt>
                <c:pt idx="25">
                  <c:v>0.19212049672868228</c:v>
                </c:pt>
                <c:pt idx="26">
                  <c:v>0.36304212174060607</c:v>
                </c:pt>
                <c:pt idx="27">
                  <c:v>0.59555492158537293</c:v>
                </c:pt>
                <c:pt idx="28">
                  <c:v>0.84814109098093893</c:v>
                </c:pt>
                <c:pt idx="29">
                  <c:v>1.0485662534989972</c:v>
                </c:pt>
                <c:pt idx="30">
                  <c:v>1.1253953952177929</c:v>
                </c:pt>
                <c:pt idx="31">
                  <c:v>1.0485662534989972</c:v>
                </c:pt>
                <c:pt idx="32">
                  <c:v>0.84814109098093893</c:v>
                </c:pt>
                <c:pt idx="33">
                  <c:v>0.59555492158537293</c:v>
                </c:pt>
                <c:pt idx="34">
                  <c:v>0.36304212174060607</c:v>
                </c:pt>
                <c:pt idx="35">
                  <c:v>0.19212049672868228</c:v>
                </c:pt>
                <c:pt idx="36">
                  <c:v>8.8261615097269944E-2</c:v>
                </c:pt>
                <c:pt idx="37">
                  <c:v>3.5200718257056646E-2</c:v>
                </c:pt>
                <c:pt idx="38">
                  <c:v>1.2187444904116725E-2</c:v>
                </c:pt>
                <c:pt idx="39">
                  <c:v>3.6631549620575994E-3</c:v>
                </c:pt>
                <c:pt idx="40">
                  <c:v>9.558272370024781E-4</c:v>
                </c:pt>
                <c:pt idx="41">
                  <c:v>2.1651350879289832E-4</c:v>
                </c:pt>
                <c:pt idx="42">
                  <c:v>4.2576708077666142E-5</c:v>
                </c:pt>
                <c:pt idx="43">
                  <c:v>7.2684305797877243E-6</c:v>
                </c:pt>
                <c:pt idx="44">
                  <c:v>1.0771859973664762E-6</c:v>
                </c:pt>
                <c:pt idx="45">
                  <c:v>1.3858691809610366E-7</c:v>
                </c:pt>
                <c:pt idx="46">
                  <c:v>1.5478727695183599E-8</c:v>
                </c:pt>
                <c:pt idx="47">
                  <c:v>1.5008240089704121E-9</c:v>
                </c:pt>
                <c:pt idx="48">
                  <c:v>1.2632978656947972E-10</c:v>
                </c:pt>
                <c:pt idx="49">
                  <c:v>9.2313080059855102E-12</c:v>
                </c:pt>
                <c:pt idx="50">
                  <c:v>5.8560153461795485E-13</c:v>
                </c:pt>
                <c:pt idx="51">
                  <c:v>3.2249475524857863E-14</c:v>
                </c:pt>
                <c:pt idx="52">
                  <c:v>1.5417877521612201E-15</c:v>
                </c:pt>
                <c:pt idx="53">
                  <c:v>6.3989396166666672E-17</c:v>
                </c:pt>
                <c:pt idx="54">
                  <c:v>2.3055413620368978E-18</c:v>
                </c:pt>
                <c:pt idx="55">
                  <c:v>7.2113954135484801E-20</c:v>
                </c:pt>
                <c:pt idx="56">
                  <c:v>1.9581555418077432E-21</c:v>
                </c:pt>
                <c:pt idx="57">
                  <c:v>4.6159016640960584E-23</c:v>
                </c:pt>
                <c:pt idx="58">
                  <c:v>9.4459881322474093E-25</c:v>
                </c:pt>
                <c:pt idx="59">
                  <c:v>1.678107306838443E-26</c:v>
                </c:pt>
                <c:pt idx="60">
                  <c:v>2.5880552686705962E-28</c:v>
                </c:pt>
              </c:numCache>
            </c:numRef>
          </c:val>
          <c:smooth val="0"/>
          <c:extLst>
            <c:ext xmlns:c16="http://schemas.microsoft.com/office/drawing/2014/chart" uri="{C3380CC4-5D6E-409C-BE32-E72D297353CC}">
              <c16:uniqueId val="{00000002-7CCB-40EC-8B53-DC99E7E52D3A}"/>
            </c:ext>
          </c:extLst>
        </c:ser>
        <c:dLbls>
          <c:showLegendKey val="0"/>
          <c:showVal val="0"/>
          <c:showCatName val="0"/>
          <c:showSerName val="0"/>
          <c:showPercent val="0"/>
          <c:showBubbleSize val="0"/>
        </c:dLbls>
        <c:smooth val="0"/>
        <c:axId val="136241152"/>
        <c:axId val="136242688"/>
      </c:lineChart>
      <c:catAx>
        <c:axId val="136241152"/>
        <c:scaling>
          <c:orientation val="minMax"/>
        </c:scaling>
        <c:delete val="1"/>
        <c:axPos val="b"/>
        <c:numFmt formatCode="General" sourceLinked="1"/>
        <c:majorTickMark val="out"/>
        <c:minorTickMark val="none"/>
        <c:tickLblPos val="nextTo"/>
        <c:crossAx val="136242688"/>
        <c:crosses val="autoZero"/>
        <c:auto val="1"/>
        <c:lblAlgn val="ctr"/>
        <c:lblOffset val="100"/>
        <c:noMultiLvlLbl val="0"/>
      </c:catAx>
      <c:valAx>
        <c:axId val="136242688"/>
        <c:scaling>
          <c:orientation val="minMax"/>
        </c:scaling>
        <c:delete val="1"/>
        <c:axPos val="l"/>
        <c:numFmt formatCode="General" sourceLinked="1"/>
        <c:majorTickMark val="out"/>
        <c:minorTickMark val="none"/>
        <c:tickLblPos val="nextTo"/>
        <c:crossAx val="136241152"/>
        <c:crosses val="autoZero"/>
        <c:crossBetween val="between"/>
      </c:valAx>
      <c:spPr>
        <a:noFill/>
        <a:ln w="25400">
          <a:noFill/>
        </a:ln>
      </c:spPr>
    </c:plotArea>
    <c:plotVisOnly val="1"/>
    <c:dispBlanksAs val="gap"/>
    <c:showDLblsOverMax val="0"/>
  </c:chart>
  <c:txPr>
    <a:bodyPr/>
    <a:lstStyle/>
    <a:p>
      <a:pPr>
        <a:defRPr sz="18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
          <c:y val="7.4362304645914062E-2"/>
          <c:w val="1"/>
          <c:h val="0.91211727632755613"/>
        </c:manualLayout>
      </c:layout>
      <c:lineChart>
        <c:grouping val="standard"/>
        <c:varyColors val="0"/>
        <c:ser>
          <c:idx val="0"/>
          <c:order val="0"/>
          <c:tx>
            <c:strRef>
              <c:f>Sheet1!$B$1</c:f>
              <c:strCache>
                <c:ptCount val="1"/>
                <c:pt idx="0">
                  <c:v>SQRT_N</c:v>
                </c:pt>
              </c:strCache>
            </c:strRef>
          </c:tx>
          <c:spPr>
            <a:ln>
              <a:noFill/>
            </a:ln>
          </c:spPr>
          <c:marker>
            <c:symbol val="none"/>
          </c:marker>
          <c:cat>
            <c:numRef>
              <c:f>Sheet1!$A$2:$A$62</c:f>
              <c:numCache>
                <c:formatCode>General</c:formatCode>
                <c:ptCount val="61"/>
                <c:pt idx="0">
                  <c:v>-3</c:v>
                </c:pt>
                <c:pt idx="1">
                  <c:v>-2.9</c:v>
                </c:pt>
                <c:pt idx="2">
                  <c:v>-2.8</c:v>
                </c:pt>
                <c:pt idx="3">
                  <c:v>-2.7</c:v>
                </c:pt>
                <c:pt idx="4">
                  <c:v>-2.6</c:v>
                </c:pt>
                <c:pt idx="5">
                  <c:v>-2.5</c:v>
                </c:pt>
                <c:pt idx="6">
                  <c:v>-2.4</c:v>
                </c:pt>
                <c:pt idx="7">
                  <c:v>-2.2999999999999998</c:v>
                </c:pt>
                <c:pt idx="8">
                  <c:v>-2.2000000000000002</c:v>
                </c:pt>
                <c:pt idx="9">
                  <c:v>-2.1</c:v>
                </c:pt>
                <c:pt idx="10">
                  <c:v>-2</c:v>
                </c:pt>
                <c:pt idx="11">
                  <c:v>-1.9</c:v>
                </c:pt>
                <c:pt idx="12">
                  <c:v>-1.8</c:v>
                </c:pt>
                <c:pt idx="13">
                  <c:v>-1.7</c:v>
                </c:pt>
                <c:pt idx="14">
                  <c:v>-1.6</c:v>
                </c:pt>
                <c:pt idx="15">
                  <c:v>-1.5</c:v>
                </c:pt>
                <c:pt idx="16">
                  <c:v>-1.4</c:v>
                </c:pt>
                <c:pt idx="17">
                  <c:v>-1.3</c:v>
                </c:pt>
                <c:pt idx="18">
                  <c:v>-1.2</c:v>
                </c:pt>
                <c:pt idx="19">
                  <c:v>-1.1000000000000001</c:v>
                </c:pt>
                <c:pt idx="20">
                  <c:v>-1</c:v>
                </c:pt>
                <c:pt idx="21">
                  <c:v>-0.9</c:v>
                </c:pt>
                <c:pt idx="22">
                  <c:v>-0.8</c:v>
                </c:pt>
                <c:pt idx="23">
                  <c:v>-0.7</c:v>
                </c:pt>
                <c:pt idx="24">
                  <c:v>-0.6</c:v>
                </c:pt>
                <c:pt idx="25">
                  <c:v>-0.5</c:v>
                </c:pt>
                <c:pt idx="26">
                  <c:v>-0.4</c:v>
                </c:pt>
                <c:pt idx="27">
                  <c:v>-0.3</c:v>
                </c:pt>
                <c:pt idx="28">
                  <c:v>-0.2</c:v>
                </c:pt>
                <c:pt idx="29">
                  <c:v>-0.1</c:v>
                </c:pt>
                <c:pt idx="30">
                  <c:v>0</c:v>
                </c:pt>
                <c:pt idx="31">
                  <c:v>0.1</c:v>
                </c:pt>
                <c:pt idx="32">
                  <c:v>0.2</c:v>
                </c:pt>
                <c:pt idx="33">
                  <c:v>0.3</c:v>
                </c:pt>
                <c:pt idx="34">
                  <c:v>0.4</c:v>
                </c:pt>
                <c:pt idx="35">
                  <c:v>0.5</c:v>
                </c:pt>
                <c:pt idx="36">
                  <c:v>0.6</c:v>
                </c:pt>
                <c:pt idx="37">
                  <c:v>0.7</c:v>
                </c:pt>
                <c:pt idx="38">
                  <c:v>0.8</c:v>
                </c:pt>
                <c:pt idx="39">
                  <c:v>0.9</c:v>
                </c:pt>
                <c:pt idx="40">
                  <c:v>1</c:v>
                </c:pt>
                <c:pt idx="41">
                  <c:v>1.1000000000000001</c:v>
                </c:pt>
                <c:pt idx="42">
                  <c:v>1.2</c:v>
                </c:pt>
                <c:pt idx="43">
                  <c:v>1.3</c:v>
                </c:pt>
                <c:pt idx="44">
                  <c:v>1.4</c:v>
                </c:pt>
                <c:pt idx="45">
                  <c:v>1.5</c:v>
                </c:pt>
                <c:pt idx="46">
                  <c:v>1.6</c:v>
                </c:pt>
                <c:pt idx="47">
                  <c:v>1.7</c:v>
                </c:pt>
                <c:pt idx="48">
                  <c:v>1.8</c:v>
                </c:pt>
                <c:pt idx="49">
                  <c:v>1.9</c:v>
                </c:pt>
                <c:pt idx="50">
                  <c:v>2</c:v>
                </c:pt>
                <c:pt idx="51">
                  <c:v>2.1</c:v>
                </c:pt>
                <c:pt idx="52">
                  <c:v>2.2000000000000002</c:v>
                </c:pt>
                <c:pt idx="53">
                  <c:v>2.2999999999999998</c:v>
                </c:pt>
                <c:pt idx="54">
                  <c:v>2.4</c:v>
                </c:pt>
                <c:pt idx="55">
                  <c:v>2.5000000000000102</c:v>
                </c:pt>
                <c:pt idx="56">
                  <c:v>2.6</c:v>
                </c:pt>
                <c:pt idx="57">
                  <c:v>2.7</c:v>
                </c:pt>
                <c:pt idx="58">
                  <c:v>2.80000000000001</c:v>
                </c:pt>
                <c:pt idx="59">
                  <c:v>2.9000000000000101</c:v>
                </c:pt>
                <c:pt idx="60">
                  <c:v>3.0000000000000102</c:v>
                </c:pt>
              </c:numCache>
            </c:numRef>
          </c:cat>
          <c:val>
            <c:numRef>
              <c:f>Sheet1!$B$2:$B$62</c:f>
              <c:numCache>
                <c:formatCode>General</c:formatCode>
                <c:ptCount val="61"/>
                <c:pt idx="0">
                  <c:v>1.9641280346397437E-5</c:v>
                </c:pt>
                <c:pt idx="1">
                  <c:v>3.5432642208482576E-5</c:v>
                </c:pt>
                <c:pt idx="2">
                  <c:v>6.2654373762500076E-5</c:v>
                </c:pt>
                <c:pt idx="3">
                  <c:v>1.0859588240644479E-4</c:v>
                </c:pt>
                <c:pt idx="4">
                  <c:v>1.844970532032499E-4</c:v>
                </c:pt>
                <c:pt idx="5">
                  <c:v>3.0724131819283507E-4</c:v>
                </c:pt>
                <c:pt idx="6">
                  <c:v>5.015149871266364E-4</c:v>
                </c:pt>
                <c:pt idx="7">
                  <c:v>8.0242106721409789E-4</c:v>
                </c:pt>
                <c:pt idx="8">
                  <c:v>1.2584467376058936E-3</c:v>
                </c:pt>
                <c:pt idx="9">
                  <c:v>1.934556715369451E-3</c:v>
                </c:pt>
                <c:pt idx="10">
                  <c:v>2.9150244650281935E-3</c:v>
                </c:pt>
                <c:pt idx="11">
                  <c:v>4.3054351485446677E-3</c:v>
                </c:pt>
                <c:pt idx="12">
                  <c:v>6.2331274957362452E-3</c:v>
                </c:pt>
                <c:pt idx="13">
                  <c:v>8.845228955443667E-3</c:v>
                </c:pt>
                <c:pt idx="14">
                  <c:v>1.2303431565987106E-2</c:v>
                </c:pt>
                <c:pt idx="15">
                  <c:v>1.6774807587073417E-2</c:v>
                </c:pt>
                <c:pt idx="16">
                  <c:v>2.2418313965703162E-2</c:v>
                </c:pt>
                <c:pt idx="17">
                  <c:v>2.9367194340447818E-2</c:v>
                </c:pt>
                <c:pt idx="18">
                  <c:v>3.7708223949943401E-2</c:v>
                </c:pt>
                <c:pt idx="19">
                  <c:v>4.7459571037821731E-2</c:v>
                </c:pt>
                <c:pt idx="20">
                  <c:v>5.8549831524319168E-2</c:v>
                </c:pt>
                <c:pt idx="21">
                  <c:v>7.0801360213682801E-2</c:v>
                </c:pt>
                <c:pt idx="22">
                  <c:v>8.3921195741358937E-2</c:v>
                </c:pt>
                <c:pt idx="23">
                  <c:v>9.7502518903013785E-2</c:v>
                </c:pt>
                <c:pt idx="24">
                  <c:v>0.11103863597239756</c:v>
                </c:pt>
                <c:pt idx="25">
                  <c:v>0.12394999430965298</c:v>
                </c:pt>
                <c:pt idx="26">
                  <c:v>0.13562289623902943</c:v>
                </c:pt>
                <c:pt idx="27">
                  <c:v>0.14545666578175079</c:v>
                </c:pt>
                <c:pt idx="28">
                  <c:v>0.15291438851158204</c:v>
                </c:pt>
                <c:pt idx="29">
                  <c:v>0.1575713249484893</c:v>
                </c:pt>
                <c:pt idx="30">
                  <c:v>0.15915494309189535</c:v>
                </c:pt>
                <c:pt idx="31">
                  <c:v>0.1575713249484893</c:v>
                </c:pt>
                <c:pt idx="32">
                  <c:v>0.15291438851158204</c:v>
                </c:pt>
                <c:pt idx="33">
                  <c:v>0.14545666578175079</c:v>
                </c:pt>
                <c:pt idx="34">
                  <c:v>0.13562289623902943</c:v>
                </c:pt>
                <c:pt idx="35">
                  <c:v>0.12394999430965298</c:v>
                </c:pt>
                <c:pt idx="36">
                  <c:v>0.11103863597239756</c:v>
                </c:pt>
                <c:pt idx="37">
                  <c:v>9.7502518903013785E-2</c:v>
                </c:pt>
                <c:pt idx="38">
                  <c:v>8.3921195741358937E-2</c:v>
                </c:pt>
                <c:pt idx="39">
                  <c:v>7.0801360213682801E-2</c:v>
                </c:pt>
                <c:pt idx="40">
                  <c:v>5.8549831524319168E-2</c:v>
                </c:pt>
                <c:pt idx="41">
                  <c:v>4.7459571037821731E-2</c:v>
                </c:pt>
                <c:pt idx="42">
                  <c:v>3.7708223949943401E-2</c:v>
                </c:pt>
                <c:pt idx="43">
                  <c:v>2.9367194340447818E-2</c:v>
                </c:pt>
                <c:pt idx="44">
                  <c:v>2.2418313965703162E-2</c:v>
                </c:pt>
                <c:pt idx="45">
                  <c:v>1.6774807587073417E-2</c:v>
                </c:pt>
                <c:pt idx="46">
                  <c:v>1.2303431565987106E-2</c:v>
                </c:pt>
                <c:pt idx="47">
                  <c:v>8.845228955443667E-3</c:v>
                </c:pt>
                <c:pt idx="48">
                  <c:v>6.2331274957362452E-3</c:v>
                </c:pt>
                <c:pt idx="49">
                  <c:v>4.3054351485446677E-3</c:v>
                </c:pt>
                <c:pt idx="50">
                  <c:v>2.9150244650281935E-3</c:v>
                </c:pt>
                <c:pt idx="51">
                  <c:v>1.934556715369451E-3</c:v>
                </c:pt>
                <c:pt idx="52">
                  <c:v>1.2584467376058936E-3</c:v>
                </c:pt>
                <c:pt idx="53">
                  <c:v>8.0242106721409789E-4</c:v>
                </c:pt>
                <c:pt idx="54">
                  <c:v>5.015149871266364E-4</c:v>
                </c:pt>
                <c:pt idx="55">
                  <c:v>3.0724131819281919E-4</c:v>
                </c:pt>
                <c:pt idx="56">
                  <c:v>1.844970532032499E-4</c:v>
                </c:pt>
                <c:pt idx="57">
                  <c:v>1.0859588240644479E-4</c:v>
                </c:pt>
                <c:pt idx="58">
                  <c:v>6.2654373762496512E-5</c:v>
                </c:pt>
                <c:pt idx="59">
                  <c:v>3.5432642208480502E-5</c:v>
                </c:pt>
                <c:pt idx="60">
                  <c:v>1.9641280346396251E-5</c:v>
                </c:pt>
              </c:numCache>
            </c:numRef>
          </c:val>
          <c:smooth val="0"/>
          <c:extLst>
            <c:ext xmlns:c16="http://schemas.microsoft.com/office/drawing/2014/chart" uri="{C3380CC4-5D6E-409C-BE32-E72D297353CC}">
              <c16:uniqueId val="{00000000-EA37-4EC1-9960-06884B41B3D7}"/>
            </c:ext>
          </c:extLst>
        </c:ser>
        <c:ser>
          <c:idx val="1"/>
          <c:order val="1"/>
          <c:tx>
            <c:strRef>
              <c:f>Sheet1!$C$1</c:f>
              <c:strCache>
                <c:ptCount val="1"/>
                <c:pt idx="0">
                  <c:v>3.16227766</c:v>
                </c:pt>
              </c:strCache>
            </c:strRef>
          </c:tx>
          <c:marker>
            <c:symbol val="none"/>
          </c:marker>
          <c:cat>
            <c:numRef>
              <c:f>Sheet1!$A$2:$A$62</c:f>
              <c:numCache>
                <c:formatCode>General</c:formatCode>
                <c:ptCount val="61"/>
                <c:pt idx="0">
                  <c:v>-3</c:v>
                </c:pt>
                <c:pt idx="1">
                  <c:v>-2.9</c:v>
                </c:pt>
                <c:pt idx="2">
                  <c:v>-2.8</c:v>
                </c:pt>
                <c:pt idx="3">
                  <c:v>-2.7</c:v>
                </c:pt>
                <c:pt idx="4">
                  <c:v>-2.6</c:v>
                </c:pt>
                <c:pt idx="5">
                  <c:v>-2.5</c:v>
                </c:pt>
                <c:pt idx="6">
                  <c:v>-2.4</c:v>
                </c:pt>
                <c:pt idx="7">
                  <c:v>-2.2999999999999998</c:v>
                </c:pt>
                <c:pt idx="8">
                  <c:v>-2.2000000000000002</c:v>
                </c:pt>
                <c:pt idx="9">
                  <c:v>-2.1</c:v>
                </c:pt>
                <c:pt idx="10">
                  <c:v>-2</c:v>
                </c:pt>
                <c:pt idx="11">
                  <c:v>-1.9</c:v>
                </c:pt>
                <c:pt idx="12">
                  <c:v>-1.8</c:v>
                </c:pt>
                <c:pt idx="13">
                  <c:v>-1.7</c:v>
                </c:pt>
                <c:pt idx="14">
                  <c:v>-1.6</c:v>
                </c:pt>
                <c:pt idx="15">
                  <c:v>-1.5</c:v>
                </c:pt>
                <c:pt idx="16">
                  <c:v>-1.4</c:v>
                </c:pt>
                <c:pt idx="17">
                  <c:v>-1.3</c:v>
                </c:pt>
                <c:pt idx="18">
                  <c:v>-1.2</c:v>
                </c:pt>
                <c:pt idx="19">
                  <c:v>-1.1000000000000001</c:v>
                </c:pt>
                <c:pt idx="20">
                  <c:v>-1</c:v>
                </c:pt>
                <c:pt idx="21">
                  <c:v>-0.9</c:v>
                </c:pt>
                <c:pt idx="22">
                  <c:v>-0.8</c:v>
                </c:pt>
                <c:pt idx="23">
                  <c:v>-0.7</c:v>
                </c:pt>
                <c:pt idx="24">
                  <c:v>-0.6</c:v>
                </c:pt>
                <c:pt idx="25">
                  <c:v>-0.5</c:v>
                </c:pt>
                <c:pt idx="26">
                  <c:v>-0.4</c:v>
                </c:pt>
                <c:pt idx="27">
                  <c:v>-0.3</c:v>
                </c:pt>
                <c:pt idx="28">
                  <c:v>-0.2</c:v>
                </c:pt>
                <c:pt idx="29">
                  <c:v>-0.1</c:v>
                </c:pt>
                <c:pt idx="30">
                  <c:v>0</c:v>
                </c:pt>
                <c:pt idx="31">
                  <c:v>0.1</c:v>
                </c:pt>
                <c:pt idx="32">
                  <c:v>0.2</c:v>
                </c:pt>
                <c:pt idx="33">
                  <c:v>0.3</c:v>
                </c:pt>
                <c:pt idx="34">
                  <c:v>0.4</c:v>
                </c:pt>
                <c:pt idx="35">
                  <c:v>0.5</c:v>
                </c:pt>
                <c:pt idx="36">
                  <c:v>0.6</c:v>
                </c:pt>
                <c:pt idx="37">
                  <c:v>0.7</c:v>
                </c:pt>
                <c:pt idx="38">
                  <c:v>0.8</c:v>
                </c:pt>
                <c:pt idx="39">
                  <c:v>0.9</c:v>
                </c:pt>
                <c:pt idx="40">
                  <c:v>1</c:v>
                </c:pt>
                <c:pt idx="41">
                  <c:v>1.1000000000000001</c:v>
                </c:pt>
                <c:pt idx="42">
                  <c:v>1.2</c:v>
                </c:pt>
                <c:pt idx="43">
                  <c:v>1.3</c:v>
                </c:pt>
                <c:pt idx="44">
                  <c:v>1.4</c:v>
                </c:pt>
                <c:pt idx="45">
                  <c:v>1.5</c:v>
                </c:pt>
                <c:pt idx="46">
                  <c:v>1.6</c:v>
                </c:pt>
                <c:pt idx="47">
                  <c:v>1.7</c:v>
                </c:pt>
                <c:pt idx="48">
                  <c:v>1.8</c:v>
                </c:pt>
                <c:pt idx="49">
                  <c:v>1.9</c:v>
                </c:pt>
                <c:pt idx="50">
                  <c:v>2</c:v>
                </c:pt>
                <c:pt idx="51">
                  <c:v>2.1</c:v>
                </c:pt>
                <c:pt idx="52">
                  <c:v>2.2000000000000002</c:v>
                </c:pt>
                <c:pt idx="53">
                  <c:v>2.2999999999999998</c:v>
                </c:pt>
                <c:pt idx="54">
                  <c:v>2.4</c:v>
                </c:pt>
                <c:pt idx="55">
                  <c:v>2.5000000000000102</c:v>
                </c:pt>
                <c:pt idx="56">
                  <c:v>2.6</c:v>
                </c:pt>
                <c:pt idx="57">
                  <c:v>2.7</c:v>
                </c:pt>
                <c:pt idx="58">
                  <c:v>2.80000000000001</c:v>
                </c:pt>
                <c:pt idx="59">
                  <c:v>2.9000000000000101</c:v>
                </c:pt>
                <c:pt idx="60">
                  <c:v>3.0000000000000102</c:v>
                </c:pt>
              </c:numCache>
            </c:numRef>
          </c:cat>
          <c:val>
            <c:numRef>
              <c:f>Sheet1!$C$2:$C$62</c:f>
              <c:numCache>
                <c:formatCode>General</c:formatCode>
                <c:ptCount val="61"/>
                <c:pt idx="0">
                  <c:v>2.1957479692438417E-13</c:v>
                </c:pt>
                <c:pt idx="1">
                  <c:v>1.4186156125976263E-12</c:v>
                </c:pt>
                <c:pt idx="2">
                  <c:v>8.6035915791690236E-12</c:v>
                </c:pt>
                <c:pt idx="3">
                  <c:v>4.8980999351042892E-11</c:v>
                </c:pt>
                <c:pt idx="4">
                  <c:v>2.6176302621139729E-10</c:v>
                </c:pt>
                <c:pt idx="5">
                  <c:v>1.3131724694912204E-9</c:v>
                </c:pt>
                <c:pt idx="6">
                  <c:v>6.1839794944819354E-9</c:v>
                </c:pt>
                <c:pt idx="7">
                  <c:v>2.7336764892971163E-8</c:v>
                </c:pt>
                <c:pt idx="8">
                  <c:v>1.1343811461984197E-7</c:v>
                </c:pt>
                <c:pt idx="9">
                  <c:v>4.4187933027691353E-7</c:v>
                </c:pt>
                <c:pt idx="10">
                  <c:v>1.6157760991585231E-6</c:v>
                </c:pt>
                <c:pt idx="11">
                  <c:v>5.5461482920681163E-6</c:v>
                </c:pt>
                <c:pt idx="12">
                  <c:v>1.7870412630700963E-5</c:v>
                </c:pt>
                <c:pt idx="13">
                  <c:v>5.4051840785899258E-5</c:v>
                </c:pt>
                <c:pt idx="14">
                  <c:v>1.5346848375637971E-4</c:v>
                </c:pt>
                <c:pt idx="15">
                  <c:v>4.0903523562266345E-4</c:v>
                </c:pt>
                <c:pt idx="16">
                  <c:v>1.0233755697151635E-3</c:v>
                </c:pt>
                <c:pt idx="17">
                  <c:v>2.40348919692796E-3</c:v>
                </c:pt>
                <c:pt idx="18">
                  <c:v>5.2988558962158445E-3</c:v>
                </c:pt>
                <c:pt idx="19">
                  <c:v>1.0966166831794077E-2</c:v>
                </c:pt>
                <c:pt idx="20">
                  <c:v>2.1303962728789781E-2</c:v>
                </c:pt>
                <c:pt idx="21">
                  <c:v>3.8850690666012294E-2</c:v>
                </c:pt>
                <c:pt idx="22">
                  <c:v>6.6507389155984586E-2</c:v>
                </c:pt>
                <c:pt idx="23">
                  <c:v>0.10687444193864395</c:v>
                </c:pt>
                <c:pt idx="24">
                  <c:v>0.1612169222688204</c:v>
                </c:pt>
                <c:pt idx="25">
                  <c:v>0.22828648286694625</c:v>
                </c:pt>
                <c:pt idx="26">
                  <c:v>0.30344680806711366</c:v>
                </c:pt>
                <c:pt idx="27">
                  <c:v>0.37863238336140181</c:v>
                </c:pt>
                <c:pt idx="28">
                  <c:v>0.44349195093252719</c:v>
                </c:pt>
                <c:pt idx="29">
                  <c:v>0.48762564102724698</c:v>
                </c:pt>
                <c:pt idx="30">
                  <c:v>0.50329212101807197</c:v>
                </c:pt>
                <c:pt idx="31">
                  <c:v>0.48762564102724698</c:v>
                </c:pt>
                <c:pt idx="32">
                  <c:v>0.44349195093252719</c:v>
                </c:pt>
                <c:pt idx="33">
                  <c:v>0.37863238336140181</c:v>
                </c:pt>
                <c:pt idx="34">
                  <c:v>0.30344680806711366</c:v>
                </c:pt>
                <c:pt idx="35">
                  <c:v>0.22828648286694625</c:v>
                </c:pt>
                <c:pt idx="36">
                  <c:v>0.1612169222688204</c:v>
                </c:pt>
                <c:pt idx="37">
                  <c:v>0.10687444193864395</c:v>
                </c:pt>
                <c:pt idx="38">
                  <c:v>6.6507389155984586E-2</c:v>
                </c:pt>
                <c:pt idx="39">
                  <c:v>3.8850690666012294E-2</c:v>
                </c:pt>
                <c:pt idx="40">
                  <c:v>2.1303962728789781E-2</c:v>
                </c:pt>
                <c:pt idx="41">
                  <c:v>1.0966166831794077E-2</c:v>
                </c:pt>
                <c:pt idx="42">
                  <c:v>5.2988558962158445E-3</c:v>
                </c:pt>
                <c:pt idx="43">
                  <c:v>2.40348919692796E-3</c:v>
                </c:pt>
                <c:pt idx="44">
                  <c:v>1.0233755697151635E-3</c:v>
                </c:pt>
                <c:pt idx="45">
                  <c:v>4.0903523562266345E-4</c:v>
                </c:pt>
                <c:pt idx="46">
                  <c:v>1.5346848375637971E-4</c:v>
                </c:pt>
                <c:pt idx="47">
                  <c:v>5.4051840785899258E-5</c:v>
                </c:pt>
                <c:pt idx="48">
                  <c:v>1.7870412630700963E-5</c:v>
                </c:pt>
                <c:pt idx="49">
                  <c:v>5.5461482920681163E-6</c:v>
                </c:pt>
                <c:pt idx="50">
                  <c:v>1.6157760991585231E-6</c:v>
                </c:pt>
                <c:pt idx="51">
                  <c:v>4.4187933027691353E-7</c:v>
                </c:pt>
                <c:pt idx="52">
                  <c:v>1.1343811461984197E-7</c:v>
                </c:pt>
                <c:pt idx="53">
                  <c:v>2.7336764892971163E-8</c:v>
                </c:pt>
                <c:pt idx="54">
                  <c:v>6.1839794944819354E-9</c:v>
                </c:pt>
                <c:pt idx="55">
                  <c:v>1.3131724694910057E-9</c:v>
                </c:pt>
                <c:pt idx="56">
                  <c:v>2.6176302621139729E-10</c:v>
                </c:pt>
                <c:pt idx="57">
                  <c:v>4.8980999351042892E-11</c:v>
                </c:pt>
                <c:pt idx="58">
                  <c:v>8.6035915791674953E-12</c:v>
                </c:pt>
                <c:pt idx="59">
                  <c:v>1.4186156125973641E-12</c:v>
                </c:pt>
                <c:pt idx="60">
                  <c:v>2.1957479692434206E-13</c:v>
                </c:pt>
              </c:numCache>
            </c:numRef>
          </c:val>
          <c:smooth val="0"/>
          <c:extLst>
            <c:ext xmlns:c16="http://schemas.microsoft.com/office/drawing/2014/chart" uri="{C3380CC4-5D6E-409C-BE32-E72D297353CC}">
              <c16:uniqueId val="{00000001-EA37-4EC1-9960-06884B41B3D7}"/>
            </c:ext>
          </c:extLst>
        </c:ser>
        <c:ser>
          <c:idx val="2"/>
          <c:order val="2"/>
          <c:tx>
            <c:strRef>
              <c:f>Sheet1!$D$1</c:f>
              <c:strCache>
                <c:ptCount val="1"/>
                <c:pt idx="0">
                  <c:v>7.071067812</c:v>
                </c:pt>
              </c:strCache>
            </c:strRef>
          </c:tx>
          <c:spPr>
            <a:ln>
              <a:noFill/>
            </a:ln>
          </c:spPr>
          <c:marker>
            <c:symbol val="none"/>
          </c:marker>
          <c:cat>
            <c:numRef>
              <c:f>Sheet1!$A$2:$A$62</c:f>
              <c:numCache>
                <c:formatCode>General</c:formatCode>
                <c:ptCount val="61"/>
                <c:pt idx="0">
                  <c:v>-3</c:v>
                </c:pt>
                <c:pt idx="1">
                  <c:v>-2.9</c:v>
                </c:pt>
                <c:pt idx="2">
                  <c:v>-2.8</c:v>
                </c:pt>
                <c:pt idx="3">
                  <c:v>-2.7</c:v>
                </c:pt>
                <c:pt idx="4">
                  <c:v>-2.6</c:v>
                </c:pt>
                <c:pt idx="5">
                  <c:v>-2.5</c:v>
                </c:pt>
                <c:pt idx="6">
                  <c:v>-2.4</c:v>
                </c:pt>
                <c:pt idx="7">
                  <c:v>-2.2999999999999998</c:v>
                </c:pt>
                <c:pt idx="8">
                  <c:v>-2.2000000000000002</c:v>
                </c:pt>
                <c:pt idx="9">
                  <c:v>-2.1</c:v>
                </c:pt>
                <c:pt idx="10">
                  <c:v>-2</c:v>
                </c:pt>
                <c:pt idx="11">
                  <c:v>-1.9</c:v>
                </c:pt>
                <c:pt idx="12">
                  <c:v>-1.8</c:v>
                </c:pt>
                <c:pt idx="13">
                  <c:v>-1.7</c:v>
                </c:pt>
                <c:pt idx="14">
                  <c:v>-1.6</c:v>
                </c:pt>
                <c:pt idx="15">
                  <c:v>-1.5</c:v>
                </c:pt>
                <c:pt idx="16">
                  <c:v>-1.4</c:v>
                </c:pt>
                <c:pt idx="17">
                  <c:v>-1.3</c:v>
                </c:pt>
                <c:pt idx="18">
                  <c:v>-1.2</c:v>
                </c:pt>
                <c:pt idx="19">
                  <c:v>-1.1000000000000001</c:v>
                </c:pt>
                <c:pt idx="20">
                  <c:v>-1</c:v>
                </c:pt>
                <c:pt idx="21">
                  <c:v>-0.9</c:v>
                </c:pt>
                <c:pt idx="22">
                  <c:v>-0.8</c:v>
                </c:pt>
                <c:pt idx="23">
                  <c:v>-0.7</c:v>
                </c:pt>
                <c:pt idx="24">
                  <c:v>-0.6</c:v>
                </c:pt>
                <c:pt idx="25">
                  <c:v>-0.5</c:v>
                </c:pt>
                <c:pt idx="26">
                  <c:v>-0.4</c:v>
                </c:pt>
                <c:pt idx="27">
                  <c:v>-0.3</c:v>
                </c:pt>
                <c:pt idx="28">
                  <c:v>-0.2</c:v>
                </c:pt>
                <c:pt idx="29">
                  <c:v>-0.1</c:v>
                </c:pt>
                <c:pt idx="30">
                  <c:v>0</c:v>
                </c:pt>
                <c:pt idx="31">
                  <c:v>0.1</c:v>
                </c:pt>
                <c:pt idx="32">
                  <c:v>0.2</c:v>
                </c:pt>
                <c:pt idx="33">
                  <c:v>0.3</c:v>
                </c:pt>
                <c:pt idx="34">
                  <c:v>0.4</c:v>
                </c:pt>
                <c:pt idx="35">
                  <c:v>0.5</c:v>
                </c:pt>
                <c:pt idx="36">
                  <c:v>0.6</c:v>
                </c:pt>
                <c:pt idx="37">
                  <c:v>0.7</c:v>
                </c:pt>
                <c:pt idx="38">
                  <c:v>0.8</c:v>
                </c:pt>
                <c:pt idx="39">
                  <c:v>0.9</c:v>
                </c:pt>
                <c:pt idx="40">
                  <c:v>1</c:v>
                </c:pt>
                <c:pt idx="41">
                  <c:v>1.1000000000000001</c:v>
                </c:pt>
                <c:pt idx="42">
                  <c:v>1.2</c:v>
                </c:pt>
                <c:pt idx="43">
                  <c:v>1.3</c:v>
                </c:pt>
                <c:pt idx="44">
                  <c:v>1.4</c:v>
                </c:pt>
                <c:pt idx="45">
                  <c:v>1.5</c:v>
                </c:pt>
                <c:pt idx="46">
                  <c:v>1.6</c:v>
                </c:pt>
                <c:pt idx="47">
                  <c:v>1.7</c:v>
                </c:pt>
                <c:pt idx="48">
                  <c:v>1.8</c:v>
                </c:pt>
                <c:pt idx="49">
                  <c:v>1.9</c:v>
                </c:pt>
                <c:pt idx="50">
                  <c:v>2</c:v>
                </c:pt>
                <c:pt idx="51">
                  <c:v>2.1</c:v>
                </c:pt>
                <c:pt idx="52">
                  <c:v>2.2000000000000002</c:v>
                </c:pt>
                <c:pt idx="53">
                  <c:v>2.2999999999999998</c:v>
                </c:pt>
                <c:pt idx="54">
                  <c:v>2.4</c:v>
                </c:pt>
                <c:pt idx="55">
                  <c:v>2.5000000000000102</c:v>
                </c:pt>
                <c:pt idx="56">
                  <c:v>2.6</c:v>
                </c:pt>
                <c:pt idx="57">
                  <c:v>2.7</c:v>
                </c:pt>
                <c:pt idx="58">
                  <c:v>2.80000000000001</c:v>
                </c:pt>
                <c:pt idx="59">
                  <c:v>2.9000000000000101</c:v>
                </c:pt>
                <c:pt idx="60">
                  <c:v>3.0000000000000102</c:v>
                </c:pt>
              </c:numCache>
            </c:numRef>
          </c:cat>
          <c:val>
            <c:numRef>
              <c:f>Sheet1!$D$2:$D$62</c:f>
              <c:numCache>
                <c:formatCode>General</c:formatCode>
                <c:ptCount val="61"/>
                <c:pt idx="0">
                  <c:v>2.5880552686716993E-28</c:v>
                </c:pt>
                <c:pt idx="1">
                  <c:v>1.6781073068391347E-26</c:v>
                </c:pt>
                <c:pt idx="2">
                  <c:v>9.4459881322512352E-25</c:v>
                </c:pt>
                <c:pt idx="3">
                  <c:v>4.6159016640960584E-23</c:v>
                </c:pt>
                <c:pt idx="4">
                  <c:v>1.9581555418077432E-21</c:v>
                </c:pt>
                <c:pt idx="5">
                  <c:v>7.2113954135510934E-20</c:v>
                </c:pt>
                <c:pt idx="6">
                  <c:v>2.3055413620368978E-18</c:v>
                </c:pt>
                <c:pt idx="7">
                  <c:v>6.3989396166666672E-17</c:v>
                </c:pt>
                <c:pt idx="8">
                  <c:v>1.5417877521612201E-15</c:v>
                </c:pt>
                <c:pt idx="9">
                  <c:v>3.2249475524857863E-14</c:v>
                </c:pt>
                <c:pt idx="10">
                  <c:v>5.8560153461795485E-13</c:v>
                </c:pt>
                <c:pt idx="11">
                  <c:v>9.2313080059855102E-12</c:v>
                </c:pt>
                <c:pt idx="12">
                  <c:v>1.2632978656947972E-10</c:v>
                </c:pt>
                <c:pt idx="13">
                  <c:v>1.5008240089704121E-9</c:v>
                </c:pt>
                <c:pt idx="14">
                  <c:v>1.5478727695183599E-8</c:v>
                </c:pt>
                <c:pt idx="15">
                  <c:v>1.3858691809610366E-7</c:v>
                </c:pt>
                <c:pt idx="16">
                  <c:v>1.0771859973664762E-6</c:v>
                </c:pt>
                <c:pt idx="17">
                  <c:v>7.2684305797877243E-6</c:v>
                </c:pt>
                <c:pt idx="18">
                  <c:v>4.2576708077666142E-5</c:v>
                </c:pt>
                <c:pt idx="19">
                  <c:v>2.1651350879289832E-4</c:v>
                </c:pt>
                <c:pt idx="20">
                  <c:v>9.558272370024781E-4</c:v>
                </c:pt>
                <c:pt idx="21">
                  <c:v>3.6631549620575994E-3</c:v>
                </c:pt>
                <c:pt idx="22">
                  <c:v>1.2187444904116725E-2</c:v>
                </c:pt>
                <c:pt idx="23">
                  <c:v>3.5200718257056646E-2</c:v>
                </c:pt>
                <c:pt idx="24">
                  <c:v>8.8261615097269944E-2</c:v>
                </c:pt>
                <c:pt idx="25">
                  <c:v>0.19212049672868228</c:v>
                </c:pt>
                <c:pt idx="26">
                  <c:v>0.36304212174060607</c:v>
                </c:pt>
                <c:pt idx="27">
                  <c:v>0.59555492158537293</c:v>
                </c:pt>
                <c:pt idx="28">
                  <c:v>0.84814109098093893</c:v>
                </c:pt>
                <c:pt idx="29">
                  <c:v>1.0485662534989972</c:v>
                </c:pt>
                <c:pt idx="30">
                  <c:v>1.1253953952177929</c:v>
                </c:pt>
                <c:pt idx="31">
                  <c:v>1.0485662534989972</c:v>
                </c:pt>
                <c:pt idx="32">
                  <c:v>0.84814109098093893</c:v>
                </c:pt>
                <c:pt idx="33">
                  <c:v>0.59555492158537293</c:v>
                </c:pt>
                <c:pt idx="34">
                  <c:v>0.36304212174060607</c:v>
                </c:pt>
                <c:pt idx="35">
                  <c:v>0.19212049672868228</c:v>
                </c:pt>
                <c:pt idx="36">
                  <c:v>8.8261615097269944E-2</c:v>
                </c:pt>
                <c:pt idx="37">
                  <c:v>3.5200718257056646E-2</c:v>
                </c:pt>
                <c:pt idx="38">
                  <c:v>1.2187444904116725E-2</c:v>
                </c:pt>
                <c:pt idx="39">
                  <c:v>3.6631549620575994E-3</c:v>
                </c:pt>
                <c:pt idx="40">
                  <c:v>9.558272370024781E-4</c:v>
                </c:pt>
                <c:pt idx="41">
                  <c:v>2.1651350879289832E-4</c:v>
                </c:pt>
                <c:pt idx="42">
                  <c:v>4.2576708077666142E-5</c:v>
                </c:pt>
                <c:pt idx="43">
                  <c:v>7.2684305797877243E-6</c:v>
                </c:pt>
                <c:pt idx="44">
                  <c:v>1.0771859973664762E-6</c:v>
                </c:pt>
                <c:pt idx="45">
                  <c:v>1.3858691809610366E-7</c:v>
                </c:pt>
                <c:pt idx="46">
                  <c:v>1.5478727695183599E-8</c:v>
                </c:pt>
                <c:pt idx="47">
                  <c:v>1.5008240089704121E-9</c:v>
                </c:pt>
                <c:pt idx="48">
                  <c:v>1.2632978656947972E-10</c:v>
                </c:pt>
                <c:pt idx="49">
                  <c:v>9.2313080059855102E-12</c:v>
                </c:pt>
                <c:pt idx="50">
                  <c:v>5.8560153461795485E-13</c:v>
                </c:pt>
                <c:pt idx="51">
                  <c:v>3.2249475524857863E-14</c:v>
                </c:pt>
                <c:pt idx="52">
                  <c:v>1.5417877521612201E-15</c:v>
                </c:pt>
                <c:pt idx="53">
                  <c:v>6.3989396166666672E-17</c:v>
                </c:pt>
                <c:pt idx="54">
                  <c:v>2.3055413620368978E-18</c:v>
                </c:pt>
                <c:pt idx="55">
                  <c:v>7.2113954135484801E-20</c:v>
                </c:pt>
                <c:pt idx="56">
                  <c:v>1.9581555418077432E-21</c:v>
                </c:pt>
                <c:pt idx="57">
                  <c:v>4.6159016640960584E-23</c:v>
                </c:pt>
                <c:pt idx="58">
                  <c:v>9.4459881322474093E-25</c:v>
                </c:pt>
                <c:pt idx="59">
                  <c:v>1.678107306838443E-26</c:v>
                </c:pt>
                <c:pt idx="60">
                  <c:v>2.5880552686705962E-28</c:v>
                </c:pt>
              </c:numCache>
            </c:numRef>
          </c:val>
          <c:smooth val="0"/>
          <c:extLst>
            <c:ext xmlns:c16="http://schemas.microsoft.com/office/drawing/2014/chart" uri="{C3380CC4-5D6E-409C-BE32-E72D297353CC}">
              <c16:uniqueId val="{00000002-EA37-4EC1-9960-06884B41B3D7}"/>
            </c:ext>
          </c:extLst>
        </c:ser>
        <c:dLbls>
          <c:showLegendKey val="0"/>
          <c:showVal val="0"/>
          <c:showCatName val="0"/>
          <c:showSerName val="0"/>
          <c:showPercent val="0"/>
          <c:showBubbleSize val="0"/>
        </c:dLbls>
        <c:smooth val="0"/>
        <c:axId val="136433024"/>
        <c:axId val="136438912"/>
      </c:lineChart>
      <c:catAx>
        <c:axId val="136433024"/>
        <c:scaling>
          <c:orientation val="minMax"/>
        </c:scaling>
        <c:delete val="1"/>
        <c:axPos val="b"/>
        <c:numFmt formatCode="General" sourceLinked="1"/>
        <c:majorTickMark val="out"/>
        <c:minorTickMark val="none"/>
        <c:tickLblPos val="nextTo"/>
        <c:crossAx val="136438912"/>
        <c:crosses val="autoZero"/>
        <c:auto val="1"/>
        <c:lblAlgn val="ctr"/>
        <c:lblOffset val="100"/>
        <c:noMultiLvlLbl val="0"/>
      </c:catAx>
      <c:valAx>
        <c:axId val="136438912"/>
        <c:scaling>
          <c:orientation val="minMax"/>
        </c:scaling>
        <c:delete val="1"/>
        <c:axPos val="l"/>
        <c:numFmt formatCode="General" sourceLinked="1"/>
        <c:majorTickMark val="out"/>
        <c:minorTickMark val="none"/>
        <c:tickLblPos val="nextTo"/>
        <c:crossAx val="136433024"/>
        <c:crosses val="autoZero"/>
        <c:crossBetween val="between"/>
      </c:valAx>
      <c:spPr>
        <a:noFill/>
        <a:ln w="25400">
          <a:noFill/>
        </a:ln>
      </c:spPr>
    </c:plotArea>
    <c:plotVisOnly val="1"/>
    <c:dispBlanksAs val="gap"/>
    <c:showDLblsOverMax val="0"/>
  </c:chart>
  <c:txPr>
    <a:bodyPr/>
    <a:lstStyle/>
    <a:p>
      <a:pPr>
        <a:defRPr sz="1800"/>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
          <c:y val="7.4362304645914062E-2"/>
          <c:w val="1"/>
          <c:h val="0.91211727632755613"/>
        </c:manualLayout>
      </c:layout>
      <c:lineChart>
        <c:grouping val="standard"/>
        <c:varyColors val="0"/>
        <c:ser>
          <c:idx val="0"/>
          <c:order val="0"/>
          <c:tx>
            <c:strRef>
              <c:f>Sheet1!$B$1</c:f>
              <c:strCache>
                <c:ptCount val="1"/>
                <c:pt idx="0">
                  <c:v>SQRT_N</c:v>
                </c:pt>
              </c:strCache>
            </c:strRef>
          </c:tx>
          <c:spPr>
            <a:ln>
              <a:noFill/>
            </a:ln>
          </c:spPr>
          <c:marker>
            <c:symbol val="none"/>
          </c:marker>
          <c:cat>
            <c:numRef>
              <c:f>Sheet1!$A$2:$A$62</c:f>
              <c:numCache>
                <c:formatCode>General</c:formatCode>
                <c:ptCount val="61"/>
                <c:pt idx="0">
                  <c:v>-3</c:v>
                </c:pt>
                <c:pt idx="1">
                  <c:v>-2.9</c:v>
                </c:pt>
                <c:pt idx="2">
                  <c:v>-2.8</c:v>
                </c:pt>
                <c:pt idx="3">
                  <c:v>-2.7</c:v>
                </c:pt>
                <c:pt idx="4">
                  <c:v>-2.6</c:v>
                </c:pt>
                <c:pt idx="5">
                  <c:v>-2.5</c:v>
                </c:pt>
                <c:pt idx="6">
                  <c:v>-2.4</c:v>
                </c:pt>
                <c:pt idx="7">
                  <c:v>-2.2999999999999998</c:v>
                </c:pt>
                <c:pt idx="8">
                  <c:v>-2.2000000000000002</c:v>
                </c:pt>
                <c:pt idx="9">
                  <c:v>-2.1</c:v>
                </c:pt>
                <c:pt idx="10">
                  <c:v>-2</c:v>
                </c:pt>
                <c:pt idx="11">
                  <c:v>-1.9</c:v>
                </c:pt>
                <c:pt idx="12">
                  <c:v>-1.8</c:v>
                </c:pt>
                <c:pt idx="13">
                  <c:v>-1.7</c:v>
                </c:pt>
                <c:pt idx="14">
                  <c:v>-1.6</c:v>
                </c:pt>
                <c:pt idx="15">
                  <c:v>-1.5</c:v>
                </c:pt>
                <c:pt idx="16">
                  <c:v>-1.4</c:v>
                </c:pt>
                <c:pt idx="17">
                  <c:v>-1.3</c:v>
                </c:pt>
                <c:pt idx="18">
                  <c:v>-1.2</c:v>
                </c:pt>
                <c:pt idx="19">
                  <c:v>-1.1000000000000001</c:v>
                </c:pt>
                <c:pt idx="20">
                  <c:v>-1</c:v>
                </c:pt>
                <c:pt idx="21">
                  <c:v>-0.9</c:v>
                </c:pt>
                <c:pt idx="22">
                  <c:v>-0.8</c:v>
                </c:pt>
                <c:pt idx="23">
                  <c:v>-0.7</c:v>
                </c:pt>
                <c:pt idx="24">
                  <c:v>-0.6</c:v>
                </c:pt>
                <c:pt idx="25">
                  <c:v>-0.5</c:v>
                </c:pt>
                <c:pt idx="26">
                  <c:v>-0.4</c:v>
                </c:pt>
                <c:pt idx="27">
                  <c:v>-0.3</c:v>
                </c:pt>
                <c:pt idx="28">
                  <c:v>-0.2</c:v>
                </c:pt>
                <c:pt idx="29">
                  <c:v>-0.1</c:v>
                </c:pt>
                <c:pt idx="30">
                  <c:v>0</c:v>
                </c:pt>
                <c:pt idx="31">
                  <c:v>0.1</c:v>
                </c:pt>
                <c:pt idx="32">
                  <c:v>0.2</c:v>
                </c:pt>
                <c:pt idx="33">
                  <c:v>0.3</c:v>
                </c:pt>
                <c:pt idx="34">
                  <c:v>0.4</c:v>
                </c:pt>
                <c:pt idx="35">
                  <c:v>0.5</c:v>
                </c:pt>
                <c:pt idx="36">
                  <c:v>0.6</c:v>
                </c:pt>
                <c:pt idx="37">
                  <c:v>0.7</c:v>
                </c:pt>
                <c:pt idx="38">
                  <c:v>0.8</c:v>
                </c:pt>
                <c:pt idx="39">
                  <c:v>0.9</c:v>
                </c:pt>
                <c:pt idx="40">
                  <c:v>1</c:v>
                </c:pt>
                <c:pt idx="41">
                  <c:v>1.1000000000000001</c:v>
                </c:pt>
                <c:pt idx="42">
                  <c:v>1.2</c:v>
                </c:pt>
                <c:pt idx="43">
                  <c:v>1.3</c:v>
                </c:pt>
                <c:pt idx="44">
                  <c:v>1.4</c:v>
                </c:pt>
                <c:pt idx="45">
                  <c:v>1.5</c:v>
                </c:pt>
                <c:pt idx="46">
                  <c:v>1.6</c:v>
                </c:pt>
                <c:pt idx="47">
                  <c:v>1.7</c:v>
                </c:pt>
                <c:pt idx="48">
                  <c:v>1.8</c:v>
                </c:pt>
                <c:pt idx="49">
                  <c:v>1.9</c:v>
                </c:pt>
                <c:pt idx="50">
                  <c:v>2</c:v>
                </c:pt>
                <c:pt idx="51">
                  <c:v>2.1</c:v>
                </c:pt>
                <c:pt idx="52">
                  <c:v>2.2000000000000002</c:v>
                </c:pt>
                <c:pt idx="53">
                  <c:v>2.2999999999999998</c:v>
                </c:pt>
                <c:pt idx="54">
                  <c:v>2.4</c:v>
                </c:pt>
                <c:pt idx="55">
                  <c:v>2.5000000000000102</c:v>
                </c:pt>
                <c:pt idx="56">
                  <c:v>2.6</c:v>
                </c:pt>
                <c:pt idx="57">
                  <c:v>2.7</c:v>
                </c:pt>
                <c:pt idx="58">
                  <c:v>2.80000000000001</c:v>
                </c:pt>
                <c:pt idx="59">
                  <c:v>2.9000000000000101</c:v>
                </c:pt>
                <c:pt idx="60">
                  <c:v>3.0000000000000102</c:v>
                </c:pt>
              </c:numCache>
            </c:numRef>
          </c:cat>
          <c:val>
            <c:numRef>
              <c:f>Sheet1!$B$2:$B$62</c:f>
              <c:numCache>
                <c:formatCode>General</c:formatCode>
                <c:ptCount val="61"/>
                <c:pt idx="0">
                  <c:v>1.9641280346397437E-5</c:v>
                </c:pt>
                <c:pt idx="1">
                  <c:v>3.5432642208482576E-5</c:v>
                </c:pt>
                <c:pt idx="2">
                  <c:v>6.2654373762500076E-5</c:v>
                </c:pt>
                <c:pt idx="3">
                  <c:v>1.0859588240644479E-4</c:v>
                </c:pt>
                <c:pt idx="4">
                  <c:v>1.844970532032499E-4</c:v>
                </c:pt>
                <c:pt idx="5">
                  <c:v>3.0724131819283507E-4</c:v>
                </c:pt>
                <c:pt idx="6">
                  <c:v>5.015149871266364E-4</c:v>
                </c:pt>
                <c:pt idx="7">
                  <c:v>8.0242106721409789E-4</c:v>
                </c:pt>
                <c:pt idx="8">
                  <c:v>1.2584467376058936E-3</c:v>
                </c:pt>
                <c:pt idx="9">
                  <c:v>1.934556715369451E-3</c:v>
                </c:pt>
                <c:pt idx="10">
                  <c:v>2.9150244650281935E-3</c:v>
                </c:pt>
                <c:pt idx="11">
                  <c:v>4.3054351485446677E-3</c:v>
                </c:pt>
                <c:pt idx="12">
                  <c:v>6.2331274957362452E-3</c:v>
                </c:pt>
                <c:pt idx="13">
                  <c:v>8.845228955443667E-3</c:v>
                </c:pt>
                <c:pt idx="14">
                  <c:v>1.2303431565987106E-2</c:v>
                </c:pt>
                <c:pt idx="15">
                  <c:v>1.6774807587073417E-2</c:v>
                </c:pt>
                <c:pt idx="16">
                  <c:v>2.2418313965703162E-2</c:v>
                </c:pt>
                <c:pt idx="17">
                  <c:v>2.9367194340447818E-2</c:v>
                </c:pt>
                <c:pt idx="18">
                  <c:v>3.7708223949943401E-2</c:v>
                </c:pt>
                <c:pt idx="19">
                  <c:v>4.7459571037821731E-2</c:v>
                </c:pt>
                <c:pt idx="20">
                  <c:v>5.8549831524319168E-2</c:v>
                </c:pt>
                <c:pt idx="21">
                  <c:v>7.0801360213682801E-2</c:v>
                </c:pt>
                <c:pt idx="22">
                  <c:v>8.3921195741358937E-2</c:v>
                </c:pt>
                <c:pt idx="23">
                  <c:v>9.7502518903013785E-2</c:v>
                </c:pt>
                <c:pt idx="24">
                  <c:v>0.11103863597239756</c:v>
                </c:pt>
                <c:pt idx="25">
                  <c:v>0.12394999430965298</c:v>
                </c:pt>
                <c:pt idx="26">
                  <c:v>0.13562289623902943</c:v>
                </c:pt>
                <c:pt idx="27">
                  <c:v>0.14545666578175079</c:v>
                </c:pt>
                <c:pt idx="28">
                  <c:v>0.15291438851158204</c:v>
                </c:pt>
                <c:pt idx="29">
                  <c:v>0.1575713249484893</c:v>
                </c:pt>
                <c:pt idx="30">
                  <c:v>0.15915494309189535</c:v>
                </c:pt>
                <c:pt idx="31">
                  <c:v>0.1575713249484893</c:v>
                </c:pt>
                <c:pt idx="32">
                  <c:v>0.15291438851158204</c:v>
                </c:pt>
                <c:pt idx="33">
                  <c:v>0.14545666578175079</c:v>
                </c:pt>
                <c:pt idx="34">
                  <c:v>0.13562289623902943</c:v>
                </c:pt>
                <c:pt idx="35">
                  <c:v>0.12394999430965298</c:v>
                </c:pt>
                <c:pt idx="36">
                  <c:v>0.11103863597239756</c:v>
                </c:pt>
                <c:pt idx="37">
                  <c:v>9.7502518903013785E-2</c:v>
                </c:pt>
                <c:pt idx="38">
                  <c:v>8.3921195741358937E-2</c:v>
                </c:pt>
                <c:pt idx="39">
                  <c:v>7.0801360213682801E-2</c:v>
                </c:pt>
                <c:pt idx="40">
                  <c:v>5.8549831524319168E-2</c:v>
                </c:pt>
                <c:pt idx="41">
                  <c:v>4.7459571037821731E-2</c:v>
                </c:pt>
                <c:pt idx="42">
                  <c:v>3.7708223949943401E-2</c:v>
                </c:pt>
                <c:pt idx="43">
                  <c:v>2.9367194340447818E-2</c:v>
                </c:pt>
                <c:pt idx="44">
                  <c:v>2.2418313965703162E-2</c:v>
                </c:pt>
                <c:pt idx="45">
                  <c:v>1.6774807587073417E-2</c:v>
                </c:pt>
                <c:pt idx="46">
                  <c:v>1.2303431565987106E-2</c:v>
                </c:pt>
                <c:pt idx="47">
                  <c:v>8.845228955443667E-3</c:v>
                </c:pt>
                <c:pt idx="48">
                  <c:v>6.2331274957362452E-3</c:v>
                </c:pt>
                <c:pt idx="49">
                  <c:v>4.3054351485446677E-3</c:v>
                </c:pt>
                <c:pt idx="50">
                  <c:v>2.9150244650281935E-3</c:v>
                </c:pt>
                <c:pt idx="51">
                  <c:v>1.934556715369451E-3</c:v>
                </c:pt>
                <c:pt idx="52">
                  <c:v>1.2584467376058936E-3</c:v>
                </c:pt>
                <c:pt idx="53">
                  <c:v>8.0242106721409789E-4</c:v>
                </c:pt>
                <c:pt idx="54">
                  <c:v>5.015149871266364E-4</c:v>
                </c:pt>
                <c:pt idx="55">
                  <c:v>3.0724131819281919E-4</c:v>
                </c:pt>
                <c:pt idx="56">
                  <c:v>1.844970532032499E-4</c:v>
                </c:pt>
                <c:pt idx="57">
                  <c:v>1.0859588240644479E-4</c:v>
                </c:pt>
                <c:pt idx="58">
                  <c:v>6.2654373762496512E-5</c:v>
                </c:pt>
                <c:pt idx="59">
                  <c:v>3.5432642208480502E-5</c:v>
                </c:pt>
                <c:pt idx="60">
                  <c:v>1.9641280346396251E-5</c:v>
                </c:pt>
              </c:numCache>
            </c:numRef>
          </c:val>
          <c:smooth val="0"/>
          <c:extLst>
            <c:ext xmlns:c16="http://schemas.microsoft.com/office/drawing/2014/chart" uri="{C3380CC4-5D6E-409C-BE32-E72D297353CC}">
              <c16:uniqueId val="{00000000-978B-449D-B535-C80BFFB9DC40}"/>
            </c:ext>
          </c:extLst>
        </c:ser>
        <c:ser>
          <c:idx val="1"/>
          <c:order val="1"/>
          <c:tx>
            <c:strRef>
              <c:f>Sheet1!$C$1</c:f>
              <c:strCache>
                <c:ptCount val="1"/>
                <c:pt idx="0">
                  <c:v>3.16227766</c:v>
                </c:pt>
              </c:strCache>
            </c:strRef>
          </c:tx>
          <c:marker>
            <c:symbol val="none"/>
          </c:marker>
          <c:cat>
            <c:numRef>
              <c:f>Sheet1!$A$2:$A$62</c:f>
              <c:numCache>
                <c:formatCode>General</c:formatCode>
                <c:ptCount val="61"/>
                <c:pt idx="0">
                  <c:v>-3</c:v>
                </c:pt>
                <c:pt idx="1">
                  <c:v>-2.9</c:v>
                </c:pt>
                <c:pt idx="2">
                  <c:v>-2.8</c:v>
                </c:pt>
                <c:pt idx="3">
                  <c:v>-2.7</c:v>
                </c:pt>
                <c:pt idx="4">
                  <c:v>-2.6</c:v>
                </c:pt>
                <c:pt idx="5">
                  <c:v>-2.5</c:v>
                </c:pt>
                <c:pt idx="6">
                  <c:v>-2.4</c:v>
                </c:pt>
                <c:pt idx="7">
                  <c:v>-2.2999999999999998</c:v>
                </c:pt>
                <c:pt idx="8">
                  <c:v>-2.2000000000000002</c:v>
                </c:pt>
                <c:pt idx="9">
                  <c:v>-2.1</c:v>
                </c:pt>
                <c:pt idx="10">
                  <c:v>-2</c:v>
                </c:pt>
                <c:pt idx="11">
                  <c:v>-1.9</c:v>
                </c:pt>
                <c:pt idx="12">
                  <c:v>-1.8</c:v>
                </c:pt>
                <c:pt idx="13">
                  <c:v>-1.7</c:v>
                </c:pt>
                <c:pt idx="14">
                  <c:v>-1.6</c:v>
                </c:pt>
                <c:pt idx="15">
                  <c:v>-1.5</c:v>
                </c:pt>
                <c:pt idx="16">
                  <c:v>-1.4</c:v>
                </c:pt>
                <c:pt idx="17">
                  <c:v>-1.3</c:v>
                </c:pt>
                <c:pt idx="18">
                  <c:v>-1.2</c:v>
                </c:pt>
                <c:pt idx="19">
                  <c:v>-1.1000000000000001</c:v>
                </c:pt>
                <c:pt idx="20">
                  <c:v>-1</c:v>
                </c:pt>
                <c:pt idx="21">
                  <c:v>-0.9</c:v>
                </c:pt>
                <c:pt idx="22">
                  <c:v>-0.8</c:v>
                </c:pt>
                <c:pt idx="23">
                  <c:v>-0.7</c:v>
                </c:pt>
                <c:pt idx="24">
                  <c:v>-0.6</c:v>
                </c:pt>
                <c:pt idx="25">
                  <c:v>-0.5</c:v>
                </c:pt>
                <c:pt idx="26">
                  <c:v>-0.4</c:v>
                </c:pt>
                <c:pt idx="27">
                  <c:v>-0.3</c:v>
                </c:pt>
                <c:pt idx="28">
                  <c:v>-0.2</c:v>
                </c:pt>
                <c:pt idx="29">
                  <c:v>-0.1</c:v>
                </c:pt>
                <c:pt idx="30">
                  <c:v>0</c:v>
                </c:pt>
                <c:pt idx="31">
                  <c:v>0.1</c:v>
                </c:pt>
                <c:pt idx="32">
                  <c:v>0.2</c:v>
                </c:pt>
                <c:pt idx="33">
                  <c:v>0.3</c:v>
                </c:pt>
                <c:pt idx="34">
                  <c:v>0.4</c:v>
                </c:pt>
                <c:pt idx="35">
                  <c:v>0.5</c:v>
                </c:pt>
                <c:pt idx="36">
                  <c:v>0.6</c:v>
                </c:pt>
                <c:pt idx="37">
                  <c:v>0.7</c:v>
                </c:pt>
                <c:pt idx="38">
                  <c:v>0.8</c:v>
                </c:pt>
                <c:pt idx="39">
                  <c:v>0.9</c:v>
                </c:pt>
                <c:pt idx="40">
                  <c:v>1</c:v>
                </c:pt>
                <c:pt idx="41">
                  <c:v>1.1000000000000001</c:v>
                </c:pt>
                <c:pt idx="42">
                  <c:v>1.2</c:v>
                </c:pt>
                <c:pt idx="43">
                  <c:v>1.3</c:v>
                </c:pt>
                <c:pt idx="44">
                  <c:v>1.4</c:v>
                </c:pt>
                <c:pt idx="45">
                  <c:v>1.5</c:v>
                </c:pt>
                <c:pt idx="46">
                  <c:v>1.6</c:v>
                </c:pt>
                <c:pt idx="47">
                  <c:v>1.7</c:v>
                </c:pt>
                <c:pt idx="48">
                  <c:v>1.8</c:v>
                </c:pt>
                <c:pt idx="49">
                  <c:v>1.9</c:v>
                </c:pt>
                <c:pt idx="50">
                  <c:v>2</c:v>
                </c:pt>
                <c:pt idx="51">
                  <c:v>2.1</c:v>
                </c:pt>
                <c:pt idx="52">
                  <c:v>2.2000000000000002</c:v>
                </c:pt>
                <c:pt idx="53">
                  <c:v>2.2999999999999998</c:v>
                </c:pt>
                <c:pt idx="54">
                  <c:v>2.4</c:v>
                </c:pt>
                <c:pt idx="55">
                  <c:v>2.5000000000000102</c:v>
                </c:pt>
                <c:pt idx="56">
                  <c:v>2.6</c:v>
                </c:pt>
                <c:pt idx="57">
                  <c:v>2.7</c:v>
                </c:pt>
                <c:pt idx="58">
                  <c:v>2.80000000000001</c:v>
                </c:pt>
                <c:pt idx="59">
                  <c:v>2.9000000000000101</c:v>
                </c:pt>
                <c:pt idx="60">
                  <c:v>3.0000000000000102</c:v>
                </c:pt>
              </c:numCache>
            </c:numRef>
          </c:cat>
          <c:val>
            <c:numRef>
              <c:f>Sheet1!$C$2:$C$62</c:f>
              <c:numCache>
                <c:formatCode>General</c:formatCode>
                <c:ptCount val="61"/>
                <c:pt idx="0">
                  <c:v>2.1957479692438417E-13</c:v>
                </c:pt>
                <c:pt idx="1">
                  <c:v>1.4186156125976263E-12</c:v>
                </c:pt>
                <c:pt idx="2">
                  <c:v>8.6035915791690236E-12</c:v>
                </c:pt>
                <c:pt idx="3">
                  <c:v>4.8980999351042892E-11</c:v>
                </c:pt>
                <c:pt idx="4">
                  <c:v>2.6176302621139729E-10</c:v>
                </c:pt>
                <c:pt idx="5">
                  <c:v>1.3131724694912204E-9</c:v>
                </c:pt>
                <c:pt idx="6">
                  <c:v>6.1839794944819354E-9</c:v>
                </c:pt>
                <c:pt idx="7">
                  <c:v>2.7336764892971163E-8</c:v>
                </c:pt>
                <c:pt idx="8">
                  <c:v>1.1343811461984197E-7</c:v>
                </c:pt>
                <c:pt idx="9">
                  <c:v>4.4187933027691353E-7</c:v>
                </c:pt>
                <c:pt idx="10">
                  <c:v>1.6157760991585231E-6</c:v>
                </c:pt>
                <c:pt idx="11">
                  <c:v>5.5461482920681163E-6</c:v>
                </c:pt>
                <c:pt idx="12">
                  <c:v>1.7870412630700963E-5</c:v>
                </c:pt>
                <c:pt idx="13">
                  <c:v>5.4051840785899258E-5</c:v>
                </c:pt>
                <c:pt idx="14">
                  <c:v>1.5346848375637971E-4</c:v>
                </c:pt>
                <c:pt idx="15">
                  <c:v>4.0903523562266345E-4</c:v>
                </c:pt>
                <c:pt idx="16">
                  <c:v>1.0233755697151635E-3</c:v>
                </c:pt>
                <c:pt idx="17">
                  <c:v>2.40348919692796E-3</c:v>
                </c:pt>
                <c:pt idx="18">
                  <c:v>5.2988558962158445E-3</c:v>
                </c:pt>
                <c:pt idx="19">
                  <c:v>1.0966166831794077E-2</c:v>
                </c:pt>
                <c:pt idx="20">
                  <c:v>2.1303962728789781E-2</c:v>
                </c:pt>
                <c:pt idx="21">
                  <c:v>3.8850690666012294E-2</c:v>
                </c:pt>
                <c:pt idx="22">
                  <c:v>6.6507389155984586E-2</c:v>
                </c:pt>
                <c:pt idx="23">
                  <c:v>0.10687444193864395</c:v>
                </c:pt>
                <c:pt idx="24">
                  <c:v>0.1612169222688204</c:v>
                </c:pt>
                <c:pt idx="25">
                  <c:v>0.22828648286694625</c:v>
                </c:pt>
                <c:pt idx="26">
                  <c:v>0.30344680806711366</c:v>
                </c:pt>
                <c:pt idx="27">
                  <c:v>0.37863238336140181</c:v>
                </c:pt>
                <c:pt idx="28">
                  <c:v>0.44349195093252719</c:v>
                </c:pt>
                <c:pt idx="29">
                  <c:v>0.48762564102724698</c:v>
                </c:pt>
                <c:pt idx="30">
                  <c:v>0.50329212101807197</c:v>
                </c:pt>
                <c:pt idx="31">
                  <c:v>0.48762564102724698</c:v>
                </c:pt>
                <c:pt idx="32">
                  <c:v>0.44349195093252719</c:v>
                </c:pt>
                <c:pt idx="33">
                  <c:v>0.37863238336140181</c:v>
                </c:pt>
                <c:pt idx="34">
                  <c:v>0.30344680806711366</c:v>
                </c:pt>
                <c:pt idx="35">
                  <c:v>0.22828648286694625</c:v>
                </c:pt>
                <c:pt idx="36">
                  <c:v>0.1612169222688204</c:v>
                </c:pt>
                <c:pt idx="37">
                  <c:v>0.10687444193864395</c:v>
                </c:pt>
                <c:pt idx="38">
                  <c:v>6.6507389155984586E-2</c:v>
                </c:pt>
                <c:pt idx="39">
                  <c:v>3.8850690666012294E-2</c:v>
                </c:pt>
                <c:pt idx="40">
                  <c:v>2.1303962728789781E-2</c:v>
                </c:pt>
                <c:pt idx="41">
                  <c:v>1.0966166831794077E-2</c:v>
                </c:pt>
                <c:pt idx="42">
                  <c:v>5.2988558962158445E-3</c:v>
                </c:pt>
                <c:pt idx="43">
                  <c:v>2.40348919692796E-3</c:v>
                </c:pt>
                <c:pt idx="44">
                  <c:v>1.0233755697151635E-3</c:v>
                </c:pt>
                <c:pt idx="45">
                  <c:v>4.0903523562266345E-4</c:v>
                </c:pt>
                <c:pt idx="46">
                  <c:v>1.5346848375637971E-4</c:v>
                </c:pt>
                <c:pt idx="47">
                  <c:v>5.4051840785899258E-5</c:v>
                </c:pt>
                <c:pt idx="48">
                  <c:v>1.7870412630700963E-5</c:v>
                </c:pt>
                <c:pt idx="49">
                  <c:v>5.5461482920681163E-6</c:v>
                </c:pt>
                <c:pt idx="50">
                  <c:v>1.6157760991585231E-6</c:v>
                </c:pt>
                <c:pt idx="51">
                  <c:v>4.4187933027691353E-7</c:v>
                </c:pt>
                <c:pt idx="52">
                  <c:v>1.1343811461984197E-7</c:v>
                </c:pt>
                <c:pt idx="53">
                  <c:v>2.7336764892971163E-8</c:v>
                </c:pt>
                <c:pt idx="54">
                  <c:v>6.1839794944819354E-9</c:v>
                </c:pt>
                <c:pt idx="55">
                  <c:v>1.3131724694910057E-9</c:v>
                </c:pt>
                <c:pt idx="56">
                  <c:v>2.6176302621139729E-10</c:v>
                </c:pt>
                <c:pt idx="57">
                  <c:v>4.8980999351042892E-11</c:v>
                </c:pt>
                <c:pt idx="58">
                  <c:v>8.6035915791674953E-12</c:v>
                </c:pt>
                <c:pt idx="59">
                  <c:v>1.4186156125973641E-12</c:v>
                </c:pt>
                <c:pt idx="60">
                  <c:v>2.1957479692434206E-13</c:v>
                </c:pt>
              </c:numCache>
            </c:numRef>
          </c:val>
          <c:smooth val="0"/>
          <c:extLst>
            <c:ext xmlns:c16="http://schemas.microsoft.com/office/drawing/2014/chart" uri="{C3380CC4-5D6E-409C-BE32-E72D297353CC}">
              <c16:uniqueId val="{00000001-978B-449D-B535-C80BFFB9DC40}"/>
            </c:ext>
          </c:extLst>
        </c:ser>
        <c:ser>
          <c:idx val="2"/>
          <c:order val="2"/>
          <c:tx>
            <c:strRef>
              <c:f>Sheet1!$D$1</c:f>
              <c:strCache>
                <c:ptCount val="1"/>
                <c:pt idx="0">
                  <c:v>7.071067812</c:v>
                </c:pt>
              </c:strCache>
            </c:strRef>
          </c:tx>
          <c:spPr>
            <a:ln>
              <a:noFill/>
            </a:ln>
          </c:spPr>
          <c:marker>
            <c:symbol val="none"/>
          </c:marker>
          <c:cat>
            <c:numRef>
              <c:f>Sheet1!$A$2:$A$62</c:f>
              <c:numCache>
                <c:formatCode>General</c:formatCode>
                <c:ptCount val="61"/>
                <c:pt idx="0">
                  <c:v>-3</c:v>
                </c:pt>
                <c:pt idx="1">
                  <c:v>-2.9</c:v>
                </c:pt>
                <c:pt idx="2">
                  <c:v>-2.8</c:v>
                </c:pt>
                <c:pt idx="3">
                  <c:v>-2.7</c:v>
                </c:pt>
                <c:pt idx="4">
                  <c:v>-2.6</c:v>
                </c:pt>
                <c:pt idx="5">
                  <c:v>-2.5</c:v>
                </c:pt>
                <c:pt idx="6">
                  <c:v>-2.4</c:v>
                </c:pt>
                <c:pt idx="7">
                  <c:v>-2.2999999999999998</c:v>
                </c:pt>
                <c:pt idx="8">
                  <c:v>-2.2000000000000002</c:v>
                </c:pt>
                <c:pt idx="9">
                  <c:v>-2.1</c:v>
                </c:pt>
                <c:pt idx="10">
                  <c:v>-2</c:v>
                </c:pt>
                <c:pt idx="11">
                  <c:v>-1.9</c:v>
                </c:pt>
                <c:pt idx="12">
                  <c:v>-1.8</c:v>
                </c:pt>
                <c:pt idx="13">
                  <c:v>-1.7</c:v>
                </c:pt>
                <c:pt idx="14">
                  <c:v>-1.6</c:v>
                </c:pt>
                <c:pt idx="15">
                  <c:v>-1.5</c:v>
                </c:pt>
                <c:pt idx="16">
                  <c:v>-1.4</c:v>
                </c:pt>
                <c:pt idx="17">
                  <c:v>-1.3</c:v>
                </c:pt>
                <c:pt idx="18">
                  <c:v>-1.2</c:v>
                </c:pt>
                <c:pt idx="19">
                  <c:v>-1.1000000000000001</c:v>
                </c:pt>
                <c:pt idx="20">
                  <c:v>-1</c:v>
                </c:pt>
                <c:pt idx="21">
                  <c:v>-0.9</c:v>
                </c:pt>
                <c:pt idx="22">
                  <c:v>-0.8</c:v>
                </c:pt>
                <c:pt idx="23">
                  <c:v>-0.7</c:v>
                </c:pt>
                <c:pt idx="24">
                  <c:v>-0.6</c:v>
                </c:pt>
                <c:pt idx="25">
                  <c:v>-0.5</c:v>
                </c:pt>
                <c:pt idx="26">
                  <c:v>-0.4</c:v>
                </c:pt>
                <c:pt idx="27">
                  <c:v>-0.3</c:v>
                </c:pt>
                <c:pt idx="28">
                  <c:v>-0.2</c:v>
                </c:pt>
                <c:pt idx="29">
                  <c:v>-0.1</c:v>
                </c:pt>
                <c:pt idx="30">
                  <c:v>0</c:v>
                </c:pt>
                <c:pt idx="31">
                  <c:v>0.1</c:v>
                </c:pt>
                <c:pt idx="32">
                  <c:v>0.2</c:v>
                </c:pt>
                <c:pt idx="33">
                  <c:v>0.3</c:v>
                </c:pt>
                <c:pt idx="34">
                  <c:v>0.4</c:v>
                </c:pt>
                <c:pt idx="35">
                  <c:v>0.5</c:v>
                </c:pt>
                <c:pt idx="36">
                  <c:v>0.6</c:v>
                </c:pt>
                <c:pt idx="37">
                  <c:v>0.7</c:v>
                </c:pt>
                <c:pt idx="38">
                  <c:v>0.8</c:v>
                </c:pt>
                <c:pt idx="39">
                  <c:v>0.9</c:v>
                </c:pt>
                <c:pt idx="40">
                  <c:v>1</c:v>
                </c:pt>
                <c:pt idx="41">
                  <c:v>1.1000000000000001</c:v>
                </c:pt>
                <c:pt idx="42">
                  <c:v>1.2</c:v>
                </c:pt>
                <c:pt idx="43">
                  <c:v>1.3</c:v>
                </c:pt>
                <c:pt idx="44">
                  <c:v>1.4</c:v>
                </c:pt>
                <c:pt idx="45">
                  <c:v>1.5</c:v>
                </c:pt>
                <c:pt idx="46">
                  <c:v>1.6</c:v>
                </c:pt>
                <c:pt idx="47">
                  <c:v>1.7</c:v>
                </c:pt>
                <c:pt idx="48">
                  <c:v>1.8</c:v>
                </c:pt>
                <c:pt idx="49">
                  <c:v>1.9</c:v>
                </c:pt>
                <c:pt idx="50">
                  <c:v>2</c:v>
                </c:pt>
                <c:pt idx="51">
                  <c:v>2.1</c:v>
                </c:pt>
                <c:pt idx="52">
                  <c:v>2.2000000000000002</c:v>
                </c:pt>
                <c:pt idx="53">
                  <c:v>2.2999999999999998</c:v>
                </c:pt>
                <c:pt idx="54">
                  <c:v>2.4</c:v>
                </c:pt>
                <c:pt idx="55">
                  <c:v>2.5000000000000102</c:v>
                </c:pt>
                <c:pt idx="56">
                  <c:v>2.6</c:v>
                </c:pt>
                <c:pt idx="57">
                  <c:v>2.7</c:v>
                </c:pt>
                <c:pt idx="58">
                  <c:v>2.80000000000001</c:v>
                </c:pt>
                <c:pt idx="59">
                  <c:v>2.9000000000000101</c:v>
                </c:pt>
                <c:pt idx="60">
                  <c:v>3.0000000000000102</c:v>
                </c:pt>
              </c:numCache>
            </c:numRef>
          </c:cat>
          <c:val>
            <c:numRef>
              <c:f>Sheet1!$D$2:$D$62</c:f>
              <c:numCache>
                <c:formatCode>General</c:formatCode>
                <c:ptCount val="61"/>
                <c:pt idx="0">
                  <c:v>2.5880552686716993E-28</c:v>
                </c:pt>
                <c:pt idx="1">
                  <c:v>1.6781073068391347E-26</c:v>
                </c:pt>
                <c:pt idx="2">
                  <c:v>9.4459881322512352E-25</c:v>
                </c:pt>
                <c:pt idx="3">
                  <c:v>4.6159016640960584E-23</c:v>
                </c:pt>
                <c:pt idx="4">
                  <c:v>1.9581555418077432E-21</c:v>
                </c:pt>
                <c:pt idx="5">
                  <c:v>7.2113954135510934E-20</c:v>
                </c:pt>
                <c:pt idx="6">
                  <c:v>2.3055413620368978E-18</c:v>
                </c:pt>
                <c:pt idx="7">
                  <c:v>6.3989396166666672E-17</c:v>
                </c:pt>
                <c:pt idx="8">
                  <c:v>1.5417877521612201E-15</c:v>
                </c:pt>
                <c:pt idx="9">
                  <c:v>3.2249475524857863E-14</c:v>
                </c:pt>
                <c:pt idx="10">
                  <c:v>5.8560153461795485E-13</c:v>
                </c:pt>
                <c:pt idx="11">
                  <c:v>9.2313080059855102E-12</c:v>
                </c:pt>
                <c:pt idx="12">
                  <c:v>1.2632978656947972E-10</c:v>
                </c:pt>
                <c:pt idx="13">
                  <c:v>1.5008240089704121E-9</c:v>
                </c:pt>
                <c:pt idx="14">
                  <c:v>1.5478727695183599E-8</c:v>
                </c:pt>
                <c:pt idx="15">
                  <c:v>1.3858691809610366E-7</c:v>
                </c:pt>
                <c:pt idx="16">
                  <c:v>1.0771859973664762E-6</c:v>
                </c:pt>
                <c:pt idx="17">
                  <c:v>7.2684305797877243E-6</c:v>
                </c:pt>
                <c:pt idx="18">
                  <c:v>4.2576708077666142E-5</c:v>
                </c:pt>
                <c:pt idx="19">
                  <c:v>2.1651350879289832E-4</c:v>
                </c:pt>
                <c:pt idx="20">
                  <c:v>9.558272370024781E-4</c:v>
                </c:pt>
                <c:pt idx="21">
                  <c:v>3.6631549620575994E-3</c:v>
                </c:pt>
                <c:pt idx="22">
                  <c:v>1.2187444904116725E-2</c:v>
                </c:pt>
                <c:pt idx="23">
                  <c:v>3.5200718257056646E-2</c:v>
                </c:pt>
                <c:pt idx="24">
                  <c:v>8.8261615097269944E-2</c:v>
                </c:pt>
                <c:pt idx="25">
                  <c:v>0.19212049672868228</c:v>
                </c:pt>
                <c:pt idx="26">
                  <c:v>0.36304212174060607</c:v>
                </c:pt>
                <c:pt idx="27">
                  <c:v>0.59555492158537293</c:v>
                </c:pt>
                <c:pt idx="28">
                  <c:v>0.84814109098093893</c:v>
                </c:pt>
                <c:pt idx="29">
                  <c:v>1.0485662534989972</c:v>
                </c:pt>
                <c:pt idx="30">
                  <c:v>1.1253953952177929</c:v>
                </c:pt>
                <c:pt idx="31">
                  <c:v>1.0485662534989972</c:v>
                </c:pt>
                <c:pt idx="32">
                  <c:v>0.84814109098093893</c:v>
                </c:pt>
                <c:pt idx="33">
                  <c:v>0.59555492158537293</c:v>
                </c:pt>
                <c:pt idx="34">
                  <c:v>0.36304212174060607</c:v>
                </c:pt>
                <c:pt idx="35">
                  <c:v>0.19212049672868228</c:v>
                </c:pt>
                <c:pt idx="36">
                  <c:v>8.8261615097269944E-2</c:v>
                </c:pt>
                <c:pt idx="37">
                  <c:v>3.5200718257056646E-2</c:v>
                </c:pt>
                <c:pt idx="38">
                  <c:v>1.2187444904116725E-2</c:v>
                </c:pt>
                <c:pt idx="39">
                  <c:v>3.6631549620575994E-3</c:v>
                </c:pt>
                <c:pt idx="40">
                  <c:v>9.558272370024781E-4</c:v>
                </c:pt>
                <c:pt idx="41">
                  <c:v>2.1651350879289832E-4</c:v>
                </c:pt>
                <c:pt idx="42">
                  <c:v>4.2576708077666142E-5</c:v>
                </c:pt>
                <c:pt idx="43">
                  <c:v>7.2684305797877243E-6</c:v>
                </c:pt>
                <c:pt idx="44">
                  <c:v>1.0771859973664762E-6</c:v>
                </c:pt>
                <c:pt idx="45">
                  <c:v>1.3858691809610366E-7</c:v>
                </c:pt>
                <c:pt idx="46">
                  <c:v>1.5478727695183599E-8</c:v>
                </c:pt>
                <c:pt idx="47">
                  <c:v>1.5008240089704121E-9</c:v>
                </c:pt>
                <c:pt idx="48">
                  <c:v>1.2632978656947972E-10</c:v>
                </c:pt>
                <c:pt idx="49">
                  <c:v>9.2313080059855102E-12</c:v>
                </c:pt>
                <c:pt idx="50">
                  <c:v>5.8560153461795485E-13</c:v>
                </c:pt>
                <c:pt idx="51">
                  <c:v>3.2249475524857863E-14</c:v>
                </c:pt>
                <c:pt idx="52">
                  <c:v>1.5417877521612201E-15</c:v>
                </c:pt>
                <c:pt idx="53">
                  <c:v>6.3989396166666672E-17</c:v>
                </c:pt>
                <c:pt idx="54">
                  <c:v>2.3055413620368978E-18</c:v>
                </c:pt>
                <c:pt idx="55">
                  <c:v>7.2113954135484801E-20</c:v>
                </c:pt>
                <c:pt idx="56">
                  <c:v>1.9581555418077432E-21</c:v>
                </c:pt>
                <c:pt idx="57">
                  <c:v>4.6159016640960584E-23</c:v>
                </c:pt>
                <c:pt idx="58">
                  <c:v>9.4459881322474093E-25</c:v>
                </c:pt>
                <c:pt idx="59">
                  <c:v>1.678107306838443E-26</c:v>
                </c:pt>
                <c:pt idx="60">
                  <c:v>2.5880552686705962E-28</c:v>
                </c:pt>
              </c:numCache>
            </c:numRef>
          </c:val>
          <c:smooth val="0"/>
          <c:extLst>
            <c:ext xmlns:c16="http://schemas.microsoft.com/office/drawing/2014/chart" uri="{C3380CC4-5D6E-409C-BE32-E72D297353CC}">
              <c16:uniqueId val="{00000002-978B-449D-B535-C80BFFB9DC40}"/>
            </c:ext>
          </c:extLst>
        </c:ser>
        <c:dLbls>
          <c:showLegendKey val="0"/>
          <c:showVal val="0"/>
          <c:showCatName val="0"/>
          <c:showSerName val="0"/>
          <c:showPercent val="0"/>
          <c:showBubbleSize val="0"/>
        </c:dLbls>
        <c:smooth val="0"/>
        <c:axId val="137085312"/>
        <c:axId val="137086848"/>
      </c:lineChart>
      <c:catAx>
        <c:axId val="137085312"/>
        <c:scaling>
          <c:orientation val="minMax"/>
        </c:scaling>
        <c:delete val="1"/>
        <c:axPos val="b"/>
        <c:numFmt formatCode="General" sourceLinked="1"/>
        <c:majorTickMark val="out"/>
        <c:minorTickMark val="none"/>
        <c:tickLblPos val="nextTo"/>
        <c:crossAx val="137086848"/>
        <c:crosses val="autoZero"/>
        <c:auto val="1"/>
        <c:lblAlgn val="ctr"/>
        <c:lblOffset val="100"/>
        <c:noMultiLvlLbl val="0"/>
      </c:catAx>
      <c:valAx>
        <c:axId val="137086848"/>
        <c:scaling>
          <c:orientation val="minMax"/>
        </c:scaling>
        <c:delete val="1"/>
        <c:axPos val="l"/>
        <c:numFmt formatCode="General" sourceLinked="1"/>
        <c:majorTickMark val="out"/>
        <c:minorTickMark val="none"/>
        <c:tickLblPos val="nextTo"/>
        <c:crossAx val="137085312"/>
        <c:crosses val="autoZero"/>
        <c:crossBetween val="between"/>
      </c:valAx>
      <c:spPr>
        <a:noFill/>
        <a:ln w="25400">
          <a:noFill/>
        </a:ln>
      </c:spPr>
    </c:plotArea>
    <c:plotVisOnly val="1"/>
    <c:dispBlanksAs val="gap"/>
    <c:showDLblsOverMax val="0"/>
  </c:chart>
  <c:txPr>
    <a:bodyPr/>
    <a:lstStyle/>
    <a:p>
      <a:pPr>
        <a:defRPr sz="1800"/>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
          <c:y val="7.4362304645914062E-2"/>
          <c:w val="1"/>
          <c:h val="0.91211727632755613"/>
        </c:manualLayout>
      </c:layout>
      <c:lineChart>
        <c:grouping val="standard"/>
        <c:varyColors val="0"/>
        <c:ser>
          <c:idx val="0"/>
          <c:order val="0"/>
          <c:tx>
            <c:strRef>
              <c:f>Sheet1!$B$1</c:f>
              <c:strCache>
                <c:ptCount val="1"/>
                <c:pt idx="0">
                  <c:v>SQRT_N</c:v>
                </c:pt>
              </c:strCache>
            </c:strRef>
          </c:tx>
          <c:spPr>
            <a:ln>
              <a:noFill/>
            </a:ln>
          </c:spPr>
          <c:marker>
            <c:symbol val="none"/>
          </c:marker>
          <c:cat>
            <c:numRef>
              <c:f>Sheet1!$A$2:$A$62</c:f>
              <c:numCache>
                <c:formatCode>General</c:formatCode>
                <c:ptCount val="61"/>
                <c:pt idx="0">
                  <c:v>-3</c:v>
                </c:pt>
                <c:pt idx="1">
                  <c:v>-2.9</c:v>
                </c:pt>
                <c:pt idx="2">
                  <c:v>-2.8</c:v>
                </c:pt>
                <c:pt idx="3">
                  <c:v>-2.7</c:v>
                </c:pt>
                <c:pt idx="4">
                  <c:v>-2.6</c:v>
                </c:pt>
                <c:pt idx="5">
                  <c:v>-2.5</c:v>
                </c:pt>
                <c:pt idx="6">
                  <c:v>-2.4</c:v>
                </c:pt>
                <c:pt idx="7">
                  <c:v>-2.2999999999999998</c:v>
                </c:pt>
                <c:pt idx="8">
                  <c:v>-2.2000000000000002</c:v>
                </c:pt>
                <c:pt idx="9">
                  <c:v>-2.1</c:v>
                </c:pt>
                <c:pt idx="10">
                  <c:v>-2</c:v>
                </c:pt>
                <c:pt idx="11">
                  <c:v>-1.9</c:v>
                </c:pt>
                <c:pt idx="12">
                  <c:v>-1.8</c:v>
                </c:pt>
                <c:pt idx="13">
                  <c:v>-1.7</c:v>
                </c:pt>
                <c:pt idx="14">
                  <c:v>-1.6</c:v>
                </c:pt>
                <c:pt idx="15">
                  <c:v>-1.5</c:v>
                </c:pt>
                <c:pt idx="16">
                  <c:v>-1.4</c:v>
                </c:pt>
                <c:pt idx="17">
                  <c:v>-1.3</c:v>
                </c:pt>
                <c:pt idx="18">
                  <c:v>-1.2</c:v>
                </c:pt>
                <c:pt idx="19">
                  <c:v>-1.1000000000000001</c:v>
                </c:pt>
                <c:pt idx="20">
                  <c:v>-1</c:v>
                </c:pt>
                <c:pt idx="21">
                  <c:v>-0.9</c:v>
                </c:pt>
                <c:pt idx="22">
                  <c:v>-0.8</c:v>
                </c:pt>
                <c:pt idx="23">
                  <c:v>-0.7</c:v>
                </c:pt>
                <c:pt idx="24">
                  <c:v>-0.6</c:v>
                </c:pt>
                <c:pt idx="25">
                  <c:v>-0.5</c:v>
                </c:pt>
                <c:pt idx="26">
                  <c:v>-0.4</c:v>
                </c:pt>
                <c:pt idx="27">
                  <c:v>-0.3</c:v>
                </c:pt>
                <c:pt idx="28">
                  <c:v>-0.2</c:v>
                </c:pt>
                <c:pt idx="29">
                  <c:v>-0.1</c:v>
                </c:pt>
                <c:pt idx="30">
                  <c:v>0</c:v>
                </c:pt>
                <c:pt idx="31">
                  <c:v>0.1</c:v>
                </c:pt>
                <c:pt idx="32">
                  <c:v>0.2</c:v>
                </c:pt>
                <c:pt idx="33">
                  <c:v>0.3</c:v>
                </c:pt>
                <c:pt idx="34">
                  <c:v>0.4</c:v>
                </c:pt>
                <c:pt idx="35">
                  <c:v>0.5</c:v>
                </c:pt>
                <c:pt idx="36">
                  <c:v>0.6</c:v>
                </c:pt>
                <c:pt idx="37">
                  <c:v>0.7</c:v>
                </c:pt>
                <c:pt idx="38">
                  <c:v>0.8</c:v>
                </c:pt>
                <c:pt idx="39">
                  <c:v>0.9</c:v>
                </c:pt>
                <c:pt idx="40">
                  <c:v>1</c:v>
                </c:pt>
                <c:pt idx="41">
                  <c:v>1.1000000000000001</c:v>
                </c:pt>
                <c:pt idx="42">
                  <c:v>1.2</c:v>
                </c:pt>
                <c:pt idx="43">
                  <c:v>1.3</c:v>
                </c:pt>
                <c:pt idx="44">
                  <c:v>1.4</c:v>
                </c:pt>
                <c:pt idx="45">
                  <c:v>1.5</c:v>
                </c:pt>
                <c:pt idx="46">
                  <c:v>1.6</c:v>
                </c:pt>
                <c:pt idx="47">
                  <c:v>1.7</c:v>
                </c:pt>
                <c:pt idx="48">
                  <c:v>1.8</c:v>
                </c:pt>
                <c:pt idx="49">
                  <c:v>1.9</c:v>
                </c:pt>
                <c:pt idx="50">
                  <c:v>2</c:v>
                </c:pt>
                <c:pt idx="51">
                  <c:v>2.1</c:v>
                </c:pt>
                <c:pt idx="52">
                  <c:v>2.2000000000000002</c:v>
                </c:pt>
                <c:pt idx="53">
                  <c:v>2.2999999999999998</c:v>
                </c:pt>
                <c:pt idx="54">
                  <c:v>2.4</c:v>
                </c:pt>
                <c:pt idx="55">
                  <c:v>2.5000000000000102</c:v>
                </c:pt>
                <c:pt idx="56">
                  <c:v>2.6</c:v>
                </c:pt>
                <c:pt idx="57">
                  <c:v>2.7</c:v>
                </c:pt>
                <c:pt idx="58">
                  <c:v>2.80000000000001</c:v>
                </c:pt>
                <c:pt idx="59">
                  <c:v>2.9000000000000101</c:v>
                </c:pt>
                <c:pt idx="60">
                  <c:v>3.0000000000000102</c:v>
                </c:pt>
              </c:numCache>
            </c:numRef>
          </c:cat>
          <c:val>
            <c:numRef>
              <c:f>Sheet1!$B$2:$B$62</c:f>
              <c:numCache>
                <c:formatCode>General</c:formatCode>
                <c:ptCount val="61"/>
                <c:pt idx="0">
                  <c:v>1.9641280346397437E-5</c:v>
                </c:pt>
                <c:pt idx="1">
                  <c:v>3.5432642208482576E-5</c:v>
                </c:pt>
                <c:pt idx="2">
                  <c:v>6.2654373762500076E-5</c:v>
                </c:pt>
                <c:pt idx="3">
                  <c:v>1.0859588240644479E-4</c:v>
                </c:pt>
                <c:pt idx="4">
                  <c:v>1.844970532032499E-4</c:v>
                </c:pt>
                <c:pt idx="5">
                  <c:v>3.0724131819283507E-4</c:v>
                </c:pt>
                <c:pt idx="6">
                  <c:v>5.015149871266364E-4</c:v>
                </c:pt>
                <c:pt idx="7">
                  <c:v>8.0242106721409789E-4</c:v>
                </c:pt>
                <c:pt idx="8">
                  <c:v>1.2584467376058936E-3</c:v>
                </c:pt>
                <c:pt idx="9">
                  <c:v>1.934556715369451E-3</c:v>
                </c:pt>
                <c:pt idx="10">
                  <c:v>2.9150244650281935E-3</c:v>
                </c:pt>
                <c:pt idx="11">
                  <c:v>4.3054351485446677E-3</c:v>
                </c:pt>
                <c:pt idx="12">
                  <c:v>6.2331274957362452E-3</c:v>
                </c:pt>
                <c:pt idx="13">
                  <c:v>8.845228955443667E-3</c:v>
                </c:pt>
                <c:pt idx="14">
                  <c:v>1.2303431565987106E-2</c:v>
                </c:pt>
                <c:pt idx="15">
                  <c:v>1.6774807587073417E-2</c:v>
                </c:pt>
                <c:pt idx="16">
                  <c:v>2.2418313965703162E-2</c:v>
                </c:pt>
                <c:pt idx="17">
                  <c:v>2.9367194340447818E-2</c:v>
                </c:pt>
                <c:pt idx="18">
                  <c:v>3.7708223949943401E-2</c:v>
                </c:pt>
                <c:pt idx="19">
                  <c:v>4.7459571037821731E-2</c:v>
                </c:pt>
                <c:pt idx="20">
                  <c:v>5.8549831524319168E-2</c:v>
                </c:pt>
                <c:pt idx="21">
                  <c:v>7.0801360213682801E-2</c:v>
                </c:pt>
                <c:pt idx="22">
                  <c:v>8.3921195741358937E-2</c:v>
                </c:pt>
                <c:pt idx="23">
                  <c:v>9.7502518903013785E-2</c:v>
                </c:pt>
                <c:pt idx="24">
                  <c:v>0.11103863597239756</c:v>
                </c:pt>
                <c:pt idx="25">
                  <c:v>0.12394999430965298</c:v>
                </c:pt>
                <c:pt idx="26">
                  <c:v>0.13562289623902943</c:v>
                </c:pt>
                <c:pt idx="27">
                  <c:v>0.14545666578175079</c:v>
                </c:pt>
                <c:pt idx="28">
                  <c:v>0.15291438851158204</c:v>
                </c:pt>
                <c:pt idx="29">
                  <c:v>0.1575713249484893</c:v>
                </c:pt>
                <c:pt idx="30">
                  <c:v>0.15915494309189535</c:v>
                </c:pt>
                <c:pt idx="31">
                  <c:v>0.1575713249484893</c:v>
                </c:pt>
                <c:pt idx="32">
                  <c:v>0.15291438851158204</c:v>
                </c:pt>
                <c:pt idx="33">
                  <c:v>0.14545666578175079</c:v>
                </c:pt>
                <c:pt idx="34">
                  <c:v>0.13562289623902943</c:v>
                </c:pt>
                <c:pt idx="35">
                  <c:v>0.12394999430965298</c:v>
                </c:pt>
                <c:pt idx="36">
                  <c:v>0.11103863597239756</c:v>
                </c:pt>
                <c:pt idx="37">
                  <c:v>9.7502518903013785E-2</c:v>
                </c:pt>
                <c:pt idx="38">
                  <c:v>8.3921195741358937E-2</c:v>
                </c:pt>
                <c:pt idx="39">
                  <c:v>7.0801360213682801E-2</c:v>
                </c:pt>
                <c:pt idx="40">
                  <c:v>5.8549831524319168E-2</c:v>
                </c:pt>
                <c:pt idx="41">
                  <c:v>4.7459571037821731E-2</c:v>
                </c:pt>
                <c:pt idx="42">
                  <c:v>3.7708223949943401E-2</c:v>
                </c:pt>
                <c:pt idx="43">
                  <c:v>2.9367194340447818E-2</c:v>
                </c:pt>
                <c:pt idx="44">
                  <c:v>2.2418313965703162E-2</c:v>
                </c:pt>
                <c:pt idx="45">
                  <c:v>1.6774807587073417E-2</c:v>
                </c:pt>
                <c:pt idx="46">
                  <c:v>1.2303431565987106E-2</c:v>
                </c:pt>
                <c:pt idx="47">
                  <c:v>8.845228955443667E-3</c:v>
                </c:pt>
                <c:pt idx="48">
                  <c:v>6.2331274957362452E-3</c:v>
                </c:pt>
                <c:pt idx="49">
                  <c:v>4.3054351485446677E-3</c:v>
                </c:pt>
                <c:pt idx="50">
                  <c:v>2.9150244650281935E-3</c:v>
                </c:pt>
                <c:pt idx="51">
                  <c:v>1.934556715369451E-3</c:v>
                </c:pt>
                <c:pt idx="52">
                  <c:v>1.2584467376058936E-3</c:v>
                </c:pt>
                <c:pt idx="53">
                  <c:v>8.0242106721409789E-4</c:v>
                </c:pt>
                <c:pt idx="54">
                  <c:v>5.015149871266364E-4</c:v>
                </c:pt>
                <c:pt idx="55">
                  <c:v>3.0724131819281919E-4</c:v>
                </c:pt>
                <c:pt idx="56">
                  <c:v>1.844970532032499E-4</c:v>
                </c:pt>
                <c:pt idx="57">
                  <c:v>1.0859588240644479E-4</c:v>
                </c:pt>
                <c:pt idx="58">
                  <c:v>6.2654373762496512E-5</c:v>
                </c:pt>
                <c:pt idx="59">
                  <c:v>3.5432642208480502E-5</c:v>
                </c:pt>
                <c:pt idx="60">
                  <c:v>1.9641280346396251E-5</c:v>
                </c:pt>
              </c:numCache>
            </c:numRef>
          </c:val>
          <c:smooth val="0"/>
          <c:extLst>
            <c:ext xmlns:c16="http://schemas.microsoft.com/office/drawing/2014/chart" uri="{C3380CC4-5D6E-409C-BE32-E72D297353CC}">
              <c16:uniqueId val="{00000000-0298-4B0C-9F60-825482D3F752}"/>
            </c:ext>
          </c:extLst>
        </c:ser>
        <c:ser>
          <c:idx val="1"/>
          <c:order val="1"/>
          <c:tx>
            <c:strRef>
              <c:f>Sheet1!$C$1</c:f>
              <c:strCache>
                <c:ptCount val="1"/>
                <c:pt idx="0">
                  <c:v>3.16227766</c:v>
                </c:pt>
              </c:strCache>
            </c:strRef>
          </c:tx>
          <c:marker>
            <c:symbol val="none"/>
          </c:marker>
          <c:cat>
            <c:numRef>
              <c:f>Sheet1!$A$2:$A$62</c:f>
              <c:numCache>
                <c:formatCode>General</c:formatCode>
                <c:ptCount val="61"/>
                <c:pt idx="0">
                  <c:v>-3</c:v>
                </c:pt>
                <c:pt idx="1">
                  <c:v>-2.9</c:v>
                </c:pt>
                <c:pt idx="2">
                  <c:v>-2.8</c:v>
                </c:pt>
                <c:pt idx="3">
                  <c:v>-2.7</c:v>
                </c:pt>
                <c:pt idx="4">
                  <c:v>-2.6</c:v>
                </c:pt>
                <c:pt idx="5">
                  <c:v>-2.5</c:v>
                </c:pt>
                <c:pt idx="6">
                  <c:v>-2.4</c:v>
                </c:pt>
                <c:pt idx="7">
                  <c:v>-2.2999999999999998</c:v>
                </c:pt>
                <c:pt idx="8">
                  <c:v>-2.2000000000000002</c:v>
                </c:pt>
                <c:pt idx="9">
                  <c:v>-2.1</c:v>
                </c:pt>
                <c:pt idx="10">
                  <c:v>-2</c:v>
                </c:pt>
                <c:pt idx="11">
                  <c:v>-1.9</c:v>
                </c:pt>
                <c:pt idx="12">
                  <c:v>-1.8</c:v>
                </c:pt>
                <c:pt idx="13">
                  <c:v>-1.7</c:v>
                </c:pt>
                <c:pt idx="14">
                  <c:v>-1.6</c:v>
                </c:pt>
                <c:pt idx="15">
                  <c:v>-1.5</c:v>
                </c:pt>
                <c:pt idx="16">
                  <c:v>-1.4</c:v>
                </c:pt>
                <c:pt idx="17">
                  <c:v>-1.3</c:v>
                </c:pt>
                <c:pt idx="18">
                  <c:v>-1.2</c:v>
                </c:pt>
                <c:pt idx="19">
                  <c:v>-1.1000000000000001</c:v>
                </c:pt>
                <c:pt idx="20">
                  <c:v>-1</c:v>
                </c:pt>
                <c:pt idx="21">
                  <c:v>-0.9</c:v>
                </c:pt>
                <c:pt idx="22">
                  <c:v>-0.8</c:v>
                </c:pt>
                <c:pt idx="23">
                  <c:v>-0.7</c:v>
                </c:pt>
                <c:pt idx="24">
                  <c:v>-0.6</c:v>
                </c:pt>
                <c:pt idx="25">
                  <c:v>-0.5</c:v>
                </c:pt>
                <c:pt idx="26">
                  <c:v>-0.4</c:v>
                </c:pt>
                <c:pt idx="27">
                  <c:v>-0.3</c:v>
                </c:pt>
                <c:pt idx="28">
                  <c:v>-0.2</c:v>
                </c:pt>
                <c:pt idx="29">
                  <c:v>-0.1</c:v>
                </c:pt>
                <c:pt idx="30">
                  <c:v>0</c:v>
                </c:pt>
                <c:pt idx="31">
                  <c:v>0.1</c:v>
                </c:pt>
                <c:pt idx="32">
                  <c:v>0.2</c:v>
                </c:pt>
                <c:pt idx="33">
                  <c:v>0.3</c:v>
                </c:pt>
                <c:pt idx="34">
                  <c:v>0.4</c:v>
                </c:pt>
                <c:pt idx="35">
                  <c:v>0.5</c:v>
                </c:pt>
                <c:pt idx="36">
                  <c:v>0.6</c:v>
                </c:pt>
                <c:pt idx="37">
                  <c:v>0.7</c:v>
                </c:pt>
                <c:pt idx="38">
                  <c:v>0.8</c:v>
                </c:pt>
                <c:pt idx="39">
                  <c:v>0.9</c:v>
                </c:pt>
                <c:pt idx="40">
                  <c:v>1</c:v>
                </c:pt>
                <c:pt idx="41">
                  <c:v>1.1000000000000001</c:v>
                </c:pt>
                <c:pt idx="42">
                  <c:v>1.2</c:v>
                </c:pt>
                <c:pt idx="43">
                  <c:v>1.3</c:v>
                </c:pt>
                <c:pt idx="44">
                  <c:v>1.4</c:v>
                </c:pt>
                <c:pt idx="45">
                  <c:v>1.5</c:v>
                </c:pt>
                <c:pt idx="46">
                  <c:v>1.6</c:v>
                </c:pt>
                <c:pt idx="47">
                  <c:v>1.7</c:v>
                </c:pt>
                <c:pt idx="48">
                  <c:v>1.8</c:v>
                </c:pt>
                <c:pt idx="49">
                  <c:v>1.9</c:v>
                </c:pt>
                <c:pt idx="50">
                  <c:v>2</c:v>
                </c:pt>
                <c:pt idx="51">
                  <c:v>2.1</c:v>
                </c:pt>
                <c:pt idx="52">
                  <c:v>2.2000000000000002</c:v>
                </c:pt>
                <c:pt idx="53">
                  <c:v>2.2999999999999998</c:v>
                </c:pt>
                <c:pt idx="54">
                  <c:v>2.4</c:v>
                </c:pt>
                <c:pt idx="55">
                  <c:v>2.5000000000000102</c:v>
                </c:pt>
                <c:pt idx="56">
                  <c:v>2.6</c:v>
                </c:pt>
                <c:pt idx="57">
                  <c:v>2.7</c:v>
                </c:pt>
                <c:pt idx="58">
                  <c:v>2.80000000000001</c:v>
                </c:pt>
                <c:pt idx="59">
                  <c:v>2.9000000000000101</c:v>
                </c:pt>
                <c:pt idx="60">
                  <c:v>3.0000000000000102</c:v>
                </c:pt>
              </c:numCache>
            </c:numRef>
          </c:cat>
          <c:val>
            <c:numRef>
              <c:f>Sheet1!$C$2:$C$62</c:f>
              <c:numCache>
                <c:formatCode>General</c:formatCode>
                <c:ptCount val="61"/>
                <c:pt idx="0">
                  <c:v>2.1957479692438417E-13</c:v>
                </c:pt>
                <c:pt idx="1">
                  <c:v>1.4186156125976263E-12</c:v>
                </c:pt>
                <c:pt idx="2">
                  <c:v>8.6035915791690236E-12</c:v>
                </c:pt>
                <c:pt idx="3">
                  <c:v>4.8980999351042892E-11</c:v>
                </c:pt>
                <c:pt idx="4">
                  <c:v>2.6176302621139729E-10</c:v>
                </c:pt>
                <c:pt idx="5">
                  <c:v>1.3131724694912204E-9</c:v>
                </c:pt>
                <c:pt idx="6">
                  <c:v>6.1839794944819354E-9</c:v>
                </c:pt>
                <c:pt idx="7">
                  <c:v>2.7336764892971163E-8</c:v>
                </c:pt>
                <c:pt idx="8">
                  <c:v>1.1343811461984197E-7</c:v>
                </c:pt>
                <c:pt idx="9">
                  <c:v>4.4187933027691353E-7</c:v>
                </c:pt>
                <c:pt idx="10">
                  <c:v>1.6157760991585231E-6</c:v>
                </c:pt>
                <c:pt idx="11">
                  <c:v>5.5461482920681163E-6</c:v>
                </c:pt>
                <c:pt idx="12">
                  <c:v>1.7870412630700963E-5</c:v>
                </c:pt>
                <c:pt idx="13">
                  <c:v>5.4051840785899258E-5</c:v>
                </c:pt>
                <c:pt idx="14">
                  <c:v>1.5346848375637971E-4</c:v>
                </c:pt>
                <c:pt idx="15">
                  <c:v>4.0903523562266345E-4</c:v>
                </c:pt>
                <c:pt idx="16">
                  <c:v>1.0233755697151635E-3</c:v>
                </c:pt>
                <c:pt idx="17">
                  <c:v>2.40348919692796E-3</c:v>
                </c:pt>
                <c:pt idx="18">
                  <c:v>5.2988558962158445E-3</c:v>
                </c:pt>
                <c:pt idx="19">
                  <c:v>1.0966166831794077E-2</c:v>
                </c:pt>
                <c:pt idx="20">
                  <c:v>2.1303962728789781E-2</c:v>
                </c:pt>
                <c:pt idx="21">
                  <c:v>3.8850690666012294E-2</c:v>
                </c:pt>
                <c:pt idx="22">
                  <c:v>6.6507389155984586E-2</c:v>
                </c:pt>
                <c:pt idx="23">
                  <c:v>0.10687444193864395</c:v>
                </c:pt>
                <c:pt idx="24">
                  <c:v>0.1612169222688204</c:v>
                </c:pt>
                <c:pt idx="25">
                  <c:v>0.22828648286694625</c:v>
                </c:pt>
                <c:pt idx="26">
                  <c:v>0.30344680806711366</c:v>
                </c:pt>
                <c:pt idx="27">
                  <c:v>0.37863238336140181</c:v>
                </c:pt>
                <c:pt idx="28">
                  <c:v>0.44349195093252719</c:v>
                </c:pt>
                <c:pt idx="29">
                  <c:v>0.48762564102724698</c:v>
                </c:pt>
                <c:pt idx="30">
                  <c:v>0.50329212101807197</c:v>
                </c:pt>
                <c:pt idx="31">
                  <c:v>0.48762564102724698</c:v>
                </c:pt>
                <c:pt idx="32">
                  <c:v>0.44349195093252719</c:v>
                </c:pt>
                <c:pt idx="33">
                  <c:v>0.37863238336140181</c:v>
                </c:pt>
                <c:pt idx="34">
                  <c:v>0.30344680806711366</c:v>
                </c:pt>
                <c:pt idx="35">
                  <c:v>0.22828648286694625</c:v>
                </c:pt>
                <c:pt idx="36">
                  <c:v>0.1612169222688204</c:v>
                </c:pt>
                <c:pt idx="37">
                  <c:v>0.10687444193864395</c:v>
                </c:pt>
                <c:pt idx="38">
                  <c:v>6.6507389155984586E-2</c:v>
                </c:pt>
                <c:pt idx="39">
                  <c:v>3.8850690666012294E-2</c:v>
                </c:pt>
                <c:pt idx="40">
                  <c:v>2.1303962728789781E-2</c:v>
                </c:pt>
                <c:pt idx="41">
                  <c:v>1.0966166831794077E-2</c:v>
                </c:pt>
                <c:pt idx="42">
                  <c:v>5.2988558962158445E-3</c:v>
                </c:pt>
                <c:pt idx="43">
                  <c:v>2.40348919692796E-3</c:v>
                </c:pt>
                <c:pt idx="44">
                  <c:v>1.0233755697151635E-3</c:v>
                </c:pt>
                <c:pt idx="45">
                  <c:v>4.0903523562266345E-4</c:v>
                </c:pt>
                <c:pt idx="46">
                  <c:v>1.5346848375637971E-4</c:v>
                </c:pt>
                <c:pt idx="47">
                  <c:v>5.4051840785899258E-5</c:v>
                </c:pt>
                <c:pt idx="48">
                  <c:v>1.7870412630700963E-5</c:v>
                </c:pt>
                <c:pt idx="49">
                  <c:v>5.5461482920681163E-6</c:v>
                </c:pt>
                <c:pt idx="50">
                  <c:v>1.6157760991585231E-6</c:v>
                </c:pt>
                <c:pt idx="51">
                  <c:v>4.4187933027691353E-7</c:v>
                </c:pt>
                <c:pt idx="52">
                  <c:v>1.1343811461984197E-7</c:v>
                </c:pt>
                <c:pt idx="53">
                  <c:v>2.7336764892971163E-8</c:v>
                </c:pt>
                <c:pt idx="54">
                  <c:v>6.1839794944819354E-9</c:v>
                </c:pt>
                <c:pt idx="55">
                  <c:v>1.3131724694910057E-9</c:v>
                </c:pt>
                <c:pt idx="56">
                  <c:v>2.6176302621139729E-10</c:v>
                </c:pt>
                <c:pt idx="57">
                  <c:v>4.8980999351042892E-11</c:v>
                </c:pt>
                <c:pt idx="58">
                  <c:v>8.6035915791674953E-12</c:v>
                </c:pt>
                <c:pt idx="59">
                  <c:v>1.4186156125973641E-12</c:v>
                </c:pt>
                <c:pt idx="60">
                  <c:v>2.1957479692434206E-13</c:v>
                </c:pt>
              </c:numCache>
            </c:numRef>
          </c:val>
          <c:smooth val="0"/>
          <c:extLst>
            <c:ext xmlns:c16="http://schemas.microsoft.com/office/drawing/2014/chart" uri="{C3380CC4-5D6E-409C-BE32-E72D297353CC}">
              <c16:uniqueId val="{00000001-0298-4B0C-9F60-825482D3F752}"/>
            </c:ext>
          </c:extLst>
        </c:ser>
        <c:ser>
          <c:idx val="2"/>
          <c:order val="2"/>
          <c:tx>
            <c:strRef>
              <c:f>Sheet1!$D$1</c:f>
              <c:strCache>
                <c:ptCount val="1"/>
                <c:pt idx="0">
                  <c:v>7.071067812</c:v>
                </c:pt>
              </c:strCache>
            </c:strRef>
          </c:tx>
          <c:spPr>
            <a:ln>
              <a:noFill/>
            </a:ln>
          </c:spPr>
          <c:marker>
            <c:symbol val="none"/>
          </c:marker>
          <c:cat>
            <c:numRef>
              <c:f>Sheet1!$A$2:$A$62</c:f>
              <c:numCache>
                <c:formatCode>General</c:formatCode>
                <c:ptCount val="61"/>
                <c:pt idx="0">
                  <c:v>-3</c:v>
                </c:pt>
                <c:pt idx="1">
                  <c:v>-2.9</c:v>
                </c:pt>
                <c:pt idx="2">
                  <c:v>-2.8</c:v>
                </c:pt>
                <c:pt idx="3">
                  <c:v>-2.7</c:v>
                </c:pt>
                <c:pt idx="4">
                  <c:v>-2.6</c:v>
                </c:pt>
                <c:pt idx="5">
                  <c:v>-2.5</c:v>
                </c:pt>
                <c:pt idx="6">
                  <c:v>-2.4</c:v>
                </c:pt>
                <c:pt idx="7">
                  <c:v>-2.2999999999999998</c:v>
                </c:pt>
                <c:pt idx="8">
                  <c:v>-2.2000000000000002</c:v>
                </c:pt>
                <c:pt idx="9">
                  <c:v>-2.1</c:v>
                </c:pt>
                <c:pt idx="10">
                  <c:v>-2</c:v>
                </c:pt>
                <c:pt idx="11">
                  <c:v>-1.9</c:v>
                </c:pt>
                <c:pt idx="12">
                  <c:v>-1.8</c:v>
                </c:pt>
                <c:pt idx="13">
                  <c:v>-1.7</c:v>
                </c:pt>
                <c:pt idx="14">
                  <c:v>-1.6</c:v>
                </c:pt>
                <c:pt idx="15">
                  <c:v>-1.5</c:v>
                </c:pt>
                <c:pt idx="16">
                  <c:v>-1.4</c:v>
                </c:pt>
                <c:pt idx="17">
                  <c:v>-1.3</c:v>
                </c:pt>
                <c:pt idx="18">
                  <c:v>-1.2</c:v>
                </c:pt>
                <c:pt idx="19">
                  <c:v>-1.1000000000000001</c:v>
                </c:pt>
                <c:pt idx="20">
                  <c:v>-1</c:v>
                </c:pt>
                <c:pt idx="21">
                  <c:v>-0.9</c:v>
                </c:pt>
                <c:pt idx="22">
                  <c:v>-0.8</c:v>
                </c:pt>
                <c:pt idx="23">
                  <c:v>-0.7</c:v>
                </c:pt>
                <c:pt idx="24">
                  <c:v>-0.6</c:v>
                </c:pt>
                <c:pt idx="25">
                  <c:v>-0.5</c:v>
                </c:pt>
                <c:pt idx="26">
                  <c:v>-0.4</c:v>
                </c:pt>
                <c:pt idx="27">
                  <c:v>-0.3</c:v>
                </c:pt>
                <c:pt idx="28">
                  <c:v>-0.2</c:v>
                </c:pt>
                <c:pt idx="29">
                  <c:v>-0.1</c:v>
                </c:pt>
                <c:pt idx="30">
                  <c:v>0</c:v>
                </c:pt>
                <c:pt idx="31">
                  <c:v>0.1</c:v>
                </c:pt>
                <c:pt idx="32">
                  <c:v>0.2</c:v>
                </c:pt>
                <c:pt idx="33">
                  <c:v>0.3</c:v>
                </c:pt>
                <c:pt idx="34">
                  <c:v>0.4</c:v>
                </c:pt>
                <c:pt idx="35">
                  <c:v>0.5</c:v>
                </c:pt>
                <c:pt idx="36">
                  <c:v>0.6</c:v>
                </c:pt>
                <c:pt idx="37">
                  <c:v>0.7</c:v>
                </c:pt>
                <c:pt idx="38">
                  <c:v>0.8</c:v>
                </c:pt>
                <c:pt idx="39">
                  <c:v>0.9</c:v>
                </c:pt>
                <c:pt idx="40">
                  <c:v>1</c:v>
                </c:pt>
                <c:pt idx="41">
                  <c:v>1.1000000000000001</c:v>
                </c:pt>
                <c:pt idx="42">
                  <c:v>1.2</c:v>
                </c:pt>
                <c:pt idx="43">
                  <c:v>1.3</c:v>
                </c:pt>
                <c:pt idx="44">
                  <c:v>1.4</c:v>
                </c:pt>
                <c:pt idx="45">
                  <c:v>1.5</c:v>
                </c:pt>
                <c:pt idx="46">
                  <c:v>1.6</c:v>
                </c:pt>
                <c:pt idx="47">
                  <c:v>1.7</c:v>
                </c:pt>
                <c:pt idx="48">
                  <c:v>1.8</c:v>
                </c:pt>
                <c:pt idx="49">
                  <c:v>1.9</c:v>
                </c:pt>
                <c:pt idx="50">
                  <c:v>2</c:v>
                </c:pt>
                <c:pt idx="51">
                  <c:v>2.1</c:v>
                </c:pt>
                <c:pt idx="52">
                  <c:v>2.2000000000000002</c:v>
                </c:pt>
                <c:pt idx="53">
                  <c:v>2.2999999999999998</c:v>
                </c:pt>
                <c:pt idx="54">
                  <c:v>2.4</c:v>
                </c:pt>
                <c:pt idx="55">
                  <c:v>2.5000000000000102</c:v>
                </c:pt>
                <c:pt idx="56">
                  <c:v>2.6</c:v>
                </c:pt>
                <c:pt idx="57">
                  <c:v>2.7</c:v>
                </c:pt>
                <c:pt idx="58">
                  <c:v>2.80000000000001</c:v>
                </c:pt>
                <c:pt idx="59">
                  <c:v>2.9000000000000101</c:v>
                </c:pt>
                <c:pt idx="60">
                  <c:v>3.0000000000000102</c:v>
                </c:pt>
              </c:numCache>
            </c:numRef>
          </c:cat>
          <c:val>
            <c:numRef>
              <c:f>Sheet1!$D$2:$D$62</c:f>
              <c:numCache>
                <c:formatCode>General</c:formatCode>
                <c:ptCount val="61"/>
                <c:pt idx="0">
                  <c:v>2.5880552686716993E-28</c:v>
                </c:pt>
                <c:pt idx="1">
                  <c:v>1.6781073068391347E-26</c:v>
                </c:pt>
                <c:pt idx="2">
                  <c:v>9.4459881322512352E-25</c:v>
                </c:pt>
                <c:pt idx="3">
                  <c:v>4.6159016640960584E-23</c:v>
                </c:pt>
                <c:pt idx="4">
                  <c:v>1.9581555418077432E-21</c:v>
                </c:pt>
                <c:pt idx="5">
                  <c:v>7.2113954135510934E-20</c:v>
                </c:pt>
                <c:pt idx="6">
                  <c:v>2.3055413620368978E-18</c:v>
                </c:pt>
                <c:pt idx="7">
                  <c:v>6.3989396166666672E-17</c:v>
                </c:pt>
                <c:pt idx="8">
                  <c:v>1.5417877521612201E-15</c:v>
                </c:pt>
                <c:pt idx="9">
                  <c:v>3.2249475524857863E-14</c:v>
                </c:pt>
                <c:pt idx="10">
                  <c:v>5.8560153461795485E-13</c:v>
                </c:pt>
                <c:pt idx="11">
                  <c:v>9.2313080059855102E-12</c:v>
                </c:pt>
                <c:pt idx="12">
                  <c:v>1.2632978656947972E-10</c:v>
                </c:pt>
                <c:pt idx="13">
                  <c:v>1.5008240089704121E-9</c:v>
                </c:pt>
                <c:pt idx="14">
                  <c:v>1.5478727695183599E-8</c:v>
                </c:pt>
                <c:pt idx="15">
                  <c:v>1.3858691809610366E-7</c:v>
                </c:pt>
                <c:pt idx="16">
                  <c:v>1.0771859973664762E-6</c:v>
                </c:pt>
                <c:pt idx="17">
                  <c:v>7.2684305797877243E-6</c:v>
                </c:pt>
                <c:pt idx="18">
                  <c:v>4.2576708077666142E-5</c:v>
                </c:pt>
                <c:pt idx="19">
                  <c:v>2.1651350879289832E-4</c:v>
                </c:pt>
                <c:pt idx="20">
                  <c:v>9.558272370024781E-4</c:v>
                </c:pt>
                <c:pt idx="21">
                  <c:v>3.6631549620575994E-3</c:v>
                </c:pt>
                <c:pt idx="22">
                  <c:v>1.2187444904116725E-2</c:v>
                </c:pt>
                <c:pt idx="23">
                  <c:v>3.5200718257056646E-2</c:v>
                </c:pt>
                <c:pt idx="24">
                  <c:v>8.8261615097269944E-2</c:v>
                </c:pt>
                <c:pt idx="25">
                  <c:v>0.19212049672868228</c:v>
                </c:pt>
                <c:pt idx="26">
                  <c:v>0.36304212174060607</c:v>
                </c:pt>
                <c:pt idx="27">
                  <c:v>0.59555492158537293</c:v>
                </c:pt>
                <c:pt idx="28">
                  <c:v>0.84814109098093893</c:v>
                </c:pt>
                <c:pt idx="29">
                  <c:v>1.0485662534989972</c:v>
                </c:pt>
                <c:pt idx="30">
                  <c:v>1.1253953952177929</c:v>
                </c:pt>
                <c:pt idx="31">
                  <c:v>1.0485662534989972</c:v>
                </c:pt>
                <c:pt idx="32">
                  <c:v>0.84814109098093893</c:v>
                </c:pt>
                <c:pt idx="33">
                  <c:v>0.59555492158537293</c:v>
                </c:pt>
                <c:pt idx="34">
                  <c:v>0.36304212174060607</c:v>
                </c:pt>
                <c:pt idx="35">
                  <c:v>0.19212049672868228</c:v>
                </c:pt>
                <c:pt idx="36">
                  <c:v>8.8261615097269944E-2</c:v>
                </c:pt>
                <c:pt idx="37">
                  <c:v>3.5200718257056646E-2</c:v>
                </c:pt>
                <c:pt idx="38">
                  <c:v>1.2187444904116725E-2</c:v>
                </c:pt>
                <c:pt idx="39">
                  <c:v>3.6631549620575994E-3</c:v>
                </c:pt>
                <c:pt idx="40">
                  <c:v>9.558272370024781E-4</c:v>
                </c:pt>
                <c:pt idx="41">
                  <c:v>2.1651350879289832E-4</c:v>
                </c:pt>
                <c:pt idx="42">
                  <c:v>4.2576708077666142E-5</c:v>
                </c:pt>
                <c:pt idx="43">
                  <c:v>7.2684305797877243E-6</c:v>
                </c:pt>
                <c:pt idx="44">
                  <c:v>1.0771859973664762E-6</c:v>
                </c:pt>
                <c:pt idx="45">
                  <c:v>1.3858691809610366E-7</c:v>
                </c:pt>
                <c:pt idx="46">
                  <c:v>1.5478727695183599E-8</c:v>
                </c:pt>
                <c:pt idx="47">
                  <c:v>1.5008240089704121E-9</c:v>
                </c:pt>
                <c:pt idx="48">
                  <c:v>1.2632978656947972E-10</c:v>
                </c:pt>
                <c:pt idx="49">
                  <c:v>9.2313080059855102E-12</c:v>
                </c:pt>
                <c:pt idx="50">
                  <c:v>5.8560153461795485E-13</c:v>
                </c:pt>
                <c:pt idx="51">
                  <c:v>3.2249475524857863E-14</c:v>
                </c:pt>
                <c:pt idx="52">
                  <c:v>1.5417877521612201E-15</c:v>
                </c:pt>
                <c:pt idx="53">
                  <c:v>6.3989396166666672E-17</c:v>
                </c:pt>
                <c:pt idx="54">
                  <c:v>2.3055413620368978E-18</c:v>
                </c:pt>
                <c:pt idx="55">
                  <c:v>7.2113954135484801E-20</c:v>
                </c:pt>
                <c:pt idx="56">
                  <c:v>1.9581555418077432E-21</c:v>
                </c:pt>
                <c:pt idx="57">
                  <c:v>4.6159016640960584E-23</c:v>
                </c:pt>
                <c:pt idx="58">
                  <c:v>9.4459881322474093E-25</c:v>
                </c:pt>
                <c:pt idx="59">
                  <c:v>1.678107306838443E-26</c:v>
                </c:pt>
                <c:pt idx="60">
                  <c:v>2.5880552686705962E-28</c:v>
                </c:pt>
              </c:numCache>
            </c:numRef>
          </c:val>
          <c:smooth val="0"/>
          <c:extLst>
            <c:ext xmlns:c16="http://schemas.microsoft.com/office/drawing/2014/chart" uri="{C3380CC4-5D6E-409C-BE32-E72D297353CC}">
              <c16:uniqueId val="{00000002-0298-4B0C-9F60-825482D3F752}"/>
            </c:ext>
          </c:extLst>
        </c:ser>
        <c:dLbls>
          <c:showLegendKey val="0"/>
          <c:showVal val="0"/>
          <c:showCatName val="0"/>
          <c:showSerName val="0"/>
          <c:showPercent val="0"/>
          <c:showBubbleSize val="0"/>
        </c:dLbls>
        <c:smooth val="0"/>
        <c:axId val="136549120"/>
        <c:axId val="136550656"/>
      </c:lineChart>
      <c:catAx>
        <c:axId val="136549120"/>
        <c:scaling>
          <c:orientation val="minMax"/>
        </c:scaling>
        <c:delete val="1"/>
        <c:axPos val="b"/>
        <c:numFmt formatCode="General" sourceLinked="1"/>
        <c:majorTickMark val="out"/>
        <c:minorTickMark val="none"/>
        <c:tickLblPos val="nextTo"/>
        <c:crossAx val="136550656"/>
        <c:crosses val="autoZero"/>
        <c:auto val="1"/>
        <c:lblAlgn val="ctr"/>
        <c:lblOffset val="100"/>
        <c:noMultiLvlLbl val="0"/>
      </c:catAx>
      <c:valAx>
        <c:axId val="136550656"/>
        <c:scaling>
          <c:orientation val="minMax"/>
        </c:scaling>
        <c:delete val="1"/>
        <c:axPos val="l"/>
        <c:numFmt formatCode="General" sourceLinked="1"/>
        <c:majorTickMark val="out"/>
        <c:minorTickMark val="none"/>
        <c:tickLblPos val="nextTo"/>
        <c:crossAx val="136549120"/>
        <c:crosses val="autoZero"/>
        <c:crossBetween val="between"/>
      </c:valAx>
      <c:spPr>
        <a:noFill/>
        <a:ln w="25400">
          <a:noFill/>
        </a:ln>
      </c:spPr>
    </c:plotArea>
    <c:plotVisOnly val="1"/>
    <c:dispBlanksAs val="gap"/>
    <c:showDLblsOverMax val="0"/>
  </c:chart>
  <c:txPr>
    <a:bodyPr/>
    <a:lstStyle/>
    <a:p>
      <a:pPr>
        <a:defRPr sz="1800"/>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
          <c:y val="7.4362304645914062E-2"/>
          <c:w val="1"/>
          <c:h val="0.91211727632755613"/>
        </c:manualLayout>
      </c:layout>
      <c:lineChart>
        <c:grouping val="standard"/>
        <c:varyColors val="0"/>
        <c:ser>
          <c:idx val="0"/>
          <c:order val="0"/>
          <c:tx>
            <c:strRef>
              <c:f>Sheet1!$B$1</c:f>
              <c:strCache>
                <c:ptCount val="1"/>
                <c:pt idx="0">
                  <c:v>SQRT_N</c:v>
                </c:pt>
              </c:strCache>
            </c:strRef>
          </c:tx>
          <c:spPr>
            <a:ln>
              <a:noFill/>
            </a:ln>
          </c:spPr>
          <c:marker>
            <c:symbol val="none"/>
          </c:marker>
          <c:cat>
            <c:numRef>
              <c:f>Sheet1!$A$2:$A$62</c:f>
              <c:numCache>
                <c:formatCode>General</c:formatCode>
                <c:ptCount val="61"/>
                <c:pt idx="0">
                  <c:v>-3</c:v>
                </c:pt>
                <c:pt idx="1">
                  <c:v>-2.9</c:v>
                </c:pt>
                <c:pt idx="2">
                  <c:v>-2.8</c:v>
                </c:pt>
                <c:pt idx="3">
                  <c:v>-2.7</c:v>
                </c:pt>
                <c:pt idx="4">
                  <c:v>-2.6</c:v>
                </c:pt>
                <c:pt idx="5">
                  <c:v>-2.5</c:v>
                </c:pt>
                <c:pt idx="6">
                  <c:v>-2.4</c:v>
                </c:pt>
                <c:pt idx="7">
                  <c:v>-2.2999999999999998</c:v>
                </c:pt>
                <c:pt idx="8">
                  <c:v>-2.2000000000000002</c:v>
                </c:pt>
                <c:pt idx="9">
                  <c:v>-2.1</c:v>
                </c:pt>
                <c:pt idx="10">
                  <c:v>-2</c:v>
                </c:pt>
                <c:pt idx="11">
                  <c:v>-1.9</c:v>
                </c:pt>
                <c:pt idx="12">
                  <c:v>-1.8</c:v>
                </c:pt>
                <c:pt idx="13">
                  <c:v>-1.7</c:v>
                </c:pt>
                <c:pt idx="14">
                  <c:v>-1.6</c:v>
                </c:pt>
                <c:pt idx="15">
                  <c:v>-1.5</c:v>
                </c:pt>
                <c:pt idx="16">
                  <c:v>-1.4</c:v>
                </c:pt>
                <c:pt idx="17">
                  <c:v>-1.3</c:v>
                </c:pt>
                <c:pt idx="18">
                  <c:v>-1.2</c:v>
                </c:pt>
                <c:pt idx="19">
                  <c:v>-1.1000000000000001</c:v>
                </c:pt>
                <c:pt idx="20">
                  <c:v>-1</c:v>
                </c:pt>
                <c:pt idx="21">
                  <c:v>-0.9</c:v>
                </c:pt>
                <c:pt idx="22">
                  <c:v>-0.8</c:v>
                </c:pt>
                <c:pt idx="23">
                  <c:v>-0.7</c:v>
                </c:pt>
                <c:pt idx="24">
                  <c:v>-0.6</c:v>
                </c:pt>
                <c:pt idx="25">
                  <c:v>-0.5</c:v>
                </c:pt>
                <c:pt idx="26">
                  <c:v>-0.4</c:v>
                </c:pt>
                <c:pt idx="27">
                  <c:v>-0.3</c:v>
                </c:pt>
                <c:pt idx="28">
                  <c:v>-0.2</c:v>
                </c:pt>
                <c:pt idx="29">
                  <c:v>-0.1</c:v>
                </c:pt>
                <c:pt idx="30">
                  <c:v>0</c:v>
                </c:pt>
                <c:pt idx="31">
                  <c:v>0.1</c:v>
                </c:pt>
                <c:pt idx="32">
                  <c:v>0.2</c:v>
                </c:pt>
                <c:pt idx="33">
                  <c:v>0.3</c:v>
                </c:pt>
                <c:pt idx="34">
                  <c:v>0.4</c:v>
                </c:pt>
                <c:pt idx="35">
                  <c:v>0.5</c:v>
                </c:pt>
                <c:pt idx="36">
                  <c:v>0.6</c:v>
                </c:pt>
                <c:pt idx="37">
                  <c:v>0.7</c:v>
                </c:pt>
                <c:pt idx="38">
                  <c:v>0.8</c:v>
                </c:pt>
                <c:pt idx="39">
                  <c:v>0.9</c:v>
                </c:pt>
                <c:pt idx="40">
                  <c:v>1</c:v>
                </c:pt>
                <c:pt idx="41">
                  <c:v>1.1000000000000001</c:v>
                </c:pt>
                <c:pt idx="42">
                  <c:v>1.2</c:v>
                </c:pt>
                <c:pt idx="43">
                  <c:v>1.3</c:v>
                </c:pt>
                <c:pt idx="44">
                  <c:v>1.4</c:v>
                </c:pt>
                <c:pt idx="45">
                  <c:v>1.5</c:v>
                </c:pt>
                <c:pt idx="46">
                  <c:v>1.6</c:v>
                </c:pt>
                <c:pt idx="47">
                  <c:v>1.7</c:v>
                </c:pt>
                <c:pt idx="48">
                  <c:v>1.8</c:v>
                </c:pt>
                <c:pt idx="49">
                  <c:v>1.9</c:v>
                </c:pt>
                <c:pt idx="50">
                  <c:v>2</c:v>
                </c:pt>
                <c:pt idx="51">
                  <c:v>2.1</c:v>
                </c:pt>
                <c:pt idx="52">
                  <c:v>2.2000000000000002</c:v>
                </c:pt>
                <c:pt idx="53">
                  <c:v>2.2999999999999998</c:v>
                </c:pt>
                <c:pt idx="54">
                  <c:v>2.4</c:v>
                </c:pt>
                <c:pt idx="55">
                  <c:v>2.5000000000000102</c:v>
                </c:pt>
                <c:pt idx="56">
                  <c:v>2.6</c:v>
                </c:pt>
                <c:pt idx="57">
                  <c:v>2.7</c:v>
                </c:pt>
                <c:pt idx="58">
                  <c:v>2.80000000000001</c:v>
                </c:pt>
                <c:pt idx="59">
                  <c:v>2.9000000000000101</c:v>
                </c:pt>
                <c:pt idx="60">
                  <c:v>3.0000000000000102</c:v>
                </c:pt>
              </c:numCache>
            </c:numRef>
          </c:cat>
          <c:val>
            <c:numRef>
              <c:f>Sheet1!$B$2:$B$62</c:f>
              <c:numCache>
                <c:formatCode>General</c:formatCode>
                <c:ptCount val="61"/>
                <c:pt idx="0">
                  <c:v>1.9641280346397437E-5</c:v>
                </c:pt>
                <c:pt idx="1">
                  <c:v>3.5432642208482576E-5</c:v>
                </c:pt>
                <c:pt idx="2">
                  <c:v>6.2654373762500076E-5</c:v>
                </c:pt>
                <c:pt idx="3">
                  <c:v>1.0859588240644479E-4</c:v>
                </c:pt>
                <c:pt idx="4">
                  <c:v>1.844970532032499E-4</c:v>
                </c:pt>
                <c:pt idx="5">
                  <c:v>3.0724131819283507E-4</c:v>
                </c:pt>
                <c:pt idx="6">
                  <c:v>5.015149871266364E-4</c:v>
                </c:pt>
                <c:pt idx="7">
                  <c:v>8.0242106721409789E-4</c:v>
                </c:pt>
                <c:pt idx="8">
                  <c:v>1.2584467376058936E-3</c:v>
                </c:pt>
                <c:pt idx="9">
                  <c:v>1.934556715369451E-3</c:v>
                </c:pt>
                <c:pt idx="10">
                  <c:v>2.9150244650281935E-3</c:v>
                </c:pt>
                <c:pt idx="11">
                  <c:v>4.3054351485446677E-3</c:v>
                </c:pt>
                <c:pt idx="12">
                  <c:v>6.2331274957362452E-3</c:v>
                </c:pt>
                <c:pt idx="13">
                  <c:v>8.845228955443667E-3</c:v>
                </c:pt>
                <c:pt idx="14">
                  <c:v>1.2303431565987106E-2</c:v>
                </c:pt>
                <c:pt idx="15">
                  <c:v>1.6774807587073417E-2</c:v>
                </c:pt>
                <c:pt idx="16">
                  <c:v>2.2418313965703162E-2</c:v>
                </c:pt>
                <c:pt idx="17">
                  <c:v>2.9367194340447818E-2</c:v>
                </c:pt>
                <c:pt idx="18">
                  <c:v>3.7708223949943401E-2</c:v>
                </c:pt>
                <c:pt idx="19">
                  <c:v>4.7459571037821731E-2</c:v>
                </c:pt>
                <c:pt idx="20">
                  <c:v>5.8549831524319168E-2</c:v>
                </c:pt>
                <c:pt idx="21">
                  <c:v>7.0801360213682801E-2</c:v>
                </c:pt>
                <c:pt idx="22">
                  <c:v>8.3921195741358937E-2</c:v>
                </c:pt>
                <c:pt idx="23">
                  <c:v>9.7502518903013785E-2</c:v>
                </c:pt>
                <c:pt idx="24">
                  <c:v>0.11103863597239756</c:v>
                </c:pt>
                <c:pt idx="25">
                  <c:v>0.12394999430965298</c:v>
                </c:pt>
                <c:pt idx="26">
                  <c:v>0.13562289623902943</c:v>
                </c:pt>
                <c:pt idx="27">
                  <c:v>0.14545666578175079</c:v>
                </c:pt>
                <c:pt idx="28">
                  <c:v>0.15291438851158204</c:v>
                </c:pt>
                <c:pt idx="29">
                  <c:v>0.1575713249484893</c:v>
                </c:pt>
                <c:pt idx="30">
                  <c:v>0.15915494309189535</c:v>
                </c:pt>
                <c:pt idx="31">
                  <c:v>0.1575713249484893</c:v>
                </c:pt>
                <c:pt idx="32">
                  <c:v>0.15291438851158204</c:v>
                </c:pt>
                <c:pt idx="33">
                  <c:v>0.14545666578175079</c:v>
                </c:pt>
                <c:pt idx="34">
                  <c:v>0.13562289623902943</c:v>
                </c:pt>
                <c:pt idx="35">
                  <c:v>0.12394999430965298</c:v>
                </c:pt>
                <c:pt idx="36">
                  <c:v>0.11103863597239756</c:v>
                </c:pt>
                <c:pt idx="37">
                  <c:v>9.7502518903013785E-2</c:v>
                </c:pt>
                <c:pt idx="38">
                  <c:v>8.3921195741358937E-2</c:v>
                </c:pt>
                <c:pt idx="39">
                  <c:v>7.0801360213682801E-2</c:v>
                </c:pt>
                <c:pt idx="40">
                  <c:v>5.8549831524319168E-2</c:v>
                </c:pt>
                <c:pt idx="41">
                  <c:v>4.7459571037821731E-2</c:v>
                </c:pt>
                <c:pt idx="42">
                  <c:v>3.7708223949943401E-2</c:v>
                </c:pt>
                <c:pt idx="43">
                  <c:v>2.9367194340447818E-2</c:v>
                </c:pt>
                <c:pt idx="44">
                  <c:v>2.2418313965703162E-2</c:v>
                </c:pt>
                <c:pt idx="45">
                  <c:v>1.6774807587073417E-2</c:v>
                </c:pt>
                <c:pt idx="46">
                  <c:v>1.2303431565987106E-2</c:v>
                </c:pt>
                <c:pt idx="47">
                  <c:v>8.845228955443667E-3</c:v>
                </c:pt>
                <c:pt idx="48">
                  <c:v>6.2331274957362452E-3</c:v>
                </c:pt>
                <c:pt idx="49">
                  <c:v>4.3054351485446677E-3</c:v>
                </c:pt>
                <c:pt idx="50">
                  <c:v>2.9150244650281935E-3</c:v>
                </c:pt>
                <c:pt idx="51">
                  <c:v>1.934556715369451E-3</c:v>
                </c:pt>
                <c:pt idx="52">
                  <c:v>1.2584467376058936E-3</c:v>
                </c:pt>
                <c:pt idx="53">
                  <c:v>8.0242106721409789E-4</c:v>
                </c:pt>
                <c:pt idx="54">
                  <c:v>5.015149871266364E-4</c:v>
                </c:pt>
                <c:pt idx="55">
                  <c:v>3.0724131819281919E-4</c:v>
                </c:pt>
                <c:pt idx="56">
                  <c:v>1.844970532032499E-4</c:v>
                </c:pt>
                <c:pt idx="57">
                  <c:v>1.0859588240644479E-4</c:v>
                </c:pt>
                <c:pt idx="58">
                  <c:v>6.2654373762496512E-5</c:v>
                </c:pt>
                <c:pt idx="59">
                  <c:v>3.5432642208480502E-5</c:v>
                </c:pt>
                <c:pt idx="60">
                  <c:v>1.9641280346396251E-5</c:v>
                </c:pt>
              </c:numCache>
            </c:numRef>
          </c:val>
          <c:smooth val="0"/>
          <c:extLst>
            <c:ext xmlns:c16="http://schemas.microsoft.com/office/drawing/2014/chart" uri="{C3380CC4-5D6E-409C-BE32-E72D297353CC}">
              <c16:uniqueId val="{00000000-C615-406A-AD5C-EF3ECE25D6C9}"/>
            </c:ext>
          </c:extLst>
        </c:ser>
        <c:ser>
          <c:idx val="1"/>
          <c:order val="1"/>
          <c:tx>
            <c:strRef>
              <c:f>Sheet1!$C$1</c:f>
              <c:strCache>
                <c:ptCount val="1"/>
                <c:pt idx="0">
                  <c:v>3.16227766</c:v>
                </c:pt>
              </c:strCache>
            </c:strRef>
          </c:tx>
          <c:marker>
            <c:symbol val="none"/>
          </c:marker>
          <c:cat>
            <c:numRef>
              <c:f>Sheet1!$A$2:$A$62</c:f>
              <c:numCache>
                <c:formatCode>General</c:formatCode>
                <c:ptCount val="61"/>
                <c:pt idx="0">
                  <c:v>-3</c:v>
                </c:pt>
                <c:pt idx="1">
                  <c:v>-2.9</c:v>
                </c:pt>
                <c:pt idx="2">
                  <c:v>-2.8</c:v>
                </c:pt>
                <c:pt idx="3">
                  <c:v>-2.7</c:v>
                </c:pt>
                <c:pt idx="4">
                  <c:v>-2.6</c:v>
                </c:pt>
                <c:pt idx="5">
                  <c:v>-2.5</c:v>
                </c:pt>
                <c:pt idx="6">
                  <c:v>-2.4</c:v>
                </c:pt>
                <c:pt idx="7">
                  <c:v>-2.2999999999999998</c:v>
                </c:pt>
                <c:pt idx="8">
                  <c:v>-2.2000000000000002</c:v>
                </c:pt>
                <c:pt idx="9">
                  <c:v>-2.1</c:v>
                </c:pt>
                <c:pt idx="10">
                  <c:v>-2</c:v>
                </c:pt>
                <c:pt idx="11">
                  <c:v>-1.9</c:v>
                </c:pt>
                <c:pt idx="12">
                  <c:v>-1.8</c:v>
                </c:pt>
                <c:pt idx="13">
                  <c:v>-1.7</c:v>
                </c:pt>
                <c:pt idx="14">
                  <c:v>-1.6</c:v>
                </c:pt>
                <c:pt idx="15">
                  <c:v>-1.5</c:v>
                </c:pt>
                <c:pt idx="16">
                  <c:v>-1.4</c:v>
                </c:pt>
                <c:pt idx="17">
                  <c:v>-1.3</c:v>
                </c:pt>
                <c:pt idx="18">
                  <c:v>-1.2</c:v>
                </c:pt>
                <c:pt idx="19">
                  <c:v>-1.1000000000000001</c:v>
                </c:pt>
                <c:pt idx="20">
                  <c:v>-1</c:v>
                </c:pt>
                <c:pt idx="21">
                  <c:v>-0.9</c:v>
                </c:pt>
                <c:pt idx="22">
                  <c:v>-0.8</c:v>
                </c:pt>
                <c:pt idx="23">
                  <c:v>-0.7</c:v>
                </c:pt>
                <c:pt idx="24">
                  <c:v>-0.6</c:v>
                </c:pt>
                <c:pt idx="25">
                  <c:v>-0.5</c:v>
                </c:pt>
                <c:pt idx="26">
                  <c:v>-0.4</c:v>
                </c:pt>
                <c:pt idx="27">
                  <c:v>-0.3</c:v>
                </c:pt>
                <c:pt idx="28">
                  <c:v>-0.2</c:v>
                </c:pt>
                <c:pt idx="29">
                  <c:v>-0.1</c:v>
                </c:pt>
                <c:pt idx="30">
                  <c:v>0</c:v>
                </c:pt>
                <c:pt idx="31">
                  <c:v>0.1</c:v>
                </c:pt>
                <c:pt idx="32">
                  <c:v>0.2</c:v>
                </c:pt>
                <c:pt idx="33">
                  <c:v>0.3</c:v>
                </c:pt>
                <c:pt idx="34">
                  <c:v>0.4</c:v>
                </c:pt>
                <c:pt idx="35">
                  <c:v>0.5</c:v>
                </c:pt>
                <c:pt idx="36">
                  <c:v>0.6</c:v>
                </c:pt>
                <c:pt idx="37">
                  <c:v>0.7</c:v>
                </c:pt>
                <c:pt idx="38">
                  <c:v>0.8</c:v>
                </c:pt>
                <c:pt idx="39">
                  <c:v>0.9</c:v>
                </c:pt>
                <c:pt idx="40">
                  <c:v>1</c:v>
                </c:pt>
                <c:pt idx="41">
                  <c:v>1.1000000000000001</c:v>
                </c:pt>
                <c:pt idx="42">
                  <c:v>1.2</c:v>
                </c:pt>
                <c:pt idx="43">
                  <c:v>1.3</c:v>
                </c:pt>
                <c:pt idx="44">
                  <c:v>1.4</c:v>
                </c:pt>
                <c:pt idx="45">
                  <c:v>1.5</c:v>
                </c:pt>
                <c:pt idx="46">
                  <c:v>1.6</c:v>
                </c:pt>
                <c:pt idx="47">
                  <c:v>1.7</c:v>
                </c:pt>
                <c:pt idx="48">
                  <c:v>1.8</c:v>
                </c:pt>
                <c:pt idx="49">
                  <c:v>1.9</c:v>
                </c:pt>
                <c:pt idx="50">
                  <c:v>2</c:v>
                </c:pt>
                <c:pt idx="51">
                  <c:v>2.1</c:v>
                </c:pt>
                <c:pt idx="52">
                  <c:v>2.2000000000000002</c:v>
                </c:pt>
                <c:pt idx="53">
                  <c:v>2.2999999999999998</c:v>
                </c:pt>
                <c:pt idx="54">
                  <c:v>2.4</c:v>
                </c:pt>
                <c:pt idx="55">
                  <c:v>2.5000000000000102</c:v>
                </c:pt>
                <c:pt idx="56">
                  <c:v>2.6</c:v>
                </c:pt>
                <c:pt idx="57">
                  <c:v>2.7</c:v>
                </c:pt>
                <c:pt idx="58">
                  <c:v>2.80000000000001</c:v>
                </c:pt>
                <c:pt idx="59">
                  <c:v>2.9000000000000101</c:v>
                </c:pt>
                <c:pt idx="60">
                  <c:v>3.0000000000000102</c:v>
                </c:pt>
              </c:numCache>
            </c:numRef>
          </c:cat>
          <c:val>
            <c:numRef>
              <c:f>Sheet1!$C$2:$C$62</c:f>
              <c:numCache>
                <c:formatCode>General</c:formatCode>
                <c:ptCount val="61"/>
                <c:pt idx="0">
                  <c:v>2.1957479692438417E-13</c:v>
                </c:pt>
                <c:pt idx="1">
                  <c:v>1.4186156125976263E-12</c:v>
                </c:pt>
                <c:pt idx="2">
                  <c:v>8.6035915791690236E-12</c:v>
                </c:pt>
                <c:pt idx="3">
                  <c:v>4.8980999351042892E-11</c:v>
                </c:pt>
                <c:pt idx="4">
                  <c:v>2.6176302621139729E-10</c:v>
                </c:pt>
                <c:pt idx="5">
                  <c:v>1.3131724694912204E-9</c:v>
                </c:pt>
                <c:pt idx="6">
                  <c:v>6.1839794944819354E-9</c:v>
                </c:pt>
                <c:pt idx="7">
                  <c:v>2.7336764892971163E-8</c:v>
                </c:pt>
                <c:pt idx="8">
                  <c:v>1.1343811461984197E-7</c:v>
                </c:pt>
                <c:pt idx="9">
                  <c:v>4.4187933027691353E-7</c:v>
                </c:pt>
                <c:pt idx="10">
                  <c:v>1.6157760991585231E-6</c:v>
                </c:pt>
                <c:pt idx="11">
                  <c:v>5.5461482920681163E-6</c:v>
                </c:pt>
                <c:pt idx="12">
                  <c:v>1.7870412630700963E-5</c:v>
                </c:pt>
                <c:pt idx="13">
                  <c:v>5.4051840785899258E-5</c:v>
                </c:pt>
                <c:pt idx="14">
                  <c:v>1.5346848375637971E-4</c:v>
                </c:pt>
                <c:pt idx="15">
                  <c:v>4.0903523562266345E-4</c:v>
                </c:pt>
                <c:pt idx="16">
                  <c:v>1.0233755697151635E-3</c:v>
                </c:pt>
                <c:pt idx="17">
                  <c:v>2.40348919692796E-3</c:v>
                </c:pt>
                <c:pt idx="18">
                  <c:v>5.2988558962158445E-3</c:v>
                </c:pt>
                <c:pt idx="19">
                  <c:v>1.0966166831794077E-2</c:v>
                </c:pt>
                <c:pt idx="20">
                  <c:v>2.1303962728789781E-2</c:v>
                </c:pt>
                <c:pt idx="21">
                  <c:v>3.8850690666012294E-2</c:v>
                </c:pt>
                <c:pt idx="22">
                  <c:v>6.6507389155984586E-2</c:v>
                </c:pt>
                <c:pt idx="23">
                  <c:v>0.10687444193864395</c:v>
                </c:pt>
                <c:pt idx="24">
                  <c:v>0.1612169222688204</c:v>
                </c:pt>
                <c:pt idx="25">
                  <c:v>0.22828648286694625</c:v>
                </c:pt>
                <c:pt idx="26">
                  <c:v>0.30344680806711366</c:v>
                </c:pt>
                <c:pt idx="27">
                  <c:v>0.37863238336140181</c:v>
                </c:pt>
                <c:pt idx="28">
                  <c:v>0.44349195093252719</c:v>
                </c:pt>
                <c:pt idx="29">
                  <c:v>0.48762564102724698</c:v>
                </c:pt>
                <c:pt idx="30">
                  <c:v>0.50329212101807197</c:v>
                </c:pt>
                <c:pt idx="31">
                  <c:v>0.48762564102724698</c:v>
                </c:pt>
                <c:pt idx="32">
                  <c:v>0.44349195093252719</c:v>
                </c:pt>
                <c:pt idx="33">
                  <c:v>0.37863238336140181</c:v>
                </c:pt>
                <c:pt idx="34">
                  <c:v>0.30344680806711366</c:v>
                </c:pt>
                <c:pt idx="35">
                  <c:v>0.22828648286694625</c:v>
                </c:pt>
                <c:pt idx="36">
                  <c:v>0.1612169222688204</c:v>
                </c:pt>
                <c:pt idx="37">
                  <c:v>0.10687444193864395</c:v>
                </c:pt>
                <c:pt idx="38">
                  <c:v>6.6507389155984586E-2</c:v>
                </c:pt>
                <c:pt idx="39">
                  <c:v>3.8850690666012294E-2</c:v>
                </c:pt>
                <c:pt idx="40">
                  <c:v>2.1303962728789781E-2</c:v>
                </c:pt>
                <c:pt idx="41">
                  <c:v>1.0966166831794077E-2</c:v>
                </c:pt>
                <c:pt idx="42">
                  <c:v>5.2988558962158445E-3</c:v>
                </c:pt>
                <c:pt idx="43">
                  <c:v>2.40348919692796E-3</c:v>
                </c:pt>
                <c:pt idx="44">
                  <c:v>1.0233755697151635E-3</c:v>
                </c:pt>
                <c:pt idx="45">
                  <c:v>4.0903523562266345E-4</c:v>
                </c:pt>
                <c:pt idx="46">
                  <c:v>1.5346848375637971E-4</c:v>
                </c:pt>
                <c:pt idx="47">
                  <c:v>5.4051840785899258E-5</c:v>
                </c:pt>
                <c:pt idx="48">
                  <c:v>1.7870412630700963E-5</c:v>
                </c:pt>
                <c:pt idx="49">
                  <c:v>5.5461482920681163E-6</c:v>
                </c:pt>
                <c:pt idx="50">
                  <c:v>1.6157760991585231E-6</c:v>
                </c:pt>
                <c:pt idx="51">
                  <c:v>4.4187933027691353E-7</c:v>
                </c:pt>
                <c:pt idx="52">
                  <c:v>1.1343811461984197E-7</c:v>
                </c:pt>
                <c:pt idx="53">
                  <c:v>2.7336764892971163E-8</c:v>
                </c:pt>
                <c:pt idx="54">
                  <c:v>6.1839794944819354E-9</c:v>
                </c:pt>
                <c:pt idx="55">
                  <c:v>1.3131724694910057E-9</c:v>
                </c:pt>
                <c:pt idx="56">
                  <c:v>2.6176302621139729E-10</c:v>
                </c:pt>
                <c:pt idx="57">
                  <c:v>4.8980999351042892E-11</c:v>
                </c:pt>
                <c:pt idx="58">
                  <c:v>8.6035915791674953E-12</c:v>
                </c:pt>
                <c:pt idx="59">
                  <c:v>1.4186156125973641E-12</c:v>
                </c:pt>
                <c:pt idx="60">
                  <c:v>2.1957479692434206E-13</c:v>
                </c:pt>
              </c:numCache>
            </c:numRef>
          </c:val>
          <c:smooth val="0"/>
          <c:extLst>
            <c:ext xmlns:c16="http://schemas.microsoft.com/office/drawing/2014/chart" uri="{C3380CC4-5D6E-409C-BE32-E72D297353CC}">
              <c16:uniqueId val="{00000001-C615-406A-AD5C-EF3ECE25D6C9}"/>
            </c:ext>
          </c:extLst>
        </c:ser>
        <c:ser>
          <c:idx val="2"/>
          <c:order val="2"/>
          <c:tx>
            <c:strRef>
              <c:f>Sheet1!$D$1</c:f>
              <c:strCache>
                <c:ptCount val="1"/>
                <c:pt idx="0">
                  <c:v>7.071067812</c:v>
                </c:pt>
              </c:strCache>
            </c:strRef>
          </c:tx>
          <c:spPr>
            <a:ln>
              <a:noFill/>
            </a:ln>
          </c:spPr>
          <c:marker>
            <c:symbol val="none"/>
          </c:marker>
          <c:cat>
            <c:numRef>
              <c:f>Sheet1!$A$2:$A$62</c:f>
              <c:numCache>
                <c:formatCode>General</c:formatCode>
                <c:ptCount val="61"/>
                <c:pt idx="0">
                  <c:v>-3</c:v>
                </c:pt>
                <c:pt idx="1">
                  <c:v>-2.9</c:v>
                </c:pt>
                <c:pt idx="2">
                  <c:v>-2.8</c:v>
                </c:pt>
                <c:pt idx="3">
                  <c:v>-2.7</c:v>
                </c:pt>
                <c:pt idx="4">
                  <c:v>-2.6</c:v>
                </c:pt>
                <c:pt idx="5">
                  <c:v>-2.5</c:v>
                </c:pt>
                <c:pt idx="6">
                  <c:v>-2.4</c:v>
                </c:pt>
                <c:pt idx="7">
                  <c:v>-2.2999999999999998</c:v>
                </c:pt>
                <c:pt idx="8">
                  <c:v>-2.2000000000000002</c:v>
                </c:pt>
                <c:pt idx="9">
                  <c:v>-2.1</c:v>
                </c:pt>
                <c:pt idx="10">
                  <c:v>-2</c:v>
                </c:pt>
                <c:pt idx="11">
                  <c:v>-1.9</c:v>
                </c:pt>
                <c:pt idx="12">
                  <c:v>-1.8</c:v>
                </c:pt>
                <c:pt idx="13">
                  <c:v>-1.7</c:v>
                </c:pt>
                <c:pt idx="14">
                  <c:v>-1.6</c:v>
                </c:pt>
                <c:pt idx="15">
                  <c:v>-1.5</c:v>
                </c:pt>
                <c:pt idx="16">
                  <c:v>-1.4</c:v>
                </c:pt>
                <c:pt idx="17">
                  <c:v>-1.3</c:v>
                </c:pt>
                <c:pt idx="18">
                  <c:v>-1.2</c:v>
                </c:pt>
                <c:pt idx="19">
                  <c:v>-1.1000000000000001</c:v>
                </c:pt>
                <c:pt idx="20">
                  <c:v>-1</c:v>
                </c:pt>
                <c:pt idx="21">
                  <c:v>-0.9</c:v>
                </c:pt>
                <c:pt idx="22">
                  <c:v>-0.8</c:v>
                </c:pt>
                <c:pt idx="23">
                  <c:v>-0.7</c:v>
                </c:pt>
                <c:pt idx="24">
                  <c:v>-0.6</c:v>
                </c:pt>
                <c:pt idx="25">
                  <c:v>-0.5</c:v>
                </c:pt>
                <c:pt idx="26">
                  <c:v>-0.4</c:v>
                </c:pt>
                <c:pt idx="27">
                  <c:v>-0.3</c:v>
                </c:pt>
                <c:pt idx="28">
                  <c:v>-0.2</c:v>
                </c:pt>
                <c:pt idx="29">
                  <c:v>-0.1</c:v>
                </c:pt>
                <c:pt idx="30">
                  <c:v>0</c:v>
                </c:pt>
                <c:pt idx="31">
                  <c:v>0.1</c:v>
                </c:pt>
                <c:pt idx="32">
                  <c:v>0.2</c:v>
                </c:pt>
                <c:pt idx="33">
                  <c:v>0.3</c:v>
                </c:pt>
                <c:pt idx="34">
                  <c:v>0.4</c:v>
                </c:pt>
                <c:pt idx="35">
                  <c:v>0.5</c:v>
                </c:pt>
                <c:pt idx="36">
                  <c:v>0.6</c:v>
                </c:pt>
                <c:pt idx="37">
                  <c:v>0.7</c:v>
                </c:pt>
                <c:pt idx="38">
                  <c:v>0.8</c:v>
                </c:pt>
                <c:pt idx="39">
                  <c:v>0.9</c:v>
                </c:pt>
                <c:pt idx="40">
                  <c:v>1</c:v>
                </c:pt>
                <c:pt idx="41">
                  <c:v>1.1000000000000001</c:v>
                </c:pt>
                <c:pt idx="42">
                  <c:v>1.2</c:v>
                </c:pt>
                <c:pt idx="43">
                  <c:v>1.3</c:v>
                </c:pt>
                <c:pt idx="44">
                  <c:v>1.4</c:v>
                </c:pt>
                <c:pt idx="45">
                  <c:v>1.5</c:v>
                </c:pt>
                <c:pt idx="46">
                  <c:v>1.6</c:v>
                </c:pt>
                <c:pt idx="47">
                  <c:v>1.7</c:v>
                </c:pt>
                <c:pt idx="48">
                  <c:v>1.8</c:v>
                </c:pt>
                <c:pt idx="49">
                  <c:v>1.9</c:v>
                </c:pt>
                <c:pt idx="50">
                  <c:v>2</c:v>
                </c:pt>
                <c:pt idx="51">
                  <c:v>2.1</c:v>
                </c:pt>
                <c:pt idx="52">
                  <c:v>2.2000000000000002</c:v>
                </c:pt>
                <c:pt idx="53">
                  <c:v>2.2999999999999998</c:v>
                </c:pt>
                <c:pt idx="54">
                  <c:v>2.4</c:v>
                </c:pt>
                <c:pt idx="55">
                  <c:v>2.5000000000000102</c:v>
                </c:pt>
                <c:pt idx="56">
                  <c:v>2.6</c:v>
                </c:pt>
                <c:pt idx="57">
                  <c:v>2.7</c:v>
                </c:pt>
                <c:pt idx="58">
                  <c:v>2.80000000000001</c:v>
                </c:pt>
                <c:pt idx="59">
                  <c:v>2.9000000000000101</c:v>
                </c:pt>
                <c:pt idx="60">
                  <c:v>3.0000000000000102</c:v>
                </c:pt>
              </c:numCache>
            </c:numRef>
          </c:cat>
          <c:val>
            <c:numRef>
              <c:f>Sheet1!$D$2:$D$62</c:f>
              <c:numCache>
                <c:formatCode>General</c:formatCode>
                <c:ptCount val="61"/>
                <c:pt idx="0">
                  <c:v>2.5880552686716993E-28</c:v>
                </c:pt>
                <c:pt idx="1">
                  <c:v>1.6781073068391347E-26</c:v>
                </c:pt>
                <c:pt idx="2">
                  <c:v>9.4459881322512352E-25</c:v>
                </c:pt>
                <c:pt idx="3">
                  <c:v>4.6159016640960584E-23</c:v>
                </c:pt>
                <c:pt idx="4">
                  <c:v>1.9581555418077432E-21</c:v>
                </c:pt>
                <c:pt idx="5">
                  <c:v>7.2113954135510934E-20</c:v>
                </c:pt>
                <c:pt idx="6">
                  <c:v>2.3055413620368978E-18</c:v>
                </c:pt>
                <c:pt idx="7">
                  <c:v>6.3989396166666672E-17</c:v>
                </c:pt>
                <c:pt idx="8">
                  <c:v>1.5417877521612201E-15</c:v>
                </c:pt>
                <c:pt idx="9">
                  <c:v>3.2249475524857863E-14</c:v>
                </c:pt>
                <c:pt idx="10">
                  <c:v>5.8560153461795485E-13</c:v>
                </c:pt>
                <c:pt idx="11">
                  <c:v>9.2313080059855102E-12</c:v>
                </c:pt>
                <c:pt idx="12">
                  <c:v>1.2632978656947972E-10</c:v>
                </c:pt>
                <c:pt idx="13">
                  <c:v>1.5008240089704121E-9</c:v>
                </c:pt>
                <c:pt idx="14">
                  <c:v>1.5478727695183599E-8</c:v>
                </c:pt>
                <c:pt idx="15">
                  <c:v>1.3858691809610366E-7</c:v>
                </c:pt>
                <c:pt idx="16">
                  <c:v>1.0771859973664762E-6</c:v>
                </c:pt>
                <c:pt idx="17">
                  <c:v>7.2684305797877243E-6</c:v>
                </c:pt>
                <c:pt idx="18">
                  <c:v>4.2576708077666142E-5</c:v>
                </c:pt>
                <c:pt idx="19">
                  <c:v>2.1651350879289832E-4</c:v>
                </c:pt>
                <c:pt idx="20">
                  <c:v>9.558272370024781E-4</c:v>
                </c:pt>
                <c:pt idx="21">
                  <c:v>3.6631549620575994E-3</c:v>
                </c:pt>
                <c:pt idx="22">
                  <c:v>1.2187444904116725E-2</c:v>
                </c:pt>
                <c:pt idx="23">
                  <c:v>3.5200718257056646E-2</c:v>
                </c:pt>
                <c:pt idx="24">
                  <c:v>8.8261615097269944E-2</c:v>
                </c:pt>
                <c:pt idx="25">
                  <c:v>0.19212049672868228</c:v>
                </c:pt>
                <c:pt idx="26">
                  <c:v>0.36304212174060607</c:v>
                </c:pt>
                <c:pt idx="27">
                  <c:v>0.59555492158537293</c:v>
                </c:pt>
                <c:pt idx="28">
                  <c:v>0.84814109098093893</c:v>
                </c:pt>
                <c:pt idx="29">
                  <c:v>1.0485662534989972</c:v>
                </c:pt>
                <c:pt idx="30">
                  <c:v>1.1253953952177929</c:v>
                </c:pt>
                <c:pt idx="31">
                  <c:v>1.0485662534989972</c:v>
                </c:pt>
                <c:pt idx="32">
                  <c:v>0.84814109098093893</c:v>
                </c:pt>
                <c:pt idx="33">
                  <c:v>0.59555492158537293</c:v>
                </c:pt>
                <c:pt idx="34">
                  <c:v>0.36304212174060607</c:v>
                </c:pt>
                <c:pt idx="35">
                  <c:v>0.19212049672868228</c:v>
                </c:pt>
                <c:pt idx="36">
                  <c:v>8.8261615097269944E-2</c:v>
                </c:pt>
                <c:pt idx="37">
                  <c:v>3.5200718257056646E-2</c:v>
                </c:pt>
                <c:pt idx="38">
                  <c:v>1.2187444904116725E-2</c:v>
                </c:pt>
                <c:pt idx="39">
                  <c:v>3.6631549620575994E-3</c:v>
                </c:pt>
                <c:pt idx="40">
                  <c:v>9.558272370024781E-4</c:v>
                </c:pt>
                <c:pt idx="41">
                  <c:v>2.1651350879289832E-4</c:v>
                </c:pt>
                <c:pt idx="42">
                  <c:v>4.2576708077666142E-5</c:v>
                </c:pt>
                <c:pt idx="43">
                  <c:v>7.2684305797877243E-6</c:v>
                </c:pt>
                <c:pt idx="44">
                  <c:v>1.0771859973664762E-6</c:v>
                </c:pt>
                <c:pt idx="45">
                  <c:v>1.3858691809610366E-7</c:v>
                </c:pt>
                <c:pt idx="46">
                  <c:v>1.5478727695183599E-8</c:v>
                </c:pt>
                <c:pt idx="47">
                  <c:v>1.5008240089704121E-9</c:v>
                </c:pt>
                <c:pt idx="48">
                  <c:v>1.2632978656947972E-10</c:v>
                </c:pt>
                <c:pt idx="49">
                  <c:v>9.2313080059855102E-12</c:v>
                </c:pt>
                <c:pt idx="50">
                  <c:v>5.8560153461795485E-13</c:v>
                </c:pt>
                <c:pt idx="51">
                  <c:v>3.2249475524857863E-14</c:v>
                </c:pt>
                <c:pt idx="52">
                  <c:v>1.5417877521612201E-15</c:v>
                </c:pt>
                <c:pt idx="53">
                  <c:v>6.3989396166666672E-17</c:v>
                </c:pt>
                <c:pt idx="54">
                  <c:v>2.3055413620368978E-18</c:v>
                </c:pt>
                <c:pt idx="55">
                  <c:v>7.2113954135484801E-20</c:v>
                </c:pt>
                <c:pt idx="56">
                  <c:v>1.9581555418077432E-21</c:v>
                </c:pt>
                <c:pt idx="57">
                  <c:v>4.6159016640960584E-23</c:v>
                </c:pt>
                <c:pt idx="58">
                  <c:v>9.4459881322474093E-25</c:v>
                </c:pt>
                <c:pt idx="59">
                  <c:v>1.678107306838443E-26</c:v>
                </c:pt>
                <c:pt idx="60">
                  <c:v>2.5880552686705962E-28</c:v>
                </c:pt>
              </c:numCache>
            </c:numRef>
          </c:val>
          <c:smooth val="0"/>
          <c:extLst>
            <c:ext xmlns:c16="http://schemas.microsoft.com/office/drawing/2014/chart" uri="{C3380CC4-5D6E-409C-BE32-E72D297353CC}">
              <c16:uniqueId val="{00000002-C615-406A-AD5C-EF3ECE25D6C9}"/>
            </c:ext>
          </c:extLst>
        </c:ser>
        <c:dLbls>
          <c:showLegendKey val="0"/>
          <c:showVal val="0"/>
          <c:showCatName val="0"/>
          <c:showSerName val="0"/>
          <c:showPercent val="0"/>
          <c:showBubbleSize val="0"/>
        </c:dLbls>
        <c:smooth val="0"/>
        <c:axId val="136822144"/>
        <c:axId val="136828032"/>
      </c:lineChart>
      <c:catAx>
        <c:axId val="136822144"/>
        <c:scaling>
          <c:orientation val="minMax"/>
        </c:scaling>
        <c:delete val="1"/>
        <c:axPos val="b"/>
        <c:numFmt formatCode="General" sourceLinked="1"/>
        <c:majorTickMark val="out"/>
        <c:minorTickMark val="none"/>
        <c:tickLblPos val="nextTo"/>
        <c:crossAx val="136828032"/>
        <c:crosses val="autoZero"/>
        <c:auto val="1"/>
        <c:lblAlgn val="ctr"/>
        <c:lblOffset val="100"/>
        <c:noMultiLvlLbl val="0"/>
      </c:catAx>
      <c:valAx>
        <c:axId val="136828032"/>
        <c:scaling>
          <c:orientation val="minMax"/>
        </c:scaling>
        <c:delete val="1"/>
        <c:axPos val="l"/>
        <c:numFmt formatCode="General" sourceLinked="1"/>
        <c:majorTickMark val="out"/>
        <c:minorTickMark val="none"/>
        <c:tickLblPos val="nextTo"/>
        <c:crossAx val="136822144"/>
        <c:crosses val="autoZero"/>
        <c:crossBetween val="between"/>
      </c:valAx>
      <c:spPr>
        <a:noFill/>
        <a:ln w="25400">
          <a:noFill/>
        </a:ln>
      </c:spPr>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6BDA18-A924-4623-AFDA-7F89229823E3}" type="datetimeFigureOut">
              <a:rPr lang="en-GB" smtClean="0"/>
              <a:t>28/10/2024</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FB37484-4BD0-4B53-9749-250372656A21}" type="slidenum">
              <a:rPr lang="en-GB" smtClean="0"/>
              <a:t>‹#›</a:t>
            </a:fld>
            <a:endParaRPr lang="en-GB"/>
          </a:p>
        </p:txBody>
      </p:sp>
    </p:spTree>
    <p:extLst>
      <p:ext uri="{BB962C8B-B14F-4D97-AF65-F5344CB8AC3E}">
        <p14:creationId xmlns:p14="http://schemas.microsoft.com/office/powerpoint/2010/main" val="808446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Rot="1" noChangeAspect="1" noChangeArrowheads="1" noTextEdit="1"/>
          </p:cNvSpPr>
          <p:nvPr>
            <p:ph type="sldImg"/>
          </p:nvPr>
        </p:nvSpPr>
        <p:spPr>
          <a:xfrm>
            <a:off x="1292225" y="796925"/>
            <a:ext cx="4273550" cy="3205163"/>
          </a:xfrm>
          <a:ln/>
        </p:spPr>
      </p:sp>
      <p:sp>
        <p:nvSpPr>
          <p:cNvPr id="198659" name="Rectangle 3"/>
          <p:cNvSpPr>
            <a:spLocks noGrp="1" noChangeArrowheads="1"/>
          </p:cNvSpPr>
          <p:nvPr>
            <p:ph type="body" idx="1"/>
          </p:nvPr>
        </p:nvSpPr>
        <p:spPr>
          <a:xfrm>
            <a:off x="914183" y="4347531"/>
            <a:ext cx="5029635" cy="3848874"/>
          </a:xfrm>
        </p:spPr>
        <p:txBody>
          <a:bodyPr/>
          <a:lstStyle/>
          <a:p>
            <a:r>
              <a:rPr lang="en-GB" altLang="en-US" dirty="0"/>
              <a:t>Hypothesis testing is a general word for techniques that we can use for this purpose. They tell us how we should interpret the results, and whether there really is something going on </a:t>
            </a:r>
          </a:p>
          <a:p>
            <a:endParaRPr lang="en-GB" altLang="en-US" dirty="0"/>
          </a:p>
          <a:p>
            <a:r>
              <a:rPr lang="en-GB" altLang="en-US" dirty="0"/>
              <a:t>In this module I am going to cover the main tests you might come across in research papers. This should allow you to understand statistical results and be able to critically evaluate quantitative evidence.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Rot="1" noChangeAspect="1" noChangeArrowheads="1" noTextEdit="1"/>
          </p:cNvSpPr>
          <p:nvPr>
            <p:ph type="sldImg"/>
          </p:nvPr>
        </p:nvSpPr>
        <p:spPr>
          <a:xfrm>
            <a:off x="1292225" y="796925"/>
            <a:ext cx="4273550" cy="3205163"/>
          </a:xfrm>
          <a:ln/>
        </p:spPr>
      </p:sp>
      <p:sp>
        <p:nvSpPr>
          <p:cNvPr id="200707" name="Rectangle 3"/>
          <p:cNvSpPr>
            <a:spLocks noGrp="1" noChangeArrowheads="1"/>
          </p:cNvSpPr>
          <p:nvPr>
            <p:ph type="body" idx="1"/>
          </p:nvPr>
        </p:nvSpPr>
        <p:spPr>
          <a:xfrm>
            <a:off x="914183" y="4347531"/>
            <a:ext cx="5029635" cy="3848874"/>
          </a:xfrm>
        </p:spPr>
        <p:txBody>
          <a:bodyPr/>
          <a:lstStyle/>
          <a:p>
            <a:r>
              <a:rPr lang="en-GB" altLang="en-US" dirty="0"/>
              <a:t>The start of hypothesis testing is to generate the null hypothesis</a:t>
            </a:r>
          </a:p>
          <a:p>
            <a:r>
              <a:rPr lang="en-GB" altLang="en-US" dirty="0"/>
              <a:t>THERE IS NOTHING GOING ON</a:t>
            </a:r>
          </a:p>
          <a:p>
            <a:r>
              <a:rPr lang="en-GB" altLang="en-US" dirty="0"/>
              <a:t>this is a bit like the presumption of innocence in court proceedings - you have to prove that this is unlikely to be the case and therefore infer something is going 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5</a:t>
            </a:fld>
            <a:endParaRPr lang="en-GB"/>
          </a:p>
        </p:txBody>
      </p:sp>
    </p:spTree>
    <p:extLst>
      <p:ext uri="{BB962C8B-B14F-4D97-AF65-F5344CB8AC3E}">
        <p14:creationId xmlns:p14="http://schemas.microsoft.com/office/powerpoint/2010/main" val="27875334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6</a:t>
            </a:fld>
            <a:endParaRPr lang="en-GB"/>
          </a:p>
        </p:txBody>
      </p:sp>
    </p:spTree>
    <p:extLst>
      <p:ext uri="{BB962C8B-B14F-4D97-AF65-F5344CB8AC3E}">
        <p14:creationId xmlns:p14="http://schemas.microsoft.com/office/powerpoint/2010/main" val="3196569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7</a:t>
            </a:fld>
            <a:endParaRPr lang="en-GB"/>
          </a:p>
        </p:txBody>
      </p:sp>
    </p:spTree>
    <p:extLst>
      <p:ext uri="{BB962C8B-B14F-4D97-AF65-F5344CB8AC3E}">
        <p14:creationId xmlns:p14="http://schemas.microsoft.com/office/powerpoint/2010/main" val="39983134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8</a:t>
            </a:fld>
            <a:endParaRPr lang="en-GB"/>
          </a:p>
        </p:txBody>
      </p:sp>
    </p:spTree>
    <p:extLst>
      <p:ext uri="{BB962C8B-B14F-4D97-AF65-F5344CB8AC3E}">
        <p14:creationId xmlns:p14="http://schemas.microsoft.com/office/powerpoint/2010/main" val="33090484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9</a:t>
            </a:fld>
            <a:endParaRPr lang="en-GB"/>
          </a:p>
        </p:txBody>
      </p:sp>
    </p:spTree>
    <p:extLst>
      <p:ext uri="{BB962C8B-B14F-4D97-AF65-F5344CB8AC3E}">
        <p14:creationId xmlns:p14="http://schemas.microsoft.com/office/powerpoint/2010/main" val="4380161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altLang="en-US" dirty="0">
                <a:solidFill>
                  <a:srgbClr val="333399"/>
                </a:solidFill>
              </a:rPr>
              <a:t>This is produced by taking</a:t>
            </a:r>
            <a:r>
              <a:rPr lang="en-US" altLang="en-US" dirty="0">
                <a:solidFill>
                  <a:srgbClr val="333399"/>
                </a:solidFill>
              </a:rPr>
              <a:t> all possible samples of size </a:t>
            </a:r>
            <a:r>
              <a:rPr lang="en-US" altLang="en-US" i="1" dirty="0">
                <a:solidFill>
                  <a:srgbClr val="333399"/>
                </a:solidFill>
                <a:latin typeface="Times New Roman" pitchFamily="18" charset="0"/>
              </a:rPr>
              <a:t>n</a:t>
            </a:r>
            <a:r>
              <a:rPr lang="en-US" altLang="en-US" dirty="0">
                <a:solidFill>
                  <a:srgbClr val="333399"/>
                </a:solidFill>
              </a:rPr>
              <a:t> from a population and plotting the percentage of a particular characteristic in each sample as a distribution. </a:t>
            </a:r>
          </a:p>
          <a:p>
            <a:pPr algn="l"/>
            <a:endParaRPr lang="en-US" altLang="en-US" dirty="0">
              <a:effectLst>
                <a:outerShdw blurRad="38100" dist="38100" dir="2700000" algn="tl">
                  <a:srgbClr val="FFFFFF"/>
                </a:outerShdw>
              </a:effectLst>
            </a:endParaRPr>
          </a:p>
          <a:p>
            <a:pPr algn="l"/>
            <a:r>
              <a:rPr lang="en-US" altLang="en-US" dirty="0">
                <a:effectLst>
                  <a:outerShdw blurRad="38100" dist="38100" dir="2700000" algn="tl">
                    <a:srgbClr val="FFFFFF"/>
                  </a:outerShdw>
                </a:effectLst>
              </a:rPr>
              <a:t>For large samples (&gt;30 approximately)</a:t>
            </a:r>
          </a:p>
          <a:p>
            <a:pPr>
              <a:buClr>
                <a:srgbClr val="333399"/>
              </a:buClr>
              <a:buSzPct val="75000"/>
              <a:buFont typeface="Monotype Sorts" pitchFamily="2" charset="2"/>
              <a:buChar char="n"/>
            </a:pPr>
            <a:r>
              <a:rPr lang="en-US" altLang="en-US" dirty="0">
                <a:effectLst>
                  <a:outerShdw blurRad="38100" dist="38100" dir="2700000" algn="tl">
                    <a:srgbClr val="FFFFFF"/>
                  </a:outerShdw>
                </a:effectLst>
              </a:rPr>
              <a:t> the distribution is close to the normal distribution</a:t>
            </a:r>
          </a:p>
          <a:p>
            <a:pPr>
              <a:buClr>
                <a:srgbClr val="333399"/>
              </a:buClr>
              <a:buSzPct val="75000"/>
              <a:buFont typeface="Monotype Sorts" pitchFamily="2" charset="2"/>
              <a:buChar char="n"/>
            </a:pPr>
            <a:r>
              <a:rPr lang="en-US" altLang="en-US" dirty="0">
                <a:effectLst>
                  <a:outerShdw blurRad="38100" dist="38100" dir="2700000" algn="tl">
                    <a:srgbClr val="FFFFFF"/>
                  </a:outerShdw>
                </a:effectLst>
              </a:rPr>
              <a:t> it has a mean of the population percentage</a:t>
            </a:r>
          </a:p>
          <a:p>
            <a:pPr>
              <a:buClr>
                <a:srgbClr val="333399"/>
              </a:buClr>
              <a:buSzPct val="75000"/>
              <a:buFont typeface="Monotype Sorts" pitchFamily="2" charset="2"/>
              <a:buChar char="n"/>
            </a:pPr>
            <a:r>
              <a:rPr lang="en-US" altLang="en-US" dirty="0">
                <a:effectLst>
                  <a:outerShdw blurRad="38100" dist="38100" dir="2700000" algn="tl">
                    <a:srgbClr val="FFFFFF"/>
                  </a:outerShdw>
                </a:effectLst>
              </a:rPr>
              <a:t> its standard deviation is known as STEP</a:t>
            </a:r>
          </a:p>
          <a:p>
            <a:pPr>
              <a:buClr>
                <a:srgbClr val="333399"/>
              </a:buClr>
              <a:buSzPct val="75000"/>
              <a:buFont typeface="Monotype Sorts" pitchFamily="2" charset="2"/>
              <a:buNone/>
            </a:pPr>
            <a:endParaRPr lang="en-GB" dirty="0"/>
          </a:p>
          <a:p>
            <a:pPr>
              <a:buClr>
                <a:srgbClr val="333399"/>
              </a:buClr>
              <a:buSzPct val="75000"/>
              <a:buFont typeface="Monotype Sorts" pitchFamily="2" charset="2"/>
              <a:buNone/>
            </a:pPr>
            <a:endParaRPr lang="en-GB" dirty="0"/>
          </a:p>
        </p:txBody>
      </p:sp>
      <p:sp>
        <p:nvSpPr>
          <p:cNvPr id="4" name="Slide Number Placeholder 3"/>
          <p:cNvSpPr>
            <a:spLocks noGrp="1"/>
          </p:cNvSpPr>
          <p:nvPr>
            <p:ph type="sldNum" sz="quarter" idx="10"/>
          </p:nvPr>
        </p:nvSpPr>
        <p:spPr/>
        <p:txBody>
          <a:bodyPr/>
          <a:lstStyle/>
          <a:p>
            <a:fld id="{6FB37484-4BD0-4B53-9749-250372656A21}" type="slidenum">
              <a:rPr lang="en-GB" smtClean="0"/>
              <a:t>10</a:t>
            </a:fld>
            <a:endParaRPr lang="en-GB"/>
          </a:p>
        </p:txBody>
      </p:sp>
    </p:spTree>
    <p:extLst>
      <p:ext uri="{BB962C8B-B14F-4D97-AF65-F5344CB8AC3E}">
        <p14:creationId xmlns:p14="http://schemas.microsoft.com/office/powerpoint/2010/main" val="6203179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11</a:t>
            </a:fld>
            <a:endParaRPr lang="en-GB"/>
          </a:p>
        </p:txBody>
      </p:sp>
    </p:spTree>
    <p:extLst>
      <p:ext uri="{BB962C8B-B14F-4D97-AF65-F5344CB8AC3E}">
        <p14:creationId xmlns:p14="http://schemas.microsoft.com/office/powerpoint/2010/main" val="23689415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12</a:t>
            </a:fld>
            <a:endParaRPr lang="en-GB"/>
          </a:p>
        </p:txBody>
      </p:sp>
    </p:spTree>
    <p:extLst>
      <p:ext uri="{BB962C8B-B14F-4D97-AF65-F5344CB8AC3E}">
        <p14:creationId xmlns:p14="http://schemas.microsoft.com/office/powerpoint/2010/main" val="34154827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13</a:t>
            </a:fld>
            <a:endParaRPr lang="en-GB"/>
          </a:p>
        </p:txBody>
      </p:sp>
    </p:spTree>
    <p:extLst>
      <p:ext uri="{BB962C8B-B14F-4D97-AF65-F5344CB8AC3E}">
        <p14:creationId xmlns:p14="http://schemas.microsoft.com/office/powerpoint/2010/main" val="16580487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14</a:t>
            </a:fld>
            <a:endParaRPr lang="en-GB"/>
          </a:p>
        </p:txBody>
      </p:sp>
    </p:spTree>
    <p:extLst>
      <p:ext uri="{BB962C8B-B14F-4D97-AF65-F5344CB8AC3E}">
        <p14:creationId xmlns:p14="http://schemas.microsoft.com/office/powerpoint/2010/main" val="31119640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15</a:t>
            </a:fld>
            <a:endParaRPr lang="en-GB"/>
          </a:p>
        </p:txBody>
      </p:sp>
    </p:spTree>
    <p:extLst>
      <p:ext uri="{BB962C8B-B14F-4D97-AF65-F5344CB8AC3E}">
        <p14:creationId xmlns:p14="http://schemas.microsoft.com/office/powerpoint/2010/main" val="18109251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tLang="en-US" dirty="0"/>
              <a:t>So the probability of result can be found by calculating how many standard deviations the percentage value for his sample is from the mean or population value. </a:t>
            </a:r>
          </a:p>
          <a:p>
            <a:endParaRPr lang="en-GB" altLang="en-US" dirty="0"/>
          </a:p>
          <a:p>
            <a:r>
              <a:rPr lang="en-GB" altLang="en-US" dirty="0"/>
              <a:t>The standard deviation of the sampling distribution of percentages is called the </a:t>
            </a:r>
            <a:r>
              <a:rPr lang="en-GB" altLang="en-US" dirty="0">
                <a:solidFill>
                  <a:srgbClr val="333399"/>
                </a:solidFill>
              </a:rPr>
              <a:t>standard error of percentages </a:t>
            </a:r>
            <a:r>
              <a:rPr lang="en-GB" altLang="en-US" dirty="0"/>
              <a:t>or </a:t>
            </a:r>
            <a:r>
              <a:rPr lang="en-GB" altLang="en-US" dirty="0">
                <a:solidFill>
                  <a:srgbClr val="333399"/>
                </a:solidFill>
              </a:rPr>
              <a:t>standard error of the proportion</a:t>
            </a:r>
            <a:r>
              <a:rPr lang="en-GB" altLang="en-US" dirty="0"/>
              <a:t> (STEP)</a:t>
            </a:r>
            <a:endParaRPr lang="en-GB" dirty="0"/>
          </a:p>
        </p:txBody>
      </p:sp>
      <p:sp>
        <p:nvSpPr>
          <p:cNvPr id="4" name="Slide Number Placeholder 3"/>
          <p:cNvSpPr>
            <a:spLocks noGrp="1"/>
          </p:cNvSpPr>
          <p:nvPr>
            <p:ph type="sldNum" sz="quarter" idx="10"/>
          </p:nvPr>
        </p:nvSpPr>
        <p:spPr/>
        <p:txBody>
          <a:bodyPr/>
          <a:lstStyle/>
          <a:p>
            <a:fld id="{6FB37484-4BD0-4B53-9749-250372656A21}" type="slidenum">
              <a:rPr lang="en-GB" smtClean="0"/>
              <a:t>16</a:t>
            </a:fld>
            <a:endParaRPr lang="en-GB"/>
          </a:p>
        </p:txBody>
      </p:sp>
    </p:spTree>
    <p:extLst>
      <p:ext uri="{BB962C8B-B14F-4D97-AF65-F5344CB8AC3E}">
        <p14:creationId xmlns:p14="http://schemas.microsoft.com/office/powerpoint/2010/main" val="39233668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tLang="en-US" dirty="0"/>
              <a:t>So the probability of result can be found by calculating how many standard deviations the percentage value for his sample is from the mean or population value. </a:t>
            </a:r>
          </a:p>
          <a:p>
            <a:endParaRPr lang="en-GB" altLang="en-US" dirty="0"/>
          </a:p>
          <a:p>
            <a:r>
              <a:rPr lang="en-GB" altLang="en-US" dirty="0"/>
              <a:t>The standard deviation of the sampling distribution of percentages is called the </a:t>
            </a:r>
            <a:r>
              <a:rPr lang="en-GB" altLang="en-US" dirty="0">
                <a:solidFill>
                  <a:srgbClr val="333399"/>
                </a:solidFill>
              </a:rPr>
              <a:t>standard error of percentages </a:t>
            </a:r>
            <a:r>
              <a:rPr lang="en-GB" altLang="en-US" dirty="0"/>
              <a:t>or </a:t>
            </a:r>
            <a:r>
              <a:rPr lang="en-GB" altLang="en-US" dirty="0">
                <a:solidFill>
                  <a:srgbClr val="333399"/>
                </a:solidFill>
              </a:rPr>
              <a:t>standard error of the proportion</a:t>
            </a:r>
            <a:r>
              <a:rPr lang="en-GB" altLang="en-US" dirty="0"/>
              <a:t> (STEP)</a:t>
            </a:r>
            <a:endParaRPr lang="en-GB" dirty="0"/>
          </a:p>
        </p:txBody>
      </p:sp>
      <p:sp>
        <p:nvSpPr>
          <p:cNvPr id="4" name="Slide Number Placeholder 3"/>
          <p:cNvSpPr>
            <a:spLocks noGrp="1"/>
          </p:cNvSpPr>
          <p:nvPr>
            <p:ph type="sldNum" sz="quarter" idx="10"/>
          </p:nvPr>
        </p:nvSpPr>
        <p:spPr/>
        <p:txBody>
          <a:bodyPr/>
          <a:lstStyle/>
          <a:p>
            <a:fld id="{6FB37484-4BD0-4B53-9749-250372656A21}" type="slidenum">
              <a:rPr lang="en-GB" smtClean="0"/>
              <a:t>17</a:t>
            </a:fld>
            <a:endParaRPr lang="en-GB"/>
          </a:p>
        </p:txBody>
      </p:sp>
    </p:spTree>
    <p:extLst>
      <p:ext uri="{BB962C8B-B14F-4D97-AF65-F5344CB8AC3E}">
        <p14:creationId xmlns:p14="http://schemas.microsoft.com/office/powerpoint/2010/main" val="39233668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FB37484-4BD0-4B53-9749-250372656A21}" type="slidenum">
              <a:rPr lang="en-GB" smtClean="0"/>
              <a:t>18</a:t>
            </a:fld>
            <a:endParaRPr lang="en-GB"/>
          </a:p>
        </p:txBody>
      </p:sp>
    </p:spTree>
    <p:extLst>
      <p:ext uri="{BB962C8B-B14F-4D97-AF65-F5344CB8AC3E}">
        <p14:creationId xmlns:p14="http://schemas.microsoft.com/office/powerpoint/2010/main" val="18161623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19</a:t>
            </a:fld>
            <a:endParaRPr lang="en-GB"/>
          </a:p>
        </p:txBody>
      </p:sp>
    </p:spTree>
    <p:extLst>
      <p:ext uri="{BB962C8B-B14F-4D97-AF65-F5344CB8AC3E}">
        <p14:creationId xmlns:p14="http://schemas.microsoft.com/office/powerpoint/2010/main" val="17459443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20</a:t>
            </a:fld>
            <a:endParaRPr lang="en-GB"/>
          </a:p>
        </p:txBody>
      </p:sp>
    </p:spTree>
    <p:extLst>
      <p:ext uri="{BB962C8B-B14F-4D97-AF65-F5344CB8AC3E}">
        <p14:creationId xmlns:p14="http://schemas.microsoft.com/office/powerpoint/2010/main" val="27552918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21</a:t>
            </a:fld>
            <a:endParaRPr lang="en-GB"/>
          </a:p>
        </p:txBody>
      </p:sp>
    </p:spTree>
    <p:extLst>
      <p:ext uri="{BB962C8B-B14F-4D97-AF65-F5344CB8AC3E}">
        <p14:creationId xmlns:p14="http://schemas.microsoft.com/office/powerpoint/2010/main" val="27552918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22</a:t>
            </a:fld>
            <a:endParaRPr lang="en-GB"/>
          </a:p>
        </p:txBody>
      </p:sp>
    </p:spTree>
    <p:extLst>
      <p:ext uri="{BB962C8B-B14F-4D97-AF65-F5344CB8AC3E}">
        <p14:creationId xmlns:p14="http://schemas.microsoft.com/office/powerpoint/2010/main" val="24008701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23</a:t>
            </a:fld>
            <a:endParaRPr lang="en-GB"/>
          </a:p>
        </p:txBody>
      </p:sp>
    </p:spTree>
    <p:extLst>
      <p:ext uri="{BB962C8B-B14F-4D97-AF65-F5344CB8AC3E}">
        <p14:creationId xmlns:p14="http://schemas.microsoft.com/office/powerpoint/2010/main" val="36319047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p:cNvSpPr>
            <a:spLocks noGrp="1" noRot="1" noChangeAspect="1" noChangeArrowheads="1" noTextEdit="1"/>
          </p:cNvSpPr>
          <p:nvPr>
            <p:ph type="sldImg"/>
          </p:nvPr>
        </p:nvSpPr>
        <p:spPr>
          <a:xfrm>
            <a:off x="1292225" y="796925"/>
            <a:ext cx="4273550" cy="3205163"/>
          </a:xfrm>
          <a:ln/>
        </p:spPr>
      </p:sp>
      <p:sp>
        <p:nvSpPr>
          <p:cNvPr id="237571" name="Rectangle 3"/>
          <p:cNvSpPr>
            <a:spLocks noGrp="1" noChangeArrowheads="1"/>
          </p:cNvSpPr>
          <p:nvPr>
            <p:ph type="body" idx="1"/>
          </p:nvPr>
        </p:nvSpPr>
        <p:spPr>
          <a:xfrm>
            <a:off x="914183" y="4347531"/>
            <a:ext cx="5029635" cy="3848874"/>
          </a:xfrm>
        </p:spPr>
        <p:txBody>
          <a:bodyPr/>
          <a:lstStyle/>
          <a:p>
            <a:endParaRPr lang="en-GB"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2"/>
          <p:cNvSpPr>
            <a:spLocks noGrp="1" noRot="1" noChangeAspect="1" noChangeArrowheads="1" noTextEdit="1"/>
          </p:cNvSpPr>
          <p:nvPr>
            <p:ph type="sldImg"/>
          </p:nvPr>
        </p:nvSpPr>
        <p:spPr>
          <a:xfrm>
            <a:off x="1292225" y="796925"/>
            <a:ext cx="4273550" cy="3205163"/>
          </a:xfrm>
          <a:ln/>
        </p:spPr>
      </p:sp>
      <p:sp>
        <p:nvSpPr>
          <p:cNvPr id="239619" name="Rectangle 3"/>
          <p:cNvSpPr>
            <a:spLocks noGrp="1" noChangeArrowheads="1"/>
          </p:cNvSpPr>
          <p:nvPr>
            <p:ph type="body" idx="1"/>
          </p:nvPr>
        </p:nvSpPr>
        <p:spPr>
          <a:xfrm>
            <a:off x="914183" y="4347531"/>
            <a:ext cx="5029635" cy="3848874"/>
          </a:xfrm>
        </p:spPr>
        <p:txBody>
          <a:bodyPr/>
          <a:lstStyle/>
          <a:p>
            <a:endParaRPr lang="en-GB"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26</a:t>
            </a:fld>
            <a:endParaRPr lang="en-GB"/>
          </a:p>
        </p:txBody>
      </p:sp>
    </p:spTree>
    <p:extLst>
      <p:ext uri="{BB962C8B-B14F-4D97-AF65-F5344CB8AC3E}">
        <p14:creationId xmlns:p14="http://schemas.microsoft.com/office/powerpoint/2010/main" val="4152745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27</a:t>
            </a:fld>
            <a:endParaRPr lang="en-GB"/>
          </a:p>
        </p:txBody>
      </p:sp>
    </p:spTree>
    <p:extLst>
      <p:ext uri="{BB962C8B-B14F-4D97-AF65-F5344CB8AC3E}">
        <p14:creationId xmlns:p14="http://schemas.microsoft.com/office/powerpoint/2010/main" val="32696878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FB37484-4BD0-4B53-9749-250372656A21}" type="slidenum">
              <a:rPr lang="en-GB" smtClean="0"/>
              <a:t>28</a:t>
            </a:fld>
            <a:endParaRPr lang="en-GB"/>
          </a:p>
        </p:txBody>
      </p:sp>
    </p:spTree>
    <p:extLst>
      <p:ext uri="{BB962C8B-B14F-4D97-AF65-F5344CB8AC3E}">
        <p14:creationId xmlns:p14="http://schemas.microsoft.com/office/powerpoint/2010/main" val="29966234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29</a:t>
            </a:fld>
            <a:endParaRPr lang="en-GB"/>
          </a:p>
        </p:txBody>
      </p:sp>
    </p:spTree>
    <p:extLst>
      <p:ext uri="{BB962C8B-B14F-4D97-AF65-F5344CB8AC3E}">
        <p14:creationId xmlns:p14="http://schemas.microsoft.com/office/powerpoint/2010/main" val="27471841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2"/>
          <p:cNvSpPr>
            <a:spLocks noGrp="1" noRot="1" noChangeAspect="1" noChangeArrowheads="1" noTextEdit="1"/>
          </p:cNvSpPr>
          <p:nvPr>
            <p:ph type="sldImg"/>
          </p:nvPr>
        </p:nvSpPr>
        <p:spPr>
          <a:xfrm>
            <a:off x="1292225" y="796925"/>
            <a:ext cx="4273550" cy="3205163"/>
          </a:xfrm>
          <a:ln/>
        </p:spPr>
      </p:sp>
      <p:sp>
        <p:nvSpPr>
          <p:cNvPr id="243715" name="Rectangle 3"/>
          <p:cNvSpPr>
            <a:spLocks noGrp="1" noChangeArrowheads="1"/>
          </p:cNvSpPr>
          <p:nvPr>
            <p:ph type="body" idx="1"/>
          </p:nvPr>
        </p:nvSpPr>
        <p:spPr>
          <a:xfrm>
            <a:off x="914183" y="4347531"/>
            <a:ext cx="5029635" cy="3848874"/>
          </a:xfrm>
        </p:spPr>
        <p:txBody>
          <a:bodyPr/>
          <a:lstStyle/>
          <a:p>
            <a:endParaRPr lang="en-GB"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Rot="1" noChangeAspect="1" noChangeArrowheads="1" noTextEdit="1"/>
          </p:cNvSpPr>
          <p:nvPr>
            <p:ph type="sldImg"/>
          </p:nvPr>
        </p:nvSpPr>
        <p:spPr>
          <a:xfrm>
            <a:off x="1292225" y="796925"/>
            <a:ext cx="4273550" cy="3205163"/>
          </a:xfrm>
          <a:ln/>
        </p:spPr>
      </p:sp>
      <p:sp>
        <p:nvSpPr>
          <p:cNvPr id="249859" name="Rectangle 3"/>
          <p:cNvSpPr>
            <a:spLocks noGrp="1" noChangeArrowheads="1"/>
          </p:cNvSpPr>
          <p:nvPr>
            <p:ph type="body" idx="1"/>
          </p:nvPr>
        </p:nvSpPr>
        <p:spPr>
          <a:xfrm>
            <a:off x="914183" y="4347531"/>
            <a:ext cx="5029635" cy="3848874"/>
          </a:xfrm>
        </p:spPr>
        <p:txBody>
          <a:bodyPr/>
          <a:lstStyle/>
          <a:p>
            <a:r>
              <a:rPr lang="en-GB" altLang="en-US" dirty="0"/>
              <a:t>The reason for using the t distribution is the lack of a population sd. </a:t>
            </a:r>
          </a:p>
          <a:p>
            <a:r>
              <a:rPr lang="en-GB" altLang="en-US" dirty="0"/>
              <a:t>The t distribution is named after a guy called Student</a:t>
            </a:r>
          </a:p>
          <a:p>
            <a:r>
              <a:rPr lang="en-GB" altLang="en-US" dirty="0"/>
              <a:t>Statistical software takes care of this issue for you</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2"/>
          <p:cNvSpPr>
            <a:spLocks noGrp="1" noRot="1" noChangeAspect="1" noChangeArrowheads="1" noTextEdit="1"/>
          </p:cNvSpPr>
          <p:nvPr>
            <p:ph type="sldImg"/>
          </p:nvPr>
        </p:nvSpPr>
        <p:spPr>
          <a:xfrm>
            <a:off x="1292225" y="796925"/>
            <a:ext cx="4273550" cy="3205163"/>
          </a:xfrm>
          <a:ln/>
        </p:spPr>
      </p:sp>
      <p:sp>
        <p:nvSpPr>
          <p:cNvPr id="243715" name="Rectangle 3"/>
          <p:cNvSpPr>
            <a:spLocks noGrp="1" noChangeArrowheads="1"/>
          </p:cNvSpPr>
          <p:nvPr>
            <p:ph type="body" idx="1"/>
          </p:nvPr>
        </p:nvSpPr>
        <p:spPr>
          <a:xfrm>
            <a:off x="914183" y="4347531"/>
            <a:ext cx="5029635" cy="3848874"/>
          </a:xfrm>
        </p:spPr>
        <p:txBody>
          <a:bodyPr/>
          <a:lstStyle/>
          <a:p>
            <a:endParaRPr lang="en-GB"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2"/>
          <p:cNvSpPr>
            <a:spLocks noGrp="1" noRot="1" noChangeAspect="1" noChangeArrowheads="1" noTextEdit="1"/>
          </p:cNvSpPr>
          <p:nvPr>
            <p:ph type="sldImg"/>
          </p:nvPr>
        </p:nvSpPr>
        <p:spPr>
          <a:xfrm>
            <a:off x="1292225" y="796925"/>
            <a:ext cx="4273550" cy="3205163"/>
          </a:xfrm>
          <a:ln/>
        </p:spPr>
      </p:sp>
      <p:sp>
        <p:nvSpPr>
          <p:cNvPr id="243715" name="Rectangle 3"/>
          <p:cNvSpPr>
            <a:spLocks noGrp="1" noChangeArrowheads="1"/>
          </p:cNvSpPr>
          <p:nvPr>
            <p:ph type="body" idx="1"/>
          </p:nvPr>
        </p:nvSpPr>
        <p:spPr>
          <a:xfrm>
            <a:off x="914183" y="4347531"/>
            <a:ext cx="5029635" cy="3848874"/>
          </a:xfrm>
        </p:spPr>
        <p:txBody>
          <a:bodyPr/>
          <a:lstStyle/>
          <a:p>
            <a:endParaRPr lang="en-GB"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2"/>
          <p:cNvSpPr>
            <a:spLocks noGrp="1" noRot="1" noChangeAspect="1" noChangeArrowheads="1" noTextEdit="1"/>
          </p:cNvSpPr>
          <p:nvPr>
            <p:ph type="sldImg"/>
          </p:nvPr>
        </p:nvSpPr>
        <p:spPr>
          <a:xfrm>
            <a:off x="1292225" y="796925"/>
            <a:ext cx="4273550" cy="3205163"/>
          </a:xfrm>
          <a:ln/>
        </p:spPr>
      </p:sp>
      <p:sp>
        <p:nvSpPr>
          <p:cNvPr id="253955" name="Rectangle 3"/>
          <p:cNvSpPr>
            <a:spLocks noGrp="1" noChangeArrowheads="1"/>
          </p:cNvSpPr>
          <p:nvPr>
            <p:ph type="body" idx="1"/>
          </p:nvPr>
        </p:nvSpPr>
        <p:spPr>
          <a:xfrm>
            <a:off x="914183" y="4347531"/>
            <a:ext cx="5029635" cy="3848874"/>
          </a:xfrm>
        </p:spPr>
        <p:txBody>
          <a:bodyPr/>
          <a:lstStyle/>
          <a:p>
            <a:endParaRPr lang="en-GB"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2"/>
          <p:cNvSpPr>
            <a:spLocks noGrp="1" noRot="1" noChangeAspect="1" noChangeArrowheads="1" noTextEdit="1"/>
          </p:cNvSpPr>
          <p:nvPr>
            <p:ph type="sldImg"/>
          </p:nvPr>
        </p:nvSpPr>
        <p:spPr>
          <a:xfrm>
            <a:off x="1292225" y="796925"/>
            <a:ext cx="4273550" cy="3205163"/>
          </a:xfrm>
          <a:ln/>
        </p:spPr>
      </p:sp>
      <p:sp>
        <p:nvSpPr>
          <p:cNvPr id="253955" name="Rectangle 3"/>
          <p:cNvSpPr>
            <a:spLocks noGrp="1" noChangeArrowheads="1"/>
          </p:cNvSpPr>
          <p:nvPr>
            <p:ph type="body" idx="1"/>
          </p:nvPr>
        </p:nvSpPr>
        <p:spPr>
          <a:xfrm>
            <a:off x="914183" y="4347531"/>
            <a:ext cx="5029635" cy="3848874"/>
          </a:xfrm>
        </p:spPr>
        <p:txBody>
          <a:bodyPr/>
          <a:lstStyle/>
          <a:p>
            <a:endParaRPr lang="en-GB"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2"/>
          <p:cNvSpPr>
            <a:spLocks noGrp="1" noRot="1" noChangeAspect="1" noChangeArrowheads="1" noTextEdit="1"/>
          </p:cNvSpPr>
          <p:nvPr>
            <p:ph type="sldImg"/>
          </p:nvPr>
        </p:nvSpPr>
        <p:spPr>
          <a:xfrm>
            <a:off x="1292225" y="796925"/>
            <a:ext cx="4273550" cy="3205163"/>
          </a:xfrm>
          <a:ln/>
        </p:spPr>
      </p:sp>
      <p:sp>
        <p:nvSpPr>
          <p:cNvPr id="258051" name="Rectangle 3"/>
          <p:cNvSpPr>
            <a:spLocks noGrp="1" noChangeArrowheads="1"/>
          </p:cNvSpPr>
          <p:nvPr>
            <p:ph type="body" idx="1"/>
          </p:nvPr>
        </p:nvSpPr>
        <p:spPr>
          <a:xfrm>
            <a:off x="914183" y="4347531"/>
            <a:ext cx="5029635" cy="3848874"/>
          </a:xfrm>
        </p:spPr>
        <p:txBody>
          <a:bodyPr/>
          <a:lstStyle/>
          <a:p>
            <a:endParaRPr lang="en-GB"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2"/>
          <p:cNvSpPr>
            <a:spLocks noGrp="1" noRot="1" noChangeAspect="1" noChangeArrowheads="1" noTextEdit="1"/>
          </p:cNvSpPr>
          <p:nvPr>
            <p:ph type="sldImg"/>
          </p:nvPr>
        </p:nvSpPr>
        <p:spPr>
          <a:xfrm>
            <a:off x="1292225" y="796925"/>
            <a:ext cx="4273550" cy="3205163"/>
          </a:xfrm>
          <a:ln/>
        </p:spPr>
      </p:sp>
      <p:sp>
        <p:nvSpPr>
          <p:cNvPr id="258051" name="Rectangle 3"/>
          <p:cNvSpPr>
            <a:spLocks noGrp="1" noChangeArrowheads="1"/>
          </p:cNvSpPr>
          <p:nvPr>
            <p:ph type="body" idx="1"/>
          </p:nvPr>
        </p:nvSpPr>
        <p:spPr>
          <a:xfrm>
            <a:off x="914183" y="4347531"/>
            <a:ext cx="5029635" cy="3848874"/>
          </a:xfrm>
        </p:spPr>
        <p:txBody>
          <a:bodyPr/>
          <a:lstStyle/>
          <a:p>
            <a:endParaRPr lang="en-GB"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40</a:t>
            </a:fld>
            <a:endParaRPr lang="en-GB"/>
          </a:p>
        </p:txBody>
      </p:sp>
    </p:spTree>
    <p:extLst>
      <p:ext uri="{BB962C8B-B14F-4D97-AF65-F5344CB8AC3E}">
        <p14:creationId xmlns:p14="http://schemas.microsoft.com/office/powerpoint/2010/main" val="230579164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p:cNvSpPr>
            <a:spLocks noGrp="1" noRot="1" noChangeAspect="1" noChangeArrowheads="1" noTextEdit="1"/>
          </p:cNvSpPr>
          <p:nvPr>
            <p:ph type="sldImg"/>
          </p:nvPr>
        </p:nvSpPr>
        <p:spPr>
          <a:xfrm>
            <a:off x="1292225" y="796925"/>
            <a:ext cx="4273550" cy="3205163"/>
          </a:xfrm>
          <a:ln/>
        </p:spPr>
      </p:sp>
      <p:sp>
        <p:nvSpPr>
          <p:cNvPr id="208899" name="Rectangle 3"/>
          <p:cNvSpPr>
            <a:spLocks noGrp="1" noChangeArrowheads="1"/>
          </p:cNvSpPr>
          <p:nvPr>
            <p:ph type="body" idx="1"/>
          </p:nvPr>
        </p:nvSpPr>
        <p:spPr>
          <a:xfrm>
            <a:off x="914183" y="4347531"/>
            <a:ext cx="5029635" cy="3848874"/>
          </a:xfrm>
        </p:spPr>
        <p:txBody>
          <a:bodyPr/>
          <a:lstStyle/>
          <a:p>
            <a:r>
              <a:rPr lang="en-GB" altLang="en-US"/>
              <a:t>The level of significance is, effectively, the chances of a Type I error.</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p:cNvSpPr>
            <a:spLocks noGrp="1" noRot="1" noChangeAspect="1" noChangeArrowheads="1" noTextEdit="1"/>
          </p:cNvSpPr>
          <p:nvPr>
            <p:ph type="sldImg"/>
          </p:nvPr>
        </p:nvSpPr>
        <p:spPr>
          <a:xfrm>
            <a:off x="1292225" y="796925"/>
            <a:ext cx="4273550" cy="3205163"/>
          </a:xfrm>
          <a:ln/>
        </p:spPr>
      </p:sp>
      <p:sp>
        <p:nvSpPr>
          <p:cNvPr id="208899" name="Rectangle 3"/>
          <p:cNvSpPr>
            <a:spLocks noGrp="1" noChangeArrowheads="1"/>
          </p:cNvSpPr>
          <p:nvPr>
            <p:ph type="body" idx="1"/>
          </p:nvPr>
        </p:nvSpPr>
        <p:spPr>
          <a:xfrm>
            <a:off x="914183" y="4347531"/>
            <a:ext cx="5029635" cy="3848874"/>
          </a:xfrm>
        </p:spPr>
        <p:txBody>
          <a:bodyPr/>
          <a:lstStyle/>
          <a:p>
            <a:r>
              <a:rPr lang="en-GB" altLang="en-US"/>
              <a:t>The level of significance is, effectively, the chances of a Type I error.</a:t>
            </a:r>
          </a:p>
        </p:txBody>
      </p:sp>
    </p:spTree>
    <p:extLst>
      <p:ext uri="{BB962C8B-B14F-4D97-AF65-F5344CB8AC3E}">
        <p14:creationId xmlns:p14="http://schemas.microsoft.com/office/powerpoint/2010/main" val="165527622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p:cNvSpPr>
            <a:spLocks noGrp="1" noRot="1" noChangeAspect="1" noChangeArrowheads="1" noTextEdit="1"/>
          </p:cNvSpPr>
          <p:nvPr>
            <p:ph type="sldImg"/>
          </p:nvPr>
        </p:nvSpPr>
        <p:spPr>
          <a:xfrm>
            <a:off x="1292225" y="796925"/>
            <a:ext cx="4273550" cy="3205163"/>
          </a:xfrm>
          <a:ln/>
        </p:spPr>
      </p:sp>
      <p:sp>
        <p:nvSpPr>
          <p:cNvPr id="208899" name="Rectangle 3"/>
          <p:cNvSpPr>
            <a:spLocks noGrp="1" noChangeArrowheads="1"/>
          </p:cNvSpPr>
          <p:nvPr>
            <p:ph type="body" idx="1"/>
          </p:nvPr>
        </p:nvSpPr>
        <p:spPr>
          <a:xfrm>
            <a:off x="914183" y="4347531"/>
            <a:ext cx="5029635" cy="3848874"/>
          </a:xfrm>
        </p:spPr>
        <p:txBody>
          <a:bodyPr/>
          <a:lstStyle/>
          <a:p>
            <a:r>
              <a:rPr lang="en-GB" altLang="en-US"/>
              <a:t>The level of significance is, effectively, the chances of a Type I error.</a:t>
            </a:r>
          </a:p>
        </p:txBody>
      </p:sp>
    </p:spTree>
    <p:extLst>
      <p:ext uri="{BB962C8B-B14F-4D97-AF65-F5344CB8AC3E}">
        <p14:creationId xmlns:p14="http://schemas.microsoft.com/office/powerpoint/2010/main" val="429368615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44</a:t>
            </a:fld>
            <a:endParaRPr lang="en-GB"/>
          </a:p>
        </p:txBody>
      </p:sp>
    </p:spTree>
    <p:extLst>
      <p:ext uri="{BB962C8B-B14F-4D97-AF65-F5344CB8AC3E}">
        <p14:creationId xmlns:p14="http://schemas.microsoft.com/office/powerpoint/2010/main" val="25234401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8229600" cy="1143000"/>
          </a:xfrm>
        </p:spPr>
        <p:txBody>
          <a:bodyPr/>
          <a:lstStyle>
            <a:lvl1pPr algn="l">
              <a:defRPr/>
            </a:lvl1p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6250"/>
            <a:ext cx="8229600" cy="114300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492875"/>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10/28/2024</a:t>
            </a:fld>
            <a:endParaRPr lang="en-US"/>
          </a:p>
        </p:txBody>
      </p:sp>
      <p:sp>
        <p:nvSpPr>
          <p:cNvPr id="5" name="Footer Placeholder 4"/>
          <p:cNvSpPr>
            <a:spLocks noGrp="1"/>
          </p:cNvSpPr>
          <p:nvPr>
            <p:ph type="ftr" sz="quarter" idx="3"/>
          </p:nvPr>
        </p:nvSpPr>
        <p:spPr>
          <a:xfrm>
            <a:off x="3124200" y="6492875"/>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492875"/>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spcBef>
          <a:spcPct val="0"/>
        </a:spcBef>
        <a:buNone/>
        <a:defRPr sz="3600" b="1"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image" Target="../media/image2.jpe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chart" Target="../charts/chart5.xml"/><Relationship Id="rId7"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18.png"/><Relationship Id="rId5" Type="http://schemas.openxmlformats.org/officeDocument/2006/relationships/image" Target="../media/image17.png"/><Relationship Id="rId10" Type="http://schemas.openxmlformats.org/officeDocument/2006/relationships/image" Target="../media/image8.png"/><Relationship Id="rId4" Type="http://schemas.openxmlformats.org/officeDocument/2006/relationships/image" Target="../media/image16.png"/><Relationship Id="rId9"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chart" Target="../charts/chart7.xml"/><Relationship Id="rId7"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image" Target="../media/image24.png"/><Relationship Id="rId5" Type="http://schemas.openxmlformats.org/officeDocument/2006/relationships/image" Target="../media/image23.png"/><Relationship Id="rId10" Type="http://schemas.openxmlformats.org/officeDocument/2006/relationships/image" Target="../media/image80.png"/><Relationship Id="rId4" Type="http://schemas.openxmlformats.org/officeDocument/2006/relationships/image" Target="../media/image22.png"/><Relationship Id="rId9" Type="http://schemas.openxmlformats.org/officeDocument/2006/relationships/image" Target="../media/image27.png"/></Relationships>
</file>

<file path=ppt/slides/_rels/slide17.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chart" Target="../charts/chart8.xml"/><Relationship Id="rId7"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24.png"/><Relationship Id="rId11" Type="http://schemas.openxmlformats.org/officeDocument/2006/relationships/image" Target="../media/image280.png"/><Relationship Id="rId5" Type="http://schemas.openxmlformats.org/officeDocument/2006/relationships/image" Target="../media/image23.png"/><Relationship Id="rId10" Type="http://schemas.openxmlformats.org/officeDocument/2006/relationships/image" Target="../media/image29.png"/><Relationship Id="rId4" Type="http://schemas.openxmlformats.org/officeDocument/2006/relationships/image" Target="../media/image22.png"/><Relationship Id="rId9"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29.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2.xml"/><Relationship Id="rId1" Type="http://schemas.openxmlformats.org/officeDocument/2006/relationships/slideLayout" Target="../slideLayouts/slideLayout6.xml"/><Relationship Id="rId6" Type="http://schemas.openxmlformats.org/officeDocument/2006/relationships/image" Target="../media/image320.png"/><Relationship Id="rId5" Type="http://schemas.openxmlformats.org/officeDocument/2006/relationships/image" Target="../media/image34.png"/></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3.xml"/><Relationship Id="rId1" Type="http://schemas.openxmlformats.org/officeDocument/2006/relationships/slideLayout" Target="../slideLayouts/slideLayout6.xml"/><Relationship Id="rId5" Type="http://schemas.openxmlformats.org/officeDocument/2006/relationships/image" Target="../media/image34.png"/><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24.xml"/><Relationship Id="rId1" Type="http://schemas.openxmlformats.org/officeDocument/2006/relationships/slideLayout" Target="../slideLayouts/slideLayout6.xml"/><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25.xml"/><Relationship Id="rId1" Type="http://schemas.openxmlformats.org/officeDocument/2006/relationships/slideLayout" Target="../slideLayouts/slideLayout6.xml"/><Relationship Id="rId4" Type="http://schemas.openxmlformats.org/officeDocument/2006/relationships/image" Target="../media/image34.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chart" Target="../charts/chart12.xml"/><Relationship Id="rId7" Type="http://schemas.openxmlformats.org/officeDocument/2006/relationships/image" Target="../media/image38.png"/><Relationship Id="rId2" Type="http://schemas.openxmlformats.org/officeDocument/2006/relationships/notesSlide" Target="../notesSlides/notesSlide27.xml"/><Relationship Id="rId1" Type="http://schemas.openxmlformats.org/officeDocument/2006/relationships/slideLayout" Target="../slideLayouts/slideLayout6.xml"/><Relationship Id="rId6" Type="http://schemas.openxmlformats.org/officeDocument/2006/relationships/image" Target="../media/image37.png"/><Relationship Id="rId5" Type="http://schemas.openxmlformats.org/officeDocument/2006/relationships/image" Target="../media/image33.png"/><Relationship Id="rId4" Type="http://schemas.openxmlformats.org/officeDocument/2006/relationships/image" Target="../media/image34.png"/></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320.png"/><Relationship Id="rId2" Type="http://schemas.openxmlformats.org/officeDocument/2006/relationships/notesSlide" Target="../notesSlides/notesSlide28.xml"/><Relationship Id="rId1" Type="http://schemas.openxmlformats.org/officeDocument/2006/relationships/slideLayout" Target="../slideLayouts/slideLayout6.xml"/><Relationship Id="rId6" Type="http://schemas.openxmlformats.org/officeDocument/2006/relationships/image" Target="../media/image40.png"/><Relationship Id="rId5" Type="http://schemas.openxmlformats.org/officeDocument/2006/relationships/image" Target="../media/image37.png"/><Relationship Id="rId4" Type="http://schemas.openxmlformats.org/officeDocument/2006/relationships/chart" Target="../charts/chart13.xml"/></Relationships>
</file>

<file path=ppt/slides/_rels/slide3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9.xml"/><Relationship Id="rId1" Type="http://schemas.openxmlformats.org/officeDocument/2006/relationships/slideLayout" Target="../slideLayouts/slideLayout5.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320.png"/><Relationship Id="rId2" Type="http://schemas.openxmlformats.org/officeDocument/2006/relationships/notesSlide" Target="../notesSlides/notesSlide30.xml"/><Relationship Id="rId1" Type="http://schemas.openxmlformats.org/officeDocument/2006/relationships/slideLayout" Target="../slideLayouts/slideLayout6.xml"/><Relationship Id="rId6" Type="http://schemas.openxmlformats.org/officeDocument/2006/relationships/image" Target="../media/image40.png"/><Relationship Id="rId5" Type="http://schemas.openxmlformats.org/officeDocument/2006/relationships/image" Target="../media/image37.png"/><Relationship Id="rId4" Type="http://schemas.openxmlformats.org/officeDocument/2006/relationships/chart" Target="../charts/chart14.xml"/></Relationships>
</file>

<file path=ppt/slides/_rels/slide34.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320.png"/><Relationship Id="rId2" Type="http://schemas.openxmlformats.org/officeDocument/2006/relationships/notesSlide" Target="../notesSlides/notesSlide31.xml"/><Relationship Id="rId1" Type="http://schemas.openxmlformats.org/officeDocument/2006/relationships/slideLayout" Target="../slideLayouts/slideLayout6.xml"/><Relationship Id="rId6" Type="http://schemas.openxmlformats.org/officeDocument/2006/relationships/image" Target="../media/image40.png"/><Relationship Id="rId5" Type="http://schemas.openxmlformats.org/officeDocument/2006/relationships/image" Target="../media/image37.png"/><Relationship Id="rId4" Type="http://schemas.openxmlformats.org/officeDocument/2006/relationships/chart" Target="../charts/chart15.xml"/></Relationships>
</file>

<file path=ppt/slides/_rels/slide35.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image" Target="../media/image320.png"/><Relationship Id="rId2" Type="http://schemas.openxmlformats.org/officeDocument/2006/relationships/notesSlide" Target="../notesSlides/notesSlide32.xml"/><Relationship Id="rId1" Type="http://schemas.openxmlformats.org/officeDocument/2006/relationships/slideLayout" Target="../slideLayouts/slideLayout6.xml"/><Relationship Id="rId6" Type="http://schemas.openxmlformats.org/officeDocument/2006/relationships/image" Target="../media/image40.png"/><Relationship Id="rId5" Type="http://schemas.openxmlformats.org/officeDocument/2006/relationships/image" Target="../media/image37.png"/><Relationship Id="rId4" Type="http://schemas.openxmlformats.org/officeDocument/2006/relationships/chart" Target="../charts/chart16.xml"/></Relationships>
</file>

<file path=ppt/slides/_rels/slide36.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48.png"/><Relationship Id="rId7" Type="http://schemas.openxmlformats.org/officeDocument/2006/relationships/image" Target="../media/image320.png"/><Relationship Id="rId2" Type="http://schemas.openxmlformats.org/officeDocument/2006/relationships/notesSlide" Target="../notesSlides/notesSlide33.xml"/><Relationship Id="rId1" Type="http://schemas.openxmlformats.org/officeDocument/2006/relationships/slideLayout" Target="../slideLayouts/slideLayout6.xml"/><Relationship Id="rId6" Type="http://schemas.openxmlformats.org/officeDocument/2006/relationships/image" Target="../media/image40.png"/><Relationship Id="rId5" Type="http://schemas.openxmlformats.org/officeDocument/2006/relationships/image" Target="../media/image37.png"/><Relationship Id="rId4" Type="http://schemas.openxmlformats.org/officeDocument/2006/relationships/chart" Target="../charts/chart17.xml"/><Relationship Id="rId9" Type="http://schemas.openxmlformats.org/officeDocument/2006/relationships/image" Target="../media/image30.png"/></Relationships>
</file>

<file path=ppt/slides/_rels/slide3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5.xml"/><Relationship Id="rId1" Type="http://schemas.openxmlformats.org/officeDocument/2006/relationships/slideLayout" Target="../slideLayouts/slideLayout6.xml"/><Relationship Id="rId4" Type="http://schemas.openxmlformats.org/officeDocument/2006/relationships/image" Target="../media/image32.png"/></Relationships>
</file>

<file path=ppt/slides/_rels/slide3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notesSlide" Target="../notesSlides/notesSlide36.xml"/><Relationship Id="rId1" Type="http://schemas.openxmlformats.org/officeDocument/2006/relationships/slideLayout" Target="../slideLayouts/slideLayout6.xml"/><Relationship Id="rId4" Type="http://schemas.openxmlformats.org/officeDocument/2006/relationships/image" Target="../media/image52.wmf"/></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8" name="Straight Arrow Connector 127"/>
          <p:cNvCxnSpPr>
            <a:stCxn id="124" idx="1"/>
            <a:endCxn id="108" idx="2"/>
          </p:cNvCxnSpPr>
          <p:nvPr/>
        </p:nvCxnSpPr>
        <p:spPr>
          <a:xfrm>
            <a:off x="533400" y="2688209"/>
            <a:ext cx="5890947" cy="3172"/>
          </a:xfrm>
          <a:prstGeom prst="straightConnector1">
            <a:avLst/>
          </a:prstGeom>
          <a:ln w="17780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3" name="Straight Arrow Connector 142"/>
          <p:cNvCxnSpPr>
            <a:stCxn id="124" idx="1"/>
            <a:endCxn id="108" idx="2"/>
          </p:cNvCxnSpPr>
          <p:nvPr/>
        </p:nvCxnSpPr>
        <p:spPr>
          <a:xfrm>
            <a:off x="533400" y="2688209"/>
            <a:ext cx="5890947" cy="3172"/>
          </a:xfrm>
          <a:prstGeom prst="straightConnector1">
            <a:avLst/>
          </a:prstGeom>
          <a:ln w="9525"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99" name="Rounded Rectangle 64"/>
          <p:cNvSpPr/>
          <p:nvPr/>
        </p:nvSpPr>
        <p:spPr>
          <a:xfrm>
            <a:off x="1066800" y="1295400"/>
            <a:ext cx="7010400" cy="4676775"/>
          </a:xfrm>
          <a:prstGeom prst="roundRect">
            <a:avLst/>
          </a:prstGeom>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124" name="Pentagon 41"/>
          <p:cNvSpPr/>
          <p:nvPr/>
        </p:nvSpPr>
        <p:spPr>
          <a:xfrm>
            <a:off x="533400" y="2557018"/>
            <a:ext cx="122819" cy="262382"/>
          </a:xfrm>
          <a:prstGeom prst="rect">
            <a:avLst/>
          </a:prstGeom>
          <a:solidFill>
            <a:schemeClr val="tx1">
              <a:lumMod val="50000"/>
              <a:lumOff val="5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sz="2000" b="1" dirty="0"/>
          </a:p>
        </p:txBody>
      </p:sp>
      <p:cxnSp>
        <p:nvCxnSpPr>
          <p:cNvPr id="135" name="Elbow Connector 73"/>
          <p:cNvCxnSpPr>
            <a:stCxn id="122" idx="0"/>
            <a:endCxn id="110" idx="6"/>
          </p:cNvCxnSpPr>
          <p:nvPr/>
        </p:nvCxnSpPr>
        <p:spPr>
          <a:xfrm rot="16200000" flipV="1">
            <a:off x="4670377" y="2285111"/>
            <a:ext cx="716160" cy="5438768"/>
          </a:xfrm>
          <a:prstGeom prst="bentConnector2">
            <a:avLst/>
          </a:prstGeom>
          <a:ln w="177800"/>
        </p:spPr>
        <p:style>
          <a:lnRef idx="1">
            <a:schemeClr val="dk1"/>
          </a:lnRef>
          <a:fillRef idx="0">
            <a:schemeClr val="dk1"/>
          </a:fillRef>
          <a:effectRef idx="0">
            <a:schemeClr val="dk1"/>
          </a:effectRef>
          <a:fontRef idx="minor">
            <a:schemeClr val="tx1"/>
          </a:fontRef>
        </p:style>
      </p:cxnSp>
      <p:sp>
        <p:nvSpPr>
          <p:cNvPr id="101" name="Rectangle 100"/>
          <p:cNvSpPr/>
          <p:nvPr/>
        </p:nvSpPr>
        <p:spPr>
          <a:xfrm>
            <a:off x="2651263" y="2025045"/>
            <a:ext cx="1001621" cy="307777"/>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Probability</a:t>
            </a:r>
            <a:endParaRPr lang="en-GB" sz="1400" dirty="0"/>
          </a:p>
        </p:txBody>
      </p:sp>
      <p:sp>
        <p:nvSpPr>
          <p:cNvPr id="103" name="Rectangle 102"/>
          <p:cNvSpPr/>
          <p:nvPr/>
        </p:nvSpPr>
        <p:spPr>
          <a:xfrm>
            <a:off x="1474886" y="1799422"/>
            <a:ext cx="1020664"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Descriptive</a:t>
            </a:r>
          </a:p>
          <a:p>
            <a:pPr algn="ctr"/>
            <a:r>
              <a:rPr lang="en-GB" sz="1400" b="1" dirty="0"/>
              <a:t>Statistics</a:t>
            </a:r>
            <a:endParaRPr lang="en-GB" sz="1400" dirty="0"/>
          </a:p>
        </p:txBody>
      </p:sp>
      <p:sp>
        <p:nvSpPr>
          <p:cNvPr id="105" name="Rectangle 104"/>
          <p:cNvSpPr/>
          <p:nvPr/>
        </p:nvSpPr>
        <p:spPr>
          <a:xfrm>
            <a:off x="3808597" y="1799422"/>
            <a:ext cx="1149289"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Probability</a:t>
            </a:r>
          </a:p>
          <a:p>
            <a:pPr algn="ctr"/>
            <a:r>
              <a:rPr lang="en-GB" sz="1400" b="1" dirty="0"/>
              <a:t>Distributions</a:t>
            </a:r>
            <a:endParaRPr lang="en-GB" sz="1400" dirty="0"/>
          </a:p>
        </p:txBody>
      </p:sp>
      <p:sp>
        <p:nvSpPr>
          <p:cNvPr id="107" name="Rectangle 106"/>
          <p:cNvSpPr/>
          <p:nvPr/>
        </p:nvSpPr>
        <p:spPr>
          <a:xfrm>
            <a:off x="6275649" y="1799422"/>
            <a:ext cx="1013418"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Hypothesis</a:t>
            </a:r>
          </a:p>
          <a:p>
            <a:pPr algn="ctr"/>
            <a:r>
              <a:rPr lang="en-GB" sz="1400" b="1" dirty="0"/>
              <a:t>Testing 1</a:t>
            </a:r>
            <a:endParaRPr lang="en-GB" sz="1400" dirty="0"/>
          </a:p>
        </p:txBody>
      </p:sp>
      <p:sp>
        <p:nvSpPr>
          <p:cNvPr id="109" name="Rectangle 108"/>
          <p:cNvSpPr/>
          <p:nvPr/>
        </p:nvSpPr>
        <p:spPr>
          <a:xfrm>
            <a:off x="2594245" y="5039380"/>
            <a:ext cx="1113318"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Testing</a:t>
            </a:r>
          </a:p>
          <a:p>
            <a:pPr algn="ctr"/>
            <a:r>
              <a:rPr lang="en-GB" sz="1400" b="1" dirty="0"/>
              <a:t>Relationship</a:t>
            </a:r>
            <a:endParaRPr lang="en-GB" sz="1400" dirty="0"/>
          </a:p>
        </p:txBody>
      </p:sp>
      <p:sp>
        <p:nvSpPr>
          <p:cNvPr id="111" name="Rectangle 110"/>
          <p:cNvSpPr/>
          <p:nvPr/>
        </p:nvSpPr>
        <p:spPr>
          <a:xfrm>
            <a:off x="3886201" y="5054798"/>
            <a:ext cx="991169" cy="307777"/>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Regression</a:t>
            </a:r>
            <a:endParaRPr lang="en-GB" sz="1400" dirty="0"/>
          </a:p>
        </p:txBody>
      </p:sp>
      <p:sp>
        <p:nvSpPr>
          <p:cNvPr id="113" name="Rectangle 112"/>
          <p:cNvSpPr/>
          <p:nvPr/>
        </p:nvSpPr>
        <p:spPr>
          <a:xfrm>
            <a:off x="6334125" y="5085080"/>
            <a:ext cx="904875" cy="523220"/>
          </a:xfrm>
          <a:prstGeom prst="rect">
            <a:avLst/>
          </a:prstGeom>
          <a:effectLst>
            <a:outerShdw blurRad="50800" dist="38100" dir="18900000" algn="bl" rotWithShape="0">
              <a:prstClr val="black">
                <a:alpha val="40000"/>
              </a:prstClr>
            </a:outerShdw>
          </a:effectLst>
        </p:spPr>
        <p:txBody>
          <a:bodyPr wrap="square">
            <a:spAutoFit/>
          </a:bodyPr>
          <a:lstStyle/>
          <a:p>
            <a:pPr algn="ctr"/>
            <a:r>
              <a:rPr lang="en-GB" sz="1400" b="1" dirty="0"/>
              <a:t>Factor</a:t>
            </a:r>
          </a:p>
          <a:p>
            <a:pPr algn="ctr"/>
            <a:r>
              <a:rPr lang="en-GB" sz="1400" b="1" dirty="0"/>
              <a:t>Analysis</a:t>
            </a:r>
          </a:p>
        </p:txBody>
      </p:sp>
      <p:sp>
        <p:nvSpPr>
          <p:cNvPr id="115" name="Rectangle 114"/>
          <p:cNvSpPr/>
          <p:nvPr/>
        </p:nvSpPr>
        <p:spPr>
          <a:xfrm>
            <a:off x="5225248" y="1981200"/>
            <a:ext cx="870752" cy="307777"/>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Sampling</a:t>
            </a:r>
          </a:p>
        </p:txBody>
      </p:sp>
      <p:sp>
        <p:nvSpPr>
          <p:cNvPr id="122" name="Oval 121"/>
          <p:cNvSpPr/>
          <p:nvPr/>
        </p:nvSpPr>
        <p:spPr>
          <a:xfrm>
            <a:off x="7385891" y="5362575"/>
            <a:ext cx="723900" cy="69532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100" dirty="0"/>
              <a:t>Week</a:t>
            </a:r>
          </a:p>
          <a:p>
            <a:pPr algn="ctr"/>
            <a:r>
              <a:rPr lang="en-GB" sz="2000" b="1" dirty="0"/>
              <a:t>11</a:t>
            </a:r>
          </a:p>
        </p:txBody>
      </p:sp>
      <p:sp>
        <p:nvSpPr>
          <p:cNvPr id="123" name="Rectangle 122"/>
          <p:cNvSpPr/>
          <p:nvPr/>
        </p:nvSpPr>
        <p:spPr>
          <a:xfrm>
            <a:off x="7342281" y="6106180"/>
            <a:ext cx="811119" cy="307777"/>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Revision</a:t>
            </a:r>
          </a:p>
        </p:txBody>
      </p:sp>
      <p:sp>
        <p:nvSpPr>
          <p:cNvPr id="126" name="Rectangle 125"/>
          <p:cNvSpPr/>
          <p:nvPr/>
        </p:nvSpPr>
        <p:spPr>
          <a:xfrm>
            <a:off x="5134855" y="5090072"/>
            <a:ext cx="1045478"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Conditional</a:t>
            </a:r>
          </a:p>
          <a:p>
            <a:pPr algn="ctr"/>
            <a:r>
              <a:rPr lang="en-GB" sz="1400" b="1" dirty="0"/>
              <a:t>Probability</a:t>
            </a:r>
            <a:endParaRPr lang="en-GB" sz="1400" dirty="0"/>
          </a:p>
        </p:txBody>
      </p:sp>
      <p:cxnSp>
        <p:nvCxnSpPr>
          <p:cNvPr id="127" name="Elbow Connector 46"/>
          <p:cNvCxnSpPr>
            <a:stCxn id="110" idx="2"/>
            <a:endCxn id="108" idx="6"/>
          </p:cNvCxnSpPr>
          <p:nvPr/>
        </p:nvCxnSpPr>
        <p:spPr>
          <a:xfrm rot="10800000" flipH="1">
            <a:off x="1585173" y="2691381"/>
            <a:ext cx="5563074" cy="1955034"/>
          </a:xfrm>
          <a:prstGeom prst="bentConnector5">
            <a:avLst>
              <a:gd name="adj1" fmla="val -4109"/>
              <a:gd name="adj2" fmla="val 50000"/>
              <a:gd name="adj3" fmla="val 104109"/>
            </a:avLst>
          </a:prstGeom>
          <a:ln w="177800"/>
        </p:spPr>
        <p:style>
          <a:lnRef idx="1">
            <a:schemeClr val="dk1"/>
          </a:lnRef>
          <a:fillRef idx="0">
            <a:schemeClr val="dk1"/>
          </a:fillRef>
          <a:effectRef idx="0">
            <a:schemeClr val="dk1"/>
          </a:effectRef>
          <a:fontRef idx="minor">
            <a:schemeClr val="tx1"/>
          </a:fontRef>
        </p:style>
      </p:cxnSp>
      <p:sp>
        <p:nvSpPr>
          <p:cNvPr id="136" name="Title 1"/>
          <p:cNvSpPr>
            <a:spLocks noGrp="1"/>
          </p:cNvSpPr>
          <p:nvPr>
            <p:ph type="title"/>
          </p:nvPr>
        </p:nvSpPr>
        <p:spPr>
          <a:xfrm>
            <a:off x="304800" y="76200"/>
            <a:ext cx="8229600" cy="869277"/>
          </a:xfrm>
        </p:spPr>
        <p:txBody>
          <a:bodyPr/>
          <a:lstStyle/>
          <a:p>
            <a:r>
              <a:rPr lang="en-GB" dirty="0"/>
              <a:t>Module Overview</a:t>
            </a:r>
          </a:p>
        </p:txBody>
      </p:sp>
      <p:sp>
        <p:nvSpPr>
          <p:cNvPr id="137" name="Rectangle 136"/>
          <p:cNvSpPr/>
          <p:nvPr/>
        </p:nvSpPr>
        <p:spPr>
          <a:xfrm>
            <a:off x="1447800" y="5029200"/>
            <a:ext cx="1013419"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Hypothesis</a:t>
            </a:r>
          </a:p>
          <a:p>
            <a:pPr algn="ctr"/>
            <a:r>
              <a:rPr lang="en-GB" sz="1400" b="1" dirty="0"/>
              <a:t>Testing 2</a:t>
            </a:r>
          </a:p>
        </p:txBody>
      </p:sp>
      <p:cxnSp>
        <p:nvCxnSpPr>
          <p:cNvPr id="142" name="Elbow Connector 73"/>
          <p:cNvCxnSpPr>
            <a:stCxn id="122" idx="0"/>
            <a:endCxn id="110" idx="6"/>
          </p:cNvCxnSpPr>
          <p:nvPr/>
        </p:nvCxnSpPr>
        <p:spPr>
          <a:xfrm rot="16200000" flipV="1">
            <a:off x="4670377" y="2285111"/>
            <a:ext cx="716160" cy="5438768"/>
          </a:xfrm>
          <a:prstGeom prst="bentConnector2">
            <a:avLst/>
          </a:prstGeom>
          <a:ln w="9525"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44" name="Elbow Connector 46"/>
          <p:cNvCxnSpPr>
            <a:stCxn id="110" idx="2"/>
            <a:endCxn id="108" idx="6"/>
          </p:cNvCxnSpPr>
          <p:nvPr/>
        </p:nvCxnSpPr>
        <p:spPr>
          <a:xfrm rot="10800000" flipH="1">
            <a:off x="1585173" y="2691381"/>
            <a:ext cx="5563074" cy="1955034"/>
          </a:xfrm>
          <a:prstGeom prst="bentConnector5">
            <a:avLst>
              <a:gd name="adj1" fmla="val -4109"/>
              <a:gd name="adj2" fmla="val 50000"/>
              <a:gd name="adj3" fmla="val 104109"/>
            </a:avLst>
          </a:prstGeom>
          <a:ln w="9525"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10" name="Oval 109"/>
          <p:cNvSpPr/>
          <p:nvPr/>
        </p:nvSpPr>
        <p:spPr>
          <a:xfrm>
            <a:off x="1585173" y="4298752"/>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6</a:t>
            </a:r>
          </a:p>
        </p:txBody>
      </p:sp>
      <p:sp>
        <p:nvSpPr>
          <p:cNvPr id="112" name="Oval 111"/>
          <p:cNvSpPr/>
          <p:nvPr/>
        </p:nvSpPr>
        <p:spPr>
          <a:xfrm>
            <a:off x="2767095" y="4298752"/>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7</a:t>
            </a:r>
          </a:p>
        </p:txBody>
      </p:sp>
      <p:sp>
        <p:nvSpPr>
          <p:cNvPr id="114" name="Oval 113"/>
          <p:cNvSpPr/>
          <p:nvPr/>
        </p:nvSpPr>
        <p:spPr>
          <a:xfrm>
            <a:off x="4006152" y="4298752"/>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8</a:t>
            </a:r>
          </a:p>
        </p:txBody>
      </p:sp>
      <p:sp>
        <p:nvSpPr>
          <p:cNvPr id="116" name="Oval 115"/>
          <p:cNvSpPr/>
          <p:nvPr/>
        </p:nvSpPr>
        <p:spPr>
          <a:xfrm>
            <a:off x="6424348" y="4298752"/>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10</a:t>
            </a:r>
          </a:p>
        </p:txBody>
      </p:sp>
      <p:sp>
        <p:nvSpPr>
          <p:cNvPr id="125" name="Oval 124"/>
          <p:cNvSpPr/>
          <p:nvPr/>
        </p:nvSpPr>
        <p:spPr>
          <a:xfrm>
            <a:off x="5304166" y="4298752"/>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9</a:t>
            </a:r>
          </a:p>
        </p:txBody>
      </p:sp>
      <p:sp>
        <p:nvSpPr>
          <p:cNvPr id="100" name="Oval 99"/>
          <p:cNvSpPr/>
          <p:nvPr/>
        </p:nvSpPr>
        <p:spPr>
          <a:xfrm>
            <a:off x="2790125" y="2345979"/>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2</a:t>
            </a:r>
          </a:p>
        </p:txBody>
      </p:sp>
      <p:sp>
        <p:nvSpPr>
          <p:cNvPr id="104" name="Oval 103"/>
          <p:cNvSpPr/>
          <p:nvPr/>
        </p:nvSpPr>
        <p:spPr>
          <a:xfrm>
            <a:off x="4019643" y="2345979"/>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3</a:t>
            </a:r>
          </a:p>
        </p:txBody>
      </p:sp>
      <p:sp>
        <p:nvSpPr>
          <p:cNvPr id="106" name="Oval 105"/>
          <p:cNvSpPr/>
          <p:nvPr/>
        </p:nvSpPr>
        <p:spPr>
          <a:xfrm>
            <a:off x="5255214" y="2343718"/>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4</a:t>
            </a:r>
          </a:p>
        </p:txBody>
      </p:sp>
      <p:sp>
        <p:nvSpPr>
          <p:cNvPr id="108" name="Oval 107"/>
          <p:cNvSpPr/>
          <p:nvPr/>
        </p:nvSpPr>
        <p:spPr>
          <a:xfrm>
            <a:off x="6424347" y="2343718"/>
            <a:ext cx="723900" cy="695325"/>
          </a:xfrm>
          <a:prstGeom prst="ellipse">
            <a:avLst/>
          </a:prstGeom>
          <a:solidFill>
            <a:srgbClr val="FFFF00"/>
          </a:solidFill>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5</a:t>
            </a:r>
          </a:p>
        </p:txBody>
      </p:sp>
      <p:sp>
        <p:nvSpPr>
          <p:cNvPr id="138" name="Oval 137"/>
          <p:cNvSpPr/>
          <p:nvPr/>
        </p:nvSpPr>
        <p:spPr>
          <a:xfrm>
            <a:off x="1600200" y="2352675"/>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1</a:t>
            </a:r>
          </a:p>
        </p:txBody>
      </p:sp>
      <p:cxnSp>
        <p:nvCxnSpPr>
          <p:cNvPr id="181" name="Straight Arrow Connector 180"/>
          <p:cNvCxnSpPr>
            <a:stCxn id="180" idx="3"/>
            <a:endCxn id="122" idx="6"/>
          </p:cNvCxnSpPr>
          <p:nvPr/>
        </p:nvCxnSpPr>
        <p:spPr>
          <a:xfrm flipH="1">
            <a:off x="8109791" y="5709209"/>
            <a:ext cx="779641" cy="1029"/>
          </a:xfrm>
          <a:prstGeom prst="straightConnector1">
            <a:avLst/>
          </a:prstGeom>
          <a:ln w="17780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82" name="Straight Arrow Connector 181"/>
          <p:cNvCxnSpPr>
            <a:stCxn id="180" idx="3"/>
            <a:endCxn id="122" idx="6"/>
          </p:cNvCxnSpPr>
          <p:nvPr/>
        </p:nvCxnSpPr>
        <p:spPr>
          <a:xfrm flipH="1">
            <a:off x="8109791" y="5709209"/>
            <a:ext cx="779641" cy="1029"/>
          </a:xfrm>
          <a:prstGeom prst="straightConnector1">
            <a:avLst/>
          </a:prstGeom>
          <a:ln w="9525"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80" name="Pentagon 41"/>
          <p:cNvSpPr/>
          <p:nvPr/>
        </p:nvSpPr>
        <p:spPr>
          <a:xfrm>
            <a:off x="8766613" y="5578018"/>
            <a:ext cx="122819" cy="262382"/>
          </a:xfrm>
          <a:prstGeom prst="rect">
            <a:avLst/>
          </a:prstGeom>
          <a:solidFill>
            <a:schemeClr val="tx1">
              <a:lumMod val="50000"/>
              <a:lumOff val="5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sz="2000" b="1" dirty="0"/>
          </a:p>
        </p:txBody>
      </p:sp>
    </p:spTree>
    <p:extLst>
      <p:ext uri="{BB962C8B-B14F-4D97-AF65-F5344CB8AC3E}">
        <p14:creationId xmlns:p14="http://schemas.microsoft.com/office/powerpoint/2010/main" val="37350121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39D85-D401-4E5E-A3ED-D4CD015B52AE}"/>
              </a:ext>
            </a:extLst>
          </p:cNvPr>
          <p:cNvSpPr>
            <a:spLocks noGrp="1"/>
          </p:cNvSpPr>
          <p:nvPr>
            <p:ph type="title"/>
          </p:nvPr>
        </p:nvSpPr>
        <p:spPr/>
        <p:txBody>
          <a:bodyPr/>
          <a:lstStyle/>
          <a:p>
            <a:r>
              <a:rPr lang="en-GB" dirty="0"/>
              <a:t>A bit of housekeeping…</a:t>
            </a:r>
          </a:p>
        </p:txBody>
      </p:sp>
      <p:sp>
        <p:nvSpPr>
          <p:cNvPr id="3" name="Text Box 2">
            <a:extLst>
              <a:ext uri="{FF2B5EF4-FFF2-40B4-BE49-F238E27FC236}">
                <a16:creationId xmlns:a16="http://schemas.microsoft.com/office/drawing/2014/main" id="{78948A70-32F3-4059-91AE-7E8317E1A4CF}"/>
              </a:ext>
            </a:extLst>
          </p:cNvPr>
          <p:cNvSpPr txBox="1">
            <a:spLocks noChangeArrowheads="1"/>
          </p:cNvSpPr>
          <p:nvPr/>
        </p:nvSpPr>
        <p:spPr bwMode="auto">
          <a:xfrm>
            <a:off x="304800" y="762000"/>
            <a:ext cx="8382000" cy="6801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sz="2400" dirty="0"/>
              <a:t>The exam is going to be a MULTIPLE CHOICE QUESTIONNAIRE</a:t>
            </a:r>
          </a:p>
          <a:p>
            <a:endParaRPr lang="en-GB" sz="2400" b="1" dirty="0"/>
          </a:p>
          <a:p>
            <a:r>
              <a:rPr lang="en-GB" sz="2400" b="1" dirty="0"/>
              <a:t>Don’t worry about:</a:t>
            </a:r>
          </a:p>
          <a:p>
            <a:pPr marL="342900" indent="-342900">
              <a:buFontTx/>
              <a:buChar char="-"/>
            </a:pPr>
            <a:r>
              <a:rPr lang="en-GB" sz="2400" dirty="0"/>
              <a:t>Excel rounding errors (unless the question is about rounding, </a:t>
            </a:r>
            <a:r>
              <a:rPr lang="en-GB" sz="2400" i="1" dirty="0"/>
              <a:t>i</a:t>
            </a:r>
            <a:r>
              <a:rPr lang="en-GB" sz="2400" dirty="0"/>
              <a:t>.</a:t>
            </a:r>
            <a:r>
              <a:rPr lang="en-GB" sz="2400" i="1" dirty="0"/>
              <a:t>e. </a:t>
            </a:r>
            <a:r>
              <a:rPr lang="en-GB" sz="2400" dirty="0"/>
              <a:t>it is expected from you to round up)</a:t>
            </a:r>
          </a:p>
          <a:p>
            <a:pPr marL="342900" indent="-342900">
              <a:buFontTx/>
              <a:buChar char="-"/>
            </a:pPr>
            <a:r>
              <a:rPr lang="en-GB" sz="2400" dirty="0"/>
              <a:t>Remembering equations by heart: don’t! Remember WHICH ONE to use</a:t>
            </a:r>
          </a:p>
          <a:p>
            <a:r>
              <a:rPr lang="en-GB" sz="2400" b="1" dirty="0"/>
              <a:t>“Worry” about:</a:t>
            </a:r>
          </a:p>
          <a:p>
            <a:pPr marL="342900" indent="-342900">
              <a:buFontTx/>
              <a:buChar char="-"/>
            </a:pPr>
            <a:r>
              <a:rPr lang="en-GB" sz="2400" dirty="0"/>
              <a:t>Interpretations</a:t>
            </a:r>
          </a:p>
          <a:p>
            <a:pPr marL="800100" lvl="1" indent="-342900">
              <a:buFontTx/>
              <a:buChar char="-"/>
            </a:pPr>
            <a:r>
              <a:rPr lang="en-GB" sz="2400" dirty="0"/>
              <a:t>Of the test results</a:t>
            </a:r>
          </a:p>
          <a:p>
            <a:pPr marL="800100" lvl="1" indent="-342900">
              <a:buFontTx/>
              <a:buChar char="-"/>
            </a:pPr>
            <a:r>
              <a:rPr lang="en-GB" sz="2400" dirty="0"/>
              <a:t>Of the regression results (more to come on this!)</a:t>
            </a:r>
          </a:p>
          <a:p>
            <a:pPr marL="342900" indent="-342900">
              <a:buFontTx/>
              <a:buChar char="-"/>
            </a:pPr>
            <a:r>
              <a:rPr lang="en-GB" sz="2400" dirty="0"/>
              <a:t>Calculator:</a:t>
            </a:r>
          </a:p>
          <a:p>
            <a:pPr marL="800100" lvl="1" indent="-342900">
              <a:buFontTx/>
              <a:buChar char="-"/>
            </a:pPr>
            <a:r>
              <a:rPr lang="en-GB" sz="2000" dirty="0"/>
              <a:t>Casio fx-82 series</a:t>
            </a:r>
          </a:p>
          <a:p>
            <a:pPr marL="800100" lvl="1" indent="-342900">
              <a:buFontTx/>
              <a:buChar char="-"/>
            </a:pPr>
            <a:r>
              <a:rPr lang="en-GB" sz="2000" dirty="0"/>
              <a:t>Casio fx-83 series</a:t>
            </a:r>
          </a:p>
          <a:p>
            <a:pPr marL="800100" lvl="1" indent="-342900">
              <a:buFontTx/>
              <a:buChar char="-"/>
            </a:pPr>
            <a:r>
              <a:rPr lang="en-GB" sz="2000" dirty="0"/>
              <a:t>Casio fx-85 series</a:t>
            </a:r>
          </a:p>
          <a:p>
            <a:pPr marL="800100" lvl="1" indent="-342900">
              <a:buFontTx/>
              <a:buChar char="-"/>
            </a:pPr>
            <a:r>
              <a:rPr lang="en-GB" sz="2000" dirty="0"/>
              <a:t>Casio fx-350 series</a:t>
            </a:r>
          </a:p>
          <a:p>
            <a:pPr marL="800100" lvl="1" indent="-342900">
              <a:buFontTx/>
              <a:buChar char="-"/>
            </a:pPr>
            <a:r>
              <a:rPr lang="en-GB" sz="2000" dirty="0"/>
              <a:t>Sharp EL – 531 series</a:t>
            </a:r>
          </a:p>
          <a:p>
            <a:pPr marL="342900" indent="-342900">
              <a:buFontTx/>
              <a:buChar char="-"/>
            </a:pPr>
            <a:endParaRPr lang="en-GB" sz="2400" dirty="0"/>
          </a:p>
          <a:p>
            <a:pPr marL="342900" indent="-342900">
              <a:buFontTx/>
              <a:buChar char="-"/>
            </a:pPr>
            <a:endParaRPr lang="en-GB" sz="2400" b="1" dirty="0"/>
          </a:p>
        </p:txBody>
      </p:sp>
    </p:spTree>
    <p:extLst>
      <p:ext uri="{BB962C8B-B14F-4D97-AF65-F5344CB8AC3E}">
        <p14:creationId xmlns:p14="http://schemas.microsoft.com/office/powerpoint/2010/main" val="15964345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Text Box 2"/>
          <p:cNvSpPr txBox="1">
            <a:spLocks noChangeArrowheads="1"/>
          </p:cNvSpPr>
          <p:nvPr/>
        </p:nvSpPr>
        <p:spPr bwMode="auto">
          <a:xfrm>
            <a:off x="304800" y="4204830"/>
            <a:ext cx="60198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altLang="en-US" sz="2400" b="1" dirty="0"/>
              <a:t>How</a:t>
            </a:r>
            <a:r>
              <a:rPr lang="en-GB" altLang="en-US" sz="2400" dirty="0"/>
              <a:t> should we </a:t>
            </a:r>
            <a:r>
              <a:rPr lang="en-GB" altLang="en-US" sz="2400" b="1" dirty="0"/>
              <a:t>test this?</a:t>
            </a:r>
          </a:p>
        </p:txBody>
      </p:sp>
      <p:sp>
        <p:nvSpPr>
          <p:cNvPr id="2" name="Title 1"/>
          <p:cNvSpPr>
            <a:spLocks noGrp="1"/>
          </p:cNvSpPr>
          <p:nvPr>
            <p:ph type="title"/>
          </p:nvPr>
        </p:nvSpPr>
        <p:spPr/>
        <p:txBody>
          <a:bodyPr>
            <a:normAutofit/>
          </a:bodyPr>
          <a:lstStyle/>
          <a:p>
            <a:r>
              <a:rPr lang="en-GB" dirty="0"/>
              <a:t>Consider this information…</a:t>
            </a:r>
          </a:p>
        </p:txBody>
      </p:sp>
      <p:grpSp>
        <p:nvGrpSpPr>
          <p:cNvPr id="10" name="Group 9"/>
          <p:cNvGrpSpPr/>
          <p:nvPr/>
        </p:nvGrpSpPr>
        <p:grpSpPr>
          <a:xfrm>
            <a:off x="381000" y="5193268"/>
            <a:ext cx="6682558" cy="1106507"/>
            <a:chOff x="304800" y="3288268"/>
            <a:chExt cx="6682558" cy="1106507"/>
          </a:xfrm>
        </p:grpSpPr>
        <p:sp>
          <p:nvSpPr>
            <p:cNvPr id="4" name="Rectangle 3"/>
            <p:cNvSpPr/>
            <p:nvPr/>
          </p:nvSpPr>
          <p:spPr>
            <a:xfrm>
              <a:off x="304800" y="3288268"/>
              <a:ext cx="4572000" cy="369332"/>
            </a:xfrm>
            <a:prstGeom prst="rect">
              <a:avLst/>
            </a:prstGeom>
          </p:spPr>
          <p:txBody>
            <a:bodyPr>
              <a:spAutoFit/>
            </a:bodyPr>
            <a:lstStyle/>
            <a:p>
              <a:r>
                <a:rPr lang="en-GB" altLang="en-US" dirty="0"/>
                <a:t>We can use a process called…</a:t>
              </a:r>
              <a:endParaRPr lang="en-GB" altLang="en-US" b="1" dirty="0">
                <a:solidFill>
                  <a:schemeClr val="accent2"/>
                </a:solidFill>
              </a:endParaRPr>
            </a:p>
          </p:txBody>
        </p:sp>
        <p:sp>
          <p:nvSpPr>
            <p:cNvPr id="6" name="Rectangle 5"/>
            <p:cNvSpPr/>
            <p:nvPr/>
          </p:nvSpPr>
          <p:spPr>
            <a:xfrm>
              <a:off x="3657600" y="3810000"/>
              <a:ext cx="3329758" cy="584775"/>
            </a:xfrm>
            <a:prstGeom prst="rect">
              <a:avLst/>
            </a:prstGeom>
          </p:spPr>
          <p:txBody>
            <a:bodyPr wrap="none">
              <a:spAutoFit/>
            </a:bodyPr>
            <a:lstStyle/>
            <a:p>
              <a:r>
                <a:rPr lang="en-GB" altLang="en-US" sz="3200" b="1" dirty="0">
                  <a:solidFill>
                    <a:schemeClr val="tx2"/>
                  </a:solidFill>
                </a:rPr>
                <a:t>Hypothesis testing</a:t>
              </a:r>
              <a:endParaRPr lang="en-GB" altLang="en-US" sz="3200" b="1" dirty="0">
                <a:solidFill>
                  <a:schemeClr val="accent2"/>
                </a:solidFill>
              </a:endParaRPr>
            </a:p>
          </p:txBody>
        </p:sp>
      </p:grpSp>
      <p:sp>
        <p:nvSpPr>
          <p:cNvPr id="14" name="Text Box 2"/>
          <p:cNvSpPr txBox="1">
            <a:spLocks noChangeArrowheads="1"/>
          </p:cNvSpPr>
          <p:nvPr/>
        </p:nvSpPr>
        <p:spPr bwMode="auto">
          <a:xfrm>
            <a:off x="304800" y="762000"/>
            <a:ext cx="83820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sz="2400" dirty="0"/>
              <a:t>A newspaper reported that </a:t>
            </a:r>
            <a:r>
              <a:rPr lang="en-GB" sz="2400" b="1" dirty="0"/>
              <a:t>15%</a:t>
            </a:r>
            <a:r>
              <a:rPr lang="en-GB" sz="2400" dirty="0"/>
              <a:t> of trains do not depart on time from the train station. When observing </a:t>
            </a:r>
            <a:r>
              <a:rPr lang="en-GB" sz="2400" b="1" dirty="0"/>
              <a:t>50 </a:t>
            </a:r>
            <a:r>
              <a:rPr lang="en-GB" sz="2400" dirty="0"/>
              <a:t>trains randomly, we found </a:t>
            </a:r>
            <a:r>
              <a:rPr lang="en-GB" sz="2400" b="1" dirty="0"/>
              <a:t>10%</a:t>
            </a:r>
            <a:r>
              <a:rPr lang="en-GB" sz="2400" dirty="0"/>
              <a:t> departed late.</a:t>
            </a:r>
          </a:p>
          <a:p>
            <a:endParaRPr lang="en-GB" sz="2400" dirty="0"/>
          </a:p>
        </p:txBody>
      </p:sp>
      <p:sp>
        <p:nvSpPr>
          <p:cNvPr id="5" name="TextBox 4">
            <a:extLst>
              <a:ext uri="{FF2B5EF4-FFF2-40B4-BE49-F238E27FC236}">
                <a16:creationId xmlns:a16="http://schemas.microsoft.com/office/drawing/2014/main" id="{7D087D24-5143-BC36-EC10-BD79299972B4}"/>
              </a:ext>
            </a:extLst>
          </p:cNvPr>
          <p:cNvSpPr txBox="1"/>
          <p:nvPr/>
        </p:nvSpPr>
        <p:spPr>
          <a:xfrm>
            <a:off x="304800" y="2278796"/>
            <a:ext cx="8229600" cy="1569660"/>
          </a:xfrm>
          <a:prstGeom prst="rect">
            <a:avLst/>
          </a:prstGeom>
          <a:noFill/>
        </p:spPr>
        <p:txBody>
          <a:bodyPr wrap="square">
            <a:spAutoFit/>
          </a:bodyPr>
          <a:lstStyle/>
          <a:p>
            <a:r>
              <a:rPr lang="en-GB" sz="2400" dirty="0"/>
              <a:t>Is the newspaper lying about the problem?</a:t>
            </a:r>
          </a:p>
          <a:p>
            <a:endParaRPr lang="en-GB" sz="2400" dirty="0"/>
          </a:p>
          <a:p>
            <a:r>
              <a:rPr lang="en-GB" sz="2400" b="1" dirty="0"/>
              <a:t>Would you consider your observation to be statistically significantly different from what newspaper has reported?</a:t>
            </a:r>
          </a:p>
        </p:txBody>
      </p:sp>
    </p:spTree>
    <p:extLst>
      <p:ext uri="{BB962C8B-B14F-4D97-AF65-F5344CB8AC3E}">
        <p14:creationId xmlns:p14="http://schemas.microsoft.com/office/powerpoint/2010/main" val="2692411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randombar(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7634"/>
                                        </p:tgtEl>
                                        <p:attrNameLst>
                                          <p:attrName>style.visibility</p:attrName>
                                        </p:attrNameLst>
                                      </p:cBhvr>
                                      <p:to>
                                        <p:strVal val="visible"/>
                                      </p:to>
                                    </p:set>
                                    <p:animEffect transition="in" filter="fade">
                                      <p:cBhvr>
                                        <p:cTn id="12" dur="500"/>
                                        <p:tgtEl>
                                          <p:spTgt spid="197634"/>
                                        </p:tgtEl>
                                      </p:cBhvr>
                                    </p:animEffect>
                                  </p:childTnLst>
                                </p:cTn>
                              </p:par>
                              <p:par>
                                <p:cTn id="13" presetID="14" presetClass="entr" presetSubtype="10"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randombar(horizontal)">
                                      <p:cBhvr>
                                        <p:cTn id="15" dur="500"/>
                                        <p:tgtEl>
                                          <p:spTgt spid="5">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3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Hypothesis testing</a:t>
            </a:r>
          </a:p>
        </p:txBody>
      </p:sp>
      <p:sp>
        <p:nvSpPr>
          <p:cNvPr id="5" name="Text Placeholder 4"/>
          <p:cNvSpPr>
            <a:spLocks noGrp="1"/>
          </p:cNvSpPr>
          <p:nvPr>
            <p:ph type="body" idx="1"/>
          </p:nvPr>
        </p:nvSpPr>
        <p:spPr>
          <a:solidFill>
            <a:schemeClr val="accent3">
              <a:lumMod val="40000"/>
              <a:lumOff val="60000"/>
            </a:schemeClr>
          </a:solidFill>
        </p:spPr>
        <p:txBody>
          <a:bodyPr/>
          <a:lstStyle/>
          <a:p>
            <a:r>
              <a:rPr lang="en-GB" altLang="en-US" dirty="0"/>
              <a:t>H</a:t>
            </a:r>
            <a:r>
              <a:rPr lang="en-GB" altLang="en-US" baseline="-25000" dirty="0"/>
              <a:t>0</a:t>
            </a:r>
            <a:r>
              <a:rPr lang="en-GB" altLang="en-US" dirty="0"/>
              <a:t> - Null Hypothesis</a:t>
            </a:r>
            <a:endParaRPr lang="en-GB" dirty="0"/>
          </a:p>
        </p:txBody>
      </p:sp>
      <p:sp>
        <p:nvSpPr>
          <p:cNvPr id="3" name="Content Placeholder 2"/>
          <p:cNvSpPr>
            <a:spLocks noGrp="1"/>
          </p:cNvSpPr>
          <p:nvPr>
            <p:ph sz="half" idx="2"/>
          </p:nvPr>
        </p:nvSpPr>
        <p:spPr/>
        <p:txBody>
          <a:bodyPr>
            <a:normAutofit/>
          </a:bodyPr>
          <a:lstStyle/>
          <a:p>
            <a:r>
              <a:rPr lang="en-GB" altLang="en-US" dirty="0"/>
              <a:t>Nothing is going on…</a:t>
            </a:r>
          </a:p>
          <a:p>
            <a:pPr lvl="1"/>
            <a:r>
              <a:rPr lang="en-GB" altLang="en-US" dirty="0"/>
              <a:t>i.e. there is no difference.</a:t>
            </a:r>
          </a:p>
        </p:txBody>
      </p:sp>
      <p:sp>
        <p:nvSpPr>
          <p:cNvPr id="6" name="Text Placeholder 5"/>
          <p:cNvSpPr>
            <a:spLocks noGrp="1"/>
          </p:cNvSpPr>
          <p:nvPr>
            <p:ph type="body" sz="quarter" idx="3"/>
          </p:nvPr>
        </p:nvSpPr>
        <p:spPr>
          <a:solidFill>
            <a:schemeClr val="accent2">
              <a:lumMod val="40000"/>
              <a:lumOff val="60000"/>
            </a:schemeClr>
          </a:solidFill>
        </p:spPr>
        <p:txBody>
          <a:bodyPr/>
          <a:lstStyle/>
          <a:p>
            <a:r>
              <a:rPr lang="en-GB" altLang="en-US" dirty="0"/>
              <a:t>H</a:t>
            </a:r>
            <a:r>
              <a:rPr lang="en-GB" altLang="en-US" baseline="-25000" dirty="0"/>
              <a:t>1</a:t>
            </a:r>
            <a:r>
              <a:rPr lang="en-GB" altLang="en-US" dirty="0"/>
              <a:t> - Alternative Hypothesis</a:t>
            </a:r>
            <a:endParaRPr lang="en-GB" dirty="0"/>
          </a:p>
        </p:txBody>
      </p:sp>
      <p:sp>
        <p:nvSpPr>
          <p:cNvPr id="4" name="Content Placeholder 3"/>
          <p:cNvSpPr>
            <a:spLocks noGrp="1"/>
          </p:cNvSpPr>
          <p:nvPr>
            <p:ph sz="quarter" idx="4"/>
          </p:nvPr>
        </p:nvSpPr>
        <p:spPr/>
        <p:txBody>
          <a:bodyPr/>
          <a:lstStyle/>
          <a:p>
            <a:r>
              <a:rPr lang="en-GB" altLang="en-US" dirty="0"/>
              <a:t>There is a difference.</a:t>
            </a:r>
            <a:endParaRPr lang="en-GB" dirty="0"/>
          </a:p>
        </p:txBody>
      </p:sp>
      <p:pic>
        <p:nvPicPr>
          <p:cNvPr id="3074" name="Picture 2" descr="http://jonathanisaacs.com/wp-content/uploads/2013/02/innocent-until-proven-guilty.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1999" y="3276600"/>
            <a:ext cx="2442411" cy="2438401"/>
          </a:xfrm>
          <a:prstGeom prst="rect">
            <a:avLst/>
          </a:prstGeom>
          <a:noFill/>
          <a:extLst>
            <a:ext uri="{909E8E84-426E-40DD-AFC4-6F175D3DCCD1}">
              <a14:hiddenFill xmlns:a14="http://schemas.microsoft.com/office/drawing/2010/main">
                <a:solidFill>
                  <a:srgbClr val="FFFFFF"/>
                </a:solidFill>
              </a14:hiddenFill>
            </a:ext>
          </a:extLst>
        </p:spPr>
      </p:pic>
      <p:sp>
        <p:nvSpPr>
          <p:cNvPr id="18" name="Rounded Rectangular Callout 17"/>
          <p:cNvSpPr/>
          <p:nvPr/>
        </p:nvSpPr>
        <p:spPr>
          <a:xfrm>
            <a:off x="4953000" y="3205877"/>
            <a:ext cx="3124200" cy="1464231"/>
          </a:xfrm>
          <a:prstGeom prst="wedgeRoundRectCallout">
            <a:avLst>
              <a:gd name="adj1" fmla="val -97250"/>
              <a:gd name="adj2" fmla="val -115805"/>
              <a:gd name="adj3" fmla="val 16667"/>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GB" sz="2000" dirty="0"/>
              <a:t>We assume the original finding is truth </a:t>
            </a:r>
            <a:r>
              <a:rPr lang="en-GB" sz="2000" b="1" dirty="0"/>
              <a:t>unless we </a:t>
            </a:r>
            <a:r>
              <a:rPr lang="en-GB" sz="2000" dirty="0"/>
              <a:t>can </a:t>
            </a:r>
            <a:r>
              <a:rPr lang="en-GB" sz="2000" b="1" dirty="0"/>
              <a:t>provide evidence </a:t>
            </a:r>
            <a:r>
              <a:rPr lang="en-GB" sz="2000" dirty="0"/>
              <a:t>that there is</a:t>
            </a:r>
          </a:p>
        </p:txBody>
      </p:sp>
    </p:spTree>
    <p:extLst>
      <p:ext uri="{BB962C8B-B14F-4D97-AF65-F5344CB8AC3E}">
        <p14:creationId xmlns:p14="http://schemas.microsoft.com/office/powerpoint/2010/main" val="2636191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childTnLst>
                                </p:cTn>
                              </p:par>
                              <p:par>
                                <p:cTn id="7" presetID="10" presetClass="entr" presetSubtype="0" fill="hold" grpId="0" nodeType="withEffect">
                                  <p:stCondLst>
                                    <p:cond delay="0"/>
                                  </p:stCondLst>
                                  <p:childTnLst>
                                    <p:set>
                                      <p:cBhvr>
                                        <p:cTn id="8" dur="1" fill="hold">
                                          <p:stCondLst>
                                            <p:cond delay="0"/>
                                          </p:stCondLst>
                                        </p:cTn>
                                        <p:tgtEl>
                                          <p:spTgt spid="5">
                                            <p:txEl>
                                              <p:pRg st="0" end="0"/>
                                            </p:txEl>
                                          </p:spTgt>
                                        </p:tgtEl>
                                        <p:attrNameLst>
                                          <p:attrName>style.visibility</p:attrName>
                                        </p:attrNameLst>
                                      </p:cBhvr>
                                      <p:to>
                                        <p:strVal val="visible"/>
                                      </p:to>
                                    </p:set>
                                    <p:animEffect transition="in" filter="fade">
                                      <p:cBhvr>
                                        <p:cTn id="9" dur="500"/>
                                        <p:tgtEl>
                                          <p:spTgt spid="5">
                                            <p:txEl>
                                              <p:pRg st="0" end="0"/>
                                            </p:txEl>
                                          </p:spTgt>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bg/>
                                          </p:spTgt>
                                        </p:tgtEl>
                                        <p:attrNameLst>
                                          <p:attrName>style.visibility</p:attrName>
                                        </p:attrNameLst>
                                      </p:cBhvr>
                                      <p:to>
                                        <p:strVal val="visible"/>
                                      </p:to>
                                    </p:set>
                                    <p:animEffect transition="in" filter="fade">
                                      <p:cBhvr>
                                        <p:cTn id="20" dur="500"/>
                                        <p:tgtEl>
                                          <p:spTgt spid="6">
                                            <p:bg/>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animEffect transition="in" filter="fade">
                                      <p:cBhvr>
                                        <p:cTn id="23" dur="500"/>
                                        <p:tgtEl>
                                          <p:spTgt spid="6">
                                            <p:txEl>
                                              <p:pRg st="0" end="0"/>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
                                            <p:txEl>
                                              <p:pRg st="0" end="0"/>
                                            </p:txEl>
                                          </p:spTgt>
                                        </p:tgtEl>
                                        <p:attrNameLst>
                                          <p:attrName>style.visibility</p:attrName>
                                        </p:attrNameLst>
                                      </p:cBhvr>
                                      <p:to>
                                        <p:strVal val="visible"/>
                                      </p:to>
                                    </p:set>
                                    <p:animEffect transition="in" filter="fade">
                                      <p:cBhvr>
                                        <p:cTn id="26" dur="500"/>
                                        <p:tgtEl>
                                          <p:spTgt spid="4">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074"/>
                                        </p:tgtEl>
                                        <p:attrNameLst>
                                          <p:attrName>style.visibility</p:attrName>
                                        </p:attrNameLst>
                                      </p:cBhvr>
                                      <p:to>
                                        <p:strVal val="visible"/>
                                      </p:to>
                                    </p:set>
                                    <p:animEffect transition="in" filter="fade">
                                      <p:cBhvr>
                                        <p:cTn id="31" dur="500"/>
                                        <p:tgtEl>
                                          <p:spTgt spid="3074"/>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animBg="1"/>
      <p:bldP spid="3" grpId="0" uiExpand="1" build="p"/>
      <p:bldP spid="6" grpId="0" uiExpand="1" build="p" animBg="1"/>
      <p:bldP spid="4" grpId="0" build="p"/>
      <p:bldP spid="1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Hypothesis testing</a:t>
            </a:r>
          </a:p>
        </p:txBody>
      </p:sp>
      <p:sp>
        <p:nvSpPr>
          <p:cNvPr id="3" name="Text Placeholder 2"/>
          <p:cNvSpPr>
            <a:spLocks noGrp="1"/>
          </p:cNvSpPr>
          <p:nvPr>
            <p:ph type="body" idx="1"/>
          </p:nvPr>
        </p:nvSpPr>
        <p:spPr>
          <a:solidFill>
            <a:schemeClr val="accent3">
              <a:lumMod val="40000"/>
              <a:lumOff val="60000"/>
            </a:schemeClr>
          </a:solidFill>
        </p:spPr>
        <p:txBody>
          <a:bodyPr/>
          <a:lstStyle/>
          <a:p>
            <a:r>
              <a:rPr lang="en-GB" altLang="en-US" dirty="0"/>
              <a:t>H</a:t>
            </a:r>
            <a:r>
              <a:rPr lang="en-GB" altLang="en-US" baseline="-25000" dirty="0"/>
              <a:t>0</a:t>
            </a:r>
            <a:r>
              <a:rPr lang="en-GB" altLang="en-US" dirty="0"/>
              <a:t> - Null Hypothesis</a:t>
            </a:r>
            <a:endParaRPr lang="en-GB" dirty="0"/>
          </a:p>
        </p:txBody>
      </p:sp>
      <p:sp>
        <p:nvSpPr>
          <p:cNvPr id="4" name="Content Placeholder 3"/>
          <p:cNvSpPr>
            <a:spLocks noGrp="1"/>
          </p:cNvSpPr>
          <p:nvPr>
            <p:ph sz="half" idx="2"/>
          </p:nvPr>
        </p:nvSpPr>
        <p:spPr/>
        <p:txBody>
          <a:bodyPr/>
          <a:lstStyle/>
          <a:p>
            <a:pPr marL="0" indent="0">
              <a:buNone/>
            </a:pPr>
            <a:r>
              <a:rPr lang="en-GB" dirty="0"/>
              <a:t>The proportion of late trains is equal to 15% which is reported by newspaper.</a:t>
            </a:r>
          </a:p>
        </p:txBody>
      </p:sp>
      <p:sp>
        <p:nvSpPr>
          <p:cNvPr id="5" name="Text Placeholder 4"/>
          <p:cNvSpPr>
            <a:spLocks noGrp="1"/>
          </p:cNvSpPr>
          <p:nvPr>
            <p:ph type="body" sz="quarter" idx="3"/>
          </p:nvPr>
        </p:nvSpPr>
        <p:spPr>
          <a:solidFill>
            <a:schemeClr val="accent2">
              <a:lumMod val="40000"/>
              <a:lumOff val="60000"/>
            </a:schemeClr>
          </a:solidFill>
        </p:spPr>
        <p:txBody>
          <a:bodyPr/>
          <a:lstStyle/>
          <a:p>
            <a:r>
              <a:rPr lang="en-GB" altLang="en-US" dirty="0"/>
              <a:t>H</a:t>
            </a:r>
            <a:r>
              <a:rPr lang="en-GB" altLang="en-US" baseline="-25000" dirty="0"/>
              <a:t>1</a:t>
            </a:r>
            <a:r>
              <a:rPr lang="en-GB" altLang="en-US" dirty="0"/>
              <a:t> - Alternative Hypothesis</a:t>
            </a:r>
            <a:endParaRPr lang="en-GB" dirty="0"/>
          </a:p>
        </p:txBody>
      </p:sp>
      <p:sp>
        <p:nvSpPr>
          <p:cNvPr id="6" name="Content Placeholder 5"/>
          <p:cNvSpPr>
            <a:spLocks noGrp="1"/>
          </p:cNvSpPr>
          <p:nvPr>
            <p:ph sz="quarter" idx="4"/>
          </p:nvPr>
        </p:nvSpPr>
        <p:spPr/>
        <p:txBody>
          <a:bodyPr/>
          <a:lstStyle/>
          <a:p>
            <a:pPr marL="0" indent="0">
              <a:buNone/>
            </a:pPr>
            <a:r>
              <a:rPr lang="en-GB" dirty="0"/>
              <a:t>The proportion of late trains is not equal to 15% which is reported by newspaper.</a:t>
            </a:r>
          </a:p>
        </p:txBody>
      </p:sp>
      <mc:AlternateContent xmlns:mc="http://schemas.openxmlformats.org/markup-compatibility/2006" xmlns:a14="http://schemas.microsoft.com/office/drawing/2010/main">
        <mc:Choice Requires="a14">
          <p:sp>
            <p:nvSpPr>
              <p:cNvPr id="7" name="Rounded Rectangle 6"/>
              <p:cNvSpPr/>
              <p:nvPr/>
            </p:nvSpPr>
            <p:spPr>
              <a:xfrm>
                <a:off x="1715364" y="3831769"/>
                <a:ext cx="1600200" cy="742890"/>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14:m>
                  <m:oMath xmlns:m="http://schemas.openxmlformats.org/officeDocument/2006/math">
                    <m:r>
                      <a:rPr lang="en-GB" sz="2800" b="1" i="1" smtClean="0">
                        <a:latin typeface="Cambria Math"/>
                        <a:ea typeface="Cambria Math"/>
                      </a:rPr>
                      <m:t>𝝅</m:t>
                    </m:r>
                  </m:oMath>
                </a14:m>
                <a:r>
                  <a:rPr lang="en-GB" sz="2800" b="1" dirty="0"/>
                  <a:t> = 15%</a:t>
                </a:r>
              </a:p>
            </p:txBody>
          </p:sp>
        </mc:Choice>
        <mc:Fallback xmlns="">
          <p:sp>
            <p:nvSpPr>
              <p:cNvPr id="7" name="Rounded Rectangle 6"/>
              <p:cNvSpPr>
                <a:spLocks noRot="1" noChangeAspect="1" noMove="1" noResize="1" noEditPoints="1" noAdjustHandles="1" noChangeArrowheads="1" noChangeShapeType="1" noTextEdit="1"/>
              </p:cNvSpPr>
              <p:nvPr/>
            </p:nvSpPr>
            <p:spPr>
              <a:xfrm>
                <a:off x="1715364" y="3831769"/>
                <a:ext cx="1600200" cy="742890"/>
              </a:xfrm>
              <a:prstGeom prst="roundRect">
                <a:avLst/>
              </a:prstGeom>
              <a:blipFill>
                <a:blip r:embed="rId3"/>
                <a:stretch>
                  <a:fillRect b="-72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Rounded Rectangle 14"/>
              <p:cNvSpPr/>
              <p:nvPr/>
            </p:nvSpPr>
            <p:spPr>
              <a:xfrm>
                <a:off x="5753964" y="3831769"/>
                <a:ext cx="1600200" cy="742890"/>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14:m>
                  <m:oMath xmlns:m="http://schemas.openxmlformats.org/officeDocument/2006/math">
                    <m:r>
                      <a:rPr lang="en-GB" sz="2800" b="1" i="1" smtClean="0">
                        <a:latin typeface="Cambria Math"/>
                        <a:ea typeface="Cambria Math"/>
                      </a:rPr>
                      <m:t>𝝅</m:t>
                    </m:r>
                  </m:oMath>
                </a14:m>
                <a:r>
                  <a:rPr lang="en-GB" sz="2800" b="1" dirty="0"/>
                  <a:t> </a:t>
                </a:r>
                <a14:m>
                  <m:oMath xmlns:m="http://schemas.openxmlformats.org/officeDocument/2006/math">
                    <m:r>
                      <a:rPr lang="en-GB" sz="2800" b="1" i="1" dirty="0" smtClean="0">
                        <a:latin typeface="Cambria Math"/>
                        <a:ea typeface="Cambria Math"/>
                      </a:rPr>
                      <m:t>≠</m:t>
                    </m:r>
                  </m:oMath>
                </a14:m>
                <a:r>
                  <a:rPr lang="en-GB" sz="2800" b="1" dirty="0"/>
                  <a:t> 15%</a:t>
                </a:r>
              </a:p>
            </p:txBody>
          </p:sp>
        </mc:Choice>
        <mc:Fallback xmlns="">
          <p:sp>
            <p:nvSpPr>
              <p:cNvPr id="15" name="Rounded Rectangle 14"/>
              <p:cNvSpPr>
                <a:spLocks noRot="1" noChangeAspect="1" noMove="1" noResize="1" noEditPoints="1" noAdjustHandles="1" noChangeArrowheads="1" noChangeShapeType="1" noTextEdit="1"/>
              </p:cNvSpPr>
              <p:nvPr/>
            </p:nvSpPr>
            <p:spPr>
              <a:xfrm>
                <a:off x="5753964" y="3831769"/>
                <a:ext cx="1600200" cy="742890"/>
              </a:xfrm>
              <a:prstGeom prst="roundRect">
                <a:avLst/>
              </a:prstGeom>
              <a:blipFill>
                <a:blip r:embed="rId4"/>
                <a:stretch>
                  <a:fillRect r="-2632" b="-7200"/>
                </a:stretch>
              </a:blipFill>
            </p:spPr>
            <p:txBody>
              <a:bodyPr/>
              <a:lstStyle/>
              <a:p>
                <a:r>
                  <a:rPr lang="en-GB">
                    <a:noFill/>
                  </a:rPr>
                  <a:t> </a:t>
                </a:r>
              </a:p>
            </p:txBody>
          </p:sp>
        </mc:Fallback>
      </mc:AlternateContent>
      <p:sp>
        <p:nvSpPr>
          <p:cNvPr id="18" name="Rectangle 17"/>
          <p:cNvSpPr/>
          <p:nvPr/>
        </p:nvSpPr>
        <p:spPr>
          <a:xfrm>
            <a:off x="457200" y="653534"/>
            <a:ext cx="3015697" cy="400110"/>
          </a:xfrm>
          <a:prstGeom prst="rect">
            <a:avLst/>
          </a:prstGeom>
        </p:spPr>
        <p:txBody>
          <a:bodyPr wrap="none">
            <a:spAutoFit/>
          </a:bodyPr>
          <a:lstStyle/>
          <a:p>
            <a:r>
              <a:rPr lang="en-GB" altLang="en-US" sz="2000" dirty="0"/>
              <a:t>Is there really a difference?</a:t>
            </a:r>
            <a:endParaRPr lang="en-GB" sz="2000" dirty="0"/>
          </a:p>
        </p:txBody>
      </p:sp>
      <p:grpSp>
        <p:nvGrpSpPr>
          <p:cNvPr id="10" name="Group 9"/>
          <p:cNvGrpSpPr/>
          <p:nvPr/>
        </p:nvGrpSpPr>
        <p:grpSpPr>
          <a:xfrm>
            <a:off x="6934200" y="296656"/>
            <a:ext cx="2017340" cy="770144"/>
            <a:chOff x="6997507" y="220456"/>
            <a:chExt cx="2017340" cy="770144"/>
          </a:xfrm>
        </p:grpSpPr>
        <mc:AlternateContent xmlns:mc="http://schemas.openxmlformats.org/markup-compatibility/2006" xmlns:a14="http://schemas.microsoft.com/office/drawing/2010/main">
          <mc:Choice Requires="a14">
            <p:sp>
              <p:nvSpPr>
                <p:cNvPr id="11" name="Rounded Rectangle 10"/>
                <p:cNvSpPr/>
                <p:nvPr/>
              </p:nvSpPr>
              <p:spPr>
                <a:xfrm>
                  <a:off x="7515045" y="614620"/>
                  <a:ext cx="1143480" cy="375980"/>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14:m>
                    <m:oMath xmlns:m="http://schemas.openxmlformats.org/officeDocument/2006/math">
                      <m:r>
                        <a:rPr lang="en-GB" sz="2000" b="1" i="1" smtClean="0">
                          <a:latin typeface="Cambria Math"/>
                          <a:ea typeface="Cambria Math"/>
                        </a:rPr>
                        <m:t>𝝅</m:t>
                      </m:r>
                    </m:oMath>
                  </a14:m>
                  <a:r>
                    <a:rPr lang="en-GB" sz="2000" b="1" dirty="0"/>
                    <a:t> = 15%</a:t>
                  </a:r>
                </a:p>
              </p:txBody>
            </p:sp>
          </mc:Choice>
          <mc:Fallback xmlns="">
            <p:sp>
              <p:nvSpPr>
                <p:cNvPr id="11" name="Rounded Rectangle 10"/>
                <p:cNvSpPr>
                  <a:spLocks noRot="1" noChangeAspect="1" noMove="1" noResize="1" noEditPoints="1" noAdjustHandles="1" noChangeArrowheads="1" noChangeShapeType="1" noTextEdit="1"/>
                </p:cNvSpPr>
                <p:nvPr/>
              </p:nvSpPr>
              <p:spPr>
                <a:xfrm>
                  <a:off x="7515045" y="614620"/>
                  <a:ext cx="1143480" cy="375980"/>
                </a:xfrm>
                <a:prstGeom prst="roundRect">
                  <a:avLst/>
                </a:prstGeom>
                <a:blipFill>
                  <a:blip r:embed="rId5"/>
                  <a:stretch>
                    <a:fillRect t="-7576" b="-27273"/>
                  </a:stretch>
                </a:blipFill>
              </p:spPr>
              <p:txBody>
                <a:bodyPr/>
                <a:lstStyle/>
                <a:p>
                  <a:r>
                    <a:rPr lang="en-GB">
                      <a:noFill/>
                    </a:rPr>
                    <a:t> </a:t>
                  </a:r>
                </a:p>
              </p:txBody>
            </p:sp>
          </mc:Fallback>
        </mc:AlternateContent>
        <p:sp>
          <p:nvSpPr>
            <p:cNvPr id="12" name="Rounded Rectangle 11"/>
            <p:cNvSpPr/>
            <p:nvPr/>
          </p:nvSpPr>
          <p:spPr>
            <a:xfrm rot="20676594">
              <a:off x="6997507" y="405152"/>
              <a:ext cx="980126" cy="308521"/>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2000" b="1" dirty="0"/>
                <a:t>n = 50 </a:t>
              </a:r>
            </a:p>
          </p:txBody>
        </p:sp>
        <p:sp>
          <p:nvSpPr>
            <p:cNvPr id="13" name="Rounded Rectangle 12"/>
            <p:cNvSpPr/>
            <p:nvPr/>
          </p:nvSpPr>
          <p:spPr>
            <a:xfrm rot="554388">
              <a:off x="7871367" y="220456"/>
              <a:ext cx="1143480" cy="37598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GB" sz="2000" b="1" dirty="0"/>
                <a:t>p = 10% </a:t>
              </a:r>
            </a:p>
          </p:txBody>
        </p:sp>
      </p:grpSp>
      <p:pic>
        <p:nvPicPr>
          <p:cNvPr id="9" name="Picture 8" descr="A clock in a train station with a train in the background">
            <a:extLst>
              <a:ext uri="{FF2B5EF4-FFF2-40B4-BE49-F238E27FC236}">
                <a16:creationId xmlns:a16="http://schemas.microsoft.com/office/drawing/2014/main" id="{B6227D16-9B2C-18F4-EA42-AEA7C93F122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967154" y="4775303"/>
            <a:ext cx="3060468" cy="2005715"/>
          </a:xfrm>
          <a:prstGeom prst="rect">
            <a:avLst/>
          </a:prstGeom>
        </p:spPr>
      </p:pic>
    </p:spTree>
    <p:extLst>
      <p:ext uri="{BB962C8B-B14F-4D97-AF65-F5344CB8AC3E}">
        <p14:creationId xmlns:p14="http://schemas.microsoft.com/office/powerpoint/2010/main" val="20564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500"/>
                                        <p:tgtEl>
                                          <p:spTgt spid="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6" grpId="0" build="p"/>
      <p:bldP spid="7" grpId="0" animBg="1"/>
      <p:bldP spid="1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Rectangle 52"/>
          <p:cNvSpPr/>
          <p:nvPr/>
        </p:nvSpPr>
        <p:spPr>
          <a:xfrm>
            <a:off x="2204754" y="5106435"/>
            <a:ext cx="587020" cy="369332"/>
          </a:xfrm>
          <a:prstGeom prst="rect">
            <a:avLst/>
          </a:prstGeom>
        </p:spPr>
        <p:txBody>
          <a:bodyPr wrap="none">
            <a:spAutoFit/>
          </a:bodyPr>
          <a:lstStyle/>
          <a:p>
            <a:r>
              <a:rPr lang="en-GB" b="1" dirty="0">
                <a:solidFill>
                  <a:schemeClr val="accent6">
                    <a:lumMod val="75000"/>
                  </a:schemeClr>
                </a:solidFill>
              </a:rPr>
              <a:t>10%</a:t>
            </a:r>
            <a:endParaRPr lang="en-GB" dirty="0">
              <a:solidFill>
                <a:schemeClr val="accent6">
                  <a:lumMod val="75000"/>
                </a:schemeClr>
              </a:solidFill>
            </a:endParaRPr>
          </a:p>
        </p:txBody>
      </p:sp>
      <p:sp>
        <p:nvSpPr>
          <p:cNvPr id="54" name="Rectangle 53"/>
          <p:cNvSpPr/>
          <p:nvPr/>
        </p:nvSpPr>
        <p:spPr>
          <a:xfrm>
            <a:off x="3048000" y="5106435"/>
            <a:ext cx="587020" cy="369332"/>
          </a:xfrm>
          <a:prstGeom prst="rect">
            <a:avLst/>
          </a:prstGeom>
        </p:spPr>
        <p:txBody>
          <a:bodyPr wrap="none">
            <a:spAutoFit/>
          </a:bodyPr>
          <a:lstStyle/>
          <a:p>
            <a:r>
              <a:rPr lang="en-GB" b="1" dirty="0"/>
              <a:t>15%</a:t>
            </a:r>
            <a:endParaRPr lang="en-GB" dirty="0"/>
          </a:p>
        </p:txBody>
      </p:sp>
      <p:cxnSp>
        <p:nvCxnSpPr>
          <p:cNvPr id="55" name="Straight Arrow Connector 54"/>
          <p:cNvCxnSpPr/>
          <p:nvPr/>
        </p:nvCxnSpPr>
        <p:spPr>
          <a:xfrm flipV="1">
            <a:off x="3281646" y="2678392"/>
            <a:ext cx="0" cy="2427514"/>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56" name="Straight Arrow Connector 55"/>
          <p:cNvCxnSpPr/>
          <p:nvPr/>
        </p:nvCxnSpPr>
        <p:spPr>
          <a:xfrm>
            <a:off x="2414106" y="3037367"/>
            <a:ext cx="843246" cy="0"/>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58" name="TextBox 57"/>
          <p:cNvSpPr txBox="1"/>
          <p:nvPr/>
        </p:nvSpPr>
        <p:spPr>
          <a:xfrm>
            <a:off x="554887" y="5094767"/>
            <a:ext cx="1679562" cy="276999"/>
          </a:xfrm>
          <a:prstGeom prst="rect">
            <a:avLst/>
          </a:prstGeom>
          <a:noFill/>
        </p:spPr>
        <p:txBody>
          <a:bodyPr wrap="none" rtlCol="0">
            <a:spAutoFit/>
          </a:bodyPr>
          <a:lstStyle/>
          <a:p>
            <a:r>
              <a:rPr lang="en-GB" sz="1200" dirty="0"/>
              <a:t>Proportion of late trains</a:t>
            </a:r>
          </a:p>
        </p:txBody>
      </p:sp>
      <p:sp>
        <p:nvSpPr>
          <p:cNvPr id="59" name="TextBox 58"/>
          <p:cNvSpPr txBox="1"/>
          <p:nvPr/>
        </p:nvSpPr>
        <p:spPr>
          <a:xfrm rot="16200000">
            <a:off x="-433029" y="4003797"/>
            <a:ext cx="1752659" cy="276999"/>
          </a:xfrm>
          <a:prstGeom prst="rect">
            <a:avLst/>
          </a:prstGeom>
          <a:noFill/>
        </p:spPr>
        <p:txBody>
          <a:bodyPr wrap="none" rtlCol="0">
            <a:spAutoFit/>
          </a:bodyPr>
          <a:lstStyle/>
          <a:p>
            <a:r>
              <a:rPr lang="en-GB" sz="1200" dirty="0"/>
              <a:t>Probability of occurrence</a:t>
            </a:r>
          </a:p>
        </p:txBody>
      </p:sp>
      <p:cxnSp>
        <p:nvCxnSpPr>
          <p:cNvPr id="60" name="Straight Connector 59"/>
          <p:cNvCxnSpPr/>
          <p:nvPr/>
        </p:nvCxnSpPr>
        <p:spPr>
          <a:xfrm flipV="1">
            <a:off x="2414106" y="2765166"/>
            <a:ext cx="0" cy="2329601"/>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grpSp>
        <p:nvGrpSpPr>
          <p:cNvPr id="61" name="Group 60"/>
          <p:cNvGrpSpPr/>
          <p:nvPr/>
        </p:nvGrpSpPr>
        <p:grpSpPr>
          <a:xfrm>
            <a:off x="565299" y="2927499"/>
            <a:ext cx="3350600" cy="2176132"/>
            <a:chOff x="5029200" y="3701901"/>
            <a:chExt cx="3350600" cy="2176132"/>
          </a:xfrm>
        </p:grpSpPr>
        <p:cxnSp>
          <p:nvCxnSpPr>
            <p:cNvPr id="62" name="Straight Arrow Connector 61"/>
            <p:cNvCxnSpPr/>
            <p:nvPr/>
          </p:nvCxnSpPr>
          <p:spPr>
            <a:xfrm>
              <a:off x="5029200" y="5878033"/>
              <a:ext cx="33506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p:nvPr/>
          </p:nvCxnSpPr>
          <p:spPr>
            <a:xfrm flipV="1">
              <a:off x="5029200" y="3701901"/>
              <a:ext cx="0" cy="217167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a:normAutofit/>
          </a:bodyPr>
          <a:lstStyle/>
          <a:p>
            <a:r>
              <a:rPr lang="en-GB" dirty="0"/>
              <a:t>Hypothesis testing</a:t>
            </a:r>
          </a:p>
        </p:txBody>
      </p:sp>
      <p:sp>
        <p:nvSpPr>
          <p:cNvPr id="3" name="Text Placeholder 2"/>
          <p:cNvSpPr>
            <a:spLocks noGrp="1"/>
          </p:cNvSpPr>
          <p:nvPr>
            <p:ph type="body" idx="1"/>
          </p:nvPr>
        </p:nvSpPr>
        <p:spPr>
          <a:solidFill>
            <a:schemeClr val="accent3">
              <a:lumMod val="40000"/>
              <a:lumOff val="60000"/>
            </a:schemeClr>
          </a:solidFill>
        </p:spPr>
        <p:txBody>
          <a:bodyPr/>
          <a:lstStyle/>
          <a:p>
            <a:r>
              <a:rPr lang="en-GB" altLang="en-US" dirty="0"/>
              <a:t>H</a:t>
            </a:r>
            <a:r>
              <a:rPr lang="en-GB" altLang="en-US" baseline="-25000" dirty="0"/>
              <a:t>0</a:t>
            </a:r>
            <a:r>
              <a:rPr lang="en-GB" altLang="en-US" dirty="0"/>
              <a:t> - Null Hypothesis</a:t>
            </a:r>
            <a:endParaRPr lang="en-GB" dirty="0"/>
          </a:p>
        </p:txBody>
      </p:sp>
      <p:sp>
        <p:nvSpPr>
          <p:cNvPr id="5" name="Text Placeholder 4"/>
          <p:cNvSpPr>
            <a:spLocks noGrp="1"/>
          </p:cNvSpPr>
          <p:nvPr>
            <p:ph type="body" sz="quarter" idx="3"/>
          </p:nvPr>
        </p:nvSpPr>
        <p:spPr>
          <a:solidFill>
            <a:schemeClr val="accent2">
              <a:lumMod val="40000"/>
              <a:lumOff val="60000"/>
            </a:schemeClr>
          </a:solidFill>
        </p:spPr>
        <p:txBody>
          <a:bodyPr/>
          <a:lstStyle/>
          <a:p>
            <a:r>
              <a:rPr lang="en-GB" altLang="en-US" dirty="0"/>
              <a:t>H</a:t>
            </a:r>
            <a:r>
              <a:rPr lang="en-GB" altLang="en-US" baseline="-25000" dirty="0"/>
              <a:t>1</a:t>
            </a:r>
            <a:r>
              <a:rPr lang="en-GB" altLang="en-US" dirty="0"/>
              <a:t> - Alternative Hypothesis</a:t>
            </a:r>
            <a:endParaRPr lang="en-GB" dirty="0"/>
          </a:p>
        </p:txBody>
      </p:sp>
      <p:sp>
        <p:nvSpPr>
          <p:cNvPr id="18" name="Rectangle 17"/>
          <p:cNvSpPr/>
          <p:nvPr/>
        </p:nvSpPr>
        <p:spPr>
          <a:xfrm>
            <a:off x="457200" y="653534"/>
            <a:ext cx="3015697" cy="400110"/>
          </a:xfrm>
          <a:prstGeom prst="rect">
            <a:avLst/>
          </a:prstGeom>
        </p:spPr>
        <p:txBody>
          <a:bodyPr wrap="none">
            <a:spAutoFit/>
          </a:bodyPr>
          <a:lstStyle/>
          <a:p>
            <a:r>
              <a:rPr lang="en-GB" altLang="en-US" sz="2000" dirty="0"/>
              <a:t>Is there really a difference?</a:t>
            </a:r>
            <a:endParaRPr lang="en-GB" sz="2000" dirty="0"/>
          </a:p>
        </p:txBody>
      </p:sp>
      <p:sp>
        <p:nvSpPr>
          <p:cNvPr id="51" name="Rounded Rectangular Callout 50"/>
          <p:cNvSpPr/>
          <p:nvPr/>
        </p:nvSpPr>
        <p:spPr>
          <a:xfrm>
            <a:off x="601294" y="2209800"/>
            <a:ext cx="1981200" cy="609600"/>
          </a:xfrm>
          <a:prstGeom prst="wedgeRoundRectCallout">
            <a:avLst>
              <a:gd name="adj1" fmla="val 70820"/>
              <a:gd name="adj2" fmla="val 64701"/>
              <a:gd name="adj3" fmla="val 16667"/>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GB" sz="1600" dirty="0"/>
              <a:t>Says: This difference is </a:t>
            </a:r>
            <a:r>
              <a:rPr lang="en-GB" sz="1600" b="1" dirty="0"/>
              <a:t>BY CHANCE</a:t>
            </a:r>
          </a:p>
        </p:txBody>
      </p:sp>
      <p:grpSp>
        <p:nvGrpSpPr>
          <p:cNvPr id="4" name="Group 3">
            <a:extLst>
              <a:ext uri="{FF2B5EF4-FFF2-40B4-BE49-F238E27FC236}">
                <a16:creationId xmlns:a16="http://schemas.microsoft.com/office/drawing/2014/main" id="{4BB25F8D-ACD8-9370-912C-C16DB32F74F5}"/>
              </a:ext>
            </a:extLst>
          </p:cNvPr>
          <p:cNvGrpSpPr/>
          <p:nvPr/>
        </p:nvGrpSpPr>
        <p:grpSpPr>
          <a:xfrm>
            <a:off x="6934200" y="296656"/>
            <a:ext cx="2017340" cy="770144"/>
            <a:chOff x="6997507" y="220456"/>
            <a:chExt cx="2017340" cy="770144"/>
          </a:xfrm>
        </p:grpSpPr>
        <mc:AlternateContent xmlns:mc="http://schemas.openxmlformats.org/markup-compatibility/2006" xmlns:a14="http://schemas.microsoft.com/office/drawing/2010/main">
          <mc:Choice Requires="a14">
            <p:sp>
              <p:nvSpPr>
                <p:cNvPr id="6" name="Rounded Rectangle 10">
                  <a:extLst>
                    <a:ext uri="{FF2B5EF4-FFF2-40B4-BE49-F238E27FC236}">
                      <a16:creationId xmlns:a16="http://schemas.microsoft.com/office/drawing/2014/main" id="{606A987F-8BFD-7865-78D1-85C3FEC8E6EE}"/>
                    </a:ext>
                  </a:extLst>
                </p:cNvPr>
                <p:cNvSpPr/>
                <p:nvPr/>
              </p:nvSpPr>
              <p:spPr>
                <a:xfrm>
                  <a:off x="7515045" y="614620"/>
                  <a:ext cx="1143480" cy="375980"/>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14:m>
                    <m:oMath xmlns:m="http://schemas.openxmlformats.org/officeDocument/2006/math">
                      <m:r>
                        <a:rPr lang="en-GB" sz="2000" b="1" i="1" smtClean="0">
                          <a:latin typeface="Cambria Math"/>
                          <a:ea typeface="Cambria Math"/>
                        </a:rPr>
                        <m:t>𝝅</m:t>
                      </m:r>
                    </m:oMath>
                  </a14:m>
                  <a:r>
                    <a:rPr lang="en-GB" sz="2000" b="1" dirty="0"/>
                    <a:t> = 15%</a:t>
                  </a:r>
                </a:p>
              </p:txBody>
            </p:sp>
          </mc:Choice>
          <mc:Fallback xmlns="">
            <p:sp>
              <p:nvSpPr>
                <p:cNvPr id="11" name="Rounded Rectangle 10"/>
                <p:cNvSpPr>
                  <a:spLocks noRot="1" noChangeAspect="1" noMove="1" noResize="1" noEditPoints="1" noAdjustHandles="1" noChangeArrowheads="1" noChangeShapeType="1" noTextEdit="1"/>
                </p:cNvSpPr>
                <p:nvPr/>
              </p:nvSpPr>
              <p:spPr>
                <a:xfrm>
                  <a:off x="7515045" y="614620"/>
                  <a:ext cx="1143480" cy="375980"/>
                </a:xfrm>
                <a:prstGeom prst="roundRect">
                  <a:avLst/>
                </a:prstGeom>
                <a:blipFill>
                  <a:blip r:embed="rId5"/>
                  <a:stretch>
                    <a:fillRect t="-7576" b="-27273"/>
                  </a:stretch>
                </a:blipFill>
              </p:spPr>
              <p:txBody>
                <a:bodyPr/>
                <a:lstStyle/>
                <a:p>
                  <a:r>
                    <a:rPr lang="en-GB">
                      <a:noFill/>
                    </a:rPr>
                    <a:t> </a:t>
                  </a:r>
                </a:p>
              </p:txBody>
            </p:sp>
          </mc:Fallback>
        </mc:AlternateContent>
        <p:sp>
          <p:nvSpPr>
            <p:cNvPr id="7" name="Rounded Rectangle 11">
              <a:extLst>
                <a:ext uri="{FF2B5EF4-FFF2-40B4-BE49-F238E27FC236}">
                  <a16:creationId xmlns:a16="http://schemas.microsoft.com/office/drawing/2014/main" id="{018AFA25-E50E-5D51-6CC5-EB1FFDA23076}"/>
                </a:ext>
              </a:extLst>
            </p:cNvPr>
            <p:cNvSpPr/>
            <p:nvPr/>
          </p:nvSpPr>
          <p:spPr>
            <a:xfrm rot="20676594">
              <a:off x="6997507" y="405152"/>
              <a:ext cx="980126" cy="308521"/>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2000" b="1" dirty="0"/>
                <a:t>n = 50 </a:t>
              </a:r>
            </a:p>
          </p:txBody>
        </p:sp>
        <p:sp>
          <p:nvSpPr>
            <p:cNvPr id="8" name="Rounded Rectangle 12">
              <a:extLst>
                <a:ext uri="{FF2B5EF4-FFF2-40B4-BE49-F238E27FC236}">
                  <a16:creationId xmlns:a16="http://schemas.microsoft.com/office/drawing/2014/main" id="{E5674EF4-6531-1222-1A92-FB064C49323A}"/>
                </a:ext>
              </a:extLst>
            </p:cNvPr>
            <p:cNvSpPr/>
            <p:nvPr/>
          </p:nvSpPr>
          <p:spPr>
            <a:xfrm rot="554388">
              <a:off x="7871367" y="220456"/>
              <a:ext cx="1143480" cy="37598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GB" sz="2000" b="1" dirty="0"/>
                <a:t>p = 10% </a:t>
              </a:r>
            </a:p>
          </p:txBody>
        </p:sp>
      </p:grpSp>
    </p:spTree>
    <p:extLst>
      <p:ext uri="{BB962C8B-B14F-4D97-AF65-F5344CB8AC3E}">
        <p14:creationId xmlns:p14="http://schemas.microsoft.com/office/powerpoint/2010/main" val="40270603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0" name="Straight Arrow Connector 69"/>
          <p:cNvCxnSpPr/>
          <p:nvPr/>
        </p:nvCxnSpPr>
        <p:spPr>
          <a:xfrm flipV="1">
            <a:off x="3281646" y="2678392"/>
            <a:ext cx="0" cy="2427514"/>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71" name="Straight Arrow Connector 70"/>
          <p:cNvCxnSpPr/>
          <p:nvPr/>
        </p:nvCxnSpPr>
        <p:spPr>
          <a:xfrm>
            <a:off x="2414106" y="3037367"/>
            <a:ext cx="843246" cy="0"/>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74" name="TextBox 73"/>
          <p:cNvSpPr txBox="1"/>
          <p:nvPr/>
        </p:nvSpPr>
        <p:spPr>
          <a:xfrm rot="16200000">
            <a:off x="-433029" y="4003797"/>
            <a:ext cx="1752659" cy="276999"/>
          </a:xfrm>
          <a:prstGeom prst="rect">
            <a:avLst/>
          </a:prstGeom>
          <a:noFill/>
        </p:spPr>
        <p:txBody>
          <a:bodyPr wrap="none" rtlCol="0">
            <a:spAutoFit/>
          </a:bodyPr>
          <a:lstStyle/>
          <a:p>
            <a:r>
              <a:rPr lang="en-GB" sz="1200" dirty="0"/>
              <a:t>Probability of occurrence</a:t>
            </a:r>
          </a:p>
        </p:txBody>
      </p:sp>
      <p:cxnSp>
        <p:nvCxnSpPr>
          <p:cNvPr id="75" name="Straight Connector 74"/>
          <p:cNvCxnSpPr/>
          <p:nvPr/>
        </p:nvCxnSpPr>
        <p:spPr>
          <a:xfrm flipV="1">
            <a:off x="2414106" y="2765166"/>
            <a:ext cx="0" cy="2329601"/>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grpSp>
        <p:nvGrpSpPr>
          <p:cNvPr id="76" name="Group 75"/>
          <p:cNvGrpSpPr/>
          <p:nvPr/>
        </p:nvGrpSpPr>
        <p:grpSpPr>
          <a:xfrm>
            <a:off x="565299" y="2927499"/>
            <a:ext cx="3350600" cy="2176132"/>
            <a:chOff x="5029200" y="3701901"/>
            <a:chExt cx="3350600" cy="2176132"/>
          </a:xfrm>
        </p:grpSpPr>
        <p:cxnSp>
          <p:nvCxnSpPr>
            <p:cNvPr id="77" name="Straight Arrow Connector 76"/>
            <p:cNvCxnSpPr/>
            <p:nvPr/>
          </p:nvCxnSpPr>
          <p:spPr>
            <a:xfrm>
              <a:off x="5029200" y="5878033"/>
              <a:ext cx="33506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p:nvPr/>
          </p:nvCxnSpPr>
          <p:spPr>
            <a:xfrm flipV="1">
              <a:off x="5029200" y="3701901"/>
              <a:ext cx="0" cy="217167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a:normAutofit/>
          </a:bodyPr>
          <a:lstStyle/>
          <a:p>
            <a:r>
              <a:rPr lang="en-GB" dirty="0"/>
              <a:t>Hypothesis testing</a:t>
            </a:r>
          </a:p>
        </p:txBody>
      </p:sp>
      <p:sp>
        <p:nvSpPr>
          <p:cNvPr id="3" name="Text Placeholder 2"/>
          <p:cNvSpPr>
            <a:spLocks noGrp="1"/>
          </p:cNvSpPr>
          <p:nvPr>
            <p:ph type="body" idx="1"/>
          </p:nvPr>
        </p:nvSpPr>
        <p:spPr>
          <a:solidFill>
            <a:schemeClr val="accent3">
              <a:lumMod val="40000"/>
              <a:lumOff val="60000"/>
            </a:schemeClr>
          </a:solidFill>
        </p:spPr>
        <p:txBody>
          <a:bodyPr/>
          <a:lstStyle/>
          <a:p>
            <a:r>
              <a:rPr lang="en-GB" altLang="en-US" dirty="0"/>
              <a:t>H</a:t>
            </a:r>
            <a:r>
              <a:rPr lang="en-GB" altLang="en-US" baseline="-25000" dirty="0"/>
              <a:t>0</a:t>
            </a:r>
            <a:r>
              <a:rPr lang="en-GB" altLang="en-US" dirty="0"/>
              <a:t> - Null Hypothesis</a:t>
            </a:r>
            <a:endParaRPr lang="en-GB" dirty="0"/>
          </a:p>
        </p:txBody>
      </p:sp>
      <p:sp>
        <p:nvSpPr>
          <p:cNvPr id="5" name="Text Placeholder 4"/>
          <p:cNvSpPr>
            <a:spLocks noGrp="1"/>
          </p:cNvSpPr>
          <p:nvPr>
            <p:ph type="body" sz="quarter" idx="3"/>
          </p:nvPr>
        </p:nvSpPr>
        <p:spPr>
          <a:solidFill>
            <a:schemeClr val="accent2">
              <a:lumMod val="40000"/>
              <a:lumOff val="60000"/>
            </a:schemeClr>
          </a:solidFill>
        </p:spPr>
        <p:txBody>
          <a:bodyPr/>
          <a:lstStyle/>
          <a:p>
            <a:r>
              <a:rPr lang="en-GB" altLang="en-US" dirty="0"/>
              <a:t>H</a:t>
            </a:r>
            <a:r>
              <a:rPr lang="en-GB" altLang="en-US" baseline="-25000" dirty="0"/>
              <a:t>1</a:t>
            </a:r>
            <a:r>
              <a:rPr lang="en-GB" altLang="en-US" dirty="0"/>
              <a:t> - Alternative Hypothesis</a:t>
            </a:r>
            <a:endParaRPr lang="en-GB" dirty="0"/>
          </a:p>
        </p:txBody>
      </p:sp>
      <p:sp>
        <p:nvSpPr>
          <p:cNvPr id="18" name="Rectangle 17"/>
          <p:cNvSpPr/>
          <p:nvPr/>
        </p:nvSpPr>
        <p:spPr>
          <a:xfrm>
            <a:off x="457200" y="653534"/>
            <a:ext cx="3015697" cy="400110"/>
          </a:xfrm>
          <a:prstGeom prst="rect">
            <a:avLst/>
          </a:prstGeom>
        </p:spPr>
        <p:txBody>
          <a:bodyPr wrap="none">
            <a:spAutoFit/>
          </a:bodyPr>
          <a:lstStyle/>
          <a:p>
            <a:r>
              <a:rPr lang="en-GB" altLang="en-US" sz="2000" dirty="0"/>
              <a:t>Is there really a difference?</a:t>
            </a:r>
            <a:endParaRPr lang="en-GB" sz="2000" dirty="0"/>
          </a:p>
        </p:txBody>
      </p:sp>
      <p:sp>
        <p:nvSpPr>
          <p:cNvPr id="65" name="Rounded Rectangular Callout 64"/>
          <p:cNvSpPr/>
          <p:nvPr/>
        </p:nvSpPr>
        <p:spPr>
          <a:xfrm>
            <a:off x="4191000" y="2209800"/>
            <a:ext cx="3126302" cy="609600"/>
          </a:xfrm>
          <a:prstGeom prst="wedgeRoundRectCallout">
            <a:avLst>
              <a:gd name="adj1" fmla="val -85263"/>
              <a:gd name="adj2" fmla="val 69241"/>
              <a:gd name="adj3" fmla="val 16667"/>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GB" sz="1600" dirty="0"/>
              <a:t>Says: This chance is very unlikely, so we treat it as</a:t>
            </a:r>
            <a:r>
              <a:rPr lang="en-GB" sz="1600" b="1" dirty="0"/>
              <a:t> DIFFERENT</a:t>
            </a:r>
          </a:p>
        </p:txBody>
      </p:sp>
      <p:sp>
        <p:nvSpPr>
          <p:cNvPr id="66" name="Rounded Rectangular Callout 65"/>
          <p:cNvSpPr/>
          <p:nvPr/>
        </p:nvSpPr>
        <p:spPr>
          <a:xfrm>
            <a:off x="601294" y="2209800"/>
            <a:ext cx="1981200" cy="609600"/>
          </a:xfrm>
          <a:prstGeom prst="wedgeRoundRectCallout">
            <a:avLst>
              <a:gd name="adj1" fmla="val 70820"/>
              <a:gd name="adj2" fmla="val 64701"/>
              <a:gd name="adj3" fmla="val 16667"/>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GB" sz="1600" dirty="0"/>
              <a:t>Says: This difference is </a:t>
            </a:r>
            <a:r>
              <a:rPr lang="en-GB" sz="1600" b="1" dirty="0"/>
              <a:t>BY CHANCE</a:t>
            </a:r>
          </a:p>
        </p:txBody>
      </p:sp>
      <p:sp>
        <p:nvSpPr>
          <p:cNvPr id="23" name="Rectangle 22"/>
          <p:cNvSpPr/>
          <p:nvPr/>
        </p:nvSpPr>
        <p:spPr>
          <a:xfrm>
            <a:off x="2204754" y="5106435"/>
            <a:ext cx="587020" cy="369332"/>
          </a:xfrm>
          <a:prstGeom prst="rect">
            <a:avLst/>
          </a:prstGeom>
        </p:spPr>
        <p:txBody>
          <a:bodyPr wrap="none">
            <a:spAutoFit/>
          </a:bodyPr>
          <a:lstStyle/>
          <a:p>
            <a:r>
              <a:rPr lang="en-GB" b="1" dirty="0">
                <a:solidFill>
                  <a:schemeClr val="accent6">
                    <a:lumMod val="75000"/>
                  </a:schemeClr>
                </a:solidFill>
              </a:rPr>
              <a:t>10%</a:t>
            </a:r>
            <a:endParaRPr lang="en-GB" dirty="0">
              <a:solidFill>
                <a:schemeClr val="accent6">
                  <a:lumMod val="75000"/>
                </a:schemeClr>
              </a:solidFill>
            </a:endParaRPr>
          </a:p>
        </p:txBody>
      </p:sp>
      <p:sp>
        <p:nvSpPr>
          <p:cNvPr id="24" name="Rectangle 23"/>
          <p:cNvSpPr/>
          <p:nvPr/>
        </p:nvSpPr>
        <p:spPr>
          <a:xfrm>
            <a:off x="3048000" y="5106435"/>
            <a:ext cx="587020" cy="369332"/>
          </a:xfrm>
          <a:prstGeom prst="rect">
            <a:avLst/>
          </a:prstGeom>
        </p:spPr>
        <p:txBody>
          <a:bodyPr wrap="none">
            <a:spAutoFit/>
          </a:bodyPr>
          <a:lstStyle/>
          <a:p>
            <a:r>
              <a:rPr lang="en-GB" b="1" dirty="0"/>
              <a:t>15%</a:t>
            </a:r>
            <a:endParaRPr lang="en-GB" dirty="0"/>
          </a:p>
        </p:txBody>
      </p:sp>
      <p:sp>
        <p:nvSpPr>
          <p:cNvPr id="27" name="TextBox 26"/>
          <p:cNvSpPr txBox="1"/>
          <p:nvPr/>
        </p:nvSpPr>
        <p:spPr>
          <a:xfrm>
            <a:off x="554887" y="5094767"/>
            <a:ext cx="1679562" cy="276999"/>
          </a:xfrm>
          <a:prstGeom prst="rect">
            <a:avLst/>
          </a:prstGeom>
          <a:noFill/>
        </p:spPr>
        <p:txBody>
          <a:bodyPr wrap="none" rtlCol="0">
            <a:spAutoFit/>
          </a:bodyPr>
          <a:lstStyle/>
          <a:p>
            <a:r>
              <a:rPr lang="en-GB" sz="1200" dirty="0"/>
              <a:t>Proportion of late trains</a:t>
            </a:r>
          </a:p>
        </p:txBody>
      </p:sp>
      <p:grpSp>
        <p:nvGrpSpPr>
          <p:cNvPr id="4" name="Group 3">
            <a:extLst>
              <a:ext uri="{FF2B5EF4-FFF2-40B4-BE49-F238E27FC236}">
                <a16:creationId xmlns:a16="http://schemas.microsoft.com/office/drawing/2014/main" id="{3B3BA9FE-4C05-AB31-F7EA-F236D1A22350}"/>
              </a:ext>
            </a:extLst>
          </p:cNvPr>
          <p:cNvGrpSpPr/>
          <p:nvPr/>
        </p:nvGrpSpPr>
        <p:grpSpPr>
          <a:xfrm>
            <a:off x="6934200" y="296656"/>
            <a:ext cx="2017340" cy="770144"/>
            <a:chOff x="6997507" y="220456"/>
            <a:chExt cx="2017340" cy="770144"/>
          </a:xfrm>
        </p:grpSpPr>
        <mc:AlternateContent xmlns:mc="http://schemas.openxmlformats.org/markup-compatibility/2006" xmlns:a14="http://schemas.microsoft.com/office/drawing/2010/main">
          <mc:Choice Requires="a14">
            <p:sp>
              <p:nvSpPr>
                <p:cNvPr id="6" name="Rounded Rectangle 10">
                  <a:extLst>
                    <a:ext uri="{FF2B5EF4-FFF2-40B4-BE49-F238E27FC236}">
                      <a16:creationId xmlns:a16="http://schemas.microsoft.com/office/drawing/2014/main" id="{FF1C3B40-1EE5-20D8-F41E-FBBE559E829C}"/>
                    </a:ext>
                  </a:extLst>
                </p:cNvPr>
                <p:cNvSpPr/>
                <p:nvPr/>
              </p:nvSpPr>
              <p:spPr>
                <a:xfrm>
                  <a:off x="7515045" y="614620"/>
                  <a:ext cx="1143480" cy="375980"/>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14:m>
                    <m:oMath xmlns:m="http://schemas.openxmlformats.org/officeDocument/2006/math">
                      <m:r>
                        <a:rPr lang="en-GB" sz="2000" b="1" i="1" smtClean="0">
                          <a:latin typeface="Cambria Math"/>
                          <a:ea typeface="Cambria Math"/>
                        </a:rPr>
                        <m:t>𝝅</m:t>
                      </m:r>
                    </m:oMath>
                  </a14:m>
                  <a:r>
                    <a:rPr lang="en-GB" sz="2000" b="1" dirty="0"/>
                    <a:t> = 15%</a:t>
                  </a:r>
                </a:p>
              </p:txBody>
            </p:sp>
          </mc:Choice>
          <mc:Fallback xmlns="">
            <p:sp>
              <p:nvSpPr>
                <p:cNvPr id="11" name="Rounded Rectangle 10"/>
                <p:cNvSpPr>
                  <a:spLocks noRot="1" noChangeAspect="1" noMove="1" noResize="1" noEditPoints="1" noAdjustHandles="1" noChangeArrowheads="1" noChangeShapeType="1" noTextEdit="1"/>
                </p:cNvSpPr>
                <p:nvPr/>
              </p:nvSpPr>
              <p:spPr>
                <a:xfrm>
                  <a:off x="7515045" y="614620"/>
                  <a:ext cx="1143480" cy="375980"/>
                </a:xfrm>
                <a:prstGeom prst="roundRect">
                  <a:avLst/>
                </a:prstGeom>
                <a:blipFill>
                  <a:blip r:embed="rId5"/>
                  <a:stretch>
                    <a:fillRect t="-7576" b="-27273"/>
                  </a:stretch>
                </a:blipFill>
              </p:spPr>
              <p:txBody>
                <a:bodyPr/>
                <a:lstStyle/>
                <a:p>
                  <a:r>
                    <a:rPr lang="en-GB">
                      <a:noFill/>
                    </a:rPr>
                    <a:t> </a:t>
                  </a:r>
                </a:p>
              </p:txBody>
            </p:sp>
          </mc:Fallback>
        </mc:AlternateContent>
        <p:sp>
          <p:nvSpPr>
            <p:cNvPr id="7" name="Rounded Rectangle 11">
              <a:extLst>
                <a:ext uri="{FF2B5EF4-FFF2-40B4-BE49-F238E27FC236}">
                  <a16:creationId xmlns:a16="http://schemas.microsoft.com/office/drawing/2014/main" id="{5E4C409F-C051-6113-BD00-40B84F985F39}"/>
                </a:ext>
              </a:extLst>
            </p:cNvPr>
            <p:cNvSpPr/>
            <p:nvPr/>
          </p:nvSpPr>
          <p:spPr>
            <a:xfrm rot="20676594">
              <a:off x="6997507" y="405152"/>
              <a:ext cx="980126" cy="308521"/>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2000" b="1" dirty="0"/>
                <a:t>n = 50 </a:t>
              </a:r>
            </a:p>
          </p:txBody>
        </p:sp>
        <p:sp>
          <p:nvSpPr>
            <p:cNvPr id="8" name="Rounded Rectangle 12">
              <a:extLst>
                <a:ext uri="{FF2B5EF4-FFF2-40B4-BE49-F238E27FC236}">
                  <a16:creationId xmlns:a16="http://schemas.microsoft.com/office/drawing/2014/main" id="{D7B53B26-62FD-C77B-544B-01C9AD746454}"/>
                </a:ext>
              </a:extLst>
            </p:cNvPr>
            <p:cNvSpPr/>
            <p:nvPr/>
          </p:nvSpPr>
          <p:spPr>
            <a:xfrm rot="554388">
              <a:off x="7871367" y="220456"/>
              <a:ext cx="1143480" cy="37598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GB" sz="2000" b="1" dirty="0"/>
                <a:t>p = 10% </a:t>
              </a:r>
            </a:p>
          </p:txBody>
        </p:sp>
      </p:grpSp>
    </p:spTree>
    <p:extLst>
      <p:ext uri="{BB962C8B-B14F-4D97-AF65-F5344CB8AC3E}">
        <p14:creationId xmlns:p14="http://schemas.microsoft.com/office/powerpoint/2010/main" val="1142808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HYPOTHESIS TESTING</a:t>
            </a:r>
          </a:p>
        </p:txBody>
      </p:sp>
      <p:graphicFrame>
        <p:nvGraphicFramePr>
          <p:cNvPr id="7" name="Table 6"/>
          <p:cNvGraphicFramePr>
            <a:graphicFrameLocks noGrp="1"/>
          </p:cNvGraphicFramePr>
          <p:nvPr>
            <p:extLst>
              <p:ext uri="{D42A27DB-BD31-4B8C-83A1-F6EECF244321}">
                <p14:modId xmlns:p14="http://schemas.microsoft.com/office/powerpoint/2010/main" val="2555192560"/>
              </p:ext>
            </p:extLst>
          </p:nvPr>
        </p:nvGraphicFramePr>
        <p:xfrm>
          <a:off x="585839" y="1695856"/>
          <a:ext cx="7657287" cy="3684270"/>
        </p:xfrm>
        <a:graphic>
          <a:graphicData uri="http://schemas.openxmlformats.org/drawingml/2006/table">
            <a:tbl>
              <a:tblPr firstRow="1" firstCol="1">
                <a:tableStyleId>{8EC20E35-A176-4012-BC5E-935CFFF8708E}</a:tableStyleId>
              </a:tblPr>
              <a:tblGrid>
                <a:gridCol w="2552429">
                  <a:extLst>
                    <a:ext uri="{9D8B030D-6E8A-4147-A177-3AD203B41FA5}">
                      <a16:colId xmlns:a16="http://schemas.microsoft.com/office/drawing/2014/main" val="20000"/>
                    </a:ext>
                  </a:extLst>
                </a:gridCol>
                <a:gridCol w="2552429">
                  <a:extLst>
                    <a:ext uri="{9D8B030D-6E8A-4147-A177-3AD203B41FA5}">
                      <a16:colId xmlns:a16="http://schemas.microsoft.com/office/drawing/2014/main" val="20001"/>
                    </a:ext>
                  </a:extLst>
                </a:gridCol>
                <a:gridCol w="2552429">
                  <a:extLst>
                    <a:ext uri="{9D8B030D-6E8A-4147-A177-3AD203B41FA5}">
                      <a16:colId xmlns:a16="http://schemas.microsoft.com/office/drawing/2014/main" val="20002"/>
                    </a:ext>
                  </a:extLst>
                </a:gridCol>
              </a:tblGrid>
              <a:tr h="381000">
                <a:tc>
                  <a:txBody>
                    <a:bodyPr/>
                    <a:lstStyle/>
                    <a:p>
                      <a:pPr algn="ctr"/>
                      <a:endParaRPr lang="en-GB" dirty="0"/>
                    </a:p>
                  </a:txBody>
                  <a:tcPr anchor="ctr"/>
                </a:tc>
                <a:tc>
                  <a:txBody>
                    <a:bodyPr/>
                    <a:lstStyle/>
                    <a:p>
                      <a:pPr algn="ctr"/>
                      <a:r>
                        <a:rPr lang="en-GB" dirty="0"/>
                        <a:t>Categorical</a:t>
                      </a:r>
                    </a:p>
                  </a:txBody>
                  <a:tcPr anchor="ctr"/>
                </a:tc>
                <a:tc>
                  <a:txBody>
                    <a:bodyPr/>
                    <a:lstStyle/>
                    <a:p>
                      <a:pPr algn="ctr"/>
                      <a:r>
                        <a:rPr lang="en-GB" dirty="0"/>
                        <a:t>Scalar</a:t>
                      </a:r>
                    </a:p>
                  </a:txBody>
                  <a:tcPr anchor="ctr"/>
                </a:tc>
                <a:extLst>
                  <a:ext uri="{0D108BD9-81ED-4DB2-BD59-A6C34878D82A}">
                    <a16:rowId xmlns:a16="http://schemas.microsoft.com/office/drawing/2014/main" val="10000"/>
                  </a:ext>
                </a:extLst>
              </a:tr>
              <a:tr h="1047750">
                <a:tc>
                  <a:txBody>
                    <a:bodyPr/>
                    <a:lstStyle/>
                    <a:p>
                      <a:pPr algn="ctr"/>
                      <a:r>
                        <a:rPr lang="en-GB" b="0" dirty="0"/>
                        <a:t>Inference for </a:t>
                      </a:r>
                    </a:p>
                    <a:p>
                      <a:pPr algn="ctr"/>
                      <a:r>
                        <a:rPr lang="en-GB" sz="2400" dirty="0"/>
                        <a:t>One</a:t>
                      </a:r>
                      <a:r>
                        <a:rPr lang="en-GB" sz="2400" baseline="0" dirty="0"/>
                        <a:t> group</a:t>
                      </a:r>
                      <a:endParaRPr lang="en-GB" sz="2400" dirty="0"/>
                    </a:p>
                  </a:txBody>
                  <a:tcPr anchor="ctr"/>
                </a:tc>
                <a:tc>
                  <a:txBody>
                    <a:bodyPr/>
                    <a:lstStyle/>
                    <a:p>
                      <a:pPr algn="ctr"/>
                      <a:r>
                        <a:rPr lang="en-GB" sz="3200" b="1" dirty="0"/>
                        <a:t>Z Test</a:t>
                      </a:r>
                    </a:p>
                    <a:p>
                      <a:pPr algn="ctr"/>
                      <a:r>
                        <a:rPr lang="en-GB" sz="1800" dirty="0">
                          <a:solidFill>
                            <a:schemeClr val="tx1">
                              <a:lumMod val="65000"/>
                              <a:lumOff val="35000"/>
                            </a:schemeClr>
                          </a:solidFill>
                        </a:rPr>
                        <a:t>for proportion</a:t>
                      </a:r>
                    </a:p>
                  </a:txBody>
                  <a:tcPr anchor="ctr"/>
                </a:tc>
                <a:tc>
                  <a:txBody>
                    <a:bodyPr/>
                    <a:lstStyle/>
                    <a:p>
                      <a:pPr algn="ctr"/>
                      <a:r>
                        <a:rPr lang="en-GB" sz="3200" b="1" dirty="0"/>
                        <a:t>t Test</a:t>
                      </a:r>
                    </a:p>
                    <a:p>
                      <a:pPr algn="ctr"/>
                      <a:r>
                        <a:rPr lang="en-GB" sz="1800" dirty="0">
                          <a:solidFill>
                            <a:schemeClr val="tx1">
                              <a:lumMod val="65000"/>
                              <a:lumOff val="35000"/>
                            </a:schemeClr>
                          </a:solidFill>
                        </a:rPr>
                        <a:t>for mean</a:t>
                      </a:r>
                      <a:endParaRPr lang="en-GB" sz="2000" dirty="0">
                        <a:solidFill>
                          <a:schemeClr val="tx1">
                            <a:lumMod val="65000"/>
                            <a:lumOff val="35000"/>
                          </a:schemeClr>
                        </a:solidFill>
                      </a:endParaRPr>
                    </a:p>
                  </a:txBody>
                  <a:tcPr anchor="ctr"/>
                </a:tc>
                <a:extLst>
                  <a:ext uri="{0D108BD9-81ED-4DB2-BD59-A6C34878D82A}">
                    <a16:rowId xmlns:a16="http://schemas.microsoft.com/office/drawing/2014/main" val="10001"/>
                  </a:ext>
                </a:extLst>
              </a:tr>
              <a:tr h="1127760">
                <a:tc>
                  <a:txBody>
                    <a:bodyPr/>
                    <a:lstStyle/>
                    <a:p>
                      <a:pPr algn="ctr"/>
                      <a:r>
                        <a:rPr lang="en-GB" b="0" dirty="0"/>
                        <a:t>Comparing</a:t>
                      </a:r>
                    </a:p>
                    <a:p>
                      <a:pPr algn="ctr"/>
                      <a:r>
                        <a:rPr lang="en-GB" sz="2400" dirty="0"/>
                        <a:t>Two groups</a:t>
                      </a:r>
                    </a:p>
                  </a:txBody>
                  <a:tcPr anchor="ctr"/>
                </a:tc>
                <a:tc>
                  <a:txBody>
                    <a:bodyPr/>
                    <a:lstStyle/>
                    <a:p>
                      <a:pPr algn="ctr"/>
                      <a:r>
                        <a:rPr lang="en-GB" sz="3200" b="1" dirty="0"/>
                        <a:t>Z Test</a:t>
                      </a:r>
                    </a:p>
                    <a:p>
                      <a:pPr algn="ctr"/>
                      <a:r>
                        <a:rPr lang="en-GB" sz="1800" dirty="0">
                          <a:solidFill>
                            <a:schemeClr val="tx1">
                              <a:lumMod val="65000"/>
                              <a:lumOff val="35000"/>
                            </a:schemeClr>
                          </a:solidFill>
                        </a:rPr>
                        <a:t>for difference in</a:t>
                      </a:r>
                    </a:p>
                    <a:p>
                      <a:pPr algn="ctr"/>
                      <a:r>
                        <a:rPr lang="en-GB" sz="1800" dirty="0">
                          <a:solidFill>
                            <a:schemeClr val="tx1">
                              <a:lumMod val="65000"/>
                              <a:lumOff val="35000"/>
                            </a:schemeClr>
                          </a:solidFill>
                        </a:rPr>
                        <a:t>two proportions</a:t>
                      </a:r>
                    </a:p>
                  </a:txBody>
                  <a:tcPr anchor="ctr">
                    <a:solidFill>
                      <a:schemeClr val="bg1">
                        <a:lumMod val="85000"/>
                      </a:schemeClr>
                    </a:solidFill>
                  </a:tcPr>
                </a:tc>
                <a:tc>
                  <a:txBody>
                    <a:bodyPr/>
                    <a:lstStyle/>
                    <a:p>
                      <a:pPr algn="ctr"/>
                      <a:r>
                        <a:rPr lang="en-GB" sz="3200" b="1" dirty="0"/>
                        <a:t>t Test</a:t>
                      </a:r>
                    </a:p>
                    <a:p>
                      <a:pPr algn="ctr"/>
                      <a:r>
                        <a:rPr lang="en-GB" sz="1800" dirty="0">
                          <a:solidFill>
                            <a:schemeClr val="tx1">
                              <a:lumMod val="65000"/>
                              <a:lumOff val="35000"/>
                            </a:schemeClr>
                          </a:solidFill>
                        </a:rPr>
                        <a:t>for difference in</a:t>
                      </a:r>
                    </a:p>
                    <a:p>
                      <a:pPr algn="ctr"/>
                      <a:r>
                        <a:rPr lang="en-GB" sz="1800" dirty="0">
                          <a:solidFill>
                            <a:schemeClr val="tx1">
                              <a:lumMod val="65000"/>
                              <a:lumOff val="35000"/>
                            </a:schemeClr>
                          </a:solidFill>
                        </a:rPr>
                        <a:t>two means</a:t>
                      </a:r>
                    </a:p>
                  </a:txBody>
                  <a:tcPr anchor="ctr">
                    <a:solidFill>
                      <a:schemeClr val="bg1">
                        <a:lumMod val="85000"/>
                      </a:schemeClr>
                    </a:solidFill>
                  </a:tcPr>
                </a:tc>
                <a:extLst>
                  <a:ext uri="{0D108BD9-81ED-4DB2-BD59-A6C34878D82A}">
                    <a16:rowId xmlns:a16="http://schemas.microsoft.com/office/drawing/2014/main" val="10002"/>
                  </a:ext>
                </a:extLst>
              </a:tr>
              <a:tr h="1127760">
                <a:tc>
                  <a:txBody>
                    <a:bodyPr/>
                    <a:lstStyle/>
                    <a:p>
                      <a:pPr algn="ctr"/>
                      <a:r>
                        <a:rPr lang="en-GB" b="0" dirty="0"/>
                        <a:t>Comparing</a:t>
                      </a:r>
                    </a:p>
                    <a:p>
                      <a:pPr algn="ctr"/>
                      <a:r>
                        <a:rPr lang="en-GB" sz="2400" b="1" dirty="0"/>
                        <a:t>Many groups</a:t>
                      </a:r>
                    </a:p>
                  </a:txBody>
                  <a:tcPr anchor="ctr"/>
                </a:tc>
                <a:tc>
                  <a:txBody>
                    <a:bodyPr/>
                    <a:lstStyle/>
                    <a:p>
                      <a:pPr algn="ctr"/>
                      <a:r>
                        <a:rPr lang="el-GR" sz="3200" b="1" dirty="0"/>
                        <a:t>χ</a:t>
                      </a:r>
                      <a:r>
                        <a:rPr lang="en-GB" sz="3200" b="1" baseline="30000" dirty="0"/>
                        <a:t>2</a:t>
                      </a:r>
                    </a:p>
                    <a:p>
                      <a:pPr algn="ctr"/>
                      <a:r>
                        <a:rPr lang="en-GB" sz="1800" dirty="0">
                          <a:solidFill>
                            <a:schemeClr val="tx1">
                              <a:lumMod val="65000"/>
                              <a:lumOff val="35000"/>
                            </a:schemeClr>
                          </a:solidFill>
                        </a:rPr>
                        <a:t>for difference among several proportions</a:t>
                      </a:r>
                      <a:endParaRPr lang="en-GB" sz="1800" baseline="30000" dirty="0"/>
                    </a:p>
                  </a:txBody>
                  <a:tcPr anchor="ctr"/>
                </a:tc>
                <a:tc>
                  <a:txBody>
                    <a:bodyPr/>
                    <a:lstStyle/>
                    <a:p>
                      <a:pPr algn="ctr"/>
                      <a:r>
                        <a:rPr lang="en-GB" sz="3200" b="1" dirty="0"/>
                        <a:t>ANOVA</a:t>
                      </a:r>
                    </a:p>
                    <a:p>
                      <a:pPr algn="ctr"/>
                      <a:r>
                        <a:rPr lang="en-GB" sz="1800" dirty="0">
                          <a:solidFill>
                            <a:schemeClr val="tx1">
                              <a:lumMod val="65000"/>
                              <a:lumOff val="35000"/>
                            </a:schemeClr>
                          </a:solidFill>
                        </a:rPr>
                        <a:t>for comparing </a:t>
                      </a:r>
                    </a:p>
                    <a:p>
                      <a:pPr algn="ctr"/>
                      <a:r>
                        <a:rPr lang="en-GB" sz="1800" dirty="0">
                          <a:solidFill>
                            <a:schemeClr val="tx1">
                              <a:lumMod val="65000"/>
                              <a:lumOff val="35000"/>
                            </a:schemeClr>
                          </a:solidFill>
                        </a:rPr>
                        <a:t>several means</a:t>
                      </a:r>
                    </a:p>
                  </a:txBody>
                  <a:tcPr anchor="ctr"/>
                </a:tc>
                <a:extLst>
                  <a:ext uri="{0D108BD9-81ED-4DB2-BD59-A6C34878D82A}">
                    <a16:rowId xmlns:a16="http://schemas.microsoft.com/office/drawing/2014/main" val="10003"/>
                  </a:ext>
                </a:extLst>
              </a:tr>
            </a:tbl>
          </a:graphicData>
        </a:graphic>
      </p:graphicFrame>
      <p:sp>
        <p:nvSpPr>
          <p:cNvPr id="8" name="TextBox 7"/>
          <p:cNvSpPr txBox="1"/>
          <p:nvPr/>
        </p:nvSpPr>
        <p:spPr>
          <a:xfrm>
            <a:off x="3276600" y="5334000"/>
            <a:ext cx="5156925" cy="338554"/>
          </a:xfrm>
          <a:prstGeom prst="rect">
            <a:avLst/>
          </a:prstGeom>
          <a:noFill/>
        </p:spPr>
        <p:txBody>
          <a:bodyPr wrap="none" rtlCol="0">
            <a:spAutoFit/>
          </a:bodyPr>
          <a:lstStyle/>
          <a:p>
            <a:r>
              <a:rPr lang="en-GB" sz="1600" b="1" u="sng" dirty="0">
                <a:solidFill>
                  <a:schemeClr val="tx1">
                    <a:lumMod val="65000"/>
                    <a:lumOff val="35000"/>
                  </a:schemeClr>
                </a:solidFill>
              </a:rPr>
              <a:t>N.B.  This is only a subset of the used statistical techniques</a:t>
            </a:r>
          </a:p>
        </p:txBody>
      </p:sp>
      <p:sp>
        <p:nvSpPr>
          <p:cNvPr id="9" name="Rounded Rectangle 8"/>
          <p:cNvSpPr/>
          <p:nvPr/>
        </p:nvSpPr>
        <p:spPr>
          <a:xfrm>
            <a:off x="3356599" y="2190344"/>
            <a:ext cx="2133600" cy="838200"/>
          </a:xfrm>
          <a:prstGeom prst="roundRect">
            <a:avLst/>
          </a:prstGeom>
          <a:no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595602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6248400" y="152399"/>
            <a:ext cx="2743199" cy="3124201"/>
            <a:chOff x="6248400" y="152399"/>
            <a:chExt cx="2743199" cy="3124201"/>
          </a:xfrm>
        </p:grpSpPr>
        <p:grpSp>
          <p:nvGrpSpPr>
            <p:cNvPr id="19" name="Group 18"/>
            <p:cNvGrpSpPr/>
            <p:nvPr/>
          </p:nvGrpSpPr>
          <p:grpSpPr>
            <a:xfrm>
              <a:off x="6248400" y="152400"/>
              <a:ext cx="2743199" cy="3124200"/>
              <a:chOff x="925287" y="1143000"/>
              <a:chExt cx="6618513" cy="4315816"/>
            </a:xfrm>
            <a:solidFill>
              <a:schemeClr val="bg1">
                <a:lumMod val="95000"/>
              </a:schemeClr>
            </a:solidFill>
          </p:grpSpPr>
          <p:grpSp>
            <p:nvGrpSpPr>
              <p:cNvPr id="20" name="Group 19"/>
              <p:cNvGrpSpPr/>
              <p:nvPr/>
            </p:nvGrpSpPr>
            <p:grpSpPr>
              <a:xfrm>
                <a:off x="925287" y="1143000"/>
                <a:ext cx="6618513" cy="958268"/>
                <a:chOff x="-65314" y="1093291"/>
                <a:chExt cx="6618513" cy="958268"/>
              </a:xfrm>
              <a:grpFill/>
            </p:grpSpPr>
            <p:sp>
              <p:nvSpPr>
                <p:cNvPr id="33" name="Freeform 32"/>
                <p:cNvSpPr/>
                <p:nvPr/>
              </p:nvSpPr>
              <p:spPr>
                <a:xfrm>
                  <a:off x="-65314" y="1093291"/>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grpFill/>
                <a:ln>
                  <a:solidFill>
                    <a:schemeClr val="bg1">
                      <a:lumMod val="95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chemeClr val="bg1">
                          <a:lumMod val="65000"/>
                        </a:schemeClr>
                      </a:solidFill>
                    </a:rPr>
                    <a:t>1</a:t>
                  </a:r>
                </a:p>
              </p:txBody>
            </p:sp>
            <p:sp>
              <p:nvSpPr>
                <p:cNvPr id="34" name="Freeform 33"/>
                <p:cNvSpPr/>
                <p:nvPr/>
              </p:nvSpPr>
              <p:spPr>
                <a:xfrm>
                  <a:off x="1127986" y="1093293"/>
                  <a:ext cx="5425213" cy="622873"/>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grpFill/>
                <a:ln>
                  <a:solidFill>
                    <a:schemeClr val="bg1">
                      <a:lumMod val="95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1" numCol="1" spcCol="1270" anchor="ctr" anchorCtr="0">
                  <a:noAutofit/>
                </a:bodyPr>
                <a:lstStyle/>
                <a:p>
                  <a:pPr marL="0" lvl="1" algn="l" defTabSz="755650">
                    <a:lnSpc>
                      <a:spcPct val="90000"/>
                    </a:lnSpc>
                    <a:spcBef>
                      <a:spcPct val="0"/>
                    </a:spcBef>
                    <a:spcAft>
                      <a:spcPct val="15000"/>
                    </a:spcAft>
                  </a:pPr>
                  <a:r>
                    <a:rPr lang="en-GB" sz="1600" kern="1200" dirty="0">
                      <a:solidFill>
                        <a:schemeClr val="bg1">
                          <a:lumMod val="65000"/>
                        </a:schemeClr>
                      </a:solidFill>
                    </a:rPr>
                    <a:t>State your null hypothesis (H</a:t>
                  </a:r>
                  <a:r>
                    <a:rPr lang="en-GB" sz="1600" kern="1200" baseline="-25000" dirty="0">
                      <a:solidFill>
                        <a:schemeClr val="bg1">
                          <a:lumMod val="65000"/>
                        </a:schemeClr>
                      </a:solidFill>
                    </a:rPr>
                    <a:t>0</a:t>
                  </a:r>
                  <a:r>
                    <a:rPr lang="en-GB" sz="1600" kern="1200" baseline="0" dirty="0">
                      <a:solidFill>
                        <a:schemeClr val="bg1">
                          <a:lumMod val="65000"/>
                        </a:schemeClr>
                      </a:solidFill>
                    </a:rPr>
                    <a:t>)</a:t>
                  </a:r>
                </a:p>
              </p:txBody>
            </p:sp>
          </p:grpSp>
          <p:grpSp>
            <p:nvGrpSpPr>
              <p:cNvPr id="21" name="Group 20"/>
              <p:cNvGrpSpPr/>
              <p:nvPr/>
            </p:nvGrpSpPr>
            <p:grpSpPr>
              <a:xfrm>
                <a:off x="925287" y="1982387"/>
                <a:ext cx="6618513" cy="958268"/>
                <a:chOff x="-65314" y="1932678"/>
                <a:chExt cx="6618513" cy="958268"/>
              </a:xfrm>
              <a:grpFill/>
            </p:grpSpPr>
            <p:sp>
              <p:nvSpPr>
                <p:cNvPr id="31" name="Freeform 30"/>
                <p:cNvSpPr/>
                <p:nvPr/>
              </p:nvSpPr>
              <p:spPr>
                <a:xfrm>
                  <a:off x="-65314" y="1932678"/>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grpFill/>
                <a:ln>
                  <a:solidFill>
                    <a:schemeClr val="bg1">
                      <a:lumMod val="95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chemeClr val="bg1">
                          <a:lumMod val="65000"/>
                        </a:schemeClr>
                      </a:solidFill>
                    </a:rPr>
                    <a:t>2</a:t>
                  </a:r>
                </a:p>
              </p:txBody>
            </p:sp>
            <p:sp>
              <p:nvSpPr>
                <p:cNvPr id="32" name="Freeform 31"/>
                <p:cNvSpPr/>
                <p:nvPr/>
              </p:nvSpPr>
              <p:spPr>
                <a:xfrm>
                  <a:off x="1127986" y="1932680"/>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grpFill/>
                <a:ln>
                  <a:solidFill>
                    <a:schemeClr val="bg1">
                      <a:lumMod val="95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defTabSz="755650">
                    <a:lnSpc>
                      <a:spcPct val="90000"/>
                    </a:lnSpc>
                    <a:spcBef>
                      <a:spcPct val="0"/>
                    </a:spcBef>
                    <a:spcAft>
                      <a:spcPct val="15000"/>
                    </a:spcAft>
                  </a:pPr>
                  <a:r>
                    <a:rPr lang="en-GB" sz="1600" b="1" dirty="0">
                      <a:solidFill>
                        <a:schemeClr val="bg1">
                          <a:lumMod val="65000"/>
                        </a:schemeClr>
                      </a:solidFill>
                    </a:rPr>
                    <a:t>Calculate test statistic </a:t>
                  </a:r>
                  <a:r>
                    <a:rPr lang="en-GB" sz="1600" dirty="0">
                      <a:solidFill>
                        <a:schemeClr val="bg1">
                          <a:lumMod val="65000"/>
                        </a:schemeClr>
                      </a:solidFill>
                    </a:rPr>
                    <a:t>from data (stat.)</a:t>
                  </a:r>
                </a:p>
              </p:txBody>
            </p:sp>
          </p:grpSp>
          <p:grpSp>
            <p:nvGrpSpPr>
              <p:cNvPr id="22" name="Group 21"/>
              <p:cNvGrpSpPr/>
              <p:nvPr/>
            </p:nvGrpSpPr>
            <p:grpSpPr>
              <a:xfrm>
                <a:off x="925287" y="2821774"/>
                <a:ext cx="6618513" cy="958268"/>
                <a:chOff x="-65314" y="2772065"/>
                <a:chExt cx="6618513" cy="958268"/>
              </a:xfrm>
              <a:grpFill/>
            </p:grpSpPr>
            <p:sp>
              <p:nvSpPr>
                <p:cNvPr id="29" name="Freeform 28"/>
                <p:cNvSpPr/>
                <p:nvPr/>
              </p:nvSpPr>
              <p:spPr>
                <a:xfrm>
                  <a:off x="-65314" y="2772065"/>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grpFill/>
                <a:ln>
                  <a:solidFill>
                    <a:schemeClr val="bg1">
                      <a:lumMod val="95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chemeClr val="bg1">
                          <a:lumMod val="65000"/>
                        </a:schemeClr>
                      </a:solidFill>
                    </a:rPr>
                    <a:t>3</a:t>
                  </a:r>
                </a:p>
              </p:txBody>
            </p:sp>
            <p:sp>
              <p:nvSpPr>
                <p:cNvPr id="30" name="Freeform 29"/>
                <p:cNvSpPr/>
                <p:nvPr/>
              </p:nvSpPr>
              <p:spPr>
                <a:xfrm>
                  <a:off x="1127986" y="2772067"/>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grpFill/>
                <a:ln>
                  <a:solidFill>
                    <a:schemeClr val="bg1">
                      <a:lumMod val="95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defTabSz="755650">
                    <a:lnSpc>
                      <a:spcPct val="90000"/>
                    </a:lnSpc>
                    <a:spcBef>
                      <a:spcPct val="0"/>
                    </a:spcBef>
                    <a:spcAft>
                      <a:spcPct val="15000"/>
                    </a:spcAft>
                  </a:pPr>
                  <a:r>
                    <a:rPr lang="en-GB" sz="1600" b="1" dirty="0">
                      <a:solidFill>
                        <a:schemeClr val="bg1">
                          <a:lumMod val="65000"/>
                        </a:schemeClr>
                      </a:solidFill>
                    </a:rPr>
                    <a:t>Choose </a:t>
                  </a:r>
                  <a:r>
                    <a:rPr lang="en-GB" sz="1600" dirty="0">
                      <a:solidFill>
                        <a:schemeClr val="bg1">
                          <a:lumMod val="65000"/>
                        </a:schemeClr>
                      </a:solidFill>
                    </a:rPr>
                    <a:t>a level of </a:t>
                  </a:r>
                  <a:r>
                    <a:rPr lang="en-GB" sz="1600" b="1" dirty="0">
                      <a:solidFill>
                        <a:schemeClr val="bg1">
                          <a:lumMod val="65000"/>
                        </a:schemeClr>
                      </a:solidFill>
                    </a:rPr>
                    <a:t>significance</a:t>
                  </a:r>
                  <a:r>
                    <a:rPr lang="en-GB" sz="1600" dirty="0">
                      <a:solidFill>
                        <a:schemeClr val="bg1">
                          <a:lumMod val="65000"/>
                        </a:schemeClr>
                      </a:solidFill>
                    </a:rPr>
                    <a:t> (</a:t>
                  </a:r>
                  <a:r>
                    <a:rPr lang="el-GR" sz="1600" dirty="0">
                      <a:solidFill>
                        <a:schemeClr val="bg1">
                          <a:lumMod val="65000"/>
                        </a:schemeClr>
                      </a:solidFill>
                    </a:rPr>
                    <a:t>α</a:t>
                  </a:r>
                  <a:r>
                    <a:rPr lang="en-GB" sz="1600" dirty="0">
                      <a:solidFill>
                        <a:schemeClr val="bg1">
                          <a:lumMod val="65000"/>
                        </a:schemeClr>
                      </a:solidFill>
                    </a:rPr>
                    <a:t>)</a:t>
                  </a:r>
                </a:p>
              </p:txBody>
            </p:sp>
          </p:grpSp>
          <p:grpSp>
            <p:nvGrpSpPr>
              <p:cNvPr id="23" name="Group 22"/>
              <p:cNvGrpSpPr/>
              <p:nvPr/>
            </p:nvGrpSpPr>
            <p:grpSpPr>
              <a:xfrm>
                <a:off x="925287" y="3661161"/>
                <a:ext cx="6618513" cy="958268"/>
                <a:chOff x="-65314" y="3611452"/>
                <a:chExt cx="6618513" cy="958268"/>
              </a:xfrm>
              <a:grpFill/>
            </p:grpSpPr>
            <p:sp>
              <p:nvSpPr>
                <p:cNvPr id="27" name="Freeform 26"/>
                <p:cNvSpPr/>
                <p:nvPr/>
              </p:nvSpPr>
              <p:spPr>
                <a:xfrm>
                  <a:off x="-65314" y="3611452"/>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grpFill/>
                <a:ln>
                  <a:solidFill>
                    <a:schemeClr val="bg1">
                      <a:lumMod val="95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baseline="0" dirty="0">
                      <a:solidFill>
                        <a:schemeClr val="bg1">
                          <a:lumMod val="65000"/>
                        </a:schemeClr>
                      </a:solidFill>
                    </a:rPr>
                    <a:t>4</a:t>
                  </a:r>
                </a:p>
              </p:txBody>
            </p:sp>
            <p:sp>
              <p:nvSpPr>
                <p:cNvPr id="28" name="Freeform 27"/>
                <p:cNvSpPr/>
                <p:nvPr/>
              </p:nvSpPr>
              <p:spPr>
                <a:xfrm>
                  <a:off x="1127986" y="3611453"/>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grpFill/>
                <a:ln>
                  <a:solidFill>
                    <a:schemeClr val="bg1">
                      <a:lumMod val="95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algn="l" defTabSz="755650">
                    <a:lnSpc>
                      <a:spcPct val="90000"/>
                    </a:lnSpc>
                    <a:spcBef>
                      <a:spcPct val="0"/>
                    </a:spcBef>
                    <a:spcAft>
                      <a:spcPct val="15000"/>
                    </a:spcAft>
                  </a:pPr>
                  <a:r>
                    <a:rPr lang="en-GB" sz="1600" b="1" kern="1200" baseline="0" dirty="0">
                      <a:solidFill>
                        <a:schemeClr val="bg1">
                          <a:lumMod val="65000"/>
                        </a:schemeClr>
                      </a:solidFill>
                    </a:rPr>
                    <a:t>Lookup </a:t>
                  </a:r>
                  <a:r>
                    <a:rPr lang="en-GB" sz="1600" kern="1200" baseline="0" dirty="0">
                      <a:solidFill>
                        <a:schemeClr val="bg1">
                          <a:lumMod val="65000"/>
                        </a:schemeClr>
                      </a:solidFill>
                    </a:rPr>
                    <a:t>the</a:t>
                  </a:r>
                  <a:r>
                    <a:rPr lang="en-GB" sz="1600" b="1" kern="1200" baseline="0" dirty="0">
                      <a:solidFill>
                        <a:schemeClr val="bg1">
                          <a:lumMod val="65000"/>
                        </a:schemeClr>
                      </a:solidFill>
                    </a:rPr>
                    <a:t> </a:t>
                  </a:r>
                  <a:r>
                    <a:rPr lang="en-GB" sz="1600" b="0" kern="1200" baseline="0" dirty="0">
                      <a:solidFill>
                        <a:schemeClr val="bg1">
                          <a:lumMod val="65000"/>
                        </a:schemeClr>
                      </a:solidFill>
                    </a:rPr>
                    <a:t>critical value or the p-value</a:t>
                  </a:r>
                  <a:endParaRPr lang="en-GB" sz="1600" kern="1200" baseline="0" dirty="0">
                    <a:solidFill>
                      <a:schemeClr val="bg1">
                        <a:lumMod val="65000"/>
                      </a:schemeClr>
                    </a:solidFill>
                  </a:endParaRPr>
                </a:p>
              </p:txBody>
            </p:sp>
          </p:grpSp>
          <p:grpSp>
            <p:nvGrpSpPr>
              <p:cNvPr id="24" name="Group 23"/>
              <p:cNvGrpSpPr/>
              <p:nvPr/>
            </p:nvGrpSpPr>
            <p:grpSpPr>
              <a:xfrm>
                <a:off x="925287" y="4500548"/>
                <a:ext cx="6618513" cy="958268"/>
                <a:chOff x="-65314" y="4450839"/>
                <a:chExt cx="6618513" cy="958268"/>
              </a:xfrm>
              <a:grpFill/>
            </p:grpSpPr>
            <p:sp>
              <p:nvSpPr>
                <p:cNvPr id="25" name="Freeform 24"/>
                <p:cNvSpPr/>
                <p:nvPr/>
              </p:nvSpPr>
              <p:spPr>
                <a:xfrm>
                  <a:off x="-65314" y="4450839"/>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grpFill/>
                <a:ln>
                  <a:solidFill>
                    <a:schemeClr val="bg1">
                      <a:lumMod val="95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baseline="0" dirty="0">
                      <a:solidFill>
                        <a:schemeClr val="bg1">
                          <a:lumMod val="65000"/>
                        </a:schemeClr>
                      </a:solidFill>
                    </a:rPr>
                    <a:t>5</a:t>
                  </a:r>
                </a:p>
              </p:txBody>
            </p:sp>
            <p:sp>
              <p:nvSpPr>
                <p:cNvPr id="26" name="Freeform 25"/>
                <p:cNvSpPr/>
                <p:nvPr/>
              </p:nvSpPr>
              <p:spPr>
                <a:xfrm>
                  <a:off x="1127986" y="4450840"/>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grpFill/>
                <a:ln>
                  <a:solidFill>
                    <a:schemeClr val="bg1">
                      <a:lumMod val="95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algn="l" defTabSz="755650">
                    <a:lnSpc>
                      <a:spcPct val="90000"/>
                    </a:lnSpc>
                    <a:spcBef>
                      <a:spcPct val="0"/>
                    </a:spcBef>
                    <a:spcAft>
                      <a:spcPct val="15000"/>
                    </a:spcAft>
                  </a:pPr>
                  <a:r>
                    <a:rPr lang="en-GB" sz="1600" b="1" kern="1200" baseline="0" dirty="0">
                      <a:solidFill>
                        <a:schemeClr val="bg1">
                          <a:lumMod val="65000"/>
                        </a:schemeClr>
                      </a:solidFill>
                    </a:rPr>
                    <a:t>Reject</a:t>
                  </a:r>
                  <a:r>
                    <a:rPr lang="en-GB" sz="1600" kern="1200" baseline="0" dirty="0">
                      <a:solidFill>
                        <a:schemeClr val="bg1">
                          <a:lumMod val="65000"/>
                        </a:schemeClr>
                      </a:solidFill>
                    </a:rPr>
                    <a:t> </a:t>
                  </a:r>
                  <a:r>
                    <a:rPr lang="en-GB" sz="1600" kern="1200" dirty="0">
                      <a:solidFill>
                        <a:schemeClr val="bg1">
                          <a:lumMod val="65000"/>
                        </a:schemeClr>
                      </a:solidFill>
                    </a:rPr>
                    <a:t>H</a:t>
                  </a:r>
                  <a:r>
                    <a:rPr lang="en-GB" sz="1600" kern="1200" baseline="-25000" dirty="0">
                      <a:solidFill>
                        <a:schemeClr val="bg1">
                          <a:lumMod val="65000"/>
                        </a:schemeClr>
                      </a:solidFill>
                    </a:rPr>
                    <a:t>0</a:t>
                  </a:r>
                  <a:r>
                    <a:rPr lang="en-GB" sz="1600" kern="1200" baseline="0" dirty="0">
                      <a:solidFill>
                        <a:schemeClr val="bg1">
                          <a:lumMod val="65000"/>
                        </a:schemeClr>
                      </a:solidFill>
                    </a:rPr>
                    <a:t> or </a:t>
                  </a:r>
                  <a:r>
                    <a:rPr lang="en-GB" sz="1600" b="1" kern="1200" baseline="0" dirty="0">
                      <a:solidFill>
                        <a:schemeClr val="bg1">
                          <a:lumMod val="65000"/>
                        </a:schemeClr>
                      </a:solidFill>
                    </a:rPr>
                    <a:t>Fail</a:t>
                  </a:r>
                  <a:r>
                    <a:rPr lang="en-GB" sz="1600" b="1" kern="1200" dirty="0">
                      <a:solidFill>
                        <a:schemeClr val="bg1">
                          <a:lumMod val="65000"/>
                        </a:schemeClr>
                      </a:solidFill>
                    </a:rPr>
                    <a:t> to </a:t>
                  </a:r>
                  <a:r>
                    <a:rPr lang="en-GB" sz="1600" kern="1200" dirty="0">
                      <a:solidFill>
                        <a:schemeClr val="bg1">
                          <a:lumMod val="65000"/>
                        </a:schemeClr>
                      </a:solidFill>
                    </a:rPr>
                    <a:t>Reject</a:t>
                  </a:r>
                  <a:r>
                    <a:rPr lang="en-GB" sz="1600" kern="1200" baseline="0" dirty="0">
                      <a:solidFill>
                        <a:schemeClr val="bg1">
                          <a:lumMod val="65000"/>
                        </a:schemeClr>
                      </a:solidFill>
                    </a:rPr>
                    <a:t> </a:t>
                  </a:r>
                </a:p>
              </p:txBody>
            </p:sp>
          </p:grpSp>
        </p:grpSp>
        <p:grpSp>
          <p:nvGrpSpPr>
            <p:cNvPr id="3" name="Group 2"/>
            <p:cNvGrpSpPr/>
            <p:nvPr/>
          </p:nvGrpSpPr>
          <p:grpSpPr>
            <a:xfrm>
              <a:off x="6248400" y="152399"/>
              <a:ext cx="2743199" cy="693685"/>
              <a:chOff x="-65314" y="1093291"/>
              <a:chExt cx="6618513" cy="958268"/>
            </a:xfrm>
          </p:grpSpPr>
          <p:sp>
            <p:nvSpPr>
              <p:cNvPr id="4" name="Freeform 3"/>
              <p:cNvSpPr/>
              <p:nvPr/>
            </p:nvSpPr>
            <p:spPr>
              <a:xfrm>
                <a:off x="-65314" y="1093291"/>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t>1</a:t>
                </a:r>
              </a:p>
            </p:txBody>
          </p:sp>
          <p:sp>
            <p:nvSpPr>
              <p:cNvPr id="5" name="Freeform 4"/>
              <p:cNvSpPr/>
              <p:nvPr/>
            </p:nvSpPr>
            <p:spPr>
              <a:xfrm>
                <a:off x="1127986" y="1093293"/>
                <a:ext cx="5425213" cy="622873"/>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1" numCol="1" spcCol="1270" anchor="ctr" anchorCtr="0">
                <a:noAutofit/>
              </a:bodyPr>
              <a:lstStyle/>
              <a:p>
                <a:pPr marL="0" lvl="1" algn="l" defTabSz="755650">
                  <a:lnSpc>
                    <a:spcPct val="90000"/>
                  </a:lnSpc>
                  <a:spcBef>
                    <a:spcPct val="0"/>
                  </a:spcBef>
                  <a:spcAft>
                    <a:spcPct val="15000"/>
                  </a:spcAft>
                </a:pPr>
                <a:r>
                  <a:rPr lang="en-GB" sz="1600" kern="1200" dirty="0"/>
                  <a:t>State your null hypothesis (H</a:t>
                </a:r>
                <a:r>
                  <a:rPr lang="en-GB" sz="1600" kern="1200" baseline="-25000" dirty="0"/>
                  <a:t>0</a:t>
                </a:r>
                <a:r>
                  <a:rPr lang="en-GB" sz="1600" kern="1200" baseline="0" dirty="0"/>
                  <a:t>)</a:t>
                </a:r>
              </a:p>
            </p:txBody>
          </p:sp>
        </p:grpSp>
      </p:grpSp>
      <p:sp>
        <p:nvSpPr>
          <p:cNvPr id="2" name="Title 1"/>
          <p:cNvSpPr>
            <a:spLocks noGrp="1"/>
          </p:cNvSpPr>
          <p:nvPr>
            <p:ph type="title"/>
          </p:nvPr>
        </p:nvSpPr>
        <p:spPr>
          <a:xfrm>
            <a:off x="304800" y="76200"/>
            <a:ext cx="6438191" cy="1143000"/>
          </a:xfrm>
        </p:spPr>
        <p:txBody>
          <a:bodyPr/>
          <a:lstStyle/>
          <a:p>
            <a:r>
              <a:rPr lang="en-GB" altLang="en-US" dirty="0"/>
              <a:t>Z Test for Proportion</a:t>
            </a:r>
            <a:endParaRPr lang="en-GB" dirty="0"/>
          </a:p>
        </p:txBody>
      </p:sp>
      <p:sp>
        <p:nvSpPr>
          <p:cNvPr id="35" name="Rectangle 34"/>
          <p:cNvSpPr/>
          <p:nvPr/>
        </p:nvSpPr>
        <p:spPr>
          <a:xfrm>
            <a:off x="304800" y="914400"/>
            <a:ext cx="5486400" cy="5016758"/>
          </a:xfrm>
          <a:prstGeom prst="rect">
            <a:avLst/>
          </a:prstGeom>
        </p:spPr>
        <p:txBody>
          <a:bodyPr wrap="square">
            <a:spAutoFit/>
          </a:bodyPr>
          <a:lstStyle/>
          <a:p>
            <a:r>
              <a:rPr lang="en-GB" sz="2000" dirty="0"/>
              <a:t>On average, </a:t>
            </a:r>
            <a:r>
              <a:rPr lang="en-GB" sz="2000" b="1" dirty="0"/>
              <a:t>15%</a:t>
            </a:r>
            <a:r>
              <a:rPr lang="en-GB" sz="2000" dirty="0"/>
              <a:t> of trains do not depart on time from Leeds station. </a:t>
            </a:r>
          </a:p>
          <a:p>
            <a:endParaRPr lang="en-GB" sz="2000" dirty="0"/>
          </a:p>
          <a:p>
            <a:r>
              <a:rPr lang="en-GB" sz="2000" dirty="0"/>
              <a:t>When observing </a:t>
            </a:r>
            <a:r>
              <a:rPr lang="en-GB" sz="2000" b="1" dirty="0"/>
              <a:t>50 </a:t>
            </a:r>
            <a:r>
              <a:rPr lang="en-GB" sz="2000" dirty="0"/>
              <a:t>trains randomly, we found </a:t>
            </a:r>
            <a:r>
              <a:rPr lang="en-GB" sz="2000" b="1" dirty="0"/>
              <a:t>10%</a:t>
            </a:r>
            <a:r>
              <a:rPr lang="en-GB" sz="2000" dirty="0"/>
              <a:t> departed late.</a:t>
            </a:r>
          </a:p>
          <a:p>
            <a:endParaRPr lang="en-GB" sz="2000" dirty="0"/>
          </a:p>
          <a:p>
            <a:r>
              <a:rPr lang="en-GB" sz="2000" b="1" dirty="0"/>
              <a:t>Would you consider this a significant improvement in the train service?</a:t>
            </a:r>
          </a:p>
          <a:p>
            <a:endParaRPr lang="en-GB" sz="2000" b="1" dirty="0"/>
          </a:p>
          <a:p>
            <a:endParaRPr lang="en-GB" sz="2000" b="1" dirty="0"/>
          </a:p>
          <a:p>
            <a:r>
              <a:rPr lang="en-GB" sz="2000" b="1" dirty="0"/>
              <a:t>Null Hypothesis: </a:t>
            </a:r>
            <a:r>
              <a:rPr lang="en-GB" sz="2000" dirty="0"/>
              <a:t>There is no difference between what we observed and what is reported.</a:t>
            </a:r>
          </a:p>
          <a:p>
            <a:endParaRPr lang="en-GB" sz="2000" b="1" dirty="0"/>
          </a:p>
          <a:p>
            <a:r>
              <a:rPr lang="en-GB" sz="2000" b="1" dirty="0"/>
              <a:t>Alternative Hypothesis: </a:t>
            </a:r>
            <a:r>
              <a:rPr lang="en-GB" sz="2000" dirty="0"/>
              <a:t>There is a statistically significant difference between what is observed and what is reported.</a:t>
            </a:r>
            <a:endParaRPr lang="en-GB" sz="2000" b="1" dirty="0"/>
          </a:p>
        </p:txBody>
      </p:sp>
      <mc:AlternateContent xmlns:mc="http://schemas.openxmlformats.org/markup-compatibility/2006" xmlns:a14="http://schemas.microsoft.com/office/drawing/2010/main">
        <mc:Choice Requires="a14">
          <p:sp>
            <p:nvSpPr>
              <p:cNvPr id="46" name="Rectangle 45"/>
              <p:cNvSpPr/>
              <p:nvPr/>
            </p:nvSpPr>
            <p:spPr>
              <a:xfrm>
                <a:off x="5715000" y="3900389"/>
                <a:ext cx="227158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sz="2800" b="0" i="1" smtClean="0">
                              <a:latin typeface="Cambria Math" panose="02040503050406030204" pitchFamily="18" charset="0"/>
                              <a:ea typeface="Cambria Math"/>
                            </a:rPr>
                          </m:ctrlPr>
                        </m:sSubPr>
                        <m:e>
                          <m:r>
                            <m:rPr>
                              <m:sty m:val="p"/>
                            </m:rPr>
                            <a:rPr lang="en-GB" sz="2800" b="0" i="0" smtClean="0">
                              <a:latin typeface="Cambria Math"/>
                              <a:ea typeface="Cambria Math"/>
                            </a:rPr>
                            <m:t>H</m:t>
                          </m:r>
                        </m:e>
                        <m:sub>
                          <m:r>
                            <a:rPr lang="en-GB" sz="2800" b="0" i="0" smtClean="0">
                              <a:latin typeface="Cambria Math"/>
                              <a:ea typeface="Cambria Math"/>
                            </a:rPr>
                            <m:t>0</m:t>
                          </m:r>
                        </m:sub>
                      </m:sSub>
                      <m:r>
                        <a:rPr lang="en-GB" sz="2800" b="0" i="1" smtClean="0">
                          <a:latin typeface="Cambria Math"/>
                          <a:ea typeface="Cambria Math"/>
                        </a:rPr>
                        <m:t>: </m:t>
                      </m:r>
                      <m:r>
                        <a:rPr lang="en-GB" sz="2800" i="1" smtClean="0">
                          <a:latin typeface="Cambria Math"/>
                          <a:ea typeface="Cambria Math"/>
                        </a:rPr>
                        <m:t>𝜋</m:t>
                      </m:r>
                      <m:r>
                        <a:rPr lang="en-GB" sz="2800" b="0" i="1" smtClean="0">
                          <a:latin typeface="Cambria Math"/>
                          <a:ea typeface="Cambria Math"/>
                        </a:rPr>
                        <m:t>=0.15</m:t>
                      </m:r>
                    </m:oMath>
                  </m:oMathPara>
                </a14:m>
                <a:endParaRPr lang="en-GB" sz="2800" dirty="0"/>
              </a:p>
            </p:txBody>
          </p:sp>
        </mc:Choice>
        <mc:Fallback xmlns="">
          <p:sp>
            <p:nvSpPr>
              <p:cNvPr id="46" name="Rectangle 45"/>
              <p:cNvSpPr>
                <a:spLocks noRot="1" noChangeAspect="1" noMove="1" noResize="1" noEditPoints="1" noAdjustHandles="1" noChangeArrowheads="1" noChangeShapeType="1" noTextEdit="1"/>
              </p:cNvSpPr>
              <p:nvPr/>
            </p:nvSpPr>
            <p:spPr>
              <a:xfrm>
                <a:off x="5715000" y="3900389"/>
                <a:ext cx="2271584" cy="523220"/>
              </a:xfrm>
              <a:prstGeom prst="rect">
                <a:avLst/>
              </a:prstGeom>
              <a:blipFill>
                <a:blip r:embed="rId3"/>
                <a:stretch>
                  <a:fillRect/>
                </a:stretch>
              </a:blipFill>
            </p:spPr>
            <p:txBody>
              <a:bodyPr/>
              <a:lstStyle/>
              <a:p>
                <a:r>
                  <a:rPr lang="en-GB">
                    <a:noFill/>
                  </a:rPr>
                  <a:t> </a:t>
                </a:r>
              </a:p>
            </p:txBody>
          </p:sp>
        </mc:Fallback>
      </mc:AlternateContent>
      <p:pic>
        <p:nvPicPr>
          <p:cNvPr id="3074" name="Picture 2" descr="http://www.clipartlord.com/wp-content/uploads/2013/03/train6.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83357" y="5715000"/>
            <a:ext cx="1731523" cy="848272"/>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37" name="Rectangle 36"/>
              <p:cNvSpPr/>
              <p:nvPr/>
            </p:nvSpPr>
            <p:spPr>
              <a:xfrm>
                <a:off x="5723272" y="4934310"/>
                <a:ext cx="226331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sz="2800" b="0" i="1" smtClean="0">
                              <a:latin typeface="Cambria Math" panose="02040503050406030204" pitchFamily="18" charset="0"/>
                              <a:ea typeface="Cambria Math"/>
                            </a:rPr>
                          </m:ctrlPr>
                        </m:sSubPr>
                        <m:e>
                          <m:r>
                            <m:rPr>
                              <m:sty m:val="p"/>
                            </m:rPr>
                            <a:rPr lang="en-GB" sz="2800" b="0" i="0" smtClean="0">
                              <a:latin typeface="Cambria Math"/>
                              <a:ea typeface="Cambria Math"/>
                            </a:rPr>
                            <m:t>H</m:t>
                          </m:r>
                        </m:e>
                        <m:sub>
                          <m:r>
                            <a:rPr lang="en-GB" sz="2800" b="0" i="0" smtClean="0">
                              <a:latin typeface="Cambria Math"/>
                              <a:ea typeface="Cambria Math"/>
                            </a:rPr>
                            <m:t>1</m:t>
                          </m:r>
                        </m:sub>
                      </m:sSub>
                      <m:r>
                        <a:rPr lang="en-GB" sz="2800" b="0" i="1" smtClean="0">
                          <a:latin typeface="Cambria Math"/>
                          <a:ea typeface="Cambria Math"/>
                        </a:rPr>
                        <m:t>: </m:t>
                      </m:r>
                      <m:r>
                        <a:rPr lang="en-GB" sz="2800" i="1" smtClean="0">
                          <a:latin typeface="Cambria Math"/>
                          <a:ea typeface="Cambria Math"/>
                        </a:rPr>
                        <m:t>𝜋</m:t>
                      </m:r>
                      <m:r>
                        <a:rPr lang="en-GB" sz="2800" b="0" i="1" smtClean="0">
                          <a:latin typeface="Cambria Math"/>
                          <a:ea typeface="Cambria Math"/>
                        </a:rPr>
                        <m:t>≠0.15</m:t>
                      </m:r>
                    </m:oMath>
                  </m:oMathPara>
                </a14:m>
                <a:endParaRPr lang="en-GB" sz="2800" dirty="0"/>
              </a:p>
            </p:txBody>
          </p:sp>
        </mc:Choice>
        <mc:Fallback xmlns="">
          <p:sp>
            <p:nvSpPr>
              <p:cNvPr id="37" name="Rectangle 36"/>
              <p:cNvSpPr>
                <a:spLocks noRot="1" noChangeAspect="1" noMove="1" noResize="1" noEditPoints="1" noAdjustHandles="1" noChangeArrowheads="1" noChangeShapeType="1" noTextEdit="1"/>
              </p:cNvSpPr>
              <p:nvPr/>
            </p:nvSpPr>
            <p:spPr>
              <a:xfrm>
                <a:off x="5723272" y="4934310"/>
                <a:ext cx="2263312" cy="523220"/>
              </a:xfrm>
              <a:prstGeom prst="rect">
                <a:avLst/>
              </a:prstGeom>
              <a:blipFill>
                <a:blip r:embed="rId5"/>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013588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cBhvr>
                                        <p:cTn id="7" dur="500"/>
                                        <p:tgtEl>
                                          <p:spTgt spid="4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fade">
                                      <p:cBhvr>
                                        <p:cTn id="10"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3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a:t>Z Test for Proportion</a:t>
            </a:r>
            <a:endParaRPr lang="en-GB" dirty="0"/>
          </a:p>
        </p:txBody>
      </p:sp>
      <p:sp>
        <p:nvSpPr>
          <p:cNvPr id="45" name="Rectangle 44"/>
          <p:cNvSpPr/>
          <p:nvPr/>
        </p:nvSpPr>
        <p:spPr>
          <a:xfrm>
            <a:off x="231714" y="652250"/>
            <a:ext cx="5867400" cy="707886"/>
          </a:xfrm>
          <a:prstGeom prst="rect">
            <a:avLst/>
          </a:prstGeom>
        </p:spPr>
        <p:txBody>
          <a:bodyPr wrap="square">
            <a:spAutoFit/>
          </a:bodyPr>
          <a:lstStyle/>
          <a:p>
            <a:r>
              <a:rPr lang="en-GB" altLang="en-US" sz="2000" dirty="0"/>
              <a:t>The probability distribution that’s relevant here is the </a:t>
            </a:r>
            <a:r>
              <a:rPr lang="en-GB" altLang="en-US" sz="2000" b="1" dirty="0">
                <a:solidFill>
                  <a:srgbClr val="333399"/>
                </a:solidFill>
              </a:rPr>
              <a:t>sampling distribution of proportions (or percentages)</a:t>
            </a:r>
            <a:endParaRPr lang="en-GB" sz="2000" dirty="0"/>
          </a:p>
        </p:txBody>
      </p:sp>
      <p:graphicFrame>
        <p:nvGraphicFramePr>
          <p:cNvPr id="207" name="Chart 206"/>
          <p:cNvGraphicFramePr/>
          <p:nvPr>
            <p:extLst>
              <p:ext uri="{D42A27DB-BD31-4B8C-83A1-F6EECF244321}">
                <p14:modId xmlns:p14="http://schemas.microsoft.com/office/powerpoint/2010/main" val="3629223188"/>
              </p:ext>
            </p:extLst>
          </p:nvPr>
        </p:nvGraphicFramePr>
        <p:xfrm>
          <a:off x="317770" y="1686408"/>
          <a:ext cx="6096000" cy="3217538"/>
        </p:xfrm>
        <a:graphic>
          <a:graphicData uri="http://schemas.openxmlformats.org/drawingml/2006/chart">
            <c:chart xmlns:c="http://schemas.openxmlformats.org/drawingml/2006/chart" xmlns:r="http://schemas.openxmlformats.org/officeDocument/2006/relationships" r:id="rId3"/>
          </a:graphicData>
        </a:graphic>
      </p:graphicFrame>
      <p:cxnSp>
        <p:nvCxnSpPr>
          <p:cNvPr id="208" name="Straight Arrow Connector 207"/>
          <p:cNvCxnSpPr/>
          <p:nvPr/>
        </p:nvCxnSpPr>
        <p:spPr>
          <a:xfrm flipV="1">
            <a:off x="2132242" y="2238984"/>
            <a:ext cx="0" cy="2607474"/>
          </a:xfrm>
          <a:prstGeom prst="straightConnector1">
            <a:avLst/>
          </a:prstGeom>
          <a:ln w="38100">
            <a:headEnd type="none" w="med" len="med"/>
            <a:tailEnd type="none" w="med" len="med"/>
          </a:ln>
        </p:spPr>
        <p:style>
          <a:lnRef idx="1">
            <a:schemeClr val="accent6"/>
          </a:lnRef>
          <a:fillRef idx="0">
            <a:schemeClr val="accent6"/>
          </a:fillRef>
          <a:effectRef idx="0">
            <a:schemeClr val="accent6"/>
          </a:effectRef>
          <a:fontRef idx="minor">
            <a:schemeClr val="tx1"/>
          </a:fontRef>
        </p:style>
      </p:cxnSp>
      <p:sp>
        <p:nvSpPr>
          <p:cNvPr id="209" name="Rectangle 208"/>
          <p:cNvSpPr/>
          <p:nvPr/>
        </p:nvSpPr>
        <p:spPr>
          <a:xfrm>
            <a:off x="1854586" y="4812268"/>
            <a:ext cx="596638" cy="369332"/>
          </a:xfrm>
          <a:prstGeom prst="rect">
            <a:avLst/>
          </a:prstGeom>
        </p:spPr>
        <p:txBody>
          <a:bodyPr wrap="none">
            <a:spAutoFit/>
          </a:bodyPr>
          <a:lstStyle/>
          <a:p>
            <a:r>
              <a:rPr lang="en-GB" b="1" dirty="0">
                <a:solidFill>
                  <a:schemeClr val="accent6">
                    <a:lumMod val="75000"/>
                  </a:schemeClr>
                </a:solidFill>
              </a:rPr>
              <a:t>0.15</a:t>
            </a:r>
          </a:p>
        </p:txBody>
      </p:sp>
      <p:sp>
        <p:nvSpPr>
          <p:cNvPr id="206" name="Rounded Rectangular Callout 205"/>
          <p:cNvSpPr/>
          <p:nvPr/>
        </p:nvSpPr>
        <p:spPr>
          <a:xfrm>
            <a:off x="2753767" y="1699706"/>
            <a:ext cx="1828800" cy="579509"/>
          </a:xfrm>
          <a:prstGeom prst="wedgeRoundRectCallout">
            <a:avLst>
              <a:gd name="adj1" fmla="val -63265"/>
              <a:gd name="adj2" fmla="val 122699"/>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approx. </a:t>
            </a:r>
            <a:r>
              <a:rPr lang="en-GB" b="1" dirty="0"/>
              <a:t>normal distribution</a:t>
            </a:r>
          </a:p>
        </p:txBody>
      </p:sp>
      <p:grpSp>
        <p:nvGrpSpPr>
          <p:cNvPr id="226" name="Group 225"/>
          <p:cNvGrpSpPr/>
          <p:nvPr/>
        </p:nvGrpSpPr>
        <p:grpSpPr>
          <a:xfrm>
            <a:off x="2133600" y="2709733"/>
            <a:ext cx="3581400" cy="1252667"/>
            <a:chOff x="2133600" y="2709733"/>
            <a:chExt cx="3581400" cy="1252667"/>
          </a:xfrm>
        </p:grpSpPr>
        <p:sp>
          <p:nvSpPr>
            <p:cNvPr id="212" name="Rounded Rectangular Callout 211"/>
            <p:cNvSpPr/>
            <p:nvPr/>
          </p:nvSpPr>
          <p:spPr>
            <a:xfrm>
              <a:off x="3048000" y="2709733"/>
              <a:ext cx="2667000" cy="719267"/>
            </a:xfrm>
            <a:prstGeom prst="wedgeRoundRectCallout">
              <a:avLst>
                <a:gd name="adj1" fmla="val -72720"/>
                <a:gd name="adj2" fmla="val 69954"/>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b="1" dirty="0"/>
                <a:t>Standard deviation from population proportion</a:t>
              </a:r>
            </a:p>
          </p:txBody>
        </p:sp>
        <p:grpSp>
          <p:nvGrpSpPr>
            <p:cNvPr id="225" name="Group 224"/>
            <p:cNvGrpSpPr/>
            <p:nvPr/>
          </p:nvGrpSpPr>
          <p:grpSpPr>
            <a:xfrm>
              <a:off x="2133600" y="3514928"/>
              <a:ext cx="570688" cy="447472"/>
              <a:chOff x="2133600" y="3514928"/>
              <a:chExt cx="570688" cy="447472"/>
            </a:xfrm>
          </p:grpSpPr>
          <p:cxnSp>
            <p:nvCxnSpPr>
              <p:cNvPr id="213" name="Straight Arrow Connector 212"/>
              <p:cNvCxnSpPr/>
              <p:nvPr/>
            </p:nvCxnSpPr>
            <p:spPr>
              <a:xfrm flipV="1">
                <a:off x="2704288" y="3521271"/>
                <a:ext cx="0" cy="441129"/>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16" name="Straight Arrow Connector 215"/>
              <p:cNvCxnSpPr/>
              <p:nvPr/>
            </p:nvCxnSpPr>
            <p:spPr>
              <a:xfrm flipV="1">
                <a:off x="2133600" y="3514928"/>
                <a:ext cx="0" cy="447472"/>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18" name="Straight Arrow Connector 217"/>
              <p:cNvCxnSpPr/>
              <p:nvPr/>
            </p:nvCxnSpPr>
            <p:spPr>
              <a:xfrm>
                <a:off x="2152905" y="3733800"/>
                <a:ext cx="551383" cy="1"/>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grpSp>
      </p:grpSp>
      <p:grpSp>
        <p:nvGrpSpPr>
          <p:cNvPr id="243" name="Group 242"/>
          <p:cNvGrpSpPr/>
          <p:nvPr/>
        </p:nvGrpSpPr>
        <p:grpSpPr>
          <a:xfrm>
            <a:off x="6248400" y="152399"/>
            <a:ext cx="2743199" cy="693685"/>
            <a:chOff x="-65314" y="1093291"/>
            <a:chExt cx="6618513" cy="958268"/>
          </a:xfrm>
        </p:grpSpPr>
        <p:sp>
          <p:nvSpPr>
            <p:cNvPr id="244" name="Freeform 243"/>
            <p:cNvSpPr/>
            <p:nvPr/>
          </p:nvSpPr>
          <p:spPr>
            <a:xfrm>
              <a:off x="-65314" y="1093291"/>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t>1</a:t>
              </a:r>
            </a:p>
          </p:txBody>
        </p:sp>
        <p:sp>
          <p:nvSpPr>
            <p:cNvPr id="245" name="Freeform 244"/>
            <p:cNvSpPr/>
            <p:nvPr/>
          </p:nvSpPr>
          <p:spPr>
            <a:xfrm>
              <a:off x="1127986" y="1093293"/>
              <a:ext cx="5425213" cy="622873"/>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1" numCol="1" spcCol="1270" anchor="ctr" anchorCtr="0">
              <a:noAutofit/>
            </a:bodyPr>
            <a:lstStyle/>
            <a:p>
              <a:pPr marL="0" lvl="1" algn="l" defTabSz="755650">
                <a:lnSpc>
                  <a:spcPct val="90000"/>
                </a:lnSpc>
                <a:spcBef>
                  <a:spcPct val="0"/>
                </a:spcBef>
                <a:spcAft>
                  <a:spcPct val="15000"/>
                </a:spcAft>
              </a:pPr>
              <a:r>
                <a:rPr lang="en-GB" sz="1600" kern="1200" dirty="0"/>
                <a:t>State your null hypothesis (H</a:t>
              </a:r>
              <a:r>
                <a:rPr lang="en-GB" sz="1600" kern="1200" baseline="-25000" dirty="0"/>
                <a:t>0</a:t>
              </a:r>
              <a:r>
                <a:rPr lang="en-GB" sz="1600" kern="1200" baseline="0" dirty="0"/>
                <a:t>)</a:t>
              </a:r>
            </a:p>
          </p:txBody>
        </p:sp>
      </p:grpSp>
      <p:cxnSp>
        <p:nvCxnSpPr>
          <p:cNvPr id="248" name="Straight Arrow Connector 247"/>
          <p:cNvCxnSpPr/>
          <p:nvPr/>
        </p:nvCxnSpPr>
        <p:spPr>
          <a:xfrm flipH="1">
            <a:off x="457200" y="4755647"/>
            <a:ext cx="5791200" cy="1"/>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51" name="Rectangle 250"/>
          <p:cNvSpPr/>
          <p:nvPr/>
        </p:nvSpPr>
        <p:spPr>
          <a:xfrm>
            <a:off x="228600" y="4800600"/>
            <a:ext cx="301686" cy="369332"/>
          </a:xfrm>
          <a:prstGeom prst="rect">
            <a:avLst/>
          </a:prstGeom>
        </p:spPr>
        <p:txBody>
          <a:bodyPr wrap="none">
            <a:spAutoFit/>
          </a:bodyPr>
          <a:lstStyle/>
          <a:p>
            <a:r>
              <a:rPr lang="en-GB" b="1" dirty="0">
                <a:solidFill>
                  <a:schemeClr val="accent6">
                    <a:lumMod val="75000"/>
                  </a:schemeClr>
                </a:solidFill>
              </a:rPr>
              <a:t>0</a:t>
            </a:r>
          </a:p>
        </p:txBody>
      </p:sp>
      <p:sp>
        <p:nvSpPr>
          <p:cNvPr id="252" name="Rectangle 251"/>
          <p:cNvSpPr/>
          <p:nvPr/>
        </p:nvSpPr>
        <p:spPr>
          <a:xfrm>
            <a:off x="6099114" y="4800600"/>
            <a:ext cx="301686" cy="369332"/>
          </a:xfrm>
          <a:prstGeom prst="rect">
            <a:avLst/>
          </a:prstGeom>
        </p:spPr>
        <p:txBody>
          <a:bodyPr wrap="none">
            <a:spAutoFit/>
          </a:bodyPr>
          <a:lstStyle/>
          <a:p>
            <a:r>
              <a:rPr lang="en-GB" b="1" dirty="0">
                <a:solidFill>
                  <a:schemeClr val="accent6">
                    <a:lumMod val="75000"/>
                  </a:schemeClr>
                </a:solidFill>
              </a:rPr>
              <a:t>1</a:t>
            </a:r>
          </a:p>
        </p:txBody>
      </p:sp>
      <p:grpSp>
        <p:nvGrpSpPr>
          <p:cNvPr id="4" name="Group 3"/>
          <p:cNvGrpSpPr/>
          <p:nvPr/>
        </p:nvGrpSpPr>
        <p:grpSpPr>
          <a:xfrm>
            <a:off x="6172200" y="3962400"/>
            <a:ext cx="186070" cy="838199"/>
            <a:chOff x="6172200" y="3962400"/>
            <a:chExt cx="186070" cy="838199"/>
          </a:xfrm>
        </p:grpSpPr>
        <p:sp>
          <p:nvSpPr>
            <p:cNvPr id="222" name="Oval 221"/>
            <p:cNvSpPr/>
            <p:nvPr/>
          </p:nvSpPr>
          <p:spPr>
            <a:xfrm rot="10800000">
              <a:off x="6205707" y="3995057"/>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223" name="Oval 222"/>
            <p:cNvSpPr/>
            <p:nvPr/>
          </p:nvSpPr>
          <p:spPr>
            <a:xfrm rot="10800000">
              <a:off x="6172201" y="4038600"/>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292" name="Oval 291"/>
            <p:cNvSpPr/>
            <p:nvPr/>
          </p:nvSpPr>
          <p:spPr>
            <a:xfrm rot="10800000">
              <a:off x="6190511" y="4419600"/>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299" name="Oval 298"/>
            <p:cNvSpPr/>
            <p:nvPr/>
          </p:nvSpPr>
          <p:spPr>
            <a:xfrm rot="10800000">
              <a:off x="6190511" y="3962400"/>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300" name="Oval 299"/>
            <p:cNvSpPr/>
            <p:nvPr/>
          </p:nvSpPr>
          <p:spPr>
            <a:xfrm rot="10800000">
              <a:off x="6205708" y="4038600"/>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301" name="Oval 300"/>
            <p:cNvSpPr/>
            <p:nvPr/>
          </p:nvSpPr>
          <p:spPr>
            <a:xfrm rot="10800000">
              <a:off x="6172201" y="4147457"/>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302" name="Oval 301"/>
            <p:cNvSpPr/>
            <p:nvPr/>
          </p:nvSpPr>
          <p:spPr>
            <a:xfrm rot="10800000">
              <a:off x="6205708" y="4191000"/>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303" name="Oval 302"/>
            <p:cNvSpPr/>
            <p:nvPr/>
          </p:nvSpPr>
          <p:spPr>
            <a:xfrm rot="10800000">
              <a:off x="6205708" y="4376056"/>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307" name="Oval 306"/>
            <p:cNvSpPr/>
            <p:nvPr/>
          </p:nvSpPr>
          <p:spPr>
            <a:xfrm rot="10800000">
              <a:off x="6172200" y="4419599"/>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308" name="Oval 307"/>
            <p:cNvSpPr/>
            <p:nvPr/>
          </p:nvSpPr>
          <p:spPr>
            <a:xfrm rot="10800000">
              <a:off x="6205707" y="4463142"/>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309" name="Oval 308"/>
            <p:cNvSpPr/>
            <p:nvPr/>
          </p:nvSpPr>
          <p:spPr>
            <a:xfrm rot="10800000">
              <a:off x="6205707" y="4571999"/>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310" name="Oval 309"/>
            <p:cNvSpPr/>
            <p:nvPr/>
          </p:nvSpPr>
          <p:spPr>
            <a:xfrm rot="10800000">
              <a:off x="6172201" y="4615542"/>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311" name="Oval 310"/>
            <p:cNvSpPr/>
            <p:nvPr/>
          </p:nvSpPr>
          <p:spPr>
            <a:xfrm rot="10800000">
              <a:off x="6190510" y="4680856"/>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352" name="Oval 351"/>
            <p:cNvSpPr/>
            <p:nvPr/>
          </p:nvSpPr>
          <p:spPr>
            <a:xfrm rot="10800000">
              <a:off x="6239376" y="4082143"/>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353" name="Oval 352"/>
            <p:cNvSpPr/>
            <p:nvPr/>
          </p:nvSpPr>
          <p:spPr>
            <a:xfrm rot="10800000">
              <a:off x="6205870" y="4158343"/>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354" name="Oval 353"/>
            <p:cNvSpPr/>
            <p:nvPr/>
          </p:nvSpPr>
          <p:spPr>
            <a:xfrm rot="10800000">
              <a:off x="6224180" y="4506686"/>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355" name="Oval 354"/>
            <p:cNvSpPr/>
            <p:nvPr/>
          </p:nvSpPr>
          <p:spPr>
            <a:xfrm rot="10800000">
              <a:off x="6239377" y="4158343"/>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356" name="Oval 355"/>
            <p:cNvSpPr/>
            <p:nvPr/>
          </p:nvSpPr>
          <p:spPr>
            <a:xfrm rot="10800000">
              <a:off x="6205870" y="4234543"/>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357" name="Oval 356"/>
            <p:cNvSpPr/>
            <p:nvPr/>
          </p:nvSpPr>
          <p:spPr>
            <a:xfrm rot="10800000">
              <a:off x="6239377" y="4278086"/>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358" name="Oval 357"/>
            <p:cNvSpPr/>
            <p:nvPr/>
          </p:nvSpPr>
          <p:spPr>
            <a:xfrm rot="10800000">
              <a:off x="6239377" y="4463142"/>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359" name="Oval 358"/>
            <p:cNvSpPr/>
            <p:nvPr/>
          </p:nvSpPr>
          <p:spPr>
            <a:xfrm rot="10800000">
              <a:off x="6205869" y="4506685"/>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grpSp>
      <p:grpSp>
        <p:nvGrpSpPr>
          <p:cNvPr id="3" name="Group 2"/>
          <p:cNvGrpSpPr/>
          <p:nvPr/>
        </p:nvGrpSpPr>
        <p:grpSpPr>
          <a:xfrm>
            <a:off x="381000" y="2438400"/>
            <a:ext cx="198471" cy="2362200"/>
            <a:chOff x="381000" y="2438400"/>
            <a:chExt cx="198471" cy="2362200"/>
          </a:xfrm>
        </p:grpSpPr>
        <p:sp>
          <p:nvSpPr>
            <p:cNvPr id="314" name="Oval 313"/>
            <p:cNvSpPr/>
            <p:nvPr/>
          </p:nvSpPr>
          <p:spPr>
            <a:xfrm rot="10800000">
              <a:off x="399310" y="40603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5" name="Oval 314"/>
            <p:cNvSpPr/>
            <p:nvPr/>
          </p:nvSpPr>
          <p:spPr>
            <a:xfrm rot="10800000">
              <a:off x="414507" y="41365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6" name="Oval 315"/>
            <p:cNvSpPr/>
            <p:nvPr/>
          </p:nvSpPr>
          <p:spPr>
            <a:xfrm rot="10800000">
              <a:off x="381000" y="42127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7" name="Oval 316"/>
            <p:cNvSpPr/>
            <p:nvPr/>
          </p:nvSpPr>
          <p:spPr>
            <a:xfrm rot="10800000">
              <a:off x="414507" y="4256314"/>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0" name="Oval 319"/>
            <p:cNvSpPr/>
            <p:nvPr/>
          </p:nvSpPr>
          <p:spPr>
            <a:xfrm rot="10800000">
              <a:off x="399310" y="44740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1" name="Oval 320"/>
            <p:cNvSpPr/>
            <p:nvPr/>
          </p:nvSpPr>
          <p:spPr>
            <a:xfrm rot="10800000">
              <a:off x="414507" y="45502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2" name="Oval 321"/>
            <p:cNvSpPr/>
            <p:nvPr/>
          </p:nvSpPr>
          <p:spPr>
            <a:xfrm rot="10800000">
              <a:off x="381000" y="46264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3" name="Oval 322"/>
            <p:cNvSpPr/>
            <p:nvPr/>
          </p:nvSpPr>
          <p:spPr>
            <a:xfrm rot="10800000">
              <a:off x="414507" y="46699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4" name="Oval 323"/>
            <p:cNvSpPr/>
            <p:nvPr/>
          </p:nvSpPr>
          <p:spPr>
            <a:xfrm rot="10800000">
              <a:off x="399310" y="32221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5" name="Oval 324"/>
            <p:cNvSpPr/>
            <p:nvPr/>
          </p:nvSpPr>
          <p:spPr>
            <a:xfrm rot="10800000">
              <a:off x="414507" y="32983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6" name="Oval 325"/>
            <p:cNvSpPr/>
            <p:nvPr/>
          </p:nvSpPr>
          <p:spPr>
            <a:xfrm rot="10800000">
              <a:off x="381000" y="33745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7" name="Oval 326"/>
            <p:cNvSpPr/>
            <p:nvPr/>
          </p:nvSpPr>
          <p:spPr>
            <a:xfrm rot="10800000">
              <a:off x="414507" y="3418114"/>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8" name="Oval 327"/>
            <p:cNvSpPr/>
            <p:nvPr/>
          </p:nvSpPr>
          <p:spPr>
            <a:xfrm rot="10800000">
              <a:off x="414507" y="35269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9" name="Oval 328"/>
            <p:cNvSpPr/>
            <p:nvPr/>
          </p:nvSpPr>
          <p:spPr>
            <a:xfrm rot="10800000">
              <a:off x="381001" y="3570514"/>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0" name="Oval 329"/>
            <p:cNvSpPr/>
            <p:nvPr/>
          </p:nvSpPr>
          <p:spPr>
            <a:xfrm rot="10800000">
              <a:off x="399310" y="36358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1" name="Oval 330"/>
            <p:cNvSpPr/>
            <p:nvPr/>
          </p:nvSpPr>
          <p:spPr>
            <a:xfrm rot="10800000">
              <a:off x="414507" y="37120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2" name="Oval 331"/>
            <p:cNvSpPr/>
            <p:nvPr/>
          </p:nvSpPr>
          <p:spPr>
            <a:xfrm rot="10800000">
              <a:off x="381000" y="37882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3" name="Oval 332"/>
            <p:cNvSpPr/>
            <p:nvPr/>
          </p:nvSpPr>
          <p:spPr>
            <a:xfrm rot="10800000">
              <a:off x="414507" y="38317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5" name="Oval 334"/>
            <p:cNvSpPr/>
            <p:nvPr/>
          </p:nvSpPr>
          <p:spPr>
            <a:xfrm rot="10800000">
              <a:off x="381001" y="39841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8" name="Oval 337"/>
            <p:cNvSpPr/>
            <p:nvPr/>
          </p:nvSpPr>
          <p:spPr>
            <a:xfrm rot="10800000">
              <a:off x="381001" y="4484914"/>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9" name="Oval 338"/>
            <p:cNvSpPr/>
            <p:nvPr/>
          </p:nvSpPr>
          <p:spPr>
            <a:xfrm rot="10800000">
              <a:off x="414508" y="45284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0" name="Oval 339"/>
            <p:cNvSpPr/>
            <p:nvPr/>
          </p:nvSpPr>
          <p:spPr>
            <a:xfrm rot="10800000">
              <a:off x="414508" y="4637314"/>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1" name="Oval 340"/>
            <p:cNvSpPr/>
            <p:nvPr/>
          </p:nvSpPr>
          <p:spPr>
            <a:xfrm rot="10800000">
              <a:off x="381002" y="46808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2" name="Oval 341"/>
            <p:cNvSpPr/>
            <p:nvPr/>
          </p:nvSpPr>
          <p:spPr>
            <a:xfrm rot="10800000">
              <a:off x="399311" y="24384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3" name="Oval 342"/>
            <p:cNvSpPr/>
            <p:nvPr/>
          </p:nvSpPr>
          <p:spPr>
            <a:xfrm rot="10800000">
              <a:off x="414508" y="25146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4" name="Oval 343"/>
            <p:cNvSpPr/>
            <p:nvPr/>
          </p:nvSpPr>
          <p:spPr>
            <a:xfrm rot="10800000">
              <a:off x="381001" y="25908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5" name="Oval 344"/>
            <p:cNvSpPr/>
            <p:nvPr/>
          </p:nvSpPr>
          <p:spPr>
            <a:xfrm rot="10800000">
              <a:off x="414508" y="2634343"/>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6" name="Oval 345"/>
            <p:cNvSpPr/>
            <p:nvPr/>
          </p:nvSpPr>
          <p:spPr>
            <a:xfrm rot="10800000">
              <a:off x="414508" y="27432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7" name="Oval 346"/>
            <p:cNvSpPr/>
            <p:nvPr/>
          </p:nvSpPr>
          <p:spPr>
            <a:xfrm rot="10800000">
              <a:off x="381002" y="2786743"/>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8" name="Oval 347"/>
            <p:cNvSpPr/>
            <p:nvPr/>
          </p:nvSpPr>
          <p:spPr>
            <a:xfrm rot="10800000">
              <a:off x="399311" y="28520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9" name="Oval 348"/>
            <p:cNvSpPr/>
            <p:nvPr/>
          </p:nvSpPr>
          <p:spPr>
            <a:xfrm rot="10800000">
              <a:off x="414508" y="29282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0" name="Oval 349"/>
            <p:cNvSpPr/>
            <p:nvPr/>
          </p:nvSpPr>
          <p:spPr>
            <a:xfrm rot="10800000">
              <a:off x="381001" y="30044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1" name="Oval 350"/>
            <p:cNvSpPr/>
            <p:nvPr/>
          </p:nvSpPr>
          <p:spPr>
            <a:xfrm rot="10800000">
              <a:off x="414508" y="30480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0" name="Oval 359"/>
            <p:cNvSpPr/>
            <p:nvPr/>
          </p:nvSpPr>
          <p:spPr>
            <a:xfrm rot="10800000">
              <a:off x="445381" y="26439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1" name="Oval 360"/>
            <p:cNvSpPr/>
            <p:nvPr/>
          </p:nvSpPr>
          <p:spPr>
            <a:xfrm rot="10800000">
              <a:off x="460578" y="27201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2" name="Oval 361"/>
            <p:cNvSpPr/>
            <p:nvPr/>
          </p:nvSpPr>
          <p:spPr>
            <a:xfrm rot="10800000">
              <a:off x="427071" y="27963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3" name="Oval 362"/>
            <p:cNvSpPr/>
            <p:nvPr/>
          </p:nvSpPr>
          <p:spPr>
            <a:xfrm rot="10800000">
              <a:off x="460578" y="283990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4" name="Oval 363"/>
            <p:cNvSpPr/>
            <p:nvPr/>
          </p:nvSpPr>
          <p:spPr>
            <a:xfrm rot="10800000">
              <a:off x="460578" y="29487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5" name="Oval 364"/>
            <p:cNvSpPr/>
            <p:nvPr/>
          </p:nvSpPr>
          <p:spPr>
            <a:xfrm rot="10800000">
              <a:off x="427072" y="299230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6" name="Oval 365"/>
            <p:cNvSpPr/>
            <p:nvPr/>
          </p:nvSpPr>
          <p:spPr>
            <a:xfrm rot="10800000">
              <a:off x="445381" y="3057622"/>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7" name="Oval 366"/>
            <p:cNvSpPr/>
            <p:nvPr/>
          </p:nvSpPr>
          <p:spPr>
            <a:xfrm rot="10800000">
              <a:off x="414506" y="41910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8" name="Oval 367"/>
            <p:cNvSpPr/>
            <p:nvPr/>
          </p:nvSpPr>
          <p:spPr>
            <a:xfrm rot="10800000">
              <a:off x="381000" y="4234543"/>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9" name="Oval 368"/>
            <p:cNvSpPr/>
            <p:nvPr/>
          </p:nvSpPr>
          <p:spPr>
            <a:xfrm rot="10800000">
              <a:off x="399309" y="42998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0" name="Oval 369"/>
            <p:cNvSpPr/>
            <p:nvPr/>
          </p:nvSpPr>
          <p:spPr>
            <a:xfrm rot="10800000">
              <a:off x="460576" y="41679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1" name="Oval 370"/>
            <p:cNvSpPr/>
            <p:nvPr/>
          </p:nvSpPr>
          <p:spPr>
            <a:xfrm rot="10800000">
              <a:off x="427069" y="42441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2" name="Oval 371"/>
            <p:cNvSpPr/>
            <p:nvPr/>
          </p:nvSpPr>
          <p:spPr>
            <a:xfrm rot="10800000">
              <a:off x="460576" y="428770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5" name="Rectangle 4">
            <a:extLst>
              <a:ext uri="{FF2B5EF4-FFF2-40B4-BE49-F238E27FC236}">
                <a16:creationId xmlns:a16="http://schemas.microsoft.com/office/drawing/2014/main" id="{D3A425E5-E2F7-4CCB-BA0D-0624A38AA5FB}"/>
              </a:ext>
            </a:extLst>
          </p:cNvPr>
          <p:cNvSpPr/>
          <p:nvPr/>
        </p:nvSpPr>
        <p:spPr>
          <a:xfrm>
            <a:off x="427068" y="5686626"/>
            <a:ext cx="4572000" cy="646331"/>
          </a:xfrm>
          <a:prstGeom prst="rect">
            <a:avLst/>
          </a:prstGeom>
        </p:spPr>
        <p:txBody>
          <a:bodyPr>
            <a:spAutoFit/>
          </a:bodyPr>
          <a:lstStyle/>
          <a:p>
            <a:r>
              <a:rPr lang="en-GB" altLang="en-US" b="1" dirty="0">
                <a:solidFill>
                  <a:srgbClr val="333399"/>
                </a:solidFill>
              </a:rPr>
              <a:t>This is true in a vast majority of cases although not always.</a:t>
            </a:r>
            <a:endParaRPr lang="en-GB" dirty="0"/>
          </a:p>
        </p:txBody>
      </p:sp>
      <p:grpSp>
        <p:nvGrpSpPr>
          <p:cNvPr id="26" name="Group 25">
            <a:extLst>
              <a:ext uri="{FF2B5EF4-FFF2-40B4-BE49-F238E27FC236}">
                <a16:creationId xmlns:a16="http://schemas.microsoft.com/office/drawing/2014/main" id="{C0CF3408-A063-3BDF-9E4B-AE2105A9BA89}"/>
              </a:ext>
            </a:extLst>
          </p:cNvPr>
          <p:cNvGrpSpPr/>
          <p:nvPr/>
        </p:nvGrpSpPr>
        <p:grpSpPr>
          <a:xfrm>
            <a:off x="6248400" y="152399"/>
            <a:ext cx="2743199" cy="3124201"/>
            <a:chOff x="6248400" y="152399"/>
            <a:chExt cx="2743199" cy="3124201"/>
          </a:xfrm>
        </p:grpSpPr>
        <p:grpSp>
          <p:nvGrpSpPr>
            <p:cNvPr id="27" name="Group 26">
              <a:extLst>
                <a:ext uri="{FF2B5EF4-FFF2-40B4-BE49-F238E27FC236}">
                  <a16:creationId xmlns:a16="http://schemas.microsoft.com/office/drawing/2014/main" id="{10C537F3-13E3-AB22-4110-318B16924D30}"/>
                </a:ext>
              </a:extLst>
            </p:cNvPr>
            <p:cNvGrpSpPr/>
            <p:nvPr/>
          </p:nvGrpSpPr>
          <p:grpSpPr>
            <a:xfrm>
              <a:off x="6248400" y="152400"/>
              <a:ext cx="2743199" cy="3124200"/>
              <a:chOff x="925287" y="1143000"/>
              <a:chExt cx="6618513" cy="4315816"/>
            </a:xfrm>
            <a:solidFill>
              <a:schemeClr val="bg1">
                <a:lumMod val="95000"/>
              </a:schemeClr>
            </a:solidFill>
          </p:grpSpPr>
          <p:grpSp>
            <p:nvGrpSpPr>
              <p:cNvPr id="31" name="Group 30">
                <a:extLst>
                  <a:ext uri="{FF2B5EF4-FFF2-40B4-BE49-F238E27FC236}">
                    <a16:creationId xmlns:a16="http://schemas.microsoft.com/office/drawing/2014/main" id="{3DFA903D-4A4A-81EE-78DC-AA39A0F59E22}"/>
                  </a:ext>
                </a:extLst>
              </p:cNvPr>
              <p:cNvGrpSpPr/>
              <p:nvPr/>
            </p:nvGrpSpPr>
            <p:grpSpPr>
              <a:xfrm>
                <a:off x="925287" y="1143000"/>
                <a:ext cx="6618513" cy="958268"/>
                <a:chOff x="-65314" y="1093291"/>
                <a:chExt cx="6618513" cy="958268"/>
              </a:xfrm>
              <a:grpFill/>
            </p:grpSpPr>
            <p:sp>
              <p:nvSpPr>
                <p:cNvPr id="249" name="Freeform 32">
                  <a:extLst>
                    <a:ext uri="{FF2B5EF4-FFF2-40B4-BE49-F238E27FC236}">
                      <a16:creationId xmlns:a16="http://schemas.microsoft.com/office/drawing/2014/main" id="{94D4AA9E-57F6-28CF-6648-4BE813489C86}"/>
                    </a:ext>
                  </a:extLst>
                </p:cNvPr>
                <p:cNvSpPr/>
                <p:nvPr/>
              </p:nvSpPr>
              <p:spPr>
                <a:xfrm>
                  <a:off x="-65314" y="1093291"/>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grpFill/>
                <a:ln>
                  <a:solidFill>
                    <a:schemeClr val="bg1">
                      <a:lumMod val="95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chemeClr val="bg1">
                          <a:lumMod val="65000"/>
                        </a:schemeClr>
                      </a:solidFill>
                    </a:rPr>
                    <a:t>1</a:t>
                  </a:r>
                </a:p>
              </p:txBody>
            </p:sp>
            <p:sp>
              <p:nvSpPr>
                <p:cNvPr id="250" name="Freeform 33">
                  <a:extLst>
                    <a:ext uri="{FF2B5EF4-FFF2-40B4-BE49-F238E27FC236}">
                      <a16:creationId xmlns:a16="http://schemas.microsoft.com/office/drawing/2014/main" id="{0AC68163-FFD1-49E4-D10F-BA8CFAA5498D}"/>
                    </a:ext>
                  </a:extLst>
                </p:cNvPr>
                <p:cNvSpPr/>
                <p:nvPr/>
              </p:nvSpPr>
              <p:spPr>
                <a:xfrm>
                  <a:off x="1127986" y="1093293"/>
                  <a:ext cx="5425213" cy="622873"/>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grpFill/>
                <a:ln>
                  <a:solidFill>
                    <a:schemeClr val="bg1">
                      <a:lumMod val="95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1" numCol="1" spcCol="1270" anchor="ctr" anchorCtr="0">
                  <a:noAutofit/>
                </a:bodyPr>
                <a:lstStyle/>
                <a:p>
                  <a:pPr marL="0" lvl="1" algn="l" defTabSz="755650">
                    <a:lnSpc>
                      <a:spcPct val="90000"/>
                    </a:lnSpc>
                    <a:spcBef>
                      <a:spcPct val="0"/>
                    </a:spcBef>
                    <a:spcAft>
                      <a:spcPct val="15000"/>
                    </a:spcAft>
                  </a:pPr>
                  <a:r>
                    <a:rPr lang="en-GB" sz="1600" kern="1200" dirty="0">
                      <a:solidFill>
                        <a:schemeClr val="bg1">
                          <a:lumMod val="65000"/>
                        </a:schemeClr>
                      </a:solidFill>
                    </a:rPr>
                    <a:t>State your null hypothesis (H</a:t>
                  </a:r>
                  <a:r>
                    <a:rPr lang="en-GB" sz="1600" kern="1200" baseline="-25000" dirty="0">
                      <a:solidFill>
                        <a:schemeClr val="bg1">
                          <a:lumMod val="65000"/>
                        </a:schemeClr>
                      </a:solidFill>
                    </a:rPr>
                    <a:t>0</a:t>
                  </a:r>
                  <a:r>
                    <a:rPr lang="en-GB" sz="1600" kern="1200" baseline="0" dirty="0">
                      <a:solidFill>
                        <a:schemeClr val="bg1">
                          <a:lumMod val="65000"/>
                        </a:schemeClr>
                      </a:solidFill>
                    </a:rPr>
                    <a:t>)</a:t>
                  </a:r>
                </a:p>
              </p:txBody>
            </p:sp>
          </p:grpSp>
          <p:grpSp>
            <p:nvGrpSpPr>
              <p:cNvPr id="224" name="Group 223">
                <a:extLst>
                  <a:ext uri="{FF2B5EF4-FFF2-40B4-BE49-F238E27FC236}">
                    <a16:creationId xmlns:a16="http://schemas.microsoft.com/office/drawing/2014/main" id="{3F5EEDAB-E3AC-E065-3227-DC2AD5D5B2D6}"/>
                  </a:ext>
                </a:extLst>
              </p:cNvPr>
              <p:cNvGrpSpPr/>
              <p:nvPr/>
            </p:nvGrpSpPr>
            <p:grpSpPr>
              <a:xfrm>
                <a:off x="925287" y="1982387"/>
                <a:ext cx="6618513" cy="958268"/>
                <a:chOff x="-65314" y="1932678"/>
                <a:chExt cx="6618513" cy="958268"/>
              </a:xfrm>
              <a:grpFill/>
            </p:grpSpPr>
            <p:sp>
              <p:nvSpPr>
                <p:cNvPr id="246" name="Freeform 30">
                  <a:extLst>
                    <a:ext uri="{FF2B5EF4-FFF2-40B4-BE49-F238E27FC236}">
                      <a16:creationId xmlns:a16="http://schemas.microsoft.com/office/drawing/2014/main" id="{CE4E00CB-C573-806C-66C4-CDDDBADD411E}"/>
                    </a:ext>
                  </a:extLst>
                </p:cNvPr>
                <p:cNvSpPr/>
                <p:nvPr/>
              </p:nvSpPr>
              <p:spPr>
                <a:xfrm>
                  <a:off x="-65314" y="1932678"/>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ln/>
              </p:spPr>
              <p:style>
                <a:lnRef idx="2">
                  <a:schemeClr val="accent1"/>
                </a:lnRef>
                <a:fillRef idx="1">
                  <a:schemeClr val="lt1"/>
                </a:fillRef>
                <a:effectRef idx="0">
                  <a:schemeClr val="accent1"/>
                </a:effectRef>
                <a:fontRef idx="minor">
                  <a:schemeClr val="dk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ysClr val="windowText" lastClr="000000"/>
                      </a:solidFill>
                    </a:rPr>
                    <a:t>2</a:t>
                  </a:r>
                </a:p>
              </p:txBody>
            </p:sp>
            <p:sp>
              <p:nvSpPr>
                <p:cNvPr id="247" name="Freeform 31">
                  <a:extLst>
                    <a:ext uri="{FF2B5EF4-FFF2-40B4-BE49-F238E27FC236}">
                      <a16:creationId xmlns:a16="http://schemas.microsoft.com/office/drawing/2014/main" id="{E3F0B733-1FCD-1E97-6F4A-D0815818D8F5}"/>
                    </a:ext>
                  </a:extLst>
                </p:cNvPr>
                <p:cNvSpPr/>
                <p:nvPr/>
              </p:nvSpPr>
              <p:spPr>
                <a:xfrm>
                  <a:off x="1127986" y="1932680"/>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ln/>
              </p:spPr>
              <p:style>
                <a:lnRef idx="2">
                  <a:schemeClr val="accent1"/>
                </a:lnRef>
                <a:fillRef idx="1">
                  <a:schemeClr val="lt1"/>
                </a:fillRef>
                <a:effectRef idx="0">
                  <a:schemeClr val="accent1"/>
                </a:effectRef>
                <a:fontRef idx="minor">
                  <a:schemeClr val="dk1"/>
                </a:fontRef>
              </p:style>
              <p:txBody>
                <a:bodyPr spcFirstLastPara="0" vert="horz" wrap="square" lIns="120904" tIns="41201" rIns="41201" bIns="41202" numCol="1" spcCol="1270" anchor="ctr" anchorCtr="0">
                  <a:noAutofit/>
                </a:bodyPr>
                <a:lstStyle/>
                <a:p>
                  <a:pPr marL="0" lvl="1" defTabSz="755650">
                    <a:lnSpc>
                      <a:spcPct val="90000"/>
                    </a:lnSpc>
                    <a:spcBef>
                      <a:spcPct val="0"/>
                    </a:spcBef>
                    <a:spcAft>
                      <a:spcPct val="15000"/>
                    </a:spcAft>
                  </a:pPr>
                  <a:r>
                    <a:rPr lang="en-GB" sz="1600" b="1" dirty="0">
                      <a:solidFill>
                        <a:sysClr val="windowText" lastClr="000000"/>
                      </a:solidFill>
                    </a:rPr>
                    <a:t>Calculate test statistic </a:t>
                  </a:r>
                  <a:r>
                    <a:rPr lang="en-GB" sz="1600" dirty="0">
                      <a:solidFill>
                        <a:sysClr val="windowText" lastClr="000000"/>
                      </a:solidFill>
                    </a:rPr>
                    <a:t>from data (stat.)</a:t>
                  </a:r>
                </a:p>
              </p:txBody>
            </p:sp>
          </p:grpSp>
          <p:grpSp>
            <p:nvGrpSpPr>
              <p:cNvPr id="230" name="Group 229">
                <a:extLst>
                  <a:ext uri="{FF2B5EF4-FFF2-40B4-BE49-F238E27FC236}">
                    <a16:creationId xmlns:a16="http://schemas.microsoft.com/office/drawing/2014/main" id="{BCCCEBFD-F606-095F-8470-9B5FF64B7458}"/>
                  </a:ext>
                </a:extLst>
              </p:cNvPr>
              <p:cNvGrpSpPr/>
              <p:nvPr/>
            </p:nvGrpSpPr>
            <p:grpSpPr>
              <a:xfrm>
                <a:off x="925287" y="2821774"/>
                <a:ext cx="6618513" cy="958268"/>
                <a:chOff x="-65314" y="2772065"/>
                <a:chExt cx="6618513" cy="958268"/>
              </a:xfrm>
              <a:grpFill/>
            </p:grpSpPr>
            <p:sp>
              <p:nvSpPr>
                <p:cNvPr id="237" name="Freeform 28">
                  <a:extLst>
                    <a:ext uri="{FF2B5EF4-FFF2-40B4-BE49-F238E27FC236}">
                      <a16:creationId xmlns:a16="http://schemas.microsoft.com/office/drawing/2014/main" id="{829E5A94-9812-362E-4058-1A989F789A71}"/>
                    </a:ext>
                  </a:extLst>
                </p:cNvPr>
                <p:cNvSpPr/>
                <p:nvPr/>
              </p:nvSpPr>
              <p:spPr>
                <a:xfrm>
                  <a:off x="-65314" y="2772065"/>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grpFill/>
                <a:ln>
                  <a:solidFill>
                    <a:schemeClr val="bg1">
                      <a:lumMod val="95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chemeClr val="bg1">
                          <a:lumMod val="65000"/>
                        </a:schemeClr>
                      </a:solidFill>
                    </a:rPr>
                    <a:t>3</a:t>
                  </a:r>
                </a:p>
              </p:txBody>
            </p:sp>
            <p:sp>
              <p:nvSpPr>
                <p:cNvPr id="238" name="Freeform 29">
                  <a:extLst>
                    <a:ext uri="{FF2B5EF4-FFF2-40B4-BE49-F238E27FC236}">
                      <a16:creationId xmlns:a16="http://schemas.microsoft.com/office/drawing/2014/main" id="{F0AF081E-84C4-F4C2-0F1E-901AD86D6621}"/>
                    </a:ext>
                  </a:extLst>
                </p:cNvPr>
                <p:cNvSpPr/>
                <p:nvPr/>
              </p:nvSpPr>
              <p:spPr>
                <a:xfrm>
                  <a:off x="1127986" y="2772067"/>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grpFill/>
                <a:ln>
                  <a:solidFill>
                    <a:schemeClr val="bg1">
                      <a:lumMod val="95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defTabSz="755650">
                    <a:lnSpc>
                      <a:spcPct val="90000"/>
                    </a:lnSpc>
                    <a:spcBef>
                      <a:spcPct val="0"/>
                    </a:spcBef>
                    <a:spcAft>
                      <a:spcPct val="15000"/>
                    </a:spcAft>
                  </a:pPr>
                  <a:r>
                    <a:rPr lang="en-GB" sz="1600" b="1" dirty="0">
                      <a:solidFill>
                        <a:schemeClr val="bg1">
                          <a:lumMod val="65000"/>
                        </a:schemeClr>
                      </a:solidFill>
                    </a:rPr>
                    <a:t>Choose </a:t>
                  </a:r>
                  <a:r>
                    <a:rPr lang="en-GB" sz="1600" dirty="0">
                      <a:solidFill>
                        <a:schemeClr val="bg1">
                          <a:lumMod val="65000"/>
                        </a:schemeClr>
                      </a:solidFill>
                    </a:rPr>
                    <a:t>a level of </a:t>
                  </a:r>
                  <a:r>
                    <a:rPr lang="en-GB" sz="1600" b="1" dirty="0">
                      <a:solidFill>
                        <a:schemeClr val="bg1">
                          <a:lumMod val="65000"/>
                        </a:schemeClr>
                      </a:solidFill>
                    </a:rPr>
                    <a:t>significance</a:t>
                  </a:r>
                  <a:r>
                    <a:rPr lang="en-GB" sz="1600" dirty="0">
                      <a:solidFill>
                        <a:schemeClr val="bg1">
                          <a:lumMod val="65000"/>
                        </a:schemeClr>
                      </a:solidFill>
                    </a:rPr>
                    <a:t> (</a:t>
                  </a:r>
                  <a:r>
                    <a:rPr lang="el-GR" sz="1600" dirty="0">
                      <a:solidFill>
                        <a:schemeClr val="bg1">
                          <a:lumMod val="65000"/>
                        </a:schemeClr>
                      </a:solidFill>
                    </a:rPr>
                    <a:t>α</a:t>
                  </a:r>
                  <a:r>
                    <a:rPr lang="en-GB" sz="1600" dirty="0">
                      <a:solidFill>
                        <a:schemeClr val="bg1">
                          <a:lumMod val="65000"/>
                        </a:schemeClr>
                      </a:solidFill>
                    </a:rPr>
                    <a:t>)</a:t>
                  </a:r>
                </a:p>
              </p:txBody>
            </p:sp>
          </p:grpSp>
          <p:grpSp>
            <p:nvGrpSpPr>
              <p:cNvPr id="231" name="Group 230">
                <a:extLst>
                  <a:ext uri="{FF2B5EF4-FFF2-40B4-BE49-F238E27FC236}">
                    <a16:creationId xmlns:a16="http://schemas.microsoft.com/office/drawing/2014/main" id="{8F5F9765-29E9-0827-08A5-66E75079E18D}"/>
                  </a:ext>
                </a:extLst>
              </p:cNvPr>
              <p:cNvGrpSpPr/>
              <p:nvPr/>
            </p:nvGrpSpPr>
            <p:grpSpPr>
              <a:xfrm>
                <a:off x="925287" y="3661161"/>
                <a:ext cx="6618513" cy="958268"/>
                <a:chOff x="-65314" y="3611452"/>
                <a:chExt cx="6618513" cy="958268"/>
              </a:xfrm>
              <a:grpFill/>
            </p:grpSpPr>
            <p:sp>
              <p:nvSpPr>
                <p:cNvPr id="235" name="Freeform 26">
                  <a:extLst>
                    <a:ext uri="{FF2B5EF4-FFF2-40B4-BE49-F238E27FC236}">
                      <a16:creationId xmlns:a16="http://schemas.microsoft.com/office/drawing/2014/main" id="{6D0E1E60-B71F-238A-B232-8922C130D642}"/>
                    </a:ext>
                  </a:extLst>
                </p:cNvPr>
                <p:cNvSpPr/>
                <p:nvPr/>
              </p:nvSpPr>
              <p:spPr>
                <a:xfrm>
                  <a:off x="-65314" y="3611452"/>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grpFill/>
                <a:ln>
                  <a:solidFill>
                    <a:schemeClr val="bg1">
                      <a:lumMod val="95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baseline="0" dirty="0">
                      <a:solidFill>
                        <a:schemeClr val="bg1">
                          <a:lumMod val="65000"/>
                        </a:schemeClr>
                      </a:solidFill>
                    </a:rPr>
                    <a:t>4</a:t>
                  </a:r>
                </a:p>
              </p:txBody>
            </p:sp>
            <p:sp>
              <p:nvSpPr>
                <p:cNvPr id="236" name="Freeform 27">
                  <a:extLst>
                    <a:ext uri="{FF2B5EF4-FFF2-40B4-BE49-F238E27FC236}">
                      <a16:creationId xmlns:a16="http://schemas.microsoft.com/office/drawing/2014/main" id="{87F80951-D88A-9599-8503-C49CC7C2B8B2}"/>
                    </a:ext>
                  </a:extLst>
                </p:cNvPr>
                <p:cNvSpPr/>
                <p:nvPr/>
              </p:nvSpPr>
              <p:spPr>
                <a:xfrm>
                  <a:off x="1127986" y="3611453"/>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grpFill/>
                <a:ln>
                  <a:solidFill>
                    <a:schemeClr val="bg1">
                      <a:lumMod val="95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algn="l" defTabSz="755650">
                    <a:lnSpc>
                      <a:spcPct val="90000"/>
                    </a:lnSpc>
                    <a:spcBef>
                      <a:spcPct val="0"/>
                    </a:spcBef>
                    <a:spcAft>
                      <a:spcPct val="15000"/>
                    </a:spcAft>
                  </a:pPr>
                  <a:r>
                    <a:rPr lang="en-GB" sz="1600" b="1" kern="1200" baseline="0" dirty="0">
                      <a:solidFill>
                        <a:schemeClr val="bg1">
                          <a:lumMod val="65000"/>
                        </a:schemeClr>
                      </a:solidFill>
                    </a:rPr>
                    <a:t>Lookup </a:t>
                  </a:r>
                  <a:r>
                    <a:rPr lang="en-GB" sz="1600" kern="1200" baseline="0" dirty="0">
                      <a:solidFill>
                        <a:schemeClr val="bg1">
                          <a:lumMod val="65000"/>
                        </a:schemeClr>
                      </a:solidFill>
                    </a:rPr>
                    <a:t>the</a:t>
                  </a:r>
                  <a:r>
                    <a:rPr lang="en-GB" sz="1600" b="1" kern="1200" baseline="0" dirty="0">
                      <a:solidFill>
                        <a:schemeClr val="bg1">
                          <a:lumMod val="65000"/>
                        </a:schemeClr>
                      </a:solidFill>
                    </a:rPr>
                    <a:t> </a:t>
                  </a:r>
                  <a:r>
                    <a:rPr lang="en-GB" sz="1600" b="0" kern="1200" baseline="0" dirty="0">
                      <a:solidFill>
                        <a:schemeClr val="bg1">
                          <a:lumMod val="65000"/>
                        </a:schemeClr>
                      </a:solidFill>
                    </a:rPr>
                    <a:t>critical value or the p-value</a:t>
                  </a:r>
                  <a:endParaRPr lang="en-GB" sz="1600" kern="1200" baseline="0" dirty="0">
                    <a:solidFill>
                      <a:schemeClr val="bg1">
                        <a:lumMod val="65000"/>
                      </a:schemeClr>
                    </a:solidFill>
                  </a:endParaRPr>
                </a:p>
              </p:txBody>
            </p:sp>
          </p:grpSp>
          <p:grpSp>
            <p:nvGrpSpPr>
              <p:cNvPr id="232" name="Group 231">
                <a:extLst>
                  <a:ext uri="{FF2B5EF4-FFF2-40B4-BE49-F238E27FC236}">
                    <a16:creationId xmlns:a16="http://schemas.microsoft.com/office/drawing/2014/main" id="{1791E550-ABC4-7A48-F4E0-195E6FD2615D}"/>
                  </a:ext>
                </a:extLst>
              </p:cNvPr>
              <p:cNvGrpSpPr/>
              <p:nvPr/>
            </p:nvGrpSpPr>
            <p:grpSpPr>
              <a:xfrm>
                <a:off x="925287" y="4500548"/>
                <a:ext cx="6618513" cy="958268"/>
                <a:chOff x="-65314" y="4450839"/>
                <a:chExt cx="6618513" cy="958268"/>
              </a:xfrm>
              <a:grpFill/>
            </p:grpSpPr>
            <p:sp>
              <p:nvSpPr>
                <p:cNvPr id="233" name="Freeform 24">
                  <a:extLst>
                    <a:ext uri="{FF2B5EF4-FFF2-40B4-BE49-F238E27FC236}">
                      <a16:creationId xmlns:a16="http://schemas.microsoft.com/office/drawing/2014/main" id="{6705E94A-2417-19B8-4006-271B2DA2E2EA}"/>
                    </a:ext>
                  </a:extLst>
                </p:cNvPr>
                <p:cNvSpPr/>
                <p:nvPr/>
              </p:nvSpPr>
              <p:spPr>
                <a:xfrm>
                  <a:off x="-65314" y="4450839"/>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grpFill/>
                <a:ln>
                  <a:solidFill>
                    <a:schemeClr val="bg1">
                      <a:lumMod val="95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baseline="0" dirty="0">
                      <a:solidFill>
                        <a:schemeClr val="bg1">
                          <a:lumMod val="65000"/>
                        </a:schemeClr>
                      </a:solidFill>
                    </a:rPr>
                    <a:t>5</a:t>
                  </a:r>
                </a:p>
              </p:txBody>
            </p:sp>
            <p:sp>
              <p:nvSpPr>
                <p:cNvPr id="234" name="Freeform 25">
                  <a:extLst>
                    <a:ext uri="{FF2B5EF4-FFF2-40B4-BE49-F238E27FC236}">
                      <a16:creationId xmlns:a16="http://schemas.microsoft.com/office/drawing/2014/main" id="{AFF6E952-AAAF-C1E1-43C3-D68431E59114}"/>
                    </a:ext>
                  </a:extLst>
                </p:cNvPr>
                <p:cNvSpPr/>
                <p:nvPr/>
              </p:nvSpPr>
              <p:spPr>
                <a:xfrm>
                  <a:off x="1127986" y="4450840"/>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grpFill/>
                <a:ln>
                  <a:solidFill>
                    <a:schemeClr val="bg1">
                      <a:lumMod val="95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algn="l" defTabSz="755650">
                    <a:lnSpc>
                      <a:spcPct val="90000"/>
                    </a:lnSpc>
                    <a:spcBef>
                      <a:spcPct val="0"/>
                    </a:spcBef>
                    <a:spcAft>
                      <a:spcPct val="15000"/>
                    </a:spcAft>
                  </a:pPr>
                  <a:r>
                    <a:rPr lang="en-GB" sz="1600" b="1" kern="1200" baseline="0" dirty="0">
                      <a:solidFill>
                        <a:schemeClr val="bg1">
                          <a:lumMod val="65000"/>
                        </a:schemeClr>
                      </a:solidFill>
                    </a:rPr>
                    <a:t>Reject</a:t>
                  </a:r>
                  <a:r>
                    <a:rPr lang="en-GB" sz="1600" kern="1200" baseline="0" dirty="0">
                      <a:solidFill>
                        <a:schemeClr val="bg1">
                          <a:lumMod val="65000"/>
                        </a:schemeClr>
                      </a:solidFill>
                    </a:rPr>
                    <a:t> </a:t>
                  </a:r>
                  <a:r>
                    <a:rPr lang="en-GB" sz="1600" kern="1200" dirty="0">
                      <a:solidFill>
                        <a:schemeClr val="bg1">
                          <a:lumMod val="65000"/>
                        </a:schemeClr>
                      </a:solidFill>
                    </a:rPr>
                    <a:t>H</a:t>
                  </a:r>
                  <a:r>
                    <a:rPr lang="en-GB" sz="1600" kern="1200" baseline="-25000" dirty="0">
                      <a:solidFill>
                        <a:schemeClr val="bg1">
                          <a:lumMod val="65000"/>
                        </a:schemeClr>
                      </a:solidFill>
                    </a:rPr>
                    <a:t>0</a:t>
                  </a:r>
                  <a:r>
                    <a:rPr lang="en-GB" sz="1600" kern="1200" baseline="0" dirty="0">
                      <a:solidFill>
                        <a:schemeClr val="bg1">
                          <a:lumMod val="65000"/>
                        </a:schemeClr>
                      </a:solidFill>
                    </a:rPr>
                    <a:t> or </a:t>
                  </a:r>
                  <a:r>
                    <a:rPr lang="en-GB" sz="1600" b="1" kern="1200" baseline="0" dirty="0">
                      <a:solidFill>
                        <a:schemeClr val="bg1">
                          <a:lumMod val="65000"/>
                        </a:schemeClr>
                      </a:solidFill>
                    </a:rPr>
                    <a:t>Fail</a:t>
                  </a:r>
                  <a:r>
                    <a:rPr lang="en-GB" sz="1600" b="1" kern="1200" dirty="0">
                      <a:solidFill>
                        <a:schemeClr val="bg1">
                          <a:lumMod val="65000"/>
                        </a:schemeClr>
                      </a:solidFill>
                    </a:rPr>
                    <a:t> to </a:t>
                  </a:r>
                  <a:r>
                    <a:rPr lang="en-GB" sz="1600" kern="1200" dirty="0">
                      <a:solidFill>
                        <a:schemeClr val="bg1">
                          <a:lumMod val="65000"/>
                        </a:schemeClr>
                      </a:solidFill>
                    </a:rPr>
                    <a:t>Reject</a:t>
                  </a:r>
                  <a:r>
                    <a:rPr lang="en-GB" sz="1600" kern="1200" baseline="0" dirty="0">
                      <a:solidFill>
                        <a:schemeClr val="bg1">
                          <a:lumMod val="65000"/>
                        </a:schemeClr>
                      </a:solidFill>
                    </a:rPr>
                    <a:t> </a:t>
                  </a:r>
                </a:p>
              </p:txBody>
            </p:sp>
          </p:grpSp>
        </p:grpSp>
        <p:grpSp>
          <p:nvGrpSpPr>
            <p:cNvPr id="28" name="Group 27">
              <a:extLst>
                <a:ext uri="{FF2B5EF4-FFF2-40B4-BE49-F238E27FC236}">
                  <a16:creationId xmlns:a16="http://schemas.microsoft.com/office/drawing/2014/main" id="{C264355D-EA62-E576-5B65-A81A6A4DFD92}"/>
                </a:ext>
              </a:extLst>
            </p:cNvPr>
            <p:cNvGrpSpPr/>
            <p:nvPr/>
          </p:nvGrpSpPr>
          <p:grpSpPr>
            <a:xfrm>
              <a:off x="6248400" y="152399"/>
              <a:ext cx="2743199" cy="693685"/>
              <a:chOff x="-65314" y="1093291"/>
              <a:chExt cx="6618513" cy="958268"/>
            </a:xfrm>
          </p:grpSpPr>
          <p:sp>
            <p:nvSpPr>
              <p:cNvPr id="29" name="Freeform 3">
                <a:extLst>
                  <a:ext uri="{FF2B5EF4-FFF2-40B4-BE49-F238E27FC236}">
                    <a16:creationId xmlns:a16="http://schemas.microsoft.com/office/drawing/2014/main" id="{55242869-F05D-CD17-749B-729E68B26EA5}"/>
                  </a:ext>
                </a:extLst>
              </p:cNvPr>
              <p:cNvSpPr/>
              <p:nvPr/>
            </p:nvSpPr>
            <p:spPr>
              <a:xfrm>
                <a:off x="-65314" y="1093291"/>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p:spPr>
            <p:style>
              <a:lnRef idx="2">
                <a:schemeClr val="accent1"/>
              </a:lnRef>
              <a:fillRef idx="1">
                <a:schemeClr val="lt1"/>
              </a:fillRef>
              <a:effectRef idx="0">
                <a:schemeClr val="accent1"/>
              </a:effectRef>
              <a:fontRef idx="minor">
                <a:schemeClr val="dk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ysClr val="windowText" lastClr="000000"/>
                    </a:solidFill>
                  </a:rPr>
                  <a:t>1</a:t>
                </a:r>
              </a:p>
            </p:txBody>
          </p:sp>
          <p:sp>
            <p:nvSpPr>
              <p:cNvPr id="30" name="Freeform 4">
                <a:extLst>
                  <a:ext uri="{FF2B5EF4-FFF2-40B4-BE49-F238E27FC236}">
                    <a16:creationId xmlns:a16="http://schemas.microsoft.com/office/drawing/2014/main" id="{CC7FB55D-FF6D-DE72-2C31-3A49343B68BC}"/>
                  </a:ext>
                </a:extLst>
              </p:cNvPr>
              <p:cNvSpPr/>
              <p:nvPr/>
            </p:nvSpPr>
            <p:spPr>
              <a:xfrm>
                <a:off x="1127986" y="1093293"/>
                <a:ext cx="5425213" cy="622873"/>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p:spPr>
            <p:style>
              <a:lnRef idx="2">
                <a:schemeClr val="accent1"/>
              </a:lnRef>
              <a:fillRef idx="1">
                <a:schemeClr val="lt1"/>
              </a:fillRef>
              <a:effectRef idx="0">
                <a:schemeClr val="accent1"/>
              </a:effectRef>
              <a:fontRef idx="minor">
                <a:schemeClr val="dk1"/>
              </a:fontRef>
            </p:style>
            <p:txBody>
              <a:bodyPr spcFirstLastPara="0" vert="horz" wrap="square" lIns="120904" tIns="41201" rIns="41201" bIns="41201" numCol="1" spcCol="1270" anchor="ctr" anchorCtr="0">
                <a:noAutofit/>
              </a:bodyPr>
              <a:lstStyle/>
              <a:p>
                <a:pPr marL="0" lvl="1" algn="l" defTabSz="755650">
                  <a:lnSpc>
                    <a:spcPct val="90000"/>
                  </a:lnSpc>
                  <a:spcBef>
                    <a:spcPct val="0"/>
                  </a:spcBef>
                  <a:spcAft>
                    <a:spcPct val="15000"/>
                  </a:spcAft>
                </a:pPr>
                <a:r>
                  <a:rPr lang="en-GB" sz="1600" kern="1200" dirty="0">
                    <a:solidFill>
                      <a:sysClr val="windowText" lastClr="000000"/>
                    </a:solidFill>
                  </a:rPr>
                  <a:t>State your null hypothesis (H</a:t>
                </a:r>
                <a:r>
                  <a:rPr lang="en-GB" sz="1600" kern="1200" baseline="-25000" dirty="0">
                    <a:solidFill>
                      <a:sysClr val="windowText" lastClr="000000"/>
                    </a:solidFill>
                  </a:rPr>
                  <a:t>0</a:t>
                </a:r>
                <a:r>
                  <a:rPr lang="en-GB" sz="1600" kern="1200" baseline="0" dirty="0">
                    <a:solidFill>
                      <a:sysClr val="windowText" lastClr="000000"/>
                    </a:solidFill>
                  </a:rPr>
                  <a:t>)</a:t>
                </a:r>
              </a:p>
            </p:txBody>
          </p:sp>
        </p:grpSp>
      </p:grpSp>
    </p:spTree>
    <p:extLst>
      <p:ext uri="{BB962C8B-B14F-4D97-AF65-F5344CB8AC3E}">
        <p14:creationId xmlns:p14="http://schemas.microsoft.com/office/powerpoint/2010/main" val="3929862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7"/>
                                        </p:tgtEl>
                                        <p:attrNameLst>
                                          <p:attrName>style.visibility</p:attrName>
                                        </p:attrNameLst>
                                      </p:cBhvr>
                                      <p:to>
                                        <p:strVal val="visible"/>
                                      </p:to>
                                    </p:set>
                                    <p:animEffect transition="in" filter="fade">
                                      <p:cBhvr>
                                        <p:cTn id="7" dur="500"/>
                                        <p:tgtEl>
                                          <p:spTgt spid="20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6"/>
                                        </p:tgtEl>
                                        <p:attrNameLst>
                                          <p:attrName>style.visibility</p:attrName>
                                        </p:attrNameLst>
                                      </p:cBhvr>
                                      <p:to>
                                        <p:strVal val="visible"/>
                                      </p:to>
                                    </p:set>
                                    <p:animEffect transition="in" filter="fade">
                                      <p:cBhvr>
                                        <p:cTn id="12" dur="500"/>
                                        <p:tgtEl>
                                          <p:spTgt spid="20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6"/>
                                        </p:tgtEl>
                                        <p:attrNameLst>
                                          <p:attrName>style.visibility</p:attrName>
                                        </p:attrNameLst>
                                      </p:cBhvr>
                                      <p:to>
                                        <p:strVal val="visible"/>
                                      </p:to>
                                    </p:set>
                                    <p:animEffect transition="in" filter="fade">
                                      <p:cBhvr>
                                        <p:cTn id="17" dur="500"/>
                                        <p:tgtEl>
                                          <p:spTgt spid="2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07" grpId="0">
        <p:bldAsOne/>
      </p:bldGraphic>
      <p:bldP spid="20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7" name="Chart 206"/>
          <p:cNvGraphicFramePr/>
          <p:nvPr>
            <p:extLst>
              <p:ext uri="{D42A27DB-BD31-4B8C-83A1-F6EECF244321}">
                <p14:modId xmlns:p14="http://schemas.microsoft.com/office/powerpoint/2010/main" val="523517998"/>
              </p:ext>
            </p:extLst>
          </p:nvPr>
        </p:nvGraphicFramePr>
        <p:xfrm>
          <a:off x="317770" y="1686408"/>
          <a:ext cx="6096000" cy="3217538"/>
        </p:xfrm>
        <a:graphic>
          <a:graphicData uri="http://schemas.openxmlformats.org/drawingml/2006/chart">
            <c:chart xmlns:c="http://schemas.openxmlformats.org/drawingml/2006/chart" xmlns:r="http://schemas.openxmlformats.org/officeDocument/2006/relationships" r:id="rId3"/>
          </a:graphicData>
        </a:graphic>
      </p:graphicFrame>
      <p:grpSp>
        <p:nvGrpSpPr>
          <p:cNvPr id="252" name="Group 251"/>
          <p:cNvGrpSpPr/>
          <p:nvPr/>
        </p:nvGrpSpPr>
        <p:grpSpPr>
          <a:xfrm>
            <a:off x="2133600" y="2709733"/>
            <a:ext cx="3581400" cy="1252667"/>
            <a:chOff x="2133600" y="2709733"/>
            <a:chExt cx="3581400" cy="1252667"/>
          </a:xfrm>
        </p:grpSpPr>
        <p:sp>
          <p:nvSpPr>
            <p:cNvPr id="253" name="Rounded Rectangular Callout 252"/>
            <p:cNvSpPr/>
            <p:nvPr/>
          </p:nvSpPr>
          <p:spPr>
            <a:xfrm>
              <a:off x="3048000" y="2709733"/>
              <a:ext cx="2667000" cy="719267"/>
            </a:xfrm>
            <a:prstGeom prst="wedgeRoundRectCallout">
              <a:avLst>
                <a:gd name="adj1" fmla="val -72720"/>
                <a:gd name="adj2" fmla="val 69954"/>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b="1" dirty="0"/>
                <a:t>Standard deviation from population proportion</a:t>
              </a:r>
            </a:p>
          </p:txBody>
        </p:sp>
        <p:grpSp>
          <p:nvGrpSpPr>
            <p:cNvPr id="254" name="Group 253"/>
            <p:cNvGrpSpPr/>
            <p:nvPr/>
          </p:nvGrpSpPr>
          <p:grpSpPr>
            <a:xfrm>
              <a:off x="2133600" y="3514928"/>
              <a:ext cx="570688" cy="447472"/>
              <a:chOff x="2133600" y="3514928"/>
              <a:chExt cx="570688" cy="447472"/>
            </a:xfrm>
          </p:grpSpPr>
          <p:cxnSp>
            <p:nvCxnSpPr>
              <p:cNvPr id="255" name="Straight Arrow Connector 254"/>
              <p:cNvCxnSpPr/>
              <p:nvPr/>
            </p:nvCxnSpPr>
            <p:spPr>
              <a:xfrm flipV="1">
                <a:off x="2704288" y="3521271"/>
                <a:ext cx="0" cy="441129"/>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6" name="Straight Arrow Connector 255"/>
              <p:cNvCxnSpPr/>
              <p:nvPr/>
            </p:nvCxnSpPr>
            <p:spPr>
              <a:xfrm flipV="1">
                <a:off x="2133600" y="3514928"/>
                <a:ext cx="0" cy="447472"/>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7" name="Straight Arrow Connector 256"/>
              <p:cNvCxnSpPr/>
              <p:nvPr/>
            </p:nvCxnSpPr>
            <p:spPr>
              <a:xfrm>
                <a:off x="2152905" y="3733800"/>
                <a:ext cx="551383" cy="1"/>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grpSp>
      </p:grpSp>
      <p:sp>
        <p:nvSpPr>
          <p:cNvPr id="2" name="Title 1"/>
          <p:cNvSpPr>
            <a:spLocks noGrp="1"/>
          </p:cNvSpPr>
          <p:nvPr>
            <p:ph type="title"/>
          </p:nvPr>
        </p:nvSpPr>
        <p:spPr/>
        <p:txBody>
          <a:bodyPr/>
          <a:lstStyle/>
          <a:p>
            <a:r>
              <a:rPr lang="en-GB" altLang="en-US" dirty="0"/>
              <a:t>Z Test for Proportion</a:t>
            </a:r>
            <a:endParaRPr lang="en-GB" dirty="0"/>
          </a:p>
        </p:txBody>
      </p:sp>
      <p:cxnSp>
        <p:nvCxnSpPr>
          <p:cNvPr id="208" name="Straight Arrow Connector 207"/>
          <p:cNvCxnSpPr/>
          <p:nvPr/>
        </p:nvCxnSpPr>
        <p:spPr>
          <a:xfrm flipV="1">
            <a:off x="2132242" y="2238984"/>
            <a:ext cx="0" cy="2607474"/>
          </a:xfrm>
          <a:prstGeom prst="straightConnector1">
            <a:avLst/>
          </a:prstGeom>
          <a:ln w="38100">
            <a:headEnd type="none" w="med" len="med"/>
            <a:tailEnd type="none" w="med" len="med"/>
          </a:ln>
        </p:spPr>
        <p:style>
          <a:lnRef idx="1">
            <a:schemeClr val="accent6"/>
          </a:lnRef>
          <a:fillRef idx="0">
            <a:schemeClr val="accent6"/>
          </a:fillRef>
          <a:effectRef idx="0">
            <a:schemeClr val="accent6"/>
          </a:effectRef>
          <a:fontRef idx="minor">
            <a:schemeClr val="tx1"/>
          </a:fontRef>
        </p:style>
      </p:cxnSp>
      <p:sp>
        <p:nvSpPr>
          <p:cNvPr id="4" name="Rectangle 3"/>
          <p:cNvSpPr/>
          <p:nvPr/>
        </p:nvSpPr>
        <p:spPr>
          <a:xfrm>
            <a:off x="3048000" y="2667000"/>
            <a:ext cx="2321612" cy="1015663"/>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n-GB" sz="2000" dirty="0"/>
              <a:t>Standard error of the proportion (</a:t>
            </a:r>
            <a:r>
              <a:rPr lang="en-GB" sz="2000" b="1" dirty="0"/>
              <a:t>STEP</a:t>
            </a:r>
            <a:r>
              <a:rPr lang="en-GB" sz="2000" dirty="0"/>
              <a:t>)</a:t>
            </a:r>
          </a:p>
        </p:txBody>
      </p:sp>
      <mc:AlternateContent xmlns:mc="http://schemas.openxmlformats.org/markup-compatibility/2006" xmlns:a14="http://schemas.microsoft.com/office/drawing/2010/main">
        <mc:Choice Requires="a14">
          <p:sp>
            <p:nvSpPr>
              <p:cNvPr id="3" name="Rectangle 2"/>
              <p:cNvSpPr/>
              <p:nvPr/>
            </p:nvSpPr>
            <p:spPr>
              <a:xfrm>
                <a:off x="3048000" y="3657600"/>
                <a:ext cx="2321612" cy="10668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GB" sz="2000" i="1" smtClean="0">
                              <a:latin typeface="Cambria Math" panose="02040503050406030204" pitchFamily="18" charset="0"/>
                              <a:ea typeface="Cambria Math"/>
                            </a:rPr>
                          </m:ctrlPr>
                        </m:sSubPr>
                        <m:e>
                          <m:r>
                            <a:rPr lang="en-GB" sz="2000" i="1" smtClean="0">
                              <a:latin typeface="Cambria Math"/>
                              <a:ea typeface="Cambria Math"/>
                            </a:rPr>
                            <m:t>𝜎</m:t>
                          </m:r>
                        </m:e>
                        <m:sub>
                          <m:r>
                            <a:rPr lang="en-GB" sz="2000" b="0" i="1" smtClean="0">
                              <a:latin typeface="Cambria Math"/>
                              <a:ea typeface="Cambria Math"/>
                            </a:rPr>
                            <m:t>𝑝</m:t>
                          </m:r>
                        </m:sub>
                      </m:sSub>
                      <m:r>
                        <a:rPr lang="en-GB" sz="2000" b="0" i="1" smtClean="0">
                          <a:latin typeface="Cambria Math"/>
                          <a:ea typeface="Cambria Math"/>
                        </a:rPr>
                        <m:t>=</m:t>
                      </m:r>
                      <m:rad>
                        <m:radPr>
                          <m:degHide m:val="on"/>
                          <m:ctrlPr>
                            <a:rPr lang="en-GB" sz="2000" b="0" i="1" smtClean="0">
                              <a:latin typeface="Cambria Math" panose="02040503050406030204" pitchFamily="18" charset="0"/>
                              <a:ea typeface="Cambria Math"/>
                            </a:rPr>
                          </m:ctrlPr>
                        </m:radPr>
                        <m:deg/>
                        <m:e>
                          <m:f>
                            <m:fPr>
                              <m:ctrlPr>
                                <a:rPr lang="en-GB" sz="2000" b="0" i="1" smtClean="0">
                                  <a:latin typeface="Cambria Math" panose="02040503050406030204" pitchFamily="18" charset="0"/>
                                  <a:ea typeface="Cambria Math"/>
                                </a:rPr>
                              </m:ctrlPr>
                            </m:fPr>
                            <m:num>
                              <m:r>
                                <a:rPr lang="en-GB" sz="2000" i="1">
                                  <a:latin typeface="Cambria Math"/>
                                  <a:ea typeface="Cambria Math"/>
                                </a:rPr>
                                <m:t>𝜋</m:t>
                              </m:r>
                              <m:d>
                                <m:dPr>
                                  <m:ctrlPr>
                                    <a:rPr lang="en-GB" sz="2000" i="1">
                                      <a:latin typeface="Cambria Math" panose="02040503050406030204" pitchFamily="18" charset="0"/>
                                      <a:ea typeface="Cambria Math"/>
                                    </a:rPr>
                                  </m:ctrlPr>
                                </m:dPr>
                                <m:e>
                                  <m:r>
                                    <a:rPr lang="en-GB" sz="2000" i="1">
                                      <a:latin typeface="Cambria Math"/>
                                      <a:ea typeface="Cambria Math"/>
                                    </a:rPr>
                                    <m:t>1−</m:t>
                                  </m:r>
                                  <m:r>
                                    <a:rPr lang="en-GB" sz="2000" i="1">
                                      <a:latin typeface="Cambria Math"/>
                                      <a:ea typeface="Cambria Math"/>
                                    </a:rPr>
                                    <m:t>𝜋</m:t>
                                  </m:r>
                                </m:e>
                              </m:d>
                            </m:num>
                            <m:den>
                              <m:r>
                                <a:rPr lang="en-GB" sz="2000" b="0" i="1" smtClean="0">
                                  <a:latin typeface="Cambria Math"/>
                                  <a:ea typeface="Cambria Math"/>
                                </a:rPr>
                                <m:t>𝑛</m:t>
                              </m:r>
                            </m:den>
                          </m:f>
                        </m:e>
                      </m:rad>
                    </m:oMath>
                  </m:oMathPara>
                </a14:m>
                <a:endParaRPr lang="en-GB" sz="2000" dirty="0"/>
              </a:p>
            </p:txBody>
          </p:sp>
        </mc:Choice>
        <mc:Fallback xmlns="">
          <p:sp>
            <p:nvSpPr>
              <p:cNvPr id="3" name="Rectangle 2"/>
              <p:cNvSpPr>
                <a:spLocks noRot="1" noChangeAspect="1" noMove="1" noResize="1" noEditPoints="1" noAdjustHandles="1" noChangeArrowheads="1" noChangeShapeType="1" noTextEdit="1"/>
              </p:cNvSpPr>
              <p:nvPr/>
            </p:nvSpPr>
            <p:spPr>
              <a:xfrm>
                <a:off x="3048000" y="3657600"/>
                <a:ext cx="2321612" cy="1066800"/>
              </a:xfrm>
              <a:prstGeom prst="rect">
                <a:avLst/>
              </a:prstGeom>
              <a:blipFill rotWithShape="1">
                <a:blip r:embed="rId4"/>
                <a:stretch>
                  <a:fillRect/>
                </a:stretch>
              </a:blipFill>
            </p:spPr>
            <p:txBody>
              <a:bodyPr/>
              <a:lstStyle/>
              <a:p>
                <a:r>
                  <a:rPr lang="en-GB">
                    <a:noFill/>
                  </a:rPr>
                  <a:t> </a:t>
                </a:r>
              </a:p>
            </p:txBody>
          </p:sp>
        </mc:Fallback>
      </mc:AlternateContent>
      <p:grpSp>
        <p:nvGrpSpPr>
          <p:cNvPr id="229" name="Group 228"/>
          <p:cNvGrpSpPr/>
          <p:nvPr/>
        </p:nvGrpSpPr>
        <p:grpSpPr>
          <a:xfrm>
            <a:off x="6248400" y="152400"/>
            <a:ext cx="2743199" cy="3124200"/>
            <a:chOff x="925287" y="1143000"/>
            <a:chExt cx="6618513" cy="4315816"/>
          </a:xfrm>
          <a:solidFill>
            <a:schemeClr val="bg1">
              <a:lumMod val="95000"/>
            </a:schemeClr>
          </a:solidFill>
        </p:grpSpPr>
        <p:grpSp>
          <p:nvGrpSpPr>
            <p:cNvPr id="230" name="Group 229"/>
            <p:cNvGrpSpPr/>
            <p:nvPr/>
          </p:nvGrpSpPr>
          <p:grpSpPr>
            <a:xfrm>
              <a:off x="925287" y="1143000"/>
              <a:ext cx="6618513" cy="958268"/>
              <a:chOff x="-65314" y="1093291"/>
              <a:chExt cx="6618513" cy="958268"/>
            </a:xfrm>
            <a:grpFill/>
          </p:grpSpPr>
          <p:sp>
            <p:nvSpPr>
              <p:cNvPr id="243" name="Freeform 242"/>
              <p:cNvSpPr/>
              <p:nvPr/>
            </p:nvSpPr>
            <p:spPr>
              <a:xfrm>
                <a:off x="-65314" y="1093291"/>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grpFill/>
              <a:ln>
                <a:solidFill>
                  <a:schemeClr val="bg1">
                    <a:lumMod val="95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chemeClr val="bg1">
                        <a:lumMod val="65000"/>
                      </a:schemeClr>
                    </a:solidFill>
                  </a:rPr>
                  <a:t>1</a:t>
                </a:r>
              </a:p>
            </p:txBody>
          </p:sp>
          <p:sp>
            <p:nvSpPr>
              <p:cNvPr id="244" name="Freeform 243"/>
              <p:cNvSpPr/>
              <p:nvPr/>
            </p:nvSpPr>
            <p:spPr>
              <a:xfrm>
                <a:off x="1127986" y="1093293"/>
                <a:ext cx="5425213" cy="622873"/>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grpFill/>
              <a:ln>
                <a:solidFill>
                  <a:schemeClr val="bg1">
                    <a:lumMod val="95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1" numCol="1" spcCol="1270" anchor="ctr" anchorCtr="0">
                <a:noAutofit/>
              </a:bodyPr>
              <a:lstStyle/>
              <a:p>
                <a:pPr marL="0" lvl="1" algn="l" defTabSz="755650">
                  <a:lnSpc>
                    <a:spcPct val="90000"/>
                  </a:lnSpc>
                  <a:spcBef>
                    <a:spcPct val="0"/>
                  </a:spcBef>
                  <a:spcAft>
                    <a:spcPct val="15000"/>
                  </a:spcAft>
                </a:pPr>
                <a:r>
                  <a:rPr lang="en-GB" sz="1600" kern="1200" dirty="0">
                    <a:solidFill>
                      <a:schemeClr val="bg1">
                        <a:lumMod val="65000"/>
                      </a:schemeClr>
                    </a:solidFill>
                  </a:rPr>
                  <a:t>State your null hypothesis (H</a:t>
                </a:r>
                <a:r>
                  <a:rPr lang="en-GB" sz="1600" kern="1200" baseline="-25000" dirty="0">
                    <a:solidFill>
                      <a:schemeClr val="bg1">
                        <a:lumMod val="65000"/>
                      </a:schemeClr>
                    </a:solidFill>
                  </a:rPr>
                  <a:t>0</a:t>
                </a:r>
                <a:r>
                  <a:rPr lang="en-GB" sz="1600" kern="1200" baseline="0" dirty="0">
                    <a:solidFill>
                      <a:schemeClr val="bg1">
                        <a:lumMod val="65000"/>
                      </a:schemeClr>
                    </a:solidFill>
                  </a:rPr>
                  <a:t>)</a:t>
                </a:r>
              </a:p>
            </p:txBody>
          </p:sp>
        </p:grpSp>
        <p:grpSp>
          <p:nvGrpSpPr>
            <p:cNvPr id="231" name="Group 230"/>
            <p:cNvGrpSpPr/>
            <p:nvPr/>
          </p:nvGrpSpPr>
          <p:grpSpPr>
            <a:xfrm>
              <a:off x="925287" y="1982387"/>
              <a:ext cx="6618513" cy="958268"/>
              <a:chOff x="-65314" y="1932678"/>
              <a:chExt cx="6618513" cy="958268"/>
            </a:xfrm>
            <a:grpFill/>
          </p:grpSpPr>
          <p:sp>
            <p:nvSpPr>
              <p:cNvPr id="241" name="Freeform 240"/>
              <p:cNvSpPr/>
              <p:nvPr/>
            </p:nvSpPr>
            <p:spPr>
              <a:xfrm>
                <a:off x="-65314" y="1932678"/>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solidFill>
                <a:schemeClr val="accent1"/>
              </a:solidFill>
              <a:ln>
                <a:solidFill>
                  <a:schemeClr val="accent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chemeClr val="bg1"/>
                    </a:solidFill>
                  </a:rPr>
                  <a:t>2</a:t>
                </a:r>
              </a:p>
            </p:txBody>
          </p:sp>
          <p:sp>
            <p:nvSpPr>
              <p:cNvPr id="242" name="Freeform 241"/>
              <p:cNvSpPr/>
              <p:nvPr/>
            </p:nvSpPr>
            <p:spPr>
              <a:xfrm>
                <a:off x="1127986" y="1932680"/>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solidFill>
                <a:schemeClr val="bg1"/>
              </a:solidFill>
              <a:ln>
                <a:solidFill>
                  <a:schemeClr val="accent1"/>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defTabSz="755650">
                  <a:lnSpc>
                    <a:spcPct val="90000"/>
                  </a:lnSpc>
                  <a:spcBef>
                    <a:spcPct val="0"/>
                  </a:spcBef>
                  <a:spcAft>
                    <a:spcPct val="15000"/>
                  </a:spcAft>
                </a:pPr>
                <a:r>
                  <a:rPr lang="en-GB" sz="1600" b="1" dirty="0">
                    <a:solidFill>
                      <a:schemeClr val="tx1"/>
                    </a:solidFill>
                  </a:rPr>
                  <a:t>Calculate test statistic </a:t>
                </a:r>
                <a:r>
                  <a:rPr lang="en-GB" sz="1600" dirty="0">
                    <a:solidFill>
                      <a:schemeClr val="tx1"/>
                    </a:solidFill>
                  </a:rPr>
                  <a:t>from data (stat.)</a:t>
                </a:r>
              </a:p>
            </p:txBody>
          </p:sp>
        </p:grpSp>
        <p:grpSp>
          <p:nvGrpSpPr>
            <p:cNvPr id="232" name="Group 231"/>
            <p:cNvGrpSpPr/>
            <p:nvPr/>
          </p:nvGrpSpPr>
          <p:grpSpPr>
            <a:xfrm>
              <a:off x="925287" y="2821774"/>
              <a:ext cx="6618513" cy="958268"/>
              <a:chOff x="-65314" y="2772065"/>
              <a:chExt cx="6618513" cy="958268"/>
            </a:xfrm>
            <a:grpFill/>
          </p:grpSpPr>
          <p:sp>
            <p:nvSpPr>
              <p:cNvPr id="239" name="Freeform 238"/>
              <p:cNvSpPr/>
              <p:nvPr/>
            </p:nvSpPr>
            <p:spPr>
              <a:xfrm>
                <a:off x="-65314" y="2772065"/>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grpFill/>
              <a:ln>
                <a:solidFill>
                  <a:schemeClr val="bg1">
                    <a:lumMod val="95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chemeClr val="bg1">
                        <a:lumMod val="65000"/>
                      </a:schemeClr>
                    </a:solidFill>
                  </a:rPr>
                  <a:t>3</a:t>
                </a:r>
              </a:p>
            </p:txBody>
          </p:sp>
          <p:sp>
            <p:nvSpPr>
              <p:cNvPr id="240" name="Freeform 239"/>
              <p:cNvSpPr/>
              <p:nvPr/>
            </p:nvSpPr>
            <p:spPr>
              <a:xfrm>
                <a:off x="1127986" y="2772067"/>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grpFill/>
              <a:ln>
                <a:solidFill>
                  <a:schemeClr val="bg1">
                    <a:lumMod val="95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defTabSz="755650">
                  <a:lnSpc>
                    <a:spcPct val="90000"/>
                  </a:lnSpc>
                  <a:spcBef>
                    <a:spcPct val="0"/>
                  </a:spcBef>
                  <a:spcAft>
                    <a:spcPct val="15000"/>
                  </a:spcAft>
                </a:pPr>
                <a:r>
                  <a:rPr lang="en-GB" sz="1600" b="1" dirty="0">
                    <a:solidFill>
                      <a:schemeClr val="bg1">
                        <a:lumMod val="65000"/>
                      </a:schemeClr>
                    </a:solidFill>
                  </a:rPr>
                  <a:t>Choose </a:t>
                </a:r>
                <a:r>
                  <a:rPr lang="en-GB" sz="1600" dirty="0">
                    <a:solidFill>
                      <a:schemeClr val="bg1">
                        <a:lumMod val="65000"/>
                      </a:schemeClr>
                    </a:solidFill>
                  </a:rPr>
                  <a:t>a level of </a:t>
                </a:r>
                <a:r>
                  <a:rPr lang="en-GB" sz="1600" b="1" dirty="0">
                    <a:solidFill>
                      <a:schemeClr val="bg1">
                        <a:lumMod val="65000"/>
                      </a:schemeClr>
                    </a:solidFill>
                  </a:rPr>
                  <a:t>significance</a:t>
                </a:r>
                <a:r>
                  <a:rPr lang="en-GB" sz="1600" dirty="0">
                    <a:solidFill>
                      <a:schemeClr val="bg1">
                        <a:lumMod val="65000"/>
                      </a:schemeClr>
                    </a:solidFill>
                  </a:rPr>
                  <a:t> (</a:t>
                </a:r>
                <a:r>
                  <a:rPr lang="el-GR" sz="1600" dirty="0">
                    <a:solidFill>
                      <a:schemeClr val="bg1">
                        <a:lumMod val="65000"/>
                      </a:schemeClr>
                    </a:solidFill>
                  </a:rPr>
                  <a:t>α</a:t>
                </a:r>
                <a:r>
                  <a:rPr lang="en-GB" sz="1600" dirty="0">
                    <a:solidFill>
                      <a:schemeClr val="bg1">
                        <a:lumMod val="65000"/>
                      </a:schemeClr>
                    </a:solidFill>
                  </a:rPr>
                  <a:t>)</a:t>
                </a:r>
              </a:p>
            </p:txBody>
          </p:sp>
        </p:grpSp>
        <p:grpSp>
          <p:nvGrpSpPr>
            <p:cNvPr id="233" name="Group 232"/>
            <p:cNvGrpSpPr/>
            <p:nvPr/>
          </p:nvGrpSpPr>
          <p:grpSpPr>
            <a:xfrm>
              <a:off x="925287" y="3661161"/>
              <a:ext cx="6618513" cy="958268"/>
              <a:chOff x="-65314" y="3611452"/>
              <a:chExt cx="6618513" cy="958268"/>
            </a:xfrm>
            <a:grpFill/>
          </p:grpSpPr>
          <p:sp>
            <p:nvSpPr>
              <p:cNvPr id="237" name="Freeform 236"/>
              <p:cNvSpPr/>
              <p:nvPr/>
            </p:nvSpPr>
            <p:spPr>
              <a:xfrm>
                <a:off x="-65314" y="3611452"/>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grpFill/>
              <a:ln>
                <a:solidFill>
                  <a:schemeClr val="bg1">
                    <a:lumMod val="95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baseline="0" dirty="0">
                    <a:solidFill>
                      <a:schemeClr val="bg1">
                        <a:lumMod val="65000"/>
                      </a:schemeClr>
                    </a:solidFill>
                  </a:rPr>
                  <a:t>4</a:t>
                </a:r>
              </a:p>
            </p:txBody>
          </p:sp>
          <p:sp>
            <p:nvSpPr>
              <p:cNvPr id="238" name="Freeform 237"/>
              <p:cNvSpPr/>
              <p:nvPr/>
            </p:nvSpPr>
            <p:spPr>
              <a:xfrm>
                <a:off x="1127986" y="3611453"/>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grpFill/>
              <a:ln>
                <a:solidFill>
                  <a:schemeClr val="bg1">
                    <a:lumMod val="95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algn="l" defTabSz="755650">
                  <a:lnSpc>
                    <a:spcPct val="90000"/>
                  </a:lnSpc>
                  <a:spcBef>
                    <a:spcPct val="0"/>
                  </a:spcBef>
                  <a:spcAft>
                    <a:spcPct val="15000"/>
                  </a:spcAft>
                </a:pPr>
                <a:r>
                  <a:rPr lang="en-GB" sz="1600" b="1" kern="1200" baseline="0" dirty="0">
                    <a:solidFill>
                      <a:schemeClr val="bg1">
                        <a:lumMod val="65000"/>
                      </a:schemeClr>
                    </a:solidFill>
                  </a:rPr>
                  <a:t>Lookup </a:t>
                </a:r>
                <a:r>
                  <a:rPr lang="en-GB" sz="1600" kern="1200" baseline="0" dirty="0">
                    <a:solidFill>
                      <a:schemeClr val="bg1">
                        <a:lumMod val="65000"/>
                      </a:schemeClr>
                    </a:solidFill>
                  </a:rPr>
                  <a:t>the</a:t>
                </a:r>
                <a:r>
                  <a:rPr lang="en-GB" sz="1600" b="1" kern="1200" baseline="0" dirty="0">
                    <a:solidFill>
                      <a:schemeClr val="bg1">
                        <a:lumMod val="65000"/>
                      </a:schemeClr>
                    </a:solidFill>
                  </a:rPr>
                  <a:t> </a:t>
                </a:r>
                <a:r>
                  <a:rPr lang="en-GB" sz="1600" b="0" kern="1200" baseline="0" dirty="0">
                    <a:solidFill>
                      <a:schemeClr val="bg1">
                        <a:lumMod val="65000"/>
                      </a:schemeClr>
                    </a:solidFill>
                  </a:rPr>
                  <a:t>critical value or the p-value</a:t>
                </a:r>
                <a:endParaRPr lang="en-GB" sz="1600" kern="1200" baseline="0" dirty="0">
                  <a:solidFill>
                    <a:schemeClr val="bg1">
                      <a:lumMod val="65000"/>
                    </a:schemeClr>
                  </a:solidFill>
                </a:endParaRPr>
              </a:p>
            </p:txBody>
          </p:sp>
        </p:grpSp>
        <p:grpSp>
          <p:nvGrpSpPr>
            <p:cNvPr id="234" name="Group 233"/>
            <p:cNvGrpSpPr/>
            <p:nvPr/>
          </p:nvGrpSpPr>
          <p:grpSpPr>
            <a:xfrm>
              <a:off x="925287" y="4500548"/>
              <a:ext cx="6618513" cy="958268"/>
              <a:chOff x="-65314" y="4450839"/>
              <a:chExt cx="6618513" cy="958268"/>
            </a:xfrm>
            <a:grpFill/>
          </p:grpSpPr>
          <p:sp>
            <p:nvSpPr>
              <p:cNvPr id="235" name="Freeform 234"/>
              <p:cNvSpPr/>
              <p:nvPr/>
            </p:nvSpPr>
            <p:spPr>
              <a:xfrm>
                <a:off x="-65314" y="4450839"/>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grpFill/>
              <a:ln>
                <a:solidFill>
                  <a:schemeClr val="bg1">
                    <a:lumMod val="95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baseline="0" dirty="0">
                    <a:solidFill>
                      <a:schemeClr val="bg1">
                        <a:lumMod val="65000"/>
                      </a:schemeClr>
                    </a:solidFill>
                  </a:rPr>
                  <a:t>5</a:t>
                </a:r>
              </a:p>
            </p:txBody>
          </p:sp>
          <p:sp>
            <p:nvSpPr>
              <p:cNvPr id="236" name="Freeform 235"/>
              <p:cNvSpPr/>
              <p:nvPr/>
            </p:nvSpPr>
            <p:spPr>
              <a:xfrm>
                <a:off x="1127986" y="4450840"/>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grpFill/>
              <a:ln>
                <a:solidFill>
                  <a:schemeClr val="bg1">
                    <a:lumMod val="95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algn="l" defTabSz="755650">
                  <a:lnSpc>
                    <a:spcPct val="90000"/>
                  </a:lnSpc>
                  <a:spcBef>
                    <a:spcPct val="0"/>
                  </a:spcBef>
                  <a:spcAft>
                    <a:spcPct val="15000"/>
                  </a:spcAft>
                </a:pPr>
                <a:r>
                  <a:rPr lang="en-GB" sz="1600" b="1" kern="1200" baseline="0" dirty="0">
                    <a:solidFill>
                      <a:schemeClr val="bg1">
                        <a:lumMod val="65000"/>
                      </a:schemeClr>
                    </a:solidFill>
                  </a:rPr>
                  <a:t>Reject</a:t>
                </a:r>
                <a:r>
                  <a:rPr lang="en-GB" sz="1600" kern="1200" baseline="0" dirty="0">
                    <a:solidFill>
                      <a:schemeClr val="bg1">
                        <a:lumMod val="65000"/>
                      </a:schemeClr>
                    </a:solidFill>
                  </a:rPr>
                  <a:t> </a:t>
                </a:r>
                <a:r>
                  <a:rPr lang="en-GB" sz="1600" kern="1200" dirty="0">
                    <a:solidFill>
                      <a:schemeClr val="bg1">
                        <a:lumMod val="65000"/>
                      </a:schemeClr>
                    </a:solidFill>
                  </a:rPr>
                  <a:t>H</a:t>
                </a:r>
                <a:r>
                  <a:rPr lang="en-GB" sz="1600" kern="1200" baseline="-25000" dirty="0">
                    <a:solidFill>
                      <a:schemeClr val="bg1">
                        <a:lumMod val="65000"/>
                      </a:schemeClr>
                    </a:solidFill>
                  </a:rPr>
                  <a:t>0</a:t>
                </a:r>
                <a:r>
                  <a:rPr lang="en-GB" sz="1600" kern="1200" baseline="0" dirty="0">
                    <a:solidFill>
                      <a:schemeClr val="bg1">
                        <a:lumMod val="65000"/>
                      </a:schemeClr>
                    </a:solidFill>
                  </a:rPr>
                  <a:t> or </a:t>
                </a:r>
                <a:r>
                  <a:rPr lang="en-GB" sz="1600" b="1" kern="1200" baseline="0" dirty="0">
                    <a:solidFill>
                      <a:schemeClr val="bg1">
                        <a:lumMod val="65000"/>
                      </a:schemeClr>
                    </a:solidFill>
                  </a:rPr>
                  <a:t>Fail</a:t>
                </a:r>
                <a:r>
                  <a:rPr lang="en-GB" sz="1600" b="1" kern="1200" dirty="0">
                    <a:solidFill>
                      <a:schemeClr val="bg1">
                        <a:lumMod val="65000"/>
                      </a:schemeClr>
                    </a:solidFill>
                  </a:rPr>
                  <a:t> to </a:t>
                </a:r>
                <a:r>
                  <a:rPr lang="en-GB" sz="1600" kern="1200" dirty="0">
                    <a:solidFill>
                      <a:schemeClr val="bg1">
                        <a:lumMod val="65000"/>
                      </a:schemeClr>
                    </a:solidFill>
                  </a:rPr>
                  <a:t>Reject</a:t>
                </a:r>
                <a:r>
                  <a:rPr lang="en-GB" sz="1600" kern="1200" baseline="0" dirty="0">
                    <a:solidFill>
                      <a:schemeClr val="bg1">
                        <a:lumMod val="65000"/>
                      </a:schemeClr>
                    </a:solidFill>
                  </a:rPr>
                  <a:t> </a:t>
                </a:r>
              </a:p>
            </p:txBody>
          </p:sp>
        </p:grpSp>
      </p:grpSp>
      <p:grpSp>
        <p:nvGrpSpPr>
          <p:cNvPr id="245" name="Group 244"/>
          <p:cNvGrpSpPr/>
          <p:nvPr/>
        </p:nvGrpSpPr>
        <p:grpSpPr>
          <a:xfrm>
            <a:off x="6248400" y="152399"/>
            <a:ext cx="2743199" cy="693685"/>
            <a:chOff x="-65314" y="1093291"/>
            <a:chExt cx="6618513" cy="958268"/>
          </a:xfrm>
        </p:grpSpPr>
        <p:sp>
          <p:nvSpPr>
            <p:cNvPr id="246" name="Freeform 245"/>
            <p:cNvSpPr/>
            <p:nvPr/>
          </p:nvSpPr>
          <p:spPr>
            <a:xfrm>
              <a:off x="-65314" y="1093291"/>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t>1</a:t>
              </a:r>
            </a:p>
          </p:txBody>
        </p:sp>
        <p:sp>
          <p:nvSpPr>
            <p:cNvPr id="247" name="Freeform 246"/>
            <p:cNvSpPr/>
            <p:nvPr/>
          </p:nvSpPr>
          <p:spPr>
            <a:xfrm>
              <a:off x="1127986" y="1093293"/>
              <a:ext cx="5425213" cy="622873"/>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1" numCol="1" spcCol="1270" anchor="ctr" anchorCtr="0">
              <a:noAutofit/>
            </a:bodyPr>
            <a:lstStyle/>
            <a:p>
              <a:pPr marL="0" lvl="1" algn="l" defTabSz="755650">
                <a:lnSpc>
                  <a:spcPct val="90000"/>
                </a:lnSpc>
                <a:spcBef>
                  <a:spcPct val="0"/>
                </a:spcBef>
                <a:spcAft>
                  <a:spcPct val="15000"/>
                </a:spcAft>
              </a:pPr>
              <a:r>
                <a:rPr lang="en-GB" sz="1600" kern="1200" dirty="0"/>
                <a:t>State your null hypothesis (H</a:t>
              </a:r>
              <a:r>
                <a:rPr lang="en-GB" sz="1600" kern="1200" baseline="-25000" dirty="0"/>
                <a:t>0</a:t>
              </a:r>
              <a:r>
                <a:rPr lang="en-GB" sz="1600" kern="1200" baseline="0" dirty="0"/>
                <a:t>)</a:t>
              </a:r>
            </a:p>
          </p:txBody>
        </p:sp>
      </p:grpSp>
      <p:sp>
        <p:nvSpPr>
          <p:cNvPr id="248" name="Rectangle 247"/>
          <p:cNvSpPr/>
          <p:nvPr/>
        </p:nvSpPr>
        <p:spPr>
          <a:xfrm>
            <a:off x="1854586" y="4812268"/>
            <a:ext cx="596638" cy="369332"/>
          </a:xfrm>
          <a:prstGeom prst="rect">
            <a:avLst/>
          </a:prstGeom>
        </p:spPr>
        <p:txBody>
          <a:bodyPr wrap="none">
            <a:spAutoFit/>
          </a:bodyPr>
          <a:lstStyle/>
          <a:p>
            <a:r>
              <a:rPr lang="en-GB" b="1" dirty="0">
                <a:solidFill>
                  <a:schemeClr val="accent6">
                    <a:lumMod val="75000"/>
                  </a:schemeClr>
                </a:solidFill>
              </a:rPr>
              <a:t>0.15</a:t>
            </a:r>
          </a:p>
        </p:txBody>
      </p:sp>
      <p:cxnSp>
        <p:nvCxnSpPr>
          <p:cNvPr id="249" name="Straight Arrow Connector 248"/>
          <p:cNvCxnSpPr/>
          <p:nvPr/>
        </p:nvCxnSpPr>
        <p:spPr>
          <a:xfrm flipH="1">
            <a:off x="457200" y="4755647"/>
            <a:ext cx="5791200" cy="1"/>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50" name="Rectangle 249"/>
          <p:cNvSpPr/>
          <p:nvPr/>
        </p:nvSpPr>
        <p:spPr>
          <a:xfrm>
            <a:off x="228600" y="4800600"/>
            <a:ext cx="301686" cy="369332"/>
          </a:xfrm>
          <a:prstGeom prst="rect">
            <a:avLst/>
          </a:prstGeom>
        </p:spPr>
        <p:txBody>
          <a:bodyPr wrap="none">
            <a:spAutoFit/>
          </a:bodyPr>
          <a:lstStyle/>
          <a:p>
            <a:r>
              <a:rPr lang="en-GB" b="1" dirty="0">
                <a:solidFill>
                  <a:schemeClr val="accent6">
                    <a:lumMod val="75000"/>
                  </a:schemeClr>
                </a:solidFill>
              </a:rPr>
              <a:t>0</a:t>
            </a:r>
          </a:p>
        </p:txBody>
      </p:sp>
      <p:sp>
        <p:nvSpPr>
          <p:cNvPr id="251" name="Rectangle 250"/>
          <p:cNvSpPr/>
          <p:nvPr/>
        </p:nvSpPr>
        <p:spPr>
          <a:xfrm>
            <a:off x="6099114" y="4800600"/>
            <a:ext cx="301686" cy="369332"/>
          </a:xfrm>
          <a:prstGeom prst="rect">
            <a:avLst/>
          </a:prstGeom>
        </p:spPr>
        <p:txBody>
          <a:bodyPr wrap="none">
            <a:spAutoFit/>
          </a:bodyPr>
          <a:lstStyle/>
          <a:p>
            <a:r>
              <a:rPr lang="en-GB" b="1" dirty="0">
                <a:solidFill>
                  <a:schemeClr val="accent6">
                    <a:lumMod val="75000"/>
                  </a:schemeClr>
                </a:solidFill>
              </a:rPr>
              <a:t>1</a:t>
            </a:r>
          </a:p>
        </p:txBody>
      </p:sp>
      <p:sp>
        <p:nvSpPr>
          <p:cNvPr id="258" name="Rectangle 257"/>
          <p:cNvSpPr/>
          <p:nvPr/>
        </p:nvSpPr>
        <p:spPr>
          <a:xfrm>
            <a:off x="304800" y="725269"/>
            <a:ext cx="5867400" cy="400110"/>
          </a:xfrm>
          <a:prstGeom prst="rect">
            <a:avLst/>
          </a:prstGeom>
        </p:spPr>
        <p:txBody>
          <a:bodyPr wrap="square">
            <a:spAutoFit/>
          </a:bodyPr>
          <a:lstStyle/>
          <a:p>
            <a:r>
              <a:rPr lang="en-GB" sz="2000" b="1" dirty="0"/>
              <a:t>Standard error of the proportion (STEP)</a:t>
            </a:r>
          </a:p>
        </p:txBody>
      </p:sp>
      <p:grpSp>
        <p:nvGrpSpPr>
          <p:cNvPr id="51" name="Group 50"/>
          <p:cNvGrpSpPr/>
          <p:nvPr/>
        </p:nvGrpSpPr>
        <p:grpSpPr>
          <a:xfrm>
            <a:off x="6172200" y="3962400"/>
            <a:ext cx="186070" cy="838199"/>
            <a:chOff x="6172200" y="3962400"/>
            <a:chExt cx="186070" cy="838199"/>
          </a:xfrm>
        </p:grpSpPr>
        <p:sp>
          <p:nvSpPr>
            <p:cNvPr id="52" name="Oval 51"/>
            <p:cNvSpPr/>
            <p:nvPr/>
          </p:nvSpPr>
          <p:spPr>
            <a:xfrm rot="10800000">
              <a:off x="6205707" y="3995057"/>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53" name="Oval 52"/>
            <p:cNvSpPr/>
            <p:nvPr/>
          </p:nvSpPr>
          <p:spPr>
            <a:xfrm rot="10800000">
              <a:off x="6172201" y="4038600"/>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54" name="Oval 53"/>
            <p:cNvSpPr/>
            <p:nvPr/>
          </p:nvSpPr>
          <p:spPr>
            <a:xfrm rot="10800000">
              <a:off x="6190511" y="4419600"/>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55" name="Oval 54"/>
            <p:cNvSpPr/>
            <p:nvPr/>
          </p:nvSpPr>
          <p:spPr>
            <a:xfrm rot="10800000">
              <a:off x="6190511" y="3962400"/>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56" name="Oval 55"/>
            <p:cNvSpPr/>
            <p:nvPr/>
          </p:nvSpPr>
          <p:spPr>
            <a:xfrm rot="10800000">
              <a:off x="6205708" y="4038600"/>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57" name="Oval 56"/>
            <p:cNvSpPr/>
            <p:nvPr/>
          </p:nvSpPr>
          <p:spPr>
            <a:xfrm rot="10800000">
              <a:off x="6172201" y="4147457"/>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58" name="Oval 57"/>
            <p:cNvSpPr/>
            <p:nvPr/>
          </p:nvSpPr>
          <p:spPr>
            <a:xfrm rot="10800000">
              <a:off x="6205708" y="4191000"/>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59" name="Oval 58"/>
            <p:cNvSpPr/>
            <p:nvPr/>
          </p:nvSpPr>
          <p:spPr>
            <a:xfrm rot="10800000">
              <a:off x="6205708" y="4376056"/>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60" name="Oval 59"/>
            <p:cNvSpPr/>
            <p:nvPr/>
          </p:nvSpPr>
          <p:spPr>
            <a:xfrm rot="10800000">
              <a:off x="6172200" y="4419599"/>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61" name="Oval 60"/>
            <p:cNvSpPr/>
            <p:nvPr/>
          </p:nvSpPr>
          <p:spPr>
            <a:xfrm rot="10800000">
              <a:off x="6205707" y="4463142"/>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62" name="Oval 61"/>
            <p:cNvSpPr/>
            <p:nvPr/>
          </p:nvSpPr>
          <p:spPr>
            <a:xfrm rot="10800000">
              <a:off x="6205707" y="4571999"/>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63" name="Oval 62"/>
            <p:cNvSpPr/>
            <p:nvPr/>
          </p:nvSpPr>
          <p:spPr>
            <a:xfrm rot="10800000">
              <a:off x="6172201" y="4615542"/>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64" name="Oval 63"/>
            <p:cNvSpPr/>
            <p:nvPr/>
          </p:nvSpPr>
          <p:spPr>
            <a:xfrm rot="10800000">
              <a:off x="6190510" y="4680856"/>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65" name="Oval 64"/>
            <p:cNvSpPr/>
            <p:nvPr/>
          </p:nvSpPr>
          <p:spPr>
            <a:xfrm rot="10800000">
              <a:off x="6239376" y="4082143"/>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66" name="Oval 65"/>
            <p:cNvSpPr/>
            <p:nvPr/>
          </p:nvSpPr>
          <p:spPr>
            <a:xfrm rot="10800000">
              <a:off x="6205870" y="4158343"/>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67" name="Oval 66"/>
            <p:cNvSpPr/>
            <p:nvPr/>
          </p:nvSpPr>
          <p:spPr>
            <a:xfrm rot="10800000">
              <a:off x="6224180" y="4506686"/>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68" name="Oval 67"/>
            <p:cNvSpPr/>
            <p:nvPr/>
          </p:nvSpPr>
          <p:spPr>
            <a:xfrm rot="10800000">
              <a:off x="6239377" y="4158343"/>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69" name="Oval 68"/>
            <p:cNvSpPr/>
            <p:nvPr/>
          </p:nvSpPr>
          <p:spPr>
            <a:xfrm rot="10800000">
              <a:off x="6205870" y="4234543"/>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70" name="Oval 69"/>
            <p:cNvSpPr/>
            <p:nvPr/>
          </p:nvSpPr>
          <p:spPr>
            <a:xfrm rot="10800000">
              <a:off x="6239377" y="4278086"/>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71" name="Oval 70"/>
            <p:cNvSpPr/>
            <p:nvPr/>
          </p:nvSpPr>
          <p:spPr>
            <a:xfrm rot="10800000">
              <a:off x="6239377" y="4463142"/>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72" name="Oval 71"/>
            <p:cNvSpPr/>
            <p:nvPr/>
          </p:nvSpPr>
          <p:spPr>
            <a:xfrm rot="10800000">
              <a:off x="6205869" y="4506685"/>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grpSp>
      <p:grpSp>
        <p:nvGrpSpPr>
          <p:cNvPr id="73" name="Group 72"/>
          <p:cNvGrpSpPr/>
          <p:nvPr/>
        </p:nvGrpSpPr>
        <p:grpSpPr>
          <a:xfrm>
            <a:off x="381000" y="2438400"/>
            <a:ext cx="198471" cy="2362200"/>
            <a:chOff x="381000" y="2438400"/>
            <a:chExt cx="198471" cy="2362200"/>
          </a:xfrm>
        </p:grpSpPr>
        <p:sp>
          <p:nvSpPr>
            <p:cNvPr id="74" name="Oval 73"/>
            <p:cNvSpPr/>
            <p:nvPr/>
          </p:nvSpPr>
          <p:spPr>
            <a:xfrm rot="10800000">
              <a:off x="399310" y="40603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 name="Oval 74"/>
            <p:cNvSpPr/>
            <p:nvPr/>
          </p:nvSpPr>
          <p:spPr>
            <a:xfrm rot="10800000">
              <a:off x="414507" y="41365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Oval 75"/>
            <p:cNvSpPr/>
            <p:nvPr/>
          </p:nvSpPr>
          <p:spPr>
            <a:xfrm rot="10800000">
              <a:off x="381000" y="42127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7" name="Oval 76"/>
            <p:cNvSpPr/>
            <p:nvPr/>
          </p:nvSpPr>
          <p:spPr>
            <a:xfrm rot="10800000">
              <a:off x="414507" y="4256314"/>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 name="Oval 77"/>
            <p:cNvSpPr/>
            <p:nvPr/>
          </p:nvSpPr>
          <p:spPr>
            <a:xfrm rot="10800000">
              <a:off x="399310" y="44740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9" name="Oval 78"/>
            <p:cNvSpPr/>
            <p:nvPr/>
          </p:nvSpPr>
          <p:spPr>
            <a:xfrm rot="10800000">
              <a:off x="414507" y="45502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0" name="Oval 79"/>
            <p:cNvSpPr/>
            <p:nvPr/>
          </p:nvSpPr>
          <p:spPr>
            <a:xfrm rot="10800000">
              <a:off x="381000" y="46264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Oval 80"/>
            <p:cNvSpPr/>
            <p:nvPr/>
          </p:nvSpPr>
          <p:spPr>
            <a:xfrm rot="10800000">
              <a:off x="414507" y="46699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 name="Oval 81"/>
            <p:cNvSpPr/>
            <p:nvPr/>
          </p:nvSpPr>
          <p:spPr>
            <a:xfrm rot="10800000">
              <a:off x="399310" y="32221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 name="Oval 82"/>
            <p:cNvSpPr/>
            <p:nvPr/>
          </p:nvSpPr>
          <p:spPr>
            <a:xfrm rot="10800000">
              <a:off x="414507" y="32983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Oval 83"/>
            <p:cNvSpPr/>
            <p:nvPr/>
          </p:nvSpPr>
          <p:spPr>
            <a:xfrm rot="10800000">
              <a:off x="381000" y="33745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Oval 84"/>
            <p:cNvSpPr/>
            <p:nvPr/>
          </p:nvSpPr>
          <p:spPr>
            <a:xfrm rot="10800000">
              <a:off x="414507" y="3418114"/>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Oval 85"/>
            <p:cNvSpPr/>
            <p:nvPr/>
          </p:nvSpPr>
          <p:spPr>
            <a:xfrm rot="10800000">
              <a:off x="414507" y="35269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 name="Oval 86"/>
            <p:cNvSpPr/>
            <p:nvPr/>
          </p:nvSpPr>
          <p:spPr>
            <a:xfrm rot="10800000">
              <a:off x="381001" y="3570514"/>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 name="Oval 87"/>
            <p:cNvSpPr/>
            <p:nvPr/>
          </p:nvSpPr>
          <p:spPr>
            <a:xfrm rot="10800000">
              <a:off x="399310" y="36358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9" name="Oval 88"/>
            <p:cNvSpPr/>
            <p:nvPr/>
          </p:nvSpPr>
          <p:spPr>
            <a:xfrm rot="10800000">
              <a:off x="414507" y="37120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0" name="Oval 89"/>
            <p:cNvSpPr/>
            <p:nvPr/>
          </p:nvSpPr>
          <p:spPr>
            <a:xfrm rot="10800000">
              <a:off x="381000" y="37882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1" name="Oval 90"/>
            <p:cNvSpPr/>
            <p:nvPr/>
          </p:nvSpPr>
          <p:spPr>
            <a:xfrm rot="10800000">
              <a:off x="414507" y="38317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Oval 91"/>
            <p:cNvSpPr/>
            <p:nvPr/>
          </p:nvSpPr>
          <p:spPr>
            <a:xfrm rot="10800000">
              <a:off x="381001" y="39841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3" name="Oval 92"/>
            <p:cNvSpPr/>
            <p:nvPr/>
          </p:nvSpPr>
          <p:spPr>
            <a:xfrm rot="10800000">
              <a:off x="381001" y="4484914"/>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Oval 93"/>
            <p:cNvSpPr/>
            <p:nvPr/>
          </p:nvSpPr>
          <p:spPr>
            <a:xfrm rot="10800000">
              <a:off x="414508" y="45284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5" name="Oval 94"/>
            <p:cNvSpPr/>
            <p:nvPr/>
          </p:nvSpPr>
          <p:spPr>
            <a:xfrm rot="10800000">
              <a:off x="414508" y="4637314"/>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6" name="Oval 95"/>
            <p:cNvSpPr/>
            <p:nvPr/>
          </p:nvSpPr>
          <p:spPr>
            <a:xfrm rot="10800000">
              <a:off x="381002" y="46808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7" name="Oval 96"/>
            <p:cNvSpPr/>
            <p:nvPr/>
          </p:nvSpPr>
          <p:spPr>
            <a:xfrm rot="10800000">
              <a:off x="399311" y="24384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8" name="Oval 97"/>
            <p:cNvSpPr/>
            <p:nvPr/>
          </p:nvSpPr>
          <p:spPr>
            <a:xfrm rot="10800000">
              <a:off x="414508" y="25146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9" name="Oval 98"/>
            <p:cNvSpPr/>
            <p:nvPr/>
          </p:nvSpPr>
          <p:spPr>
            <a:xfrm rot="10800000">
              <a:off x="381001" y="25908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0" name="Oval 99"/>
            <p:cNvSpPr/>
            <p:nvPr/>
          </p:nvSpPr>
          <p:spPr>
            <a:xfrm rot="10800000">
              <a:off x="414508" y="2634343"/>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1" name="Oval 100"/>
            <p:cNvSpPr/>
            <p:nvPr/>
          </p:nvSpPr>
          <p:spPr>
            <a:xfrm rot="10800000">
              <a:off x="414508" y="27432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2" name="Oval 101"/>
            <p:cNvSpPr/>
            <p:nvPr/>
          </p:nvSpPr>
          <p:spPr>
            <a:xfrm rot="10800000">
              <a:off x="381002" y="2786743"/>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3" name="Oval 102"/>
            <p:cNvSpPr/>
            <p:nvPr/>
          </p:nvSpPr>
          <p:spPr>
            <a:xfrm rot="10800000">
              <a:off x="399311" y="28520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 name="Oval 103"/>
            <p:cNvSpPr/>
            <p:nvPr/>
          </p:nvSpPr>
          <p:spPr>
            <a:xfrm rot="10800000">
              <a:off x="414508" y="29282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5" name="Oval 104"/>
            <p:cNvSpPr/>
            <p:nvPr/>
          </p:nvSpPr>
          <p:spPr>
            <a:xfrm rot="10800000">
              <a:off x="381001" y="30044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6" name="Oval 105"/>
            <p:cNvSpPr/>
            <p:nvPr/>
          </p:nvSpPr>
          <p:spPr>
            <a:xfrm rot="10800000">
              <a:off x="414508" y="30480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7" name="Oval 106"/>
            <p:cNvSpPr/>
            <p:nvPr/>
          </p:nvSpPr>
          <p:spPr>
            <a:xfrm rot="10800000">
              <a:off x="445381" y="26439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8" name="Oval 107"/>
            <p:cNvSpPr/>
            <p:nvPr/>
          </p:nvSpPr>
          <p:spPr>
            <a:xfrm rot="10800000">
              <a:off x="460578" y="27201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9" name="Oval 108"/>
            <p:cNvSpPr/>
            <p:nvPr/>
          </p:nvSpPr>
          <p:spPr>
            <a:xfrm rot="10800000">
              <a:off x="427071" y="27963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0" name="Oval 109"/>
            <p:cNvSpPr/>
            <p:nvPr/>
          </p:nvSpPr>
          <p:spPr>
            <a:xfrm rot="10800000">
              <a:off x="460578" y="283990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1" name="Oval 110"/>
            <p:cNvSpPr/>
            <p:nvPr/>
          </p:nvSpPr>
          <p:spPr>
            <a:xfrm rot="10800000">
              <a:off x="460578" y="29487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2" name="Oval 111"/>
            <p:cNvSpPr/>
            <p:nvPr/>
          </p:nvSpPr>
          <p:spPr>
            <a:xfrm rot="10800000">
              <a:off x="427072" y="299230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3" name="Oval 112"/>
            <p:cNvSpPr/>
            <p:nvPr/>
          </p:nvSpPr>
          <p:spPr>
            <a:xfrm rot="10800000">
              <a:off x="445381" y="3057622"/>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4" name="Oval 113"/>
            <p:cNvSpPr/>
            <p:nvPr/>
          </p:nvSpPr>
          <p:spPr>
            <a:xfrm rot="10800000">
              <a:off x="414506" y="41910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5" name="Oval 114"/>
            <p:cNvSpPr/>
            <p:nvPr/>
          </p:nvSpPr>
          <p:spPr>
            <a:xfrm rot="10800000">
              <a:off x="381000" y="4234543"/>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 name="Oval 115"/>
            <p:cNvSpPr/>
            <p:nvPr/>
          </p:nvSpPr>
          <p:spPr>
            <a:xfrm rot="10800000">
              <a:off x="399309" y="42998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 name="Oval 116"/>
            <p:cNvSpPr/>
            <p:nvPr/>
          </p:nvSpPr>
          <p:spPr>
            <a:xfrm rot="10800000">
              <a:off x="460576" y="41679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8" name="Oval 117"/>
            <p:cNvSpPr/>
            <p:nvPr/>
          </p:nvSpPr>
          <p:spPr>
            <a:xfrm rot="10800000">
              <a:off x="427069" y="42441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9" name="Oval 118"/>
            <p:cNvSpPr/>
            <p:nvPr/>
          </p:nvSpPr>
          <p:spPr>
            <a:xfrm rot="10800000">
              <a:off x="460576" y="428770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20" name="Rectangle 119">
            <a:extLst>
              <a:ext uri="{FF2B5EF4-FFF2-40B4-BE49-F238E27FC236}">
                <a16:creationId xmlns:a16="http://schemas.microsoft.com/office/drawing/2014/main" id="{D4B15655-F4F2-40CD-9D14-D26EE43B6721}"/>
              </a:ext>
            </a:extLst>
          </p:cNvPr>
          <p:cNvSpPr/>
          <p:nvPr/>
        </p:nvSpPr>
        <p:spPr>
          <a:xfrm>
            <a:off x="378506" y="5438923"/>
            <a:ext cx="8155894" cy="954107"/>
          </a:xfrm>
          <a:prstGeom prst="rect">
            <a:avLst/>
          </a:prstGeom>
        </p:spPr>
        <p:txBody>
          <a:bodyPr wrap="square">
            <a:spAutoFit/>
          </a:bodyPr>
          <a:lstStyle/>
          <a:p>
            <a:r>
              <a:rPr lang="en-GB" sz="2000" b="1" u="sng" dirty="0"/>
              <a:t>Remember</a:t>
            </a:r>
            <a:r>
              <a:rPr lang="en-GB" sz="2000" b="1" dirty="0"/>
              <a:t>: </a:t>
            </a:r>
            <a:r>
              <a:rPr lang="en-GB" dirty="0"/>
              <a:t>The standard error of a proportion is a statistic indicating how greatly a particular </a:t>
            </a:r>
            <a:r>
              <a:rPr lang="en-GB" b="1" u="sng" dirty="0"/>
              <a:t>sample proportion is likely to differ </a:t>
            </a:r>
            <a:r>
              <a:rPr lang="en-GB" dirty="0"/>
              <a:t>from the proportion in the population proportion.</a:t>
            </a:r>
            <a:endParaRPr lang="en-GB" sz="2000" u="sng" dirty="0"/>
          </a:p>
        </p:txBody>
      </p:sp>
    </p:spTree>
    <p:extLst>
      <p:ext uri="{BB962C8B-B14F-4D97-AF65-F5344CB8AC3E}">
        <p14:creationId xmlns:p14="http://schemas.microsoft.com/office/powerpoint/2010/main" val="30183612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Group 106"/>
          <p:cNvGrpSpPr/>
          <p:nvPr/>
        </p:nvGrpSpPr>
        <p:grpSpPr>
          <a:xfrm>
            <a:off x="6172200" y="3962400"/>
            <a:ext cx="186070" cy="838199"/>
            <a:chOff x="6172200" y="3962400"/>
            <a:chExt cx="186070" cy="838199"/>
          </a:xfrm>
        </p:grpSpPr>
        <p:sp>
          <p:nvSpPr>
            <p:cNvPr id="108" name="Oval 107"/>
            <p:cNvSpPr/>
            <p:nvPr/>
          </p:nvSpPr>
          <p:spPr>
            <a:xfrm rot="10800000">
              <a:off x="6205707" y="3995057"/>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109" name="Oval 108"/>
            <p:cNvSpPr/>
            <p:nvPr/>
          </p:nvSpPr>
          <p:spPr>
            <a:xfrm rot="10800000">
              <a:off x="6172201" y="4038600"/>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110" name="Oval 109"/>
            <p:cNvSpPr/>
            <p:nvPr/>
          </p:nvSpPr>
          <p:spPr>
            <a:xfrm rot="10800000">
              <a:off x="6190511" y="4419600"/>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111" name="Oval 110"/>
            <p:cNvSpPr/>
            <p:nvPr/>
          </p:nvSpPr>
          <p:spPr>
            <a:xfrm rot="10800000">
              <a:off x="6190511" y="3962400"/>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112" name="Oval 111"/>
            <p:cNvSpPr/>
            <p:nvPr/>
          </p:nvSpPr>
          <p:spPr>
            <a:xfrm rot="10800000">
              <a:off x="6205708" y="4038600"/>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113" name="Oval 112"/>
            <p:cNvSpPr/>
            <p:nvPr/>
          </p:nvSpPr>
          <p:spPr>
            <a:xfrm rot="10800000">
              <a:off x="6172201" y="4147457"/>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114" name="Oval 113"/>
            <p:cNvSpPr/>
            <p:nvPr/>
          </p:nvSpPr>
          <p:spPr>
            <a:xfrm rot="10800000">
              <a:off x="6205708" y="4191000"/>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115" name="Oval 114"/>
            <p:cNvSpPr/>
            <p:nvPr/>
          </p:nvSpPr>
          <p:spPr>
            <a:xfrm rot="10800000">
              <a:off x="6205708" y="4376056"/>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116" name="Oval 115"/>
            <p:cNvSpPr/>
            <p:nvPr/>
          </p:nvSpPr>
          <p:spPr>
            <a:xfrm rot="10800000">
              <a:off x="6172200" y="4419599"/>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117" name="Oval 116"/>
            <p:cNvSpPr/>
            <p:nvPr/>
          </p:nvSpPr>
          <p:spPr>
            <a:xfrm rot="10800000">
              <a:off x="6205707" y="4463142"/>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118" name="Oval 117"/>
            <p:cNvSpPr/>
            <p:nvPr/>
          </p:nvSpPr>
          <p:spPr>
            <a:xfrm rot="10800000">
              <a:off x="6205707" y="4571999"/>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119" name="Oval 118"/>
            <p:cNvSpPr/>
            <p:nvPr/>
          </p:nvSpPr>
          <p:spPr>
            <a:xfrm rot="10800000">
              <a:off x="6172201" y="4615542"/>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120" name="Oval 119"/>
            <p:cNvSpPr/>
            <p:nvPr/>
          </p:nvSpPr>
          <p:spPr>
            <a:xfrm rot="10800000">
              <a:off x="6190510" y="4680856"/>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121" name="Oval 120"/>
            <p:cNvSpPr/>
            <p:nvPr/>
          </p:nvSpPr>
          <p:spPr>
            <a:xfrm rot="10800000">
              <a:off x="6239376" y="4082143"/>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122" name="Oval 121"/>
            <p:cNvSpPr/>
            <p:nvPr/>
          </p:nvSpPr>
          <p:spPr>
            <a:xfrm rot="10800000">
              <a:off x="6205870" y="4158343"/>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123" name="Oval 122"/>
            <p:cNvSpPr/>
            <p:nvPr/>
          </p:nvSpPr>
          <p:spPr>
            <a:xfrm rot="10800000">
              <a:off x="6224180" y="4506686"/>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124" name="Oval 123"/>
            <p:cNvSpPr/>
            <p:nvPr/>
          </p:nvSpPr>
          <p:spPr>
            <a:xfrm rot="10800000">
              <a:off x="6239377" y="4158343"/>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125" name="Oval 124"/>
            <p:cNvSpPr/>
            <p:nvPr/>
          </p:nvSpPr>
          <p:spPr>
            <a:xfrm rot="10800000">
              <a:off x="6205870" y="4234543"/>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126" name="Oval 125"/>
            <p:cNvSpPr/>
            <p:nvPr/>
          </p:nvSpPr>
          <p:spPr>
            <a:xfrm rot="10800000">
              <a:off x="6239377" y="4278086"/>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127" name="Oval 126"/>
            <p:cNvSpPr/>
            <p:nvPr/>
          </p:nvSpPr>
          <p:spPr>
            <a:xfrm rot="10800000">
              <a:off x="6239377" y="4463142"/>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128" name="Oval 127"/>
            <p:cNvSpPr/>
            <p:nvPr/>
          </p:nvSpPr>
          <p:spPr>
            <a:xfrm rot="10800000">
              <a:off x="6205869" y="4506685"/>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grpSp>
      <p:grpSp>
        <p:nvGrpSpPr>
          <p:cNvPr id="129" name="Group 128"/>
          <p:cNvGrpSpPr/>
          <p:nvPr/>
        </p:nvGrpSpPr>
        <p:grpSpPr>
          <a:xfrm>
            <a:off x="381000" y="2438400"/>
            <a:ext cx="198471" cy="2362200"/>
            <a:chOff x="381000" y="2438400"/>
            <a:chExt cx="198471" cy="2362200"/>
          </a:xfrm>
        </p:grpSpPr>
        <p:sp>
          <p:nvSpPr>
            <p:cNvPr id="130" name="Oval 129"/>
            <p:cNvSpPr/>
            <p:nvPr/>
          </p:nvSpPr>
          <p:spPr>
            <a:xfrm rot="10800000">
              <a:off x="399310" y="40603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1" name="Oval 130"/>
            <p:cNvSpPr/>
            <p:nvPr/>
          </p:nvSpPr>
          <p:spPr>
            <a:xfrm rot="10800000">
              <a:off x="414507" y="41365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2" name="Oval 131"/>
            <p:cNvSpPr/>
            <p:nvPr/>
          </p:nvSpPr>
          <p:spPr>
            <a:xfrm rot="10800000">
              <a:off x="381000" y="42127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3" name="Oval 132"/>
            <p:cNvSpPr/>
            <p:nvPr/>
          </p:nvSpPr>
          <p:spPr>
            <a:xfrm rot="10800000">
              <a:off x="414507" y="4256314"/>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4" name="Oval 133"/>
            <p:cNvSpPr/>
            <p:nvPr/>
          </p:nvSpPr>
          <p:spPr>
            <a:xfrm rot="10800000">
              <a:off x="399310" y="44740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5" name="Oval 134"/>
            <p:cNvSpPr/>
            <p:nvPr/>
          </p:nvSpPr>
          <p:spPr>
            <a:xfrm rot="10800000">
              <a:off x="414507" y="45502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6" name="Oval 135"/>
            <p:cNvSpPr/>
            <p:nvPr/>
          </p:nvSpPr>
          <p:spPr>
            <a:xfrm rot="10800000">
              <a:off x="381000" y="46264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7" name="Oval 136"/>
            <p:cNvSpPr/>
            <p:nvPr/>
          </p:nvSpPr>
          <p:spPr>
            <a:xfrm rot="10800000">
              <a:off x="414507" y="46699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8" name="Oval 137"/>
            <p:cNvSpPr/>
            <p:nvPr/>
          </p:nvSpPr>
          <p:spPr>
            <a:xfrm rot="10800000">
              <a:off x="399310" y="32221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9" name="Oval 138"/>
            <p:cNvSpPr/>
            <p:nvPr/>
          </p:nvSpPr>
          <p:spPr>
            <a:xfrm rot="10800000">
              <a:off x="414507" y="32983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1" name="Oval 140"/>
            <p:cNvSpPr/>
            <p:nvPr/>
          </p:nvSpPr>
          <p:spPr>
            <a:xfrm rot="10800000">
              <a:off x="381000" y="33745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2" name="Oval 141"/>
            <p:cNvSpPr/>
            <p:nvPr/>
          </p:nvSpPr>
          <p:spPr>
            <a:xfrm rot="10800000">
              <a:off x="414507" y="3418114"/>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3" name="Oval 142"/>
            <p:cNvSpPr/>
            <p:nvPr/>
          </p:nvSpPr>
          <p:spPr>
            <a:xfrm rot="10800000">
              <a:off x="414507" y="35269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4" name="Oval 143"/>
            <p:cNvSpPr/>
            <p:nvPr/>
          </p:nvSpPr>
          <p:spPr>
            <a:xfrm rot="10800000">
              <a:off x="381001" y="3570514"/>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5" name="Oval 144"/>
            <p:cNvSpPr/>
            <p:nvPr/>
          </p:nvSpPr>
          <p:spPr>
            <a:xfrm rot="10800000">
              <a:off x="399310" y="36358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6" name="Oval 145"/>
            <p:cNvSpPr/>
            <p:nvPr/>
          </p:nvSpPr>
          <p:spPr>
            <a:xfrm rot="10800000">
              <a:off x="414507" y="37120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7" name="Oval 146"/>
            <p:cNvSpPr/>
            <p:nvPr/>
          </p:nvSpPr>
          <p:spPr>
            <a:xfrm rot="10800000">
              <a:off x="381000" y="37882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8" name="Oval 147"/>
            <p:cNvSpPr/>
            <p:nvPr/>
          </p:nvSpPr>
          <p:spPr>
            <a:xfrm rot="10800000">
              <a:off x="414507" y="38317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9" name="Oval 148"/>
            <p:cNvSpPr/>
            <p:nvPr/>
          </p:nvSpPr>
          <p:spPr>
            <a:xfrm rot="10800000">
              <a:off x="381001" y="39841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0" name="Oval 149"/>
            <p:cNvSpPr/>
            <p:nvPr/>
          </p:nvSpPr>
          <p:spPr>
            <a:xfrm rot="10800000">
              <a:off x="381001" y="4484914"/>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1" name="Oval 150"/>
            <p:cNvSpPr/>
            <p:nvPr/>
          </p:nvSpPr>
          <p:spPr>
            <a:xfrm rot="10800000">
              <a:off x="414508" y="45284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2" name="Oval 151"/>
            <p:cNvSpPr/>
            <p:nvPr/>
          </p:nvSpPr>
          <p:spPr>
            <a:xfrm rot="10800000">
              <a:off x="414508" y="4637314"/>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3" name="Oval 152"/>
            <p:cNvSpPr/>
            <p:nvPr/>
          </p:nvSpPr>
          <p:spPr>
            <a:xfrm rot="10800000">
              <a:off x="381002" y="46808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4" name="Oval 153"/>
            <p:cNvSpPr/>
            <p:nvPr/>
          </p:nvSpPr>
          <p:spPr>
            <a:xfrm rot="10800000">
              <a:off x="399311" y="24384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5" name="Oval 154"/>
            <p:cNvSpPr/>
            <p:nvPr/>
          </p:nvSpPr>
          <p:spPr>
            <a:xfrm rot="10800000">
              <a:off x="414508" y="25146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6" name="Oval 155"/>
            <p:cNvSpPr/>
            <p:nvPr/>
          </p:nvSpPr>
          <p:spPr>
            <a:xfrm rot="10800000">
              <a:off x="381001" y="25908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7" name="Oval 156"/>
            <p:cNvSpPr/>
            <p:nvPr/>
          </p:nvSpPr>
          <p:spPr>
            <a:xfrm rot="10800000">
              <a:off x="414508" y="2634343"/>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8" name="Oval 157"/>
            <p:cNvSpPr/>
            <p:nvPr/>
          </p:nvSpPr>
          <p:spPr>
            <a:xfrm rot="10800000">
              <a:off x="414508" y="27432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9" name="Oval 158"/>
            <p:cNvSpPr/>
            <p:nvPr/>
          </p:nvSpPr>
          <p:spPr>
            <a:xfrm rot="10800000">
              <a:off x="381002" y="2786743"/>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0" name="Oval 159"/>
            <p:cNvSpPr/>
            <p:nvPr/>
          </p:nvSpPr>
          <p:spPr>
            <a:xfrm rot="10800000">
              <a:off x="399311" y="28520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1" name="Oval 160"/>
            <p:cNvSpPr/>
            <p:nvPr/>
          </p:nvSpPr>
          <p:spPr>
            <a:xfrm rot="10800000">
              <a:off x="414508" y="29282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2" name="Oval 161"/>
            <p:cNvSpPr/>
            <p:nvPr/>
          </p:nvSpPr>
          <p:spPr>
            <a:xfrm rot="10800000">
              <a:off x="381001" y="30044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3" name="Oval 162"/>
            <p:cNvSpPr/>
            <p:nvPr/>
          </p:nvSpPr>
          <p:spPr>
            <a:xfrm rot="10800000">
              <a:off x="414508" y="30480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4" name="Oval 163"/>
            <p:cNvSpPr/>
            <p:nvPr/>
          </p:nvSpPr>
          <p:spPr>
            <a:xfrm rot="10800000">
              <a:off x="445381" y="26439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5" name="Oval 164"/>
            <p:cNvSpPr/>
            <p:nvPr/>
          </p:nvSpPr>
          <p:spPr>
            <a:xfrm rot="10800000">
              <a:off x="460578" y="27201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6" name="Oval 165"/>
            <p:cNvSpPr/>
            <p:nvPr/>
          </p:nvSpPr>
          <p:spPr>
            <a:xfrm rot="10800000">
              <a:off x="427071" y="27963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7" name="Oval 166"/>
            <p:cNvSpPr/>
            <p:nvPr/>
          </p:nvSpPr>
          <p:spPr>
            <a:xfrm rot="10800000">
              <a:off x="460578" y="283990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8" name="Oval 167"/>
            <p:cNvSpPr/>
            <p:nvPr/>
          </p:nvSpPr>
          <p:spPr>
            <a:xfrm rot="10800000">
              <a:off x="460578" y="29487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9" name="Oval 168"/>
            <p:cNvSpPr/>
            <p:nvPr/>
          </p:nvSpPr>
          <p:spPr>
            <a:xfrm rot="10800000">
              <a:off x="427072" y="299230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0" name="Oval 169"/>
            <p:cNvSpPr/>
            <p:nvPr/>
          </p:nvSpPr>
          <p:spPr>
            <a:xfrm rot="10800000">
              <a:off x="445381" y="3057622"/>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1" name="Oval 170"/>
            <p:cNvSpPr/>
            <p:nvPr/>
          </p:nvSpPr>
          <p:spPr>
            <a:xfrm rot="10800000">
              <a:off x="414506" y="41910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2" name="Oval 171"/>
            <p:cNvSpPr/>
            <p:nvPr/>
          </p:nvSpPr>
          <p:spPr>
            <a:xfrm rot="10800000">
              <a:off x="381000" y="4234543"/>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3" name="Oval 172"/>
            <p:cNvSpPr/>
            <p:nvPr/>
          </p:nvSpPr>
          <p:spPr>
            <a:xfrm rot="10800000">
              <a:off x="399309" y="42998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4" name="Oval 173"/>
            <p:cNvSpPr/>
            <p:nvPr/>
          </p:nvSpPr>
          <p:spPr>
            <a:xfrm rot="10800000">
              <a:off x="460576" y="41679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5" name="Oval 174"/>
            <p:cNvSpPr/>
            <p:nvPr/>
          </p:nvSpPr>
          <p:spPr>
            <a:xfrm rot="10800000">
              <a:off x="427069" y="42441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6" name="Oval 175"/>
            <p:cNvSpPr/>
            <p:nvPr/>
          </p:nvSpPr>
          <p:spPr>
            <a:xfrm rot="10800000">
              <a:off x="460576" y="428770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aphicFrame>
        <p:nvGraphicFramePr>
          <p:cNvPr id="264" name="Chart 263"/>
          <p:cNvGraphicFramePr/>
          <p:nvPr>
            <p:extLst>
              <p:ext uri="{D42A27DB-BD31-4B8C-83A1-F6EECF244321}">
                <p14:modId xmlns:p14="http://schemas.microsoft.com/office/powerpoint/2010/main" val="344453538"/>
              </p:ext>
            </p:extLst>
          </p:nvPr>
        </p:nvGraphicFramePr>
        <p:xfrm>
          <a:off x="317770" y="1686408"/>
          <a:ext cx="6096000" cy="3217538"/>
        </p:xfrm>
        <a:graphic>
          <a:graphicData uri="http://schemas.openxmlformats.org/drawingml/2006/chart">
            <c:chart xmlns:c="http://schemas.openxmlformats.org/drawingml/2006/chart" xmlns:r="http://schemas.openxmlformats.org/officeDocument/2006/relationships" r:id="rId3"/>
          </a:graphicData>
        </a:graphic>
      </p:graphicFrame>
      <p:cxnSp>
        <p:nvCxnSpPr>
          <p:cNvPr id="265" name="Straight Arrow Connector 264"/>
          <p:cNvCxnSpPr/>
          <p:nvPr/>
        </p:nvCxnSpPr>
        <p:spPr>
          <a:xfrm flipV="1">
            <a:off x="2132242" y="2238984"/>
            <a:ext cx="0" cy="2607474"/>
          </a:xfrm>
          <a:prstGeom prst="straightConnector1">
            <a:avLst/>
          </a:prstGeom>
          <a:ln w="38100">
            <a:headEnd type="none" w="med" len="med"/>
            <a:tailEnd type="none" w="med" len="med"/>
          </a:ln>
        </p:spPr>
        <p:style>
          <a:lnRef idx="1">
            <a:schemeClr val="accent6"/>
          </a:lnRef>
          <a:fillRef idx="0">
            <a:schemeClr val="accent6"/>
          </a:fillRef>
          <a:effectRef idx="0">
            <a:schemeClr val="accent6"/>
          </a:effectRef>
          <a:fontRef idx="minor">
            <a:schemeClr val="tx1"/>
          </a:fontRef>
        </p:style>
      </p:cxnSp>
      <p:sp>
        <p:nvSpPr>
          <p:cNvPr id="2" name="Title 1"/>
          <p:cNvSpPr>
            <a:spLocks noGrp="1"/>
          </p:cNvSpPr>
          <p:nvPr>
            <p:ph type="title"/>
          </p:nvPr>
        </p:nvSpPr>
        <p:spPr/>
        <p:txBody>
          <a:bodyPr/>
          <a:lstStyle/>
          <a:p>
            <a:r>
              <a:rPr lang="en-GB" altLang="en-US" dirty="0"/>
              <a:t>Z Test for Proportion</a:t>
            </a:r>
            <a:endParaRPr lang="en-GB" dirty="0"/>
          </a:p>
        </p:txBody>
      </p:sp>
      <p:grpSp>
        <p:nvGrpSpPr>
          <p:cNvPr id="140" name="Group 139"/>
          <p:cNvGrpSpPr/>
          <p:nvPr/>
        </p:nvGrpSpPr>
        <p:grpSpPr>
          <a:xfrm>
            <a:off x="6248400" y="152400"/>
            <a:ext cx="2743199" cy="3124200"/>
            <a:chOff x="925287" y="1143000"/>
            <a:chExt cx="6618513" cy="4315816"/>
          </a:xfrm>
          <a:solidFill>
            <a:schemeClr val="bg1">
              <a:lumMod val="95000"/>
            </a:schemeClr>
          </a:solidFill>
        </p:grpSpPr>
        <p:grpSp>
          <p:nvGrpSpPr>
            <p:cNvPr id="210" name="Group 209"/>
            <p:cNvGrpSpPr/>
            <p:nvPr/>
          </p:nvGrpSpPr>
          <p:grpSpPr>
            <a:xfrm>
              <a:off x="925287" y="1143000"/>
              <a:ext cx="6618513" cy="958268"/>
              <a:chOff x="-65314" y="1093291"/>
              <a:chExt cx="6618513" cy="958268"/>
            </a:xfrm>
            <a:grpFill/>
          </p:grpSpPr>
          <p:sp>
            <p:nvSpPr>
              <p:cNvPr id="229" name="Freeform 228"/>
              <p:cNvSpPr/>
              <p:nvPr/>
            </p:nvSpPr>
            <p:spPr>
              <a:xfrm>
                <a:off x="-65314" y="1093291"/>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grpFill/>
              <a:ln>
                <a:solidFill>
                  <a:schemeClr val="bg1">
                    <a:lumMod val="95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chemeClr val="bg1">
                        <a:lumMod val="65000"/>
                      </a:schemeClr>
                    </a:solidFill>
                  </a:rPr>
                  <a:t>1</a:t>
                </a:r>
              </a:p>
            </p:txBody>
          </p:sp>
          <p:sp>
            <p:nvSpPr>
              <p:cNvPr id="230" name="Freeform 229"/>
              <p:cNvSpPr/>
              <p:nvPr/>
            </p:nvSpPr>
            <p:spPr>
              <a:xfrm>
                <a:off x="1127986" y="1093293"/>
                <a:ext cx="5425213" cy="622873"/>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grpFill/>
              <a:ln>
                <a:solidFill>
                  <a:schemeClr val="bg1">
                    <a:lumMod val="95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1" numCol="1" spcCol="1270" anchor="ctr" anchorCtr="0">
                <a:noAutofit/>
              </a:bodyPr>
              <a:lstStyle/>
              <a:p>
                <a:pPr marL="0" lvl="1" algn="l" defTabSz="755650">
                  <a:lnSpc>
                    <a:spcPct val="90000"/>
                  </a:lnSpc>
                  <a:spcBef>
                    <a:spcPct val="0"/>
                  </a:spcBef>
                  <a:spcAft>
                    <a:spcPct val="15000"/>
                  </a:spcAft>
                </a:pPr>
                <a:r>
                  <a:rPr lang="en-GB" sz="1600" kern="1200" dirty="0">
                    <a:solidFill>
                      <a:schemeClr val="bg1">
                        <a:lumMod val="65000"/>
                      </a:schemeClr>
                    </a:solidFill>
                  </a:rPr>
                  <a:t>State your null hypothesis (H</a:t>
                </a:r>
                <a:r>
                  <a:rPr lang="en-GB" sz="1600" kern="1200" baseline="-25000" dirty="0">
                    <a:solidFill>
                      <a:schemeClr val="bg1">
                        <a:lumMod val="65000"/>
                      </a:schemeClr>
                    </a:solidFill>
                  </a:rPr>
                  <a:t>0</a:t>
                </a:r>
                <a:r>
                  <a:rPr lang="en-GB" sz="1600" kern="1200" baseline="0" dirty="0">
                    <a:solidFill>
                      <a:schemeClr val="bg1">
                        <a:lumMod val="65000"/>
                      </a:schemeClr>
                    </a:solidFill>
                  </a:rPr>
                  <a:t>)</a:t>
                </a:r>
              </a:p>
            </p:txBody>
          </p:sp>
        </p:grpSp>
        <p:grpSp>
          <p:nvGrpSpPr>
            <p:cNvPr id="211" name="Group 210"/>
            <p:cNvGrpSpPr/>
            <p:nvPr/>
          </p:nvGrpSpPr>
          <p:grpSpPr>
            <a:xfrm>
              <a:off x="925287" y="1982387"/>
              <a:ext cx="6618513" cy="958268"/>
              <a:chOff x="-65314" y="1932678"/>
              <a:chExt cx="6618513" cy="958268"/>
            </a:xfrm>
            <a:grpFill/>
          </p:grpSpPr>
          <p:sp>
            <p:nvSpPr>
              <p:cNvPr id="227" name="Freeform 226"/>
              <p:cNvSpPr/>
              <p:nvPr/>
            </p:nvSpPr>
            <p:spPr>
              <a:xfrm>
                <a:off x="-65314" y="1932678"/>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solidFill>
                <a:schemeClr val="accent1"/>
              </a:solidFill>
              <a:ln>
                <a:solidFill>
                  <a:schemeClr val="accent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chemeClr val="bg1"/>
                    </a:solidFill>
                  </a:rPr>
                  <a:t>2</a:t>
                </a:r>
              </a:p>
            </p:txBody>
          </p:sp>
          <p:sp>
            <p:nvSpPr>
              <p:cNvPr id="228" name="Freeform 227"/>
              <p:cNvSpPr/>
              <p:nvPr/>
            </p:nvSpPr>
            <p:spPr>
              <a:xfrm>
                <a:off x="1127986" y="1932680"/>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solidFill>
                <a:schemeClr val="bg1"/>
              </a:solidFill>
              <a:ln>
                <a:solidFill>
                  <a:schemeClr val="accent1"/>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defTabSz="755650">
                  <a:lnSpc>
                    <a:spcPct val="90000"/>
                  </a:lnSpc>
                  <a:spcBef>
                    <a:spcPct val="0"/>
                  </a:spcBef>
                  <a:spcAft>
                    <a:spcPct val="15000"/>
                  </a:spcAft>
                </a:pPr>
                <a:r>
                  <a:rPr lang="en-GB" sz="1600" b="1" dirty="0">
                    <a:solidFill>
                      <a:schemeClr val="tx1"/>
                    </a:solidFill>
                  </a:rPr>
                  <a:t>Calculate test statistic </a:t>
                </a:r>
                <a:r>
                  <a:rPr lang="en-GB" sz="1600" dirty="0">
                    <a:solidFill>
                      <a:schemeClr val="tx1"/>
                    </a:solidFill>
                  </a:rPr>
                  <a:t>from data (stat.)</a:t>
                </a:r>
              </a:p>
            </p:txBody>
          </p:sp>
        </p:grpSp>
        <p:grpSp>
          <p:nvGrpSpPr>
            <p:cNvPr id="214" name="Group 213"/>
            <p:cNvGrpSpPr/>
            <p:nvPr/>
          </p:nvGrpSpPr>
          <p:grpSpPr>
            <a:xfrm>
              <a:off x="925287" y="2821774"/>
              <a:ext cx="6618513" cy="958268"/>
              <a:chOff x="-65314" y="2772065"/>
              <a:chExt cx="6618513" cy="958268"/>
            </a:xfrm>
            <a:grpFill/>
          </p:grpSpPr>
          <p:sp>
            <p:nvSpPr>
              <p:cNvPr id="223" name="Freeform 222"/>
              <p:cNvSpPr/>
              <p:nvPr/>
            </p:nvSpPr>
            <p:spPr>
              <a:xfrm>
                <a:off x="-65314" y="2772065"/>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grpFill/>
              <a:ln>
                <a:solidFill>
                  <a:schemeClr val="bg1">
                    <a:lumMod val="95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chemeClr val="bg1">
                        <a:lumMod val="65000"/>
                      </a:schemeClr>
                    </a:solidFill>
                  </a:rPr>
                  <a:t>3</a:t>
                </a:r>
              </a:p>
            </p:txBody>
          </p:sp>
          <p:sp>
            <p:nvSpPr>
              <p:cNvPr id="224" name="Freeform 223"/>
              <p:cNvSpPr/>
              <p:nvPr/>
            </p:nvSpPr>
            <p:spPr>
              <a:xfrm>
                <a:off x="1127986" y="2772067"/>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grpFill/>
              <a:ln>
                <a:solidFill>
                  <a:schemeClr val="bg1">
                    <a:lumMod val="95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defTabSz="755650">
                  <a:lnSpc>
                    <a:spcPct val="90000"/>
                  </a:lnSpc>
                  <a:spcBef>
                    <a:spcPct val="0"/>
                  </a:spcBef>
                  <a:spcAft>
                    <a:spcPct val="15000"/>
                  </a:spcAft>
                </a:pPr>
                <a:r>
                  <a:rPr lang="en-GB" sz="1600" b="1" dirty="0">
                    <a:solidFill>
                      <a:schemeClr val="bg1">
                        <a:lumMod val="65000"/>
                      </a:schemeClr>
                    </a:solidFill>
                  </a:rPr>
                  <a:t>Choose </a:t>
                </a:r>
                <a:r>
                  <a:rPr lang="en-GB" sz="1600" dirty="0">
                    <a:solidFill>
                      <a:schemeClr val="bg1">
                        <a:lumMod val="65000"/>
                      </a:schemeClr>
                    </a:solidFill>
                  </a:rPr>
                  <a:t>a level of </a:t>
                </a:r>
                <a:r>
                  <a:rPr lang="en-GB" sz="1600" b="1" dirty="0">
                    <a:solidFill>
                      <a:schemeClr val="bg1">
                        <a:lumMod val="65000"/>
                      </a:schemeClr>
                    </a:solidFill>
                  </a:rPr>
                  <a:t>significance</a:t>
                </a:r>
                <a:r>
                  <a:rPr lang="en-GB" sz="1600" dirty="0">
                    <a:solidFill>
                      <a:schemeClr val="bg1">
                        <a:lumMod val="65000"/>
                      </a:schemeClr>
                    </a:solidFill>
                  </a:rPr>
                  <a:t> (</a:t>
                </a:r>
                <a:r>
                  <a:rPr lang="el-GR" sz="1600" dirty="0">
                    <a:solidFill>
                      <a:schemeClr val="bg1">
                        <a:lumMod val="65000"/>
                      </a:schemeClr>
                    </a:solidFill>
                  </a:rPr>
                  <a:t>α</a:t>
                </a:r>
                <a:r>
                  <a:rPr lang="en-GB" sz="1600" dirty="0">
                    <a:solidFill>
                      <a:schemeClr val="bg1">
                        <a:lumMod val="65000"/>
                      </a:schemeClr>
                    </a:solidFill>
                  </a:rPr>
                  <a:t>)</a:t>
                </a:r>
              </a:p>
            </p:txBody>
          </p:sp>
        </p:grpSp>
        <p:grpSp>
          <p:nvGrpSpPr>
            <p:cNvPr id="215" name="Group 214"/>
            <p:cNvGrpSpPr/>
            <p:nvPr/>
          </p:nvGrpSpPr>
          <p:grpSpPr>
            <a:xfrm>
              <a:off x="925287" y="3661161"/>
              <a:ext cx="6618513" cy="958268"/>
              <a:chOff x="-65314" y="3611452"/>
              <a:chExt cx="6618513" cy="958268"/>
            </a:xfrm>
            <a:grpFill/>
          </p:grpSpPr>
          <p:sp>
            <p:nvSpPr>
              <p:cNvPr id="221" name="Freeform 220"/>
              <p:cNvSpPr/>
              <p:nvPr/>
            </p:nvSpPr>
            <p:spPr>
              <a:xfrm>
                <a:off x="-65314" y="3611452"/>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grpFill/>
              <a:ln>
                <a:solidFill>
                  <a:schemeClr val="bg1">
                    <a:lumMod val="95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baseline="0" dirty="0">
                    <a:solidFill>
                      <a:schemeClr val="bg1">
                        <a:lumMod val="65000"/>
                      </a:schemeClr>
                    </a:solidFill>
                  </a:rPr>
                  <a:t>4</a:t>
                </a:r>
              </a:p>
            </p:txBody>
          </p:sp>
          <p:sp>
            <p:nvSpPr>
              <p:cNvPr id="222" name="Freeform 221"/>
              <p:cNvSpPr/>
              <p:nvPr/>
            </p:nvSpPr>
            <p:spPr>
              <a:xfrm>
                <a:off x="1127986" y="3611453"/>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grpFill/>
              <a:ln>
                <a:solidFill>
                  <a:schemeClr val="bg1">
                    <a:lumMod val="95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algn="l" defTabSz="755650">
                  <a:lnSpc>
                    <a:spcPct val="90000"/>
                  </a:lnSpc>
                  <a:spcBef>
                    <a:spcPct val="0"/>
                  </a:spcBef>
                  <a:spcAft>
                    <a:spcPct val="15000"/>
                  </a:spcAft>
                </a:pPr>
                <a:r>
                  <a:rPr lang="en-GB" sz="1600" b="1" kern="1200" baseline="0" dirty="0">
                    <a:solidFill>
                      <a:schemeClr val="bg1">
                        <a:lumMod val="65000"/>
                      </a:schemeClr>
                    </a:solidFill>
                  </a:rPr>
                  <a:t>Lookup </a:t>
                </a:r>
                <a:r>
                  <a:rPr lang="en-GB" sz="1600" kern="1200" baseline="0" dirty="0">
                    <a:solidFill>
                      <a:schemeClr val="bg1">
                        <a:lumMod val="65000"/>
                      </a:schemeClr>
                    </a:solidFill>
                  </a:rPr>
                  <a:t>the</a:t>
                </a:r>
                <a:r>
                  <a:rPr lang="en-GB" sz="1600" b="1" kern="1200" baseline="0" dirty="0">
                    <a:solidFill>
                      <a:schemeClr val="bg1">
                        <a:lumMod val="65000"/>
                      </a:schemeClr>
                    </a:solidFill>
                  </a:rPr>
                  <a:t> </a:t>
                </a:r>
                <a:r>
                  <a:rPr lang="en-GB" sz="1600" b="0" kern="1200" baseline="0" dirty="0">
                    <a:solidFill>
                      <a:schemeClr val="bg1">
                        <a:lumMod val="65000"/>
                      </a:schemeClr>
                    </a:solidFill>
                  </a:rPr>
                  <a:t>critical value or the p-value</a:t>
                </a:r>
                <a:endParaRPr lang="en-GB" sz="1600" kern="1200" baseline="0" dirty="0">
                  <a:solidFill>
                    <a:schemeClr val="bg1">
                      <a:lumMod val="65000"/>
                    </a:schemeClr>
                  </a:solidFill>
                </a:endParaRPr>
              </a:p>
            </p:txBody>
          </p:sp>
        </p:grpSp>
        <p:grpSp>
          <p:nvGrpSpPr>
            <p:cNvPr id="217" name="Group 216"/>
            <p:cNvGrpSpPr/>
            <p:nvPr/>
          </p:nvGrpSpPr>
          <p:grpSpPr>
            <a:xfrm>
              <a:off x="925287" y="4500548"/>
              <a:ext cx="6618513" cy="958268"/>
              <a:chOff x="-65314" y="4450839"/>
              <a:chExt cx="6618513" cy="958268"/>
            </a:xfrm>
            <a:grpFill/>
          </p:grpSpPr>
          <p:sp>
            <p:nvSpPr>
              <p:cNvPr id="219" name="Freeform 218"/>
              <p:cNvSpPr/>
              <p:nvPr/>
            </p:nvSpPr>
            <p:spPr>
              <a:xfrm>
                <a:off x="-65314" y="4450839"/>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grpFill/>
              <a:ln>
                <a:solidFill>
                  <a:schemeClr val="bg1">
                    <a:lumMod val="95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baseline="0" dirty="0">
                    <a:solidFill>
                      <a:schemeClr val="bg1">
                        <a:lumMod val="65000"/>
                      </a:schemeClr>
                    </a:solidFill>
                  </a:rPr>
                  <a:t>5</a:t>
                </a:r>
              </a:p>
            </p:txBody>
          </p:sp>
          <p:sp>
            <p:nvSpPr>
              <p:cNvPr id="220" name="Freeform 219"/>
              <p:cNvSpPr/>
              <p:nvPr/>
            </p:nvSpPr>
            <p:spPr>
              <a:xfrm>
                <a:off x="1127986" y="4450840"/>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grpFill/>
              <a:ln>
                <a:solidFill>
                  <a:schemeClr val="bg1">
                    <a:lumMod val="95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algn="l" defTabSz="755650">
                  <a:lnSpc>
                    <a:spcPct val="90000"/>
                  </a:lnSpc>
                  <a:spcBef>
                    <a:spcPct val="0"/>
                  </a:spcBef>
                  <a:spcAft>
                    <a:spcPct val="15000"/>
                  </a:spcAft>
                </a:pPr>
                <a:r>
                  <a:rPr lang="en-GB" sz="1600" b="1" kern="1200" baseline="0" dirty="0">
                    <a:solidFill>
                      <a:schemeClr val="bg1">
                        <a:lumMod val="65000"/>
                      </a:schemeClr>
                    </a:solidFill>
                  </a:rPr>
                  <a:t>Reject</a:t>
                </a:r>
                <a:r>
                  <a:rPr lang="en-GB" sz="1600" kern="1200" baseline="0" dirty="0">
                    <a:solidFill>
                      <a:schemeClr val="bg1">
                        <a:lumMod val="65000"/>
                      </a:schemeClr>
                    </a:solidFill>
                  </a:rPr>
                  <a:t> </a:t>
                </a:r>
                <a:r>
                  <a:rPr lang="en-GB" sz="1600" kern="1200" dirty="0">
                    <a:solidFill>
                      <a:schemeClr val="bg1">
                        <a:lumMod val="65000"/>
                      </a:schemeClr>
                    </a:solidFill>
                  </a:rPr>
                  <a:t>H</a:t>
                </a:r>
                <a:r>
                  <a:rPr lang="en-GB" sz="1600" kern="1200" baseline="-25000" dirty="0">
                    <a:solidFill>
                      <a:schemeClr val="bg1">
                        <a:lumMod val="65000"/>
                      </a:schemeClr>
                    </a:solidFill>
                  </a:rPr>
                  <a:t>0</a:t>
                </a:r>
                <a:r>
                  <a:rPr lang="en-GB" sz="1600" kern="1200" baseline="0" dirty="0">
                    <a:solidFill>
                      <a:schemeClr val="bg1">
                        <a:lumMod val="65000"/>
                      </a:schemeClr>
                    </a:solidFill>
                  </a:rPr>
                  <a:t> or </a:t>
                </a:r>
                <a:r>
                  <a:rPr lang="en-GB" sz="1600" b="1" kern="1200" baseline="0" dirty="0">
                    <a:solidFill>
                      <a:schemeClr val="bg1">
                        <a:lumMod val="65000"/>
                      </a:schemeClr>
                    </a:solidFill>
                  </a:rPr>
                  <a:t>Fail</a:t>
                </a:r>
                <a:r>
                  <a:rPr lang="en-GB" sz="1600" b="1" kern="1200" dirty="0">
                    <a:solidFill>
                      <a:schemeClr val="bg1">
                        <a:lumMod val="65000"/>
                      </a:schemeClr>
                    </a:solidFill>
                  </a:rPr>
                  <a:t> to </a:t>
                </a:r>
                <a:r>
                  <a:rPr lang="en-GB" sz="1600" kern="1200" dirty="0">
                    <a:solidFill>
                      <a:schemeClr val="bg1">
                        <a:lumMod val="65000"/>
                      </a:schemeClr>
                    </a:solidFill>
                  </a:rPr>
                  <a:t>Reject</a:t>
                </a:r>
                <a:r>
                  <a:rPr lang="en-GB" sz="1600" kern="1200" baseline="0" dirty="0">
                    <a:solidFill>
                      <a:schemeClr val="bg1">
                        <a:lumMod val="65000"/>
                      </a:schemeClr>
                    </a:solidFill>
                  </a:rPr>
                  <a:t> </a:t>
                </a:r>
              </a:p>
            </p:txBody>
          </p:sp>
        </p:grpSp>
      </p:grpSp>
      <p:grpSp>
        <p:nvGrpSpPr>
          <p:cNvPr id="231" name="Group 230"/>
          <p:cNvGrpSpPr/>
          <p:nvPr/>
        </p:nvGrpSpPr>
        <p:grpSpPr>
          <a:xfrm>
            <a:off x="6248400" y="152399"/>
            <a:ext cx="2743199" cy="693685"/>
            <a:chOff x="-65314" y="1093291"/>
            <a:chExt cx="6618513" cy="958268"/>
          </a:xfrm>
        </p:grpSpPr>
        <p:sp>
          <p:nvSpPr>
            <p:cNvPr id="232" name="Freeform 231"/>
            <p:cNvSpPr/>
            <p:nvPr/>
          </p:nvSpPr>
          <p:spPr>
            <a:xfrm>
              <a:off x="-65314" y="1093291"/>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t>1</a:t>
              </a:r>
            </a:p>
          </p:txBody>
        </p:sp>
        <p:sp>
          <p:nvSpPr>
            <p:cNvPr id="233" name="Freeform 232"/>
            <p:cNvSpPr/>
            <p:nvPr/>
          </p:nvSpPr>
          <p:spPr>
            <a:xfrm>
              <a:off x="1127986" y="1093293"/>
              <a:ext cx="5425213" cy="622873"/>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1" numCol="1" spcCol="1270" anchor="ctr" anchorCtr="0">
              <a:noAutofit/>
            </a:bodyPr>
            <a:lstStyle/>
            <a:p>
              <a:pPr marL="0" lvl="1" algn="l" defTabSz="755650">
                <a:lnSpc>
                  <a:spcPct val="90000"/>
                </a:lnSpc>
                <a:spcBef>
                  <a:spcPct val="0"/>
                </a:spcBef>
                <a:spcAft>
                  <a:spcPct val="15000"/>
                </a:spcAft>
              </a:pPr>
              <a:r>
                <a:rPr lang="en-GB" sz="1600" kern="1200" dirty="0"/>
                <a:t>State your null hypothesis (H</a:t>
              </a:r>
              <a:r>
                <a:rPr lang="en-GB" sz="1600" kern="1200" baseline="-25000" dirty="0"/>
                <a:t>0</a:t>
              </a:r>
              <a:r>
                <a:rPr lang="en-GB" sz="1600" kern="1200" baseline="0" dirty="0"/>
                <a:t>)</a:t>
              </a:r>
            </a:p>
          </p:txBody>
        </p:sp>
      </p:grpSp>
      <p:grpSp>
        <p:nvGrpSpPr>
          <p:cNvPr id="6" name="Group 5"/>
          <p:cNvGrpSpPr/>
          <p:nvPr/>
        </p:nvGrpSpPr>
        <p:grpSpPr>
          <a:xfrm>
            <a:off x="3048000" y="2667000"/>
            <a:ext cx="4857344" cy="2057400"/>
            <a:chOff x="3048000" y="2667000"/>
            <a:chExt cx="4857344" cy="2057400"/>
          </a:xfrm>
        </p:grpSpPr>
        <p:sp>
          <p:nvSpPr>
            <p:cNvPr id="234" name="Rectangle 233"/>
            <p:cNvSpPr/>
            <p:nvPr/>
          </p:nvSpPr>
          <p:spPr>
            <a:xfrm>
              <a:off x="3048000" y="2667000"/>
              <a:ext cx="2321612" cy="1015663"/>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n-GB" sz="2000" dirty="0"/>
                <a:t>Standard error of the proportion (</a:t>
              </a:r>
              <a:r>
                <a:rPr lang="en-GB" sz="2000" b="1" dirty="0"/>
                <a:t>STEP</a:t>
              </a:r>
              <a:r>
                <a:rPr lang="en-GB" sz="2000" dirty="0"/>
                <a:t>)</a:t>
              </a:r>
            </a:p>
          </p:txBody>
        </p:sp>
        <mc:AlternateContent xmlns:mc="http://schemas.openxmlformats.org/markup-compatibility/2006" xmlns:a14="http://schemas.microsoft.com/office/drawing/2010/main">
          <mc:Choice Requires="a14">
            <p:sp>
              <p:nvSpPr>
                <p:cNvPr id="235" name="Rectangle 234"/>
                <p:cNvSpPr/>
                <p:nvPr/>
              </p:nvSpPr>
              <p:spPr>
                <a:xfrm>
                  <a:off x="3048000" y="3657600"/>
                  <a:ext cx="2321612" cy="10668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GB" sz="2000" i="1" smtClean="0">
                                <a:latin typeface="Cambria Math" panose="02040503050406030204" pitchFamily="18" charset="0"/>
                                <a:ea typeface="Cambria Math"/>
                              </a:rPr>
                            </m:ctrlPr>
                          </m:sSubPr>
                          <m:e>
                            <m:r>
                              <a:rPr lang="en-GB" sz="2000" i="1" smtClean="0">
                                <a:latin typeface="Cambria Math"/>
                                <a:ea typeface="Cambria Math"/>
                              </a:rPr>
                              <m:t>𝜎</m:t>
                            </m:r>
                          </m:e>
                          <m:sub>
                            <m:r>
                              <a:rPr lang="en-GB" sz="2000" b="0" i="1" smtClean="0">
                                <a:latin typeface="Cambria Math"/>
                                <a:ea typeface="Cambria Math"/>
                              </a:rPr>
                              <m:t>𝑝</m:t>
                            </m:r>
                          </m:sub>
                        </m:sSub>
                        <m:r>
                          <a:rPr lang="en-GB" sz="2000" b="0" i="1" smtClean="0">
                            <a:latin typeface="Cambria Math"/>
                            <a:ea typeface="Cambria Math"/>
                          </a:rPr>
                          <m:t>=</m:t>
                        </m:r>
                        <m:rad>
                          <m:radPr>
                            <m:degHide m:val="on"/>
                            <m:ctrlPr>
                              <a:rPr lang="en-GB" sz="2000" b="0" i="1" smtClean="0">
                                <a:latin typeface="Cambria Math" panose="02040503050406030204" pitchFamily="18" charset="0"/>
                                <a:ea typeface="Cambria Math"/>
                              </a:rPr>
                            </m:ctrlPr>
                          </m:radPr>
                          <m:deg/>
                          <m:e>
                            <m:f>
                              <m:fPr>
                                <m:ctrlPr>
                                  <a:rPr lang="en-GB" sz="2000" b="0" i="1" smtClean="0">
                                    <a:latin typeface="Cambria Math" panose="02040503050406030204" pitchFamily="18" charset="0"/>
                                    <a:ea typeface="Cambria Math"/>
                                  </a:rPr>
                                </m:ctrlPr>
                              </m:fPr>
                              <m:num>
                                <m:r>
                                  <a:rPr lang="en-GB" sz="2000" i="1">
                                    <a:latin typeface="Cambria Math"/>
                                    <a:ea typeface="Cambria Math"/>
                                  </a:rPr>
                                  <m:t>𝜋</m:t>
                                </m:r>
                                <m:d>
                                  <m:dPr>
                                    <m:ctrlPr>
                                      <a:rPr lang="en-GB" sz="2000" i="1">
                                        <a:latin typeface="Cambria Math" panose="02040503050406030204" pitchFamily="18" charset="0"/>
                                        <a:ea typeface="Cambria Math"/>
                                      </a:rPr>
                                    </m:ctrlPr>
                                  </m:dPr>
                                  <m:e>
                                    <m:r>
                                      <a:rPr lang="en-GB" sz="2000" i="1">
                                        <a:latin typeface="Cambria Math"/>
                                        <a:ea typeface="Cambria Math"/>
                                      </a:rPr>
                                      <m:t>1−</m:t>
                                    </m:r>
                                    <m:r>
                                      <a:rPr lang="en-GB" sz="2000" i="1">
                                        <a:latin typeface="Cambria Math"/>
                                        <a:ea typeface="Cambria Math"/>
                                      </a:rPr>
                                      <m:t>𝜋</m:t>
                                    </m:r>
                                  </m:e>
                                </m:d>
                              </m:num>
                              <m:den>
                                <m:r>
                                  <a:rPr lang="en-GB" sz="2000" b="0" i="1" smtClean="0">
                                    <a:latin typeface="Cambria Math"/>
                                    <a:ea typeface="Cambria Math"/>
                                  </a:rPr>
                                  <m:t>𝑛</m:t>
                                </m:r>
                              </m:den>
                            </m:f>
                          </m:e>
                        </m:rad>
                      </m:oMath>
                    </m:oMathPara>
                  </a14:m>
                  <a:endParaRPr lang="en-GB" sz="2000" dirty="0"/>
                </a:p>
              </p:txBody>
            </p:sp>
          </mc:Choice>
          <mc:Fallback xmlns="">
            <p:sp>
              <p:nvSpPr>
                <p:cNvPr id="235" name="Rectangle 234"/>
                <p:cNvSpPr>
                  <a:spLocks noRot="1" noChangeAspect="1" noMove="1" noResize="1" noEditPoints="1" noAdjustHandles="1" noChangeArrowheads="1" noChangeShapeType="1" noTextEdit="1"/>
                </p:cNvSpPr>
                <p:nvPr/>
              </p:nvSpPr>
              <p:spPr>
                <a:xfrm>
                  <a:off x="3048000" y="3657600"/>
                  <a:ext cx="2321612" cy="1066800"/>
                </a:xfrm>
                <a:prstGeom prst="rect">
                  <a:avLst/>
                </a:prstGeom>
                <a:blipFill rotWithShape="1">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6" name="Rectangle 235"/>
                <p:cNvSpPr/>
                <p:nvPr/>
              </p:nvSpPr>
              <p:spPr>
                <a:xfrm>
                  <a:off x="5390744" y="3657600"/>
                  <a:ext cx="2514600" cy="10668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GB" sz="2000" b="0" i="1" smtClean="0">
                            <a:latin typeface="Cambria Math"/>
                            <a:ea typeface="Cambria Math"/>
                          </a:rPr>
                          <m:t>=</m:t>
                        </m:r>
                        <m:rad>
                          <m:radPr>
                            <m:degHide m:val="on"/>
                            <m:ctrlPr>
                              <a:rPr lang="en-GB" sz="2000" b="0" i="1" smtClean="0">
                                <a:latin typeface="Cambria Math" panose="02040503050406030204" pitchFamily="18" charset="0"/>
                                <a:ea typeface="Cambria Math"/>
                              </a:rPr>
                            </m:ctrlPr>
                          </m:radPr>
                          <m:deg/>
                          <m:e>
                            <m:f>
                              <m:fPr>
                                <m:ctrlPr>
                                  <a:rPr lang="en-GB" sz="2000" b="0" i="1" smtClean="0">
                                    <a:latin typeface="Cambria Math" panose="02040503050406030204" pitchFamily="18" charset="0"/>
                                    <a:ea typeface="Cambria Math"/>
                                  </a:rPr>
                                </m:ctrlPr>
                              </m:fPr>
                              <m:num>
                                <m:r>
                                  <a:rPr lang="en-GB" sz="2000" b="0" i="1" smtClean="0">
                                    <a:latin typeface="Cambria Math"/>
                                    <a:ea typeface="Cambria Math"/>
                                  </a:rPr>
                                  <m:t>0.15×</m:t>
                                </m:r>
                                <m:d>
                                  <m:dPr>
                                    <m:ctrlPr>
                                      <a:rPr lang="en-GB" sz="2000" i="1">
                                        <a:latin typeface="Cambria Math" panose="02040503050406030204" pitchFamily="18" charset="0"/>
                                        <a:ea typeface="Cambria Math"/>
                                      </a:rPr>
                                    </m:ctrlPr>
                                  </m:dPr>
                                  <m:e>
                                    <m:r>
                                      <a:rPr lang="en-GB" sz="2000" i="1">
                                        <a:latin typeface="Cambria Math"/>
                                        <a:ea typeface="Cambria Math"/>
                                      </a:rPr>
                                      <m:t>1−</m:t>
                                    </m:r>
                                    <m:r>
                                      <a:rPr lang="en-GB" sz="2000" b="0" i="1" smtClean="0">
                                        <a:latin typeface="Cambria Math"/>
                                        <a:ea typeface="Cambria Math"/>
                                      </a:rPr>
                                      <m:t>0.15</m:t>
                                    </m:r>
                                  </m:e>
                                </m:d>
                              </m:num>
                              <m:den>
                                <m:r>
                                  <a:rPr lang="en-GB" sz="2000" b="0" i="1" smtClean="0">
                                    <a:latin typeface="Cambria Math"/>
                                    <a:ea typeface="Cambria Math"/>
                                  </a:rPr>
                                  <m:t>50</m:t>
                                </m:r>
                              </m:den>
                            </m:f>
                          </m:e>
                        </m:rad>
                      </m:oMath>
                    </m:oMathPara>
                  </a14:m>
                  <a:endParaRPr lang="en-GB" sz="2000" dirty="0"/>
                </a:p>
              </p:txBody>
            </p:sp>
          </mc:Choice>
          <mc:Fallback xmlns="">
            <p:sp>
              <p:nvSpPr>
                <p:cNvPr id="236" name="Rectangle 235"/>
                <p:cNvSpPr>
                  <a:spLocks noRot="1" noChangeAspect="1" noMove="1" noResize="1" noEditPoints="1" noAdjustHandles="1" noChangeArrowheads="1" noChangeShapeType="1" noTextEdit="1"/>
                </p:cNvSpPr>
                <p:nvPr/>
              </p:nvSpPr>
              <p:spPr>
                <a:xfrm>
                  <a:off x="5390744" y="3657600"/>
                  <a:ext cx="2514600" cy="1066800"/>
                </a:xfrm>
                <a:prstGeom prst="rect">
                  <a:avLst/>
                </a:prstGeom>
                <a:blipFill rotWithShape="1">
                  <a:blip r:embed="rId5"/>
                  <a:stretch>
                    <a:fillRect/>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237" name="Rectangle 236"/>
              <p:cNvSpPr/>
              <p:nvPr/>
            </p:nvSpPr>
            <p:spPr>
              <a:xfrm>
                <a:off x="7924800" y="3657599"/>
                <a:ext cx="1143000" cy="1066801"/>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GB" sz="2000" b="0" i="1" smtClean="0">
                          <a:latin typeface="Cambria Math"/>
                          <a:ea typeface="Cambria Math"/>
                        </a:rPr>
                        <m:t>=.05049</m:t>
                      </m:r>
                    </m:oMath>
                  </m:oMathPara>
                </a14:m>
                <a:endParaRPr lang="en-GB" sz="2000" b="0" dirty="0">
                  <a:ea typeface="Cambria Math"/>
                </a:endParaRPr>
              </a:p>
            </p:txBody>
          </p:sp>
        </mc:Choice>
        <mc:Fallback xmlns="">
          <p:sp>
            <p:nvSpPr>
              <p:cNvPr id="237" name="Rectangle 236"/>
              <p:cNvSpPr>
                <a:spLocks noRot="1" noChangeAspect="1" noMove="1" noResize="1" noEditPoints="1" noAdjustHandles="1" noChangeArrowheads="1" noChangeShapeType="1" noTextEdit="1"/>
              </p:cNvSpPr>
              <p:nvPr/>
            </p:nvSpPr>
            <p:spPr>
              <a:xfrm>
                <a:off x="7924800" y="3657599"/>
                <a:ext cx="1143000" cy="1066801"/>
              </a:xfrm>
              <a:prstGeom prst="rect">
                <a:avLst/>
              </a:prstGeom>
              <a:blipFill rotWithShape="1">
                <a:blip r:embed="rId6"/>
                <a:stretch>
                  <a:fillRect/>
                </a:stretch>
              </a:blipFill>
            </p:spPr>
            <p:txBody>
              <a:bodyPr/>
              <a:lstStyle/>
              <a:p>
                <a:r>
                  <a:rPr lang="en-GB">
                    <a:noFill/>
                  </a:rPr>
                  <a:t> </a:t>
                </a:r>
              </a:p>
            </p:txBody>
          </p:sp>
        </mc:Fallback>
      </mc:AlternateContent>
      <p:sp>
        <p:nvSpPr>
          <p:cNvPr id="277" name="Rectangle 276"/>
          <p:cNvSpPr/>
          <p:nvPr/>
        </p:nvSpPr>
        <p:spPr>
          <a:xfrm>
            <a:off x="1854586" y="4812268"/>
            <a:ext cx="596638" cy="369332"/>
          </a:xfrm>
          <a:prstGeom prst="rect">
            <a:avLst/>
          </a:prstGeom>
        </p:spPr>
        <p:txBody>
          <a:bodyPr wrap="none">
            <a:spAutoFit/>
          </a:bodyPr>
          <a:lstStyle/>
          <a:p>
            <a:r>
              <a:rPr lang="en-GB" b="1" dirty="0">
                <a:solidFill>
                  <a:schemeClr val="accent6">
                    <a:lumMod val="75000"/>
                  </a:schemeClr>
                </a:solidFill>
              </a:rPr>
              <a:t>0.15</a:t>
            </a:r>
          </a:p>
        </p:txBody>
      </p:sp>
      <p:cxnSp>
        <p:nvCxnSpPr>
          <p:cNvPr id="278" name="Straight Arrow Connector 277"/>
          <p:cNvCxnSpPr/>
          <p:nvPr/>
        </p:nvCxnSpPr>
        <p:spPr>
          <a:xfrm flipH="1">
            <a:off x="457200" y="4755647"/>
            <a:ext cx="5791200" cy="1"/>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79" name="Rectangle 278"/>
          <p:cNvSpPr/>
          <p:nvPr/>
        </p:nvSpPr>
        <p:spPr>
          <a:xfrm>
            <a:off x="228600" y="4800600"/>
            <a:ext cx="301686" cy="369332"/>
          </a:xfrm>
          <a:prstGeom prst="rect">
            <a:avLst/>
          </a:prstGeom>
        </p:spPr>
        <p:txBody>
          <a:bodyPr wrap="none">
            <a:spAutoFit/>
          </a:bodyPr>
          <a:lstStyle/>
          <a:p>
            <a:r>
              <a:rPr lang="en-GB" b="1" dirty="0">
                <a:solidFill>
                  <a:schemeClr val="accent6">
                    <a:lumMod val="75000"/>
                  </a:schemeClr>
                </a:solidFill>
              </a:rPr>
              <a:t>0</a:t>
            </a:r>
          </a:p>
        </p:txBody>
      </p:sp>
      <p:sp>
        <p:nvSpPr>
          <p:cNvPr id="280" name="Rectangle 279"/>
          <p:cNvSpPr/>
          <p:nvPr/>
        </p:nvSpPr>
        <p:spPr>
          <a:xfrm>
            <a:off x="6099114" y="4800600"/>
            <a:ext cx="301686" cy="369332"/>
          </a:xfrm>
          <a:prstGeom prst="rect">
            <a:avLst/>
          </a:prstGeom>
        </p:spPr>
        <p:txBody>
          <a:bodyPr wrap="none">
            <a:spAutoFit/>
          </a:bodyPr>
          <a:lstStyle/>
          <a:p>
            <a:r>
              <a:rPr lang="en-GB" b="1" dirty="0">
                <a:solidFill>
                  <a:schemeClr val="accent6">
                    <a:lumMod val="75000"/>
                  </a:schemeClr>
                </a:solidFill>
              </a:rPr>
              <a:t>1</a:t>
            </a:r>
          </a:p>
        </p:txBody>
      </p:sp>
      <p:grpSp>
        <p:nvGrpSpPr>
          <p:cNvPr id="283" name="Group 282"/>
          <p:cNvGrpSpPr/>
          <p:nvPr/>
        </p:nvGrpSpPr>
        <p:grpSpPr>
          <a:xfrm>
            <a:off x="2133600" y="3514928"/>
            <a:ext cx="570688" cy="447472"/>
            <a:chOff x="2133600" y="3514928"/>
            <a:chExt cx="570688" cy="447472"/>
          </a:xfrm>
        </p:grpSpPr>
        <p:cxnSp>
          <p:nvCxnSpPr>
            <p:cNvPr id="284" name="Straight Arrow Connector 283"/>
            <p:cNvCxnSpPr/>
            <p:nvPr/>
          </p:nvCxnSpPr>
          <p:spPr>
            <a:xfrm flipV="1">
              <a:off x="2704288" y="3521271"/>
              <a:ext cx="0" cy="441129"/>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5" name="Straight Arrow Connector 284"/>
            <p:cNvCxnSpPr/>
            <p:nvPr/>
          </p:nvCxnSpPr>
          <p:spPr>
            <a:xfrm flipV="1">
              <a:off x="2133600" y="3514928"/>
              <a:ext cx="0" cy="447472"/>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6" name="Straight Arrow Connector 285"/>
            <p:cNvCxnSpPr/>
            <p:nvPr/>
          </p:nvCxnSpPr>
          <p:spPr>
            <a:xfrm>
              <a:off x="2152905" y="3733800"/>
              <a:ext cx="551383" cy="1"/>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grpSp>
      <p:sp>
        <p:nvSpPr>
          <p:cNvPr id="287" name="Rectangle 286"/>
          <p:cNvSpPr/>
          <p:nvPr/>
        </p:nvSpPr>
        <p:spPr>
          <a:xfrm>
            <a:off x="304800" y="725269"/>
            <a:ext cx="5867400" cy="400110"/>
          </a:xfrm>
          <a:prstGeom prst="rect">
            <a:avLst/>
          </a:prstGeom>
        </p:spPr>
        <p:txBody>
          <a:bodyPr wrap="square">
            <a:spAutoFit/>
          </a:bodyPr>
          <a:lstStyle/>
          <a:p>
            <a:r>
              <a:rPr lang="en-GB" sz="2000" b="1" dirty="0"/>
              <a:t>Standard error of the proportion (STEP)</a:t>
            </a:r>
          </a:p>
        </p:txBody>
      </p:sp>
    </p:spTree>
    <p:extLst>
      <p:ext uri="{BB962C8B-B14F-4D97-AF65-F5344CB8AC3E}">
        <p14:creationId xmlns:p14="http://schemas.microsoft.com/office/powerpoint/2010/main" val="3461748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7"/>
                                        </p:tgtEl>
                                        <p:attrNameLst>
                                          <p:attrName>style.visibility</p:attrName>
                                        </p:attrNameLst>
                                      </p:cBhvr>
                                      <p:to>
                                        <p:strVal val="visible"/>
                                      </p:to>
                                    </p:set>
                                    <p:animEffect transition="in" filter="fade">
                                      <p:cBhvr>
                                        <p:cTn id="7" dur="500"/>
                                        <p:tgtEl>
                                          <p:spTgt spid="2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2" name="Group 61"/>
          <p:cNvGrpSpPr/>
          <p:nvPr/>
        </p:nvGrpSpPr>
        <p:grpSpPr>
          <a:xfrm>
            <a:off x="6172200" y="3962400"/>
            <a:ext cx="186070" cy="838199"/>
            <a:chOff x="6172200" y="3962400"/>
            <a:chExt cx="186070" cy="838199"/>
          </a:xfrm>
        </p:grpSpPr>
        <p:sp>
          <p:nvSpPr>
            <p:cNvPr id="63" name="Oval 62"/>
            <p:cNvSpPr/>
            <p:nvPr/>
          </p:nvSpPr>
          <p:spPr>
            <a:xfrm rot="10800000">
              <a:off x="6205707" y="3995057"/>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65" name="Oval 64"/>
            <p:cNvSpPr/>
            <p:nvPr/>
          </p:nvSpPr>
          <p:spPr>
            <a:xfrm rot="10800000">
              <a:off x="6172201" y="4038600"/>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66" name="Oval 65"/>
            <p:cNvSpPr/>
            <p:nvPr/>
          </p:nvSpPr>
          <p:spPr>
            <a:xfrm rot="10800000">
              <a:off x="6190511" y="4419600"/>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67" name="Oval 66"/>
            <p:cNvSpPr/>
            <p:nvPr/>
          </p:nvSpPr>
          <p:spPr>
            <a:xfrm rot="10800000">
              <a:off x="6190511" y="3962400"/>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68" name="Oval 67"/>
            <p:cNvSpPr/>
            <p:nvPr/>
          </p:nvSpPr>
          <p:spPr>
            <a:xfrm rot="10800000">
              <a:off x="6205708" y="4038600"/>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69" name="Oval 68"/>
            <p:cNvSpPr/>
            <p:nvPr/>
          </p:nvSpPr>
          <p:spPr>
            <a:xfrm rot="10800000">
              <a:off x="6172201" y="4147457"/>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70" name="Oval 69"/>
            <p:cNvSpPr/>
            <p:nvPr/>
          </p:nvSpPr>
          <p:spPr>
            <a:xfrm rot="10800000">
              <a:off x="6205708" y="4191000"/>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71" name="Oval 70"/>
            <p:cNvSpPr/>
            <p:nvPr/>
          </p:nvSpPr>
          <p:spPr>
            <a:xfrm rot="10800000">
              <a:off x="6205708" y="4376056"/>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72" name="Oval 71"/>
            <p:cNvSpPr/>
            <p:nvPr/>
          </p:nvSpPr>
          <p:spPr>
            <a:xfrm rot="10800000">
              <a:off x="6172200" y="4419599"/>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73" name="Oval 72"/>
            <p:cNvSpPr/>
            <p:nvPr/>
          </p:nvSpPr>
          <p:spPr>
            <a:xfrm rot="10800000">
              <a:off x="6205707" y="4463142"/>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74" name="Oval 73"/>
            <p:cNvSpPr/>
            <p:nvPr/>
          </p:nvSpPr>
          <p:spPr>
            <a:xfrm rot="10800000">
              <a:off x="6205707" y="4571999"/>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75" name="Oval 74"/>
            <p:cNvSpPr/>
            <p:nvPr/>
          </p:nvSpPr>
          <p:spPr>
            <a:xfrm rot="10800000">
              <a:off x="6172201" y="4615542"/>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76" name="Oval 75"/>
            <p:cNvSpPr/>
            <p:nvPr/>
          </p:nvSpPr>
          <p:spPr>
            <a:xfrm rot="10800000">
              <a:off x="6190510" y="4680856"/>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77" name="Oval 76"/>
            <p:cNvSpPr/>
            <p:nvPr/>
          </p:nvSpPr>
          <p:spPr>
            <a:xfrm rot="10800000">
              <a:off x="6239376" y="4082143"/>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78" name="Oval 77"/>
            <p:cNvSpPr/>
            <p:nvPr/>
          </p:nvSpPr>
          <p:spPr>
            <a:xfrm rot="10800000">
              <a:off x="6205870" y="4158343"/>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79" name="Oval 78"/>
            <p:cNvSpPr/>
            <p:nvPr/>
          </p:nvSpPr>
          <p:spPr>
            <a:xfrm rot="10800000">
              <a:off x="6224180" y="4506686"/>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80" name="Oval 79"/>
            <p:cNvSpPr/>
            <p:nvPr/>
          </p:nvSpPr>
          <p:spPr>
            <a:xfrm rot="10800000">
              <a:off x="6239377" y="4158343"/>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81" name="Oval 80"/>
            <p:cNvSpPr/>
            <p:nvPr/>
          </p:nvSpPr>
          <p:spPr>
            <a:xfrm rot="10800000">
              <a:off x="6205870" y="4234543"/>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82" name="Oval 81"/>
            <p:cNvSpPr/>
            <p:nvPr/>
          </p:nvSpPr>
          <p:spPr>
            <a:xfrm rot="10800000">
              <a:off x="6239377" y="4278086"/>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83" name="Oval 82"/>
            <p:cNvSpPr/>
            <p:nvPr/>
          </p:nvSpPr>
          <p:spPr>
            <a:xfrm rot="10800000">
              <a:off x="6239377" y="4463142"/>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84" name="Oval 83"/>
            <p:cNvSpPr/>
            <p:nvPr/>
          </p:nvSpPr>
          <p:spPr>
            <a:xfrm rot="10800000">
              <a:off x="6205869" y="4506685"/>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grpSp>
      <p:grpSp>
        <p:nvGrpSpPr>
          <p:cNvPr id="85" name="Group 84"/>
          <p:cNvGrpSpPr/>
          <p:nvPr/>
        </p:nvGrpSpPr>
        <p:grpSpPr>
          <a:xfrm>
            <a:off x="381000" y="2438400"/>
            <a:ext cx="198471" cy="2362200"/>
            <a:chOff x="381000" y="2438400"/>
            <a:chExt cx="198471" cy="2362200"/>
          </a:xfrm>
        </p:grpSpPr>
        <p:sp>
          <p:nvSpPr>
            <p:cNvPr id="86" name="Oval 85"/>
            <p:cNvSpPr/>
            <p:nvPr/>
          </p:nvSpPr>
          <p:spPr>
            <a:xfrm rot="10800000">
              <a:off x="399310" y="40603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 name="Oval 86"/>
            <p:cNvSpPr/>
            <p:nvPr/>
          </p:nvSpPr>
          <p:spPr>
            <a:xfrm rot="10800000">
              <a:off x="414507" y="41365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 name="Oval 87"/>
            <p:cNvSpPr/>
            <p:nvPr/>
          </p:nvSpPr>
          <p:spPr>
            <a:xfrm rot="10800000">
              <a:off x="381000" y="42127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9" name="Oval 88"/>
            <p:cNvSpPr/>
            <p:nvPr/>
          </p:nvSpPr>
          <p:spPr>
            <a:xfrm rot="10800000">
              <a:off x="414507" y="4256314"/>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0" name="Oval 89"/>
            <p:cNvSpPr/>
            <p:nvPr/>
          </p:nvSpPr>
          <p:spPr>
            <a:xfrm rot="10800000">
              <a:off x="399310" y="44740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1" name="Oval 90"/>
            <p:cNvSpPr/>
            <p:nvPr/>
          </p:nvSpPr>
          <p:spPr>
            <a:xfrm rot="10800000">
              <a:off x="414507" y="45502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Oval 91"/>
            <p:cNvSpPr/>
            <p:nvPr/>
          </p:nvSpPr>
          <p:spPr>
            <a:xfrm rot="10800000">
              <a:off x="381000" y="46264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3" name="Oval 92"/>
            <p:cNvSpPr/>
            <p:nvPr/>
          </p:nvSpPr>
          <p:spPr>
            <a:xfrm rot="10800000">
              <a:off x="414507" y="46699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Oval 93"/>
            <p:cNvSpPr/>
            <p:nvPr/>
          </p:nvSpPr>
          <p:spPr>
            <a:xfrm rot="10800000">
              <a:off x="399310" y="32221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5" name="Oval 94"/>
            <p:cNvSpPr/>
            <p:nvPr/>
          </p:nvSpPr>
          <p:spPr>
            <a:xfrm rot="10800000">
              <a:off x="414507" y="32983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6" name="Oval 95"/>
            <p:cNvSpPr/>
            <p:nvPr/>
          </p:nvSpPr>
          <p:spPr>
            <a:xfrm rot="10800000">
              <a:off x="381000" y="33745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7" name="Oval 96"/>
            <p:cNvSpPr/>
            <p:nvPr/>
          </p:nvSpPr>
          <p:spPr>
            <a:xfrm rot="10800000">
              <a:off x="414507" y="3418114"/>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8" name="Oval 97"/>
            <p:cNvSpPr/>
            <p:nvPr/>
          </p:nvSpPr>
          <p:spPr>
            <a:xfrm rot="10800000">
              <a:off x="414507" y="35269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9" name="Oval 98"/>
            <p:cNvSpPr/>
            <p:nvPr/>
          </p:nvSpPr>
          <p:spPr>
            <a:xfrm rot="10800000">
              <a:off x="381001" y="3570514"/>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0" name="Oval 99"/>
            <p:cNvSpPr/>
            <p:nvPr/>
          </p:nvSpPr>
          <p:spPr>
            <a:xfrm rot="10800000">
              <a:off x="399310" y="36358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1" name="Oval 100"/>
            <p:cNvSpPr/>
            <p:nvPr/>
          </p:nvSpPr>
          <p:spPr>
            <a:xfrm rot="10800000">
              <a:off x="414507" y="37120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2" name="Oval 101"/>
            <p:cNvSpPr/>
            <p:nvPr/>
          </p:nvSpPr>
          <p:spPr>
            <a:xfrm rot="10800000">
              <a:off x="381000" y="37882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3" name="Oval 102"/>
            <p:cNvSpPr/>
            <p:nvPr/>
          </p:nvSpPr>
          <p:spPr>
            <a:xfrm rot="10800000">
              <a:off x="414507" y="38317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 name="Oval 103"/>
            <p:cNvSpPr/>
            <p:nvPr/>
          </p:nvSpPr>
          <p:spPr>
            <a:xfrm rot="10800000">
              <a:off x="381001" y="39841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5" name="Oval 104"/>
            <p:cNvSpPr/>
            <p:nvPr/>
          </p:nvSpPr>
          <p:spPr>
            <a:xfrm rot="10800000">
              <a:off x="381001" y="4484914"/>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6" name="Oval 105"/>
            <p:cNvSpPr/>
            <p:nvPr/>
          </p:nvSpPr>
          <p:spPr>
            <a:xfrm rot="10800000">
              <a:off x="414508" y="45284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7" name="Oval 106"/>
            <p:cNvSpPr/>
            <p:nvPr/>
          </p:nvSpPr>
          <p:spPr>
            <a:xfrm rot="10800000">
              <a:off x="414508" y="4637314"/>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8" name="Oval 107"/>
            <p:cNvSpPr/>
            <p:nvPr/>
          </p:nvSpPr>
          <p:spPr>
            <a:xfrm rot="10800000">
              <a:off x="381002" y="46808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9" name="Oval 108"/>
            <p:cNvSpPr/>
            <p:nvPr/>
          </p:nvSpPr>
          <p:spPr>
            <a:xfrm rot="10800000">
              <a:off x="399311" y="24384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0" name="Oval 109"/>
            <p:cNvSpPr/>
            <p:nvPr/>
          </p:nvSpPr>
          <p:spPr>
            <a:xfrm rot="10800000">
              <a:off x="414508" y="25146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1" name="Oval 110"/>
            <p:cNvSpPr/>
            <p:nvPr/>
          </p:nvSpPr>
          <p:spPr>
            <a:xfrm rot="10800000">
              <a:off x="381001" y="25908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2" name="Oval 111"/>
            <p:cNvSpPr/>
            <p:nvPr/>
          </p:nvSpPr>
          <p:spPr>
            <a:xfrm rot="10800000">
              <a:off x="414508" y="2634343"/>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3" name="Oval 112"/>
            <p:cNvSpPr/>
            <p:nvPr/>
          </p:nvSpPr>
          <p:spPr>
            <a:xfrm rot="10800000">
              <a:off x="414508" y="27432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4" name="Oval 113"/>
            <p:cNvSpPr/>
            <p:nvPr/>
          </p:nvSpPr>
          <p:spPr>
            <a:xfrm rot="10800000">
              <a:off x="381002" y="2786743"/>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5" name="Oval 114"/>
            <p:cNvSpPr/>
            <p:nvPr/>
          </p:nvSpPr>
          <p:spPr>
            <a:xfrm rot="10800000">
              <a:off x="399311" y="28520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 name="Oval 115"/>
            <p:cNvSpPr/>
            <p:nvPr/>
          </p:nvSpPr>
          <p:spPr>
            <a:xfrm rot="10800000">
              <a:off x="414508" y="29282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 name="Oval 116"/>
            <p:cNvSpPr/>
            <p:nvPr/>
          </p:nvSpPr>
          <p:spPr>
            <a:xfrm rot="10800000">
              <a:off x="381001" y="30044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8" name="Oval 117"/>
            <p:cNvSpPr/>
            <p:nvPr/>
          </p:nvSpPr>
          <p:spPr>
            <a:xfrm rot="10800000">
              <a:off x="414508" y="30480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9" name="Oval 118"/>
            <p:cNvSpPr/>
            <p:nvPr/>
          </p:nvSpPr>
          <p:spPr>
            <a:xfrm rot="10800000">
              <a:off x="445381" y="26439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0" name="Oval 119"/>
            <p:cNvSpPr/>
            <p:nvPr/>
          </p:nvSpPr>
          <p:spPr>
            <a:xfrm rot="10800000">
              <a:off x="460578" y="27201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1" name="Oval 120"/>
            <p:cNvSpPr/>
            <p:nvPr/>
          </p:nvSpPr>
          <p:spPr>
            <a:xfrm rot="10800000">
              <a:off x="427071" y="27963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2" name="Oval 121"/>
            <p:cNvSpPr/>
            <p:nvPr/>
          </p:nvSpPr>
          <p:spPr>
            <a:xfrm rot="10800000">
              <a:off x="460578" y="283990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3" name="Oval 122"/>
            <p:cNvSpPr/>
            <p:nvPr/>
          </p:nvSpPr>
          <p:spPr>
            <a:xfrm rot="10800000">
              <a:off x="460578" y="29487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4" name="Oval 123"/>
            <p:cNvSpPr/>
            <p:nvPr/>
          </p:nvSpPr>
          <p:spPr>
            <a:xfrm rot="10800000">
              <a:off x="427072" y="299230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5" name="Oval 124"/>
            <p:cNvSpPr/>
            <p:nvPr/>
          </p:nvSpPr>
          <p:spPr>
            <a:xfrm rot="10800000">
              <a:off x="445381" y="3057622"/>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6" name="Oval 125"/>
            <p:cNvSpPr/>
            <p:nvPr/>
          </p:nvSpPr>
          <p:spPr>
            <a:xfrm rot="10800000">
              <a:off x="414506" y="41910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7" name="Oval 126"/>
            <p:cNvSpPr/>
            <p:nvPr/>
          </p:nvSpPr>
          <p:spPr>
            <a:xfrm rot="10800000">
              <a:off x="381000" y="4234543"/>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8" name="Oval 127"/>
            <p:cNvSpPr/>
            <p:nvPr/>
          </p:nvSpPr>
          <p:spPr>
            <a:xfrm rot="10800000">
              <a:off x="399309" y="42998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9" name="Oval 128"/>
            <p:cNvSpPr/>
            <p:nvPr/>
          </p:nvSpPr>
          <p:spPr>
            <a:xfrm rot="10800000">
              <a:off x="460576" y="41679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0" name="Oval 129"/>
            <p:cNvSpPr/>
            <p:nvPr/>
          </p:nvSpPr>
          <p:spPr>
            <a:xfrm rot="10800000">
              <a:off x="427069" y="42441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1" name="Oval 130"/>
            <p:cNvSpPr/>
            <p:nvPr/>
          </p:nvSpPr>
          <p:spPr>
            <a:xfrm rot="10800000">
              <a:off x="460576" y="428770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aphicFrame>
        <p:nvGraphicFramePr>
          <p:cNvPr id="264" name="Chart 263"/>
          <p:cNvGraphicFramePr/>
          <p:nvPr>
            <p:extLst>
              <p:ext uri="{D42A27DB-BD31-4B8C-83A1-F6EECF244321}">
                <p14:modId xmlns:p14="http://schemas.microsoft.com/office/powerpoint/2010/main" val="2361151711"/>
              </p:ext>
            </p:extLst>
          </p:nvPr>
        </p:nvGraphicFramePr>
        <p:xfrm>
          <a:off x="317770" y="1686408"/>
          <a:ext cx="6096000" cy="3217538"/>
        </p:xfrm>
        <a:graphic>
          <a:graphicData uri="http://schemas.openxmlformats.org/drawingml/2006/chart">
            <c:chart xmlns:c="http://schemas.openxmlformats.org/drawingml/2006/chart" xmlns:r="http://schemas.openxmlformats.org/officeDocument/2006/relationships" r:id="rId3"/>
          </a:graphicData>
        </a:graphic>
      </p:graphicFrame>
      <p:cxnSp>
        <p:nvCxnSpPr>
          <p:cNvPr id="265" name="Straight Arrow Connector 264"/>
          <p:cNvCxnSpPr/>
          <p:nvPr/>
        </p:nvCxnSpPr>
        <p:spPr>
          <a:xfrm flipV="1">
            <a:off x="2132242" y="2238984"/>
            <a:ext cx="0" cy="2607474"/>
          </a:xfrm>
          <a:prstGeom prst="straightConnector1">
            <a:avLst/>
          </a:prstGeom>
          <a:ln w="38100">
            <a:headEnd type="none" w="med" len="med"/>
            <a:tailEnd type="none" w="med" len="med"/>
          </a:ln>
        </p:spPr>
        <p:style>
          <a:lnRef idx="1">
            <a:schemeClr val="accent6"/>
          </a:lnRef>
          <a:fillRef idx="0">
            <a:schemeClr val="accent6"/>
          </a:fillRef>
          <a:effectRef idx="0">
            <a:schemeClr val="accent6"/>
          </a:effectRef>
          <a:fontRef idx="minor">
            <a:schemeClr val="tx1"/>
          </a:fontRef>
        </p:style>
      </p:cxnSp>
      <p:sp>
        <p:nvSpPr>
          <p:cNvPr id="2" name="Title 1"/>
          <p:cNvSpPr>
            <a:spLocks noGrp="1"/>
          </p:cNvSpPr>
          <p:nvPr>
            <p:ph type="title"/>
          </p:nvPr>
        </p:nvSpPr>
        <p:spPr/>
        <p:txBody>
          <a:bodyPr/>
          <a:lstStyle/>
          <a:p>
            <a:r>
              <a:rPr lang="en-GB" altLang="en-US" dirty="0"/>
              <a:t>Z Test for Proportion</a:t>
            </a:r>
            <a:endParaRPr lang="en-GB" dirty="0"/>
          </a:p>
        </p:txBody>
      </p:sp>
      <p:grpSp>
        <p:nvGrpSpPr>
          <p:cNvPr id="140" name="Group 139"/>
          <p:cNvGrpSpPr/>
          <p:nvPr/>
        </p:nvGrpSpPr>
        <p:grpSpPr>
          <a:xfrm>
            <a:off x="6248400" y="152400"/>
            <a:ext cx="2743199" cy="3124200"/>
            <a:chOff x="925287" y="1143000"/>
            <a:chExt cx="6618513" cy="4315816"/>
          </a:xfrm>
          <a:solidFill>
            <a:schemeClr val="bg1">
              <a:lumMod val="95000"/>
            </a:schemeClr>
          </a:solidFill>
        </p:grpSpPr>
        <p:grpSp>
          <p:nvGrpSpPr>
            <p:cNvPr id="210" name="Group 209"/>
            <p:cNvGrpSpPr/>
            <p:nvPr/>
          </p:nvGrpSpPr>
          <p:grpSpPr>
            <a:xfrm>
              <a:off x="925287" y="1143000"/>
              <a:ext cx="6618513" cy="958268"/>
              <a:chOff x="-65314" y="1093291"/>
              <a:chExt cx="6618513" cy="958268"/>
            </a:xfrm>
            <a:grpFill/>
          </p:grpSpPr>
          <p:sp>
            <p:nvSpPr>
              <p:cNvPr id="229" name="Freeform 228"/>
              <p:cNvSpPr/>
              <p:nvPr/>
            </p:nvSpPr>
            <p:spPr>
              <a:xfrm>
                <a:off x="-65314" y="1093291"/>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grpFill/>
              <a:ln>
                <a:solidFill>
                  <a:schemeClr val="bg1">
                    <a:lumMod val="95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chemeClr val="bg1">
                        <a:lumMod val="65000"/>
                      </a:schemeClr>
                    </a:solidFill>
                  </a:rPr>
                  <a:t>1</a:t>
                </a:r>
              </a:p>
            </p:txBody>
          </p:sp>
          <p:sp>
            <p:nvSpPr>
              <p:cNvPr id="230" name="Freeform 229"/>
              <p:cNvSpPr/>
              <p:nvPr/>
            </p:nvSpPr>
            <p:spPr>
              <a:xfrm>
                <a:off x="1127986" y="1093293"/>
                <a:ext cx="5425213" cy="622873"/>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grpFill/>
              <a:ln>
                <a:solidFill>
                  <a:schemeClr val="bg1">
                    <a:lumMod val="95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1" numCol="1" spcCol="1270" anchor="ctr" anchorCtr="0">
                <a:noAutofit/>
              </a:bodyPr>
              <a:lstStyle/>
              <a:p>
                <a:pPr marL="0" lvl="1" algn="l" defTabSz="755650">
                  <a:lnSpc>
                    <a:spcPct val="90000"/>
                  </a:lnSpc>
                  <a:spcBef>
                    <a:spcPct val="0"/>
                  </a:spcBef>
                  <a:spcAft>
                    <a:spcPct val="15000"/>
                  </a:spcAft>
                </a:pPr>
                <a:r>
                  <a:rPr lang="en-GB" sz="1600" kern="1200" dirty="0">
                    <a:solidFill>
                      <a:schemeClr val="bg1">
                        <a:lumMod val="65000"/>
                      </a:schemeClr>
                    </a:solidFill>
                  </a:rPr>
                  <a:t>State your null hypothesis (H</a:t>
                </a:r>
                <a:r>
                  <a:rPr lang="en-GB" sz="1600" kern="1200" baseline="-25000" dirty="0">
                    <a:solidFill>
                      <a:schemeClr val="bg1">
                        <a:lumMod val="65000"/>
                      </a:schemeClr>
                    </a:solidFill>
                  </a:rPr>
                  <a:t>0</a:t>
                </a:r>
                <a:r>
                  <a:rPr lang="en-GB" sz="1600" kern="1200" baseline="0" dirty="0">
                    <a:solidFill>
                      <a:schemeClr val="bg1">
                        <a:lumMod val="65000"/>
                      </a:schemeClr>
                    </a:solidFill>
                  </a:rPr>
                  <a:t>)</a:t>
                </a:r>
              </a:p>
            </p:txBody>
          </p:sp>
        </p:grpSp>
        <p:grpSp>
          <p:nvGrpSpPr>
            <p:cNvPr id="211" name="Group 210"/>
            <p:cNvGrpSpPr/>
            <p:nvPr/>
          </p:nvGrpSpPr>
          <p:grpSpPr>
            <a:xfrm>
              <a:off x="925287" y="1982387"/>
              <a:ext cx="6618513" cy="958268"/>
              <a:chOff x="-65314" y="1932678"/>
              <a:chExt cx="6618513" cy="958268"/>
            </a:xfrm>
            <a:grpFill/>
          </p:grpSpPr>
          <p:sp>
            <p:nvSpPr>
              <p:cNvPr id="227" name="Freeform 226"/>
              <p:cNvSpPr/>
              <p:nvPr/>
            </p:nvSpPr>
            <p:spPr>
              <a:xfrm>
                <a:off x="-65314" y="1932678"/>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solidFill>
                <a:schemeClr val="accent1"/>
              </a:solidFill>
              <a:ln>
                <a:solidFill>
                  <a:schemeClr val="accent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chemeClr val="bg1"/>
                    </a:solidFill>
                  </a:rPr>
                  <a:t>2</a:t>
                </a:r>
              </a:p>
            </p:txBody>
          </p:sp>
          <p:sp>
            <p:nvSpPr>
              <p:cNvPr id="228" name="Freeform 227"/>
              <p:cNvSpPr/>
              <p:nvPr/>
            </p:nvSpPr>
            <p:spPr>
              <a:xfrm>
                <a:off x="1127986" y="1932680"/>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solidFill>
                <a:schemeClr val="bg1"/>
              </a:solidFill>
              <a:ln>
                <a:solidFill>
                  <a:schemeClr val="accent1"/>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defTabSz="755650">
                  <a:lnSpc>
                    <a:spcPct val="90000"/>
                  </a:lnSpc>
                  <a:spcBef>
                    <a:spcPct val="0"/>
                  </a:spcBef>
                  <a:spcAft>
                    <a:spcPct val="15000"/>
                  </a:spcAft>
                </a:pPr>
                <a:r>
                  <a:rPr lang="en-GB" sz="1600" b="1" dirty="0">
                    <a:solidFill>
                      <a:schemeClr val="tx1"/>
                    </a:solidFill>
                  </a:rPr>
                  <a:t>Calculate test statistic </a:t>
                </a:r>
                <a:r>
                  <a:rPr lang="en-GB" sz="1600" dirty="0">
                    <a:solidFill>
                      <a:schemeClr val="tx1"/>
                    </a:solidFill>
                  </a:rPr>
                  <a:t>from data (stat.)</a:t>
                </a:r>
              </a:p>
            </p:txBody>
          </p:sp>
        </p:grpSp>
        <p:grpSp>
          <p:nvGrpSpPr>
            <p:cNvPr id="214" name="Group 213"/>
            <p:cNvGrpSpPr/>
            <p:nvPr/>
          </p:nvGrpSpPr>
          <p:grpSpPr>
            <a:xfrm>
              <a:off x="925287" y="2821774"/>
              <a:ext cx="6618513" cy="958268"/>
              <a:chOff x="-65314" y="2772065"/>
              <a:chExt cx="6618513" cy="958268"/>
            </a:xfrm>
            <a:grpFill/>
          </p:grpSpPr>
          <p:sp>
            <p:nvSpPr>
              <p:cNvPr id="223" name="Freeform 222"/>
              <p:cNvSpPr/>
              <p:nvPr/>
            </p:nvSpPr>
            <p:spPr>
              <a:xfrm>
                <a:off x="-65314" y="2772065"/>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grpFill/>
              <a:ln>
                <a:solidFill>
                  <a:schemeClr val="bg1">
                    <a:lumMod val="95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chemeClr val="bg1">
                        <a:lumMod val="65000"/>
                      </a:schemeClr>
                    </a:solidFill>
                  </a:rPr>
                  <a:t>3</a:t>
                </a:r>
              </a:p>
            </p:txBody>
          </p:sp>
          <p:sp>
            <p:nvSpPr>
              <p:cNvPr id="224" name="Freeform 223"/>
              <p:cNvSpPr/>
              <p:nvPr/>
            </p:nvSpPr>
            <p:spPr>
              <a:xfrm>
                <a:off x="1127986" y="2772067"/>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grpFill/>
              <a:ln>
                <a:solidFill>
                  <a:schemeClr val="bg1">
                    <a:lumMod val="95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defTabSz="755650">
                  <a:lnSpc>
                    <a:spcPct val="90000"/>
                  </a:lnSpc>
                  <a:spcBef>
                    <a:spcPct val="0"/>
                  </a:spcBef>
                  <a:spcAft>
                    <a:spcPct val="15000"/>
                  </a:spcAft>
                </a:pPr>
                <a:r>
                  <a:rPr lang="en-GB" sz="1600" b="1" dirty="0">
                    <a:solidFill>
                      <a:schemeClr val="bg1">
                        <a:lumMod val="65000"/>
                      </a:schemeClr>
                    </a:solidFill>
                  </a:rPr>
                  <a:t>Choose </a:t>
                </a:r>
                <a:r>
                  <a:rPr lang="en-GB" sz="1600" dirty="0">
                    <a:solidFill>
                      <a:schemeClr val="bg1">
                        <a:lumMod val="65000"/>
                      </a:schemeClr>
                    </a:solidFill>
                  </a:rPr>
                  <a:t>a level of </a:t>
                </a:r>
                <a:r>
                  <a:rPr lang="en-GB" sz="1600" b="1" dirty="0">
                    <a:solidFill>
                      <a:schemeClr val="bg1">
                        <a:lumMod val="65000"/>
                      </a:schemeClr>
                    </a:solidFill>
                  </a:rPr>
                  <a:t>significance</a:t>
                </a:r>
                <a:r>
                  <a:rPr lang="en-GB" sz="1600" dirty="0">
                    <a:solidFill>
                      <a:schemeClr val="bg1">
                        <a:lumMod val="65000"/>
                      </a:schemeClr>
                    </a:solidFill>
                  </a:rPr>
                  <a:t> (</a:t>
                </a:r>
                <a:r>
                  <a:rPr lang="el-GR" sz="1600" dirty="0">
                    <a:solidFill>
                      <a:schemeClr val="bg1">
                        <a:lumMod val="65000"/>
                      </a:schemeClr>
                    </a:solidFill>
                  </a:rPr>
                  <a:t>α</a:t>
                </a:r>
                <a:r>
                  <a:rPr lang="en-GB" sz="1600" dirty="0">
                    <a:solidFill>
                      <a:schemeClr val="bg1">
                        <a:lumMod val="65000"/>
                      </a:schemeClr>
                    </a:solidFill>
                  </a:rPr>
                  <a:t>)</a:t>
                </a:r>
              </a:p>
            </p:txBody>
          </p:sp>
        </p:grpSp>
        <p:grpSp>
          <p:nvGrpSpPr>
            <p:cNvPr id="215" name="Group 214"/>
            <p:cNvGrpSpPr/>
            <p:nvPr/>
          </p:nvGrpSpPr>
          <p:grpSpPr>
            <a:xfrm>
              <a:off x="925287" y="3661161"/>
              <a:ext cx="6618513" cy="958268"/>
              <a:chOff x="-65314" y="3611452"/>
              <a:chExt cx="6618513" cy="958268"/>
            </a:xfrm>
            <a:grpFill/>
          </p:grpSpPr>
          <p:sp>
            <p:nvSpPr>
              <p:cNvPr id="221" name="Freeform 220"/>
              <p:cNvSpPr/>
              <p:nvPr/>
            </p:nvSpPr>
            <p:spPr>
              <a:xfrm>
                <a:off x="-65314" y="3611452"/>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grpFill/>
              <a:ln>
                <a:solidFill>
                  <a:schemeClr val="bg1">
                    <a:lumMod val="95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baseline="0" dirty="0">
                    <a:solidFill>
                      <a:schemeClr val="bg1">
                        <a:lumMod val="65000"/>
                      </a:schemeClr>
                    </a:solidFill>
                  </a:rPr>
                  <a:t>4</a:t>
                </a:r>
              </a:p>
            </p:txBody>
          </p:sp>
          <p:sp>
            <p:nvSpPr>
              <p:cNvPr id="222" name="Freeform 221"/>
              <p:cNvSpPr/>
              <p:nvPr/>
            </p:nvSpPr>
            <p:spPr>
              <a:xfrm>
                <a:off x="1127986" y="3611453"/>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grpFill/>
              <a:ln>
                <a:solidFill>
                  <a:schemeClr val="bg1">
                    <a:lumMod val="95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algn="l" defTabSz="755650">
                  <a:lnSpc>
                    <a:spcPct val="90000"/>
                  </a:lnSpc>
                  <a:spcBef>
                    <a:spcPct val="0"/>
                  </a:spcBef>
                  <a:spcAft>
                    <a:spcPct val="15000"/>
                  </a:spcAft>
                </a:pPr>
                <a:r>
                  <a:rPr lang="en-GB" sz="1600" b="1" kern="1200" baseline="0" dirty="0">
                    <a:solidFill>
                      <a:schemeClr val="bg1">
                        <a:lumMod val="65000"/>
                      </a:schemeClr>
                    </a:solidFill>
                  </a:rPr>
                  <a:t>Lookup </a:t>
                </a:r>
                <a:r>
                  <a:rPr lang="en-GB" sz="1600" kern="1200" baseline="0" dirty="0">
                    <a:solidFill>
                      <a:schemeClr val="bg1">
                        <a:lumMod val="65000"/>
                      </a:schemeClr>
                    </a:solidFill>
                  </a:rPr>
                  <a:t>the</a:t>
                </a:r>
                <a:r>
                  <a:rPr lang="en-GB" sz="1600" b="1" kern="1200" baseline="0" dirty="0">
                    <a:solidFill>
                      <a:schemeClr val="bg1">
                        <a:lumMod val="65000"/>
                      </a:schemeClr>
                    </a:solidFill>
                  </a:rPr>
                  <a:t> </a:t>
                </a:r>
                <a:r>
                  <a:rPr lang="en-GB" sz="1600" b="0" kern="1200" baseline="0" dirty="0">
                    <a:solidFill>
                      <a:schemeClr val="bg1">
                        <a:lumMod val="65000"/>
                      </a:schemeClr>
                    </a:solidFill>
                  </a:rPr>
                  <a:t>critical value or the p-value</a:t>
                </a:r>
                <a:endParaRPr lang="en-GB" sz="1600" kern="1200" baseline="0" dirty="0">
                  <a:solidFill>
                    <a:schemeClr val="bg1">
                      <a:lumMod val="65000"/>
                    </a:schemeClr>
                  </a:solidFill>
                </a:endParaRPr>
              </a:p>
            </p:txBody>
          </p:sp>
        </p:grpSp>
        <p:grpSp>
          <p:nvGrpSpPr>
            <p:cNvPr id="217" name="Group 216"/>
            <p:cNvGrpSpPr/>
            <p:nvPr/>
          </p:nvGrpSpPr>
          <p:grpSpPr>
            <a:xfrm>
              <a:off x="925287" y="4500548"/>
              <a:ext cx="6618513" cy="958268"/>
              <a:chOff x="-65314" y="4450839"/>
              <a:chExt cx="6618513" cy="958268"/>
            </a:xfrm>
            <a:grpFill/>
          </p:grpSpPr>
          <p:sp>
            <p:nvSpPr>
              <p:cNvPr id="219" name="Freeform 218"/>
              <p:cNvSpPr/>
              <p:nvPr/>
            </p:nvSpPr>
            <p:spPr>
              <a:xfrm>
                <a:off x="-65314" y="4450839"/>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grpFill/>
              <a:ln>
                <a:solidFill>
                  <a:schemeClr val="bg1">
                    <a:lumMod val="95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baseline="0" dirty="0">
                    <a:solidFill>
                      <a:schemeClr val="bg1">
                        <a:lumMod val="65000"/>
                      </a:schemeClr>
                    </a:solidFill>
                  </a:rPr>
                  <a:t>5</a:t>
                </a:r>
              </a:p>
            </p:txBody>
          </p:sp>
          <p:sp>
            <p:nvSpPr>
              <p:cNvPr id="220" name="Freeform 219"/>
              <p:cNvSpPr/>
              <p:nvPr/>
            </p:nvSpPr>
            <p:spPr>
              <a:xfrm>
                <a:off x="1127986" y="4450840"/>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grpFill/>
              <a:ln>
                <a:solidFill>
                  <a:schemeClr val="bg1">
                    <a:lumMod val="95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algn="l" defTabSz="755650">
                  <a:lnSpc>
                    <a:spcPct val="90000"/>
                  </a:lnSpc>
                  <a:spcBef>
                    <a:spcPct val="0"/>
                  </a:spcBef>
                  <a:spcAft>
                    <a:spcPct val="15000"/>
                  </a:spcAft>
                </a:pPr>
                <a:r>
                  <a:rPr lang="en-GB" sz="1600" b="1" kern="1200" baseline="0" dirty="0">
                    <a:solidFill>
                      <a:schemeClr val="bg1">
                        <a:lumMod val="65000"/>
                      </a:schemeClr>
                    </a:solidFill>
                  </a:rPr>
                  <a:t>Reject</a:t>
                </a:r>
                <a:r>
                  <a:rPr lang="en-GB" sz="1600" kern="1200" baseline="0" dirty="0">
                    <a:solidFill>
                      <a:schemeClr val="bg1">
                        <a:lumMod val="65000"/>
                      </a:schemeClr>
                    </a:solidFill>
                  </a:rPr>
                  <a:t> </a:t>
                </a:r>
                <a:r>
                  <a:rPr lang="en-GB" sz="1600" kern="1200" dirty="0">
                    <a:solidFill>
                      <a:schemeClr val="bg1">
                        <a:lumMod val="65000"/>
                      </a:schemeClr>
                    </a:solidFill>
                  </a:rPr>
                  <a:t>H</a:t>
                </a:r>
                <a:r>
                  <a:rPr lang="en-GB" sz="1600" kern="1200" baseline="-25000" dirty="0">
                    <a:solidFill>
                      <a:schemeClr val="bg1">
                        <a:lumMod val="65000"/>
                      </a:schemeClr>
                    </a:solidFill>
                  </a:rPr>
                  <a:t>0</a:t>
                </a:r>
                <a:r>
                  <a:rPr lang="en-GB" sz="1600" kern="1200" baseline="0" dirty="0">
                    <a:solidFill>
                      <a:schemeClr val="bg1">
                        <a:lumMod val="65000"/>
                      </a:schemeClr>
                    </a:solidFill>
                  </a:rPr>
                  <a:t> or </a:t>
                </a:r>
                <a:r>
                  <a:rPr lang="en-GB" sz="1600" b="1" kern="1200" baseline="0" dirty="0">
                    <a:solidFill>
                      <a:schemeClr val="bg1">
                        <a:lumMod val="65000"/>
                      </a:schemeClr>
                    </a:solidFill>
                  </a:rPr>
                  <a:t>Fail</a:t>
                </a:r>
                <a:r>
                  <a:rPr lang="en-GB" sz="1600" b="1" kern="1200" dirty="0">
                    <a:solidFill>
                      <a:schemeClr val="bg1">
                        <a:lumMod val="65000"/>
                      </a:schemeClr>
                    </a:solidFill>
                  </a:rPr>
                  <a:t> to </a:t>
                </a:r>
                <a:r>
                  <a:rPr lang="en-GB" sz="1600" kern="1200" dirty="0">
                    <a:solidFill>
                      <a:schemeClr val="bg1">
                        <a:lumMod val="65000"/>
                      </a:schemeClr>
                    </a:solidFill>
                  </a:rPr>
                  <a:t>Reject</a:t>
                </a:r>
                <a:r>
                  <a:rPr lang="en-GB" sz="1600" kern="1200" baseline="0" dirty="0">
                    <a:solidFill>
                      <a:schemeClr val="bg1">
                        <a:lumMod val="65000"/>
                      </a:schemeClr>
                    </a:solidFill>
                  </a:rPr>
                  <a:t> </a:t>
                </a:r>
              </a:p>
            </p:txBody>
          </p:sp>
        </p:grpSp>
      </p:grpSp>
      <p:grpSp>
        <p:nvGrpSpPr>
          <p:cNvPr id="231" name="Group 230"/>
          <p:cNvGrpSpPr/>
          <p:nvPr/>
        </p:nvGrpSpPr>
        <p:grpSpPr>
          <a:xfrm>
            <a:off x="6248400" y="152399"/>
            <a:ext cx="2743199" cy="693685"/>
            <a:chOff x="-65314" y="1093291"/>
            <a:chExt cx="6618513" cy="958268"/>
          </a:xfrm>
        </p:grpSpPr>
        <p:sp>
          <p:nvSpPr>
            <p:cNvPr id="232" name="Freeform 231"/>
            <p:cNvSpPr/>
            <p:nvPr/>
          </p:nvSpPr>
          <p:spPr>
            <a:xfrm>
              <a:off x="-65314" y="1093291"/>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t>1</a:t>
              </a:r>
            </a:p>
          </p:txBody>
        </p:sp>
        <p:sp>
          <p:nvSpPr>
            <p:cNvPr id="233" name="Freeform 232"/>
            <p:cNvSpPr/>
            <p:nvPr/>
          </p:nvSpPr>
          <p:spPr>
            <a:xfrm>
              <a:off x="1127986" y="1093293"/>
              <a:ext cx="5425213" cy="622873"/>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1" numCol="1" spcCol="1270" anchor="ctr" anchorCtr="0">
              <a:noAutofit/>
            </a:bodyPr>
            <a:lstStyle/>
            <a:p>
              <a:pPr marL="0" lvl="1" algn="l" defTabSz="755650">
                <a:lnSpc>
                  <a:spcPct val="90000"/>
                </a:lnSpc>
                <a:spcBef>
                  <a:spcPct val="0"/>
                </a:spcBef>
                <a:spcAft>
                  <a:spcPct val="15000"/>
                </a:spcAft>
              </a:pPr>
              <a:r>
                <a:rPr lang="en-GB" sz="1600" kern="1200" dirty="0"/>
                <a:t>State your null hypothesis (H</a:t>
              </a:r>
              <a:r>
                <a:rPr lang="en-GB" sz="1600" kern="1200" baseline="-25000" dirty="0"/>
                <a:t>0</a:t>
              </a:r>
              <a:r>
                <a:rPr lang="en-GB" sz="1600" kern="1200" baseline="0" dirty="0"/>
                <a:t>)</a:t>
              </a:r>
            </a:p>
          </p:txBody>
        </p:sp>
      </p:grpSp>
      <p:sp>
        <p:nvSpPr>
          <p:cNvPr id="39" name="Rectangle 38"/>
          <p:cNvSpPr/>
          <p:nvPr/>
        </p:nvSpPr>
        <p:spPr>
          <a:xfrm>
            <a:off x="1854586" y="4812268"/>
            <a:ext cx="596638" cy="369332"/>
          </a:xfrm>
          <a:prstGeom prst="rect">
            <a:avLst/>
          </a:prstGeom>
        </p:spPr>
        <p:txBody>
          <a:bodyPr wrap="none">
            <a:spAutoFit/>
          </a:bodyPr>
          <a:lstStyle/>
          <a:p>
            <a:r>
              <a:rPr lang="en-GB" b="1" dirty="0">
                <a:solidFill>
                  <a:schemeClr val="accent6">
                    <a:lumMod val="75000"/>
                  </a:schemeClr>
                </a:solidFill>
              </a:rPr>
              <a:t>0.15</a:t>
            </a:r>
          </a:p>
        </p:txBody>
      </p:sp>
      <p:cxnSp>
        <p:nvCxnSpPr>
          <p:cNvPr id="40" name="Straight Arrow Connector 39"/>
          <p:cNvCxnSpPr/>
          <p:nvPr/>
        </p:nvCxnSpPr>
        <p:spPr>
          <a:xfrm flipH="1">
            <a:off x="457200" y="4755647"/>
            <a:ext cx="5791200" cy="1"/>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41" name="Rectangle 40"/>
          <p:cNvSpPr/>
          <p:nvPr/>
        </p:nvSpPr>
        <p:spPr>
          <a:xfrm>
            <a:off x="228600" y="4800600"/>
            <a:ext cx="301686" cy="369332"/>
          </a:xfrm>
          <a:prstGeom prst="rect">
            <a:avLst/>
          </a:prstGeom>
        </p:spPr>
        <p:txBody>
          <a:bodyPr wrap="none">
            <a:spAutoFit/>
          </a:bodyPr>
          <a:lstStyle/>
          <a:p>
            <a:r>
              <a:rPr lang="en-GB" b="1" dirty="0">
                <a:solidFill>
                  <a:schemeClr val="accent6">
                    <a:lumMod val="75000"/>
                  </a:schemeClr>
                </a:solidFill>
              </a:rPr>
              <a:t>0</a:t>
            </a:r>
          </a:p>
        </p:txBody>
      </p:sp>
      <p:sp>
        <p:nvSpPr>
          <p:cNvPr id="42" name="Rectangle 41"/>
          <p:cNvSpPr/>
          <p:nvPr/>
        </p:nvSpPr>
        <p:spPr>
          <a:xfrm>
            <a:off x="6099114" y="4800600"/>
            <a:ext cx="301686" cy="369332"/>
          </a:xfrm>
          <a:prstGeom prst="rect">
            <a:avLst/>
          </a:prstGeom>
        </p:spPr>
        <p:txBody>
          <a:bodyPr wrap="none">
            <a:spAutoFit/>
          </a:bodyPr>
          <a:lstStyle/>
          <a:p>
            <a:r>
              <a:rPr lang="en-GB" b="1" dirty="0">
                <a:solidFill>
                  <a:schemeClr val="accent6">
                    <a:lumMod val="75000"/>
                  </a:schemeClr>
                </a:solidFill>
              </a:rPr>
              <a:t>1</a:t>
            </a:r>
          </a:p>
        </p:txBody>
      </p:sp>
      <p:grpSp>
        <p:nvGrpSpPr>
          <p:cNvPr id="5" name="Group 4"/>
          <p:cNvGrpSpPr/>
          <p:nvPr/>
        </p:nvGrpSpPr>
        <p:grpSpPr>
          <a:xfrm>
            <a:off x="1048702" y="2383939"/>
            <a:ext cx="3218498" cy="1578461"/>
            <a:chOff x="1048702" y="2383939"/>
            <a:chExt cx="3218498" cy="1578461"/>
          </a:xfrm>
        </p:grpSpPr>
        <mc:AlternateContent xmlns:mc="http://schemas.openxmlformats.org/markup-compatibility/2006" xmlns:a14="http://schemas.microsoft.com/office/drawing/2010/main">
          <mc:Choice Requires="a14">
            <p:sp>
              <p:nvSpPr>
                <p:cNvPr id="38" name="Rectangular Callout 37"/>
                <p:cNvSpPr/>
                <p:nvPr/>
              </p:nvSpPr>
              <p:spPr>
                <a:xfrm>
                  <a:off x="2514600" y="2383939"/>
                  <a:ext cx="1752600" cy="469851"/>
                </a:xfrm>
                <a:prstGeom prst="wedgeRectCallout">
                  <a:avLst>
                    <a:gd name="adj1" fmla="val -58021"/>
                    <a:gd name="adj2" fmla="val 21363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GB" sz="2000" i="1" smtClean="0">
                                <a:latin typeface="Cambria Math" panose="02040503050406030204" pitchFamily="18" charset="0"/>
                                <a:ea typeface="Cambria Math"/>
                              </a:rPr>
                            </m:ctrlPr>
                          </m:sSubPr>
                          <m:e>
                            <m:r>
                              <a:rPr lang="en-GB" sz="2000" b="0" i="1" smtClean="0">
                                <a:latin typeface="Cambria Math"/>
                                <a:ea typeface="Cambria Math"/>
                              </a:rPr>
                              <m:t>𝜎</m:t>
                            </m:r>
                          </m:e>
                          <m:sub>
                            <m:r>
                              <a:rPr lang="en-GB" sz="2000" b="0" i="1" smtClean="0">
                                <a:latin typeface="Cambria Math"/>
                                <a:ea typeface="Cambria Math"/>
                              </a:rPr>
                              <m:t>𝑝</m:t>
                            </m:r>
                          </m:sub>
                        </m:sSub>
                        <m:r>
                          <a:rPr lang="en-GB" sz="2000" b="0" i="1" smtClean="0">
                            <a:latin typeface="Cambria Math"/>
                            <a:ea typeface="Cambria Math"/>
                          </a:rPr>
                          <m:t>=0.0</m:t>
                        </m:r>
                        <m:r>
                          <a:rPr lang="en-GB" sz="2000" b="0" i="1">
                            <a:latin typeface="Cambria Math"/>
                            <a:ea typeface="Cambria Math"/>
                          </a:rPr>
                          <m:t>504</m:t>
                        </m:r>
                        <m:r>
                          <a:rPr lang="en-GB" sz="2000" b="0" i="1" smtClean="0">
                            <a:latin typeface="Cambria Math"/>
                            <a:ea typeface="Cambria Math"/>
                          </a:rPr>
                          <m:t>9</m:t>
                        </m:r>
                      </m:oMath>
                    </m:oMathPara>
                  </a14:m>
                  <a:endParaRPr lang="en-GB" sz="2000" dirty="0"/>
                </a:p>
              </p:txBody>
            </p:sp>
          </mc:Choice>
          <mc:Fallback xmlns="">
            <p:sp>
              <p:nvSpPr>
                <p:cNvPr id="38" name="Rectangular Callout 37"/>
                <p:cNvSpPr>
                  <a:spLocks noRot="1" noChangeAspect="1" noMove="1" noResize="1" noEditPoints="1" noAdjustHandles="1" noChangeArrowheads="1" noChangeShapeType="1" noTextEdit="1"/>
                </p:cNvSpPr>
                <p:nvPr/>
              </p:nvSpPr>
              <p:spPr>
                <a:xfrm>
                  <a:off x="2514600" y="2383939"/>
                  <a:ext cx="1752600" cy="469851"/>
                </a:xfrm>
                <a:prstGeom prst="wedgeRectCallout">
                  <a:avLst>
                    <a:gd name="adj1" fmla="val -58021"/>
                    <a:gd name="adj2" fmla="val 213637"/>
                  </a:avLst>
                </a:prstGeom>
                <a:blipFill rotWithShape="1">
                  <a:blip r:embed="rId4"/>
                  <a:stretch>
                    <a:fillRect/>
                  </a:stretch>
                </a:blipFill>
              </p:spPr>
              <p:txBody>
                <a:bodyPr/>
                <a:lstStyle/>
                <a:p>
                  <a:r>
                    <a:rPr lang="en-GB">
                      <a:noFill/>
                    </a:rPr>
                    <a:t> </a:t>
                  </a:r>
                </a:p>
              </p:txBody>
            </p:sp>
          </mc:Fallback>
        </mc:AlternateContent>
        <p:grpSp>
          <p:nvGrpSpPr>
            <p:cNvPr id="4" name="Group 3"/>
            <p:cNvGrpSpPr/>
            <p:nvPr/>
          </p:nvGrpSpPr>
          <p:grpSpPr>
            <a:xfrm>
              <a:off x="1048702" y="3514928"/>
              <a:ext cx="2198714" cy="447472"/>
              <a:chOff x="1048702" y="3514928"/>
              <a:chExt cx="2198714" cy="447472"/>
            </a:xfrm>
          </p:grpSpPr>
          <p:grpSp>
            <p:nvGrpSpPr>
              <p:cNvPr id="270" name="Group 269"/>
              <p:cNvGrpSpPr/>
              <p:nvPr/>
            </p:nvGrpSpPr>
            <p:grpSpPr>
              <a:xfrm>
                <a:off x="1590472" y="3514928"/>
                <a:ext cx="541770" cy="447472"/>
                <a:chOff x="1590472" y="3514928"/>
                <a:chExt cx="1113816" cy="447472"/>
              </a:xfrm>
            </p:grpSpPr>
            <p:cxnSp>
              <p:nvCxnSpPr>
                <p:cNvPr id="271" name="Straight Arrow Connector 270"/>
                <p:cNvCxnSpPr/>
                <p:nvPr/>
              </p:nvCxnSpPr>
              <p:spPr>
                <a:xfrm flipV="1">
                  <a:off x="2704288" y="3521271"/>
                  <a:ext cx="0" cy="441129"/>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2" name="Straight Arrow Connector 271"/>
                <p:cNvCxnSpPr/>
                <p:nvPr/>
              </p:nvCxnSpPr>
              <p:spPr>
                <a:xfrm flipV="1">
                  <a:off x="1590472" y="3514928"/>
                  <a:ext cx="0" cy="447472"/>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3" name="Straight Arrow Connector 272"/>
                <p:cNvCxnSpPr/>
                <p:nvPr/>
              </p:nvCxnSpPr>
              <p:spPr>
                <a:xfrm>
                  <a:off x="1590472" y="3733800"/>
                  <a:ext cx="1113816" cy="0"/>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grpSp>
          <p:grpSp>
            <p:nvGrpSpPr>
              <p:cNvPr id="44" name="Group 43"/>
              <p:cNvGrpSpPr/>
              <p:nvPr/>
            </p:nvGrpSpPr>
            <p:grpSpPr>
              <a:xfrm>
                <a:off x="2133600" y="3514928"/>
                <a:ext cx="570688" cy="447472"/>
                <a:chOff x="2133600" y="3514928"/>
                <a:chExt cx="570688" cy="447472"/>
              </a:xfrm>
            </p:grpSpPr>
            <p:cxnSp>
              <p:nvCxnSpPr>
                <p:cNvPr id="46" name="Straight Arrow Connector 45"/>
                <p:cNvCxnSpPr/>
                <p:nvPr/>
              </p:nvCxnSpPr>
              <p:spPr>
                <a:xfrm flipV="1">
                  <a:off x="2704288" y="3521271"/>
                  <a:ext cx="0" cy="441129"/>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7" name="Straight Arrow Connector 46"/>
                <p:cNvCxnSpPr/>
                <p:nvPr/>
              </p:nvCxnSpPr>
              <p:spPr>
                <a:xfrm flipV="1">
                  <a:off x="2133600" y="3514928"/>
                  <a:ext cx="0" cy="447472"/>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8" name="Straight Arrow Connector 47"/>
                <p:cNvCxnSpPr/>
                <p:nvPr/>
              </p:nvCxnSpPr>
              <p:spPr>
                <a:xfrm>
                  <a:off x="2152905" y="3733800"/>
                  <a:ext cx="551383" cy="1"/>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grpSp>
          <p:grpSp>
            <p:nvGrpSpPr>
              <p:cNvPr id="50" name="Group 49"/>
              <p:cNvGrpSpPr/>
              <p:nvPr/>
            </p:nvGrpSpPr>
            <p:grpSpPr>
              <a:xfrm>
                <a:off x="1048702" y="3514928"/>
                <a:ext cx="541770" cy="447472"/>
                <a:chOff x="1590472" y="3514928"/>
                <a:chExt cx="1113816" cy="447472"/>
              </a:xfrm>
            </p:grpSpPr>
            <p:cxnSp>
              <p:nvCxnSpPr>
                <p:cNvPr id="51" name="Straight Arrow Connector 50"/>
                <p:cNvCxnSpPr/>
                <p:nvPr/>
              </p:nvCxnSpPr>
              <p:spPr>
                <a:xfrm flipV="1">
                  <a:off x="2704288" y="3521271"/>
                  <a:ext cx="0" cy="441129"/>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Straight Arrow Connector 51"/>
                <p:cNvCxnSpPr/>
                <p:nvPr/>
              </p:nvCxnSpPr>
              <p:spPr>
                <a:xfrm flipV="1">
                  <a:off x="1590472" y="3514928"/>
                  <a:ext cx="0" cy="447472"/>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3" name="Straight Arrow Connector 52"/>
                <p:cNvCxnSpPr/>
                <p:nvPr/>
              </p:nvCxnSpPr>
              <p:spPr>
                <a:xfrm>
                  <a:off x="1590472" y="3733800"/>
                  <a:ext cx="1113816" cy="0"/>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grpSp>
          <p:grpSp>
            <p:nvGrpSpPr>
              <p:cNvPr id="54" name="Group 53"/>
              <p:cNvGrpSpPr/>
              <p:nvPr/>
            </p:nvGrpSpPr>
            <p:grpSpPr>
              <a:xfrm>
                <a:off x="2705646" y="3514928"/>
                <a:ext cx="541770" cy="447472"/>
                <a:chOff x="1590472" y="3514928"/>
                <a:chExt cx="1113816" cy="447472"/>
              </a:xfrm>
            </p:grpSpPr>
            <p:cxnSp>
              <p:nvCxnSpPr>
                <p:cNvPr id="55" name="Straight Arrow Connector 54"/>
                <p:cNvCxnSpPr/>
                <p:nvPr/>
              </p:nvCxnSpPr>
              <p:spPr>
                <a:xfrm flipV="1">
                  <a:off x="2704288" y="3521271"/>
                  <a:ext cx="0" cy="441129"/>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6" name="Straight Arrow Connector 55"/>
                <p:cNvCxnSpPr/>
                <p:nvPr/>
              </p:nvCxnSpPr>
              <p:spPr>
                <a:xfrm flipV="1">
                  <a:off x="1590472" y="3514928"/>
                  <a:ext cx="0" cy="447472"/>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7" name="Straight Arrow Connector 56"/>
                <p:cNvCxnSpPr/>
                <p:nvPr/>
              </p:nvCxnSpPr>
              <p:spPr>
                <a:xfrm>
                  <a:off x="1590472" y="3733800"/>
                  <a:ext cx="1113816" cy="0"/>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grpSp>
        </p:grpSp>
      </p:grpSp>
      <mc:AlternateContent xmlns:mc="http://schemas.openxmlformats.org/markup-compatibility/2006" xmlns:a14="http://schemas.microsoft.com/office/drawing/2010/main">
        <mc:Choice Requires="a14">
          <p:sp>
            <p:nvSpPr>
              <p:cNvPr id="43" name="Rectangular Callout 42"/>
              <p:cNvSpPr/>
              <p:nvPr/>
            </p:nvSpPr>
            <p:spPr>
              <a:xfrm>
                <a:off x="3733800" y="3626130"/>
                <a:ext cx="1219200" cy="469851"/>
              </a:xfrm>
              <a:prstGeom prst="wedgeRectCallout">
                <a:avLst>
                  <a:gd name="adj1" fmla="val -175620"/>
                  <a:gd name="adj2" fmla="val 132892"/>
                </a:avLst>
              </a:prstGeom>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GB" sz="2000" i="1" smtClean="0">
                          <a:latin typeface="Cambria Math"/>
                          <a:ea typeface="Cambria Math"/>
                        </a:rPr>
                        <m:t>𝜋</m:t>
                      </m:r>
                      <m:r>
                        <a:rPr lang="en-GB" sz="2000" b="0" i="1" smtClean="0">
                          <a:latin typeface="Cambria Math"/>
                          <a:ea typeface="Cambria Math"/>
                        </a:rPr>
                        <m:t>=0.1</m:t>
                      </m:r>
                      <m:r>
                        <a:rPr lang="en-GB" sz="2000" b="0" i="1">
                          <a:latin typeface="Cambria Math"/>
                          <a:ea typeface="Cambria Math"/>
                        </a:rPr>
                        <m:t>5</m:t>
                      </m:r>
                    </m:oMath>
                  </m:oMathPara>
                </a14:m>
                <a:endParaRPr lang="en-GB" sz="2000" dirty="0"/>
              </a:p>
            </p:txBody>
          </p:sp>
        </mc:Choice>
        <mc:Fallback xmlns="">
          <p:sp>
            <p:nvSpPr>
              <p:cNvPr id="43" name="Rectangular Callout 42"/>
              <p:cNvSpPr>
                <a:spLocks noRot="1" noChangeAspect="1" noMove="1" noResize="1" noEditPoints="1" noAdjustHandles="1" noChangeArrowheads="1" noChangeShapeType="1" noTextEdit="1"/>
              </p:cNvSpPr>
              <p:nvPr/>
            </p:nvSpPr>
            <p:spPr>
              <a:xfrm>
                <a:off x="3733800" y="3626130"/>
                <a:ext cx="1219200" cy="469851"/>
              </a:xfrm>
              <a:prstGeom prst="wedgeRectCallout">
                <a:avLst>
                  <a:gd name="adj1" fmla="val -175620"/>
                  <a:gd name="adj2" fmla="val 132892"/>
                </a:avLst>
              </a:prstGeom>
              <a:blipFill rotWithShape="1">
                <a:blip r:embed="rId5"/>
                <a:stretch>
                  <a:fillRect/>
                </a:stretch>
              </a:blipFill>
            </p:spPr>
            <p:txBody>
              <a:bodyPr/>
              <a:lstStyle/>
              <a:p>
                <a:r>
                  <a:rPr lang="en-GB">
                    <a:noFill/>
                  </a:rPr>
                  <a:t> </a:t>
                </a:r>
              </a:p>
            </p:txBody>
          </p:sp>
        </mc:Fallback>
      </mc:AlternateContent>
      <p:grpSp>
        <p:nvGrpSpPr>
          <p:cNvPr id="7" name="Group 6"/>
          <p:cNvGrpSpPr/>
          <p:nvPr/>
        </p:nvGrpSpPr>
        <p:grpSpPr>
          <a:xfrm>
            <a:off x="265889" y="2394858"/>
            <a:ext cx="1651935" cy="2796470"/>
            <a:chOff x="265889" y="2394858"/>
            <a:chExt cx="1651935" cy="2796470"/>
          </a:xfrm>
        </p:grpSpPr>
        <p:cxnSp>
          <p:nvCxnSpPr>
            <p:cNvPr id="36" name="Straight Arrow Connector 35"/>
            <p:cNvCxnSpPr/>
            <p:nvPr/>
          </p:nvCxnSpPr>
          <p:spPr>
            <a:xfrm flipV="1">
              <a:off x="1600200" y="2394858"/>
              <a:ext cx="0" cy="2427514"/>
            </a:xfrm>
            <a:prstGeom prst="straightConnector1">
              <a:avLst/>
            </a:prstGeom>
            <a:ln>
              <a:solidFill>
                <a:schemeClr val="tx1">
                  <a:lumMod val="50000"/>
                  <a:lumOff val="50000"/>
                </a:schemeClr>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7" name="Rectangle 36"/>
            <p:cNvSpPr/>
            <p:nvPr/>
          </p:nvSpPr>
          <p:spPr>
            <a:xfrm>
              <a:off x="1321186" y="4821996"/>
              <a:ext cx="596638" cy="369332"/>
            </a:xfrm>
            <a:prstGeom prst="rect">
              <a:avLst/>
            </a:prstGeom>
          </p:spPr>
          <p:txBody>
            <a:bodyPr wrap="none">
              <a:spAutoFit/>
            </a:bodyPr>
            <a:lstStyle/>
            <a:p>
              <a:r>
                <a:rPr lang="en-GB" b="1" dirty="0">
                  <a:solidFill>
                    <a:schemeClr val="tx1">
                      <a:lumMod val="50000"/>
                      <a:lumOff val="50000"/>
                    </a:schemeClr>
                  </a:solidFill>
                </a:rPr>
                <a:t>0.10</a:t>
              </a:r>
            </a:p>
          </p:txBody>
        </p:sp>
        <mc:AlternateContent xmlns:mc="http://schemas.openxmlformats.org/markup-compatibility/2006" xmlns:a14="http://schemas.microsoft.com/office/drawing/2010/main">
          <mc:Choice Requires="a14">
            <p:sp>
              <p:nvSpPr>
                <p:cNvPr id="49" name="Rectangular Callout 48"/>
                <p:cNvSpPr/>
                <p:nvPr/>
              </p:nvSpPr>
              <p:spPr>
                <a:xfrm>
                  <a:off x="265889" y="2798885"/>
                  <a:ext cx="1219200" cy="469851"/>
                </a:xfrm>
                <a:prstGeom prst="wedgeRectCallout">
                  <a:avLst>
                    <a:gd name="adj1" fmla="val 55763"/>
                    <a:gd name="adj2" fmla="val 244693"/>
                  </a:avLst>
                </a:prstGeom>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GB" sz="2000" b="0" i="1" smtClean="0">
                            <a:latin typeface="Cambria Math"/>
                            <a:ea typeface="Cambria Math"/>
                          </a:rPr>
                          <m:t>𝑝</m:t>
                        </m:r>
                        <m:r>
                          <a:rPr lang="en-GB" sz="2000" b="0" i="1" smtClean="0">
                            <a:latin typeface="Cambria Math"/>
                            <a:ea typeface="Cambria Math"/>
                          </a:rPr>
                          <m:t>=0.10</m:t>
                        </m:r>
                      </m:oMath>
                    </m:oMathPara>
                  </a14:m>
                  <a:endParaRPr lang="en-GB" sz="2000" dirty="0"/>
                </a:p>
              </p:txBody>
            </p:sp>
          </mc:Choice>
          <mc:Fallback xmlns="">
            <p:sp>
              <p:nvSpPr>
                <p:cNvPr id="49" name="Rectangular Callout 48"/>
                <p:cNvSpPr>
                  <a:spLocks noRot="1" noChangeAspect="1" noMove="1" noResize="1" noEditPoints="1" noAdjustHandles="1" noChangeArrowheads="1" noChangeShapeType="1" noTextEdit="1"/>
                </p:cNvSpPr>
                <p:nvPr/>
              </p:nvSpPr>
              <p:spPr>
                <a:xfrm>
                  <a:off x="265889" y="2798885"/>
                  <a:ext cx="1219200" cy="469851"/>
                </a:xfrm>
                <a:prstGeom prst="wedgeRectCallout">
                  <a:avLst>
                    <a:gd name="adj1" fmla="val 55763"/>
                    <a:gd name="adj2" fmla="val 244693"/>
                  </a:avLst>
                </a:prstGeom>
                <a:blipFill rotWithShape="1">
                  <a:blip r:embed="rId6"/>
                  <a:stretch>
                    <a:fillRect/>
                  </a:stretch>
                </a:blipFill>
              </p:spPr>
              <p:txBody>
                <a:bodyPr/>
                <a:lstStyle/>
                <a:p>
                  <a:r>
                    <a:rPr lang="en-GB">
                      <a:noFill/>
                    </a:rPr>
                    <a:t> </a:t>
                  </a:r>
                </a:p>
              </p:txBody>
            </p:sp>
          </mc:Fallback>
        </mc:AlternateContent>
      </p:grpSp>
      <p:grpSp>
        <p:nvGrpSpPr>
          <p:cNvPr id="58" name="Group 57"/>
          <p:cNvGrpSpPr/>
          <p:nvPr/>
        </p:nvGrpSpPr>
        <p:grpSpPr>
          <a:xfrm>
            <a:off x="2133600" y="3514928"/>
            <a:ext cx="570688" cy="447472"/>
            <a:chOff x="2133600" y="3514928"/>
            <a:chExt cx="570688" cy="447472"/>
          </a:xfrm>
        </p:grpSpPr>
        <p:cxnSp>
          <p:nvCxnSpPr>
            <p:cNvPr id="59" name="Straight Arrow Connector 58"/>
            <p:cNvCxnSpPr/>
            <p:nvPr/>
          </p:nvCxnSpPr>
          <p:spPr>
            <a:xfrm flipV="1">
              <a:off x="2704288" y="3521271"/>
              <a:ext cx="0" cy="441129"/>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Arrow Connector 59"/>
            <p:cNvCxnSpPr/>
            <p:nvPr/>
          </p:nvCxnSpPr>
          <p:spPr>
            <a:xfrm flipV="1">
              <a:off x="2133600" y="3514928"/>
              <a:ext cx="0" cy="447472"/>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1" name="Straight Arrow Connector 60"/>
            <p:cNvCxnSpPr/>
            <p:nvPr/>
          </p:nvCxnSpPr>
          <p:spPr>
            <a:xfrm>
              <a:off x="2152905" y="3733800"/>
              <a:ext cx="551383" cy="1"/>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grpSp>
      <p:sp>
        <p:nvSpPr>
          <p:cNvPr id="64" name="Rectangle 63"/>
          <p:cNvSpPr/>
          <p:nvPr/>
        </p:nvSpPr>
        <p:spPr>
          <a:xfrm>
            <a:off x="304800" y="725269"/>
            <a:ext cx="5867400" cy="400110"/>
          </a:xfrm>
          <a:prstGeom prst="rect">
            <a:avLst/>
          </a:prstGeom>
        </p:spPr>
        <p:txBody>
          <a:bodyPr wrap="square">
            <a:spAutoFit/>
          </a:bodyPr>
          <a:lstStyle/>
          <a:p>
            <a:pPr marL="0" lvl="1"/>
            <a:r>
              <a:rPr lang="en-GB" sz="2000" b="1" dirty="0"/>
              <a:t>Calculating test statistic called Z value</a:t>
            </a:r>
            <a:endParaRPr lang="en-GB" sz="2800" b="1" dirty="0"/>
          </a:p>
        </p:txBody>
      </p:sp>
    </p:spTree>
    <p:extLst>
      <p:ext uri="{BB962C8B-B14F-4D97-AF65-F5344CB8AC3E}">
        <p14:creationId xmlns:p14="http://schemas.microsoft.com/office/powerpoint/2010/main" val="2741363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fade">
                                      <p:cBhvr>
                                        <p:cTn id="12" dur="500"/>
                                        <p:tgtEl>
                                          <p:spTgt spid="4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 name="Group 62"/>
          <p:cNvGrpSpPr/>
          <p:nvPr/>
        </p:nvGrpSpPr>
        <p:grpSpPr>
          <a:xfrm>
            <a:off x="6172200" y="3962400"/>
            <a:ext cx="186070" cy="838199"/>
            <a:chOff x="6172200" y="3962400"/>
            <a:chExt cx="186070" cy="838199"/>
          </a:xfrm>
        </p:grpSpPr>
        <p:sp>
          <p:nvSpPr>
            <p:cNvPr id="67" name="Oval 66"/>
            <p:cNvSpPr/>
            <p:nvPr/>
          </p:nvSpPr>
          <p:spPr>
            <a:xfrm rot="10800000">
              <a:off x="6205707" y="3995057"/>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68" name="Oval 67"/>
            <p:cNvSpPr/>
            <p:nvPr/>
          </p:nvSpPr>
          <p:spPr>
            <a:xfrm rot="10800000">
              <a:off x="6172201" y="4038600"/>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69" name="Oval 68"/>
            <p:cNvSpPr/>
            <p:nvPr/>
          </p:nvSpPr>
          <p:spPr>
            <a:xfrm rot="10800000">
              <a:off x="6190511" y="4419600"/>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70" name="Oval 69"/>
            <p:cNvSpPr/>
            <p:nvPr/>
          </p:nvSpPr>
          <p:spPr>
            <a:xfrm rot="10800000">
              <a:off x="6190511" y="3962400"/>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71" name="Oval 70"/>
            <p:cNvSpPr/>
            <p:nvPr/>
          </p:nvSpPr>
          <p:spPr>
            <a:xfrm rot="10800000">
              <a:off x="6205708" y="4038600"/>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72" name="Oval 71"/>
            <p:cNvSpPr/>
            <p:nvPr/>
          </p:nvSpPr>
          <p:spPr>
            <a:xfrm rot="10800000">
              <a:off x="6172201" y="4147457"/>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73" name="Oval 72"/>
            <p:cNvSpPr/>
            <p:nvPr/>
          </p:nvSpPr>
          <p:spPr>
            <a:xfrm rot="10800000">
              <a:off x="6205708" y="4191000"/>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74" name="Oval 73"/>
            <p:cNvSpPr/>
            <p:nvPr/>
          </p:nvSpPr>
          <p:spPr>
            <a:xfrm rot="10800000">
              <a:off x="6205708" y="4376056"/>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75" name="Oval 74"/>
            <p:cNvSpPr/>
            <p:nvPr/>
          </p:nvSpPr>
          <p:spPr>
            <a:xfrm rot="10800000">
              <a:off x="6172200" y="4419599"/>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76" name="Oval 75"/>
            <p:cNvSpPr/>
            <p:nvPr/>
          </p:nvSpPr>
          <p:spPr>
            <a:xfrm rot="10800000">
              <a:off x="6205707" y="4463142"/>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77" name="Oval 76"/>
            <p:cNvSpPr/>
            <p:nvPr/>
          </p:nvSpPr>
          <p:spPr>
            <a:xfrm rot="10800000">
              <a:off x="6205707" y="4571999"/>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78" name="Oval 77"/>
            <p:cNvSpPr/>
            <p:nvPr/>
          </p:nvSpPr>
          <p:spPr>
            <a:xfrm rot="10800000">
              <a:off x="6172201" y="4615542"/>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79" name="Oval 78"/>
            <p:cNvSpPr/>
            <p:nvPr/>
          </p:nvSpPr>
          <p:spPr>
            <a:xfrm rot="10800000">
              <a:off x="6190510" y="4680856"/>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80" name="Oval 79"/>
            <p:cNvSpPr/>
            <p:nvPr/>
          </p:nvSpPr>
          <p:spPr>
            <a:xfrm rot="10800000">
              <a:off x="6239376" y="4082143"/>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81" name="Oval 80"/>
            <p:cNvSpPr/>
            <p:nvPr/>
          </p:nvSpPr>
          <p:spPr>
            <a:xfrm rot="10800000">
              <a:off x="6205870" y="4158343"/>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82" name="Oval 81"/>
            <p:cNvSpPr/>
            <p:nvPr/>
          </p:nvSpPr>
          <p:spPr>
            <a:xfrm rot="10800000">
              <a:off x="6224180" y="4506686"/>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83" name="Oval 82"/>
            <p:cNvSpPr/>
            <p:nvPr/>
          </p:nvSpPr>
          <p:spPr>
            <a:xfrm rot="10800000">
              <a:off x="6239377" y="4158343"/>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84" name="Oval 83"/>
            <p:cNvSpPr/>
            <p:nvPr/>
          </p:nvSpPr>
          <p:spPr>
            <a:xfrm rot="10800000">
              <a:off x="6205870" y="4234543"/>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85" name="Oval 84"/>
            <p:cNvSpPr/>
            <p:nvPr/>
          </p:nvSpPr>
          <p:spPr>
            <a:xfrm rot="10800000">
              <a:off x="6239377" y="4278086"/>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86" name="Oval 85"/>
            <p:cNvSpPr/>
            <p:nvPr/>
          </p:nvSpPr>
          <p:spPr>
            <a:xfrm rot="10800000">
              <a:off x="6239377" y="4463142"/>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87" name="Oval 86"/>
            <p:cNvSpPr/>
            <p:nvPr/>
          </p:nvSpPr>
          <p:spPr>
            <a:xfrm rot="10800000">
              <a:off x="6205869" y="4506685"/>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grpSp>
      <p:grpSp>
        <p:nvGrpSpPr>
          <p:cNvPr id="88" name="Group 87"/>
          <p:cNvGrpSpPr/>
          <p:nvPr/>
        </p:nvGrpSpPr>
        <p:grpSpPr>
          <a:xfrm>
            <a:off x="381000" y="2438400"/>
            <a:ext cx="198471" cy="2362200"/>
            <a:chOff x="381000" y="2438400"/>
            <a:chExt cx="198471" cy="2362200"/>
          </a:xfrm>
        </p:grpSpPr>
        <p:sp>
          <p:nvSpPr>
            <p:cNvPr id="89" name="Oval 88"/>
            <p:cNvSpPr/>
            <p:nvPr/>
          </p:nvSpPr>
          <p:spPr>
            <a:xfrm rot="10800000">
              <a:off x="399310" y="40603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0" name="Oval 89"/>
            <p:cNvSpPr/>
            <p:nvPr/>
          </p:nvSpPr>
          <p:spPr>
            <a:xfrm rot="10800000">
              <a:off x="414507" y="41365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1" name="Oval 90"/>
            <p:cNvSpPr/>
            <p:nvPr/>
          </p:nvSpPr>
          <p:spPr>
            <a:xfrm rot="10800000">
              <a:off x="381000" y="42127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Oval 91"/>
            <p:cNvSpPr/>
            <p:nvPr/>
          </p:nvSpPr>
          <p:spPr>
            <a:xfrm rot="10800000">
              <a:off x="414507" y="4256314"/>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3" name="Oval 92"/>
            <p:cNvSpPr/>
            <p:nvPr/>
          </p:nvSpPr>
          <p:spPr>
            <a:xfrm rot="10800000">
              <a:off x="399310" y="44740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Oval 93"/>
            <p:cNvSpPr/>
            <p:nvPr/>
          </p:nvSpPr>
          <p:spPr>
            <a:xfrm rot="10800000">
              <a:off x="414507" y="45502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5" name="Oval 94"/>
            <p:cNvSpPr/>
            <p:nvPr/>
          </p:nvSpPr>
          <p:spPr>
            <a:xfrm rot="10800000">
              <a:off x="381000" y="46264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6" name="Oval 95"/>
            <p:cNvSpPr/>
            <p:nvPr/>
          </p:nvSpPr>
          <p:spPr>
            <a:xfrm rot="10800000">
              <a:off x="414507" y="46699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7" name="Oval 96"/>
            <p:cNvSpPr/>
            <p:nvPr/>
          </p:nvSpPr>
          <p:spPr>
            <a:xfrm rot="10800000">
              <a:off x="399310" y="32221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8" name="Oval 97"/>
            <p:cNvSpPr/>
            <p:nvPr/>
          </p:nvSpPr>
          <p:spPr>
            <a:xfrm rot="10800000">
              <a:off x="414507" y="32983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9" name="Oval 98"/>
            <p:cNvSpPr/>
            <p:nvPr/>
          </p:nvSpPr>
          <p:spPr>
            <a:xfrm rot="10800000">
              <a:off x="381000" y="33745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0" name="Oval 99"/>
            <p:cNvSpPr/>
            <p:nvPr/>
          </p:nvSpPr>
          <p:spPr>
            <a:xfrm rot="10800000">
              <a:off x="414507" y="3418114"/>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1" name="Oval 100"/>
            <p:cNvSpPr/>
            <p:nvPr/>
          </p:nvSpPr>
          <p:spPr>
            <a:xfrm rot="10800000">
              <a:off x="414507" y="35269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2" name="Oval 101"/>
            <p:cNvSpPr/>
            <p:nvPr/>
          </p:nvSpPr>
          <p:spPr>
            <a:xfrm rot="10800000">
              <a:off x="381001" y="3570514"/>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3" name="Oval 102"/>
            <p:cNvSpPr/>
            <p:nvPr/>
          </p:nvSpPr>
          <p:spPr>
            <a:xfrm rot="10800000">
              <a:off x="399310" y="36358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 name="Oval 103"/>
            <p:cNvSpPr/>
            <p:nvPr/>
          </p:nvSpPr>
          <p:spPr>
            <a:xfrm rot="10800000">
              <a:off x="414507" y="37120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5" name="Oval 104"/>
            <p:cNvSpPr/>
            <p:nvPr/>
          </p:nvSpPr>
          <p:spPr>
            <a:xfrm rot="10800000">
              <a:off x="381000" y="37882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6" name="Oval 105"/>
            <p:cNvSpPr/>
            <p:nvPr/>
          </p:nvSpPr>
          <p:spPr>
            <a:xfrm rot="10800000">
              <a:off x="414507" y="38317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7" name="Oval 106"/>
            <p:cNvSpPr/>
            <p:nvPr/>
          </p:nvSpPr>
          <p:spPr>
            <a:xfrm rot="10800000">
              <a:off x="381001" y="39841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8" name="Oval 107"/>
            <p:cNvSpPr/>
            <p:nvPr/>
          </p:nvSpPr>
          <p:spPr>
            <a:xfrm rot="10800000">
              <a:off x="381001" y="4484914"/>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9" name="Oval 108"/>
            <p:cNvSpPr/>
            <p:nvPr/>
          </p:nvSpPr>
          <p:spPr>
            <a:xfrm rot="10800000">
              <a:off x="414508" y="45284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0" name="Oval 109"/>
            <p:cNvSpPr/>
            <p:nvPr/>
          </p:nvSpPr>
          <p:spPr>
            <a:xfrm rot="10800000">
              <a:off x="414508" y="4637314"/>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1" name="Oval 110"/>
            <p:cNvSpPr/>
            <p:nvPr/>
          </p:nvSpPr>
          <p:spPr>
            <a:xfrm rot="10800000">
              <a:off x="381002" y="46808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2" name="Oval 111"/>
            <p:cNvSpPr/>
            <p:nvPr/>
          </p:nvSpPr>
          <p:spPr>
            <a:xfrm rot="10800000">
              <a:off x="399311" y="24384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3" name="Oval 112"/>
            <p:cNvSpPr/>
            <p:nvPr/>
          </p:nvSpPr>
          <p:spPr>
            <a:xfrm rot="10800000">
              <a:off x="414508" y="25146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4" name="Oval 113"/>
            <p:cNvSpPr/>
            <p:nvPr/>
          </p:nvSpPr>
          <p:spPr>
            <a:xfrm rot="10800000">
              <a:off x="381001" y="25908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5" name="Oval 114"/>
            <p:cNvSpPr/>
            <p:nvPr/>
          </p:nvSpPr>
          <p:spPr>
            <a:xfrm rot="10800000">
              <a:off x="414508" y="2634343"/>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 name="Oval 115"/>
            <p:cNvSpPr/>
            <p:nvPr/>
          </p:nvSpPr>
          <p:spPr>
            <a:xfrm rot="10800000">
              <a:off x="414508" y="27432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 name="Oval 116"/>
            <p:cNvSpPr/>
            <p:nvPr/>
          </p:nvSpPr>
          <p:spPr>
            <a:xfrm rot="10800000">
              <a:off x="381002" y="2786743"/>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8" name="Oval 117"/>
            <p:cNvSpPr/>
            <p:nvPr/>
          </p:nvSpPr>
          <p:spPr>
            <a:xfrm rot="10800000">
              <a:off x="399311" y="28520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9" name="Oval 118"/>
            <p:cNvSpPr/>
            <p:nvPr/>
          </p:nvSpPr>
          <p:spPr>
            <a:xfrm rot="10800000">
              <a:off x="414508" y="29282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0" name="Oval 119"/>
            <p:cNvSpPr/>
            <p:nvPr/>
          </p:nvSpPr>
          <p:spPr>
            <a:xfrm rot="10800000">
              <a:off x="381001" y="30044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1" name="Oval 120"/>
            <p:cNvSpPr/>
            <p:nvPr/>
          </p:nvSpPr>
          <p:spPr>
            <a:xfrm rot="10800000">
              <a:off x="414508" y="30480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2" name="Oval 121"/>
            <p:cNvSpPr/>
            <p:nvPr/>
          </p:nvSpPr>
          <p:spPr>
            <a:xfrm rot="10800000">
              <a:off x="445381" y="26439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3" name="Oval 122"/>
            <p:cNvSpPr/>
            <p:nvPr/>
          </p:nvSpPr>
          <p:spPr>
            <a:xfrm rot="10800000">
              <a:off x="460578" y="27201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4" name="Oval 123"/>
            <p:cNvSpPr/>
            <p:nvPr/>
          </p:nvSpPr>
          <p:spPr>
            <a:xfrm rot="10800000">
              <a:off x="427071" y="27963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5" name="Oval 124"/>
            <p:cNvSpPr/>
            <p:nvPr/>
          </p:nvSpPr>
          <p:spPr>
            <a:xfrm rot="10800000">
              <a:off x="460578" y="283990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6" name="Oval 125"/>
            <p:cNvSpPr/>
            <p:nvPr/>
          </p:nvSpPr>
          <p:spPr>
            <a:xfrm rot="10800000">
              <a:off x="460578" y="29487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7" name="Oval 126"/>
            <p:cNvSpPr/>
            <p:nvPr/>
          </p:nvSpPr>
          <p:spPr>
            <a:xfrm rot="10800000">
              <a:off x="427072" y="299230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8" name="Oval 127"/>
            <p:cNvSpPr/>
            <p:nvPr/>
          </p:nvSpPr>
          <p:spPr>
            <a:xfrm rot="10800000">
              <a:off x="445381" y="3057622"/>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9" name="Oval 128"/>
            <p:cNvSpPr/>
            <p:nvPr/>
          </p:nvSpPr>
          <p:spPr>
            <a:xfrm rot="10800000">
              <a:off x="414506" y="41910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0" name="Oval 129"/>
            <p:cNvSpPr/>
            <p:nvPr/>
          </p:nvSpPr>
          <p:spPr>
            <a:xfrm rot="10800000">
              <a:off x="381000" y="4234543"/>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1" name="Oval 130"/>
            <p:cNvSpPr/>
            <p:nvPr/>
          </p:nvSpPr>
          <p:spPr>
            <a:xfrm rot="10800000">
              <a:off x="399309" y="42998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2" name="Oval 131"/>
            <p:cNvSpPr/>
            <p:nvPr/>
          </p:nvSpPr>
          <p:spPr>
            <a:xfrm rot="10800000">
              <a:off x="460576" y="41679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3" name="Oval 132"/>
            <p:cNvSpPr/>
            <p:nvPr/>
          </p:nvSpPr>
          <p:spPr>
            <a:xfrm rot="10800000">
              <a:off x="427069" y="42441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4" name="Oval 133"/>
            <p:cNvSpPr/>
            <p:nvPr/>
          </p:nvSpPr>
          <p:spPr>
            <a:xfrm rot="10800000">
              <a:off x="460576" y="428770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aphicFrame>
        <p:nvGraphicFramePr>
          <p:cNvPr id="264" name="Chart 263"/>
          <p:cNvGraphicFramePr/>
          <p:nvPr>
            <p:extLst>
              <p:ext uri="{D42A27DB-BD31-4B8C-83A1-F6EECF244321}">
                <p14:modId xmlns:p14="http://schemas.microsoft.com/office/powerpoint/2010/main" val="1826141034"/>
              </p:ext>
            </p:extLst>
          </p:nvPr>
        </p:nvGraphicFramePr>
        <p:xfrm>
          <a:off x="317770" y="1686408"/>
          <a:ext cx="6096000" cy="3217538"/>
        </p:xfrm>
        <a:graphic>
          <a:graphicData uri="http://schemas.openxmlformats.org/drawingml/2006/chart">
            <c:chart xmlns:c="http://schemas.openxmlformats.org/drawingml/2006/chart" xmlns:r="http://schemas.openxmlformats.org/officeDocument/2006/relationships" r:id="rId3"/>
          </a:graphicData>
        </a:graphic>
      </p:graphicFrame>
      <p:cxnSp>
        <p:nvCxnSpPr>
          <p:cNvPr id="265" name="Straight Arrow Connector 264"/>
          <p:cNvCxnSpPr/>
          <p:nvPr/>
        </p:nvCxnSpPr>
        <p:spPr>
          <a:xfrm flipV="1">
            <a:off x="2132242" y="2238984"/>
            <a:ext cx="0" cy="2607474"/>
          </a:xfrm>
          <a:prstGeom prst="straightConnector1">
            <a:avLst/>
          </a:prstGeom>
          <a:ln w="38100">
            <a:headEnd type="none" w="med" len="med"/>
            <a:tailEnd type="none" w="med" len="med"/>
          </a:ln>
        </p:spPr>
        <p:style>
          <a:lnRef idx="1">
            <a:schemeClr val="accent6"/>
          </a:lnRef>
          <a:fillRef idx="0">
            <a:schemeClr val="accent6"/>
          </a:fillRef>
          <a:effectRef idx="0">
            <a:schemeClr val="accent6"/>
          </a:effectRef>
          <a:fontRef idx="minor">
            <a:schemeClr val="tx1"/>
          </a:fontRef>
        </p:style>
      </p:cxnSp>
      <p:sp>
        <p:nvSpPr>
          <p:cNvPr id="2" name="Title 1"/>
          <p:cNvSpPr>
            <a:spLocks noGrp="1"/>
          </p:cNvSpPr>
          <p:nvPr>
            <p:ph type="title"/>
          </p:nvPr>
        </p:nvSpPr>
        <p:spPr/>
        <p:txBody>
          <a:bodyPr/>
          <a:lstStyle/>
          <a:p>
            <a:r>
              <a:rPr lang="en-GB" altLang="en-US" dirty="0"/>
              <a:t>Z Test for Proportion</a:t>
            </a:r>
            <a:endParaRPr lang="en-GB" dirty="0"/>
          </a:p>
        </p:txBody>
      </p:sp>
      <p:grpSp>
        <p:nvGrpSpPr>
          <p:cNvPr id="140" name="Group 139"/>
          <p:cNvGrpSpPr/>
          <p:nvPr/>
        </p:nvGrpSpPr>
        <p:grpSpPr>
          <a:xfrm>
            <a:off x="6248400" y="152400"/>
            <a:ext cx="2743199" cy="3124200"/>
            <a:chOff x="925287" y="1143000"/>
            <a:chExt cx="6618513" cy="4315816"/>
          </a:xfrm>
          <a:solidFill>
            <a:schemeClr val="bg1">
              <a:lumMod val="95000"/>
            </a:schemeClr>
          </a:solidFill>
        </p:grpSpPr>
        <p:grpSp>
          <p:nvGrpSpPr>
            <p:cNvPr id="210" name="Group 209"/>
            <p:cNvGrpSpPr/>
            <p:nvPr/>
          </p:nvGrpSpPr>
          <p:grpSpPr>
            <a:xfrm>
              <a:off x="925287" y="1143000"/>
              <a:ext cx="6618513" cy="958268"/>
              <a:chOff x="-65314" y="1093291"/>
              <a:chExt cx="6618513" cy="958268"/>
            </a:xfrm>
            <a:grpFill/>
          </p:grpSpPr>
          <p:sp>
            <p:nvSpPr>
              <p:cNvPr id="229" name="Freeform 228"/>
              <p:cNvSpPr/>
              <p:nvPr/>
            </p:nvSpPr>
            <p:spPr>
              <a:xfrm>
                <a:off x="-65314" y="1093291"/>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grpFill/>
              <a:ln>
                <a:solidFill>
                  <a:schemeClr val="bg1">
                    <a:lumMod val="95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chemeClr val="bg1">
                        <a:lumMod val="65000"/>
                      </a:schemeClr>
                    </a:solidFill>
                  </a:rPr>
                  <a:t>1</a:t>
                </a:r>
              </a:p>
            </p:txBody>
          </p:sp>
          <p:sp>
            <p:nvSpPr>
              <p:cNvPr id="230" name="Freeform 229"/>
              <p:cNvSpPr/>
              <p:nvPr/>
            </p:nvSpPr>
            <p:spPr>
              <a:xfrm>
                <a:off x="1127986" y="1093293"/>
                <a:ext cx="5425213" cy="622873"/>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grpFill/>
              <a:ln>
                <a:solidFill>
                  <a:schemeClr val="bg1">
                    <a:lumMod val="95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1" numCol="1" spcCol="1270" anchor="ctr" anchorCtr="0">
                <a:noAutofit/>
              </a:bodyPr>
              <a:lstStyle/>
              <a:p>
                <a:pPr marL="0" lvl="1" algn="l" defTabSz="755650">
                  <a:lnSpc>
                    <a:spcPct val="90000"/>
                  </a:lnSpc>
                  <a:spcBef>
                    <a:spcPct val="0"/>
                  </a:spcBef>
                  <a:spcAft>
                    <a:spcPct val="15000"/>
                  </a:spcAft>
                </a:pPr>
                <a:r>
                  <a:rPr lang="en-GB" sz="1600" kern="1200" dirty="0">
                    <a:solidFill>
                      <a:schemeClr val="bg1">
                        <a:lumMod val="65000"/>
                      </a:schemeClr>
                    </a:solidFill>
                  </a:rPr>
                  <a:t>State your null hypothesis (H</a:t>
                </a:r>
                <a:r>
                  <a:rPr lang="en-GB" sz="1600" kern="1200" baseline="-25000" dirty="0">
                    <a:solidFill>
                      <a:schemeClr val="bg1">
                        <a:lumMod val="65000"/>
                      </a:schemeClr>
                    </a:solidFill>
                  </a:rPr>
                  <a:t>0</a:t>
                </a:r>
                <a:r>
                  <a:rPr lang="en-GB" sz="1600" kern="1200" baseline="0" dirty="0">
                    <a:solidFill>
                      <a:schemeClr val="bg1">
                        <a:lumMod val="65000"/>
                      </a:schemeClr>
                    </a:solidFill>
                  </a:rPr>
                  <a:t>)</a:t>
                </a:r>
              </a:p>
            </p:txBody>
          </p:sp>
        </p:grpSp>
        <p:grpSp>
          <p:nvGrpSpPr>
            <p:cNvPr id="211" name="Group 210"/>
            <p:cNvGrpSpPr/>
            <p:nvPr/>
          </p:nvGrpSpPr>
          <p:grpSpPr>
            <a:xfrm>
              <a:off x="925287" y="1982387"/>
              <a:ext cx="6618513" cy="958268"/>
              <a:chOff x="-65314" y="1932678"/>
              <a:chExt cx="6618513" cy="958268"/>
            </a:xfrm>
            <a:grpFill/>
          </p:grpSpPr>
          <p:sp>
            <p:nvSpPr>
              <p:cNvPr id="227" name="Freeform 226"/>
              <p:cNvSpPr/>
              <p:nvPr/>
            </p:nvSpPr>
            <p:spPr>
              <a:xfrm>
                <a:off x="-65314" y="1932678"/>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solidFill>
                <a:schemeClr val="accent1"/>
              </a:solidFill>
              <a:ln>
                <a:solidFill>
                  <a:schemeClr val="accent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chemeClr val="bg1"/>
                    </a:solidFill>
                  </a:rPr>
                  <a:t>2</a:t>
                </a:r>
              </a:p>
            </p:txBody>
          </p:sp>
          <p:sp>
            <p:nvSpPr>
              <p:cNvPr id="228" name="Freeform 227"/>
              <p:cNvSpPr/>
              <p:nvPr/>
            </p:nvSpPr>
            <p:spPr>
              <a:xfrm>
                <a:off x="1127986" y="1932680"/>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solidFill>
                <a:schemeClr val="bg1"/>
              </a:solidFill>
              <a:ln>
                <a:solidFill>
                  <a:schemeClr val="accent1"/>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defTabSz="755650">
                  <a:lnSpc>
                    <a:spcPct val="90000"/>
                  </a:lnSpc>
                  <a:spcBef>
                    <a:spcPct val="0"/>
                  </a:spcBef>
                  <a:spcAft>
                    <a:spcPct val="15000"/>
                  </a:spcAft>
                </a:pPr>
                <a:r>
                  <a:rPr lang="en-GB" sz="1600" b="1" dirty="0">
                    <a:solidFill>
                      <a:schemeClr val="tx1"/>
                    </a:solidFill>
                  </a:rPr>
                  <a:t>Calculate test statistic </a:t>
                </a:r>
                <a:r>
                  <a:rPr lang="en-GB" sz="1600" dirty="0">
                    <a:solidFill>
                      <a:schemeClr val="tx1"/>
                    </a:solidFill>
                  </a:rPr>
                  <a:t>from data (stat.)</a:t>
                </a:r>
              </a:p>
            </p:txBody>
          </p:sp>
        </p:grpSp>
        <p:grpSp>
          <p:nvGrpSpPr>
            <p:cNvPr id="214" name="Group 213"/>
            <p:cNvGrpSpPr/>
            <p:nvPr/>
          </p:nvGrpSpPr>
          <p:grpSpPr>
            <a:xfrm>
              <a:off x="925287" y="2821774"/>
              <a:ext cx="6618513" cy="958268"/>
              <a:chOff x="-65314" y="2772065"/>
              <a:chExt cx="6618513" cy="958268"/>
            </a:xfrm>
            <a:grpFill/>
          </p:grpSpPr>
          <p:sp>
            <p:nvSpPr>
              <p:cNvPr id="223" name="Freeform 222"/>
              <p:cNvSpPr/>
              <p:nvPr/>
            </p:nvSpPr>
            <p:spPr>
              <a:xfrm>
                <a:off x="-65314" y="2772065"/>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grpFill/>
              <a:ln>
                <a:solidFill>
                  <a:schemeClr val="bg1">
                    <a:lumMod val="95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chemeClr val="bg1">
                        <a:lumMod val="65000"/>
                      </a:schemeClr>
                    </a:solidFill>
                  </a:rPr>
                  <a:t>3</a:t>
                </a:r>
              </a:p>
            </p:txBody>
          </p:sp>
          <p:sp>
            <p:nvSpPr>
              <p:cNvPr id="224" name="Freeform 223"/>
              <p:cNvSpPr/>
              <p:nvPr/>
            </p:nvSpPr>
            <p:spPr>
              <a:xfrm>
                <a:off x="1127986" y="2772067"/>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grpFill/>
              <a:ln>
                <a:solidFill>
                  <a:schemeClr val="bg1">
                    <a:lumMod val="95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defTabSz="755650">
                  <a:lnSpc>
                    <a:spcPct val="90000"/>
                  </a:lnSpc>
                  <a:spcBef>
                    <a:spcPct val="0"/>
                  </a:spcBef>
                  <a:spcAft>
                    <a:spcPct val="15000"/>
                  </a:spcAft>
                </a:pPr>
                <a:r>
                  <a:rPr lang="en-GB" sz="1600" b="1" dirty="0">
                    <a:solidFill>
                      <a:schemeClr val="bg1">
                        <a:lumMod val="65000"/>
                      </a:schemeClr>
                    </a:solidFill>
                  </a:rPr>
                  <a:t>Choose </a:t>
                </a:r>
                <a:r>
                  <a:rPr lang="en-GB" sz="1600" dirty="0">
                    <a:solidFill>
                      <a:schemeClr val="bg1">
                        <a:lumMod val="65000"/>
                      </a:schemeClr>
                    </a:solidFill>
                  </a:rPr>
                  <a:t>a level of </a:t>
                </a:r>
                <a:r>
                  <a:rPr lang="en-GB" sz="1600" b="1" dirty="0">
                    <a:solidFill>
                      <a:schemeClr val="bg1">
                        <a:lumMod val="65000"/>
                      </a:schemeClr>
                    </a:solidFill>
                  </a:rPr>
                  <a:t>significance</a:t>
                </a:r>
                <a:r>
                  <a:rPr lang="en-GB" sz="1600" dirty="0">
                    <a:solidFill>
                      <a:schemeClr val="bg1">
                        <a:lumMod val="65000"/>
                      </a:schemeClr>
                    </a:solidFill>
                  </a:rPr>
                  <a:t> (</a:t>
                </a:r>
                <a:r>
                  <a:rPr lang="el-GR" sz="1600" dirty="0">
                    <a:solidFill>
                      <a:schemeClr val="bg1">
                        <a:lumMod val="65000"/>
                      </a:schemeClr>
                    </a:solidFill>
                  </a:rPr>
                  <a:t>α</a:t>
                </a:r>
                <a:r>
                  <a:rPr lang="en-GB" sz="1600" dirty="0">
                    <a:solidFill>
                      <a:schemeClr val="bg1">
                        <a:lumMod val="65000"/>
                      </a:schemeClr>
                    </a:solidFill>
                  </a:rPr>
                  <a:t>)</a:t>
                </a:r>
              </a:p>
            </p:txBody>
          </p:sp>
        </p:grpSp>
        <p:grpSp>
          <p:nvGrpSpPr>
            <p:cNvPr id="215" name="Group 214"/>
            <p:cNvGrpSpPr/>
            <p:nvPr/>
          </p:nvGrpSpPr>
          <p:grpSpPr>
            <a:xfrm>
              <a:off x="925287" y="3661161"/>
              <a:ext cx="6618513" cy="958268"/>
              <a:chOff x="-65314" y="3611452"/>
              <a:chExt cx="6618513" cy="958268"/>
            </a:xfrm>
            <a:grpFill/>
          </p:grpSpPr>
          <p:sp>
            <p:nvSpPr>
              <p:cNvPr id="221" name="Freeform 220"/>
              <p:cNvSpPr/>
              <p:nvPr/>
            </p:nvSpPr>
            <p:spPr>
              <a:xfrm>
                <a:off x="-65314" y="3611452"/>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grpFill/>
              <a:ln>
                <a:solidFill>
                  <a:schemeClr val="bg1">
                    <a:lumMod val="95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baseline="0" dirty="0">
                    <a:solidFill>
                      <a:schemeClr val="bg1">
                        <a:lumMod val="65000"/>
                      </a:schemeClr>
                    </a:solidFill>
                  </a:rPr>
                  <a:t>4</a:t>
                </a:r>
              </a:p>
            </p:txBody>
          </p:sp>
          <p:sp>
            <p:nvSpPr>
              <p:cNvPr id="222" name="Freeform 221"/>
              <p:cNvSpPr/>
              <p:nvPr/>
            </p:nvSpPr>
            <p:spPr>
              <a:xfrm>
                <a:off x="1127986" y="3611453"/>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grpFill/>
              <a:ln>
                <a:solidFill>
                  <a:schemeClr val="bg1">
                    <a:lumMod val="95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algn="l" defTabSz="755650">
                  <a:lnSpc>
                    <a:spcPct val="90000"/>
                  </a:lnSpc>
                  <a:spcBef>
                    <a:spcPct val="0"/>
                  </a:spcBef>
                  <a:spcAft>
                    <a:spcPct val="15000"/>
                  </a:spcAft>
                </a:pPr>
                <a:r>
                  <a:rPr lang="en-GB" sz="1600" b="1" kern="1200" baseline="0" dirty="0">
                    <a:solidFill>
                      <a:schemeClr val="bg1">
                        <a:lumMod val="65000"/>
                      </a:schemeClr>
                    </a:solidFill>
                  </a:rPr>
                  <a:t>Lookup </a:t>
                </a:r>
                <a:r>
                  <a:rPr lang="en-GB" sz="1600" kern="1200" baseline="0" dirty="0">
                    <a:solidFill>
                      <a:schemeClr val="bg1">
                        <a:lumMod val="65000"/>
                      </a:schemeClr>
                    </a:solidFill>
                  </a:rPr>
                  <a:t>the</a:t>
                </a:r>
                <a:r>
                  <a:rPr lang="en-GB" sz="1600" b="1" kern="1200" baseline="0" dirty="0">
                    <a:solidFill>
                      <a:schemeClr val="bg1">
                        <a:lumMod val="65000"/>
                      </a:schemeClr>
                    </a:solidFill>
                  </a:rPr>
                  <a:t> </a:t>
                </a:r>
                <a:r>
                  <a:rPr lang="en-GB" sz="1600" b="0" kern="1200" baseline="0" dirty="0">
                    <a:solidFill>
                      <a:schemeClr val="bg1">
                        <a:lumMod val="65000"/>
                      </a:schemeClr>
                    </a:solidFill>
                  </a:rPr>
                  <a:t>critical value or the p-value</a:t>
                </a:r>
                <a:endParaRPr lang="en-GB" sz="1600" kern="1200" baseline="0" dirty="0">
                  <a:solidFill>
                    <a:schemeClr val="bg1">
                      <a:lumMod val="65000"/>
                    </a:schemeClr>
                  </a:solidFill>
                </a:endParaRPr>
              </a:p>
            </p:txBody>
          </p:sp>
        </p:grpSp>
        <p:grpSp>
          <p:nvGrpSpPr>
            <p:cNvPr id="217" name="Group 216"/>
            <p:cNvGrpSpPr/>
            <p:nvPr/>
          </p:nvGrpSpPr>
          <p:grpSpPr>
            <a:xfrm>
              <a:off x="925287" y="4500548"/>
              <a:ext cx="6618513" cy="958268"/>
              <a:chOff x="-65314" y="4450839"/>
              <a:chExt cx="6618513" cy="958268"/>
            </a:xfrm>
            <a:grpFill/>
          </p:grpSpPr>
          <p:sp>
            <p:nvSpPr>
              <p:cNvPr id="219" name="Freeform 218"/>
              <p:cNvSpPr/>
              <p:nvPr/>
            </p:nvSpPr>
            <p:spPr>
              <a:xfrm>
                <a:off x="-65314" y="4450839"/>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grpFill/>
              <a:ln>
                <a:solidFill>
                  <a:schemeClr val="bg1">
                    <a:lumMod val="95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baseline="0" dirty="0">
                    <a:solidFill>
                      <a:schemeClr val="bg1">
                        <a:lumMod val="65000"/>
                      </a:schemeClr>
                    </a:solidFill>
                  </a:rPr>
                  <a:t>5</a:t>
                </a:r>
              </a:p>
            </p:txBody>
          </p:sp>
          <p:sp>
            <p:nvSpPr>
              <p:cNvPr id="220" name="Freeform 219"/>
              <p:cNvSpPr/>
              <p:nvPr/>
            </p:nvSpPr>
            <p:spPr>
              <a:xfrm>
                <a:off x="1127986" y="4450840"/>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grpFill/>
              <a:ln>
                <a:solidFill>
                  <a:schemeClr val="bg1">
                    <a:lumMod val="95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algn="l" defTabSz="755650">
                  <a:lnSpc>
                    <a:spcPct val="90000"/>
                  </a:lnSpc>
                  <a:spcBef>
                    <a:spcPct val="0"/>
                  </a:spcBef>
                  <a:spcAft>
                    <a:spcPct val="15000"/>
                  </a:spcAft>
                </a:pPr>
                <a:r>
                  <a:rPr lang="en-GB" sz="1600" b="1" kern="1200" baseline="0" dirty="0">
                    <a:solidFill>
                      <a:schemeClr val="bg1">
                        <a:lumMod val="65000"/>
                      </a:schemeClr>
                    </a:solidFill>
                  </a:rPr>
                  <a:t>Reject</a:t>
                </a:r>
                <a:r>
                  <a:rPr lang="en-GB" sz="1600" kern="1200" baseline="0" dirty="0">
                    <a:solidFill>
                      <a:schemeClr val="bg1">
                        <a:lumMod val="65000"/>
                      </a:schemeClr>
                    </a:solidFill>
                  </a:rPr>
                  <a:t> </a:t>
                </a:r>
                <a:r>
                  <a:rPr lang="en-GB" sz="1600" kern="1200" dirty="0">
                    <a:solidFill>
                      <a:schemeClr val="bg1">
                        <a:lumMod val="65000"/>
                      </a:schemeClr>
                    </a:solidFill>
                  </a:rPr>
                  <a:t>H</a:t>
                </a:r>
                <a:r>
                  <a:rPr lang="en-GB" sz="1600" kern="1200" baseline="-25000" dirty="0">
                    <a:solidFill>
                      <a:schemeClr val="bg1">
                        <a:lumMod val="65000"/>
                      </a:schemeClr>
                    </a:solidFill>
                  </a:rPr>
                  <a:t>0</a:t>
                </a:r>
                <a:r>
                  <a:rPr lang="en-GB" sz="1600" kern="1200" baseline="0" dirty="0">
                    <a:solidFill>
                      <a:schemeClr val="bg1">
                        <a:lumMod val="65000"/>
                      </a:schemeClr>
                    </a:solidFill>
                  </a:rPr>
                  <a:t> or </a:t>
                </a:r>
                <a:r>
                  <a:rPr lang="en-GB" sz="1600" b="1" kern="1200" baseline="0" dirty="0">
                    <a:solidFill>
                      <a:schemeClr val="bg1">
                        <a:lumMod val="65000"/>
                      </a:schemeClr>
                    </a:solidFill>
                  </a:rPr>
                  <a:t>Fail</a:t>
                </a:r>
                <a:r>
                  <a:rPr lang="en-GB" sz="1600" b="1" kern="1200" dirty="0">
                    <a:solidFill>
                      <a:schemeClr val="bg1">
                        <a:lumMod val="65000"/>
                      </a:schemeClr>
                    </a:solidFill>
                  </a:rPr>
                  <a:t> to </a:t>
                </a:r>
                <a:r>
                  <a:rPr lang="en-GB" sz="1600" kern="1200" dirty="0">
                    <a:solidFill>
                      <a:schemeClr val="bg1">
                        <a:lumMod val="65000"/>
                      </a:schemeClr>
                    </a:solidFill>
                  </a:rPr>
                  <a:t>Reject</a:t>
                </a:r>
                <a:r>
                  <a:rPr lang="en-GB" sz="1600" kern="1200" baseline="0" dirty="0">
                    <a:solidFill>
                      <a:schemeClr val="bg1">
                        <a:lumMod val="65000"/>
                      </a:schemeClr>
                    </a:solidFill>
                  </a:rPr>
                  <a:t> </a:t>
                </a:r>
              </a:p>
            </p:txBody>
          </p:sp>
        </p:grpSp>
      </p:grpSp>
      <p:grpSp>
        <p:nvGrpSpPr>
          <p:cNvPr id="231" name="Group 230"/>
          <p:cNvGrpSpPr/>
          <p:nvPr/>
        </p:nvGrpSpPr>
        <p:grpSpPr>
          <a:xfrm>
            <a:off x="6248400" y="152399"/>
            <a:ext cx="2743199" cy="693685"/>
            <a:chOff x="-65314" y="1093291"/>
            <a:chExt cx="6618513" cy="958268"/>
          </a:xfrm>
        </p:grpSpPr>
        <p:sp>
          <p:nvSpPr>
            <p:cNvPr id="232" name="Freeform 231"/>
            <p:cNvSpPr/>
            <p:nvPr/>
          </p:nvSpPr>
          <p:spPr>
            <a:xfrm>
              <a:off x="-65314" y="1093291"/>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t>1</a:t>
              </a:r>
            </a:p>
          </p:txBody>
        </p:sp>
        <p:sp>
          <p:nvSpPr>
            <p:cNvPr id="233" name="Freeform 232"/>
            <p:cNvSpPr/>
            <p:nvPr/>
          </p:nvSpPr>
          <p:spPr>
            <a:xfrm>
              <a:off x="1127986" y="1093293"/>
              <a:ext cx="5425213" cy="622873"/>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1" numCol="1" spcCol="1270" anchor="ctr" anchorCtr="0">
              <a:noAutofit/>
            </a:bodyPr>
            <a:lstStyle/>
            <a:p>
              <a:pPr marL="0" lvl="1" algn="l" defTabSz="755650">
                <a:lnSpc>
                  <a:spcPct val="90000"/>
                </a:lnSpc>
                <a:spcBef>
                  <a:spcPct val="0"/>
                </a:spcBef>
                <a:spcAft>
                  <a:spcPct val="15000"/>
                </a:spcAft>
              </a:pPr>
              <a:r>
                <a:rPr lang="en-GB" sz="1600" kern="1200" dirty="0"/>
                <a:t>State your null hypothesis (H</a:t>
              </a:r>
              <a:r>
                <a:rPr lang="en-GB" sz="1600" kern="1200" baseline="-25000" dirty="0"/>
                <a:t>0</a:t>
              </a:r>
              <a:r>
                <a:rPr lang="en-GB" sz="1600" kern="1200" baseline="0" dirty="0"/>
                <a:t>)</a:t>
              </a:r>
            </a:p>
          </p:txBody>
        </p:sp>
      </p:grpSp>
      <p:sp>
        <p:nvSpPr>
          <p:cNvPr id="39" name="Rectangle 38"/>
          <p:cNvSpPr/>
          <p:nvPr/>
        </p:nvSpPr>
        <p:spPr>
          <a:xfrm>
            <a:off x="1854586" y="4812268"/>
            <a:ext cx="596638" cy="369332"/>
          </a:xfrm>
          <a:prstGeom prst="rect">
            <a:avLst/>
          </a:prstGeom>
        </p:spPr>
        <p:txBody>
          <a:bodyPr wrap="none">
            <a:spAutoFit/>
          </a:bodyPr>
          <a:lstStyle/>
          <a:p>
            <a:r>
              <a:rPr lang="en-GB" b="1" dirty="0">
                <a:solidFill>
                  <a:schemeClr val="accent6">
                    <a:lumMod val="75000"/>
                  </a:schemeClr>
                </a:solidFill>
              </a:rPr>
              <a:t>0.15</a:t>
            </a:r>
          </a:p>
        </p:txBody>
      </p:sp>
      <p:cxnSp>
        <p:nvCxnSpPr>
          <p:cNvPr id="40" name="Straight Arrow Connector 39"/>
          <p:cNvCxnSpPr/>
          <p:nvPr/>
        </p:nvCxnSpPr>
        <p:spPr>
          <a:xfrm flipH="1">
            <a:off x="457200" y="4755647"/>
            <a:ext cx="5791200" cy="1"/>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41" name="Rectangle 40"/>
          <p:cNvSpPr/>
          <p:nvPr/>
        </p:nvSpPr>
        <p:spPr>
          <a:xfrm>
            <a:off x="228600" y="4800600"/>
            <a:ext cx="301686" cy="369332"/>
          </a:xfrm>
          <a:prstGeom prst="rect">
            <a:avLst/>
          </a:prstGeom>
        </p:spPr>
        <p:txBody>
          <a:bodyPr wrap="none">
            <a:spAutoFit/>
          </a:bodyPr>
          <a:lstStyle/>
          <a:p>
            <a:r>
              <a:rPr lang="en-GB" b="1" dirty="0">
                <a:solidFill>
                  <a:schemeClr val="accent6">
                    <a:lumMod val="75000"/>
                  </a:schemeClr>
                </a:solidFill>
              </a:rPr>
              <a:t>0</a:t>
            </a:r>
          </a:p>
        </p:txBody>
      </p:sp>
      <p:sp>
        <p:nvSpPr>
          <p:cNvPr id="42" name="Rectangle 41"/>
          <p:cNvSpPr/>
          <p:nvPr/>
        </p:nvSpPr>
        <p:spPr>
          <a:xfrm>
            <a:off x="6099114" y="4800600"/>
            <a:ext cx="301686" cy="369332"/>
          </a:xfrm>
          <a:prstGeom prst="rect">
            <a:avLst/>
          </a:prstGeom>
        </p:spPr>
        <p:txBody>
          <a:bodyPr wrap="none">
            <a:spAutoFit/>
          </a:bodyPr>
          <a:lstStyle/>
          <a:p>
            <a:r>
              <a:rPr lang="en-GB" b="1" dirty="0">
                <a:solidFill>
                  <a:schemeClr val="accent6">
                    <a:lumMod val="75000"/>
                  </a:schemeClr>
                </a:solidFill>
              </a:rPr>
              <a:t>1</a:t>
            </a:r>
          </a:p>
        </p:txBody>
      </p:sp>
      <p:grpSp>
        <p:nvGrpSpPr>
          <p:cNvPr id="5" name="Group 4"/>
          <p:cNvGrpSpPr/>
          <p:nvPr/>
        </p:nvGrpSpPr>
        <p:grpSpPr>
          <a:xfrm>
            <a:off x="1048702" y="2383939"/>
            <a:ext cx="3218498" cy="1578461"/>
            <a:chOff x="1048702" y="2383939"/>
            <a:chExt cx="3218498" cy="1578461"/>
          </a:xfrm>
        </p:grpSpPr>
        <mc:AlternateContent xmlns:mc="http://schemas.openxmlformats.org/markup-compatibility/2006" xmlns:a14="http://schemas.microsoft.com/office/drawing/2010/main">
          <mc:Choice Requires="a14">
            <p:sp>
              <p:nvSpPr>
                <p:cNvPr id="38" name="Rectangular Callout 37"/>
                <p:cNvSpPr/>
                <p:nvPr/>
              </p:nvSpPr>
              <p:spPr>
                <a:xfrm>
                  <a:off x="2514600" y="2383939"/>
                  <a:ext cx="1752600" cy="469851"/>
                </a:xfrm>
                <a:prstGeom prst="wedgeRectCallout">
                  <a:avLst>
                    <a:gd name="adj1" fmla="val -58021"/>
                    <a:gd name="adj2" fmla="val 21363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GB" sz="2000" i="1" smtClean="0">
                                <a:latin typeface="Cambria Math" panose="02040503050406030204" pitchFamily="18" charset="0"/>
                                <a:ea typeface="Cambria Math"/>
                              </a:rPr>
                            </m:ctrlPr>
                          </m:sSubPr>
                          <m:e>
                            <m:r>
                              <a:rPr lang="en-GB" sz="2000" b="0" i="1" smtClean="0">
                                <a:latin typeface="Cambria Math"/>
                                <a:ea typeface="Cambria Math"/>
                              </a:rPr>
                              <m:t>𝜎</m:t>
                            </m:r>
                          </m:e>
                          <m:sub>
                            <m:r>
                              <a:rPr lang="en-GB" sz="2000" b="0" i="1" smtClean="0">
                                <a:latin typeface="Cambria Math"/>
                                <a:ea typeface="Cambria Math"/>
                              </a:rPr>
                              <m:t>𝑝</m:t>
                            </m:r>
                          </m:sub>
                        </m:sSub>
                        <m:r>
                          <a:rPr lang="en-GB" sz="2000" b="0" i="1" smtClean="0">
                            <a:latin typeface="Cambria Math"/>
                            <a:ea typeface="Cambria Math"/>
                          </a:rPr>
                          <m:t>=0.0</m:t>
                        </m:r>
                        <m:r>
                          <a:rPr lang="en-GB" sz="2000" b="0" i="1">
                            <a:latin typeface="Cambria Math"/>
                            <a:ea typeface="Cambria Math"/>
                          </a:rPr>
                          <m:t>504</m:t>
                        </m:r>
                        <m:r>
                          <a:rPr lang="en-GB" sz="2000" b="0" i="1" smtClean="0">
                            <a:latin typeface="Cambria Math"/>
                            <a:ea typeface="Cambria Math"/>
                          </a:rPr>
                          <m:t>9</m:t>
                        </m:r>
                      </m:oMath>
                    </m:oMathPara>
                  </a14:m>
                  <a:endParaRPr lang="en-GB" sz="2000" dirty="0"/>
                </a:p>
              </p:txBody>
            </p:sp>
          </mc:Choice>
          <mc:Fallback xmlns="">
            <p:sp>
              <p:nvSpPr>
                <p:cNvPr id="38" name="Rectangular Callout 37"/>
                <p:cNvSpPr>
                  <a:spLocks noRot="1" noChangeAspect="1" noMove="1" noResize="1" noEditPoints="1" noAdjustHandles="1" noChangeArrowheads="1" noChangeShapeType="1" noTextEdit="1"/>
                </p:cNvSpPr>
                <p:nvPr/>
              </p:nvSpPr>
              <p:spPr>
                <a:xfrm>
                  <a:off x="2514600" y="2383939"/>
                  <a:ext cx="1752600" cy="469851"/>
                </a:xfrm>
                <a:prstGeom prst="wedgeRectCallout">
                  <a:avLst>
                    <a:gd name="adj1" fmla="val -58021"/>
                    <a:gd name="adj2" fmla="val 213637"/>
                  </a:avLst>
                </a:prstGeom>
                <a:blipFill rotWithShape="1">
                  <a:blip r:embed="rId4"/>
                  <a:stretch>
                    <a:fillRect/>
                  </a:stretch>
                </a:blipFill>
              </p:spPr>
              <p:txBody>
                <a:bodyPr/>
                <a:lstStyle/>
                <a:p>
                  <a:r>
                    <a:rPr lang="en-GB">
                      <a:noFill/>
                    </a:rPr>
                    <a:t> </a:t>
                  </a:r>
                </a:p>
              </p:txBody>
            </p:sp>
          </mc:Fallback>
        </mc:AlternateContent>
        <p:grpSp>
          <p:nvGrpSpPr>
            <p:cNvPr id="4" name="Group 3"/>
            <p:cNvGrpSpPr/>
            <p:nvPr/>
          </p:nvGrpSpPr>
          <p:grpSpPr>
            <a:xfrm>
              <a:off x="1048702" y="3514928"/>
              <a:ext cx="2198714" cy="447472"/>
              <a:chOff x="1048702" y="3514928"/>
              <a:chExt cx="2198714" cy="447472"/>
            </a:xfrm>
          </p:grpSpPr>
          <p:grpSp>
            <p:nvGrpSpPr>
              <p:cNvPr id="270" name="Group 269"/>
              <p:cNvGrpSpPr/>
              <p:nvPr/>
            </p:nvGrpSpPr>
            <p:grpSpPr>
              <a:xfrm>
                <a:off x="1590472" y="3514928"/>
                <a:ext cx="541770" cy="447472"/>
                <a:chOff x="1590472" y="3514928"/>
                <a:chExt cx="1113816" cy="447472"/>
              </a:xfrm>
            </p:grpSpPr>
            <p:cxnSp>
              <p:nvCxnSpPr>
                <p:cNvPr id="271" name="Straight Arrow Connector 270"/>
                <p:cNvCxnSpPr/>
                <p:nvPr/>
              </p:nvCxnSpPr>
              <p:spPr>
                <a:xfrm flipV="1">
                  <a:off x="2704288" y="3521271"/>
                  <a:ext cx="0" cy="441129"/>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2" name="Straight Arrow Connector 271"/>
                <p:cNvCxnSpPr/>
                <p:nvPr/>
              </p:nvCxnSpPr>
              <p:spPr>
                <a:xfrm flipV="1">
                  <a:off x="1590472" y="3514928"/>
                  <a:ext cx="0" cy="447472"/>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3" name="Straight Arrow Connector 272"/>
                <p:cNvCxnSpPr/>
                <p:nvPr/>
              </p:nvCxnSpPr>
              <p:spPr>
                <a:xfrm>
                  <a:off x="1590472" y="3733800"/>
                  <a:ext cx="1113816" cy="0"/>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grpSp>
          <p:grpSp>
            <p:nvGrpSpPr>
              <p:cNvPr id="44" name="Group 43"/>
              <p:cNvGrpSpPr/>
              <p:nvPr/>
            </p:nvGrpSpPr>
            <p:grpSpPr>
              <a:xfrm>
                <a:off x="2133600" y="3514928"/>
                <a:ext cx="570688" cy="447472"/>
                <a:chOff x="2133600" y="3514928"/>
                <a:chExt cx="570688" cy="447472"/>
              </a:xfrm>
            </p:grpSpPr>
            <p:cxnSp>
              <p:nvCxnSpPr>
                <p:cNvPr id="46" name="Straight Arrow Connector 45"/>
                <p:cNvCxnSpPr/>
                <p:nvPr/>
              </p:nvCxnSpPr>
              <p:spPr>
                <a:xfrm flipV="1">
                  <a:off x="2704288" y="3521271"/>
                  <a:ext cx="0" cy="441129"/>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7" name="Straight Arrow Connector 46"/>
                <p:cNvCxnSpPr/>
                <p:nvPr/>
              </p:nvCxnSpPr>
              <p:spPr>
                <a:xfrm flipV="1">
                  <a:off x="2133600" y="3514928"/>
                  <a:ext cx="0" cy="447472"/>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8" name="Straight Arrow Connector 47"/>
                <p:cNvCxnSpPr/>
                <p:nvPr/>
              </p:nvCxnSpPr>
              <p:spPr>
                <a:xfrm>
                  <a:off x="2152905" y="3733800"/>
                  <a:ext cx="551383" cy="1"/>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grpSp>
          <p:grpSp>
            <p:nvGrpSpPr>
              <p:cNvPr id="50" name="Group 49"/>
              <p:cNvGrpSpPr/>
              <p:nvPr/>
            </p:nvGrpSpPr>
            <p:grpSpPr>
              <a:xfrm>
                <a:off x="1048702" y="3514928"/>
                <a:ext cx="541770" cy="447472"/>
                <a:chOff x="1590472" y="3514928"/>
                <a:chExt cx="1113816" cy="447472"/>
              </a:xfrm>
            </p:grpSpPr>
            <p:cxnSp>
              <p:nvCxnSpPr>
                <p:cNvPr id="51" name="Straight Arrow Connector 50"/>
                <p:cNvCxnSpPr/>
                <p:nvPr/>
              </p:nvCxnSpPr>
              <p:spPr>
                <a:xfrm flipV="1">
                  <a:off x="2704288" y="3521271"/>
                  <a:ext cx="0" cy="441129"/>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Straight Arrow Connector 51"/>
                <p:cNvCxnSpPr/>
                <p:nvPr/>
              </p:nvCxnSpPr>
              <p:spPr>
                <a:xfrm flipV="1">
                  <a:off x="1590472" y="3514928"/>
                  <a:ext cx="0" cy="447472"/>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3" name="Straight Arrow Connector 52"/>
                <p:cNvCxnSpPr/>
                <p:nvPr/>
              </p:nvCxnSpPr>
              <p:spPr>
                <a:xfrm>
                  <a:off x="1590472" y="3733800"/>
                  <a:ext cx="1113816" cy="0"/>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grpSp>
          <p:grpSp>
            <p:nvGrpSpPr>
              <p:cNvPr id="54" name="Group 53"/>
              <p:cNvGrpSpPr/>
              <p:nvPr/>
            </p:nvGrpSpPr>
            <p:grpSpPr>
              <a:xfrm>
                <a:off x="2705646" y="3514928"/>
                <a:ext cx="541770" cy="447472"/>
                <a:chOff x="1590472" y="3514928"/>
                <a:chExt cx="1113816" cy="447472"/>
              </a:xfrm>
            </p:grpSpPr>
            <p:cxnSp>
              <p:nvCxnSpPr>
                <p:cNvPr id="55" name="Straight Arrow Connector 54"/>
                <p:cNvCxnSpPr/>
                <p:nvPr/>
              </p:nvCxnSpPr>
              <p:spPr>
                <a:xfrm flipV="1">
                  <a:off x="2704288" y="3521271"/>
                  <a:ext cx="0" cy="441129"/>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6" name="Straight Arrow Connector 55"/>
                <p:cNvCxnSpPr/>
                <p:nvPr/>
              </p:nvCxnSpPr>
              <p:spPr>
                <a:xfrm flipV="1">
                  <a:off x="1590472" y="3514928"/>
                  <a:ext cx="0" cy="447472"/>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7" name="Straight Arrow Connector 56"/>
                <p:cNvCxnSpPr/>
                <p:nvPr/>
              </p:nvCxnSpPr>
              <p:spPr>
                <a:xfrm>
                  <a:off x="1590472" y="3733800"/>
                  <a:ext cx="1113816" cy="0"/>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grpSp>
        </p:grpSp>
      </p:grpSp>
      <mc:AlternateContent xmlns:mc="http://schemas.openxmlformats.org/markup-compatibility/2006" xmlns:a14="http://schemas.microsoft.com/office/drawing/2010/main">
        <mc:Choice Requires="a14">
          <p:sp>
            <p:nvSpPr>
              <p:cNvPr id="43" name="Rectangular Callout 42"/>
              <p:cNvSpPr/>
              <p:nvPr/>
            </p:nvSpPr>
            <p:spPr>
              <a:xfrm>
                <a:off x="3733800" y="3626130"/>
                <a:ext cx="1219200" cy="469851"/>
              </a:xfrm>
              <a:prstGeom prst="wedgeRectCallout">
                <a:avLst>
                  <a:gd name="adj1" fmla="val -175620"/>
                  <a:gd name="adj2" fmla="val 132892"/>
                </a:avLst>
              </a:prstGeom>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GB" sz="2000" i="1" smtClean="0">
                          <a:latin typeface="Cambria Math"/>
                          <a:ea typeface="Cambria Math"/>
                        </a:rPr>
                        <m:t>𝜋</m:t>
                      </m:r>
                      <m:r>
                        <a:rPr lang="en-GB" sz="2000" b="0" i="1" smtClean="0">
                          <a:latin typeface="Cambria Math"/>
                          <a:ea typeface="Cambria Math"/>
                        </a:rPr>
                        <m:t>=0.1</m:t>
                      </m:r>
                      <m:r>
                        <a:rPr lang="en-GB" sz="2000" b="0" i="1">
                          <a:latin typeface="Cambria Math"/>
                          <a:ea typeface="Cambria Math"/>
                        </a:rPr>
                        <m:t>5</m:t>
                      </m:r>
                    </m:oMath>
                  </m:oMathPara>
                </a14:m>
                <a:endParaRPr lang="en-GB" sz="2000" dirty="0"/>
              </a:p>
            </p:txBody>
          </p:sp>
        </mc:Choice>
        <mc:Fallback xmlns="">
          <p:sp>
            <p:nvSpPr>
              <p:cNvPr id="43" name="Rectangular Callout 42"/>
              <p:cNvSpPr>
                <a:spLocks noRot="1" noChangeAspect="1" noMove="1" noResize="1" noEditPoints="1" noAdjustHandles="1" noChangeArrowheads="1" noChangeShapeType="1" noTextEdit="1"/>
              </p:cNvSpPr>
              <p:nvPr/>
            </p:nvSpPr>
            <p:spPr>
              <a:xfrm>
                <a:off x="3733800" y="3626130"/>
                <a:ext cx="1219200" cy="469851"/>
              </a:xfrm>
              <a:prstGeom prst="wedgeRectCallout">
                <a:avLst>
                  <a:gd name="adj1" fmla="val -175620"/>
                  <a:gd name="adj2" fmla="val 132892"/>
                </a:avLst>
              </a:prstGeom>
              <a:blipFill rotWithShape="1">
                <a:blip r:embed="rId5"/>
                <a:stretch>
                  <a:fillRect/>
                </a:stretch>
              </a:blipFill>
            </p:spPr>
            <p:txBody>
              <a:bodyPr/>
              <a:lstStyle/>
              <a:p>
                <a:r>
                  <a:rPr lang="en-GB">
                    <a:noFill/>
                  </a:rPr>
                  <a:t> </a:t>
                </a:r>
              </a:p>
            </p:txBody>
          </p:sp>
        </mc:Fallback>
      </mc:AlternateContent>
      <p:grpSp>
        <p:nvGrpSpPr>
          <p:cNvPr id="7" name="Group 6"/>
          <p:cNvGrpSpPr/>
          <p:nvPr/>
        </p:nvGrpSpPr>
        <p:grpSpPr>
          <a:xfrm>
            <a:off x="265889" y="2394858"/>
            <a:ext cx="1651935" cy="2796470"/>
            <a:chOff x="265889" y="2394858"/>
            <a:chExt cx="1651935" cy="2796470"/>
          </a:xfrm>
        </p:grpSpPr>
        <p:cxnSp>
          <p:nvCxnSpPr>
            <p:cNvPr id="36" name="Straight Arrow Connector 35"/>
            <p:cNvCxnSpPr/>
            <p:nvPr/>
          </p:nvCxnSpPr>
          <p:spPr>
            <a:xfrm flipV="1">
              <a:off x="1600200" y="2394858"/>
              <a:ext cx="0" cy="2427514"/>
            </a:xfrm>
            <a:prstGeom prst="straightConnector1">
              <a:avLst/>
            </a:prstGeom>
            <a:ln>
              <a:solidFill>
                <a:schemeClr val="tx1">
                  <a:lumMod val="50000"/>
                  <a:lumOff val="50000"/>
                </a:schemeClr>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7" name="Rectangle 36"/>
            <p:cNvSpPr/>
            <p:nvPr/>
          </p:nvSpPr>
          <p:spPr>
            <a:xfrm>
              <a:off x="1321186" y="4821996"/>
              <a:ext cx="596638" cy="369332"/>
            </a:xfrm>
            <a:prstGeom prst="rect">
              <a:avLst/>
            </a:prstGeom>
          </p:spPr>
          <p:txBody>
            <a:bodyPr wrap="none">
              <a:spAutoFit/>
            </a:bodyPr>
            <a:lstStyle/>
            <a:p>
              <a:r>
                <a:rPr lang="en-GB" b="1" dirty="0">
                  <a:solidFill>
                    <a:schemeClr val="tx1">
                      <a:lumMod val="50000"/>
                      <a:lumOff val="50000"/>
                    </a:schemeClr>
                  </a:solidFill>
                </a:rPr>
                <a:t>0.10</a:t>
              </a:r>
            </a:p>
          </p:txBody>
        </p:sp>
        <mc:AlternateContent xmlns:mc="http://schemas.openxmlformats.org/markup-compatibility/2006" xmlns:a14="http://schemas.microsoft.com/office/drawing/2010/main">
          <mc:Choice Requires="a14">
            <p:sp>
              <p:nvSpPr>
                <p:cNvPr id="49" name="Rectangular Callout 48"/>
                <p:cNvSpPr/>
                <p:nvPr/>
              </p:nvSpPr>
              <p:spPr>
                <a:xfrm>
                  <a:off x="265889" y="2798885"/>
                  <a:ext cx="1219200" cy="469851"/>
                </a:xfrm>
                <a:prstGeom prst="wedgeRectCallout">
                  <a:avLst>
                    <a:gd name="adj1" fmla="val 55763"/>
                    <a:gd name="adj2" fmla="val 244693"/>
                  </a:avLst>
                </a:prstGeom>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GB" sz="2000" b="0" i="1" smtClean="0">
                            <a:latin typeface="Cambria Math"/>
                            <a:ea typeface="Cambria Math"/>
                          </a:rPr>
                          <m:t>𝑝</m:t>
                        </m:r>
                        <m:r>
                          <a:rPr lang="en-GB" sz="2000" b="0" i="1" smtClean="0">
                            <a:latin typeface="Cambria Math"/>
                            <a:ea typeface="Cambria Math"/>
                          </a:rPr>
                          <m:t>=0.10</m:t>
                        </m:r>
                      </m:oMath>
                    </m:oMathPara>
                  </a14:m>
                  <a:endParaRPr lang="en-GB" sz="2000" dirty="0"/>
                </a:p>
              </p:txBody>
            </p:sp>
          </mc:Choice>
          <mc:Fallback xmlns="">
            <p:sp>
              <p:nvSpPr>
                <p:cNvPr id="49" name="Rectangular Callout 48"/>
                <p:cNvSpPr>
                  <a:spLocks noRot="1" noChangeAspect="1" noMove="1" noResize="1" noEditPoints="1" noAdjustHandles="1" noChangeArrowheads="1" noChangeShapeType="1" noTextEdit="1"/>
                </p:cNvSpPr>
                <p:nvPr/>
              </p:nvSpPr>
              <p:spPr>
                <a:xfrm>
                  <a:off x="265889" y="2798885"/>
                  <a:ext cx="1219200" cy="469851"/>
                </a:xfrm>
                <a:prstGeom prst="wedgeRectCallout">
                  <a:avLst>
                    <a:gd name="adj1" fmla="val 55763"/>
                    <a:gd name="adj2" fmla="val 244693"/>
                  </a:avLst>
                </a:prstGeom>
                <a:blipFill rotWithShape="1">
                  <a:blip r:embed="rId6"/>
                  <a:stretch>
                    <a:fillRect/>
                  </a:stretch>
                </a:blipFill>
              </p:spPr>
              <p:txBody>
                <a:bodyPr/>
                <a:lstStyle/>
                <a:p>
                  <a:r>
                    <a:rPr lang="en-GB">
                      <a:noFill/>
                    </a:rPr>
                    <a:t> </a:t>
                  </a:r>
                </a:p>
              </p:txBody>
            </p:sp>
          </mc:Fallback>
        </mc:AlternateContent>
      </p:grpSp>
      <p:grpSp>
        <p:nvGrpSpPr>
          <p:cNvPr id="58" name="Group 57"/>
          <p:cNvGrpSpPr/>
          <p:nvPr/>
        </p:nvGrpSpPr>
        <p:grpSpPr>
          <a:xfrm>
            <a:off x="2133600" y="3514928"/>
            <a:ext cx="570688" cy="447472"/>
            <a:chOff x="2133600" y="3514928"/>
            <a:chExt cx="570688" cy="447472"/>
          </a:xfrm>
        </p:grpSpPr>
        <p:cxnSp>
          <p:nvCxnSpPr>
            <p:cNvPr id="59" name="Straight Arrow Connector 58"/>
            <p:cNvCxnSpPr/>
            <p:nvPr/>
          </p:nvCxnSpPr>
          <p:spPr>
            <a:xfrm flipV="1">
              <a:off x="2704288" y="3521271"/>
              <a:ext cx="0" cy="441129"/>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Arrow Connector 59"/>
            <p:cNvCxnSpPr/>
            <p:nvPr/>
          </p:nvCxnSpPr>
          <p:spPr>
            <a:xfrm flipV="1">
              <a:off x="2133600" y="3514928"/>
              <a:ext cx="0" cy="447472"/>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1" name="Straight Arrow Connector 60"/>
            <p:cNvCxnSpPr/>
            <p:nvPr/>
          </p:nvCxnSpPr>
          <p:spPr>
            <a:xfrm>
              <a:off x="2152905" y="3733800"/>
              <a:ext cx="551383" cy="1"/>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grpSp>
      <mc:AlternateContent xmlns:mc="http://schemas.openxmlformats.org/markup-compatibility/2006" xmlns:a14="http://schemas.microsoft.com/office/drawing/2010/main">
        <mc:Choice Requires="a14">
          <p:sp>
            <p:nvSpPr>
              <p:cNvPr id="62" name="TextBox 61"/>
              <p:cNvSpPr txBox="1"/>
              <p:nvPr/>
            </p:nvSpPr>
            <p:spPr>
              <a:xfrm>
                <a:off x="6742991" y="3632323"/>
                <a:ext cx="2098651" cy="1243546"/>
              </a:xfrm>
              <a:prstGeom prst="rect">
                <a:avLst/>
              </a:prstGeom>
              <a:solidFill>
                <a:schemeClr val="accent6">
                  <a:lumMod val="20000"/>
                  <a:lumOff val="80000"/>
                </a:schemeClr>
              </a:solidFill>
            </p:spPr>
            <p:txBody>
              <a:bodyPr wrap="none" rtlCol="0">
                <a:spAutoFit/>
              </a:bodyPr>
              <a:lstStyle/>
              <a:p>
                <a:r>
                  <a:rPr lang="en-GB" sz="2000" b="1" dirty="0"/>
                  <a:t>Recall Week 3:</a:t>
                </a:r>
              </a:p>
              <a:p>
                <a:pPr/>
                <a14:m>
                  <m:oMathPara xmlns:m="http://schemas.openxmlformats.org/officeDocument/2006/math">
                    <m:oMathParaPr>
                      <m:jc m:val="centerGroup"/>
                    </m:oMathParaPr>
                    <m:oMath xmlns:m="http://schemas.openxmlformats.org/officeDocument/2006/math">
                      <m:r>
                        <a:rPr lang="en-GB" sz="3200" b="0" i="1" smtClean="0">
                          <a:latin typeface="Cambria Math"/>
                        </a:rPr>
                        <m:t>𝑧</m:t>
                      </m:r>
                      <m:r>
                        <a:rPr lang="en-GB" sz="3200" b="0" i="1" smtClean="0">
                          <a:latin typeface="Cambria Math"/>
                        </a:rPr>
                        <m:t>=</m:t>
                      </m:r>
                      <m:f>
                        <m:fPr>
                          <m:ctrlPr>
                            <a:rPr lang="en-GB" sz="3200" b="0" i="1" smtClean="0">
                              <a:latin typeface="Cambria Math" panose="02040503050406030204" pitchFamily="18" charset="0"/>
                            </a:rPr>
                          </m:ctrlPr>
                        </m:fPr>
                        <m:num>
                          <m:r>
                            <a:rPr lang="en-GB" sz="3200" b="0" i="1" smtClean="0">
                              <a:latin typeface="Cambria Math"/>
                            </a:rPr>
                            <m:t>𝑥</m:t>
                          </m:r>
                          <m:r>
                            <a:rPr lang="en-GB" sz="3200" b="0" i="1" smtClean="0">
                              <a:latin typeface="Cambria Math"/>
                            </a:rPr>
                            <m:t>−</m:t>
                          </m:r>
                          <m:r>
                            <a:rPr lang="en-GB" sz="3200" b="0" i="1" smtClean="0">
                              <a:latin typeface="Cambria Math"/>
                              <a:ea typeface="Cambria Math"/>
                            </a:rPr>
                            <m:t>𝜇</m:t>
                          </m:r>
                        </m:num>
                        <m:den>
                          <m:r>
                            <a:rPr lang="en-GB" sz="3200" b="0" i="1" smtClean="0">
                              <a:latin typeface="Cambria Math"/>
                              <a:ea typeface="Cambria Math"/>
                            </a:rPr>
                            <m:t>𝜎</m:t>
                          </m:r>
                        </m:den>
                      </m:f>
                    </m:oMath>
                  </m:oMathPara>
                </a14:m>
                <a:endParaRPr lang="en-GB" sz="3200" dirty="0"/>
              </a:p>
            </p:txBody>
          </p:sp>
        </mc:Choice>
        <mc:Fallback xmlns="">
          <p:sp>
            <p:nvSpPr>
              <p:cNvPr id="62" name="TextBox 61"/>
              <p:cNvSpPr txBox="1">
                <a:spLocks noRot="1" noChangeAspect="1" noMove="1" noResize="1" noEditPoints="1" noAdjustHandles="1" noChangeArrowheads="1" noChangeShapeType="1" noTextEdit="1"/>
              </p:cNvSpPr>
              <p:nvPr/>
            </p:nvSpPr>
            <p:spPr>
              <a:xfrm>
                <a:off x="6742991" y="3632323"/>
                <a:ext cx="2098651" cy="1243546"/>
              </a:xfrm>
              <a:prstGeom prst="rect">
                <a:avLst/>
              </a:prstGeom>
              <a:blipFill rotWithShape="1">
                <a:blip r:embed="rId7"/>
                <a:stretch>
                  <a:fillRect l="-2907" t="-245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4" name="TextBox 63"/>
              <p:cNvSpPr txBox="1"/>
              <p:nvPr/>
            </p:nvSpPr>
            <p:spPr>
              <a:xfrm>
                <a:off x="1219200" y="1928552"/>
                <a:ext cx="2514600" cy="1195648"/>
              </a:xfrm>
              <a:prstGeom prst="rect">
                <a:avLst/>
              </a:prstGeom>
              <a:solidFill>
                <a:schemeClr val="accent6">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3600" b="0" i="1" smtClean="0">
                          <a:latin typeface="Cambria Math"/>
                        </a:rPr>
                        <m:t>𝑍</m:t>
                      </m:r>
                      <m:r>
                        <a:rPr lang="en-GB" sz="3600" b="0" i="1" smtClean="0">
                          <a:latin typeface="Cambria Math"/>
                        </a:rPr>
                        <m:t>=</m:t>
                      </m:r>
                      <m:f>
                        <m:fPr>
                          <m:ctrlPr>
                            <a:rPr lang="en-GB" sz="3600" b="0" i="1" smtClean="0">
                              <a:latin typeface="Cambria Math" panose="02040503050406030204" pitchFamily="18" charset="0"/>
                            </a:rPr>
                          </m:ctrlPr>
                        </m:fPr>
                        <m:num>
                          <m:r>
                            <a:rPr lang="en-GB" sz="3600" b="0" i="1" smtClean="0">
                              <a:latin typeface="Cambria Math"/>
                            </a:rPr>
                            <m:t>𝑝</m:t>
                          </m:r>
                          <m:r>
                            <a:rPr lang="en-GB" sz="3600" b="0" i="1" smtClean="0">
                              <a:latin typeface="Cambria Math"/>
                            </a:rPr>
                            <m:t>−</m:t>
                          </m:r>
                          <m:r>
                            <a:rPr lang="en-GB" sz="3600" b="0" i="1" smtClean="0">
                              <a:latin typeface="Cambria Math"/>
                              <a:ea typeface="Cambria Math"/>
                            </a:rPr>
                            <m:t>𝜋</m:t>
                          </m:r>
                        </m:num>
                        <m:den>
                          <m:sSub>
                            <m:sSubPr>
                              <m:ctrlPr>
                                <a:rPr lang="en-GB" sz="3600" b="0" i="1" smtClean="0">
                                  <a:latin typeface="Cambria Math" panose="02040503050406030204" pitchFamily="18" charset="0"/>
                                  <a:ea typeface="Cambria Math"/>
                                </a:rPr>
                              </m:ctrlPr>
                            </m:sSubPr>
                            <m:e>
                              <m:r>
                                <a:rPr lang="en-GB" sz="3600" b="0" i="1" smtClean="0">
                                  <a:latin typeface="Cambria Math"/>
                                  <a:ea typeface="Cambria Math"/>
                                </a:rPr>
                                <m:t>𝜎</m:t>
                              </m:r>
                            </m:e>
                            <m:sub>
                              <m:r>
                                <a:rPr lang="en-GB" sz="3600" b="0" i="1" smtClean="0">
                                  <a:latin typeface="Cambria Math"/>
                                  <a:ea typeface="Cambria Math"/>
                                </a:rPr>
                                <m:t>𝑝</m:t>
                              </m:r>
                            </m:sub>
                          </m:sSub>
                        </m:den>
                      </m:f>
                    </m:oMath>
                  </m:oMathPara>
                </a14:m>
                <a:endParaRPr lang="en-GB" sz="3600" dirty="0"/>
              </a:p>
            </p:txBody>
          </p:sp>
        </mc:Choice>
        <mc:Fallback xmlns="">
          <p:sp>
            <p:nvSpPr>
              <p:cNvPr id="64" name="TextBox 63"/>
              <p:cNvSpPr txBox="1">
                <a:spLocks noRot="1" noChangeAspect="1" noMove="1" noResize="1" noEditPoints="1" noAdjustHandles="1" noChangeArrowheads="1" noChangeShapeType="1" noTextEdit="1"/>
              </p:cNvSpPr>
              <p:nvPr/>
            </p:nvSpPr>
            <p:spPr>
              <a:xfrm>
                <a:off x="1219200" y="1928552"/>
                <a:ext cx="2514600" cy="1195648"/>
              </a:xfrm>
              <a:prstGeom prst="rect">
                <a:avLst/>
              </a:prstGeom>
              <a:blipFill rotWithShape="1">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5" name="TextBox 64"/>
              <p:cNvSpPr txBox="1"/>
              <p:nvPr/>
            </p:nvSpPr>
            <p:spPr>
              <a:xfrm>
                <a:off x="3657600" y="2133600"/>
                <a:ext cx="4114800" cy="798873"/>
              </a:xfrm>
              <a:prstGeom prst="rect">
                <a:avLst/>
              </a:prstGeom>
              <a:solidFill>
                <a:schemeClr val="accent6">
                  <a:lumMod val="20000"/>
                  <a:lumOff val="80000"/>
                </a:schemeClr>
              </a:solidFill>
            </p:spPr>
            <p:txBody>
              <a:bodyPr wrap="square" rtlCol="0">
                <a:spAutoFit/>
              </a:bodyPr>
              <a:lstStyle/>
              <a:p>
                <a:r>
                  <a:rPr lang="en-GB" sz="3200" dirty="0"/>
                  <a:t>=</a:t>
                </a:r>
                <a14:m>
                  <m:oMath xmlns:m="http://schemas.openxmlformats.org/officeDocument/2006/math">
                    <m:f>
                      <m:fPr>
                        <m:ctrlPr>
                          <a:rPr lang="en-GB" sz="3200" i="1">
                            <a:latin typeface="Cambria Math" panose="02040503050406030204" pitchFamily="18" charset="0"/>
                          </a:rPr>
                        </m:ctrlPr>
                      </m:fPr>
                      <m:num>
                        <m:r>
                          <a:rPr lang="en-GB" sz="3200" b="0" i="1" smtClean="0">
                            <a:latin typeface="Cambria Math"/>
                          </a:rPr>
                          <m:t>0.10</m:t>
                        </m:r>
                        <m:r>
                          <a:rPr lang="en-GB" sz="3200" i="1">
                            <a:latin typeface="Cambria Math"/>
                          </a:rPr>
                          <m:t>−</m:t>
                        </m:r>
                        <m:r>
                          <a:rPr lang="en-GB" sz="3200" b="0" i="1" smtClean="0">
                            <a:latin typeface="Cambria Math"/>
                          </a:rPr>
                          <m:t>0.15</m:t>
                        </m:r>
                      </m:num>
                      <m:den>
                        <m:r>
                          <a:rPr lang="en-GB" sz="3200" b="0" i="1" smtClean="0">
                            <a:latin typeface="Cambria Math"/>
                            <a:ea typeface="Cambria Math"/>
                          </a:rPr>
                          <m:t>0.05049</m:t>
                        </m:r>
                      </m:den>
                    </m:f>
                    <m:r>
                      <a:rPr lang="en-GB" sz="3200" b="0" i="1" smtClean="0">
                        <a:latin typeface="Cambria Math"/>
                        <a:ea typeface="Cambria Math"/>
                      </a:rPr>
                      <m:t>=−0.9901</m:t>
                    </m:r>
                  </m:oMath>
                </a14:m>
                <a:endParaRPr lang="en-GB" sz="3200" dirty="0"/>
              </a:p>
            </p:txBody>
          </p:sp>
        </mc:Choice>
        <mc:Fallback xmlns="">
          <p:sp>
            <p:nvSpPr>
              <p:cNvPr id="65" name="TextBox 64"/>
              <p:cNvSpPr txBox="1">
                <a:spLocks noRot="1" noChangeAspect="1" noMove="1" noResize="1" noEditPoints="1" noAdjustHandles="1" noChangeArrowheads="1" noChangeShapeType="1" noTextEdit="1"/>
              </p:cNvSpPr>
              <p:nvPr/>
            </p:nvSpPr>
            <p:spPr>
              <a:xfrm>
                <a:off x="3657600" y="2133600"/>
                <a:ext cx="4114800" cy="798873"/>
              </a:xfrm>
              <a:prstGeom prst="rect">
                <a:avLst/>
              </a:prstGeom>
              <a:blipFill rotWithShape="1">
                <a:blip r:embed="rId9"/>
                <a:stretch>
                  <a:fillRect l="-3704" b="-12214"/>
                </a:stretch>
              </a:blipFill>
            </p:spPr>
            <p:txBody>
              <a:bodyPr/>
              <a:lstStyle/>
              <a:p>
                <a:r>
                  <a:rPr lang="en-GB">
                    <a:noFill/>
                  </a:rPr>
                  <a:t> </a:t>
                </a:r>
              </a:p>
            </p:txBody>
          </p:sp>
        </mc:Fallback>
      </mc:AlternateContent>
      <p:sp>
        <p:nvSpPr>
          <p:cNvPr id="66" name="Rectangle 65"/>
          <p:cNvSpPr/>
          <p:nvPr/>
        </p:nvSpPr>
        <p:spPr>
          <a:xfrm>
            <a:off x="304800" y="725269"/>
            <a:ext cx="5867400" cy="400110"/>
          </a:xfrm>
          <a:prstGeom prst="rect">
            <a:avLst/>
          </a:prstGeom>
        </p:spPr>
        <p:txBody>
          <a:bodyPr wrap="square">
            <a:spAutoFit/>
          </a:bodyPr>
          <a:lstStyle/>
          <a:p>
            <a:pPr marL="0" lvl="1"/>
            <a:r>
              <a:rPr lang="en-GB" sz="2000" b="1" dirty="0"/>
              <a:t>Calculating test statistic called Z value</a:t>
            </a:r>
            <a:endParaRPr lang="en-GB" sz="2800" b="1" dirty="0"/>
          </a:p>
        </p:txBody>
      </p:sp>
      <mc:AlternateContent xmlns:mc="http://schemas.openxmlformats.org/markup-compatibility/2006" xmlns:a14="http://schemas.microsoft.com/office/drawing/2010/main">
        <mc:Choice Requires="a14">
          <p:sp>
            <p:nvSpPr>
              <p:cNvPr id="135" name="Rectangle 134">
                <a:extLst>
                  <a:ext uri="{FF2B5EF4-FFF2-40B4-BE49-F238E27FC236}">
                    <a16:creationId xmlns:a16="http://schemas.microsoft.com/office/drawing/2014/main" id="{64BFD618-A504-4963-9601-6FAB2C228892}"/>
                  </a:ext>
                </a:extLst>
              </p:cNvPr>
              <p:cNvSpPr/>
              <p:nvPr/>
            </p:nvSpPr>
            <p:spPr>
              <a:xfrm>
                <a:off x="379443" y="5271848"/>
                <a:ext cx="8453826" cy="1200329"/>
              </a:xfrm>
              <a:prstGeom prst="rect">
                <a:avLst/>
              </a:prstGeom>
            </p:spPr>
            <p:txBody>
              <a:bodyPr wrap="square">
                <a:spAutoFit/>
              </a:bodyPr>
              <a:lstStyle/>
              <a:p>
                <a:pPr marL="0" lvl="1"/>
                <a:r>
                  <a:rPr lang="en-GB" dirty="0">
                    <a:latin typeface="+mj-lt"/>
                  </a:rPr>
                  <a:t>What is the Z-score related to the </a:t>
                </a:r>
                <a:r>
                  <a:rPr lang="en-GB" b="1" u="sng" dirty="0">
                    <a:latin typeface="+mj-lt"/>
                  </a:rPr>
                  <a:t>difference between the sample proportion p and the population proportion </a:t>
                </a:r>
                <a14:m>
                  <m:oMath xmlns:m="http://schemas.openxmlformats.org/officeDocument/2006/math">
                    <m:r>
                      <a:rPr lang="en-GB" b="1" i="0" u="sng">
                        <a:latin typeface="Cambria Math" panose="02040503050406030204" pitchFamily="18" charset="0"/>
                        <a:ea typeface="Cambria Math"/>
                      </a:rPr>
                      <m:t>𝛑</m:t>
                    </m:r>
                  </m:oMath>
                </a14:m>
                <a:r>
                  <a:rPr lang="en-GB" b="1" u="sng" dirty="0">
                    <a:latin typeface="+mj-lt"/>
                  </a:rPr>
                  <a:t> </a:t>
                </a:r>
                <a:r>
                  <a:rPr lang="en-GB" dirty="0">
                    <a:latin typeface="+mj-lt"/>
                  </a:rPr>
                  <a:t>given the standard error of the proportion (</a:t>
                </a:r>
                <a:r>
                  <a:rPr lang="en-GB" i="1" dirty="0">
                    <a:latin typeface="+mj-lt"/>
                  </a:rPr>
                  <a:t>i.e. </a:t>
                </a:r>
                <a:r>
                  <a:rPr lang="en-GB" dirty="0">
                    <a:latin typeface="+mj-lt"/>
                  </a:rPr>
                  <a:t>the spread of the proportion) ?</a:t>
                </a:r>
              </a:p>
              <a:p>
                <a:pPr marL="0" lvl="1" algn="r"/>
                <a:r>
                  <a:rPr lang="en-GB" dirty="0">
                    <a:latin typeface="+mj-lt"/>
                  </a:rPr>
                  <a:t>It is essentially telling us what it the probability of getting 0.1 if true value is 0.15</a:t>
                </a:r>
              </a:p>
            </p:txBody>
          </p:sp>
        </mc:Choice>
        <mc:Fallback xmlns="">
          <p:sp>
            <p:nvSpPr>
              <p:cNvPr id="135" name="Rectangle 134">
                <a:extLst>
                  <a:ext uri="{FF2B5EF4-FFF2-40B4-BE49-F238E27FC236}">
                    <a16:creationId xmlns:a16="http://schemas.microsoft.com/office/drawing/2014/main" id="{64BFD618-A504-4963-9601-6FAB2C228892}"/>
                  </a:ext>
                </a:extLst>
              </p:cNvPr>
              <p:cNvSpPr>
                <a:spLocks noRot="1" noChangeAspect="1" noMove="1" noResize="1" noEditPoints="1" noAdjustHandles="1" noChangeArrowheads="1" noChangeShapeType="1" noTextEdit="1"/>
              </p:cNvSpPr>
              <p:nvPr/>
            </p:nvSpPr>
            <p:spPr>
              <a:xfrm>
                <a:off x="379443" y="5271848"/>
                <a:ext cx="8453826" cy="1200329"/>
              </a:xfrm>
              <a:prstGeom prst="rect">
                <a:avLst/>
              </a:prstGeom>
              <a:blipFill>
                <a:blip r:embed="rId10"/>
                <a:stretch>
                  <a:fillRect l="-577" t="-3046" r="-649" b="-7107"/>
                </a:stretch>
              </a:blipFill>
            </p:spPr>
            <p:txBody>
              <a:bodyPr/>
              <a:lstStyle/>
              <a:p>
                <a:r>
                  <a:rPr lang="en-GB">
                    <a:noFill/>
                  </a:rPr>
                  <a:t> </a:t>
                </a:r>
              </a:p>
            </p:txBody>
          </p:sp>
        </mc:Fallback>
      </mc:AlternateContent>
    </p:spTree>
    <p:extLst>
      <p:ext uri="{BB962C8B-B14F-4D97-AF65-F5344CB8AC3E}">
        <p14:creationId xmlns:p14="http://schemas.microsoft.com/office/powerpoint/2010/main" val="2579989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fade">
                                      <p:cBhvr>
                                        <p:cTn id="7" dur="500"/>
                                        <p:tgtEl>
                                          <p:spTgt spid="6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4"/>
                                        </p:tgtEl>
                                        <p:attrNameLst>
                                          <p:attrName>style.visibility</p:attrName>
                                        </p:attrNameLst>
                                      </p:cBhvr>
                                      <p:to>
                                        <p:strVal val="visible"/>
                                      </p:to>
                                    </p:set>
                                    <p:animEffect transition="in" filter="fade">
                                      <p:cBhvr>
                                        <p:cTn id="12" dur="500"/>
                                        <p:tgtEl>
                                          <p:spTgt spid="6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5"/>
                                        </p:tgtEl>
                                        <p:attrNameLst>
                                          <p:attrName>style.visibility</p:attrName>
                                        </p:attrNameLst>
                                      </p:cBhvr>
                                      <p:to>
                                        <p:strVal val="visible"/>
                                      </p:to>
                                    </p:set>
                                    <p:animEffect transition="in" filter="fade">
                                      <p:cBhvr>
                                        <p:cTn id="17"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64" grpId="0" animBg="1"/>
      <p:bldP spid="6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4" name="Chart 263"/>
          <p:cNvGraphicFramePr/>
          <p:nvPr>
            <p:extLst>
              <p:ext uri="{D42A27DB-BD31-4B8C-83A1-F6EECF244321}">
                <p14:modId xmlns:p14="http://schemas.microsoft.com/office/powerpoint/2010/main" val="3933207933"/>
              </p:ext>
            </p:extLst>
          </p:nvPr>
        </p:nvGraphicFramePr>
        <p:xfrm>
          <a:off x="317770" y="1686408"/>
          <a:ext cx="6096000" cy="3217538"/>
        </p:xfrm>
        <a:graphic>
          <a:graphicData uri="http://schemas.openxmlformats.org/drawingml/2006/chart">
            <c:chart xmlns:c="http://schemas.openxmlformats.org/drawingml/2006/chart" xmlns:r="http://schemas.openxmlformats.org/officeDocument/2006/relationships" r:id="rId3"/>
          </a:graphicData>
        </a:graphic>
      </p:graphicFrame>
      <p:cxnSp>
        <p:nvCxnSpPr>
          <p:cNvPr id="265" name="Straight Arrow Connector 264"/>
          <p:cNvCxnSpPr/>
          <p:nvPr/>
        </p:nvCxnSpPr>
        <p:spPr>
          <a:xfrm flipV="1">
            <a:off x="2132242" y="2238984"/>
            <a:ext cx="0" cy="2607474"/>
          </a:xfrm>
          <a:prstGeom prst="straightConnector1">
            <a:avLst/>
          </a:prstGeom>
          <a:ln w="38100">
            <a:headEnd type="none" w="med" len="med"/>
            <a:tailEnd type="none" w="med" len="med"/>
          </a:ln>
        </p:spPr>
        <p:style>
          <a:lnRef idx="1">
            <a:schemeClr val="accent6"/>
          </a:lnRef>
          <a:fillRef idx="0">
            <a:schemeClr val="accent6"/>
          </a:fillRef>
          <a:effectRef idx="0">
            <a:schemeClr val="accent6"/>
          </a:effectRef>
          <a:fontRef idx="minor">
            <a:schemeClr val="tx1"/>
          </a:fontRef>
        </p:style>
      </p:cxnSp>
      <p:sp>
        <p:nvSpPr>
          <p:cNvPr id="2" name="Title 1"/>
          <p:cNvSpPr>
            <a:spLocks noGrp="1"/>
          </p:cNvSpPr>
          <p:nvPr>
            <p:ph type="title"/>
          </p:nvPr>
        </p:nvSpPr>
        <p:spPr/>
        <p:txBody>
          <a:bodyPr/>
          <a:lstStyle/>
          <a:p>
            <a:r>
              <a:rPr lang="en-GB" altLang="en-US" dirty="0"/>
              <a:t>Z Test for Proportion</a:t>
            </a:r>
            <a:endParaRPr lang="en-GB" dirty="0"/>
          </a:p>
        </p:txBody>
      </p:sp>
      <p:sp>
        <p:nvSpPr>
          <p:cNvPr id="45" name="Rectangle 44"/>
          <p:cNvSpPr/>
          <p:nvPr/>
        </p:nvSpPr>
        <p:spPr>
          <a:xfrm>
            <a:off x="304800" y="725269"/>
            <a:ext cx="5867400" cy="400110"/>
          </a:xfrm>
          <a:prstGeom prst="rect">
            <a:avLst/>
          </a:prstGeom>
        </p:spPr>
        <p:txBody>
          <a:bodyPr wrap="square">
            <a:spAutoFit/>
          </a:bodyPr>
          <a:lstStyle/>
          <a:p>
            <a:r>
              <a:rPr lang="en-GB" sz="2000" b="1" dirty="0"/>
              <a:t>CHOOSING A LEVEL OF SIGNIFICANCE!</a:t>
            </a:r>
          </a:p>
        </p:txBody>
      </p:sp>
      <p:grpSp>
        <p:nvGrpSpPr>
          <p:cNvPr id="140" name="Group 139"/>
          <p:cNvGrpSpPr/>
          <p:nvPr/>
        </p:nvGrpSpPr>
        <p:grpSpPr>
          <a:xfrm>
            <a:off x="6248400" y="152400"/>
            <a:ext cx="2743199" cy="3124200"/>
            <a:chOff x="925287" y="1143000"/>
            <a:chExt cx="6618513" cy="4315816"/>
          </a:xfrm>
          <a:solidFill>
            <a:schemeClr val="bg1">
              <a:lumMod val="95000"/>
            </a:schemeClr>
          </a:solidFill>
        </p:grpSpPr>
        <p:grpSp>
          <p:nvGrpSpPr>
            <p:cNvPr id="210" name="Group 209"/>
            <p:cNvGrpSpPr/>
            <p:nvPr/>
          </p:nvGrpSpPr>
          <p:grpSpPr>
            <a:xfrm>
              <a:off x="925287" y="1143000"/>
              <a:ext cx="6618513" cy="958268"/>
              <a:chOff x="-65314" y="1093291"/>
              <a:chExt cx="6618513" cy="958268"/>
            </a:xfrm>
            <a:grpFill/>
          </p:grpSpPr>
          <p:sp>
            <p:nvSpPr>
              <p:cNvPr id="229" name="Freeform 228"/>
              <p:cNvSpPr/>
              <p:nvPr/>
            </p:nvSpPr>
            <p:spPr>
              <a:xfrm>
                <a:off x="-65314" y="1093291"/>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grpFill/>
              <a:ln>
                <a:solidFill>
                  <a:schemeClr val="bg1">
                    <a:lumMod val="95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chemeClr val="bg1">
                        <a:lumMod val="65000"/>
                      </a:schemeClr>
                    </a:solidFill>
                  </a:rPr>
                  <a:t>1</a:t>
                </a:r>
              </a:p>
            </p:txBody>
          </p:sp>
          <p:sp>
            <p:nvSpPr>
              <p:cNvPr id="230" name="Freeform 229"/>
              <p:cNvSpPr/>
              <p:nvPr/>
            </p:nvSpPr>
            <p:spPr>
              <a:xfrm>
                <a:off x="1127986" y="1093293"/>
                <a:ext cx="5425213" cy="622873"/>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grpFill/>
              <a:ln>
                <a:solidFill>
                  <a:schemeClr val="bg1">
                    <a:lumMod val="95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1" numCol="1" spcCol="1270" anchor="ctr" anchorCtr="0">
                <a:noAutofit/>
              </a:bodyPr>
              <a:lstStyle/>
              <a:p>
                <a:pPr marL="0" lvl="1" algn="l" defTabSz="755650">
                  <a:lnSpc>
                    <a:spcPct val="90000"/>
                  </a:lnSpc>
                  <a:spcBef>
                    <a:spcPct val="0"/>
                  </a:spcBef>
                  <a:spcAft>
                    <a:spcPct val="15000"/>
                  </a:spcAft>
                </a:pPr>
                <a:r>
                  <a:rPr lang="en-GB" sz="1600" kern="1200" dirty="0">
                    <a:solidFill>
                      <a:schemeClr val="bg1">
                        <a:lumMod val="65000"/>
                      </a:schemeClr>
                    </a:solidFill>
                  </a:rPr>
                  <a:t>State your null hypothesis (H</a:t>
                </a:r>
                <a:r>
                  <a:rPr lang="en-GB" sz="1600" kern="1200" baseline="-25000" dirty="0">
                    <a:solidFill>
                      <a:schemeClr val="bg1">
                        <a:lumMod val="65000"/>
                      </a:schemeClr>
                    </a:solidFill>
                  </a:rPr>
                  <a:t>0</a:t>
                </a:r>
                <a:r>
                  <a:rPr lang="en-GB" sz="1600" kern="1200" baseline="0" dirty="0">
                    <a:solidFill>
                      <a:schemeClr val="bg1">
                        <a:lumMod val="65000"/>
                      </a:schemeClr>
                    </a:solidFill>
                  </a:rPr>
                  <a:t>)</a:t>
                </a:r>
              </a:p>
            </p:txBody>
          </p:sp>
        </p:grpSp>
        <p:grpSp>
          <p:nvGrpSpPr>
            <p:cNvPr id="211" name="Group 210"/>
            <p:cNvGrpSpPr/>
            <p:nvPr/>
          </p:nvGrpSpPr>
          <p:grpSpPr>
            <a:xfrm>
              <a:off x="925287" y="1982387"/>
              <a:ext cx="6618513" cy="958268"/>
              <a:chOff x="-65314" y="1932678"/>
              <a:chExt cx="6618513" cy="958268"/>
            </a:xfrm>
            <a:grpFill/>
          </p:grpSpPr>
          <p:sp>
            <p:nvSpPr>
              <p:cNvPr id="227" name="Freeform 226"/>
              <p:cNvSpPr/>
              <p:nvPr/>
            </p:nvSpPr>
            <p:spPr>
              <a:xfrm>
                <a:off x="-65314" y="1932678"/>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solidFill>
                <a:schemeClr val="accent1"/>
              </a:solidFill>
              <a:ln>
                <a:solidFill>
                  <a:schemeClr val="accent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chemeClr val="bg1"/>
                    </a:solidFill>
                  </a:rPr>
                  <a:t>2</a:t>
                </a:r>
              </a:p>
            </p:txBody>
          </p:sp>
          <p:sp>
            <p:nvSpPr>
              <p:cNvPr id="228" name="Freeform 227"/>
              <p:cNvSpPr/>
              <p:nvPr/>
            </p:nvSpPr>
            <p:spPr>
              <a:xfrm>
                <a:off x="1127986" y="1932680"/>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solidFill>
                <a:schemeClr val="bg1"/>
              </a:solidFill>
              <a:ln>
                <a:solidFill>
                  <a:schemeClr val="accent1"/>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defTabSz="755650">
                  <a:lnSpc>
                    <a:spcPct val="90000"/>
                  </a:lnSpc>
                  <a:spcBef>
                    <a:spcPct val="0"/>
                  </a:spcBef>
                  <a:spcAft>
                    <a:spcPct val="15000"/>
                  </a:spcAft>
                </a:pPr>
                <a:r>
                  <a:rPr lang="en-GB" sz="1600" b="1" dirty="0">
                    <a:solidFill>
                      <a:schemeClr val="tx1"/>
                    </a:solidFill>
                  </a:rPr>
                  <a:t>Calculate test statistic </a:t>
                </a:r>
                <a:r>
                  <a:rPr lang="en-GB" sz="1600" dirty="0">
                    <a:solidFill>
                      <a:schemeClr val="tx1"/>
                    </a:solidFill>
                  </a:rPr>
                  <a:t>from data (stat.)</a:t>
                </a:r>
              </a:p>
            </p:txBody>
          </p:sp>
        </p:grpSp>
        <p:grpSp>
          <p:nvGrpSpPr>
            <p:cNvPr id="214" name="Group 213"/>
            <p:cNvGrpSpPr/>
            <p:nvPr/>
          </p:nvGrpSpPr>
          <p:grpSpPr>
            <a:xfrm>
              <a:off x="925287" y="2821774"/>
              <a:ext cx="6618513" cy="958268"/>
              <a:chOff x="-65314" y="2772065"/>
              <a:chExt cx="6618513" cy="958268"/>
            </a:xfrm>
            <a:grpFill/>
          </p:grpSpPr>
          <p:sp>
            <p:nvSpPr>
              <p:cNvPr id="223" name="Freeform 222"/>
              <p:cNvSpPr/>
              <p:nvPr/>
            </p:nvSpPr>
            <p:spPr>
              <a:xfrm>
                <a:off x="-65314" y="2772065"/>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solidFill>
                <a:schemeClr val="accent1"/>
              </a:solidFill>
              <a:ln>
                <a:solidFill>
                  <a:schemeClr val="accent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chemeClr val="bg1"/>
                    </a:solidFill>
                  </a:rPr>
                  <a:t>3</a:t>
                </a:r>
              </a:p>
            </p:txBody>
          </p:sp>
          <p:sp>
            <p:nvSpPr>
              <p:cNvPr id="224" name="Freeform 223"/>
              <p:cNvSpPr/>
              <p:nvPr/>
            </p:nvSpPr>
            <p:spPr>
              <a:xfrm>
                <a:off x="1127986" y="2772067"/>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solidFill>
                <a:schemeClr val="bg1"/>
              </a:solidFill>
              <a:ln>
                <a:solidFill>
                  <a:schemeClr val="accent1"/>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defTabSz="755650">
                  <a:lnSpc>
                    <a:spcPct val="90000"/>
                  </a:lnSpc>
                  <a:spcBef>
                    <a:spcPct val="0"/>
                  </a:spcBef>
                  <a:spcAft>
                    <a:spcPct val="15000"/>
                  </a:spcAft>
                </a:pPr>
                <a:r>
                  <a:rPr lang="en-GB" sz="1600" b="1" dirty="0">
                    <a:solidFill>
                      <a:schemeClr val="tx1"/>
                    </a:solidFill>
                  </a:rPr>
                  <a:t>Choose </a:t>
                </a:r>
                <a:r>
                  <a:rPr lang="en-GB" sz="1600" dirty="0">
                    <a:solidFill>
                      <a:schemeClr val="tx1"/>
                    </a:solidFill>
                  </a:rPr>
                  <a:t>a level of </a:t>
                </a:r>
                <a:r>
                  <a:rPr lang="en-GB" sz="1600" b="1" dirty="0">
                    <a:solidFill>
                      <a:schemeClr val="tx1"/>
                    </a:solidFill>
                  </a:rPr>
                  <a:t>significance</a:t>
                </a:r>
                <a:r>
                  <a:rPr lang="en-GB" sz="1600" dirty="0">
                    <a:solidFill>
                      <a:schemeClr val="tx1"/>
                    </a:solidFill>
                  </a:rPr>
                  <a:t> (</a:t>
                </a:r>
                <a:r>
                  <a:rPr lang="el-GR" sz="1600" dirty="0">
                    <a:solidFill>
                      <a:schemeClr val="tx1"/>
                    </a:solidFill>
                  </a:rPr>
                  <a:t>α</a:t>
                </a:r>
                <a:r>
                  <a:rPr lang="en-GB" sz="1600" dirty="0">
                    <a:solidFill>
                      <a:schemeClr val="tx1"/>
                    </a:solidFill>
                  </a:rPr>
                  <a:t>)</a:t>
                </a:r>
              </a:p>
            </p:txBody>
          </p:sp>
        </p:grpSp>
        <p:grpSp>
          <p:nvGrpSpPr>
            <p:cNvPr id="215" name="Group 214"/>
            <p:cNvGrpSpPr/>
            <p:nvPr/>
          </p:nvGrpSpPr>
          <p:grpSpPr>
            <a:xfrm>
              <a:off x="925287" y="3661161"/>
              <a:ext cx="6618513" cy="958268"/>
              <a:chOff x="-65314" y="3611452"/>
              <a:chExt cx="6618513" cy="958268"/>
            </a:xfrm>
            <a:grpFill/>
          </p:grpSpPr>
          <p:sp>
            <p:nvSpPr>
              <p:cNvPr id="221" name="Freeform 220"/>
              <p:cNvSpPr/>
              <p:nvPr/>
            </p:nvSpPr>
            <p:spPr>
              <a:xfrm>
                <a:off x="-65314" y="3611452"/>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grpFill/>
              <a:ln>
                <a:solidFill>
                  <a:schemeClr val="bg1">
                    <a:lumMod val="95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baseline="0" dirty="0">
                    <a:solidFill>
                      <a:schemeClr val="bg1">
                        <a:lumMod val="65000"/>
                      </a:schemeClr>
                    </a:solidFill>
                  </a:rPr>
                  <a:t>4</a:t>
                </a:r>
              </a:p>
            </p:txBody>
          </p:sp>
          <p:sp>
            <p:nvSpPr>
              <p:cNvPr id="222" name="Freeform 221"/>
              <p:cNvSpPr/>
              <p:nvPr/>
            </p:nvSpPr>
            <p:spPr>
              <a:xfrm>
                <a:off x="1127986" y="3611453"/>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grpFill/>
              <a:ln>
                <a:solidFill>
                  <a:schemeClr val="bg1">
                    <a:lumMod val="95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algn="l" defTabSz="755650">
                  <a:lnSpc>
                    <a:spcPct val="90000"/>
                  </a:lnSpc>
                  <a:spcBef>
                    <a:spcPct val="0"/>
                  </a:spcBef>
                  <a:spcAft>
                    <a:spcPct val="15000"/>
                  </a:spcAft>
                </a:pPr>
                <a:r>
                  <a:rPr lang="en-GB" sz="1600" b="1" kern="1200" baseline="0" dirty="0">
                    <a:solidFill>
                      <a:schemeClr val="bg1">
                        <a:lumMod val="65000"/>
                      </a:schemeClr>
                    </a:solidFill>
                  </a:rPr>
                  <a:t>Lookup </a:t>
                </a:r>
                <a:r>
                  <a:rPr lang="en-GB" sz="1600" kern="1200" baseline="0" dirty="0">
                    <a:solidFill>
                      <a:schemeClr val="bg1">
                        <a:lumMod val="65000"/>
                      </a:schemeClr>
                    </a:solidFill>
                  </a:rPr>
                  <a:t>the</a:t>
                </a:r>
                <a:r>
                  <a:rPr lang="en-GB" sz="1600" b="1" kern="1200" baseline="0" dirty="0">
                    <a:solidFill>
                      <a:schemeClr val="bg1">
                        <a:lumMod val="65000"/>
                      </a:schemeClr>
                    </a:solidFill>
                  </a:rPr>
                  <a:t> </a:t>
                </a:r>
                <a:r>
                  <a:rPr lang="en-GB" sz="1600" b="0" kern="1200" baseline="0" dirty="0">
                    <a:solidFill>
                      <a:schemeClr val="bg1">
                        <a:lumMod val="65000"/>
                      </a:schemeClr>
                    </a:solidFill>
                  </a:rPr>
                  <a:t>critical value or the p-value</a:t>
                </a:r>
                <a:endParaRPr lang="en-GB" sz="1600" kern="1200" baseline="0" dirty="0">
                  <a:solidFill>
                    <a:schemeClr val="bg1">
                      <a:lumMod val="65000"/>
                    </a:schemeClr>
                  </a:solidFill>
                </a:endParaRPr>
              </a:p>
            </p:txBody>
          </p:sp>
        </p:grpSp>
        <p:grpSp>
          <p:nvGrpSpPr>
            <p:cNvPr id="217" name="Group 216"/>
            <p:cNvGrpSpPr/>
            <p:nvPr/>
          </p:nvGrpSpPr>
          <p:grpSpPr>
            <a:xfrm>
              <a:off x="925287" y="4500548"/>
              <a:ext cx="6618513" cy="958268"/>
              <a:chOff x="-65314" y="4450839"/>
              <a:chExt cx="6618513" cy="958268"/>
            </a:xfrm>
            <a:grpFill/>
          </p:grpSpPr>
          <p:sp>
            <p:nvSpPr>
              <p:cNvPr id="219" name="Freeform 218"/>
              <p:cNvSpPr/>
              <p:nvPr/>
            </p:nvSpPr>
            <p:spPr>
              <a:xfrm>
                <a:off x="-65314" y="4450839"/>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grpFill/>
              <a:ln>
                <a:solidFill>
                  <a:schemeClr val="bg1">
                    <a:lumMod val="95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baseline="0" dirty="0">
                    <a:solidFill>
                      <a:schemeClr val="bg1">
                        <a:lumMod val="65000"/>
                      </a:schemeClr>
                    </a:solidFill>
                  </a:rPr>
                  <a:t>5</a:t>
                </a:r>
              </a:p>
            </p:txBody>
          </p:sp>
          <p:sp>
            <p:nvSpPr>
              <p:cNvPr id="220" name="Freeform 219"/>
              <p:cNvSpPr/>
              <p:nvPr/>
            </p:nvSpPr>
            <p:spPr>
              <a:xfrm>
                <a:off x="1127986" y="4450840"/>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grpFill/>
              <a:ln>
                <a:solidFill>
                  <a:schemeClr val="bg1">
                    <a:lumMod val="95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algn="l" defTabSz="755650">
                  <a:lnSpc>
                    <a:spcPct val="90000"/>
                  </a:lnSpc>
                  <a:spcBef>
                    <a:spcPct val="0"/>
                  </a:spcBef>
                  <a:spcAft>
                    <a:spcPct val="15000"/>
                  </a:spcAft>
                </a:pPr>
                <a:r>
                  <a:rPr lang="en-GB" sz="1600" b="1" kern="1200" baseline="0" dirty="0">
                    <a:solidFill>
                      <a:schemeClr val="bg1">
                        <a:lumMod val="65000"/>
                      </a:schemeClr>
                    </a:solidFill>
                  </a:rPr>
                  <a:t>Reject</a:t>
                </a:r>
                <a:r>
                  <a:rPr lang="en-GB" sz="1600" kern="1200" baseline="0" dirty="0">
                    <a:solidFill>
                      <a:schemeClr val="bg1">
                        <a:lumMod val="65000"/>
                      </a:schemeClr>
                    </a:solidFill>
                  </a:rPr>
                  <a:t> </a:t>
                </a:r>
                <a:r>
                  <a:rPr lang="en-GB" sz="1600" kern="1200" dirty="0">
                    <a:solidFill>
                      <a:schemeClr val="bg1">
                        <a:lumMod val="65000"/>
                      </a:schemeClr>
                    </a:solidFill>
                  </a:rPr>
                  <a:t>H</a:t>
                </a:r>
                <a:r>
                  <a:rPr lang="en-GB" sz="1600" kern="1200" baseline="-25000" dirty="0">
                    <a:solidFill>
                      <a:schemeClr val="bg1">
                        <a:lumMod val="65000"/>
                      </a:schemeClr>
                    </a:solidFill>
                  </a:rPr>
                  <a:t>0</a:t>
                </a:r>
                <a:r>
                  <a:rPr lang="en-GB" sz="1600" kern="1200" baseline="0" dirty="0">
                    <a:solidFill>
                      <a:schemeClr val="bg1">
                        <a:lumMod val="65000"/>
                      </a:schemeClr>
                    </a:solidFill>
                  </a:rPr>
                  <a:t> or </a:t>
                </a:r>
                <a:r>
                  <a:rPr lang="en-GB" sz="1600" b="1" kern="1200" baseline="0" dirty="0">
                    <a:solidFill>
                      <a:schemeClr val="bg1">
                        <a:lumMod val="65000"/>
                      </a:schemeClr>
                    </a:solidFill>
                  </a:rPr>
                  <a:t>Fail</a:t>
                </a:r>
                <a:r>
                  <a:rPr lang="en-GB" sz="1600" b="1" kern="1200" dirty="0">
                    <a:solidFill>
                      <a:schemeClr val="bg1">
                        <a:lumMod val="65000"/>
                      </a:schemeClr>
                    </a:solidFill>
                  </a:rPr>
                  <a:t> to </a:t>
                </a:r>
                <a:r>
                  <a:rPr lang="en-GB" sz="1600" kern="1200" dirty="0">
                    <a:solidFill>
                      <a:schemeClr val="bg1">
                        <a:lumMod val="65000"/>
                      </a:schemeClr>
                    </a:solidFill>
                  </a:rPr>
                  <a:t>Reject</a:t>
                </a:r>
                <a:r>
                  <a:rPr lang="en-GB" sz="1600" kern="1200" baseline="0" dirty="0">
                    <a:solidFill>
                      <a:schemeClr val="bg1">
                        <a:lumMod val="65000"/>
                      </a:schemeClr>
                    </a:solidFill>
                  </a:rPr>
                  <a:t> </a:t>
                </a:r>
              </a:p>
            </p:txBody>
          </p:sp>
        </p:grpSp>
      </p:grpSp>
      <p:grpSp>
        <p:nvGrpSpPr>
          <p:cNvPr id="231" name="Group 230"/>
          <p:cNvGrpSpPr/>
          <p:nvPr/>
        </p:nvGrpSpPr>
        <p:grpSpPr>
          <a:xfrm>
            <a:off x="6248400" y="152399"/>
            <a:ext cx="2743199" cy="693685"/>
            <a:chOff x="-65314" y="1093291"/>
            <a:chExt cx="6618513" cy="958268"/>
          </a:xfrm>
        </p:grpSpPr>
        <p:sp>
          <p:nvSpPr>
            <p:cNvPr id="232" name="Freeform 231"/>
            <p:cNvSpPr/>
            <p:nvPr/>
          </p:nvSpPr>
          <p:spPr>
            <a:xfrm>
              <a:off x="-65314" y="1093291"/>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t>1</a:t>
              </a:r>
            </a:p>
          </p:txBody>
        </p:sp>
        <p:sp>
          <p:nvSpPr>
            <p:cNvPr id="233" name="Freeform 232"/>
            <p:cNvSpPr/>
            <p:nvPr/>
          </p:nvSpPr>
          <p:spPr>
            <a:xfrm>
              <a:off x="1127986" y="1093293"/>
              <a:ext cx="5425213" cy="622873"/>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1" numCol="1" spcCol="1270" anchor="ctr" anchorCtr="0">
              <a:noAutofit/>
            </a:bodyPr>
            <a:lstStyle/>
            <a:p>
              <a:pPr marL="0" lvl="1" algn="l" defTabSz="755650">
                <a:lnSpc>
                  <a:spcPct val="90000"/>
                </a:lnSpc>
                <a:spcBef>
                  <a:spcPct val="0"/>
                </a:spcBef>
                <a:spcAft>
                  <a:spcPct val="15000"/>
                </a:spcAft>
              </a:pPr>
              <a:r>
                <a:rPr lang="en-GB" sz="1600" kern="1200" dirty="0"/>
                <a:t>State your null hypothesis (H</a:t>
              </a:r>
              <a:r>
                <a:rPr lang="en-GB" sz="1600" kern="1200" baseline="-25000" dirty="0"/>
                <a:t>0</a:t>
              </a:r>
              <a:r>
                <a:rPr lang="en-GB" sz="1600" kern="1200" baseline="0" dirty="0"/>
                <a:t>)</a:t>
              </a:r>
            </a:p>
          </p:txBody>
        </p:sp>
      </p:grpSp>
      <mc:AlternateContent xmlns:mc="http://schemas.openxmlformats.org/markup-compatibility/2006" xmlns:a14="http://schemas.microsoft.com/office/drawing/2010/main">
        <mc:Choice Requires="a14">
          <p:sp>
            <p:nvSpPr>
              <p:cNvPr id="39" name="Rectangle 38"/>
              <p:cNvSpPr/>
              <p:nvPr/>
            </p:nvSpPr>
            <p:spPr>
              <a:xfrm>
                <a:off x="1934184" y="4812268"/>
                <a:ext cx="43005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i="1">
                          <a:latin typeface="Cambria Math"/>
                          <a:ea typeface="Cambria Math"/>
                        </a:rPr>
                        <m:t>𝜋</m:t>
                      </m:r>
                      <m:r>
                        <a:rPr lang="en-GB" i="1">
                          <a:latin typeface="Cambria Math"/>
                          <a:ea typeface="Cambria Math"/>
                        </a:rPr>
                        <m:t> </m:t>
                      </m:r>
                    </m:oMath>
                  </m:oMathPara>
                </a14:m>
                <a:endParaRPr lang="en-GB" b="1" dirty="0">
                  <a:solidFill>
                    <a:schemeClr val="accent6">
                      <a:lumMod val="75000"/>
                    </a:schemeClr>
                  </a:solidFill>
                </a:endParaRPr>
              </a:p>
            </p:txBody>
          </p:sp>
        </mc:Choice>
        <mc:Fallback xmlns="">
          <p:sp>
            <p:nvSpPr>
              <p:cNvPr id="39" name="Rectangle 38"/>
              <p:cNvSpPr>
                <a:spLocks noRot="1" noChangeAspect="1" noMove="1" noResize="1" noEditPoints="1" noAdjustHandles="1" noChangeArrowheads="1" noChangeShapeType="1" noTextEdit="1"/>
              </p:cNvSpPr>
              <p:nvPr/>
            </p:nvSpPr>
            <p:spPr>
              <a:xfrm>
                <a:off x="1934184" y="4812268"/>
                <a:ext cx="430053" cy="369332"/>
              </a:xfrm>
              <a:prstGeom prst="rect">
                <a:avLst/>
              </a:prstGeom>
              <a:blipFill rotWithShape="1">
                <a:blip r:embed="rId4"/>
                <a:stretch>
                  <a:fillRect/>
                </a:stretch>
              </a:blipFill>
            </p:spPr>
            <p:txBody>
              <a:bodyPr/>
              <a:lstStyle/>
              <a:p>
                <a:r>
                  <a:rPr lang="en-GB">
                    <a:noFill/>
                  </a:rPr>
                  <a:t> </a:t>
                </a:r>
              </a:p>
            </p:txBody>
          </p:sp>
        </mc:Fallback>
      </mc:AlternateContent>
      <p:cxnSp>
        <p:nvCxnSpPr>
          <p:cNvPr id="40" name="Straight Arrow Connector 39"/>
          <p:cNvCxnSpPr/>
          <p:nvPr/>
        </p:nvCxnSpPr>
        <p:spPr>
          <a:xfrm flipH="1">
            <a:off x="457200" y="4755647"/>
            <a:ext cx="5791200" cy="1"/>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41" name="Rectangle 40"/>
          <p:cNvSpPr/>
          <p:nvPr/>
        </p:nvSpPr>
        <p:spPr>
          <a:xfrm>
            <a:off x="228600" y="4800600"/>
            <a:ext cx="301686" cy="369332"/>
          </a:xfrm>
          <a:prstGeom prst="rect">
            <a:avLst/>
          </a:prstGeom>
        </p:spPr>
        <p:txBody>
          <a:bodyPr wrap="none">
            <a:spAutoFit/>
          </a:bodyPr>
          <a:lstStyle/>
          <a:p>
            <a:r>
              <a:rPr lang="en-GB" b="1" dirty="0">
                <a:solidFill>
                  <a:schemeClr val="accent6">
                    <a:lumMod val="75000"/>
                  </a:schemeClr>
                </a:solidFill>
              </a:rPr>
              <a:t>0</a:t>
            </a:r>
          </a:p>
        </p:txBody>
      </p:sp>
      <p:sp>
        <p:nvSpPr>
          <p:cNvPr id="42" name="Rectangle 41"/>
          <p:cNvSpPr/>
          <p:nvPr/>
        </p:nvSpPr>
        <p:spPr>
          <a:xfrm>
            <a:off x="6099114" y="4800600"/>
            <a:ext cx="301686" cy="369332"/>
          </a:xfrm>
          <a:prstGeom prst="rect">
            <a:avLst/>
          </a:prstGeom>
        </p:spPr>
        <p:txBody>
          <a:bodyPr wrap="none">
            <a:spAutoFit/>
          </a:bodyPr>
          <a:lstStyle/>
          <a:p>
            <a:r>
              <a:rPr lang="en-GB" b="1" dirty="0">
                <a:solidFill>
                  <a:schemeClr val="accent6">
                    <a:lumMod val="75000"/>
                  </a:schemeClr>
                </a:solidFill>
              </a:rPr>
              <a:t>1</a:t>
            </a:r>
          </a:p>
        </p:txBody>
      </p:sp>
      <p:grpSp>
        <p:nvGrpSpPr>
          <p:cNvPr id="58" name="Group 57"/>
          <p:cNvGrpSpPr/>
          <p:nvPr/>
        </p:nvGrpSpPr>
        <p:grpSpPr>
          <a:xfrm>
            <a:off x="2133600" y="3514928"/>
            <a:ext cx="580416" cy="447472"/>
            <a:chOff x="2123872" y="3514928"/>
            <a:chExt cx="580416" cy="447472"/>
          </a:xfrm>
        </p:grpSpPr>
        <p:cxnSp>
          <p:nvCxnSpPr>
            <p:cNvPr id="59" name="Straight Arrow Connector 58"/>
            <p:cNvCxnSpPr/>
            <p:nvPr/>
          </p:nvCxnSpPr>
          <p:spPr>
            <a:xfrm flipV="1">
              <a:off x="2704288" y="3521271"/>
              <a:ext cx="0" cy="441129"/>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Arrow Connector 59"/>
            <p:cNvCxnSpPr/>
            <p:nvPr/>
          </p:nvCxnSpPr>
          <p:spPr>
            <a:xfrm flipV="1">
              <a:off x="2123872" y="3514928"/>
              <a:ext cx="0" cy="447472"/>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1" name="Straight Arrow Connector 60"/>
            <p:cNvCxnSpPr/>
            <p:nvPr/>
          </p:nvCxnSpPr>
          <p:spPr>
            <a:xfrm>
              <a:off x="2152905" y="3733800"/>
              <a:ext cx="551383" cy="1"/>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grpSp>
      <p:grpSp>
        <p:nvGrpSpPr>
          <p:cNvPr id="67" name="Group 66"/>
          <p:cNvGrpSpPr/>
          <p:nvPr/>
        </p:nvGrpSpPr>
        <p:grpSpPr>
          <a:xfrm>
            <a:off x="1058430" y="3514928"/>
            <a:ext cx="2198714" cy="447472"/>
            <a:chOff x="1048702" y="3514928"/>
            <a:chExt cx="2198714" cy="447472"/>
          </a:xfrm>
        </p:grpSpPr>
        <p:grpSp>
          <p:nvGrpSpPr>
            <p:cNvPr id="68" name="Group 67"/>
            <p:cNvGrpSpPr/>
            <p:nvPr/>
          </p:nvGrpSpPr>
          <p:grpSpPr>
            <a:xfrm>
              <a:off x="1590472" y="3514928"/>
              <a:ext cx="541770" cy="447472"/>
              <a:chOff x="1590472" y="3514928"/>
              <a:chExt cx="1113816" cy="447472"/>
            </a:xfrm>
          </p:grpSpPr>
          <p:cxnSp>
            <p:nvCxnSpPr>
              <p:cNvPr id="82" name="Straight Arrow Connector 81"/>
              <p:cNvCxnSpPr/>
              <p:nvPr/>
            </p:nvCxnSpPr>
            <p:spPr>
              <a:xfrm flipV="1">
                <a:off x="1590472" y="3514928"/>
                <a:ext cx="0" cy="447472"/>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3" name="Straight Arrow Connector 82"/>
              <p:cNvCxnSpPr/>
              <p:nvPr/>
            </p:nvCxnSpPr>
            <p:spPr>
              <a:xfrm>
                <a:off x="1590472" y="3733800"/>
                <a:ext cx="1113816" cy="0"/>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grpSp>
        <p:grpSp>
          <p:nvGrpSpPr>
            <p:cNvPr id="69" name="Group 68"/>
            <p:cNvGrpSpPr/>
            <p:nvPr/>
          </p:nvGrpSpPr>
          <p:grpSpPr>
            <a:xfrm>
              <a:off x="2152905" y="3521271"/>
              <a:ext cx="551383" cy="441129"/>
              <a:chOff x="2152905" y="3521271"/>
              <a:chExt cx="551383" cy="441129"/>
            </a:xfrm>
          </p:grpSpPr>
          <p:cxnSp>
            <p:nvCxnSpPr>
              <p:cNvPr id="78" name="Straight Arrow Connector 77"/>
              <p:cNvCxnSpPr/>
              <p:nvPr/>
            </p:nvCxnSpPr>
            <p:spPr>
              <a:xfrm flipV="1">
                <a:off x="2704288" y="3521271"/>
                <a:ext cx="0" cy="441129"/>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0" name="Straight Arrow Connector 79"/>
              <p:cNvCxnSpPr/>
              <p:nvPr/>
            </p:nvCxnSpPr>
            <p:spPr>
              <a:xfrm>
                <a:off x="2152905" y="3733800"/>
                <a:ext cx="551383" cy="1"/>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grpSp>
        <p:grpSp>
          <p:nvGrpSpPr>
            <p:cNvPr id="70" name="Group 69"/>
            <p:cNvGrpSpPr/>
            <p:nvPr/>
          </p:nvGrpSpPr>
          <p:grpSpPr>
            <a:xfrm>
              <a:off x="1048702" y="3514928"/>
              <a:ext cx="541770" cy="447472"/>
              <a:chOff x="1590472" y="3514928"/>
              <a:chExt cx="1113816" cy="447472"/>
            </a:xfrm>
          </p:grpSpPr>
          <p:cxnSp>
            <p:nvCxnSpPr>
              <p:cNvPr id="75" name="Straight Arrow Connector 74"/>
              <p:cNvCxnSpPr/>
              <p:nvPr/>
            </p:nvCxnSpPr>
            <p:spPr>
              <a:xfrm flipV="1">
                <a:off x="2704288" y="3521271"/>
                <a:ext cx="0" cy="441129"/>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6" name="Straight Arrow Connector 75"/>
              <p:cNvCxnSpPr/>
              <p:nvPr/>
            </p:nvCxnSpPr>
            <p:spPr>
              <a:xfrm flipV="1">
                <a:off x="1590472" y="3514928"/>
                <a:ext cx="0" cy="447472"/>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7" name="Straight Arrow Connector 76"/>
              <p:cNvCxnSpPr/>
              <p:nvPr/>
            </p:nvCxnSpPr>
            <p:spPr>
              <a:xfrm>
                <a:off x="1590472" y="3733800"/>
                <a:ext cx="1113816" cy="0"/>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grpSp>
        <p:grpSp>
          <p:nvGrpSpPr>
            <p:cNvPr id="71" name="Group 70"/>
            <p:cNvGrpSpPr/>
            <p:nvPr/>
          </p:nvGrpSpPr>
          <p:grpSpPr>
            <a:xfrm>
              <a:off x="2705646" y="3514928"/>
              <a:ext cx="541770" cy="447472"/>
              <a:chOff x="1590472" y="3514928"/>
              <a:chExt cx="1113816" cy="447472"/>
            </a:xfrm>
          </p:grpSpPr>
          <p:cxnSp>
            <p:nvCxnSpPr>
              <p:cNvPr id="72" name="Straight Arrow Connector 71"/>
              <p:cNvCxnSpPr/>
              <p:nvPr/>
            </p:nvCxnSpPr>
            <p:spPr>
              <a:xfrm flipV="1">
                <a:off x="2704288" y="3521271"/>
                <a:ext cx="0" cy="441129"/>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3" name="Straight Arrow Connector 72"/>
              <p:cNvCxnSpPr/>
              <p:nvPr/>
            </p:nvCxnSpPr>
            <p:spPr>
              <a:xfrm flipV="1">
                <a:off x="1590472" y="3514928"/>
                <a:ext cx="0" cy="447472"/>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4" name="Straight Arrow Connector 73"/>
              <p:cNvCxnSpPr/>
              <p:nvPr/>
            </p:nvCxnSpPr>
            <p:spPr>
              <a:xfrm>
                <a:off x="1590472" y="3733800"/>
                <a:ext cx="1113816" cy="0"/>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grpSp>
      </p:grpSp>
      <mc:AlternateContent xmlns:mc="http://schemas.openxmlformats.org/markup-compatibility/2006" xmlns:a14="http://schemas.microsoft.com/office/drawing/2010/main">
        <mc:Choice Requires="a14">
          <p:sp>
            <p:nvSpPr>
              <p:cNvPr id="84" name="Rectangular Callout 83"/>
              <p:cNvSpPr/>
              <p:nvPr/>
            </p:nvSpPr>
            <p:spPr>
              <a:xfrm>
                <a:off x="4191000" y="3841774"/>
                <a:ext cx="1371600" cy="469851"/>
              </a:xfrm>
              <a:prstGeom prst="wedgeRectCallout">
                <a:avLst>
                  <a:gd name="adj1" fmla="val -94591"/>
                  <a:gd name="adj2" fmla="val 128752"/>
                </a:avLst>
              </a:prstGeom>
            </p:spPr>
            <p:style>
              <a:lnRef idx="1">
                <a:schemeClr val="accent2"/>
              </a:lnRef>
              <a:fillRef idx="2">
                <a:schemeClr val="accent2"/>
              </a:fillRef>
              <a:effectRef idx="1">
                <a:schemeClr val="accent2"/>
              </a:effectRef>
              <a:fontRef idx="minor">
                <a:schemeClr val="dk1"/>
              </a:fontRef>
            </p:style>
            <p:txBody>
              <a:bodyPr rtlCol="0" anchor="ctr"/>
              <a:lstStyle/>
              <a:p>
                <a:pPr algn="ctr"/>
                <a14:m>
                  <m:oMath xmlns:m="http://schemas.openxmlformats.org/officeDocument/2006/math">
                    <m:r>
                      <a:rPr lang="en-GB" sz="2000" b="0" i="1" smtClean="0">
                        <a:latin typeface="Cambria Math"/>
                        <a:ea typeface="Cambria Math"/>
                      </a:rPr>
                      <m:t>2.5%</m:t>
                    </m:r>
                  </m:oMath>
                </a14:m>
                <a:r>
                  <a:rPr lang="en-GB" sz="2000" dirty="0"/>
                  <a:t> area</a:t>
                </a:r>
              </a:p>
            </p:txBody>
          </p:sp>
        </mc:Choice>
        <mc:Fallback xmlns="">
          <p:sp>
            <p:nvSpPr>
              <p:cNvPr id="84" name="Rectangular Callout 83"/>
              <p:cNvSpPr>
                <a:spLocks noRot="1" noChangeAspect="1" noMove="1" noResize="1" noEditPoints="1" noAdjustHandles="1" noChangeArrowheads="1" noChangeShapeType="1" noTextEdit="1"/>
              </p:cNvSpPr>
              <p:nvPr/>
            </p:nvSpPr>
            <p:spPr>
              <a:xfrm>
                <a:off x="4191000" y="3841774"/>
                <a:ext cx="1371600" cy="469851"/>
              </a:xfrm>
              <a:prstGeom prst="wedgeRectCallout">
                <a:avLst>
                  <a:gd name="adj1" fmla="val -94591"/>
                  <a:gd name="adj2" fmla="val 128752"/>
                </a:avLst>
              </a:prstGeom>
              <a:blipFill rotWithShape="1">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6" name="Rectangular Callout 85"/>
              <p:cNvSpPr/>
              <p:nvPr/>
            </p:nvSpPr>
            <p:spPr>
              <a:xfrm>
                <a:off x="3200400" y="2116780"/>
                <a:ext cx="1676400" cy="564206"/>
              </a:xfrm>
              <a:prstGeom prst="wedgeRectCallout">
                <a:avLst>
                  <a:gd name="adj1" fmla="val -99574"/>
                  <a:gd name="adj2" fmla="val 146066"/>
                </a:avLst>
              </a:prstGeom>
            </p:spPr>
            <p:style>
              <a:lnRef idx="1">
                <a:schemeClr val="accent2"/>
              </a:lnRef>
              <a:fillRef idx="2">
                <a:schemeClr val="accent2"/>
              </a:fillRef>
              <a:effectRef idx="1">
                <a:schemeClr val="accent2"/>
              </a:effectRef>
              <a:fontRef idx="minor">
                <a:schemeClr val="dk1"/>
              </a:fontRef>
            </p:style>
            <p:txBody>
              <a:bodyPr rtlCol="0" anchor="ctr"/>
              <a:lstStyle/>
              <a:p>
                <a:pPr algn="ctr"/>
                <a14:m>
                  <m:oMath xmlns:m="http://schemas.openxmlformats.org/officeDocument/2006/math">
                    <m:r>
                      <a:rPr lang="en-GB" sz="2000" b="0" i="1" smtClean="0">
                        <a:latin typeface="Cambria Math"/>
                        <a:ea typeface="Cambria Math"/>
                      </a:rPr>
                      <m:t>95%</m:t>
                    </m:r>
                  </m:oMath>
                </a14:m>
                <a:r>
                  <a:rPr lang="en-GB" sz="2000" dirty="0"/>
                  <a:t> of the covered area</a:t>
                </a:r>
              </a:p>
            </p:txBody>
          </p:sp>
        </mc:Choice>
        <mc:Fallback xmlns="">
          <p:sp>
            <p:nvSpPr>
              <p:cNvPr id="86" name="Rectangular Callout 85"/>
              <p:cNvSpPr>
                <a:spLocks noRot="1" noChangeAspect="1" noMove="1" noResize="1" noEditPoints="1" noAdjustHandles="1" noChangeArrowheads="1" noChangeShapeType="1" noTextEdit="1"/>
              </p:cNvSpPr>
              <p:nvPr/>
            </p:nvSpPr>
            <p:spPr>
              <a:xfrm>
                <a:off x="3200400" y="2116780"/>
                <a:ext cx="1676400" cy="564206"/>
              </a:xfrm>
              <a:prstGeom prst="wedgeRectCallout">
                <a:avLst>
                  <a:gd name="adj1" fmla="val -99574"/>
                  <a:gd name="adj2" fmla="val 146066"/>
                </a:avLst>
              </a:prstGeom>
              <a:blipFill rotWithShape="1">
                <a:blip r:embed="rId6"/>
                <a:stretch>
                  <a:fillRect/>
                </a:stretch>
              </a:blipFill>
            </p:spPr>
            <p:txBody>
              <a:bodyPr/>
              <a:lstStyle/>
              <a:p>
                <a:r>
                  <a:rPr lang="en-GB">
                    <a:noFill/>
                  </a:rPr>
                  <a:t> </a:t>
                </a:r>
              </a:p>
            </p:txBody>
          </p:sp>
        </mc:Fallback>
      </mc:AlternateContent>
      <p:cxnSp>
        <p:nvCxnSpPr>
          <p:cNvPr id="87" name="Straight Arrow Connector 86"/>
          <p:cNvCxnSpPr/>
          <p:nvPr/>
        </p:nvCxnSpPr>
        <p:spPr>
          <a:xfrm flipV="1">
            <a:off x="3247416" y="3276600"/>
            <a:ext cx="0" cy="1600201"/>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95" name="Text Box 201"/>
          <p:cNvSpPr txBox="1">
            <a:spLocks noChangeArrowheads="1"/>
          </p:cNvSpPr>
          <p:nvPr/>
        </p:nvSpPr>
        <p:spPr bwMode="auto">
          <a:xfrm>
            <a:off x="6544750" y="3729858"/>
            <a:ext cx="2361983" cy="830997"/>
          </a:xfrm>
          <a:prstGeom prst="rect">
            <a:avLst/>
          </a:prstGeom>
          <a:solidFill>
            <a:schemeClr val="bg2"/>
          </a:solidFill>
          <a:ln>
            <a:noFill/>
          </a:ln>
          <a:effectLst/>
        </p:spPr>
        <p:txBody>
          <a:bodyPr wrap="square">
            <a:spAutoFit/>
          </a:bodyPr>
          <a:lstStyle/>
          <a:p>
            <a:pPr algn="ctr"/>
            <a:r>
              <a:rPr lang="en-GB" altLang="en-US" sz="2400" b="1" dirty="0"/>
              <a:t>This is known as a </a:t>
            </a:r>
            <a:r>
              <a:rPr lang="en-GB" altLang="en-US" sz="2400" b="1" dirty="0">
                <a:solidFill>
                  <a:srgbClr val="333399"/>
                </a:solidFill>
              </a:rPr>
              <a:t>two-tail test</a:t>
            </a:r>
            <a:endParaRPr lang="en-US" altLang="en-US" sz="2400" b="1" dirty="0">
              <a:solidFill>
                <a:srgbClr val="333399"/>
              </a:solidFill>
            </a:endParaRPr>
          </a:p>
        </p:txBody>
      </p:sp>
      <p:grpSp>
        <p:nvGrpSpPr>
          <p:cNvPr id="52" name="Group 51"/>
          <p:cNvGrpSpPr/>
          <p:nvPr/>
        </p:nvGrpSpPr>
        <p:grpSpPr>
          <a:xfrm>
            <a:off x="6172200" y="3962400"/>
            <a:ext cx="186070" cy="838199"/>
            <a:chOff x="6172200" y="3962400"/>
            <a:chExt cx="186070" cy="838199"/>
          </a:xfrm>
        </p:grpSpPr>
        <p:sp>
          <p:nvSpPr>
            <p:cNvPr id="53" name="Oval 52"/>
            <p:cNvSpPr/>
            <p:nvPr/>
          </p:nvSpPr>
          <p:spPr>
            <a:xfrm rot="10800000">
              <a:off x="6205707" y="3995057"/>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54" name="Oval 53"/>
            <p:cNvSpPr/>
            <p:nvPr/>
          </p:nvSpPr>
          <p:spPr>
            <a:xfrm rot="10800000">
              <a:off x="6172201" y="4038600"/>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55" name="Oval 54"/>
            <p:cNvSpPr/>
            <p:nvPr/>
          </p:nvSpPr>
          <p:spPr>
            <a:xfrm rot="10800000">
              <a:off x="6190511" y="4419600"/>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56" name="Oval 55"/>
            <p:cNvSpPr/>
            <p:nvPr/>
          </p:nvSpPr>
          <p:spPr>
            <a:xfrm rot="10800000">
              <a:off x="6190511" y="3962400"/>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57" name="Oval 56"/>
            <p:cNvSpPr/>
            <p:nvPr/>
          </p:nvSpPr>
          <p:spPr>
            <a:xfrm rot="10800000">
              <a:off x="6205708" y="4038600"/>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62" name="Oval 61"/>
            <p:cNvSpPr/>
            <p:nvPr/>
          </p:nvSpPr>
          <p:spPr>
            <a:xfrm rot="10800000">
              <a:off x="6172201" y="4147457"/>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63" name="Oval 62"/>
            <p:cNvSpPr/>
            <p:nvPr/>
          </p:nvSpPr>
          <p:spPr>
            <a:xfrm rot="10800000">
              <a:off x="6205708" y="4191000"/>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64" name="Oval 63"/>
            <p:cNvSpPr/>
            <p:nvPr/>
          </p:nvSpPr>
          <p:spPr>
            <a:xfrm rot="10800000">
              <a:off x="6205708" y="4376056"/>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65" name="Oval 64"/>
            <p:cNvSpPr/>
            <p:nvPr/>
          </p:nvSpPr>
          <p:spPr>
            <a:xfrm rot="10800000">
              <a:off x="6172200" y="4419599"/>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66" name="Oval 65"/>
            <p:cNvSpPr/>
            <p:nvPr/>
          </p:nvSpPr>
          <p:spPr>
            <a:xfrm rot="10800000">
              <a:off x="6205707" y="4463142"/>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79" name="Oval 78"/>
            <p:cNvSpPr/>
            <p:nvPr/>
          </p:nvSpPr>
          <p:spPr>
            <a:xfrm rot="10800000">
              <a:off x="6205707" y="4571999"/>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81" name="Oval 80"/>
            <p:cNvSpPr/>
            <p:nvPr/>
          </p:nvSpPr>
          <p:spPr>
            <a:xfrm rot="10800000">
              <a:off x="6172201" y="4615542"/>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85" name="Oval 84"/>
            <p:cNvSpPr/>
            <p:nvPr/>
          </p:nvSpPr>
          <p:spPr>
            <a:xfrm rot="10800000">
              <a:off x="6190510" y="4680856"/>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88" name="Oval 87"/>
            <p:cNvSpPr/>
            <p:nvPr/>
          </p:nvSpPr>
          <p:spPr>
            <a:xfrm rot="10800000">
              <a:off x="6239376" y="4082143"/>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89" name="Oval 88"/>
            <p:cNvSpPr/>
            <p:nvPr/>
          </p:nvSpPr>
          <p:spPr>
            <a:xfrm rot="10800000">
              <a:off x="6205870" y="4158343"/>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90" name="Oval 89"/>
            <p:cNvSpPr/>
            <p:nvPr/>
          </p:nvSpPr>
          <p:spPr>
            <a:xfrm rot="10800000">
              <a:off x="6224180" y="4506686"/>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91" name="Oval 90"/>
            <p:cNvSpPr/>
            <p:nvPr/>
          </p:nvSpPr>
          <p:spPr>
            <a:xfrm rot="10800000">
              <a:off x="6239377" y="4158343"/>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92" name="Oval 91"/>
            <p:cNvSpPr/>
            <p:nvPr/>
          </p:nvSpPr>
          <p:spPr>
            <a:xfrm rot="10800000">
              <a:off x="6205870" y="4234543"/>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93" name="Oval 92"/>
            <p:cNvSpPr/>
            <p:nvPr/>
          </p:nvSpPr>
          <p:spPr>
            <a:xfrm rot="10800000">
              <a:off x="6239377" y="4278086"/>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94" name="Oval 93"/>
            <p:cNvSpPr/>
            <p:nvPr/>
          </p:nvSpPr>
          <p:spPr>
            <a:xfrm rot="10800000">
              <a:off x="6239377" y="4463142"/>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96" name="Oval 95"/>
            <p:cNvSpPr/>
            <p:nvPr/>
          </p:nvSpPr>
          <p:spPr>
            <a:xfrm rot="10800000">
              <a:off x="6205869" y="4506685"/>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grpSp>
      <p:grpSp>
        <p:nvGrpSpPr>
          <p:cNvPr id="97" name="Group 96"/>
          <p:cNvGrpSpPr/>
          <p:nvPr/>
        </p:nvGrpSpPr>
        <p:grpSpPr>
          <a:xfrm>
            <a:off x="381000" y="2438400"/>
            <a:ext cx="198471" cy="2362200"/>
            <a:chOff x="381000" y="2438400"/>
            <a:chExt cx="198471" cy="2362200"/>
          </a:xfrm>
        </p:grpSpPr>
        <p:sp>
          <p:nvSpPr>
            <p:cNvPr id="98" name="Oval 97"/>
            <p:cNvSpPr/>
            <p:nvPr/>
          </p:nvSpPr>
          <p:spPr>
            <a:xfrm rot="10800000">
              <a:off x="399310" y="40603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9" name="Oval 98"/>
            <p:cNvSpPr/>
            <p:nvPr/>
          </p:nvSpPr>
          <p:spPr>
            <a:xfrm rot="10800000">
              <a:off x="414507" y="41365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0" name="Oval 99"/>
            <p:cNvSpPr/>
            <p:nvPr/>
          </p:nvSpPr>
          <p:spPr>
            <a:xfrm rot="10800000">
              <a:off x="381000" y="42127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1" name="Oval 100"/>
            <p:cNvSpPr/>
            <p:nvPr/>
          </p:nvSpPr>
          <p:spPr>
            <a:xfrm rot="10800000">
              <a:off x="414507" y="4256314"/>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2" name="Oval 101"/>
            <p:cNvSpPr/>
            <p:nvPr/>
          </p:nvSpPr>
          <p:spPr>
            <a:xfrm rot="10800000">
              <a:off x="399310" y="44740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3" name="Oval 102"/>
            <p:cNvSpPr/>
            <p:nvPr/>
          </p:nvSpPr>
          <p:spPr>
            <a:xfrm rot="10800000">
              <a:off x="414507" y="45502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 name="Oval 103"/>
            <p:cNvSpPr/>
            <p:nvPr/>
          </p:nvSpPr>
          <p:spPr>
            <a:xfrm rot="10800000">
              <a:off x="381000" y="46264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5" name="Oval 104"/>
            <p:cNvSpPr/>
            <p:nvPr/>
          </p:nvSpPr>
          <p:spPr>
            <a:xfrm rot="10800000">
              <a:off x="414507" y="46699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6" name="Oval 105"/>
            <p:cNvSpPr/>
            <p:nvPr/>
          </p:nvSpPr>
          <p:spPr>
            <a:xfrm rot="10800000">
              <a:off x="399310" y="32221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7" name="Oval 106"/>
            <p:cNvSpPr/>
            <p:nvPr/>
          </p:nvSpPr>
          <p:spPr>
            <a:xfrm rot="10800000">
              <a:off x="414507" y="32983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8" name="Oval 107"/>
            <p:cNvSpPr/>
            <p:nvPr/>
          </p:nvSpPr>
          <p:spPr>
            <a:xfrm rot="10800000">
              <a:off x="381000" y="33745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9" name="Oval 108"/>
            <p:cNvSpPr/>
            <p:nvPr/>
          </p:nvSpPr>
          <p:spPr>
            <a:xfrm rot="10800000">
              <a:off x="414507" y="3418114"/>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0" name="Oval 109"/>
            <p:cNvSpPr/>
            <p:nvPr/>
          </p:nvSpPr>
          <p:spPr>
            <a:xfrm rot="10800000">
              <a:off x="414507" y="35269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1" name="Oval 110"/>
            <p:cNvSpPr/>
            <p:nvPr/>
          </p:nvSpPr>
          <p:spPr>
            <a:xfrm rot="10800000">
              <a:off x="381001" y="3570514"/>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2" name="Oval 111"/>
            <p:cNvSpPr/>
            <p:nvPr/>
          </p:nvSpPr>
          <p:spPr>
            <a:xfrm rot="10800000">
              <a:off x="399310" y="36358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3" name="Oval 112"/>
            <p:cNvSpPr/>
            <p:nvPr/>
          </p:nvSpPr>
          <p:spPr>
            <a:xfrm rot="10800000">
              <a:off x="414507" y="37120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4" name="Oval 113"/>
            <p:cNvSpPr/>
            <p:nvPr/>
          </p:nvSpPr>
          <p:spPr>
            <a:xfrm rot="10800000">
              <a:off x="381000" y="37882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5" name="Oval 114"/>
            <p:cNvSpPr/>
            <p:nvPr/>
          </p:nvSpPr>
          <p:spPr>
            <a:xfrm rot="10800000">
              <a:off x="414507" y="38317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 name="Oval 115"/>
            <p:cNvSpPr/>
            <p:nvPr/>
          </p:nvSpPr>
          <p:spPr>
            <a:xfrm rot="10800000">
              <a:off x="381001" y="39841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 name="Oval 116"/>
            <p:cNvSpPr/>
            <p:nvPr/>
          </p:nvSpPr>
          <p:spPr>
            <a:xfrm rot="10800000">
              <a:off x="381001" y="4484914"/>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8" name="Oval 117"/>
            <p:cNvSpPr/>
            <p:nvPr/>
          </p:nvSpPr>
          <p:spPr>
            <a:xfrm rot="10800000">
              <a:off x="414508" y="45284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9" name="Oval 118"/>
            <p:cNvSpPr/>
            <p:nvPr/>
          </p:nvSpPr>
          <p:spPr>
            <a:xfrm rot="10800000">
              <a:off x="414508" y="4637314"/>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0" name="Oval 119"/>
            <p:cNvSpPr/>
            <p:nvPr/>
          </p:nvSpPr>
          <p:spPr>
            <a:xfrm rot="10800000">
              <a:off x="381002" y="46808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1" name="Oval 120"/>
            <p:cNvSpPr/>
            <p:nvPr/>
          </p:nvSpPr>
          <p:spPr>
            <a:xfrm rot="10800000">
              <a:off x="399311" y="24384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2" name="Oval 121"/>
            <p:cNvSpPr/>
            <p:nvPr/>
          </p:nvSpPr>
          <p:spPr>
            <a:xfrm rot="10800000">
              <a:off x="414508" y="25146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3" name="Oval 122"/>
            <p:cNvSpPr/>
            <p:nvPr/>
          </p:nvSpPr>
          <p:spPr>
            <a:xfrm rot="10800000">
              <a:off x="381001" y="25908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4" name="Oval 123"/>
            <p:cNvSpPr/>
            <p:nvPr/>
          </p:nvSpPr>
          <p:spPr>
            <a:xfrm rot="10800000">
              <a:off x="414508" y="2634343"/>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5" name="Oval 124"/>
            <p:cNvSpPr/>
            <p:nvPr/>
          </p:nvSpPr>
          <p:spPr>
            <a:xfrm rot="10800000">
              <a:off x="414508" y="27432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6" name="Oval 125"/>
            <p:cNvSpPr/>
            <p:nvPr/>
          </p:nvSpPr>
          <p:spPr>
            <a:xfrm rot="10800000">
              <a:off x="381002" y="2786743"/>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7" name="Oval 126"/>
            <p:cNvSpPr/>
            <p:nvPr/>
          </p:nvSpPr>
          <p:spPr>
            <a:xfrm rot="10800000">
              <a:off x="399311" y="28520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8" name="Oval 127"/>
            <p:cNvSpPr/>
            <p:nvPr/>
          </p:nvSpPr>
          <p:spPr>
            <a:xfrm rot="10800000">
              <a:off x="414508" y="29282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9" name="Oval 128"/>
            <p:cNvSpPr/>
            <p:nvPr/>
          </p:nvSpPr>
          <p:spPr>
            <a:xfrm rot="10800000">
              <a:off x="381001" y="30044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0" name="Oval 129"/>
            <p:cNvSpPr/>
            <p:nvPr/>
          </p:nvSpPr>
          <p:spPr>
            <a:xfrm rot="10800000">
              <a:off x="414508" y="30480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1" name="Oval 130"/>
            <p:cNvSpPr/>
            <p:nvPr/>
          </p:nvSpPr>
          <p:spPr>
            <a:xfrm rot="10800000">
              <a:off x="445381" y="26439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2" name="Oval 131"/>
            <p:cNvSpPr/>
            <p:nvPr/>
          </p:nvSpPr>
          <p:spPr>
            <a:xfrm rot="10800000">
              <a:off x="460578" y="27201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3" name="Oval 132"/>
            <p:cNvSpPr/>
            <p:nvPr/>
          </p:nvSpPr>
          <p:spPr>
            <a:xfrm rot="10800000">
              <a:off x="427071" y="27963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4" name="Oval 133"/>
            <p:cNvSpPr/>
            <p:nvPr/>
          </p:nvSpPr>
          <p:spPr>
            <a:xfrm rot="10800000">
              <a:off x="460578" y="283990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5" name="Oval 134"/>
            <p:cNvSpPr/>
            <p:nvPr/>
          </p:nvSpPr>
          <p:spPr>
            <a:xfrm rot="10800000">
              <a:off x="460578" y="29487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6" name="Oval 135"/>
            <p:cNvSpPr/>
            <p:nvPr/>
          </p:nvSpPr>
          <p:spPr>
            <a:xfrm rot="10800000">
              <a:off x="427072" y="299230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7" name="Oval 136"/>
            <p:cNvSpPr/>
            <p:nvPr/>
          </p:nvSpPr>
          <p:spPr>
            <a:xfrm rot="10800000">
              <a:off x="445381" y="3057622"/>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8" name="Oval 137"/>
            <p:cNvSpPr/>
            <p:nvPr/>
          </p:nvSpPr>
          <p:spPr>
            <a:xfrm rot="10800000">
              <a:off x="414506" y="41910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9" name="Oval 138"/>
            <p:cNvSpPr/>
            <p:nvPr/>
          </p:nvSpPr>
          <p:spPr>
            <a:xfrm rot="10800000">
              <a:off x="381000" y="4234543"/>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1" name="Oval 140"/>
            <p:cNvSpPr/>
            <p:nvPr/>
          </p:nvSpPr>
          <p:spPr>
            <a:xfrm rot="10800000">
              <a:off x="399309" y="42998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2" name="Oval 141"/>
            <p:cNvSpPr/>
            <p:nvPr/>
          </p:nvSpPr>
          <p:spPr>
            <a:xfrm rot="10800000">
              <a:off x="460576" y="41679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3" name="Oval 142"/>
            <p:cNvSpPr/>
            <p:nvPr/>
          </p:nvSpPr>
          <p:spPr>
            <a:xfrm rot="10800000">
              <a:off x="427069" y="42441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4" name="Oval 143"/>
            <p:cNvSpPr/>
            <p:nvPr/>
          </p:nvSpPr>
          <p:spPr>
            <a:xfrm rot="10800000">
              <a:off x="460576" y="428770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4200419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5"/>
                                        </p:tgtEl>
                                        <p:attrNameLst>
                                          <p:attrName>style.visibility</p:attrName>
                                        </p:attrNameLst>
                                      </p:cBhvr>
                                      <p:to>
                                        <p:strVal val="visible"/>
                                      </p:to>
                                    </p:set>
                                    <p:animEffect transition="in" filter="fade">
                                      <p:cBhvr>
                                        <p:cTn id="7" dur="500"/>
                                        <p:tgtEl>
                                          <p:spTgt spid="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4" name="Group 53"/>
          <p:cNvGrpSpPr/>
          <p:nvPr/>
        </p:nvGrpSpPr>
        <p:grpSpPr>
          <a:xfrm>
            <a:off x="6172200" y="3962400"/>
            <a:ext cx="186070" cy="838199"/>
            <a:chOff x="6172200" y="3962400"/>
            <a:chExt cx="186070" cy="838199"/>
          </a:xfrm>
        </p:grpSpPr>
        <p:sp>
          <p:nvSpPr>
            <p:cNvPr id="55" name="Oval 54"/>
            <p:cNvSpPr/>
            <p:nvPr/>
          </p:nvSpPr>
          <p:spPr>
            <a:xfrm rot="10800000">
              <a:off x="6205707" y="3995057"/>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56" name="Oval 55"/>
            <p:cNvSpPr/>
            <p:nvPr/>
          </p:nvSpPr>
          <p:spPr>
            <a:xfrm rot="10800000">
              <a:off x="6172201" y="4038600"/>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57" name="Oval 56"/>
            <p:cNvSpPr/>
            <p:nvPr/>
          </p:nvSpPr>
          <p:spPr>
            <a:xfrm rot="10800000">
              <a:off x="6190511" y="4419600"/>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62" name="Oval 61"/>
            <p:cNvSpPr/>
            <p:nvPr/>
          </p:nvSpPr>
          <p:spPr>
            <a:xfrm rot="10800000">
              <a:off x="6190511" y="3962400"/>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63" name="Oval 62"/>
            <p:cNvSpPr/>
            <p:nvPr/>
          </p:nvSpPr>
          <p:spPr>
            <a:xfrm rot="10800000">
              <a:off x="6205708" y="4038600"/>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64" name="Oval 63"/>
            <p:cNvSpPr/>
            <p:nvPr/>
          </p:nvSpPr>
          <p:spPr>
            <a:xfrm rot="10800000">
              <a:off x="6172201" y="4147457"/>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65" name="Oval 64"/>
            <p:cNvSpPr/>
            <p:nvPr/>
          </p:nvSpPr>
          <p:spPr>
            <a:xfrm rot="10800000">
              <a:off x="6205708" y="4191000"/>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66" name="Oval 65"/>
            <p:cNvSpPr/>
            <p:nvPr/>
          </p:nvSpPr>
          <p:spPr>
            <a:xfrm rot="10800000">
              <a:off x="6205708" y="4376056"/>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79" name="Oval 78"/>
            <p:cNvSpPr/>
            <p:nvPr/>
          </p:nvSpPr>
          <p:spPr>
            <a:xfrm rot="10800000">
              <a:off x="6172200" y="4419599"/>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81" name="Oval 80"/>
            <p:cNvSpPr/>
            <p:nvPr/>
          </p:nvSpPr>
          <p:spPr>
            <a:xfrm rot="10800000">
              <a:off x="6205707" y="4463142"/>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85" name="Oval 84"/>
            <p:cNvSpPr/>
            <p:nvPr/>
          </p:nvSpPr>
          <p:spPr>
            <a:xfrm rot="10800000">
              <a:off x="6205707" y="4571999"/>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88" name="Oval 87"/>
            <p:cNvSpPr/>
            <p:nvPr/>
          </p:nvSpPr>
          <p:spPr>
            <a:xfrm rot="10800000">
              <a:off x="6172201" y="4615542"/>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89" name="Oval 88"/>
            <p:cNvSpPr/>
            <p:nvPr/>
          </p:nvSpPr>
          <p:spPr>
            <a:xfrm rot="10800000">
              <a:off x="6190510" y="4680856"/>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91" name="Oval 90"/>
            <p:cNvSpPr/>
            <p:nvPr/>
          </p:nvSpPr>
          <p:spPr>
            <a:xfrm rot="10800000">
              <a:off x="6239376" y="4082143"/>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92" name="Oval 91"/>
            <p:cNvSpPr/>
            <p:nvPr/>
          </p:nvSpPr>
          <p:spPr>
            <a:xfrm rot="10800000">
              <a:off x="6205870" y="4158343"/>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95" name="Oval 94"/>
            <p:cNvSpPr/>
            <p:nvPr/>
          </p:nvSpPr>
          <p:spPr>
            <a:xfrm rot="10800000">
              <a:off x="6224180" y="4506686"/>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96" name="Oval 95"/>
            <p:cNvSpPr/>
            <p:nvPr/>
          </p:nvSpPr>
          <p:spPr>
            <a:xfrm rot="10800000">
              <a:off x="6239377" y="4158343"/>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97" name="Oval 96"/>
            <p:cNvSpPr/>
            <p:nvPr/>
          </p:nvSpPr>
          <p:spPr>
            <a:xfrm rot="10800000">
              <a:off x="6205870" y="4234543"/>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98" name="Oval 97"/>
            <p:cNvSpPr/>
            <p:nvPr/>
          </p:nvSpPr>
          <p:spPr>
            <a:xfrm rot="10800000">
              <a:off x="6239377" y="4278086"/>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99" name="Oval 98"/>
            <p:cNvSpPr/>
            <p:nvPr/>
          </p:nvSpPr>
          <p:spPr>
            <a:xfrm rot="10800000">
              <a:off x="6239377" y="4463142"/>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100" name="Oval 99"/>
            <p:cNvSpPr/>
            <p:nvPr/>
          </p:nvSpPr>
          <p:spPr>
            <a:xfrm rot="10800000">
              <a:off x="6205869" y="4506685"/>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grpSp>
      <p:grpSp>
        <p:nvGrpSpPr>
          <p:cNvPr id="101" name="Group 100"/>
          <p:cNvGrpSpPr/>
          <p:nvPr/>
        </p:nvGrpSpPr>
        <p:grpSpPr>
          <a:xfrm>
            <a:off x="381000" y="2438400"/>
            <a:ext cx="198471" cy="2362200"/>
            <a:chOff x="381000" y="2438400"/>
            <a:chExt cx="198471" cy="2362200"/>
          </a:xfrm>
        </p:grpSpPr>
        <p:sp>
          <p:nvSpPr>
            <p:cNvPr id="102" name="Oval 101"/>
            <p:cNvSpPr/>
            <p:nvPr/>
          </p:nvSpPr>
          <p:spPr>
            <a:xfrm rot="10800000">
              <a:off x="399310" y="40603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3" name="Oval 102"/>
            <p:cNvSpPr/>
            <p:nvPr/>
          </p:nvSpPr>
          <p:spPr>
            <a:xfrm rot="10800000">
              <a:off x="414507" y="41365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 name="Oval 103"/>
            <p:cNvSpPr/>
            <p:nvPr/>
          </p:nvSpPr>
          <p:spPr>
            <a:xfrm rot="10800000">
              <a:off x="381000" y="42127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5" name="Oval 104"/>
            <p:cNvSpPr/>
            <p:nvPr/>
          </p:nvSpPr>
          <p:spPr>
            <a:xfrm rot="10800000">
              <a:off x="414507" y="4256314"/>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6" name="Oval 105"/>
            <p:cNvSpPr/>
            <p:nvPr/>
          </p:nvSpPr>
          <p:spPr>
            <a:xfrm rot="10800000">
              <a:off x="399310" y="44740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7" name="Oval 106"/>
            <p:cNvSpPr/>
            <p:nvPr/>
          </p:nvSpPr>
          <p:spPr>
            <a:xfrm rot="10800000">
              <a:off x="414507" y="45502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8" name="Oval 107"/>
            <p:cNvSpPr/>
            <p:nvPr/>
          </p:nvSpPr>
          <p:spPr>
            <a:xfrm rot="10800000">
              <a:off x="381000" y="46264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9" name="Oval 108"/>
            <p:cNvSpPr/>
            <p:nvPr/>
          </p:nvSpPr>
          <p:spPr>
            <a:xfrm rot="10800000">
              <a:off x="414507" y="46699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0" name="Oval 109"/>
            <p:cNvSpPr/>
            <p:nvPr/>
          </p:nvSpPr>
          <p:spPr>
            <a:xfrm rot="10800000">
              <a:off x="399310" y="32221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1" name="Oval 110"/>
            <p:cNvSpPr/>
            <p:nvPr/>
          </p:nvSpPr>
          <p:spPr>
            <a:xfrm rot="10800000">
              <a:off x="414507" y="32983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2" name="Oval 111"/>
            <p:cNvSpPr/>
            <p:nvPr/>
          </p:nvSpPr>
          <p:spPr>
            <a:xfrm rot="10800000">
              <a:off x="381000" y="33745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3" name="Oval 112"/>
            <p:cNvSpPr/>
            <p:nvPr/>
          </p:nvSpPr>
          <p:spPr>
            <a:xfrm rot="10800000">
              <a:off x="414507" y="3418114"/>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4" name="Oval 113"/>
            <p:cNvSpPr/>
            <p:nvPr/>
          </p:nvSpPr>
          <p:spPr>
            <a:xfrm rot="10800000">
              <a:off x="414507" y="35269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5" name="Oval 114"/>
            <p:cNvSpPr/>
            <p:nvPr/>
          </p:nvSpPr>
          <p:spPr>
            <a:xfrm rot="10800000">
              <a:off x="381001" y="3570514"/>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 name="Oval 115"/>
            <p:cNvSpPr/>
            <p:nvPr/>
          </p:nvSpPr>
          <p:spPr>
            <a:xfrm rot="10800000">
              <a:off x="399310" y="36358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 name="Oval 116"/>
            <p:cNvSpPr/>
            <p:nvPr/>
          </p:nvSpPr>
          <p:spPr>
            <a:xfrm rot="10800000">
              <a:off x="414507" y="37120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8" name="Oval 117"/>
            <p:cNvSpPr/>
            <p:nvPr/>
          </p:nvSpPr>
          <p:spPr>
            <a:xfrm rot="10800000">
              <a:off x="381000" y="37882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9" name="Oval 118"/>
            <p:cNvSpPr/>
            <p:nvPr/>
          </p:nvSpPr>
          <p:spPr>
            <a:xfrm rot="10800000">
              <a:off x="414507" y="38317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0" name="Oval 119"/>
            <p:cNvSpPr/>
            <p:nvPr/>
          </p:nvSpPr>
          <p:spPr>
            <a:xfrm rot="10800000">
              <a:off x="381001" y="39841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1" name="Oval 120"/>
            <p:cNvSpPr/>
            <p:nvPr/>
          </p:nvSpPr>
          <p:spPr>
            <a:xfrm rot="10800000">
              <a:off x="381001" y="4484914"/>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2" name="Oval 121"/>
            <p:cNvSpPr/>
            <p:nvPr/>
          </p:nvSpPr>
          <p:spPr>
            <a:xfrm rot="10800000">
              <a:off x="414508" y="45284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3" name="Oval 122"/>
            <p:cNvSpPr/>
            <p:nvPr/>
          </p:nvSpPr>
          <p:spPr>
            <a:xfrm rot="10800000">
              <a:off x="414508" y="4637314"/>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4" name="Oval 123"/>
            <p:cNvSpPr/>
            <p:nvPr/>
          </p:nvSpPr>
          <p:spPr>
            <a:xfrm rot="10800000">
              <a:off x="381002" y="46808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5" name="Oval 124"/>
            <p:cNvSpPr/>
            <p:nvPr/>
          </p:nvSpPr>
          <p:spPr>
            <a:xfrm rot="10800000">
              <a:off x="399311" y="24384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6" name="Oval 125"/>
            <p:cNvSpPr/>
            <p:nvPr/>
          </p:nvSpPr>
          <p:spPr>
            <a:xfrm rot="10800000">
              <a:off x="414508" y="25146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7" name="Oval 126"/>
            <p:cNvSpPr/>
            <p:nvPr/>
          </p:nvSpPr>
          <p:spPr>
            <a:xfrm rot="10800000">
              <a:off x="381001" y="25908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8" name="Oval 127"/>
            <p:cNvSpPr/>
            <p:nvPr/>
          </p:nvSpPr>
          <p:spPr>
            <a:xfrm rot="10800000">
              <a:off x="414508" y="2634343"/>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9" name="Oval 128"/>
            <p:cNvSpPr/>
            <p:nvPr/>
          </p:nvSpPr>
          <p:spPr>
            <a:xfrm rot="10800000">
              <a:off x="414508" y="27432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0" name="Oval 129"/>
            <p:cNvSpPr/>
            <p:nvPr/>
          </p:nvSpPr>
          <p:spPr>
            <a:xfrm rot="10800000">
              <a:off x="381002" y="2786743"/>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1" name="Oval 130"/>
            <p:cNvSpPr/>
            <p:nvPr/>
          </p:nvSpPr>
          <p:spPr>
            <a:xfrm rot="10800000">
              <a:off x="399311" y="28520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2" name="Oval 131"/>
            <p:cNvSpPr/>
            <p:nvPr/>
          </p:nvSpPr>
          <p:spPr>
            <a:xfrm rot="10800000">
              <a:off x="414508" y="29282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3" name="Oval 132"/>
            <p:cNvSpPr/>
            <p:nvPr/>
          </p:nvSpPr>
          <p:spPr>
            <a:xfrm rot="10800000">
              <a:off x="381001" y="30044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4" name="Oval 133"/>
            <p:cNvSpPr/>
            <p:nvPr/>
          </p:nvSpPr>
          <p:spPr>
            <a:xfrm rot="10800000">
              <a:off x="414508" y="30480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5" name="Oval 134"/>
            <p:cNvSpPr/>
            <p:nvPr/>
          </p:nvSpPr>
          <p:spPr>
            <a:xfrm rot="10800000">
              <a:off x="445381" y="26439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6" name="Oval 135"/>
            <p:cNvSpPr/>
            <p:nvPr/>
          </p:nvSpPr>
          <p:spPr>
            <a:xfrm rot="10800000">
              <a:off x="460578" y="27201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7" name="Oval 136"/>
            <p:cNvSpPr/>
            <p:nvPr/>
          </p:nvSpPr>
          <p:spPr>
            <a:xfrm rot="10800000">
              <a:off x="427071" y="27963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8" name="Oval 137"/>
            <p:cNvSpPr/>
            <p:nvPr/>
          </p:nvSpPr>
          <p:spPr>
            <a:xfrm rot="10800000">
              <a:off x="460578" y="283990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9" name="Oval 138"/>
            <p:cNvSpPr/>
            <p:nvPr/>
          </p:nvSpPr>
          <p:spPr>
            <a:xfrm rot="10800000">
              <a:off x="460578" y="29487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1" name="Oval 140"/>
            <p:cNvSpPr/>
            <p:nvPr/>
          </p:nvSpPr>
          <p:spPr>
            <a:xfrm rot="10800000">
              <a:off x="427072" y="299230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2" name="Oval 141"/>
            <p:cNvSpPr/>
            <p:nvPr/>
          </p:nvSpPr>
          <p:spPr>
            <a:xfrm rot="10800000">
              <a:off x="445381" y="3057622"/>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3" name="Oval 142"/>
            <p:cNvSpPr/>
            <p:nvPr/>
          </p:nvSpPr>
          <p:spPr>
            <a:xfrm rot="10800000">
              <a:off x="414506" y="41910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4" name="Oval 143"/>
            <p:cNvSpPr/>
            <p:nvPr/>
          </p:nvSpPr>
          <p:spPr>
            <a:xfrm rot="10800000">
              <a:off x="381000" y="4234543"/>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5" name="Oval 144"/>
            <p:cNvSpPr/>
            <p:nvPr/>
          </p:nvSpPr>
          <p:spPr>
            <a:xfrm rot="10800000">
              <a:off x="399309" y="42998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6" name="Oval 145"/>
            <p:cNvSpPr/>
            <p:nvPr/>
          </p:nvSpPr>
          <p:spPr>
            <a:xfrm rot="10800000">
              <a:off x="460576" y="41679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7" name="Oval 146"/>
            <p:cNvSpPr/>
            <p:nvPr/>
          </p:nvSpPr>
          <p:spPr>
            <a:xfrm rot="10800000">
              <a:off x="427069" y="42441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8" name="Oval 147"/>
            <p:cNvSpPr/>
            <p:nvPr/>
          </p:nvSpPr>
          <p:spPr>
            <a:xfrm rot="10800000">
              <a:off x="460576" y="428770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aphicFrame>
        <p:nvGraphicFramePr>
          <p:cNvPr id="264" name="Chart 263"/>
          <p:cNvGraphicFramePr/>
          <p:nvPr>
            <p:extLst>
              <p:ext uri="{D42A27DB-BD31-4B8C-83A1-F6EECF244321}">
                <p14:modId xmlns:p14="http://schemas.microsoft.com/office/powerpoint/2010/main" val="2299698190"/>
              </p:ext>
            </p:extLst>
          </p:nvPr>
        </p:nvGraphicFramePr>
        <p:xfrm>
          <a:off x="317770" y="1686408"/>
          <a:ext cx="6096000" cy="3217538"/>
        </p:xfrm>
        <a:graphic>
          <a:graphicData uri="http://schemas.openxmlformats.org/drawingml/2006/chart">
            <c:chart xmlns:c="http://schemas.openxmlformats.org/drawingml/2006/chart" xmlns:r="http://schemas.openxmlformats.org/officeDocument/2006/relationships" r:id="rId3"/>
          </a:graphicData>
        </a:graphic>
      </p:graphicFrame>
      <p:cxnSp>
        <p:nvCxnSpPr>
          <p:cNvPr id="265" name="Straight Arrow Connector 264"/>
          <p:cNvCxnSpPr/>
          <p:nvPr/>
        </p:nvCxnSpPr>
        <p:spPr>
          <a:xfrm flipV="1">
            <a:off x="2132242" y="2238984"/>
            <a:ext cx="0" cy="2607474"/>
          </a:xfrm>
          <a:prstGeom prst="straightConnector1">
            <a:avLst/>
          </a:prstGeom>
          <a:ln w="38100">
            <a:headEnd type="none" w="med" len="med"/>
            <a:tailEnd type="none" w="med" len="med"/>
          </a:ln>
        </p:spPr>
        <p:style>
          <a:lnRef idx="1">
            <a:schemeClr val="accent6"/>
          </a:lnRef>
          <a:fillRef idx="0">
            <a:schemeClr val="accent6"/>
          </a:fillRef>
          <a:effectRef idx="0">
            <a:schemeClr val="accent6"/>
          </a:effectRef>
          <a:fontRef idx="minor">
            <a:schemeClr val="tx1"/>
          </a:fontRef>
        </p:style>
      </p:cxnSp>
      <p:sp>
        <p:nvSpPr>
          <p:cNvPr id="2" name="Title 1"/>
          <p:cNvSpPr>
            <a:spLocks noGrp="1"/>
          </p:cNvSpPr>
          <p:nvPr>
            <p:ph type="title"/>
          </p:nvPr>
        </p:nvSpPr>
        <p:spPr/>
        <p:txBody>
          <a:bodyPr/>
          <a:lstStyle/>
          <a:p>
            <a:r>
              <a:rPr lang="en-GB" altLang="en-US" dirty="0"/>
              <a:t>Z Test for Proportion</a:t>
            </a:r>
            <a:endParaRPr lang="en-GB" dirty="0"/>
          </a:p>
        </p:txBody>
      </p:sp>
      <p:sp>
        <p:nvSpPr>
          <p:cNvPr id="45" name="Rectangle 44"/>
          <p:cNvSpPr/>
          <p:nvPr/>
        </p:nvSpPr>
        <p:spPr>
          <a:xfrm>
            <a:off x="304800" y="725269"/>
            <a:ext cx="5867400" cy="400110"/>
          </a:xfrm>
          <a:prstGeom prst="rect">
            <a:avLst/>
          </a:prstGeom>
        </p:spPr>
        <p:txBody>
          <a:bodyPr wrap="square">
            <a:spAutoFit/>
          </a:bodyPr>
          <a:lstStyle/>
          <a:p>
            <a:r>
              <a:rPr lang="en-GB" sz="2000" b="1" dirty="0"/>
              <a:t>Finding critical value</a:t>
            </a:r>
          </a:p>
        </p:txBody>
      </p:sp>
      <p:grpSp>
        <p:nvGrpSpPr>
          <p:cNvPr id="140" name="Group 139"/>
          <p:cNvGrpSpPr/>
          <p:nvPr/>
        </p:nvGrpSpPr>
        <p:grpSpPr>
          <a:xfrm>
            <a:off x="6248400" y="152400"/>
            <a:ext cx="2743199" cy="3124200"/>
            <a:chOff x="925287" y="1143000"/>
            <a:chExt cx="6618513" cy="4315816"/>
          </a:xfrm>
          <a:solidFill>
            <a:schemeClr val="bg1">
              <a:lumMod val="95000"/>
            </a:schemeClr>
          </a:solidFill>
        </p:grpSpPr>
        <p:grpSp>
          <p:nvGrpSpPr>
            <p:cNvPr id="210" name="Group 209"/>
            <p:cNvGrpSpPr/>
            <p:nvPr/>
          </p:nvGrpSpPr>
          <p:grpSpPr>
            <a:xfrm>
              <a:off x="925287" y="1143000"/>
              <a:ext cx="6618513" cy="958268"/>
              <a:chOff x="-65314" y="1093291"/>
              <a:chExt cx="6618513" cy="958268"/>
            </a:xfrm>
            <a:grpFill/>
          </p:grpSpPr>
          <p:sp>
            <p:nvSpPr>
              <p:cNvPr id="229" name="Freeform 228"/>
              <p:cNvSpPr/>
              <p:nvPr/>
            </p:nvSpPr>
            <p:spPr>
              <a:xfrm>
                <a:off x="-65314" y="1093291"/>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grpFill/>
              <a:ln>
                <a:solidFill>
                  <a:schemeClr val="bg1">
                    <a:lumMod val="95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chemeClr val="bg1">
                        <a:lumMod val="65000"/>
                      </a:schemeClr>
                    </a:solidFill>
                  </a:rPr>
                  <a:t>1</a:t>
                </a:r>
              </a:p>
            </p:txBody>
          </p:sp>
          <p:sp>
            <p:nvSpPr>
              <p:cNvPr id="230" name="Freeform 229"/>
              <p:cNvSpPr/>
              <p:nvPr/>
            </p:nvSpPr>
            <p:spPr>
              <a:xfrm>
                <a:off x="1127986" y="1093293"/>
                <a:ext cx="5425213" cy="622873"/>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grpFill/>
              <a:ln>
                <a:solidFill>
                  <a:schemeClr val="bg1">
                    <a:lumMod val="95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1" numCol="1" spcCol="1270" anchor="ctr" anchorCtr="0">
                <a:noAutofit/>
              </a:bodyPr>
              <a:lstStyle/>
              <a:p>
                <a:pPr marL="0" lvl="1" algn="l" defTabSz="755650">
                  <a:lnSpc>
                    <a:spcPct val="90000"/>
                  </a:lnSpc>
                  <a:spcBef>
                    <a:spcPct val="0"/>
                  </a:spcBef>
                  <a:spcAft>
                    <a:spcPct val="15000"/>
                  </a:spcAft>
                </a:pPr>
                <a:r>
                  <a:rPr lang="en-GB" sz="1600" kern="1200" dirty="0">
                    <a:solidFill>
                      <a:schemeClr val="bg1">
                        <a:lumMod val="65000"/>
                      </a:schemeClr>
                    </a:solidFill>
                  </a:rPr>
                  <a:t>State your null hypothesis (H</a:t>
                </a:r>
                <a:r>
                  <a:rPr lang="en-GB" sz="1600" kern="1200" baseline="-25000" dirty="0">
                    <a:solidFill>
                      <a:schemeClr val="bg1">
                        <a:lumMod val="65000"/>
                      </a:schemeClr>
                    </a:solidFill>
                  </a:rPr>
                  <a:t>0</a:t>
                </a:r>
                <a:r>
                  <a:rPr lang="en-GB" sz="1600" kern="1200" baseline="0" dirty="0">
                    <a:solidFill>
                      <a:schemeClr val="bg1">
                        <a:lumMod val="65000"/>
                      </a:schemeClr>
                    </a:solidFill>
                  </a:rPr>
                  <a:t>)</a:t>
                </a:r>
              </a:p>
            </p:txBody>
          </p:sp>
        </p:grpSp>
        <p:grpSp>
          <p:nvGrpSpPr>
            <p:cNvPr id="211" name="Group 210"/>
            <p:cNvGrpSpPr/>
            <p:nvPr/>
          </p:nvGrpSpPr>
          <p:grpSpPr>
            <a:xfrm>
              <a:off x="925287" y="1982387"/>
              <a:ext cx="6618513" cy="958268"/>
              <a:chOff x="-65314" y="1932678"/>
              <a:chExt cx="6618513" cy="958268"/>
            </a:xfrm>
            <a:grpFill/>
          </p:grpSpPr>
          <p:sp>
            <p:nvSpPr>
              <p:cNvPr id="227" name="Freeform 226"/>
              <p:cNvSpPr/>
              <p:nvPr/>
            </p:nvSpPr>
            <p:spPr>
              <a:xfrm>
                <a:off x="-65314" y="1932678"/>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solidFill>
                <a:schemeClr val="accent1"/>
              </a:solidFill>
              <a:ln>
                <a:solidFill>
                  <a:schemeClr val="accent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chemeClr val="bg1"/>
                    </a:solidFill>
                  </a:rPr>
                  <a:t>2</a:t>
                </a:r>
              </a:p>
            </p:txBody>
          </p:sp>
          <p:sp>
            <p:nvSpPr>
              <p:cNvPr id="228" name="Freeform 227"/>
              <p:cNvSpPr/>
              <p:nvPr/>
            </p:nvSpPr>
            <p:spPr>
              <a:xfrm>
                <a:off x="1127986" y="1932680"/>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solidFill>
                <a:schemeClr val="bg1"/>
              </a:solidFill>
              <a:ln>
                <a:solidFill>
                  <a:schemeClr val="accent1"/>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defTabSz="755650">
                  <a:lnSpc>
                    <a:spcPct val="90000"/>
                  </a:lnSpc>
                  <a:spcBef>
                    <a:spcPct val="0"/>
                  </a:spcBef>
                  <a:spcAft>
                    <a:spcPct val="15000"/>
                  </a:spcAft>
                </a:pPr>
                <a:r>
                  <a:rPr lang="en-GB" sz="1600" b="1" dirty="0">
                    <a:solidFill>
                      <a:schemeClr val="tx1"/>
                    </a:solidFill>
                  </a:rPr>
                  <a:t>Calculate test statistic </a:t>
                </a:r>
                <a:r>
                  <a:rPr lang="en-GB" sz="1600" dirty="0">
                    <a:solidFill>
                      <a:schemeClr val="tx1"/>
                    </a:solidFill>
                  </a:rPr>
                  <a:t>from data (stat.)</a:t>
                </a:r>
              </a:p>
            </p:txBody>
          </p:sp>
        </p:grpSp>
        <p:grpSp>
          <p:nvGrpSpPr>
            <p:cNvPr id="214" name="Group 213"/>
            <p:cNvGrpSpPr/>
            <p:nvPr/>
          </p:nvGrpSpPr>
          <p:grpSpPr>
            <a:xfrm>
              <a:off x="925287" y="2821774"/>
              <a:ext cx="6618513" cy="958268"/>
              <a:chOff x="-65314" y="2772065"/>
              <a:chExt cx="6618513" cy="958268"/>
            </a:xfrm>
            <a:grpFill/>
          </p:grpSpPr>
          <p:sp>
            <p:nvSpPr>
              <p:cNvPr id="223" name="Freeform 222"/>
              <p:cNvSpPr/>
              <p:nvPr/>
            </p:nvSpPr>
            <p:spPr>
              <a:xfrm>
                <a:off x="-65314" y="2772065"/>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solidFill>
                <a:schemeClr val="accent1"/>
              </a:solidFill>
              <a:ln>
                <a:solidFill>
                  <a:schemeClr val="accent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chemeClr val="bg1"/>
                    </a:solidFill>
                  </a:rPr>
                  <a:t>3</a:t>
                </a:r>
              </a:p>
            </p:txBody>
          </p:sp>
          <p:sp>
            <p:nvSpPr>
              <p:cNvPr id="224" name="Freeform 223"/>
              <p:cNvSpPr/>
              <p:nvPr/>
            </p:nvSpPr>
            <p:spPr>
              <a:xfrm>
                <a:off x="1127986" y="2772067"/>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solidFill>
                <a:schemeClr val="bg1"/>
              </a:solidFill>
              <a:ln>
                <a:solidFill>
                  <a:schemeClr val="accent1"/>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defTabSz="755650">
                  <a:lnSpc>
                    <a:spcPct val="90000"/>
                  </a:lnSpc>
                  <a:spcBef>
                    <a:spcPct val="0"/>
                  </a:spcBef>
                  <a:spcAft>
                    <a:spcPct val="15000"/>
                  </a:spcAft>
                </a:pPr>
                <a:r>
                  <a:rPr lang="en-GB" sz="1600" b="1" dirty="0">
                    <a:solidFill>
                      <a:schemeClr val="tx1"/>
                    </a:solidFill>
                  </a:rPr>
                  <a:t>Choose </a:t>
                </a:r>
                <a:r>
                  <a:rPr lang="en-GB" sz="1600" dirty="0">
                    <a:solidFill>
                      <a:schemeClr val="tx1"/>
                    </a:solidFill>
                  </a:rPr>
                  <a:t>a level of </a:t>
                </a:r>
                <a:r>
                  <a:rPr lang="en-GB" sz="1600" b="1" dirty="0">
                    <a:solidFill>
                      <a:schemeClr val="tx1"/>
                    </a:solidFill>
                  </a:rPr>
                  <a:t>significance</a:t>
                </a:r>
                <a:r>
                  <a:rPr lang="en-GB" sz="1600" dirty="0">
                    <a:solidFill>
                      <a:schemeClr val="tx1"/>
                    </a:solidFill>
                  </a:rPr>
                  <a:t> (</a:t>
                </a:r>
                <a:r>
                  <a:rPr lang="el-GR" sz="1600" dirty="0">
                    <a:solidFill>
                      <a:schemeClr val="tx1"/>
                    </a:solidFill>
                  </a:rPr>
                  <a:t>α</a:t>
                </a:r>
                <a:r>
                  <a:rPr lang="en-GB" sz="1600" dirty="0">
                    <a:solidFill>
                      <a:schemeClr val="tx1"/>
                    </a:solidFill>
                  </a:rPr>
                  <a:t>)</a:t>
                </a:r>
              </a:p>
            </p:txBody>
          </p:sp>
        </p:grpSp>
        <p:grpSp>
          <p:nvGrpSpPr>
            <p:cNvPr id="215" name="Group 214"/>
            <p:cNvGrpSpPr/>
            <p:nvPr/>
          </p:nvGrpSpPr>
          <p:grpSpPr>
            <a:xfrm>
              <a:off x="925287" y="3661161"/>
              <a:ext cx="6618513" cy="958268"/>
              <a:chOff x="-65314" y="3611452"/>
              <a:chExt cx="6618513" cy="958268"/>
            </a:xfrm>
            <a:grpFill/>
          </p:grpSpPr>
          <p:sp>
            <p:nvSpPr>
              <p:cNvPr id="221" name="Freeform 220"/>
              <p:cNvSpPr/>
              <p:nvPr/>
            </p:nvSpPr>
            <p:spPr>
              <a:xfrm>
                <a:off x="-65314" y="3611452"/>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solidFill>
                <a:schemeClr val="accent1"/>
              </a:solidFill>
              <a:ln>
                <a:solidFill>
                  <a:schemeClr val="accent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baseline="0" dirty="0">
                    <a:solidFill>
                      <a:schemeClr val="bg1"/>
                    </a:solidFill>
                  </a:rPr>
                  <a:t>4</a:t>
                </a:r>
              </a:p>
            </p:txBody>
          </p:sp>
          <p:sp>
            <p:nvSpPr>
              <p:cNvPr id="222" name="Freeform 221"/>
              <p:cNvSpPr/>
              <p:nvPr/>
            </p:nvSpPr>
            <p:spPr>
              <a:xfrm>
                <a:off x="1127986" y="3611453"/>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solidFill>
                <a:schemeClr val="bg1"/>
              </a:solidFill>
              <a:ln>
                <a:solidFill>
                  <a:schemeClr val="accent1"/>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algn="l" defTabSz="755650">
                  <a:lnSpc>
                    <a:spcPct val="90000"/>
                  </a:lnSpc>
                  <a:spcBef>
                    <a:spcPct val="0"/>
                  </a:spcBef>
                  <a:spcAft>
                    <a:spcPct val="15000"/>
                  </a:spcAft>
                </a:pPr>
                <a:r>
                  <a:rPr lang="en-GB" sz="1600" b="1" kern="1200" baseline="0" dirty="0">
                    <a:solidFill>
                      <a:schemeClr val="tx1"/>
                    </a:solidFill>
                  </a:rPr>
                  <a:t>Lookup </a:t>
                </a:r>
                <a:r>
                  <a:rPr lang="en-GB" sz="1600" kern="1200" baseline="0" dirty="0">
                    <a:solidFill>
                      <a:schemeClr val="tx1"/>
                    </a:solidFill>
                  </a:rPr>
                  <a:t>the</a:t>
                </a:r>
                <a:r>
                  <a:rPr lang="en-GB" sz="1600" b="1" kern="1200" baseline="0" dirty="0">
                    <a:solidFill>
                      <a:schemeClr val="tx1"/>
                    </a:solidFill>
                  </a:rPr>
                  <a:t> </a:t>
                </a:r>
                <a:r>
                  <a:rPr lang="en-GB" sz="1600" b="0" kern="1200" baseline="0" dirty="0">
                    <a:solidFill>
                      <a:schemeClr val="tx1"/>
                    </a:solidFill>
                  </a:rPr>
                  <a:t>critical value or the p-value</a:t>
                </a:r>
                <a:endParaRPr lang="en-GB" sz="1600" kern="1200" baseline="0" dirty="0">
                  <a:solidFill>
                    <a:schemeClr val="tx1"/>
                  </a:solidFill>
                </a:endParaRPr>
              </a:p>
            </p:txBody>
          </p:sp>
        </p:grpSp>
        <p:grpSp>
          <p:nvGrpSpPr>
            <p:cNvPr id="217" name="Group 216"/>
            <p:cNvGrpSpPr/>
            <p:nvPr/>
          </p:nvGrpSpPr>
          <p:grpSpPr>
            <a:xfrm>
              <a:off x="925287" y="4500548"/>
              <a:ext cx="6618513" cy="958268"/>
              <a:chOff x="-65314" y="4450839"/>
              <a:chExt cx="6618513" cy="958268"/>
            </a:xfrm>
            <a:grpFill/>
          </p:grpSpPr>
          <p:sp>
            <p:nvSpPr>
              <p:cNvPr id="219" name="Freeform 218"/>
              <p:cNvSpPr/>
              <p:nvPr/>
            </p:nvSpPr>
            <p:spPr>
              <a:xfrm>
                <a:off x="-65314" y="4450839"/>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grpFill/>
              <a:ln>
                <a:solidFill>
                  <a:schemeClr val="bg1">
                    <a:lumMod val="95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baseline="0" dirty="0">
                    <a:solidFill>
                      <a:schemeClr val="bg1">
                        <a:lumMod val="65000"/>
                      </a:schemeClr>
                    </a:solidFill>
                  </a:rPr>
                  <a:t>5</a:t>
                </a:r>
              </a:p>
            </p:txBody>
          </p:sp>
          <p:sp>
            <p:nvSpPr>
              <p:cNvPr id="220" name="Freeform 219"/>
              <p:cNvSpPr/>
              <p:nvPr/>
            </p:nvSpPr>
            <p:spPr>
              <a:xfrm>
                <a:off x="1127986" y="4450840"/>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grpFill/>
              <a:ln>
                <a:solidFill>
                  <a:schemeClr val="bg1">
                    <a:lumMod val="95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algn="l" defTabSz="755650">
                  <a:lnSpc>
                    <a:spcPct val="90000"/>
                  </a:lnSpc>
                  <a:spcBef>
                    <a:spcPct val="0"/>
                  </a:spcBef>
                  <a:spcAft>
                    <a:spcPct val="15000"/>
                  </a:spcAft>
                </a:pPr>
                <a:r>
                  <a:rPr lang="en-GB" sz="1600" b="1" kern="1200" baseline="0" dirty="0">
                    <a:solidFill>
                      <a:schemeClr val="bg1">
                        <a:lumMod val="65000"/>
                      </a:schemeClr>
                    </a:solidFill>
                  </a:rPr>
                  <a:t>Reject</a:t>
                </a:r>
                <a:r>
                  <a:rPr lang="en-GB" sz="1600" kern="1200" baseline="0" dirty="0">
                    <a:solidFill>
                      <a:schemeClr val="bg1">
                        <a:lumMod val="65000"/>
                      </a:schemeClr>
                    </a:solidFill>
                  </a:rPr>
                  <a:t> </a:t>
                </a:r>
                <a:r>
                  <a:rPr lang="en-GB" sz="1600" kern="1200" dirty="0">
                    <a:solidFill>
                      <a:schemeClr val="bg1">
                        <a:lumMod val="65000"/>
                      </a:schemeClr>
                    </a:solidFill>
                  </a:rPr>
                  <a:t>H</a:t>
                </a:r>
                <a:r>
                  <a:rPr lang="en-GB" sz="1600" kern="1200" baseline="-25000" dirty="0">
                    <a:solidFill>
                      <a:schemeClr val="bg1">
                        <a:lumMod val="65000"/>
                      </a:schemeClr>
                    </a:solidFill>
                  </a:rPr>
                  <a:t>0</a:t>
                </a:r>
                <a:r>
                  <a:rPr lang="en-GB" sz="1600" kern="1200" baseline="0" dirty="0">
                    <a:solidFill>
                      <a:schemeClr val="bg1">
                        <a:lumMod val="65000"/>
                      </a:schemeClr>
                    </a:solidFill>
                  </a:rPr>
                  <a:t> or </a:t>
                </a:r>
                <a:r>
                  <a:rPr lang="en-GB" sz="1600" b="1" kern="1200" baseline="0" dirty="0">
                    <a:solidFill>
                      <a:schemeClr val="bg1">
                        <a:lumMod val="65000"/>
                      </a:schemeClr>
                    </a:solidFill>
                  </a:rPr>
                  <a:t>Fail</a:t>
                </a:r>
                <a:r>
                  <a:rPr lang="en-GB" sz="1600" b="1" kern="1200" dirty="0">
                    <a:solidFill>
                      <a:schemeClr val="bg1">
                        <a:lumMod val="65000"/>
                      </a:schemeClr>
                    </a:solidFill>
                  </a:rPr>
                  <a:t> to </a:t>
                </a:r>
                <a:r>
                  <a:rPr lang="en-GB" sz="1600" kern="1200" dirty="0">
                    <a:solidFill>
                      <a:schemeClr val="bg1">
                        <a:lumMod val="65000"/>
                      </a:schemeClr>
                    </a:solidFill>
                  </a:rPr>
                  <a:t>Reject</a:t>
                </a:r>
                <a:r>
                  <a:rPr lang="en-GB" sz="1600" kern="1200" baseline="0" dirty="0">
                    <a:solidFill>
                      <a:schemeClr val="bg1">
                        <a:lumMod val="65000"/>
                      </a:schemeClr>
                    </a:solidFill>
                  </a:rPr>
                  <a:t> </a:t>
                </a:r>
              </a:p>
            </p:txBody>
          </p:sp>
        </p:grpSp>
      </p:grpSp>
      <p:grpSp>
        <p:nvGrpSpPr>
          <p:cNvPr id="231" name="Group 230"/>
          <p:cNvGrpSpPr/>
          <p:nvPr/>
        </p:nvGrpSpPr>
        <p:grpSpPr>
          <a:xfrm>
            <a:off x="6248400" y="152399"/>
            <a:ext cx="2743199" cy="693685"/>
            <a:chOff x="-65314" y="1093291"/>
            <a:chExt cx="6618513" cy="958268"/>
          </a:xfrm>
        </p:grpSpPr>
        <p:sp>
          <p:nvSpPr>
            <p:cNvPr id="232" name="Freeform 231"/>
            <p:cNvSpPr/>
            <p:nvPr/>
          </p:nvSpPr>
          <p:spPr>
            <a:xfrm>
              <a:off x="-65314" y="1093291"/>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t>1</a:t>
              </a:r>
            </a:p>
          </p:txBody>
        </p:sp>
        <p:sp>
          <p:nvSpPr>
            <p:cNvPr id="233" name="Freeform 232"/>
            <p:cNvSpPr/>
            <p:nvPr/>
          </p:nvSpPr>
          <p:spPr>
            <a:xfrm>
              <a:off x="1127986" y="1093293"/>
              <a:ext cx="5425213" cy="622873"/>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1" numCol="1" spcCol="1270" anchor="ctr" anchorCtr="0">
              <a:noAutofit/>
            </a:bodyPr>
            <a:lstStyle/>
            <a:p>
              <a:pPr marL="0" lvl="1" algn="l" defTabSz="755650">
                <a:lnSpc>
                  <a:spcPct val="90000"/>
                </a:lnSpc>
                <a:spcBef>
                  <a:spcPct val="0"/>
                </a:spcBef>
                <a:spcAft>
                  <a:spcPct val="15000"/>
                </a:spcAft>
              </a:pPr>
              <a:r>
                <a:rPr lang="en-GB" sz="1600" kern="1200" dirty="0"/>
                <a:t>State your null hypothesis (H</a:t>
              </a:r>
              <a:r>
                <a:rPr lang="en-GB" sz="1600" kern="1200" baseline="-25000" dirty="0"/>
                <a:t>0</a:t>
              </a:r>
              <a:r>
                <a:rPr lang="en-GB" sz="1600" kern="1200" baseline="0" dirty="0"/>
                <a:t>)</a:t>
              </a:r>
            </a:p>
          </p:txBody>
        </p:sp>
      </p:grpSp>
      <mc:AlternateContent xmlns:mc="http://schemas.openxmlformats.org/markup-compatibility/2006" xmlns:a14="http://schemas.microsoft.com/office/drawing/2010/main">
        <mc:Choice Requires="a14">
          <p:sp>
            <p:nvSpPr>
              <p:cNvPr id="39" name="Rectangle 38"/>
              <p:cNvSpPr/>
              <p:nvPr/>
            </p:nvSpPr>
            <p:spPr>
              <a:xfrm>
                <a:off x="1934184" y="4812268"/>
                <a:ext cx="43005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i="1">
                          <a:latin typeface="Cambria Math"/>
                          <a:ea typeface="Cambria Math"/>
                        </a:rPr>
                        <m:t>𝜋</m:t>
                      </m:r>
                      <m:r>
                        <a:rPr lang="en-GB" i="1">
                          <a:latin typeface="Cambria Math"/>
                          <a:ea typeface="Cambria Math"/>
                        </a:rPr>
                        <m:t> </m:t>
                      </m:r>
                    </m:oMath>
                  </m:oMathPara>
                </a14:m>
                <a:endParaRPr lang="en-GB" b="1" dirty="0">
                  <a:solidFill>
                    <a:schemeClr val="accent6">
                      <a:lumMod val="75000"/>
                    </a:schemeClr>
                  </a:solidFill>
                </a:endParaRPr>
              </a:p>
            </p:txBody>
          </p:sp>
        </mc:Choice>
        <mc:Fallback xmlns="">
          <p:sp>
            <p:nvSpPr>
              <p:cNvPr id="39" name="Rectangle 38"/>
              <p:cNvSpPr>
                <a:spLocks noRot="1" noChangeAspect="1" noMove="1" noResize="1" noEditPoints="1" noAdjustHandles="1" noChangeArrowheads="1" noChangeShapeType="1" noTextEdit="1"/>
              </p:cNvSpPr>
              <p:nvPr/>
            </p:nvSpPr>
            <p:spPr>
              <a:xfrm>
                <a:off x="1934184" y="4812268"/>
                <a:ext cx="430053" cy="369332"/>
              </a:xfrm>
              <a:prstGeom prst="rect">
                <a:avLst/>
              </a:prstGeom>
              <a:blipFill rotWithShape="1">
                <a:blip r:embed="rId4"/>
                <a:stretch>
                  <a:fillRect/>
                </a:stretch>
              </a:blipFill>
            </p:spPr>
            <p:txBody>
              <a:bodyPr/>
              <a:lstStyle/>
              <a:p>
                <a:r>
                  <a:rPr lang="en-GB">
                    <a:noFill/>
                  </a:rPr>
                  <a:t> </a:t>
                </a:r>
              </a:p>
            </p:txBody>
          </p:sp>
        </mc:Fallback>
      </mc:AlternateContent>
      <p:cxnSp>
        <p:nvCxnSpPr>
          <p:cNvPr id="40" name="Straight Arrow Connector 39"/>
          <p:cNvCxnSpPr/>
          <p:nvPr/>
        </p:nvCxnSpPr>
        <p:spPr>
          <a:xfrm flipH="1">
            <a:off x="457200" y="4755647"/>
            <a:ext cx="5791200" cy="1"/>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41" name="Rectangle 40"/>
          <p:cNvSpPr/>
          <p:nvPr/>
        </p:nvSpPr>
        <p:spPr>
          <a:xfrm>
            <a:off x="228600" y="4800600"/>
            <a:ext cx="301686" cy="369332"/>
          </a:xfrm>
          <a:prstGeom prst="rect">
            <a:avLst/>
          </a:prstGeom>
        </p:spPr>
        <p:txBody>
          <a:bodyPr wrap="none">
            <a:spAutoFit/>
          </a:bodyPr>
          <a:lstStyle/>
          <a:p>
            <a:r>
              <a:rPr lang="en-GB" b="1" dirty="0">
                <a:solidFill>
                  <a:schemeClr val="accent6">
                    <a:lumMod val="75000"/>
                  </a:schemeClr>
                </a:solidFill>
              </a:rPr>
              <a:t>0</a:t>
            </a:r>
          </a:p>
        </p:txBody>
      </p:sp>
      <p:sp>
        <p:nvSpPr>
          <p:cNvPr id="42" name="Rectangle 41"/>
          <p:cNvSpPr/>
          <p:nvPr/>
        </p:nvSpPr>
        <p:spPr>
          <a:xfrm>
            <a:off x="6099114" y="4800600"/>
            <a:ext cx="301686" cy="369332"/>
          </a:xfrm>
          <a:prstGeom prst="rect">
            <a:avLst/>
          </a:prstGeom>
        </p:spPr>
        <p:txBody>
          <a:bodyPr wrap="none">
            <a:spAutoFit/>
          </a:bodyPr>
          <a:lstStyle/>
          <a:p>
            <a:r>
              <a:rPr lang="en-GB" b="1" dirty="0">
                <a:solidFill>
                  <a:schemeClr val="accent6">
                    <a:lumMod val="75000"/>
                  </a:schemeClr>
                </a:solidFill>
              </a:rPr>
              <a:t>1</a:t>
            </a:r>
          </a:p>
        </p:txBody>
      </p:sp>
      <p:grpSp>
        <p:nvGrpSpPr>
          <p:cNvPr id="58" name="Group 57"/>
          <p:cNvGrpSpPr/>
          <p:nvPr/>
        </p:nvGrpSpPr>
        <p:grpSpPr>
          <a:xfrm>
            <a:off x="2133600" y="3514928"/>
            <a:ext cx="580416" cy="447472"/>
            <a:chOff x="2123872" y="3514928"/>
            <a:chExt cx="580416" cy="447472"/>
          </a:xfrm>
        </p:grpSpPr>
        <p:cxnSp>
          <p:nvCxnSpPr>
            <p:cNvPr id="59" name="Straight Arrow Connector 58"/>
            <p:cNvCxnSpPr/>
            <p:nvPr/>
          </p:nvCxnSpPr>
          <p:spPr>
            <a:xfrm flipV="1">
              <a:off x="2704288" y="3521271"/>
              <a:ext cx="0" cy="441129"/>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Arrow Connector 59"/>
            <p:cNvCxnSpPr/>
            <p:nvPr/>
          </p:nvCxnSpPr>
          <p:spPr>
            <a:xfrm flipV="1">
              <a:off x="2123872" y="3514928"/>
              <a:ext cx="0" cy="447472"/>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1" name="Straight Arrow Connector 60"/>
            <p:cNvCxnSpPr/>
            <p:nvPr/>
          </p:nvCxnSpPr>
          <p:spPr>
            <a:xfrm>
              <a:off x="2152905" y="3733800"/>
              <a:ext cx="551383" cy="1"/>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grpSp>
      <p:grpSp>
        <p:nvGrpSpPr>
          <p:cNvPr id="67" name="Group 66"/>
          <p:cNvGrpSpPr/>
          <p:nvPr/>
        </p:nvGrpSpPr>
        <p:grpSpPr>
          <a:xfrm>
            <a:off x="1058430" y="3514928"/>
            <a:ext cx="2198714" cy="447472"/>
            <a:chOff x="1048702" y="3514928"/>
            <a:chExt cx="2198714" cy="447472"/>
          </a:xfrm>
        </p:grpSpPr>
        <p:grpSp>
          <p:nvGrpSpPr>
            <p:cNvPr id="68" name="Group 67"/>
            <p:cNvGrpSpPr/>
            <p:nvPr/>
          </p:nvGrpSpPr>
          <p:grpSpPr>
            <a:xfrm>
              <a:off x="1590472" y="3514928"/>
              <a:ext cx="541770" cy="447472"/>
              <a:chOff x="1590472" y="3514928"/>
              <a:chExt cx="1113816" cy="447472"/>
            </a:xfrm>
          </p:grpSpPr>
          <p:cxnSp>
            <p:nvCxnSpPr>
              <p:cNvPr id="82" name="Straight Arrow Connector 81"/>
              <p:cNvCxnSpPr/>
              <p:nvPr/>
            </p:nvCxnSpPr>
            <p:spPr>
              <a:xfrm flipV="1">
                <a:off x="1590472" y="3514928"/>
                <a:ext cx="0" cy="447472"/>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3" name="Straight Arrow Connector 82"/>
              <p:cNvCxnSpPr/>
              <p:nvPr/>
            </p:nvCxnSpPr>
            <p:spPr>
              <a:xfrm>
                <a:off x="1590472" y="3733800"/>
                <a:ext cx="1113816" cy="0"/>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grpSp>
        <p:grpSp>
          <p:nvGrpSpPr>
            <p:cNvPr id="69" name="Group 68"/>
            <p:cNvGrpSpPr/>
            <p:nvPr/>
          </p:nvGrpSpPr>
          <p:grpSpPr>
            <a:xfrm>
              <a:off x="2152905" y="3521271"/>
              <a:ext cx="551383" cy="441129"/>
              <a:chOff x="2152905" y="3521271"/>
              <a:chExt cx="551383" cy="441129"/>
            </a:xfrm>
          </p:grpSpPr>
          <p:cxnSp>
            <p:nvCxnSpPr>
              <p:cNvPr id="78" name="Straight Arrow Connector 77"/>
              <p:cNvCxnSpPr/>
              <p:nvPr/>
            </p:nvCxnSpPr>
            <p:spPr>
              <a:xfrm flipV="1">
                <a:off x="2704288" y="3521271"/>
                <a:ext cx="0" cy="441129"/>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0" name="Straight Arrow Connector 79"/>
              <p:cNvCxnSpPr/>
              <p:nvPr/>
            </p:nvCxnSpPr>
            <p:spPr>
              <a:xfrm>
                <a:off x="2152905" y="3733800"/>
                <a:ext cx="551383" cy="1"/>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grpSp>
        <p:grpSp>
          <p:nvGrpSpPr>
            <p:cNvPr id="70" name="Group 69"/>
            <p:cNvGrpSpPr/>
            <p:nvPr/>
          </p:nvGrpSpPr>
          <p:grpSpPr>
            <a:xfrm>
              <a:off x="1048702" y="3514928"/>
              <a:ext cx="541770" cy="447472"/>
              <a:chOff x="1590472" y="3514928"/>
              <a:chExt cx="1113816" cy="447472"/>
            </a:xfrm>
          </p:grpSpPr>
          <p:cxnSp>
            <p:nvCxnSpPr>
              <p:cNvPr id="75" name="Straight Arrow Connector 74"/>
              <p:cNvCxnSpPr/>
              <p:nvPr/>
            </p:nvCxnSpPr>
            <p:spPr>
              <a:xfrm flipV="1">
                <a:off x="2704288" y="3521271"/>
                <a:ext cx="0" cy="441129"/>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6" name="Straight Arrow Connector 75"/>
              <p:cNvCxnSpPr/>
              <p:nvPr/>
            </p:nvCxnSpPr>
            <p:spPr>
              <a:xfrm flipV="1">
                <a:off x="1590472" y="3514928"/>
                <a:ext cx="0" cy="447472"/>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7" name="Straight Arrow Connector 76"/>
              <p:cNvCxnSpPr/>
              <p:nvPr/>
            </p:nvCxnSpPr>
            <p:spPr>
              <a:xfrm>
                <a:off x="1590472" y="3733800"/>
                <a:ext cx="1113816" cy="0"/>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grpSp>
        <p:grpSp>
          <p:nvGrpSpPr>
            <p:cNvPr id="71" name="Group 70"/>
            <p:cNvGrpSpPr/>
            <p:nvPr/>
          </p:nvGrpSpPr>
          <p:grpSpPr>
            <a:xfrm>
              <a:off x="2705646" y="3514928"/>
              <a:ext cx="541770" cy="447472"/>
              <a:chOff x="1590472" y="3514928"/>
              <a:chExt cx="1113816" cy="447472"/>
            </a:xfrm>
          </p:grpSpPr>
          <p:cxnSp>
            <p:nvCxnSpPr>
              <p:cNvPr id="72" name="Straight Arrow Connector 71"/>
              <p:cNvCxnSpPr/>
              <p:nvPr/>
            </p:nvCxnSpPr>
            <p:spPr>
              <a:xfrm flipV="1">
                <a:off x="2704288" y="3521271"/>
                <a:ext cx="0" cy="441129"/>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3" name="Straight Arrow Connector 72"/>
              <p:cNvCxnSpPr/>
              <p:nvPr/>
            </p:nvCxnSpPr>
            <p:spPr>
              <a:xfrm flipV="1">
                <a:off x="1590472" y="3514928"/>
                <a:ext cx="0" cy="447472"/>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4" name="Straight Arrow Connector 73"/>
              <p:cNvCxnSpPr/>
              <p:nvPr/>
            </p:nvCxnSpPr>
            <p:spPr>
              <a:xfrm>
                <a:off x="1590472" y="3733800"/>
                <a:ext cx="1113816" cy="0"/>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grpSp>
      </p:grpSp>
      <mc:AlternateContent xmlns:mc="http://schemas.openxmlformats.org/markup-compatibility/2006" xmlns:a14="http://schemas.microsoft.com/office/drawing/2010/main">
        <mc:Choice Requires="a14">
          <p:sp>
            <p:nvSpPr>
              <p:cNvPr id="84" name="Rectangular Callout 83"/>
              <p:cNvSpPr/>
              <p:nvPr/>
            </p:nvSpPr>
            <p:spPr>
              <a:xfrm>
                <a:off x="4191000" y="3841774"/>
                <a:ext cx="1371600" cy="469851"/>
              </a:xfrm>
              <a:prstGeom prst="wedgeRectCallout">
                <a:avLst>
                  <a:gd name="adj1" fmla="val -94591"/>
                  <a:gd name="adj2" fmla="val 128752"/>
                </a:avLst>
              </a:prstGeom>
            </p:spPr>
            <p:style>
              <a:lnRef idx="1">
                <a:schemeClr val="accent2"/>
              </a:lnRef>
              <a:fillRef idx="2">
                <a:schemeClr val="accent2"/>
              </a:fillRef>
              <a:effectRef idx="1">
                <a:schemeClr val="accent2"/>
              </a:effectRef>
              <a:fontRef idx="minor">
                <a:schemeClr val="dk1"/>
              </a:fontRef>
            </p:style>
            <p:txBody>
              <a:bodyPr rtlCol="0" anchor="ctr"/>
              <a:lstStyle/>
              <a:p>
                <a:pPr algn="ctr"/>
                <a14:m>
                  <m:oMath xmlns:m="http://schemas.openxmlformats.org/officeDocument/2006/math">
                    <m:r>
                      <a:rPr lang="en-GB" sz="2000" b="0" i="1" smtClean="0">
                        <a:latin typeface="Cambria Math"/>
                        <a:ea typeface="Cambria Math"/>
                      </a:rPr>
                      <m:t>2.5%</m:t>
                    </m:r>
                  </m:oMath>
                </a14:m>
                <a:r>
                  <a:rPr lang="en-GB" sz="2000" dirty="0"/>
                  <a:t> area</a:t>
                </a:r>
              </a:p>
            </p:txBody>
          </p:sp>
        </mc:Choice>
        <mc:Fallback xmlns="">
          <p:sp>
            <p:nvSpPr>
              <p:cNvPr id="84" name="Rectangular Callout 83"/>
              <p:cNvSpPr>
                <a:spLocks noRot="1" noChangeAspect="1" noMove="1" noResize="1" noEditPoints="1" noAdjustHandles="1" noChangeArrowheads="1" noChangeShapeType="1" noTextEdit="1"/>
              </p:cNvSpPr>
              <p:nvPr/>
            </p:nvSpPr>
            <p:spPr>
              <a:xfrm>
                <a:off x="4191000" y="3841774"/>
                <a:ext cx="1371600" cy="469851"/>
              </a:xfrm>
              <a:prstGeom prst="wedgeRectCallout">
                <a:avLst>
                  <a:gd name="adj1" fmla="val -94591"/>
                  <a:gd name="adj2" fmla="val 128752"/>
                </a:avLst>
              </a:prstGeom>
              <a:blipFill rotWithShape="1">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6" name="Rectangular Callout 85"/>
              <p:cNvSpPr/>
              <p:nvPr/>
            </p:nvSpPr>
            <p:spPr>
              <a:xfrm>
                <a:off x="3200400" y="2116780"/>
                <a:ext cx="1676400" cy="564206"/>
              </a:xfrm>
              <a:prstGeom prst="wedgeRectCallout">
                <a:avLst>
                  <a:gd name="adj1" fmla="val -99574"/>
                  <a:gd name="adj2" fmla="val 146066"/>
                </a:avLst>
              </a:prstGeom>
            </p:spPr>
            <p:style>
              <a:lnRef idx="1">
                <a:schemeClr val="accent2"/>
              </a:lnRef>
              <a:fillRef idx="2">
                <a:schemeClr val="accent2"/>
              </a:fillRef>
              <a:effectRef idx="1">
                <a:schemeClr val="accent2"/>
              </a:effectRef>
              <a:fontRef idx="minor">
                <a:schemeClr val="dk1"/>
              </a:fontRef>
            </p:style>
            <p:txBody>
              <a:bodyPr rtlCol="0" anchor="ctr"/>
              <a:lstStyle/>
              <a:p>
                <a:pPr algn="ctr"/>
                <a14:m>
                  <m:oMath xmlns:m="http://schemas.openxmlformats.org/officeDocument/2006/math">
                    <m:r>
                      <a:rPr lang="en-GB" sz="2000" b="0" i="1" smtClean="0">
                        <a:latin typeface="Cambria Math"/>
                        <a:ea typeface="Cambria Math"/>
                      </a:rPr>
                      <m:t>95%</m:t>
                    </m:r>
                  </m:oMath>
                </a14:m>
                <a:r>
                  <a:rPr lang="en-GB" sz="2000" dirty="0"/>
                  <a:t> of the covered area</a:t>
                </a:r>
              </a:p>
            </p:txBody>
          </p:sp>
        </mc:Choice>
        <mc:Fallback xmlns="">
          <p:sp>
            <p:nvSpPr>
              <p:cNvPr id="86" name="Rectangular Callout 85"/>
              <p:cNvSpPr>
                <a:spLocks noRot="1" noChangeAspect="1" noMove="1" noResize="1" noEditPoints="1" noAdjustHandles="1" noChangeArrowheads="1" noChangeShapeType="1" noTextEdit="1"/>
              </p:cNvSpPr>
              <p:nvPr/>
            </p:nvSpPr>
            <p:spPr>
              <a:xfrm>
                <a:off x="3200400" y="2116780"/>
                <a:ext cx="1676400" cy="564206"/>
              </a:xfrm>
              <a:prstGeom prst="wedgeRectCallout">
                <a:avLst>
                  <a:gd name="adj1" fmla="val -99574"/>
                  <a:gd name="adj2" fmla="val 146066"/>
                </a:avLst>
              </a:prstGeom>
              <a:blipFill rotWithShape="1">
                <a:blip r:embed="rId6"/>
                <a:stretch>
                  <a:fillRect/>
                </a:stretch>
              </a:blipFill>
            </p:spPr>
            <p:txBody>
              <a:bodyPr/>
              <a:lstStyle/>
              <a:p>
                <a:r>
                  <a:rPr lang="en-GB">
                    <a:noFill/>
                  </a:rPr>
                  <a:t> </a:t>
                </a:r>
              </a:p>
            </p:txBody>
          </p:sp>
        </mc:Fallback>
      </mc:AlternateContent>
      <p:cxnSp>
        <p:nvCxnSpPr>
          <p:cNvPr id="87" name="Straight Arrow Connector 86"/>
          <p:cNvCxnSpPr/>
          <p:nvPr/>
        </p:nvCxnSpPr>
        <p:spPr>
          <a:xfrm flipV="1">
            <a:off x="3247416" y="3276600"/>
            <a:ext cx="0" cy="1600201"/>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90" name="Rectangular Callout 89"/>
              <p:cNvSpPr/>
              <p:nvPr/>
            </p:nvSpPr>
            <p:spPr>
              <a:xfrm>
                <a:off x="3399818" y="4985266"/>
                <a:ext cx="1452192" cy="423770"/>
              </a:xfrm>
              <a:prstGeom prst="wedgeRectCallout">
                <a:avLst>
                  <a:gd name="adj1" fmla="val -59852"/>
                  <a:gd name="adj2" fmla="val -87141"/>
                </a:avLst>
              </a:prstGeom>
              <a:ln/>
            </p:spPr>
            <p:style>
              <a:lnRef idx="2">
                <a:schemeClr val="accent3"/>
              </a:lnRef>
              <a:fillRef idx="1">
                <a:schemeClr val="lt1"/>
              </a:fillRef>
              <a:effectRef idx="0">
                <a:schemeClr val="accent3"/>
              </a:effectRef>
              <a:fontRef idx="minor">
                <a:schemeClr val="dk1"/>
              </a:fontRef>
            </p:style>
            <p:txBody>
              <a:bodyPr wrap="none">
                <a:spAutoFit/>
              </a:bodyPr>
              <a:lstStyle/>
              <a:p>
                <a:pPr/>
                <a14:m>
                  <m:oMathPara xmlns:m="http://schemas.openxmlformats.org/officeDocument/2006/math">
                    <m:oMathParaPr>
                      <m:jc m:val="centerGroup"/>
                    </m:oMathParaPr>
                    <m:oMath xmlns:m="http://schemas.openxmlformats.org/officeDocument/2006/math">
                      <m:r>
                        <a:rPr lang="en-GB" sz="2000" i="1" smtClean="0">
                          <a:latin typeface="Cambria Math"/>
                          <a:ea typeface="Cambria Math"/>
                        </a:rPr>
                        <m:t>𝜋</m:t>
                      </m:r>
                      <m:r>
                        <a:rPr lang="en-GB" sz="2000" b="0" i="1" smtClean="0">
                          <a:latin typeface="Cambria Math"/>
                          <a:ea typeface="Cambria Math"/>
                        </a:rPr>
                        <m:t>+1.96</m:t>
                      </m:r>
                      <m:sSub>
                        <m:sSubPr>
                          <m:ctrlPr>
                            <a:rPr lang="en-GB" sz="2000" b="0" i="1" smtClean="0">
                              <a:latin typeface="Cambria Math" panose="02040503050406030204" pitchFamily="18" charset="0"/>
                              <a:ea typeface="Cambria Math"/>
                            </a:rPr>
                          </m:ctrlPr>
                        </m:sSubPr>
                        <m:e>
                          <m:r>
                            <a:rPr lang="en-GB" sz="2000" i="1">
                              <a:latin typeface="Cambria Math"/>
                              <a:ea typeface="Cambria Math"/>
                            </a:rPr>
                            <m:t>𝜎</m:t>
                          </m:r>
                        </m:e>
                        <m:sub>
                          <m:r>
                            <a:rPr lang="en-GB" sz="2000" b="0" i="1" smtClean="0">
                              <a:latin typeface="Cambria Math"/>
                              <a:ea typeface="Cambria Math"/>
                            </a:rPr>
                            <m:t>𝑝</m:t>
                          </m:r>
                        </m:sub>
                      </m:sSub>
                    </m:oMath>
                  </m:oMathPara>
                </a14:m>
                <a:endParaRPr lang="en-GB" sz="2000" b="1" dirty="0">
                  <a:solidFill>
                    <a:schemeClr val="accent6">
                      <a:lumMod val="75000"/>
                    </a:schemeClr>
                  </a:solidFill>
                </a:endParaRPr>
              </a:p>
            </p:txBody>
          </p:sp>
        </mc:Choice>
        <mc:Fallback xmlns="">
          <p:sp>
            <p:nvSpPr>
              <p:cNvPr id="90" name="Rectangular Callout 89"/>
              <p:cNvSpPr>
                <a:spLocks noRot="1" noChangeAspect="1" noMove="1" noResize="1" noEditPoints="1" noAdjustHandles="1" noChangeArrowheads="1" noChangeShapeType="1" noTextEdit="1"/>
              </p:cNvSpPr>
              <p:nvPr/>
            </p:nvSpPr>
            <p:spPr>
              <a:xfrm>
                <a:off x="3399818" y="4985266"/>
                <a:ext cx="1452192" cy="423770"/>
              </a:xfrm>
              <a:prstGeom prst="wedgeRectCallout">
                <a:avLst>
                  <a:gd name="adj1" fmla="val -59852"/>
                  <a:gd name="adj2" fmla="val -87141"/>
                </a:avLst>
              </a:prstGeom>
              <a:blipFill rotWithShape="1">
                <a:blip r:embed="rId7"/>
                <a:stretch>
                  <a:fillRect b="-2020"/>
                </a:stretch>
              </a:blip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3" name="Rectangular Callout 92"/>
              <p:cNvSpPr/>
              <p:nvPr/>
            </p:nvSpPr>
            <p:spPr>
              <a:xfrm>
                <a:off x="376608" y="4986430"/>
                <a:ext cx="1452192" cy="423770"/>
              </a:xfrm>
              <a:prstGeom prst="wedgeRectCallout">
                <a:avLst>
                  <a:gd name="adj1" fmla="val 2445"/>
                  <a:gd name="adj2" fmla="val -98619"/>
                </a:avLst>
              </a:prstGeom>
              <a:ln/>
            </p:spPr>
            <p:style>
              <a:lnRef idx="2">
                <a:schemeClr val="accent3"/>
              </a:lnRef>
              <a:fillRef idx="1">
                <a:schemeClr val="lt1"/>
              </a:fillRef>
              <a:effectRef idx="0">
                <a:schemeClr val="accent3"/>
              </a:effectRef>
              <a:fontRef idx="minor">
                <a:schemeClr val="dk1"/>
              </a:fontRef>
            </p:style>
            <p:txBody>
              <a:bodyPr wrap="none">
                <a:spAutoFit/>
              </a:bodyPr>
              <a:lstStyle/>
              <a:p>
                <a:pPr/>
                <a14:m>
                  <m:oMathPara xmlns:m="http://schemas.openxmlformats.org/officeDocument/2006/math">
                    <m:oMathParaPr>
                      <m:jc m:val="centerGroup"/>
                    </m:oMathParaPr>
                    <m:oMath xmlns:m="http://schemas.openxmlformats.org/officeDocument/2006/math">
                      <m:r>
                        <a:rPr lang="en-GB" sz="2000" i="1" smtClean="0">
                          <a:latin typeface="Cambria Math"/>
                          <a:ea typeface="Cambria Math"/>
                        </a:rPr>
                        <m:t>𝜋</m:t>
                      </m:r>
                      <m:r>
                        <a:rPr lang="en-GB" sz="2000" b="0" i="1" smtClean="0">
                          <a:latin typeface="Cambria Math" panose="02040503050406030204" pitchFamily="18" charset="0"/>
                          <a:ea typeface="Cambria Math"/>
                        </a:rPr>
                        <m:t>−</m:t>
                      </m:r>
                      <m:r>
                        <a:rPr lang="en-GB" sz="2000" b="0" i="1" smtClean="0">
                          <a:latin typeface="Cambria Math"/>
                          <a:ea typeface="Cambria Math"/>
                        </a:rPr>
                        <m:t>1.96</m:t>
                      </m:r>
                      <m:sSub>
                        <m:sSubPr>
                          <m:ctrlPr>
                            <a:rPr lang="en-GB" sz="2000" b="0" i="1" smtClean="0">
                              <a:latin typeface="Cambria Math" panose="02040503050406030204" pitchFamily="18" charset="0"/>
                              <a:ea typeface="Cambria Math"/>
                            </a:rPr>
                          </m:ctrlPr>
                        </m:sSubPr>
                        <m:e>
                          <m:r>
                            <a:rPr lang="en-GB" sz="2000" i="1">
                              <a:latin typeface="Cambria Math"/>
                              <a:ea typeface="Cambria Math"/>
                            </a:rPr>
                            <m:t>𝜎</m:t>
                          </m:r>
                        </m:e>
                        <m:sub>
                          <m:r>
                            <a:rPr lang="en-GB" sz="2000" b="0" i="1" smtClean="0">
                              <a:latin typeface="Cambria Math"/>
                              <a:ea typeface="Cambria Math"/>
                            </a:rPr>
                            <m:t>𝑝</m:t>
                          </m:r>
                        </m:sub>
                      </m:sSub>
                    </m:oMath>
                  </m:oMathPara>
                </a14:m>
                <a:endParaRPr lang="en-GB" sz="2000" b="1" dirty="0">
                  <a:solidFill>
                    <a:schemeClr val="accent6">
                      <a:lumMod val="75000"/>
                    </a:schemeClr>
                  </a:solidFill>
                </a:endParaRPr>
              </a:p>
            </p:txBody>
          </p:sp>
        </mc:Choice>
        <mc:Fallback xmlns="">
          <p:sp>
            <p:nvSpPr>
              <p:cNvPr id="93" name="Rectangular Callout 92"/>
              <p:cNvSpPr>
                <a:spLocks noRot="1" noChangeAspect="1" noMove="1" noResize="1" noEditPoints="1" noAdjustHandles="1" noChangeArrowheads="1" noChangeShapeType="1" noTextEdit="1"/>
              </p:cNvSpPr>
              <p:nvPr/>
            </p:nvSpPr>
            <p:spPr>
              <a:xfrm>
                <a:off x="376608" y="4986430"/>
                <a:ext cx="1452192" cy="423770"/>
              </a:xfrm>
              <a:prstGeom prst="wedgeRectCallout">
                <a:avLst>
                  <a:gd name="adj1" fmla="val 2445"/>
                  <a:gd name="adj2" fmla="val -98619"/>
                </a:avLst>
              </a:prstGeom>
              <a:blipFill>
                <a:blip r:embed="rId8"/>
                <a:stretch>
                  <a:fillRect b="-917"/>
                </a:stretch>
              </a:blip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4" name="TextBox 93"/>
              <p:cNvSpPr txBox="1"/>
              <p:nvPr/>
            </p:nvSpPr>
            <p:spPr>
              <a:xfrm>
                <a:off x="6400800" y="4028440"/>
                <a:ext cx="2514600" cy="695960"/>
              </a:xfrm>
              <a:prstGeom prst="rect">
                <a:avLst/>
              </a:prstGeom>
              <a:solidFill>
                <a:schemeClr val="accent6">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3600" b="0" i="1" smtClean="0">
                              <a:latin typeface="Cambria Math" panose="02040503050406030204" pitchFamily="18" charset="0"/>
                            </a:rPr>
                          </m:ctrlPr>
                        </m:sSubPr>
                        <m:e>
                          <m:r>
                            <a:rPr lang="en-GB" sz="3600" b="0" i="1" smtClean="0">
                              <a:latin typeface="Cambria Math"/>
                            </a:rPr>
                            <m:t>𝑍</m:t>
                          </m:r>
                        </m:e>
                        <m:sub>
                          <m:r>
                            <a:rPr lang="en-GB" sz="3600" i="1">
                              <a:latin typeface="Cambria Math"/>
                              <a:ea typeface="Cambria Math"/>
                            </a:rPr>
                            <m:t>𝛼</m:t>
                          </m:r>
                          <m:r>
                            <a:rPr lang="en-GB" sz="3600" b="0" i="1" smtClean="0">
                              <a:latin typeface="Cambria Math"/>
                              <a:ea typeface="Cambria Math"/>
                            </a:rPr>
                            <m:t>/2</m:t>
                          </m:r>
                        </m:sub>
                      </m:sSub>
                      <m:r>
                        <a:rPr lang="en-GB" sz="3600" b="0" i="1" smtClean="0">
                          <a:latin typeface="Cambria Math"/>
                        </a:rPr>
                        <m:t>=1.96</m:t>
                      </m:r>
                    </m:oMath>
                  </m:oMathPara>
                </a14:m>
                <a:endParaRPr lang="en-GB" sz="3600" dirty="0"/>
              </a:p>
            </p:txBody>
          </p:sp>
        </mc:Choice>
        <mc:Fallback xmlns="">
          <p:sp>
            <p:nvSpPr>
              <p:cNvPr id="94" name="TextBox 93"/>
              <p:cNvSpPr txBox="1">
                <a:spLocks noRot="1" noChangeAspect="1" noMove="1" noResize="1" noEditPoints="1" noAdjustHandles="1" noChangeArrowheads="1" noChangeShapeType="1" noTextEdit="1"/>
              </p:cNvSpPr>
              <p:nvPr/>
            </p:nvSpPr>
            <p:spPr>
              <a:xfrm>
                <a:off x="6400800" y="4028440"/>
                <a:ext cx="2514600" cy="695960"/>
              </a:xfrm>
              <a:prstGeom prst="rect">
                <a:avLst/>
              </a:prstGeom>
              <a:blipFill rotWithShape="1">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9" name="Rectangle 148">
                <a:extLst>
                  <a:ext uri="{FF2B5EF4-FFF2-40B4-BE49-F238E27FC236}">
                    <a16:creationId xmlns:a16="http://schemas.microsoft.com/office/drawing/2014/main" id="{E4218277-E5B5-4E94-A748-92F66E2D8DDC}"/>
                  </a:ext>
                </a:extLst>
              </p:cNvPr>
              <p:cNvSpPr/>
              <p:nvPr/>
            </p:nvSpPr>
            <p:spPr>
              <a:xfrm>
                <a:off x="372254" y="5874128"/>
                <a:ext cx="8453826" cy="338554"/>
              </a:xfrm>
              <a:prstGeom prst="rect">
                <a:avLst/>
              </a:prstGeom>
            </p:spPr>
            <p:txBody>
              <a:bodyPr wrap="square">
                <a:spAutoFit/>
              </a:bodyPr>
              <a:lstStyle/>
              <a:p>
                <a:pPr marL="0" lvl="1"/>
                <a:r>
                  <a:rPr lang="en-GB" sz="1600" b="1" i="1" dirty="0">
                    <a:latin typeface="+mj-lt"/>
                  </a:rPr>
                  <a:t>“Is p comprised in the confidence interval of </a:t>
                </a:r>
                <a14:m>
                  <m:oMath xmlns:m="http://schemas.openxmlformats.org/officeDocument/2006/math">
                    <m:r>
                      <a:rPr lang="en-GB" sz="1600" i="1">
                        <a:latin typeface="Cambria Math"/>
                        <a:ea typeface="Cambria Math"/>
                      </a:rPr>
                      <m:t>𝜋</m:t>
                    </m:r>
                  </m:oMath>
                </a14:m>
                <a:r>
                  <a:rPr lang="en-GB" sz="1600" b="1" i="1" dirty="0">
                    <a:latin typeface="+mj-lt"/>
                  </a:rPr>
                  <a:t> </a:t>
                </a:r>
                <a:r>
                  <a:rPr lang="en-GB" sz="1600" b="1" i="1" dirty="0"/>
                  <a:t>at the chosen level of confidence?”</a:t>
                </a:r>
                <a:r>
                  <a:rPr lang="en-GB" sz="1600" b="1" i="1" dirty="0">
                    <a:latin typeface="+mj-lt"/>
                  </a:rPr>
                  <a:t> </a:t>
                </a:r>
              </a:p>
            </p:txBody>
          </p:sp>
        </mc:Choice>
        <mc:Fallback xmlns="">
          <p:sp>
            <p:nvSpPr>
              <p:cNvPr id="149" name="Rectangle 148">
                <a:extLst>
                  <a:ext uri="{FF2B5EF4-FFF2-40B4-BE49-F238E27FC236}">
                    <a16:creationId xmlns:a16="http://schemas.microsoft.com/office/drawing/2014/main" id="{E4218277-E5B5-4E94-A748-92F66E2D8DDC}"/>
                  </a:ext>
                </a:extLst>
              </p:cNvPr>
              <p:cNvSpPr>
                <a:spLocks noRot="1" noChangeAspect="1" noMove="1" noResize="1" noEditPoints="1" noAdjustHandles="1" noChangeArrowheads="1" noChangeShapeType="1" noTextEdit="1"/>
              </p:cNvSpPr>
              <p:nvPr/>
            </p:nvSpPr>
            <p:spPr>
              <a:xfrm>
                <a:off x="372254" y="5874128"/>
                <a:ext cx="8453826" cy="338554"/>
              </a:xfrm>
              <a:prstGeom prst="rect">
                <a:avLst/>
              </a:prstGeom>
              <a:blipFill>
                <a:blip r:embed="rId10"/>
                <a:stretch>
                  <a:fillRect l="-360" t="-5455" b="-23636"/>
                </a:stretch>
              </a:blipFill>
            </p:spPr>
            <p:txBody>
              <a:bodyPr/>
              <a:lstStyle/>
              <a:p>
                <a:r>
                  <a:rPr lang="en-GB">
                    <a:noFill/>
                  </a:rPr>
                  <a:t> </a:t>
                </a:r>
              </a:p>
            </p:txBody>
          </p:sp>
        </mc:Fallback>
      </mc:AlternateContent>
    </p:spTree>
    <p:extLst>
      <p:ext uri="{BB962C8B-B14F-4D97-AF65-F5344CB8AC3E}">
        <p14:creationId xmlns:p14="http://schemas.microsoft.com/office/powerpoint/2010/main" val="3833666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4"/>
                                        </p:tgtEl>
                                        <p:attrNameLst>
                                          <p:attrName>style.visibility</p:attrName>
                                        </p:attrNameLst>
                                      </p:cBhvr>
                                      <p:to>
                                        <p:strVal val="visible"/>
                                      </p:to>
                                    </p:set>
                                    <p:animEffect transition="in" filter="fade">
                                      <p:cBhvr>
                                        <p:cTn id="7" dur="500"/>
                                        <p:tgtEl>
                                          <p:spTgt spid="9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0"/>
                                        </p:tgtEl>
                                        <p:attrNameLst>
                                          <p:attrName>style.visibility</p:attrName>
                                        </p:attrNameLst>
                                      </p:cBhvr>
                                      <p:to>
                                        <p:strVal val="visible"/>
                                      </p:to>
                                    </p:set>
                                    <p:animEffect transition="in" filter="fade">
                                      <p:cBhvr>
                                        <p:cTn id="12" dur="500"/>
                                        <p:tgtEl>
                                          <p:spTgt spid="90"/>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93"/>
                                        </p:tgtEl>
                                        <p:attrNameLst>
                                          <p:attrName>style.visibility</p:attrName>
                                        </p:attrNameLst>
                                      </p:cBhvr>
                                      <p:to>
                                        <p:strVal val="visible"/>
                                      </p:to>
                                    </p:set>
                                    <p:animEffect transition="in" filter="fade">
                                      <p:cBhvr>
                                        <p:cTn id="15" dur="500"/>
                                        <p:tgtEl>
                                          <p:spTgt spid="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animBg="1"/>
      <p:bldP spid="93" grpId="0" animBg="1"/>
      <p:bldP spid="9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 name="Group 62"/>
          <p:cNvGrpSpPr/>
          <p:nvPr/>
        </p:nvGrpSpPr>
        <p:grpSpPr>
          <a:xfrm>
            <a:off x="6172200" y="3962400"/>
            <a:ext cx="186070" cy="838199"/>
            <a:chOff x="6172200" y="3962400"/>
            <a:chExt cx="186070" cy="838199"/>
          </a:xfrm>
        </p:grpSpPr>
        <p:sp>
          <p:nvSpPr>
            <p:cNvPr id="64" name="Oval 63"/>
            <p:cNvSpPr/>
            <p:nvPr/>
          </p:nvSpPr>
          <p:spPr>
            <a:xfrm rot="10800000">
              <a:off x="6205707" y="3995057"/>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65" name="Oval 64"/>
            <p:cNvSpPr/>
            <p:nvPr/>
          </p:nvSpPr>
          <p:spPr>
            <a:xfrm rot="10800000">
              <a:off x="6172201" y="4038600"/>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66" name="Oval 65"/>
            <p:cNvSpPr/>
            <p:nvPr/>
          </p:nvSpPr>
          <p:spPr>
            <a:xfrm rot="10800000">
              <a:off x="6190511" y="4419600"/>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79" name="Oval 78"/>
            <p:cNvSpPr/>
            <p:nvPr/>
          </p:nvSpPr>
          <p:spPr>
            <a:xfrm rot="10800000">
              <a:off x="6190511" y="3962400"/>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81" name="Oval 80"/>
            <p:cNvSpPr/>
            <p:nvPr/>
          </p:nvSpPr>
          <p:spPr>
            <a:xfrm rot="10800000">
              <a:off x="6205708" y="4038600"/>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85" name="Oval 84"/>
            <p:cNvSpPr/>
            <p:nvPr/>
          </p:nvSpPr>
          <p:spPr>
            <a:xfrm rot="10800000">
              <a:off x="6172201" y="4147457"/>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88" name="Oval 87"/>
            <p:cNvSpPr/>
            <p:nvPr/>
          </p:nvSpPr>
          <p:spPr>
            <a:xfrm rot="10800000">
              <a:off x="6205708" y="4191000"/>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89" name="Oval 88"/>
            <p:cNvSpPr/>
            <p:nvPr/>
          </p:nvSpPr>
          <p:spPr>
            <a:xfrm rot="10800000">
              <a:off x="6205708" y="4376056"/>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91" name="Oval 90"/>
            <p:cNvSpPr/>
            <p:nvPr/>
          </p:nvSpPr>
          <p:spPr>
            <a:xfrm rot="10800000">
              <a:off x="6172200" y="4419599"/>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92" name="Oval 91"/>
            <p:cNvSpPr/>
            <p:nvPr/>
          </p:nvSpPr>
          <p:spPr>
            <a:xfrm rot="10800000">
              <a:off x="6205707" y="4463142"/>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95" name="Oval 94"/>
            <p:cNvSpPr/>
            <p:nvPr/>
          </p:nvSpPr>
          <p:spPr>
            <a:xfrm rot="10800000">
              <a:off x="6205707" y="4571999"/>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96" name="Oval 95"/>
            <p:cNvSpPr/>
            <p:nvPr/>
          </p:nvSpPr>
          <p:spPr>
            <a:xfrm rot="10800000">
              <a:off x="6172201" y="4615542"/>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97" name="Oval 96"/>
            <p:cNvSpPr/>
            <p:nvPr/>
          </p:nvSpPr>
          <p:spPr>
            <a:xfrm rot="10800000">
              <a:off x="6190510" y="4680856"/>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98" name="Oval 97"/>
            <p:cNvSpPr/>
            <p:nvPr/>
          </p:nvSpPr>
          <p:spPr>
            <a:xfrm rot="10800000">
              <a:off x="6239376" y="4082143"/>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99" name="Oval 98"/>
            <p:cNvSpPr/>
            <p:nvPr/>
          </p:nvSpPr>
          <p:spPr>
            <a:xfrm rot="10800000">
              <a:off x="6205870" y="4158343"/>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100" name="Oval 99"/>
            <p:cNvSpPr/>
            <p:nvPr/>
          </p:nvSpPr>
          <p:spPr>
            <a:xfrm rot="10800000">
              <a:off x="6224180" y="4506686"/>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101" name="Oval 100"/>
            <p:cNvSpPr/>
            <p:nvPr/>
          </p:nvSpPr>
          <p:spPr>
            <a:xfrm rot="10800000">
              <a:off x="6239377" y="4158343"/>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102" name="Oval 101"/>
            <p:cNvSpPr/>
            <p:nvPr/>
          </p:nvSpPr>
          <p:spPr>
            <a:xfrm rot="10800000">
              <a:off x="6205870" y="4234543"/>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103" name="Oval 102"/>
            <p:cNvSpPr/>
            <p:nvPr/>
          </p:nvSpPr>
          <p:spPr>
            <a:xfrm rot="10800000">
              <a:off x="6239377" y="4278086"/>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104" name="Oval 103"/>
            <p:cNvSpPr/>
            <p:nvPr/>
          </p:nvSpPr>
          <p:spPr>
            <a:xfrm rot="10800000">
              <a:off x="6239377" y="4463142"/>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105" name="Oval 104"/>
            <p:cNvSpPr/>
            <p:nvPr/>
          </p:nvSpPr>
          <p:spPr>
            <a:xfrm rot="10800000">
              <a:off x="6205869" y="4506685"/>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grpSp>
      <p:grpSp>
        <p:nvGrpSpPr>
          <p:cNvPr id="106" name="Group 105"/>
          <p:cNvGrpSpPr/>
          <p:nvPr/>
        </p:nvGrpSpPr>
        <p:grpSpPr>
          <a:xfrm>
            <a:off x="381000" y="2438400"/>
            <a:ext cx="198471" cy="2362200"/>
            <a:chOff x="381000" y="2438400"/>
            <a:chExt cx="198471" cy="2362200"/>
          </a:xfrm>
        </p:grpSpPr>
        <p:sp>
          <p:nvSpPr>
            <p:cNvPr id="107" name="Oval 106"/>
            <p:cNvSpPr/>
            <p:nvPr/>
          </p:nvSpPr>
          <p:spPr>
            <a:xfrm rot="10800000">
              <a:off x="399310" y="40603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8" name="Oval 107"/>
            <p:cNvSpPr/>
            <p:nvPr/>
          </p:nvSpPr>
          <p:spPr>
            <a:xfrm rot="10800000">
              <a:off x="414507" y="41365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9" name="Oval 108"/>
            <p:cNvSpPr/>
            <p:nvPr/>
          </p:nvSpPr>
          <p:spPr>
            <a:xfrm rot="10800000">
              <a:off x="381000" y="42127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0" name="Oval 109"/>
            <p:cNvSpPr/>
            <p:nvPr/>
          </p:nvSpPr>
          <p:spPr>
            <a:xfrm rot="10800000">
              <a:off x="414507" y="4256314"/>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1" name="Oval 110"/>
            <p:cNvSpPr/>
            <p:nvPr/>
          </p:nvSpPr>
          <p:spPr>
            <a:xfrm rot="10800000">
              <a:off x="399310" y="44740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2" name="Oval 111"/>
            <p:cNvSpPr/>
            <p:nvPr/>
          </p:nvSpPr>
          <p:spPr>
            <a:xfrm rot="10800000">
              <a:off x="414507" y="45502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3" name="Oval 112"/>
            <p:cNvSpPr/>
            <p:nvPr/>
          </p:nvSpPr>
          <p:spPr>
            <a:xfrm rot="10800000">
              <a:off x="381000" y="46264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4" name="Oval 113"/>
            <p:cNvSpPr/>
            <p:nvPr/>
          </p:nvSpPr>
          <p:spPr>
            <a:xfrm rot="10800000">
              <a:off x="414507" y="46699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5" name="Oval 114"/>
            <p:cNvSpPr/>
            <p:nvPr/>
          </p:nvSpPr>
          <p:spPr>
            <a:xfrm rot="10800000">
              <a:off x="399310" y="32221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 name="Oval 115"/>
            <p:cNvSpPr/>
            <p:nvPr/>
          </p:nvSpPr>
          <p:spPr>
            <a:xfrm rot="10800000">
              <a:off x="414507" y="32983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 name="Oval 116"/>
            <p:cNvSpPr/>
            <p:nvPr/>
          </p:nvSpPr>
          <p:spPr>
            <a:xfrm rot="10800000">
              <a:off x="381000" y="33745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8" name="Oval 117"/>
            <p:cNvSpPr/>
            <p:nvPr/>
          </p:nvSpPr>
          <p:spPr>
            <a:xfrm rot="10800000">
              <a:off x="414507" y="3418114"/>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9" name="Oval 118"/>
            <p:cNvSpPr/>
            <p:nvPr/>
          </p:nvSpPr>
          <p:spPr>
            <a:xfrm rot="10800000">
              <a:off x="414507" y="35269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0" name="Oval 119"/>
            <p:cNvSpPr/>
            <p:nvPr/>
          </p:nvSpPr>
          <p:spPr>
            <a:xfrm rot="10800000">
              <a:off x="381001" y="3570514"/>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1" name="Oval 120"/>
            <p:cNvSpPr/>
            <p:nvPr/>
          </p:nvSpPr>
          <p:spPr>
            <a:xfrm rot="10800000">
              <a:off x="399310" y="36358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2" name="Oval 121"/>
            <p:cNvSpPr/>
            <p:nvPr/>
          </p:nvSpPr>
          <p:spPr>
            <a:xfrm rot="10800000">
              <a:off x="414507" y="37120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3" name="Oval 122"/>
            <p:cNvSpPr/>
            <p:nvPr/>
          </p:nvSpPr>
          <p:spPr>
            <a:xfrm rot="10800000">
              <a:off x="381000" y="37882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4" name="Oval 123"/>
            <p:cNvSpPr/>
            <p:nvPr/>
          </p:nvSpPr>
          <p:spPr>
            <a:xfrm rot="10800000">
              <a:off x="414507" y="38317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5" name="Oval 124"/>
            <p:cNvSpPr/>
            <p:nvPr/>
          </p:nvSpPr>
          <p:spPr>
            <a:xfrm rot="10800000">
              <a:off x="381001" y="39841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6" name="Oval 125"/>
            <p:cNvSpPr/>
            <p:nvPr/>
          </p:nvSpPr>
          <p:spPr>
            <a:xfrm rot="10800000">
              <a:off x="381001" y="4484914"/>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7" name="Oval 126"/>
            <p:cNvSpPr/>
            <p:nvPr/>
          </p:nvSpPr>
          <p:spPr>
            <a:xfrm rot="10800000">
              <a:off x="414508" y="45284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8" name="Oval 127"/>
            <p:cNvSpPr/>
            <p:nvPr/>
          </p:nvSpPr>
          <p:spPr>
            <a:xfrm rot="10800000">
              <a:off x="414508" y="4637314"/>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9" name="Oval 128"/>
            <p:cNvSpPr/>
            <p:nvPr/>
          </p:nvSpPr>
          <p:spPr>
            <a:xfrm rot="10800000">
              <a:off x="381002" y="46808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0" name="Oval 129"/>
            <p:cNvSpPr/>
            <p:nvPr/>
          </p:nvSpPr>
          <p:spPr>
            <a:xfrm rot="10800000">
              <a:off x="399311" y="24384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1" name="Oval 130"/>
            <p:cNvSpPr/>
            <p:nvPr/>
          </p:nvSpPr>
          <p:spPr>
            <a:xfrm rot="10800000">
              <a:off x="414508" y="25146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2" name="Oval 131"/>
            <p:cNvSpPr/>
            <p:nvPr/>
          </p:nvSpPr>
          <p:spPr>
            <a:xfrm rot="10800000">
              <a:off x="381001" y="25908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3" name="Oval 132"/>
            <p:cNvSpPr/>
            <p:nvPr/>
          </p:nvSpPr>
          <p:spPr>
            <a:xfrm rot="10800000">
              <a:off x="414508" y="2634343"/>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4" name="Oval 133"/>
            <p:cNvSpPr/>
            <p:nvPr/>
          </p:nvSpPr>
          <p:spPr>
            <a:xfrm rot="10800000">
              <a:off x="414508" y="27432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5" name="Oval 134"/>
            <p:cNvSpPr/>
            <p:nvPr/>
          </p:nvSpPr>
          <p:spPr>
            <a:xfrm rot="10800000">
              <a:off x="381002" y="2786743"/>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6" name="Oval 135"/>
            <p:cNvSpPr/>
            <p:nvPr/>
          </p:nvSpPr>
          <p:spPr>
            <a:xfrm rot="10800000">
              <a:off x="399311" y="28520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7" name="Oval 136"/>
            <p:cNvSpPr/>
            <p:nvPr/>
          </p:nvSpPr>
          <p:spPr>
            <a:xfrm rot="10800000">
              <a:off x="414508" y="29282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8" name="Oval 137"/>
            <p:cNvSpPr/>
            <p:nvPr/>
          </p:nvSpPr>
          <p:spPr>
            <a:xfrm rot="10800000">
              <a:off x="381001" y="30044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9" name="Oval 138"/>
            <p:cNvSpPr/>
            <p:nvPr/>
          </p:nvSpPr>
          <p:spPr>
            <a:xfrm rot="10800000">
              <a:off x="414508" y="30480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1" name="Oval 140"/>
            <p:cNvSpPr/>
            <p:nvPr/>
          </p:nvSpPr>
          <p:spPr>
            <a:xfrm rot="10800000">
              <a:off x="445381" y="26439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2" name="Oval 141"/>
            <p:cNvSpPr/>
            <p:nvPr/>
          </p:nvSpPr>
          <p:spPr>
            <a:xfrm rot="10800000">
              <a:off x="460578" y="27201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3" name="Oval 142"/>
            <p:cNvSpPr/>
            <p:nvPr/>
          </p:nvSpPr>
          <p:spPr>
            <a:xfrm rot="10800000">
              <a:off x="427071" y="27963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4" name="Oval 143"/>
            <p:cNvSpPr/>
            <p:nvPr/>
          </p:nvSpPr>
          <p:spPr>
            <a:xfrm rot="10800000">
              <a:off x="460578" y="283990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5" name="Oval 144"/>
            <p:cNvSpPr/>
            <p:nvPr/>
          </p:nvSpPr>
          <p:spPr>
            <a:xfrm rot="10800000">
              <a:off x="460578" y="29487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6" name="Oval 145"/>
            <p:cNvSpPr/>
            <p:nvPr/>
          </p:nvSpPr>
          <p:spPr>
            <a:xfrm rot="10800000">
              <a:off x="427072" y="299230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7" name="Oval 146"/>
            <p:cNvSpPr/>
            <p:nvPr/>
          </p:nvSpPr>
          <p:spPr>
            <a:xfrm rot="10800000">
              <a:off x="445381" y="3057622"/>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8" name="Oval 147"/>
            <p:cNvSpPr/>
            <p:nvPr/>
          </p:nvSpPr>
          <p:spPr>
            <a:xfrm rot="10800000">
              <a:off x="414506" y="41910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9" name="Oval 148"/>
            <p:cNvSpPr/>
            <p:nvPr/>
          </p:nvSpPr>
          <p:spPr>
            <a:xfrm rot="10800000">
              <a:off x="381000" y="4234543"/>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0" name="Oval 149"/>
            <p:cNvSpPr/>
            <p:nvPr/>
          </p:nvSpPr>
          <p:spPr>
            <a:xfrm rot="10800000">
              <a:off x="399309" y="42998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1" name="Oval 150"/>
            <p:cNvSpPr/>
            <p:nvPr/>
          </p:nvSpPr>
          <p:spPr>
            <a:xfrm rot="10800000">
              <a:off x="460576" y="41679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2" name="Oval 151"/>
            <p:cNvSpPr/>
            <p:nvPr/>
          </p:nvSpPr>
          <p:spPr>
            <a:xfrm rot="10800000">
              <a:off x="427069" y="42441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3" name="Oval 152"/>
            <p:cNvSpPr/>
            <p:nvPr/>
          </p:nvSpPr>
          <p:spPr>
            <a:xfrm rot="10800000">
              <a:off x="460576" y="428770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aphicFrame>
        <p:nvGraphicFramePr>
          <p:cNvPr id="264" name="Chart 263"/>
          <p:cNvGraphicFramePr/>
          <p:nvPr>
            <p:extLst>
              <p:ext uri="{D42A27DB-BD31-4B8C-83A1-F6EECF244321}">
                <p14:modId xmlns:p14="http://schemas.microsoft.com/office/powerpoint/2010/main" val="975558815"/>
              </p:ext>
            </p:extLst>
          </p:nvPr>
        </p:nvGraphicFramePr>
        <p:xfrm>
          <a:off x="317770" y="1686408"/>
          <a:ext cx="6096000" cy="3217538"/>
        </p:xfrm>
        <a:graphic>
          <a:graphicData uri="http://schemas.openxmlformats.org/drawingml/2006/chart">
            <c:chart xmlns:c="http://schemas.openxmlformats.org/drawingml/2006/chart" xmlns:r="http://schemas.openxmlformats.org/officeDocument/2006/relationships" r:id="rId3"/>
          </a:graphicData>
        </a:graphic>
      </p:graphicFrame>
      <p:cxnSp>
        <p:nvCxnSpPr>
          <p:cNvPr id="265" name="Straight Arrow Connector 264"/>
          <p:cNvCxnSpPr/>
          <p:nvPr/>
        </p:nvCxnSpPr>
        <p:spPr>
          <a:xfrm flipV="1">
            <a:off x="2132242" y="2238984"/>
            <a:ext cx="0" cy="2607474"/>
          </a:xfrm>
          <a:prstGeom prst="straightConnector1">
            <a:avLst/>
          </a:prstGeom>
          <a:ln w="38100">
            <a:headEnd type="none" w="med" len="med"/>
            <a:tailEnd type="none" w="med" len="med"/>
          </a:ln>
        </p:spPr>
        <p:style>
          <a:lnRef idx="1">
            <a:schemeClr val="accent6"/>
          </a:lnRef>
          <a:fillRef idx="0">
            <a:schemeClr val="accent6"/>
          </a:fillRef>
          <a:effectRef idx="0">
            <a:schemeClr val="accent6"/>
          </a:effectRef>
          <a:fontRef idx="minor">
            <a:schemeClr val="tx1"/>
          </a:fontRef>
        </p:style>
      </p:cxnSp>
      <p:sp>
        <p:nvSpPr>
          <p:cNvPr id="2" name="Title 1"/>
          <p:cNvSpPr>
            <a:spLocks noGrp="1"/>
          </p:cNvSpPr>
          <p:nvPr>
            <p:ph type="title"/>
          </p:nvPr>
        </p:nvSpPr>
        <p:spPr/>
        <p:txBody>
          <a:bodyPr/>
          <a:lstStyle/>
          <a:p>
            <a:r>
              <a:rPr lang="en-GB" altLang="en-US" dirty="0"/>
              <a:t>Z Test for Proportion</a:t>
            </a:r>
            <a:endParaRPr lang="en-GB" dirty="0"/>
          </a:p>
        </p:txBody>
      </p:sp>
      <p:sp>
        <p:nvSpPr>
          <p:cNvPr id="45" name="Rectangle 44"/>
          <p:cNvSpPr/>
          <p:nvPr/>
        </p:nvSpPr>
        <p:spPr>
          <a:xfrm>
            <a:off x="304800" y="725269"/>
            <a:ext cx="5867400" cy="400110"/>
          </a:xfrm>
          <a:prstGeom prst="rect">
            <a:avLst/>
          </a:prstGeom>
        </p:spPr>
        <p:txBody>
          <a:bodyPr wrap="square">
            <a:spAutoFit/>
          </a:bodyPr>
          <a:lstStyle/>
          <a:p>
            <a:r>
              <a:rPr lang="en-GB" sz="2000" b="1" dirty="0"/>
              <a:t>APPROACH 1 – Using C.I.</a:t>
            </a:r>
          </a:p>
        </p:txBody>
      </p:sp>
      <p:grpSp>
        <p:nvGrpSpPr>
          <p:cNvPr id="140" name="Group 139"/>
          <p:cNvGrpSpPr/>
          <p:nvPr/>
        </p:nvGrpSpPr>
        <p:grpSpPr>
          <a:xfrm>
            <a:off x="6248400" y="152400"/>
            <a:ext cx="2743199" cy="3124200"/>
            <a:chOff x="925287" y="1143000"/>
            <a:chExt cx="6618513" cy="4315816"/>
          </a:xfrm>
          <a:solidFill>
            <a:schemeClr val="bg1">
              <a:lumMod val="95000"/>
            </a:schemeClr>
          </a:solidFill>
        </p:grpSpPr>
        <p:grpSp>
          <p:nvGrpSpPr>
            <p:cNvPr id="210" name="Group 209"/>
            <p:cNvGrpSpPr/>
            <p:nvPr/>
          </p:nvGrpSpPr>
          <p:grpSpPr>
            <a:xfrm>
              <a:off x="925287" y="1143000"/>
              <a:ext cx="6618513" cy="958268"/>
              <a:chOff x="-65314" y="1093291"/>
              <a:chExt cx="6618513" cy="958268"/>
            </a:xfrm>
            <a:grpFill/>
          </p:grpSpPr>
          <p:sp>
            <p:nvSpPr>
              <p:cNvPr id="229" name="Freeform 228"/>
              <p:cNvSpPr/>
              <p:nvPr/>
            </p:nvSpPr>
            <p:spPr>
              <a:xfrm>
                <a:off x="-65314" y="1093291"/>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grpFill/>
              <a:ln>
                <a:solidFill>
                  <a:schemeClr val="bg1">
                    <a:lumMod val="95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chemeClr val="bg1">
                        <a:lumMod val="65000"/>
                      </a:schemeClr>
                    </a:solidFill>
                  </a:rPr>
                  <a:t>1</a:t>
                </a:r>
              </a:p>
            </p:txBody>
          </p:sp>
          <p:sp>
            <p:nvSpPr>
              <p:cNvPr id="230" name="Freeform 229"/>
              <p:cNvSpPr/>
              <p:nvPr/>
            </p:nvSpPr>
            <p:spPr>
              <a:xfrm>
                <a:off x="1127986" y="1093293"/>
                <a:ext cx="5425213" cy="622873"/>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grpFill/>
              <a:ln>
                <a:solidFill>
                  <a:schemeClr val="bg1">
                    <a:lumMod val="95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1" numCol="1" spcCol="1270" anchor="ctr" anchorCtr="0">
                <a:noAutofit/>
              </a:bodyPr>
              <a:lstStyle/>
              <a:p>
                <a:pPr marL="0" lvl="1" algn="l" defTabSz="755650">
                  <a:lnSpc>
                    <a:spcPct val="90000"/>
                  </a:lnSpc>
                  <a:spcBef>
                    <a:spcPct val="0"/>
                  </a:spcBef>
                  <a:spcAft>
                    <a:spcPct val="15000"/>
                  </a:spcAft>
                </a:pPr>
                <a:r>
                  <a:rPr lang="en-GB" sz="1600" kern="1200" dirty="0">
                    <a:solidFill>
                      <a:schemeClr val="bg1">
                        <a:lumMod val="65000"/>
                      </a:schemeClr>
                    </a:solidFill>
                  </a:rPr>
                  <a:t>State your null hypothesis (H</a:t>
                </a:r>
                <a:r>
                  <a:rPr lang="en-GB" sz="1600" kern="1200" baseline="-25000" dirty="0">
                    <a:solidFill>
                      <a:schemeClr val="bg1">
                        <a:lumMod val="65000"/>
                      </a:schemeClr>
                    </a:solidFill>
                  </a:rPr>
                  <a:t>0</a:t>
                </a:r>
                <a:r>
                  <a:rPr lang="en-GB" sz="1600" kern="1200" baseline="0" dirty="0">
                    <a:solidFill>
                      <a:schemeClr val="bg1">
                        <a:lumMod val="65000"/>
                      </a:schemeClr>
                    </a:solidFill>
                  </a:rPr>
                  <a:t>)</a:t>
                </a:r>
              </a:p>
            </p:txBody>
          </p:sp>
        </p:grpSp>
        <p:grpSp>
          <p:nvGrpSpPr>
            <p:cNvPr id="211" name="Group 210"/>
            <p:cNvGrpSpPr/>
            <p:nvPr/>
          </p:nvGrpSpPr>
          <p:grpSpPr>
            <a:xfrm>
              <a:off x="925287" y="1982387"/>
              <a:ext cx="6618513" cy="958268"/>
              <a:chOff x="-65314" y="1932678"/>
              <a:chExt cx="6618513" cy="958268"/>
            </a:xfrm>
            <a:grpFill/>
          </p:grpSpPr>
          <p:sp>
            <p:nvSpPr>
              <p:cNvPr id="227" name="Freeform 226"/>
              <p:cNvSpPr/>
              <p:nvPr/>
            </p:nvSpPr>
            <p:spPr>
              <a:xfrm>
                <a:off x="-65314" y="1932678"/>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solidFill>
                <a:schemeClr val="accent1"/>
              </a:solidFill>
              <a:ln>
                <a:solidFill>
                  <a:schemeClr val="accent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chemeClr val="bg1"/>
                    </a:solidFill>
                  </a:rPr>
                  <a:t>2</a:t>
                </a:r>
              </a:p>
            </p:txBody>
          </p:sp>
          <p:sp>
            <p:nvSpPr>
              <p:cNvPr id="228" name="Freeform 227"/>
              <p:cNvSpPr/>
              <p:nvPr/>
            </p:nvSpPr>
            <p:spPr>
              <a:xfrm>
                <a:off x="1127986" y="1932680"/>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solidFill>
                <a:schemeClr val="bg1"/>
              </a:solidFill>
              <a:ln>
                <a:solidFill>
                  <a:schemeClr val="accent1"/>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defTabSz="755650">
                  <a:lnSpc>
                    <a:spcPct val="90000"/>
                  </a:lnSpc>
                  <a:spcBef>
                    <a:spcPct val="0"/>
                  </a:spcBef>
                  <a:spcAft>
                    <a:spcPct val="15000"/>
                  </a:spcAft>
                </a:pPr>
                <a:r>
                  <a:rPr lang="en-GB" sz="1600" b="1" dirty="0">
                    <a:solidFill>
                      <a:schemeClr val="tx1"/>
                    </a:solidFill>
                  </a:rPr>
                  <a:t>Calculate test statistic </a:t>
                </a:r>
                <a:r>
                  <a:rPr lang="en-GB" sz="1600" dirty="0">
                    <a:solidFill>
                      <a:schemeClr val="tx1"/>
                    </a:solidFill>
                  </a:rPr>
                  <a:t>from data (stat.)</a:t>
                </a:r>
              </a:p>
            </p:txBody>
          </p:sp>
        </p:grpSp>
        <p:grpSp>
          <p:nvGrpSpPr>
            <p:cNvPr id="214" name="Group 213"/>
            <p:cNvGrpSpPr/>
            <p:nvPr/>
          </p:nvGrpSpPr>
          <p:grpSpPr>
            <a:xfrm>
              <a:off x="925287" y="2821774"/>
              <a:ext cx="6618513" cy="958268"/>
              <a:chOff x="-65314" y="2772065"/>
              <a:chExt cx="6618513" cy="958268"/>
            </a:xfrm>
            <a:grpFill/>
          </p:grpSpPr>
          <p:sp>
            <p:nvSpPr>
              <p:cNvPr id="223" name="Freeform 222"/>
              <p:cNvSpPr/>
              <p:nvPr/>
            </p:nvSpPr>
            <p:spPr>
              <a:xfrm>
                <a:off x="-65314" y="2772065"/>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solidFill>
                <a:schemeClr val="accent1"/>
              </a:solidFill>
              <a:ln>
                <a:solidFill>
                  <a:schemeClr val="accent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chemeClr val="bg1"/>
                    </a:solidFill>
                  </a:rPr>
                  <a:t>3</a:t>
                </a:r>
              </a:p>
            </p:txBody>
          </p:sp>
          <p:sp>
            <p:nvSpPr>
              <p:cNvPr id="224" name="Freeform 223"/>
              <p:cNvSpPr/>
              <p:nvPr/>
            </p:nvSpPr>
            <p:spPr>
              <a:xfrm>
                <a:off x="1127986" y="2772067"/>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solidFill>
                <a:schemeClr val="bg1"/>
              </a:solidFill>
              <a:ln>
                <a:solidFill>
                  <a:schemeClr val="accent1"/>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defTabSz="755650">
                  <a:lnSpc>
                    <a:spcPct val="90000"/>
                  </a:lnSpc>
                  <a:spcBef>
                    <a:spcPct val="0"/>
                  </a:spcBef>
                  <a:spcAft>
                    <a:spcPct val="15000"/>
                  </a:spcAft>
                </a:pPr>
                <a:r>
                  <a:rPr lang="en-GB" sz="1600" b="1" dirty="0">
                    <a:solidFill>
                      <a:schemeClr val="tx1"/>
                    </a:solidFill>
                  </a:rPr>
                  <a:t>Choose </a:t>
                </a:r>
                <a:r>
                  <a:rPr lang="en-GB" sz="1600" dirty="0">
                    <a:solidFill>
                      <a:schemeClr val="tx1"/>
                    </a:solidFill>
                  </a:rPr>
                  <a:t>a level of </a:t>
                </a:r>
                <a:r>
                  <a:rPr lang="en-GB" sz="1600" b="1" dirty="0">
                    <a:solidFill>
                      <a:schemeClr val="tx1"/>
                    </a:solidFill>
                  </a:rPr>
                  <a:t>significance</a:t>
                </a:r>
                <a:r>
                  <a:rPr lang="en-GB" sz="1600" dirty="0">
                    <a:solidFill>
                      <a:schemeClr val="tx1"/>
                    </a:solidFill>
                  </a:rPr>
                  <a:t> (</a:t>
                </a:r>
                <a:r>
                  <a:rPr lang="el-GR" sz="1600" dirty="0">
                    <a:solidFill>
                      <a:schemeClr val="tx1"/>
                    </a:solidFill>
                  </a:rPr>
                  <a:t>α</a:t>
                </a:r>
                <a:r>
                  <a:rPr lang="en-GB" sz="1600" dirty="0">
                    <a:solidFill>
                      <a:schemeClr val="tx1"/>
                    </a:solidFill>
                  </a:rPr>
                  <a:t>)</a:t>
                </a:r>
              </a:p>
            </p:txBody>
          </p:sp>
        </p:grpSp>
        <p:grpSp>
          <p:nvGrpSpPr>
            <p:cNvPr id="215" name="Group 214"/>
            <p:cNvGrpSpPr/>
            <p:nvPr/>
          </p:nvGrpSpPr>
          <p:grpSpPr>
            <a:xfrm>
              <a:off x="925287" y="3661161"/>
              <a:ext cx="6618513" cy="958268"/>
              <a:chOff x="-65314" y="3611452"/>
              <a:chExt cx="6618513" cy="958268"/>
            </a:xfrm>
            <a:grpFill/>
          </p:grpSpPr>
          <p:sp>
            <p:nvSpPr>
              <p:cNvPr id="221" name="Freeform 220"/>
              <p:cNvSpPr/>
              <p:nvPr/>
            </p:nvSpPr>
            <p:spPr>
              <a:xfrm>
                <a:off x="-65314" y="3611452"/>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solidFill>
                <a:schemeClr val="accent1"/>
              </a:solidFill>
              <a:ln>
                <a:solidFill>
                  <a:schemeClr val="accent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baseline="0" dirty="0">
                    <a:solidFill>
                      <a:schemeClr val="bg1"/>
                    </a:solidFill>
                  </a:rPr>
                  <a:t>4</a:t>
                </a:r>
              </a:p>
            </p:txBody>
          </p:sp>
          <p:sp>
            <p:nvSpPr>
              <p:cNvPr id="222" name="Freeform 221"/>
              <p:cNvSpPr/>
              <p:nvPr/>
            </p:nvSpPr>
            <p:spPr>
              <a:xfrm>
                <a:off x="1127986" y="3611453"/>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solidFill>
                <a:schemeClr val="bg1"/>
              </a:solidFill>
              <a:ln>
                <a:solidFill>
                  <a:schemeClr val="accent1"/>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algn="l" defTabSz="755650">
                  <a:lnSpc>
                    <a:spcPct val="90000"/>
                  </a:lnSpc>
                  <a:spcBef>
                    <a:spcPct val="0"/>
                  </a:spcBef>
                  <a:spcAft>
                    <a:spcPct val="15000"/>
                  </a:spcAft>
                </a:pPr>
                <a:r>
                  <a:rPr lang="en-GB" sz="1600" b="1" kern="1200" baseline="0" dirty="0">
                    <a:solidFill>
                      <a:schemeClr val="tx1"/>
                    </a:solidFill>
                  </a:rPr>
                  <a:t>Lookup </a:t>
                </a:r>
                <a:r>
                  <a:rPr lang="en-GB" sz="1600" kern="1200" baseline="0" dirty="0">
                    <a:solidFill>
                      <a:schemeClr val="tx1"/>
                    </a:solidFill>
                  </a:rPr>
                  <a:t>the</a:t>
                </a:r>
                <a:r>
                  <a:rPr lang="en-GB" sz="1600" b="1" kern="1200" baseline="0" dirty="0">
                    <a:solidFill>
                      <a:schemeClr val="tx1"/>
                    </a:solidFill>
                  </a:rPr>
                  <a:t> </a:t>
                </a:r>
                <a:r>
                  <a:rPr lang="en-GB" sz="1600" b="0" kern="1200" baseline="0" dirty="0">
                    <a:solidFill>
                      <a:schemeClr val="tx1"/>
                    </a:solidFill>
                  </a:rPr>
                  <a:t>critical value or the p-value</a:t>
                </a:r>
                <a:endParaRPr lang="en-GB" sz="1600" kern="1200" baseline="0" dirty="0">
                  <a:solidFill>
                    <a:schemeClr val="tx1"/>
                  </a:solidFill>
                </a:endParaRPr>
              </a:p>
            </p:txBody>
          </p:sp>
        </p:grpSp>
        <p:grpSp>
          <p:nvGrpSpPr>
            <p:cNvPr id="217" name="Group 216"/>
            <p:cNvGrpSpPr/>
            <p:nvPr/>
          </p:nvGrpSpPr>
          <p:grpSpPr>
            <a:xfrm>
              <a:off x="925287" y="4500548"/>
              <a:ext cx="6618513" cy="958268"/>
              <a:chOff x="-65314" y="4450839"/>
              <a:chExt cx="6618513" cy="958268"/>
            </a:xfrm>
            <a:grpFill/>
          </p:grpSpPr>
          <p:sp>
            <p:nvSpPr>
              <p:cNvPr id="219" name="Freeform 218"/>
              <p:cNvSpPr/>
              <p:nvPr/>
            </p:nvSpPr>
            <p:spPr>
              <a:xfrm>
                <a:off x="-65314" y="4450839"/>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solidFill>
                <a:schemeClr val="accent1"/>
              </a:solidFill>
              <a:ln>
                <a:solidFill>
                  <a:schemeClr val="accent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baseline="0" dirty="0">
                    <a:solidFill>
                      <a:schemeClr val="bg1"/>
                    </a:solidFill>
                  </a:rPr>
                  <a:t>5</a:t>
                </a:r>
              </a:p>
            </p:txBody>
          </p:sp>
          <p:sp>
            <p:nvSpPr>
              <p:cNvPr id="220" name="Freeform 219"/>
              <p:cNvSpPr/>
              <p:nvPr/>
            </p:nvSpPr>
            <p:spPr>
              <a:xfrm>
                <a:off x="1127986" y="4450840"/>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solidFill>
                <a:schemeClr val="bg1"/>
              </a:solidFill>
              <a:ln>
                <a:solidFill>
                  <a:schemeClr val="accent1"/>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algn="l" defTabSz="755650">
                  <a:lnSpc>
                    <a:spcPct val="90000"/>
                  </a:lnSpc>
                  <a:spcBef>
                    <a:spcPct val="0"/>
                  </a:spcBef>
                  <a:spcAft>
                    <a:spcPct val="15000"/>
                  </a:spcAft>
                </a:pPr>
                <a:r>
                  <a:rPr lang="en-GB" sz="1600" b="1" kern="1200" baseline="0" dirty="0">
                    <a:solidFill>
                      <a:schemeClr val="tx1"/>
                    </a:solidFill>
                  </a:rPr>
                  <a:t>Reject</a:t>
                </a:r>
                <a:r>
                  <a:rPr lang="en-GB" sz="1600" kern="1200" baseline="0" dirty="0">
                    <a:solidFill>
                      <a:schemeClr val="tx1"/>
                    </a:solidFill>
                  </a:rPr>
                  <a:t> </a:t>
                </a:r>
                <a:r>
                  <a:rPr lang="en-GB" sz="1600" kern="1200" dirty="0">
                    <a:solidFill>
                      <a:schemeClr val="tx1"/>
                    </a:solidFill>
                  </a:rPr>
                  <a:t>H</a:t>
                </a:r>
                <a:r>
                  <a:rPr lang="en-GB" sz="1600" kern="1200" baseline="-25000" dirty="0">
                    <a:solidFill>
                      <a:schemeClr val="tx1"/>
                    </a:solidFill>
                  </a:rPr>
                  <a:t>0</a:t>
                </a:r>
                <a:r>
                  <a:rPr lang="en-GB" sz="1600" kern="1200" baseline="0" dirty="0">
                    <a:solidFill>
                      <a:schemeClr val="tx1"/>
                    </a:solidFill>
                  </a:rPr>
                  <a:t> or </a:t>
                </a:r>
                <a:r>
                  <a:rPr lang="en-GB" sz="1600" b="1" kern="1200" baseline="0" dirty="0">
                    <a:solidFill>
                      <a:schemeClr val="tx1"/>
                    </a:solidFill>
                  </a:rPr>
                  <a:t>Fail</a:t>
                </a:r>
                <a:r>
                  <a:rPr lang="en-GB" sz="1600" b="1" kern="1200" dirty="0">
                    <a:solidFill>
                      <a:schemeClr val="tx1"/>
                    </a:solidFill>
                  </a:rPr>
                  <a:t> to </a:t>
                </a:r>
                <a:r>
                  <a:rPr lang="en-GB" sz="1600" kern="1200" dirty="0">
                    <a:solidFill>
                      <a:schemeClr val="tx1"/>
                    </a:solidFill>
                  </a:rPr>
                  <a:t>Reject</a:t>
                </a:r>
                <a:r>
                  <a:rPr lang="en-GB" sz="1600" kern="1200" baseline="0" dirty="0">
                    <a:solidFill>
                      <a:schemeClr val="tx1"/>
                    </a:solidFill>
                  </a:rPr>
                  <a:t> </a:t>
                </a:r>
              </a:p>
            </p:txBody>
          </p:sp>
        </p:grpSp>
      </p:grpSp>
      <p:grpSp>
        <p:nvGrpSpPr>
          <p:cNvPr id="231" name="Group 230"/>
          <p:cNvGrpSpPr/>
          <p:nvPr/>
        </p:nvGrpSpPr>
        <p:grpSpPr>
          <a:xfrm>
            <a:off x="6248400" y="152399"/>
            <a:ext cx="2743199" cy="693685"/>
            <a:chOff x="-65314" y="1093291"/>
            <a:chExt cx="6618513" cy="958268"/>
          </a:xfrm>
        </p:grpSpPr>
        <p:sp>
          <p:nvSpPr>
            <p:cNvPr id="232" name="Freeform 231"/>
            <p:cNvSpPr/>
            <p:nvPr/>
          </p:nvSpPr>
          <p:spPr>
            <a:xfrm>
              <a:off x="-65314" y="1093291"/>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t>1</a:t>
              </a:r>
            </a:p>
          </p:txBody>
        </p:sp>
        <p:sp>
          <p:nvSpPr>
            <p:cNvPr id="233" name="Freeform 232"/>
            <p:cNvSpPr/>
            <p:nvPr/>
          </p:nvSpPr>
          <p:spPr>
            <a:xfrm>
              <a:off x="1127986" y="1093293"/>
              <a:ext cx="5425213" cy="622873"/>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1" numCol="1" spcCol="1270" anchor="ctr" anchorCtr="0">
              <a:noAutofit/>
            </a:bodyPr>
            <a:lstStyle/>
            <a:p>
              <a:pPr marL="0" lvl="1" algn="l" defTabSz="755650">
                <a:lnSpc>
                  <a:spcPct val="90000"/>
                </a:lnSpc>
                <a:spcBef>
                  <a:spcPct val="0"/>
                </a:spcBef>
                <a:spcAft>
                  <a:spcPct val="15000"/>
                </a:spcAft>
              </a:pPr>
              <a:r>
                <a:rPr lang="en-GB" sz="1600" kern="1200" dirty="0"/>
                <a:t>State your null hypothesis (H</a:t>
              </a:r>
              <a:r>
                <a:rPr lang="en-GB" sz="1600" kern="1200" baseline="-25000" dirty="0"/>
                <a:t>0</a:t>
              </a:r>
              <a:r>
                <a:rPr lang="en-GB" sz="1600" kern="1200" baseline="0" dirty="0"/>
                <a:t>)</a:t>
              </a:r>
            </a:p>
          </p:txBody>
        </p:sp>
      </p:grpSp>
      <mc:AlternateContent xmlns:mc="http://schemas.openxmlformats.org/markup-compatibility/2006" xmlns:a14="http://schemas.microsoft.com/office/drawing/2010/main">
        <mc:Choice Requires="a14">
          <p:sp>
            <p:nvSpPr>
              <p:cNvPr id="39" name="Rectangle 38"/>
              <p:cNvSpPr/>
              <p:nvPr/>
            </p:nvSpPr>
            <p:spPr>
              <a:xfrm>
                <a:off x="1934184" y="4812268"/>
                <a:ext cx="43005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i="1">
                          <a:latin typeface="Cambria Math"/>
                          <a:ea typeface="Cambria Math"/>
                        </a:rPr>
                        <m:t>𝜋</m:t>
                      </m:r>
                      <m:r>
                        <a:rPr lang="en-GB" i="1">
                          <a:latin typeface="Cambria Math"/>
                          <a:ea typeface="Cambria Math"/>
                        </a:rPr>
                        <m:t> </m:t>
                      </m:r>
                    </m:oMath>
                  </m:oMathPara>
                </a14:m>
                <a:endParaRPr lang="en-GB" b="1" dirty="0">
                  <a:solidFill>
                    <a:schemeClr val="accent6">
                      <a:lumMod val="75000"/>
                    </a:schemeClr>
                  </a:solidFill>
                </a:endParaRPr>
              </a:p>
            </p:txBody>
          </p:sp>
        </mc:Choice>
        <mc:Fallback xmlns="">
          <p:sp>
            <p:nvSpPr>
              <p:cNvPr id="39" name="Rectangle 38"/>
              <p:cNvSpPr>
                <a:spLocks noRot="1" noChangeAspect="1" noMove="1" noResize="1" noEditPoints="1" noAdjustHandles="1" noChangeArrowheads="1" noChangeShapeType="1" noTextEdit="1"/>
              </p:cNvSpPr>
              <p:nvPr/>
            </p:nvSpPr>
            <p:spPr>
              <a:xfrm>
                <a:off x="1934184" y="4812268"/>
                <a:ext cx="430053" cy="369332"/>
              </a:xfrm>
              <a:prstGeom prst="rect">
                <a:avLst/>
              </a:prstGeom>
              <a:blipFill rotWithShape="1">
                <a:blip r:embed="rId4"/>
                <a:stretch>
                  <a:fillRect/>
                </a:stretch>
              </a:blipFill>
            </p:spPr>
            <p:txBody>
              <a:bodyPr/>
              <a:lstStyle/>
              <a:p>
                <a:r>
                  <a:rPr lang="en-GB">
                    <a:noFill/>
                  </a:rPr>
                  <a:t> </a:t>
                </a:r>
              </a:p>
            </p:txBody>
          </p:sp>
        </mc:Fallback>
      </mc:AlternateContent>
      <p:cxnSp>
        <p:nvCxnSpPr>
          <p:cNvPr id="40" name="Straight Arrow Connector 39"/>
          <p:cNvCxnSpPr/>
          <p:nvPr/>
        </p:nvCxnSpPr>
        <p:spPr>
          <a:xfrm flipH="1">
            <a:off x="457200" y="4755647"/>
            <a:ext cx="5791200" cy="1"/>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41" name="Rectangle 40"/>
          <p:cNvSpPr/>
          <p:nvPr/>
        </p:nvSpPr>
        <p:spPr>
          <a:xfrm>
            <a:off x="228600" y="4800600"/>
            <a:ext cx="301686" cy="369332"/>
          </a:xfrm>
          <a:prstGeom prst="rect">
            <a:avLst/>
          </a:prstGeom>
        </p:spPr>
        <p:txBody>
          <a:bodyPr wrap="none">
            <a:spAutoFit/>
          </a:bodyPr>
          <a:lstStyle/>
          <a:p>
            <a:r>
              <a:rPr lang="en-GB" b="1" dirty="0">
                <a:solidFill>
                  <a:schemeClr val="accent6">
                    <a:lumMod val="75000"/>
                  </a:schemeClr>
                </a:solidFill>
              </a:rPr>
              <a:t>0</a:t>
            </a:r>
          </a:p>
        </p:txBody>
      </p:sp>
      <p:sp>
        <p:nvSpPr>
          <p:cNvPr id="42" name="Rectangle 41"/>
          <p:cNvSpPr/>
          <p:nvPr/>
        </p:nvSpPr>
        <p:spPr>
          <a:xfrm>
            <a:off x="6099114" y="4800600"/>
            <a:ext cx="301686" cy="369332"/>
          </a:xfrm>
          <a:prstGeom prst="rect">
            <a:avLst/>
          </a:prstGeom>
        </p:spPr>
        <p:txBody>
          <a:bodyPr wrap="none">
            <a:spAutoFit/>
          </a:bodyPr>
          <a:lstStyle/>
          <a:p>
            <a:r>
              <a:rPr lang="en-GB" b="1" dirty="0">
                <a:solidFill>
                  <a:schemeClr val="accent6">
                    <a:lumMod val="75000"/>
                  </a:schemeClr>
                </a:solidFill>
              </a:rPr>
              <a:t>1</a:t>
            </a:r>
          </a:p>
        </p:txBody>
      </p:sp>
      <p:grpSp>
        <p:nvGrpSpPr>
          <p:cNvPr id="58" name="Group 57"/>
          <p:cNvGrpSpPr/>
          <p:nvPr/>
        </p:nvGrpSpPr>
        <p:grpSpPr>
          <a:xfrm>
            <a:off x="2133600" y="3514928"/>
            <a:ext cx="580416" cy="447472"/>
            <a:chOff x="2123872" y="3514928"/>
            <a:chExt cx="580416" cy="447472"/>
          </a:xfrm>
        </p:grpSpPr>
        <p:cxnSp>
          <p:nvCxnSpPr>
            <p:cNvPr id="59" name="Straight Arrow Connector 58"/>
            <p:cNvCxnSpPr/>
            <p:nvPr/>
          </p:nvCxnSpPr>
          <p:spPr>
            <a:xfrm flipV="1">
              <a:off x="2704288" y="3521271"/>
              <a:ext cx="0" cy="441129"/>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Arrow Connector 59"/>
            <p:cNvCxnSpPr/>
            <p:nvPr/>
          </p:nvCxnSpPr>
          <p:spPr>
            <a:xfrm flipV="1">
              <a:off x="2123872" y="3514928"/>
              <a:ext cx="0" cy="447472"/>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1" name="Straight Arrow Connector 60"/>
            <p:cNvCxnSpPr/>
            <p:nvPr/>
          </p:nvCxnSpPr>
          <p:spPr>
            <a:xfrm>
              <a:off x="2152905" y="3733800"/>
              <a:ext cx="551383" cy="1"/>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grpSp>
      <p:grpSp>
        <p:nvGrpSpPr>
          <p:cNvPr id="67" name="Group 66"/>
          <p:cNvGrpSpPr/>
          <p:nvPr/>
        </p:nvGrpSpPr>
        <p:grpSpPr>
          <a:xfrm>
            <a:off x="1058430" y="3514928"/>
            <a:ext cx="2198714" cy="447472"/>
            <a:chOff x="1048702" y="3514928"/>
            <a:chExt cx="2198714" cy="447472"/>
          </a:xfrm>
        </p:grpSpPr>
        <p:grpSp>
          <p:nvGrpSpPr>
            <p:cNvPr id="68" name="Group 67"/>
            <p:cNvGrpSpPr/>
            <p:nvPr/>
          </p:nvGrpSpPr>
          <p:grpSpPr>
            <a:xfrm>
              <a:off x="1590472" y="3514928"/>
              <a:ext cx="541770" cy="447472"/>
              <a:chOff x="1590472" y="3514928"/>
              <a:chExt cx="1113816" cy="447472"/>
            </a:xfrm>
          </p:grpSpPr>
          <p:cxnSp>
            <p:nvCxnSpPr>
              <p:cNvPr id="82" name="Straight Arrow Connector 81"/>
              <p:cNvCxnSpPr/>
              <p:nvPr/>
            </p:nvCxnSpPr>
            <p:spPr>
              <a:xfrm flipV="1">
                <a:off x="1590472" y="3514928"/>
                <a:ext cx="0" cy="447472"/>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3" name="Straight Arrow Connector 82"/>
              <p:cNvCxnSpPr/>
              <p:nvPr/>
            </p:nvCxnSpPr>
            <p:spPr>
              <a:xfrm>
                <a:off x="1590472" y="3733800"/>
                <a:ext cx="1113816" cy="0"/>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grpSp>
        <p:grpSp>
          <p:nvGrpSpPr>
            <p:cNvPr id="69" name="Group 68"/>
            <p:cNvGrpSpPr/>
            <p:nvPr/>
          </p:nvGrpSpPr>
          <p:grpSpPr>
            <a:xfrm>
              <a:off x="2152905" y="3521271"/>
              <a:ext cx="551383" cy="441129"/>
              <a:chOff x="2152905" y="3521271"/>
              <a:chExt cx="551383" cy="441129"/>
            </a:xfrm>
          </p:grpSpPr>
          <p:cxnSp>
            <p:nvCxnSpPr>
              <p:cNvPr id="78" name="Straight Arrow Connector 77"/>
              <p:cNvCxnSpPr/>
              <p:nvPr/>
            </p:nvCxnSpPr>
            <p:spPr>
              <a:xfrm flipV="1">
                <a:off x="2704288" y="3521271"/>
                <a:ext cx="0" cy="441129"/>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0" name="Straight Arrow Connector 79"/>
              <p:cNvCxnSpPr/>
              <p:nvPr/>
            </p:nvCxnSpPr>
            <p:spPr>
              <a:xfrm>
                <a:off x="2152905" y="3733800"/>
                <a:ext cx="551383" cy="1"/>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grpSp>
        <p:grpSp>
          <p:nvGrpSpPr>
            <p:cNvPr id="70" name="Group 69"/>
            <p:cNvGrpSpPr/>
            <p:nvPr/>
          </p:nvGrpSpPr>
          <p:grpSpPr>
            <a:xfrm>
              <a:off x="1048702" y="3514928"/>
              <a:ext cx="541770" cy="447472"/>
              <a:chOff x="1590472" y="3514928"/>
              <a:chExt cx="1113816" cy="447472"/>
            </a:xfrm>
          </p:grpSpPr>
          <p:cxnSp>
            <p:nvCxnSpPr>
              <p:cNvPr id="75" name="Straight Arrow Connector 74"/>
              <p:cNvCxnSpPr/>
              <p:nvPr/>
            </p:nvCxnSpPr>
            <p:spPr>
              <a:xfrm flipV="1">
                <a:off x="2704288" y="3521271"/>
                <a:ext cx="0" cy="441129"/>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6" name="Straight Arrow Connector 75"/>
              <p:cNvCxnSpPr/>
              <p:nvPr/>
            </p:nvCxnSpPr>
            <p:spPr>
              <a:xfrm flipV="1">
                <a:off x="1590472" y="3514928"/>
                <a:ext cx="0" cy="447472"/>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7" name="Straight Arrow Connector 76"/>
              <p:cNvCxnSpPr/>
              <p:nvPr/>
            </p:nvCxnSpPr>
            <p:spPr>
              <a:xfrm>
                <a:off x="1590472" y="3733800"/>
                <a:ext cx="1113816" cy="0"/>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grpSp>
        <p:grpSp>
          <p:nvGrpSpPr>
            <p:cNvPr id="71" name="Group 70"/>
            <p:cNvGrpSpPr/>
            <p:nvPr/>
          </p:nvGrpSpPr>
          <p:grpSpPr>
            <a:xfrm>
              <a:off x="2705646" y="3514928"/>
              <a:ext cx="541770" cy="447472"/>
              <a:chOff x="1590472" y="3514928"/>
              <a:chExt cx="1113816" cy="447472"/>
            </a:xfrm>
          </p:grpSpPr>
          <p:cxnSp>
            <p:nvCxnSpPr>
              <p:cNvPr id="72" name="Straight Arrow Connector 71"/>
              <p:cNvCxnSpPr/>
              <p:nvPr/>
            </p:nvCxnSpPr>
            <p:spPr>
              <a:xfrm flipV="1">
                <a:off x="2704288" y="3521271"/>
                <a:ext cx="0" cy="441129"/>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3" name="Straight Arrow Connector 72"/>
              <p:cNvCxnSpPr/>
              <p:nvPr/>
            </p:nvCxnSpPr>
            <p:spPr>
              <a:xfrm flipV="1">
                <a:off x="1590472" y="3514928"/>
                <a:ext cx="0" cy="447472"/>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4" name="Straight Arrow Connector 73"/>
              <p:cNvCxnSpPr/>
              <p:nvPr/>
            </p:nvCxnSpPr>
            <p:spPr>
              <a:xfrm>
                <a:off x="1590472" y="3733800"/>
                <a:ext cx="1113816" cy="0"/>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grpSp>
      </p:grpSp>
      <mc:AlternateContent xmlns:mc="http://schemas.openxmlformats.org/markup-compatibility/2006" xmlns:a14="http://schemas.microsoft.com/office/drawing/2010/main">
        <mc:Choice Requires="a14">
          <p:sp>
            <p:nvSpPr>
              <p:cNvPr id="84" name="Rectangular Callout 83"/>
              <p:cNvSpPr/>
              <p:nvPr/>
            </p:nvSpPr>
            <p:spPr>
              <a:xfrm>
                <a:off x="4191000" y="3841774"/>
                <a:ext cx="1371600" cy="469851"/>
              </a:xfrm>
              <a:prstGeom prst="wedgeRectCallout">
                <a:avLst>
                  <a:gd name="adj1" fmla="val -94591"/>
                  <a:gd name="adj2" fmla="val 128752"/>
                </a:avLst>
              </a:prstGeom>
            </p:spPr>
            <p:style>
              <a:lnRef idx="1">
                <a:schemeClr val="accent2"/>
              </a:lnRef>
              <a:fillRef idx="2">
                <a:schemeClr val="accent2"/>
              </a:fillRef>
              <a:effectRef idx="1">
                <a:schemeClr val="accent2"/>
              </a:effectRef>
              <a:fontRef idx="minor">
                <a:schemeClr val="dk1"/>
              </a:fontRef>
            </p:style>
            <p:txBody>
              <a:bodyPr rtlCol="0" anchor="ctr"/>
              <a:lstStyle/>
              <a:p>
                <a:pPr algn="ctr"/>
                <a14:m>
                  <m:oMath xmlns:m="http://schemas.openxmlformats.org/officeDocument/2006/math">
                    <m:r>
                      <a:rPr lang="en-GB" sz="2000" b="0" i="1" smtClean="0">
                        <a:latin typeface="Cambria Math"/>
                        <a:ea typeface="Cambria Math"/>
                      </a:rPr>
                      <m:t>2.5%</m:t>
                    </m:r>
                  </m:oMath>
                </a14:m>
                <a:r>
                  <a:rPr lang="en-GB" sz="2000" dirty="0"/>
                  <a:t> area</a:t>
                </a:r>
              </a:p>
            </p:txBody>
          </p:sp>
        </mc:Choice>
        <mc:Fallback xmlns="">
          <p:sp>
            <p:nvSpPr>
              <p:cNvPr id="84" name="Rectangular Callout 83"/>
              <p:cNvSpPr>
                <a:spLocks noRot="1" noChangeAspect="1" noMove="1" noResize="1" noEditPoints="1" noAdjustHandles="1" noChangeArrowheads="1" noChangeShapeType="1" noTextEdit="1"/>
              </p:cNvSpPr>
              <p:nvPr/>
            </p:nvSpPr>
            <p:spPr>
              <a:xfrm>
                <a:off x="4191000" y="3841774"/>
                <a:ext cx="1371600" cy="469851"/>
              </a:xfrm>
              <a:prstGeom prst="wedgeRectCallout">
                <a:avLst>
                  <a:gd name="adj1" fmla="val -94591"/>
                  <a:gd name="adj2" fmla="val 128752"/>
                </a:avLst>
              </a:prstGeom>
              <a:blipFill rotWithShape="1">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6" name="Rectangular Callout 85"/>
              <p:cNvSpPr/>
              <p:nvPr/>
            </p:nvSpPr>
            <p:spPr>
              <a:xfrm>
                <a:off x="3200400" y="2116780"/>
                <a:ext cx="1676400" cy="564206"/>
              </a:xfrm>
              <a:prstGeom prst="wedgeRectCallout">
                <a:avLst>
                  <a:gd name="adj1" fmla="val -99574"/>
                  <a:gd name="adj2" fmla="val 146066"/>
                </a:avLst>
              </a:prstGeom>
            </p:spPr>
            <p:style>
              <a:lnRef idx="1">
                <a:schemeClr val="accent2"/>
              </a:lnRef>
              <a:fillRef idx="2">
                <a:schemeClr val="accent2"/>
              </a:fillRef>
              <a:effectRef idx="1">
                <a:schemeClr val="accent2"/>
              </a:effectRef>
              <a:fontRef idx="minor">
                <a:schemeClr val="dk1"/>
              </a:fontRef>
            </p:style>
            <p:txBody>
              <a:bodyPr rtlCol="0" anchor="ctr"/>
              <a:lstStyle/>
              <a:p>
                <a:pPr algn="ctr"/>
                <a14:m>
                  <m:oMath xmlns:m="http://schemas.openxmlformats.org/officeDocument/2006/math">
                    <m:r>
                      <a:rPr lang="en-GB" sz="2000" b="0" i="1" smtClean="0">
                        <a:latin typeface="Cambria Math"/>
                        <a:ea typeface="Cambria Math"/>
                      </a:rPr>
                      <m:t>95%</m:t>
                    </m:r>
                  </m:oMath>
                </a14:m>
                <a:r>
                  <a:rPr lang="en-GB" sz="2000" dirty="0"/>
                  <a:t> of the covered area</a:t>
                </a:r>
              </a:p>
            </p:txBody>
          </p:sp>
        </mc:Choice>
        <mc:Fallback xmlns="">
          <p:sp>
            <p:nvSpPr>
              <p:cNvPr id="86" name="Rectangular Callout 85"/>
              <p:cNvSpPr>
                <a:spLocks noRot="1" noChangeAspect="1" noMove="1" noResize="1" noEditPoints="1" noAdjustHandles="1" noChangeArrowheads="1" noChangeShapeType="1" noTextEdit="1"/>
              </p:cNvSpPr>
              <p:nvPr/>
            </p:nvSpPr>
            <p:spPr>
              <a:xfrm>
                <a:off x="3200400" y="2116780"/>
                <a:ext cx="1676400" cy="564206"/>
              </a:xfrm>
              <a:prstGeom prst="wedgeRectCallout">
                <a:avLst>
                  <a:gd name="adj1" fmla="val -99574"/>
                  <a:gd name="adj2" fmla="val 146066"/>
                </a:avLst>
              </a:prstGeom>
              <a:blipFill rotWithShape="1">
                <a:blip r:embed="rId6"/>
                <a:stretch>
                  <a:fillRect/>
                </a:stretch>
              </a:blipFill>
            </p:spPr>
            <p:txBody>
              <a:bodyPr/>
              <a:lstStyle/>
              <a:p>
                <a:r>
                  <a:rPr lang="en-GB">
                    <a:noFill/>
                  </a:rPr>
                  <a:t> </a:t>
                </a:r>
              </a:p>
            </p:txBody>
          </p:sp>
        </mc:Fallback>
      </mc:AlternateContent>
      <p:cxnSp>
        <p:nvCxnSpPr>
          <p:cNvPr id="87" name="Straight Arrow Connector 86"/>
          <p:cNvCxnSpPr/>
          <p:nvPr/>
        </p:nvCxnSpPr>
        <p:spPr>
          <a:xfrm flipV="1">
            <a:off x="3247416" y="3276600"/>
            <a:ext cx="0" cy="1600201"/>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90" name="Rectangular Callout 89"/>
              <p:cNvSpPr/>
              <p:nvPr/>
            </p:nvSpPr>
            <p:spPr>
              <a:xfrm>
                <a:off x="3399818" y="4985266"/>
                <a:ext cx="1452192" cy="423770"/>
              </a:xfrm>
              <a:prstGeom prst="wedgeRectCallout">
                <a:avLst>
                  <a:gd name="adj1" fmla="val -59852"/>
                  <a:gd name="adj2" fmla="val -87141"/>
                </a:avLst>
              </a:prstGeom>
              <a:ln/>
            </p:spPr>
            <p:style>
              <a:lnRef idx="2">
                <a:schemeClr val="accent3"/>
              </a:lnRef>
              <a:fillRef idx="1">
                <a:schemeClr val="lt1"/>
              </a:fillRef>
              <a:effectRef idx="0">
                <a:schemeClr val="accent3"/>
              </a:effectRef>
              <a:fontRef idx="minor">
                <a:schemeClr val="dk1"/>
              </a:fontRef>
            </p:style>
            <p:txBody>
              <a:bodyPr wrap="none">
                <a:spAutoFit/>
              </a:bodyPr>
              <a:lstStyle/>
              <a:p>
                <a:pPr/>
                <a14:m>
                  <m:oMathPara xmlns:m="http://schemas.openxmlformats.org/officeDocument/2006/math">
                    <m:oMathParaPr>
                      <m:jc m:val="centerGroup"/>
                    </m:oMathParaPr>
                    <m:oMath xmlns:m="http://schemas.openxmlformats.org/officeDocument/2006/math">
                      <m:r>
                        <a:rPr lang="en-GB" sz="2000" i="1" smtClean="0">
                          <a:latin typeface="Cambria Math"/>
                          <a:ea typeface="Cambria Math"/>
                        </a:rPr>
                        <m:t>𝜋</m:t>
                      </m:r>
                      <m:r>
                        <a:rPr lang="en-GB" sz="2000" b="0" i="1" smtClean="0">
                          <a:latin typeface="Cambria Math"/>
                          <a:ea typeface="Cambria Math"/>
                        </a:rPr>
                        <m:t>+1.96</m:t>
                      </m:r>
                      <m:sSub>
                        <m:sSubPr>
                          <m:ctrlPr>
                            <a:rPr lang="en-GB" sz="2000" b="0" i="1" smtClean="0">
                              <a:latin typeface="Cambria Math" panose="02040503050406030204" pitchFamily="18" charset="0"/>
                              <a:ea typeface="Cambria Math"/>
                            </a:rPr>
                          </m:ctrlPr>
                        </m:sSubPr>
                        <m:e>
                          <m:r>
                            <a:rPr lang="en-GB" sz="2000" i="1">
                              <a:latin typeface="Cambria Math"/>
                              <a:ea typeface="Cambria Math"/>
                            </a:rPr>
                            <m:t>𝜎</m:t>
                          </m:r>
                        </m:e>
                        <m:sub>
                          <m:r>
                            <a:rPr lang="en-GB" sz="2000" b="0" i="1" smtClean="0">
                              <a:latin typeface="Cambria Math"/>
                              <a:ea typeface="Cambria Math"/>
                            </a:rPr>
                            <m:t>𝑝</m:t>
                          </m:r>
                        </m:sub>
                      </m:sSub>
                    </m:oMath>
                  </m:oMathPara>
                </a14:m>
                <a:endParaRPr lang="en-GB" sz="2000" b="1" dirty="0">
                  <a:solidFill>
                    <a:schemeClr val="accent6">
                      <a:lumMod val="75000"/>
                    </a:schemeClr>
                  </a:solidFill>
                </a:endParaRPr>
              </a:p>
            </p:txBody>
          </p:sp>
        </mc:Choice>
        <mc:Fallback xmlns="">
          <p:sp>
            <p:nvSpPr>
              <p:cNvPr id="90" name="Rectangular Callout 89"/>
              <p:cNvSpPr>
                <a:spLocks noRot="1" noChangeAspect="1" noMove="1" noResize="1" noEditPoints="1" noAdjustHandles="1" noChangeArrowheads="1" noChangeShapeType="1" noTextEdit="1"/>
              </p:cNvSpPr>
              <p:nvPr/>
            </p:nvSpPr>
            <p:spPr>
              <a:xfrm>
                <a:off x="3399818" y="4985266"/>
                <a:ext cx="1452192" cy="423770"/>
              </a:xfrm>
              <a:prstGeom prst="wedgeRectCallout">
                <a:avLst>
                  <a:gd name="adj1" fmla="val -59852"/>
                  <a:gd name="adj2" fmla="val -87141"/>
                </a:avLst>
              </a:prstGeom>
              <a:blipFill rotWithShape="1">
                <a:blip r:embed="rId7"/>
                <a:stretch>
                  <a:fillRect b="-2020"/>
                </a:stretch>
              </a:blip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3" name="Rectangular Callout 92"/>
              <p:cNvSpPr/>
              <p:nvPr/>
            </p:nvSpPr>
            <p:spPr>
              <a:xfrm>
                <a:off x="376608" y="4986430"/>
                <a:ext cx="1452192" cy="423770"/>
              </a:xfrm>
              <a:prstGeom prst="wedgeRectCallout">
                <a:avLst>
                  <a:gd name="adj1" fmla="val 2445"/>
                  <a:gd name="adj2" fmla="val -98619"/>
                </a:avLst>
              </a:prstGeom>
              <a:ln/>
            </p:spPr>
            <p:style>
              <a:lnRef idx="2">
                <a:schemeClr val="accent3"/>
              </a:lnRef>
              <a:fillRef idx="1">
                <a:schemeClr val="lt1"/>
              </a:fillRef>
              <a:effectRef idx="0">
                <a:schemeClr val="accent3"/>
              </a:effectRef>
              <a:fontRef idx="minor">
                <a:schemeClr val="dk1"/>
              </a:fontRef>
            </p:style>
            <p:txBody>
              <a:bodyPr wrap="none">
                <a:spAutoFit/>
              </a:bodyPr>
              <a:lstStyle/>
              <a:p>
                <a:pPr/>
                <a14:m>
                  <m:oMathPara xmlns:m="http://schemas.openxmlformats.org/officeDocument/2006/math">
                    <m:oMathParaPr>
                      <m:jc m:val="centerGroup"/>
                    </m:oMathParaPr>
                    <m:oMath xmlns:m="http://schemas.openxmlformats.org/officeDocument/2006/math">
                      <m:r>
                        <a:rPr lang="en-GB" sz="2000" i="1" smtClean="0">
                          <a:latin typeface="Cambria Math"/>
                          <a:ea typeface="Cambria Math"/>
                        </a:rPr>
                        <m:t>𝜋</m:t>
                      </m:r>
                      <m:r>
                        <a:rPr lang="en-GB" sz="2000" b="0" i="1" smtClean="0">
                          <a:latin typeface="Cambria Math"/>
                          <a:ea typeface="Cambria Math"/>
                        </a:rPr>
                        <m:t>−1.96</m:t>
                      </m:r>
                      <m:sSub>
                        <m:sSubPr>
                          <m:ctrlPr>
                            <a:rPr lang="en-GB" sz="2000" b="0" i="1" smtClean="0">
                              <a:latin typeface="Cambria Math" panose="02040503050406030204" pitchFamily="18" charset="0"/>
                              <a:ea typeface="Cambria Math"/>
                            </a:rPr>
                          </m:ctrlPr>
                        </m:sSubPr>
                        <m:e>
                          <m:r>
                            <a:rPr lang="en-GB" sz="2000" i="1">
                              <a:latin typeface="Cambria Math"/>
                              <a:ea typeface="Cambria Math"/>
                            </a:rPr>
                            <m:t>𝜎</m:t>
                          </m:r>
                        </m:e>
                        <m:sub>
                          <m:r>
                            <a:rPr lang="en-GB" sz="2000" b="0" i="1" smtClean="0">
                              <a:latin typeface="Cambria Math"/>
                              <a:ea typeface="Cambria Math"/>
                            </a:rPr>
                            <m:t>𝑝</m:t>
                          </m:r>
                        </m:sub>
                      </m:sSub>
                    </m:oMath>
                  </m:oMathPara>
                </a14:m>
                <a:endParaRPr lang="en-GB" sz="2000" b="1" dirty="0">
                  <a:solidFill>
                    <a:schemeClr val="accent6">
                      <a:lumMod val="75000"/>
                    </a:schemeClr>
                  </a:solidFill>
                </a:endParaRPr>
              </a:p>
            </p:txBody>
          </p:sp>
        </mc:Choice>
        <mc:Fallback xmlns="">
          <p:sp>
            <p:nvSpPr>
              <p:cNvPr id="93" name="Rectangular Callout 92"/>
              <p:cNvSpPr>
                <a:spLocks noRot="1" noChangeAspect="1" noMove="1" noResize="1" noEditPoints="1" noAdjustHandles="1" noChangeArrowheads="1" noChangeShapeType="1" noTextEdit="1"/>
              </p:cNvSpPr>
              <p:nvPr/>
            </p:nvSpPr>
            <p:spPr>
              <a:xfrm>
                <a:off x="376608" y="4986430"/>
                <a:ext cx="1452192" cy="423770"/>
              </a:xfrm>
              <a:prstGeom prst="wedgeRectCallout">
                <a:avLst>
                  <a:gd name="adj1" fmla="val 2445"/>
                  <a:gd name="adj2" fmla="val -98619"/>
                </a:avLst>
              </a:prstGeom>
              <a:blipFill rotWithShape="1">
                <a:blip r:embed="rId8"/>
                <a:stretch>
                  <a:fillRect b="-917"/>
                </a:stretch>
              </a:blip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4" name="TextBox 93"/>
              <p:cNvSpPr txBox="1"/>
              <p:nvPr/>
            </p:nvSpPr>
            <p:spPr>
              <a:xfrm>
                <a:off x="6400800" y="4028440"/>
                <a:ext cx="2514600" cy="695960"/>
              </a:xfrm>
              <a:prstGeom prst="rect">
                <a:avLst/>
              </a:prstGeom>
              <a:solidFill>
                <a:schemeClr val="accent6">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3600" b="0" i="1" smtClean="0">
                              <a:latin typeface="Cambria Math" panose="02040503050406030204" pitchFamily="18" charset="0"/>
                            </a:rPr>
                          </m:ctrlPr>
                        </m:sSubPr>
                        <m:e>
                          <m:r>
                            <a:rPr lang="en-GB" sz="3600" b="0" i="1" smtClean="0">
                              <a:latin typeface="Cambria Math"/>
                            </a:rPr>
                            <m:t>𝑍</m:t>
                          </m:r>
                        </m:e>
                        <m:sub>
                          <m:r>
                            <a:rPr lang="en-GB" sz="3600" i="1">
                              <a:latin typeface="Cambria Math"/>
                              <a:ea typeface="Cambria Math"/>
                            </a:rPr>
                            <m:t>𝛼</m:t>
                          </m:r>
                          <m:r>
                            <a:rPr lang="en-GB" sz="3600" b="0" i="1" smtClean="0">
                              <a:latin typeface="Cambria Math"/>
                              <a:ea typeface="Cambria Math"/>
                            </a:rPr>
                            <m:t>/2</m:t>
                          </m:r>
                        </m:sub>
                      </m:sSub>
                      <m:r>
                        <a:rPr lang="en-GB" sz="3600" b="0" i="1" smtClean="0">
                          <a:latin typeface="Cambria Math"/>
                        </a:rPr>
                        <m:t>=1.96</m:t>
                      </m:r>
                    </m:oMath>
                  </m:oMathPara>
                </a14:m>
                <a:endParaRPr lang="en-GB" sz="3600" dirty="0"/>
              </a:p>
            </p:txBody>
          </p:sp>
        </mc:Choice>
        <mc:Fallback xmlns="">
          <p:sp>
            <p:nvSpPr>
              <p:cNvPr id="94" name="TextBox 93"/>
              <p:cNvSpPr txBox="1">
                <a:spLocks noRot="1" noChangeAspect="1" noMove="1" noResize="1" noEditPoints="1" noAdjustHandles="1" noChangeArrowheads="1" noChangeShapeType="1" noTextEdit="1"/>
              </p:cNvSpPr>
              <p:nvPr/>
            </p:nvSpPr>
            <p:spPr>
              <a:xfrm>
                <a:off x="6400800" y="4028440"/>
                <a:ext cx="2514600" cy="695960"/>
              </a:xfrm>
              <a:prstGeom prst="rect">
                <a:avLst/>
              </a:prstGeom>
              <a:blipFill rotWithShape="1">
                <a:blip r:embed="rId9"/>
                <a:stretch>
                  <a:fillRect/>
                </a:stretch>
              </a:blipFill>
            </p:spPr>
            <p:txBody>
              <a:bodyPr/>
              <a:lstStyle/>
              <a:p>
                <a:r>
                  <a:rPr lang="en-GB">
                    <a:noFill/>
                  </a:rPr>
                  <a:t> </a:t>
                </a:r>
              </a:p>
            </p:txBody>
          </p:sp>
        </mc:Fallback>
      </mc:AlternateContent>
      <p:grpSp>
        <p:nvGrpSpPr>
          <p:cNvPr id="3" name="Group 2"/>
          <p:cNvGrpSpPr/>
          <p:nvPr/>
        </p:nvGrpSpPr>
        <p:grpSpPr>
          <a:xfrm>
            <a:off x="762000" y="2061343"/>
            <a:ext cx="1423723" cy="2761029"/>
            <a:chOff x="762000" y="2061343"/>
            <a:chExt cx="1423723" cy="2761029"/>
          </a:xfrm>
        </p:grpSpPr>
        <p:cxnSp>
          <p:nvCxnSpPr>
            <p:cNvPr id="55" name="Straight Arrow Connector 54"/>
            <p:cNvCxnSpPr/>
            <p:nvPr/>
          </p:nvCxnSpPr>
          <p:spPr>
            <a:xfrm flipV="1">
              <a:off x="1600200" y="2394858"/>
              <a:ext cx="0" cy="2427514"/>
            </a:xfrm>
            <a:prstGeom prst="straightConnector1">
              <a:avLst/>
            </a:prstGeom>
            <a:ln>
              <a:solidFill>
                <a:schemeClr val="tx1">
                  <a:lumMod val="50000"/>
                  <a:lumOff val="50000"/>
                </a:schemeClr>
              </a:solidFill>
              <a:headEnd type="none" w="med" len="med"/>
              <a:tailEnd type="none" w="med" len="med"/>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57" name="Rectangle 56"/>
                <p:cNvSpPr/>
                <p:nvPr/>
              </p:nvSpPr>
              <p:spPr>
                <a:xfrm>
                  <a:off x="762000" y="2061343"/>
                  <a:ext cx="1423723" cy="394210"/>
                </a:xfrm>
                <a:prstGeom prst="rect">
                  <a:avLst/>
                </a:prstGeom>
              </p:spPr>
              <p:txBody>
                <a:bodyPr wrap="none">
                  <a:spAutoFit/>
                </a:bodyPr>
                <a:lstStyle/>
                <a:p>
                  <a14:m>
                    <m:oMath xmlns:m="http://schemas.openxmlformats.org/officeDocument/2006/math">
                      <m:r>
                        <a:rPr lang="en-GB" b="1" i="1" smtClean="0">
                          <a:solidFill>
                            <a:schemeClr val="tx1">
                              <a:lumMod val="50000"/>
                              <a:lumOff val="50000"/>
                            </a:schemeClr>
                          </a:solidFill>
                          <a:latin typeface="Cambria Math"/>
                          <a:ea typeface="Cambria Math"/>
                        </a:rPr>
                        <m:t>𝝅</m:t>
                      </m:r>
                      <m:r>
                        <a:rPr lang="en-GB" b="1" i="1" smtClean="0">
                          <a:solidFill>
                            <a:schemeClr val="tx1">
                              <a:lumMod val="50000"/>
                              <a:lumOff val="50000"/>
                            </a:schemeClr>
                          </a:solidFill>
                          <a:latin typeface="Cambria Math"/>
                          <a:ea typeface="Cambria Math"/>
                        </a:rPr>
                        <m:t> </m:t>
                      </m:r>
                    </m:oMath>
                  </a14:m>
                  <a:r>
                    <a:rPr lang="en-GB" altLang="en-US" b="1" dirty="0">
                      <a:solidFill>
                        <a:schemeClr val="tx1">
                          <a:lumMod val="50000"/>
                          <a:lumOff val="50000"/>
                        </a:schemeClr>
                      </a:solidFill>
                    </a:rPr>
                    <a:t>-0.9901</a:t>
                  </a:r>
                  <a:r>
                    <a:rPr lang="en-GB" b="1" dirty="0">
                      <a:solidFill>
                        <a:schemeClr val="tx1">
                          <a:lumMod val="50000"/>
                          <a:lumOff val="50000"/>
                        </a:schemeClr>
                      </a:solidFill>
                      <a:ea typeface="Cambria Math"/>
                    </a:rPr>
                    <a:t> </a:t>
                  </a:r>
                  <a14:m>
                    <m:oMath xmlns:m="http://schemas.openxmlformats.org/officeDocument/2006/math">
                      <m:sSub>
                        <m:sSubPr>
                          <m:ctrlPr>
                            <a:rPr lang="en-GB" b="1" i="1">
                              <a:solidFill>
                                <a:schemeClr val="tx1">
                                  <a:lumMod val="50000"/>
                                  <a:lumOff val="50000"/>
                                </a:schemeClr>
                              </a:solidFill>
                              <a:latin typeface="Cambria Math" panose="02040503050406030204" pitchFamily="18" charset="0"/>
                              <a:ea typeface="Cambria Math"/>
                            </a:rPr>
                          </m:ctrlPr>
                        </m:sSubPr>
                        <m:e>
                          <m:r>
                            <a:rPr lang="en-GB" b="1" i="1">
                              <a:solidFill>
                                <a:schemeClr val="tx1">
                                  <a:lumMod val="50000"/>
                                  <a:lumOff val="50000"/>
                                </a:schemeClr>
                              </a:solidFill>
                              <a:latin typeface="Cambria Math"/>
                              <a:ea typeface="Cambria Math"/>
                            </a:rPr>
                            <m:t>𝝈</m:t>
                          </m:r>
                        </m:e>
                        <m:sub>
                          <m:r>
                            <a:rPr lang="en-GB" b="1" i="1">
                              <a:solidFill>
                                <a:schemeClr val="tx1">
                                  <a:lumMod val="50000"/>
                                  <a:lumOff val="50000"/>
                                </a:schemeClr>
                              </a:solidFill>
                              <a:latin typeface="Cambria Math"/>
                              <a:ea typeface="Cambria Math"/>
                            </a:rPr>
                            <m:t>𝒑</m:t>
                          </m:r>
                        </m:sub>
                      </m:sSub>
                    </m:oMath>
                  </a14:m>
                  <a:endParaRPr lang="en-GB" b="1" dirty="0">
                    <a:solidFill>
                      <a:schemeClr val="tx1">
                        <a:lumMod val="50000"/>
                        <a:lumOff val="50000"/>
                      </a:schemeClr>
                    </a:solidFill>
                  </a:endParaRPr>
                </a:p>
              </p:txBody>
            </p:sp>
          </mc:Choice>
          <mc:Fallback xmlns="">
            <p:sp>
              <p:nvSpPr>
                <p:cNvPr id="57" name="Rectangle 56"/>
                <p:cNvSpPr>
                  <a:spLocks noRot="1" noChangeAspect="1" noMove="1" noResize="1" noEditPoints="1" noAdjustHandles="1" noChangeArrowheads="1" noChangeShapeType="1" noTextEdit="1"/>
                </p:cNvSpPr>
                <p:nvPr/>
              </p:nvSpPr>
              <p:spPr>
                <a:xfrm>
                  <a:off x="762000" y="2061343"/>
                  <a:ext cx="1423723" cy="394210"/>
                </a:xfrm>
                <a:prstGeom prst="rect">
                  <a:avLst/>
                </a:prstGeom>
                <a:blipFill rotWithShape="1">
                  <a:blip r:embed="rId10"/>
                  <a:stretch>
                    <a:fillRect t="-6154" b="-18462"/>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62" name="TextBox 61"/>
              <p:cNvSpPr txBox="1"/>
              <p:nvPr/>
            </p:nvSpPr>
            <p:spPr>
              <a:xfrm>
                <a:off x="705255" y="1210926"/>
                <a:ext cx="2514600" cy="695960"/>
              </a:xfrm>
              <a:prstGeom prst="wedgeRectCallout">
                <a:avLst>
                  <a:gd name="adj1" fmla="val -18899"/>
                  <a:gd name="adj2" fmla="val 86261"/>
                </a:avLst>
              </a:prstGeom>
              <a:solidFill>
                <a:schemeClr val="accent6">
                  <a:lumMod val="20000"/>
                  <a:lumOff val="80000"/>
                </a:schemeClr>
              </a:solidFill>
            </p:spPr>
            <p:txBody>
              <a:bodyPr wrap="square" rtlCol="0">
                <a:spAutoFit/>
              </a:bodyPr>
              <a:lstStyle/>
              <a:p>
                <a14:m>
                  <m:oMath xmlns:m="http://schemas.openxmlformats.org/officeDocument/2006/math">
                    <m:d>
                      <m:dPr>
                        <m:begChr m:val="|"/>
                        <m:endChr m:val="|"/>
                        <m:ctrlPr>
                          <a:rPr lang="en-GB" sz="3600" b="0" i="1" smtClean="0">
                            <a:latin typeface="Cambria Math" panose="02040503050406030204" pitchFamily="18" charset="0"/>
                          </a:rPr>
                        </m:ctrlPr>
                      </m:dPr>
                      <m:e>
                        <m:r>
                          <a:rPr lang="en-GB" sz="3600" i="1">
                            <a:latin typeface="Cambria Math"/>
                          </a:rPr>
                          <m:t>𝑍</m:t>
                        </m:r>
                      </m:e>
                    </m:d>
                    <m:r>
                      <a:rPr lang="en-GB" sz="3600" b="0" i="1" smtClean="0">
                        <a:latin typeface="Cambria Math"/>
                      </a:rPr>
                      <m:t>&gt;</m:t>
                    </m:r>
                    <m:sSub>
                      <m:sSubPr>
                        <m:ctrlPr>
                          <a:rPr lang="en-GB" sz="3600" i="1">
                            <a:latin typeface="Cambria Math" panose="02040503050406030204" pitchFamily="18" charset="0"/>
                          </a:rPr>
                        </m:ctrlPr>
                      </m:sSubPr>
                      <m:e>
                        <m:r>
                          <a:rPr lang="en-GB" sz="3600" i="1">
                            <a:latin typeface="Cambria Math"/>
                          </a:rPr>
                          <m:t>𝑍</m:t>
                        </m:r>
                      </m:e>
                      <m:sub>
                        <m:r>
                          <a:rPr lang="en-GB" sz="3600" i="1">
                            <a:latin typeface="Cambria Math"/>
                            <a:ea typeface="Cambria Math"/>
                          </a:rPr>
                          <m:t>𝛼</m:t>
                        </m:r>
                        <m:r>
                          <a:rPr lang="en-GB" sz="3600" i="1">
                            <a:latin typeface="Cambria Math"/>
                            <a:ea typeface="Cambria Math"/>
                          </a:rPr>
                          <m:t>/2</m:t>
                        </m:r>
                      </m:sub>
                    </m:sSub>
                  </m:oMath>
                </a14:m>
                <a:r>
                  <a:rPr lang="en-GB" sz="3600" dirty="0"/>
                  <a:t>?</a:t>
                </a:r>
              </a:p>
            </p:txBody>
          </p:sp>
        </mc:Choice>
        <mc:Fallback xmlns="">
          <p:sp>
            <p:nvSpPr>
              <p:cNvPr id="62" name="TextBox 61"/>
              <p:cNvSpPr txBox="1">
                <a:spLocks noRot="1" noChangeAspect="1" noMove="1" noResize="1" noEditPoints="1" noAdjustHandles="1" noChangeArrowheads="1" noChangeShapeType="1" noTextEdit="1"/>
              </p:cNvSpPr>
              <p:nvPr/>
            </p:nvSpPr>
            <p:spPr>
              <a:xfrm>
                <a:off x="705255" y="1210926"/>
                <a:ext cx="2514600" cy="695960"/>
              </a:xfrm>
              <a:prstGeom prst="wedgeRectCallout">
                <a:avLst>
                  <a:gd name="adj1" fmla="val -18899"/>
                  <a:gd name="adj2" fmla="val 86261"/>
                </a:avLst>
              </a:prstGeom>
              <a:blipFill rotWithShape="1">
                <a:blip r:embed="rId11"/>
                <a:stretch>
                  <a:fillRect t="-8974" r="-4126"/>
                </a:stretch>
              </a:blipFill>
            </p:spPr>
            <p:txBody>
              <a:bodyPr/>
              <a:lstStyle/>
              <a:p>
                <a:r>
                  <a:rPr lang="en-GB">
                    <a:noFill/>
                  </a:rPr>
                  <a:t> </a:t>
                </a:r>
              </a:p>
            </p:txBody>
          </p:sp>
        </mc:Fallback>
      </mc:AlternateContent>
      <p:sp>
        <p:nvSpPr>
          <p:cNvPr id="154" name="Rectangle 153">
            <a:extLst>
              <a:ext uri="{FF2B5EF4-FFF2-40B4-BE49-F238E27FC236}">
                <a16:creationId xmlns:a16="http://schemas.microsoft.com/office/drawing/2014/main" id="{FDFCE408-562F-40B8-8710-4D81B938DC45}"/>
              </a:ext>
            </a:extLst>
          </p:cNvPr>
          <p:cNvSpPr/>
          <p:nvPr/>
        </p:nvSpPr>
        <p:spPr>
          <a:xfrm>
            <a:off x="391335" y="5644963"/>
            <a:ext cx="7469157" cy="923330"/>
          </a:xfrm>
          <a:prstGeom prst="rect">
            <a:avLst/>
          </a:prstGeom>
        </p:spPr>
        <p:txBody>
          <a:bodyPr wrap="square">
            <a:spAutoFit/>
          </a:bodyPr>
          <a:lstStyle/>
          <a:p>
            <a:pPr algn="just"/>
            <a:r>
              <a:rPr lang="en-GB" dirty="0"/>
              <a:t>Given how accurately the sample proportion represents the population proportion and given the level of significance chosen, do we accept or reject H</a:t>
            </a:r>
            <a:r>
              <a:rPr lang="en-GB" sz="1200" dirty="0"/>
              <a:t>0</a:t>
            </a:r>
            <a:r>
              <a:rPr lang="en-GB" dirty="0"/>
              <a:t> ?</a:t>
            </a:r>
          </a:p>
        </p:txBody>
      </p:sp>
    </p:spTree>
    <p:extLst>
      <p:ext uri="{BB962C8B-B14F-4D97-AF65-F5344CB8AC3E}">
        <p14:creationId xmlns:p14="http://schemas.microsoft.com/office/powerpoint/2010/main" val="3575502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fade">
                                      <p:cBhvr>
                                        <p:cTn id="7" dur="500"/>
                                        <p:tgtEl>
                                          <p:spTgt spid="9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3"/>
                                        </p:tgtEl>
                                        <p:attrNameLst>
                                          <p:attrName>style.visibility</p:attrName>
                                        </p:attrNameLst>
                                      </p:cBhvr>
                                      <p:to>
                                        <p:strVal val="visible"/>
                                      </p:to>
                                    </p:set>
                                    <p:animEffect transition="in" filter="fade">
                                      <p:cBhvr>
                                        <p:cTn id="10" dur="500"/>
                                        <p:tgtEl>
                                          <p:spTgt spid="9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2"/>
                                        </p:tgtEl>
                                        <p:attrNameLst>
                                          <p:attrName>style.visibility</p:attrName>
                                        </p:attrNameLst>
                                      </p:cBhvr>
                                      <p:to>
                                        <p:strVal val="visible"/>
                                      </p:to>
                                    </p:set>
                                    <p:animEffect transition="in" filter="fade">
                                      <p:cBhvr>
                                        <p:cTn id="15"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animBg="1"/>
      <p:bldP spid="93" grpId="0" animBg="1"/>
      <p:bldP spid="6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Group 31"/>
          <p:cNvGrpSpPr/>
          <p:nvPr/>
        </p:nvGrpSpPr>
        <p:grpSpPr>
          <a:xfrm>
            <a:off x="6172200" y="3962400"/>
            <a:ext cx="186070" cy="838199"/>
            <a:chOff x="6172200" y="3962400"/>
            <a:chExt cx="186070" cy="838199"/>
          </a:xfrm>
        </p:grpSpPr>
        <p:sp>
          <p:nvSpPr>
            <p:cNvPr id="33" name="Oval 32"/>
            <p:cNvSpPr/>
            <p:nvPr/>
          </p:nvSpPr>
          <p:spPr>
            <a:xfrm rot="10800000">
              <a:off x="6205707" y="3995057"/>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34" name="Oval 33"/>
            <p:cNvSpPr/>
            <p:nvPr/>
          </p:nvSpPr>
          <p:spPr>
            <a:xfrm rot="10800000">
              <a:off x="6172201" y="4038600"/>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35" name="Oval 34"/>
            <p:cNvSpPr/>
            <p:nvPr/>
          </p:nvSpPr>
          <p:spPr>
            <a:xfrm rot="10800000">
              <a:off x="6190511" y="4419600"/>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36" name="Oval 35"/>
            <p:cNvSpPr/>
            <p:nvPr/>
          </p:nvSpPr>
          <p:spPr>
            <a:xfrm rot="10800000">
              <a:off x="6190511" y="3962400"/>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37" name="Oval 36"/>
            <p:cNvSpPr/>
            <p:nvPr/>
          </p:nvSpPr>
          <p:spPr>
            <a:xfrm rot="10800000">
              <a:off x="6205708" y="4038600"/>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38" name="Oval 37"/>
            <p:cNvSpPr/>
            <p:nvPr/>
          </p:nvSpPr>
          <p:spPr>
            <a:xfrm rot="10800000">
              <a:off x="6172201" y="4147457"/>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43" name="Oval 42"/>
            <p:cNvSpPr/>
            <p:nvPr/>
          </p:nvSpPr>
          <p:spPr>
            <a:xfrm rot="10800000">
              <a:off x="6205708" y="4191000"/>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44" name="Oval 43"/>
            <p:cNvSpPr/>
            <p:nvPr/>
          </p:nvSpPr>
          <p:spPr>
            <a:xfrm rot="10800000">
              <a:off x="6205708" y="4376056"/>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46" name="Oval 45"/>
            <p:cNvSpPr/>
            <p:nvPr/>
          </p:nvSpPr>
          <p:spPr>
            <a:xfrm rot="10800000">
              <a:off x="6172200" y="4419599"/>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47" name="Oval 46"/>
            <p:cNvSpPr/>
            <p:nvPr/>
          </p:nvSpPr>
          <p:spPr>
            <a:xfrm rot="10800000">
              <a:off x="6205707" y="4463142"/>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48" name="Oval 47"/>
            <p:cNvSpPr/>
            <p:nvPr/>
          </p:nvSpPr>
          <p:spPr>
            <a:xfrm rot="10800000">
              <a:off x="6205707" y="4571999"/>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49" name="Oval 48"/>
            <p:cNvSpPr/>
            <p:nvPr/>
          </p:nvSpPr>
          <p:spPr>
            <a:xfrm rot="10800000">
              <a:off x="6172201" y="4615542"/>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50" name="Oval 49"/>
            <p:cNvSpPr/>
            <p:nvPr/>
          </p:nvSpPr>
          <p:spPr>
            <a:xfrm rot="10800000">
              <a:off x="6190510" y="4680856"/>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51" name="Oval 50"/>
            <p:cNvSpPr/>
            <p:nvPr/>
          </p:nvSpPr>
          <p:spPr>
            <a:xfrm rot="10800000">
              <a:off x="6239376" y="4082143"/>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52" name="Oval 51"/>
            <p:cNvSpPr/>
            <p:nvPr/>
          </p:nvSpPr>
          <p:spPr>
            <a:xfrm rot="10800000">
              <a:off x="6205870" y="4158343"/>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53" name="Oval 52"/>
            <p:cNvSpPr/>
            <p:nvPr/>
          </p:nvSpPr>
          <p:spPr>
            <a:xfrm rot="10800000">
              <a:off x="6224180" y="4506686"/>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57" name="Oval 56"/>
            <p:cNvSpPr/>
            <p:nvPr/>
          </p:nvSpPr>
          <p:spPr>
            <a:xfrm rot="10800000">
              <a:off x="6239377" y="4158343"/>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58" name="Oval 57"/>
            <p:cNvSpPr/>
            <p:nvPr/>
          </p:nvSpPr>
          <p:spPr>
            <a:xfrm rot="10800000">
              <a:off x="6205870" y="4234543"/>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59" name="Oval 58"/>
            <p:cNvSpPr/>
            <p:nvPr/>
          </p:nvSpPr>
          <p:spPr>
            <a:xfrm rot="10800000">
              <a:off x="6239377" y="4278086"/>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60" name="Oval 59"/>
            <p:cNvSpPr/>
            <p:nvPr/>
          </p:nvSpPr>
          <p:spPr>
            <a:xfrm rot="10800000">
              <a:off x="6239377" y="4463142"/>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61" name="Oval 60"/>
            <p:cNvSpPr/>
            <p:nvPr/>
          </p:nvSpPr>
          <p:spPr>
            <a:xfrm rot="10800000">
              <a:off x="6205869" y="4506685"/>
              <a:ext cx="118893" cy="11974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grpSp>
      <p:grpSp>
        <p:nvGrpSpPr>
          <p:cNvPr id="63" name="Group 62"/>
          <p:cNvGrpSpPr/>
          <p:nvPr/>
        </p:nvGrpSpPr>
        <p:grpSpPr>
          <a:xfrm>
            <a:off x="381000" y="2438400"/>
            <a:ext cx="198471" cy="2362200"/>
            <a:chOff x="381000" y="2438400"/>
            <a:chExt cx="198471" cy="2362200"/>
          </a:xfrm>
        </p:grpSpPr>
        <p:sp>
          <p:nvSpPr>
            <p:cNvPr id="64" name="Oval 63"/>
            <p:cNvSpPr/>
            <p:nvPr/>
          </p:nvSpPr>
          <p:spPr>
            <a:xfrm rot="10800000">
              <a:off x="399310" y="40603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 name="Oval 64"/>
            <p:cNvSpPr/>
            <p:nvPr/>
          </p:nvSpPr>
          <p:spPr>
            <a:xfrm rot="10800000">
              <a:off x="414507" y="41365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Oval 65"/>
            <p:cNvSpPr/>
            <p:nvPr/>
          </p:nvSpPr>
          <p:spPr>
            <a:xfrm rot="10800000">
              <a:off x="381000" y="42127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 name="Oval 66"/>
            <p:cNvSpPr/>
            <p:nvPr/>
          </p:nvSpPr>
          <p:spPr>
            <a:xfrm rot="10800000">
              <a:off x="414507" y="4256314"/>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Oval 67"/>
            <p:cNvSpPr/>
            <p:nvPr/>
          </p:nvSpPr>
          <p:spPr>
            <a:xfrm rot="10800000">
              <a:off x="399310" y="44740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Oval 68"/>
            <p:cNvSpPr/>
            <p:nvPr/>
          </p:nvSpPr>
          <p:spPr>
            <a:xfrm rot="10800000">
              <a:off x="414507" y="45502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 name="Oval 69"/>
            <p:cNvSpPr/>
            <p:nvPr/>
          </p:nvSpPr>
          <p:spPr>
            <a:xfrm rot="10800000">
              <a:off x="381000" y="46264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 name="Oval 70"/>
            <p:cNvSpPr/>
            <p:nvPr/>
          </p:nvSpPr>
          <p:spPr>
            <a:xfrm rot="10800000">
              <a:off x="414507" y="46699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 name="Oval 71"/>
            <p:cNvSpPr/>
            <p:nvPr/>
          </p:nvSpPr>
          <p:spPr>
            <a:xfrm rot="10800000">
              <a:off x="399310" y="32221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Oval 72"/>
            <p:cNvSpPr/>
            <p:nvPr/>
          </p:nvSpPr>
          <p:spPr>
            <a:xfrm rot="10800000">
              <a:off x="414507" y="32983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 name="Oval 73"/>
            <p:cNvSpPr/>
            <p:nvPr/>
          </p:nvSpPr>
          <p:spPr>
            <a:xfrm rot="10800000">
              <a:off x="381000" y="33745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 name="Oval 74"/>
            <p:cNvSpPr/>
            <p:nvPr/>
          </p:nvSpPr>
          <p:spPr>
            <a:xfrm rot="10800000">
              <a:off x="414507" y="3418114"/>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Oval 75"/>
            <p:cNvSpPr/>
            <p:nvPr/>
          </p:nvSpPr>
          <p:spPr>
            <a:xfrm rot="10800000">
              <a:off x="414507" y="35269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7" name="Oval 76"/>
            <p:cNvSpPr/>
            <p:nvPr/>
          </p:nvSpPr>
          <p:spPr>
            <a:xfrm rot="10800000">
              <a:off x="381001" y="3570514"/>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 name="Oval 77"/>
            <p:cNvSpPr/>
            <p:nvPr/>
          </p:nvSpPr>
          <p:spPr>
            <a:xfrm rot="10800000">
              <a:off x="399310" y="36358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9" name="Oval 78"/>
            <p:cNvSpPr/>
            <p:nvPr/>
          </p:nvSpPr>
          <p:spPr>
            <a:xfrm rot="10800000">
              <a:off x="414507" y="37120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0" name="Oval 79"/>
            <p:cNvSpPr/>
            <p:nvPr/>
          </p:nvSpPr>
          <p:spPr>
            <a:xfrm rot="10800000">
              <a:off x="381000" y="378822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Oval 80"/>
            <p:cNvSpPr/>
            <p:nvPr/>
          </p:nvSpPr>
          <p:spPr>
            <a:xfrm rot="10800000">
              <a:off x="414507" y="38317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 name="Oval 81"/>
            <p:cNvSpPr/>
            <p:nvPr/>
          </p:nvSpPr>
          <p:spPr>
            <a:xfrm rot="10800000">
              <a:off x="381001" y="3984171"/>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 name="Oval 82"/>
            <p:cNvSpPr/>
            <p:nvPr/>
          </p:nvSpPr>
          <p:spPr>
            <a:xfrm rot="10800000">
              <a:off x="381001" y="4484914"/>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Oval 84"/>
            <p:cNvSpPr/>
            <p:nvPr/>
          </p:nvSpPr>
          <p:spPr>
            <a:xfrm rot="10800000">
              <a:off x="414508" y="45284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Oval 85"/>
            <p:cNvSpPr/>
            <p:nvPr/>
          </p:nvSpPr>
          <p:spPr>
            <a:xfrm rot="10800000">
              <a:off x="414508" y="4637314"/>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 name="Oval 86"/>
            <p:cNvSpPr/>
            <p:nvPr/>
          </p:nvSpPr>
          <p:spPr>
            <a:xfrm rot="10800000">
              <a:off x="381002" y="46808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 name="Oval 87"/>
            <p:cNvSpPr/>
            <p:nvPr/>
          </p:nvSpPr>
          <p:spPr>
            <a:xfrm rot="10800000">
              <a:off x="399311" y="24384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9" name="Oval 88"/>
            <p:cNvSpPr/>
            <p:nvPr/>
          </p:nvSpPr>
          <p:spPr>
            <a:xfrm rot="10800000">
              <a:off x="414508" y="25146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0" name="Oval 89"/>
            <p:cNvSpPr/>
            <p:nvPr/>
          </p:nvSpPr>
          <p:spPr>
            <a:xfrm rot="10800000">
              <a:off x="381001" y="25908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1" name="Oval 90"/>
            <p:cNvSpPr/>
            <p:nvPr/>
          </p:nvSpPr>
          <p:spPr>
            <a:xfrm rot="10800000">
              <a:off x="414508" y="2634343"/>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Oval 91"/>
            <p:cNvSpPr/>
            <p:nvPr/>
          </p:nvSpPr>
          <p:spPr>
            <a:xfrm rot="10800000">
              <a:off x="414508" y="27432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3" name="Oval 92"/>
            <p:cNvSpPr/>
            <p:nvPr/>
          </p:nvSpPr>
          <p:spPr>
            <a:xfrm rot="10800000">
              <a:off x="381002" y="2786743"/>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Oval 93"/>
            <p:cNvSpPr/>
            <p:nvPr/>
          </p:nvSpPr>
          <p:spPr>
            <a:xfrm rot="10800000">
              <a:off x="399311" y="28520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5" name="Oval 94"/>
            <p:cNvSpPr/>
            <p:nvPr/>
          </p:nvSpPr>
          <p:spPr>
            <a:xfrm rot="10800000">
              <a:off x="414508" y="29282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6" name="Oval 95"/>
            <p:cNvSpPr/>
            <p:nvPr/>
          </p:nvSpPr>
          <p:spPr>
            <a:xfrm rot="10800000">
              <a:off x="381001" y="30044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7" name="Oval 96"/>
            <p:cNvSpPr/>
            <p:nvPr/>
          </p:nvSpPr>
          <p:spPr>
            <a:xfrm rot="10800000">
              <a:off x="414508" y="30480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8" name="Oval 97"/>
            <p:cNvSpPr/>
            <p:nvPr/>
          </p:nvSpPr>
          <p:spPr>
            <a:xfrm rot="10800000">
              <a:off x="445381" y="26439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9" name="Oval 98"/>
            <p:cNvSpPr/>
            <p:nvPr/>
          </p:nvSpPr>
          <p:spPr>
            <a:xfrm rot="10800000">
              <a:off x="460578" y="27201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 name="Oval 115"/>
            <p:cNvSpPr/>
            <p:nvPr/>
          </p:nvSpPr>
          <p:spPr>
            <a:xfrm rot="10800000">
              <a:off x="427071" y="27963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 name="Oval 116"/>
            <p:cNvSpPr/>
            <p:nvPr/>
          </p:nvSpPr>
          <p:spPr>
            <a:xfrm rot="10800000">
              <a:off x="460578" y="283990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8" name="Oval 117"/>
            <p:cNvSpPr/>
            <p:nvPr/>
          </p:nvSpPr>
          <p:spPr>
            <a:xfrm rot="10800000">
              <a:off x="460578" y="29487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9" name="Oval 118"/>
            <p:cNvSpPr/>
            <p:nvPr/>
          </p:nvSpPr>
          <p:spPr>
            <a:xfrm rot="10800000">
              <a:off x="427072" y="299230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0" name="Oval 119"/>
            <p:cNvSpPr/>
            <p:nvPr/>
          </p:nvSpPr>
          <p:spPr>
            <a:xfrm rot="10800000">
              <a:off x="445381" y="3057622"/>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1" name="Oval 120"/>
            <p:cNvSpPr/>
            <p:nvPr/>
          </p:nvSpPr>
          <p:spPr>
            <a:xfrm rot="10800000">
              <a:off x="414506" y="4191000"/>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2" name="Oval 121"/>
            <p:cNvSpPr/>
            <p:nvPr/>
          </p:nvSpPr>
          <p:spPr>
            <a:xfrm rot="10800000">
              <a:off x="381000" y="4234543"/>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3" name="Oval 122"/>
            <p:cNvSpPr/>
            <p:nvPr/>
          </p:nvSpPr>
          <p:spPr>
            <a:xfrm rot="10800000">
              <a:off x="399309" y="4299857"/>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4" name="Oval 123"/>
            <p:cNvSpPr/>
            <p:nvPr/>
          </p:nvSpPr>
          <p:spPr>
            <a:xfrm rot="10800000">
              <a:off x="460576" y="41679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5" name="Oval 124"/>
            <p:cNvSpPr/>
            <p:nvPr/>
          </p:nvSpPr>
          <p:spPr>
            <a:xfrm rot="10800000">
              <a:off x="427069" y="4244165"/>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6" name="Oval 125"/>
            <p:cNvSpPr/>
            <p:nvPr/>
          </p:nvSpPr>
          <p:spPr>
            <a:xfrm rot="10800000">
              <a:off x="460576" y="4287708"/>
              <a:ext cx="118893" cy="119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aphicFrame>
        <p:nvGraphicFramePr>
          <p:cNvPr id="264" name="Chart 263"/>
          <p:cNvGraphicFramePr/>
          <p:nvPr>
            <p:extLst>
              <p:ext uri="{D42A27DB-BD31-4B8C-83A1-F6EECF244321}">
                <p14:modId xmlns:p14="http://schemas.microsoft.com/office/powerpoint/2010/main" val="3074025948"/>
              </p:ext>
            </p:extLst>
          </p:nvPr>
        </p:nvGraphicFramePr>
        <p:xfrm>
          <a:off x="317770" y="1686408"/>
          <a:ext cx="6096000" cy="3217538"/>
        </p:xfrm>
        <a:graphic>
          <a:graphicData uri="http://schemas.openxmlformats.org/drawingml/2006/chart">
            <c:chart xmlns:c="http://schemas.openxmlformats.org/drawingml/2006/chart" xmlns:r="http://schemas.openxmlformats.org/officeDocument/2006/relationships" r:id="rId3"/>
          </a:graphicData>
        </a:graphic>
      </p:graphicFrame>
      <p:cxnSp>
        <p:nvCxnSpPr>
          <p:cNvPr id="265" name="Straight Arrow Connector 264"/>
          <p:cNvCxnSpPr/>
          <p:nvPr/>
        </p:nvCxnSpPr>
        <p:spPr>
          <a:xfrm flipV="1">
            <a:off x="2132242" y="2238984"/>
            <a:ext cx="0" cy="2607474"/>
          </a:xfrm>
          <a:prstGeom prst="straightConnector1">
            <a:avLst/>
          </a:prstGeom>
          <a:ln w="38100">
            <a:headEnd type="none" w="med" len="med"/>
            <a:tailEnd type="none" w="med" len="med"/>
          </a:ln>
        </p:spPr>
        <p:style>
          <a:lnRef idx="1">
            <a:schemeClr val="accent6"/>
          </a:lnRef>
          <a:fillRef idx="0">
            <a:schemeClr val="accent6"/>
          </a:fillRef>
          <a:effectRef idx="0">
            <a:schemeClr val="accent6"/>
          </a:effectRef>
          <a:fontRef idx="minor">
            <a:schemeClr val="tx1"/>
          </a:fontRef>
        </p:style>
      </p:cxnSp>
      <p:sp>
        <p:nvSpPr>
          <p:cNvPr id="2" name="Title 1"/>
          <p:cNvSpPr>
            <a:spLocks noGrp="1"/>
          </p:cNvSpPr>
          <p:nvPr>
            <p:ph type="title"/>
          </p:nvPr>
        </p:nvSpPr>
        <p:spPr/>
        <p:txBody>
          <a:bodyPr/>
          <a:lstStyle/>
          <a:p>
            <a:r>
              <a:rPr lang="en-GB" altLang="en-US" dirty="0"/>
              <a:t>Z Test for Proportion</a:t>
            </a:r>
            <a:endParaRPr lang="en-GB" dirty="0"/>
          </a:p>
        </p:txBody>
      </p:sp>
      <p:sp>
        <p:nvSpPr>
          <p:cNvPr id="45" name="Rectangle 44"/>
          <p:cNvSpPr/>
          <p:nvPr/>
        </p:nvSpPr>
        <p:spPr>
          <a:xfrm>
            <a:off x="304800" y="725269"/>
            <a:ext cx="5867400" cy="400110"/>
          </a:xfrm>
          <a:prstGeom prst="rect">
            <a:avLst/>
          </a:prstGeom>
        </p:spPr>
        <p:txBody>
          <a:bodyPr wrap="square">
            <a:spAutoFit/>
          </a:bodyPr>
          <a:lstStyle/>
          <a:p>
            <a:r>
              <a:rPr lang="en-GB" sz="2000" b="1" dirty="0"/>
              <a:t>APPROACH 2 – Using p-value</a:t>
            </a:r>
          </a:p>
        </p:txBody>
      </p:sp>
      <mc:AlternateContent xmlns:mc="http://schemas.openxmlformats.org/markup-compatibility/2006" xmlns:a14="http://schemas.microsoft.com/office/drawing/2010/main">
        <mc:Choice Requires="a14">
          <p:sp>
            <p:nvSpPr>
              <p:cNvPr id="39" name="Rectangle 38"/>
              <p:cNvSpPr/>
              <p:nvPr/>
            </p:nvSpPr>
            <p:spPr>
              <a:xfrm>
                <a:off x="1934184" y="4812268"/>
                <a:ext cx="43005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i="1">
                          <a:latin typeface="Cambria Math"/>
                          <a:ea typeface="Cambria Math"/>
                        </a:rPr>
                        <m:t>𝜋</m:t>
                      </m:r>
                      <m:r>
                        <a:rPr lang="en-GB" i="1">
                          <a:latin typeface="Cambria Math"/>
                          <a:ea typeface="Cambria Math"/>
                        </a:rPr>
                        <m:t> </m:t>
                      </m:r>
                    </m:oMath>
                  </m:oMathPara>
                </a14:m>
                <a:endParaRPr lang="en-GB" b="1" dirty="0">
                  <a:solidFill>
                    <a:schemeClr val="accent6">
                      <a:lumMod val="75000"/>
                    </a:schemeClr>
                  </a:solidFill>
                </a:endParaRPr>
              </a:p>
            </p:txBody>
          </p:sp>
        </mc:Choice>
        <mc:Fallback xmlns="">
          <p:sp>
            <p:nvSpPr>
              <p:cNvPr id="39" name="Rectangle 38"/>
              <p:cNvSpPr>
                <a:spLocks noRot="1" noChangeAspect="1" noMove="1" noResize="1" noEditPoints="1" noAdjustHandles="1" noChangeArrowheads="1" noChangeShapeType="1" noTextEdit="1"/>
              </p:cNvSpPr>
              <p:nvPr/>
            </p:nvSpPr>
            <p:spPr>
              <a:xfrm>
                <a:off x="1934184" y="4812268"/>
                <a:ext cx="430053" cy="369332"/>
              </a:xfrm>
              <a:prstGeom prst="rect">
                <a:avLst/>
              </a:prstGeom>
              <a:blipFill rotWithShape="1">
                <a:blip r:embed="rId4"/>
                <a:stretch>
                  <a:fillRect/>
                </a:stretch>
              </a:blipFill>
            </p:spPr>
            <p:txBody>
              <a:bodyPr/>
              <a:lstStyle/>
              <a:p>
                <a:r>
                  <a:rPr lang="en-GB">
                    <a:noFill/>
                  </a:rPr>
                  <a:t> </a:t>
                </a:r>
              </a:p>
            </p:txBody>
          </p:sp>
        </mc:Fallback>
      </mc:AlternateContent>
      <p:cxnSp>
        <p:nvCxnSpPr>
          <p:cNvPr id="40" name="Straight Arrow Connector 39"/>
          <p:cNvCxnSpPr/>
          <p:nvPr/>
        </p:nvCxnSpPr>
        <p:spPr>
          <a:xfrm flipH="1">
            <a:off x="457200" y="4755647"/>
            <a:ext cx="5791200" cy="1"/>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41" name="Rectangle 40"/>
          <p:cNvSpPr/>
          <p:nvPr/>
        </p:nvSpPr>
        <p:spPr>
          <a:xfrm>
            <a:off x="228600" y="4800600"/>
            <a:ext cx="301686" cy="369332"/>
          </a:xfrm>
          <a:prstGeom prst="rect">
            <a:avLst/>
          </a:prstGeom>
        </p:spPr>
        <p:txBody>
          <a:bodyPr wrap="none">
            <a:spAutoFit/>
          </a:bodyPr>
          <a:lstStyle/>
          <a:p>
            <a:r>
              <a:rPr lang="en-GB" b="1" dirty="0">
                <a:solidFill>
                  <a:schemeClr val="accent6">
                    <a:lumMod val="75000"/>
                  </a:schemeClr>
                </a:solidFill>
              </a:rPr>
              <a:t>0</a:t>
            </a:r>
          </a:p>
        </p:txBody>
      </p:sp>
      <p:sp>
        <p:nvSpPr>
          <p:cNvPr id="42" name="Rectangle 41"/>
          <p:cNvSpPr/>
          <p:nvPr/>
        </p:nvSpPr>
        <p:spPr>
          <a:xfrm>
            <a:off x="6099114" y="4800600"/>
            <a:ext cx="301686" cy="369332"/>
          </a:xfrm>
          <a:prstGeom prst="rect">
            <a:avLst/>
          </a:prstGeom>
        </p:spPr>
        <p:txBody>
          <a:bodyPr wrap="none">
            <a:spAutoFit/>
          </a:bodyPr>
          <a:lstStyle/>
          <a:p>
            <a:r>
              <a:rPr lang="en-GB" b="1" dirty="0">
                <a:solidFill>
                  <a:schemeClr val="accent6">
                    <a:lumMod val="75000"/>
                  </a:schemeClr>
                </a:solidFill>
              </a:rPr>
              <a:t>1</a:t>
            </a:r>
          </a:p>
        </p:txBody>
      </p:sp>
      <p:grpSp>
        <p:nvGrpSpPr>
          <p:cNvPr id="54" name="Group 53"/>
          <p:cNvGrpSpPr/>
          <p:nvPr/>
        </p:nvGrpSpPr>
        <p:grpSpPr>
          <a:xfrm>
            <a:off x="1444502" y="2394858"/>
            <a:ext cx="308098" cy="2796470"/>
            <a:chOff x="1444502" y="2394858"/>
            <a:chExt cx="308098" cy="2796470"/>
          </a:xfrm>
        </p:grpSpPr>
        <p:cxnSp>
          <p:nvCxnSpPr>
            <p:cNvPr id="55" name="Straight Arrow Connector 54"/>
            <p:cNvCxnSpPr/>
            <p:nvPr/>
          </p:nvCxnSpPr>
          <p:spPr>
            <a:xfrm flipV="1">
              <a:off x="1600200" y="2394858"/>
              <a:ext cx="0" cy="2427514"/>
            </a:xfrm>
            <a:prstGeom prst="straightConnector1">
              <a:avLst/>
            </a:prstGeom>
            <a:ln>
              <a:solidFill>
                <a:schemeClr val="tx1">
                  <a:lumMod val="50000"/>
                  <a:lumOff val="50000"/>
                </a:schemeClr>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56" name="Rectangle 55"/>
            <p:cNvSpPr/>
            <p:nvPr/>
          </p:nvSpPr>
          <p:spPr>
            <a:xfrm>
              <a:off x="1444502" y="4821996"/>
              <a:ext cx="308098" cy="369332"/>
            </a:xfrm>
            <a:prstGeom prst="rect">
              <a:avLst/>
            </a:prstGeom>
          </p:spPr>
          <p:txBody>
            <a:bodyPr wrap="none">
              <a:spAutoFit/>
            </a:bodyPr>
            <a:lstStyle/>
            <a:p>
              <a:r>
                <a:rPr lang="en-GB" b="1" dirty="0">
                  <a:solidFill>
                    <a:schemeClr val="tx1">
                      <a:lumMod val="50000"/>
                      <a:lumOff val="50000"/>
                    </a:schemeClr>
                  </a:solidFill>
                </a:rPr>
                <a:t>p</a:t>
              </a:r>
            </a:p>
          </p:txBody>
        </p:sp>
      </p:grpSp>
      <p:sp>
        <p:nvSpPr>
          <p:cNvPr id="84" name="Rectangular Callout 83"/>
          <p:cNvSpPr/>
          <p:nvPr/>
        </p:nvSpPr>
        <p:spPr>
          <a:xfrm>
            <a:off x="2819400" y="1843536"/>
            <a:ext cx="2362200" cy="739378"/>
          </a:xfrm>
          <a:prstGeom prst="wedgeRectCallout">
            <a:avLst>
              <a:gd name="adj1" fmla="val -112230"/>
              <a:gd name="adj2" fmla="val 307219"/>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GB" sz="2000" dirty="0"/>
              <a:t>P-value = 1 – 0.8389 </a:t>
            </a:r>
          </a:p>
          <a:p>
            <a:pPr algn="ctr"/>
            <a:r>
              <a:rPr lang="en-GB" sz="2400" b="1" dirty="0"/>
              <a:t>= 0.1611</a:t>
            </a:r>
          </a:p>
        </p:txBody>
      </p:sp>
      <mc:AlternateContent xmlns:mc="http://schemas.openxmlformats.org/markup-compatibility/2006" xmlns:a14="http://schemas.microsoft.com/office/drawing/2010/main">
        <mc:Choice Requires="a14">
          <p:sp>
            <p:nvSpPr>
              <p:cNvPr id="4" name="Rectangle 3"/>
              <p:cNvSpPr/>
              <p:nvPr/>
            </p:nvSpPr>
            <p:spPr>
              <a:xfrm>
                <a:off x="762000" y="2061343"/>
                <a:ext cx="1423723" cy="394210"/>
              </a:xfrm>
              <a:prstGeom prst="rect">
                <a:avLst/>
              </a:prstGeom>
            </p:spPr>
            <p:txBody>
              <a:bodyPr wrap="none">
                <a:spAutoFit/>
              </a:bodyPr>
              <a:lstStyle/>
              <a:p>
                <a14:m>
                  <m:oMath xmlns:m="http://schemas.openxmlformats.org/officeDocument/2006/math">
                    <m:r>
                      <a:rPr lang="en-GB" b="1" i="1">
                        <a:solidFill>
                          <a:schemeClr val="tx1">
                            <a:lumMod val="50000"/>
                            <a:lumOff val="50000"/>
                          </a:schemeClr>
                        </a:solidFill>
                        <a:latin typeface="Cambria Math"/>
                        <a:ea typeface="Cambria Math"/>
                      </a:rPr>
                      <m:t>𝝅</m:t>
                    </m:r>
                    <m:r>
                      <a:rPr lang="en-GB" b="1" i="1">
                        <a:solidFill>
                          <a:schemeClr val="tx1">
                            <a:lumMod val="50000"/>
                            <a:lumOff val="50000"/>
                          </a:schemeClr>
                        </a:solidFill>
                        <a:latin typeface="Cambria Math"/>
                        <a:ea typeface="Cambria Math"/>
                      </a:rPr>
                      <m:t> </m:t>
                    </m:r>
                  </m:oMath>
                </a14:m>
                <a:r>
                  <a:rPr lang="en-GB" altLang="en-US" b="1" dirty="0">
                    <a:solidFill>
                      <a:schemeClr val="tx1">
                        <a:lumMod val="50000"/>
                        <a:lumOff val="50000"/>
                      </a:schemeClr>
                    </a:solidFill>
                  </a:rPr>
                  <a:t>-0.9901</a:t>
                </a:r>
                <a:r>
                  <a:rPr lang="en-GB" b="1" dirty="0">
                    <a:solidFill>
                      <a:schemeClr val="tx1">
                        <a:lumMod val="50000"/>
                        <a:lumOff val="50000"/>
                      </a:schemeClr>
                    </a:solidFill>
                    <a:ea typeface="Cambria Math"/>
                  </a:rPr>
                  <a:t> </a:t>
                </a:r>
                <a14:m>
                  <m:oMath xmlns:m="http://schemas.openxmlformats.org/officeDocument/2006/math">
                    <m:sSub>
                      <m:sSubPr>
                        <m:ctrlPr>
                          <a:rPr lang="en-GB" b="1" i="1">
                            <a:solidFill>
                              <a:schemeClr val="tx1">
                                <a:lumMod val="50000"/>
                                <a:lumOff val="50000"/>
                              </a:schemeClr>
                            </a:solidFill>
                            <a:latin typeface="Cambria Math" panose="02040503050406030204" pitchFamily="18" charset="0"/>
                            <a:ea typeface="Cambria Math"/>
                          </a:rPr>
                        </m:ctrlPr>
                      </m:sSubPr>
                      <m:e>
                        <m:r>
                          <a:rPr lang="en-GB" b="1" i="1">
                            <a:solidFill>
                              <a:schemeClr val="tx1">
                                <a:lumMod val="50000"/>
                                <a:lumOff val="50000"/>
                              </a:schemeClr>
                            </a:solidFill>
                            <a:latin typeface="Cambria Math"/>
                            <a:ea typeface="Cambria Math"/>
                          </a:rPr>
                          <m:t>𝝈</m:t>
                        </m:r>
                      </m:e>
                      <m:sub>
                        <m:r>
                          <a:rPr lang="en-GB" b="1" i="1">
                            <a:solidFill>
                              <a:schemeClr val="tx1">
                                <a:lumMod val="50000"/>
                                <a:lumOff val="50000"/>
                              </a:schemeClr>
                            </a:solidFill>
                            <a:latin typeface="Cambria Math"/>
                            <a:ea typeface="Cambria Math"/>
                          </a:rPr>
                          <m:t>𝒑</m:t>
                        </m:r>
                      </m:sub>
                    </m:sSub>
                  </m:oMath>
                </a14:m>
                <a:endParaRPr lang="en-GB" b="1" dirty="0">
                  <a:solidFill>
                    <a:schemeClr val="tx1">
                      <a:lumMod val="50000"/>
                      <a:lumOff val="50000"/>
                    </a:schemeClr>
                  </a:solidFill>
                </a:endParaRPr>
              </a:p>
            </p:txBody>
          </p:sp>
        </mc:Choice>
        <mc:Fallback xmlns="">
          <p:sp>
            <p:nvSpPr>
              <p:cNvPr id="4" name="Rectangle 3"/>
              <p:cNvSpPr>
                <a:spLocks noRot="1" noChangeAspect="1" noMove="1" noResize="1" noEditPoints="1" noAdjustHandles="1" noChangeArrowheads="1" noChangeShapeType="1" noTextEdit="1"/>
              </p:cNvSpPr>
              <p:nvPr/>
            </p:nvSpPr>
            <p:spPr>
              <a:xfrm>
                <a:off x="762000" y="2061343"/>
                <a:ext cx="1423723" cy="394210"/>
              </a:xfrm>
              <a:prstGeom prst="rect">
                <a:avLst/>
              </a:prstGeom>
              <a:blipFill rotWithShape="1">
                <a:blip r:embed="rId5"/>
                <a:stretch>
                  <a:fillRect t="-6154" b="-18462"/>
                </a:stretch>
              </a:blipFill>
            </p:spPr>
            <p:txBody>
              <a:bodyPr/>
              <a:lstStyle/>
              <a:p>
                <a:r>
                  <a:rPr lang="en-GB">
                    <a:noFill/>
                  </a:rPr>
                  <a:t> </a:t>
                </a:r>
              </a:p>
            </p:txBody>
          </p:sp>
        </mc:Fallback>
      </mc:AlternateContent>
      <p:sp>
        <p:nvSpPr>
          <p:cNvPr id="62" name="Rectangular Callout 61"/>
          <p:cNvSpPr/>
          <p:nvPr/>
        </p:nvSpPr>
        <p:spPr>
          <a:xfrm>
            <a:off x="3581400" y="3038895"/>
            <a:ext cx="2362200" cy="739378"/>
          </a:xfrm>
          <a:prstGeom prst="wedgeRectCallout">
            <a:avLst>
              <a:gd name="adj1" fmla="val -28634"/>
              <a:gd name="adj2" fmla="val -121684"/>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GB" sz="2800" dirty="0"/>
              <a:t>Is this value</a:t>
            </a:r>
          </a:p>
          <a:p>
            <a:pPr algn="ctr"/>
            <a:r>
              <a:rPr lang="en-GB" sz="2800" b="1" dirty="0"/>
              <a:t> &lt; 0.025 </a:t>
            </a:r>
            <a:r>
              <a:rPr lang="en-GB" sz="2800" dirty="0"/>
              <a:t>?</a:t>
            </a:r>
            <a:endParaRPr lang="en-GB" sz="3200" dirty="0"/>
          </a:p>
        </p:txBody>
      </p:sp>
      <p:grpSp>
        <p:nvGrpSpPr>
          <p:cNvPr id="100" name="Group 99"/>
          <p:cNvGrpSpPr/>
          <p:nvPr/>
        </p:nvGrpSpPr>
        <p:grpSpPr>
          <a:xfrm>
            <a:off x="6248400" y="152400"/>
            <a:ext cx="2743199" cy="3124200"/>
            <a:chOff x="925287" y="1143000"/>
            <a:chExt cx="6618513" cy="4315816"/>
          </a:xfrm>
          <a:solidFill>
            <a:schemeClr val="bg1">
              <a:lumMod val="95000"/>
            </a:schemeClr>
          </a:solidFill>
        </p:grpSpPr>
        <p:grpSp>
          <p:nvGrpSpPr>
            <p:cNvPr id="101" name="Group 100"/>
            <p:cNvGrpSpPr/>
            <p:nvPr/>
          </p:nvGrpSpPr>
          <p:grpSpPr>
            <a:xfrm>
              <a:off x="925287" y="1143000"/>
              <a:ext cx="6618513" cy="958268"/>
              <a:chOff x="-65314" y="1093291"/>
              <a:chExt cx="6618513" cy="958268"/>
            </a:xfrm>
            <a:grpFill/>
          </p:grpSpPr>
          <p:sp>
            <p:nvSpPr>
              <p:cNvPr id="114" name="Freeform 113"/>
              <p:cNvSpPr/>
              <p:nvPr/>
            </p:nvSpPr>
            <p:spPr>
              <a:xfrm>
                <a:off x="-65314" y="1093291"/>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solidFill>
                <a:schemeClr val="accent1"/>
              </a:solidFill>
              <a:ln>
                <a:solidFill>
                  <a:schemeClr val="accent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chemeClr val="bg1"/>
                    </a:solidFill>
                  </a:rPr>
                  <a:t>1</a:t>
                </a:r>
              </a:p>
            </p:txBody>
          </p:sp>
          <p:sp>
            <p:nvSpPr>
              <p:cNvPr id="115" name="Freeform 114"/>
              <p:cNvSpPr/>
              <p:nvPr/>
            </p:nvSpPr>
            <p:spPr>
              <a:xfrm>
                <a:off x="1127986" y="1093293"/>
                <a:ext cx="5425213" cy="622873"/>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solidFill>
                <a:schemeClr val="bg1"/>
              </a:solidFill>
              <a:ln>
                <a:solidFill>
                  <a:schemeClr val="accent1"/>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1" numCol="1" spcCol="1270" anchor="ctr" anchorCtr="0">
                <a:noAutofit/>
              </a:bodyPr>
              <a:lstStyle/>
              <a:p>
                <a:pPr marL="0" lvl="1" algn="l" defTabSz="755650">
                  <a:lnSpc>
                    <a:spcPct val="90000"/>
                  </a:lnSpc>
                  <a:spcBef>
                    <a:spcPct val="0"/>
                  </a:spcBef>
                  <a:spcAft>
                    <a:spcPct val="15000"/>
                  </a:spcAft>
                </a:pPr>
                <a:r>
                  <a:rPr lang="en-GB" sz="1600" kern="1200" dirty="0">
                    <a:solidFill>
                      <a:schemeClr val="tx1"/>
                    </a:solidFill>
                  </a:rPr>
                  <a:t>State your null hypothesis (H</a:t>
                </a:r>
                <a:r>
                  <a:rPr lang="en-GB" sz="1600" kern="1200" baseline="-25000" dirty="0">
                    <a:solidFill>
                      <a:schemeClr val="tx1"/>
                    </a:solidFill>
                  </a:rPr>
                  <a:t>0</a:t>
                </a:r>
                <a:r>
                  <a:rPr lang="en-GB" sz="1600" kern="1200" baseline="0" dirty="0">
                    <a:solidFill>
                      <a:schemeClr val="tx1"/>
                    </a:solidFill>
                  </a:rPr>
                  <a:t>)</a:t>
                </a:r>
              </a:p>
            </p:txBody>
          </p:sp>
        </p:grpSp>
        <p:grpSp>
          <p:nvGrpSpPr>
            <p:cNvPr id="102" name="Group 101"/>
            <p:cNvGrpSpPr/>
            <p:nvPr/>
          </p:nvGrpSpPr>
          <p:grpSpPr>
            <a:xfrm>
              <a:off x="925287" y="1982387"/>
              <a:ext cx="6618513" cy="958268"/>
              <a:chOff x="-65314" y="1932678"/>
              <a:chExt cx="6618513" cy="958268"/>
            </a:xfrm>
            <a:grpFill/>
          </p:grpSpPr>
          <p:sp>
            <p:nvSpPr>
              <p:cNvPr id="112" name="Freeform 111"/>
              <p:cNvSpPr/>
              <p:nvPr/>
            </p:nvSpPr>
            <p:spPr>
              <a:xfrm>
                <a:off x="-65314" y="1932678"/>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solidFill>
                <a:schemeClr val="accent1"/>
              </a:solidFill>
              <a:ln>
                <a:solidFill>
                  <a:schemeClr val="accent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chemeClr val="bg1"/>
                    </a:solidFill>
                  </a:rPr>
                  <a:t>2</a:t>
                </a:r>
              </a:p>
            </p:txBody>
          </p:sp>
          <p:sp>
            <p:nvSpPr>
              <p:cNvPr id="113" name="Freeform 112"/>
              <p:cNvSpPr/>
              <p:nvPr/>
            </p:nvSpPr>
            <p:spPr>
              <a:xfrm>
                <a:off x="1127986" y="1932680"/>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solidFill>
                <a:schemeClr val="bg1"/>
              </a:solidFill>
              <a:ln>
                <a:solidFill>
                  <a:schemeClr val="accent1"/>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defTabSz="755650">
                  <a:lnSpc>
                    <a:spcPct val="90000"/>
                  </a:lnSpc>
                  <a:spcBef>
                    <a:spcPct val="0"/>
                  </a:spcBef>
                  <a:spcAft>
                    <a:spcPct val="15000"/>
                  </a:spcAft>
                </a:pPr>
                <a:r>
                  <a:rPr lang="en-GB" sz="1600" b="1" dirty="0">
                    <a:solidFill>
                      <a:schemeClr val="tx1"/>
                    </a:solidFill>
                  </a:rPr>
                  <a:t>Calculate test statistic </a:t>
                </a:r>
                <a:r>
                  <a:rPr lang="en-GB" sz="1600" dirty="0">
                    <a:solidFill>
                      <a:schemeClr val="tx1"/>
                    </a:solidFill>
                  </a:rPr>
                  <a:t>from data (stat.)</a:t>
                </a:r>
              </a:p>
            </p:txBody>
          </p:sp>
        </p:grpSp>
        <p:grpSp>
          <p:nvGrpSpPr>
            <p:cNvPr id="103" name="Group 102"/>
            <p:cNvGrpSpPr/>
            <p:nvPr/>
          </p:nvGrpSpPr>
          <p:grpSpPr>
            <a:xfrm>
              <a:off x="925287" y="2821774"/>
              <a:ext cx="6618513" cy="958268"/>
              <a:chOff x="-65314" y="2772065"/>
              <a:chExt cx="6618513" cy="958268"/>
            </a:xfrm>
            <a:grpFill/>
          </p:grpSpPr>
          <p:sp>
            <p:nvSpPr>
              <p:cNvPr id="110" name="Freeform 109"/>
              <p:cNvSpPr/>
              <p:nvPr/>
            </p:nvSpPr>
            <p:spPr>
              <a:xfrm>
                <a:off x="-65314" y="2772065"/>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solidFill>
                <a:schemeClr val="accent1"/>
              </a:solidFill>
              <a:ln>
                <a:solidFill>
                  <a:schemeClr val="accent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chemeClr val="bg1"/>
                    </a:solidFill>
                  </a:rPr>
                  <a:t>3</a:t>
                </a:r>
              </a:p>
            </p:txBody>
          </p:sp>
          <p:sp>
            <p:nvSpPr>
              <p:cNvPr id="111" name="Freeform 110"/>
              <p:cNvSpPr/>
              <p:nvPr/>
            </p:nvSpPr>
            <p:spPr>
              <a:xfrm>
                <a:off x="1127986" y="2772067"/>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solidFill>
                <a:schemeClr val="bg1"/>
              </a:solidFill>
              <a:ln>
                <a:solidFill>
                  <a:schemeClr val="accent1"/>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defTabSz="755650">
                  <a:lnSpc>
                    <a:spcPct val="90000"/>
                  </a:lnSpc>
                  <a:spcBef>
                    <a:spcPct val="0"/>
                  </a:spcBef>
                  <a:spcAft>
                    <a:spcPct val="15000"/>
                  </a:spcAft>
                </a:pPr>
                <a:r>
                  <a:rPr lang="en-GB" sz="1600" b="1" dirty="0">
                    <a:solidFill>
                      <a:schemeClr val="tx1"/>
                    </a:solidFill>
                  </a:rPr>
                  <a:t>Choose </a:t>
                </a:r>
                <a:r>
                  <a:rPr lang="en-GB" sz="1600" dirty="0">
                    <a:solidFill>
                      <a:schemeClr val="tx1"/>
                    </a:solidFill>
                  </a:rPr>
                  <a:t>a level of </a:t>
                </a:r>
                <a:r>
                  <a:rPr lang="en-GB" sz="1600" b="1" dirty="0">
                    <a:solidFill>
                      <a:schemeClr val="tx1"/>
                    </a:solidFill>
                  </a:rPr>
                  <a:t>significance</a:t>
                </a:r>
                <a:r>
                  <a:rPr lang="en-GB" sz="1600" dirty="0">
                    <a:solidFill>
                      <a:schemeClr val="tx1"/>
                    </a:solidFill>
                  </a:rPr>
                  <a:t> (</a:t>
                </a:r>
                <a:r>
                  <a:rPr lang="el-GR" sz="1600" dirty="0">
                    <a:solidFill>
                      <a:schemeClr val="tx1"/>
                    </a:solidFill>
                  </a:rPr>
                  <a:t>α</a:t>
                </a:r>
                <a:r>
                  <a:rPr lang="en-GB" sz="1600" dirty="0">
                    <a:solidFill>
                      <a:schemeClr val="tx1"/>
                    </a:solidFill>
                  </a:rPr>
                  <a:t>)</a:t>
                </a:r>
              </a:p>
            </p:txBody>
          </p:sp>
        </p:grpSp>
        <p:grpSp>
          <p:nvGrpSpPr>
            <p:cNvPr id="104" name="Group 103"/>
            <p:cNvGrpSpPr/>
            <p:nvPr/>
          </p:nvGrpSpPr>
          <p:grpSpPr>
            <a:xfrm>
              <a:off x="925287" y="3661161"/>
              <a:ext cx="6618513" cy="958268"/>
              <a:chOff x="-65314" y="3611452"/>
              <a:chExt cx="6618513" cy="958268"/>
            </a:xfrm>
            <a:grpFill/>
          </p:grpSpPr>
          <p:sp>
            <p:nvSpPr>
              <p:cNvPr id="108" name="Freeform 107"/>
              <p:cNvSpPr/>
              <p:nvPr/>
            </p:nvSpPr>
            <p:spPr>
              <a:xfrm>
                <a:off x="-65314" y="3611452"/>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solidFill>
                <a:schemeClr val="accent4"/>
              </a:solidFill>
              <a:ln/>
            </p:spPr>
            <p:style>
              <a:lnRef idx="2">
                <a:schemeClr val="accent4"/>
              </a:lnRef>
              <a:fillRef idx="1">
                <a:schemeClr val="lt1"/>
              </a:fillRef>
              <a:effectRef idx="0">
                <a:schemeClr val="accent4"/>
              </a:effectRef>
              <a:fontRef idx="minor">
                <a:schemeClr val="dk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baseline="0" dirty="0">
                    <a:solidFill>
                      <a:schemeClr val="bg1"/>
                    </a:solidFill>
                  </a:rPr>
                  <a:t>4</a:t>
                </a:r>
              </a:p>
            </p:txBody>
          </p:sp>
          <p:sp>
            <p:nvSpPr>
              <p:cNvPr id="109" name="Freeform 108"/>
              <p:cNvSpPr/>
              <p:nvPr/>
            </p:nvSpPr>
            <p:spPr>
              <a:xfrm>
                <a:off x="1127986" y="3611453"/>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ln/>
            </p:spPr>
            <p:style>
              <a:lnRef idx="2">
                <a:schemeClr val="accent4"/>
              </a:lnRef>
              <a:fillRef idx="1">
                <a:schemeClr val="lt1"/>
              </a:fillRef>
              <a:effectRef idx="0">
                <a:schemeClr val="accent4"/>
              </a:effectRef>
              <a:fontRef idx="minor">
                <a:schemeClr val="dk1"/>
              </a:fontRef>
            </p:style>
            <p:txBody>
              <a:bodyPr spcFirstLastPara="0" vert="horz" wrap="square" lIns="120904" tIns="41201" rIns="41201" bIns="41202" numCol="1" spcCol="1270" anchor="ctr" anchorCtr="0">
                <a:noAutofit/>
              </a:bodyPr>
              <a:lstStyle/>
              <a:p>
                <a:pPr marL="0" lvl="1" algn="l" defTabSz="755650">
                  <a:lnSpc>
                    <a:spcPct val="90000"/>
                  </a:lnSpc>
                  <a:spcBef>
                    <a:spcPct val="0"/>
                  </a:spcBef>
                  <a:spcAft>
                    <a:spcPct val="15000"/>
                  </a:spcAft>
                </a:pPr>
                <a:r>
                  <a:rPr lang="en-GB" sz="1600" b="1" kern="1200" baseline="0" dirty="0">
                    <a:solidFill>
                      <a:schemeClr val="tx1"/>
                    </a:solidFill>
                  </a:rPr>
                  <a:t>Lookup </a:t>
                </a:r>
                <a:r>
                  <a:rPr lang="en-GB" sz="1600" kern="1200" baseline="0" dirty="0">
                    <a:solidFill>
                      <a:schemeClr val="tx1"/>
                    </a:solidFill>
                  </a:rPr>
                  <a:t>the</a:t>
                </a:r>
                <a:r>
                  <a:rPr lang="en-GB" sz="1600" b="1" kern="1200" baseline="0" dirty="0">
                    <a:solidFill>
                      <a:schemeClr val="tx1"/>
                    </a:solidFill>
                  </a:rPr>
                  <a:t> </a:t>
                </a:r>
                <a:r>
                  <a:rPr lang="en-GB" sz="1600" b="0" kern="1200" baseline="0" dirty="0">
                    <a:solidFill>
                      <a:schemeClr val="tx1"/>
                    </a:solidFill>
                  </a:rPr>
                  <a:t>critical value or the p-value</a:t>
                </a:r>
                <a:endParaRPr lang="en-GB" sz="1600" kern="1200" baseline="0" dirty="0">
                  <a:solidFill>
                    <a:schemeClr val="tx1"/>
                  </a:solidFill>
                </a:endParaRPr>
              </a:p>
            </p:txBody>
          </p:sp>
        </p:grpSp>
        <p:grpSp>
          <p:nvGrpSpPr>
            <p:cNvPr id="105" name="Group 104"/>
            <p:cNvGrpSpPr/>
            <p:nvPr/>
          </p:nvGrpSpPr>
          <p:grpSpPr>
            <a:xfrm>
              <a:off x="925287" y="4500548"/>
              <a:ext cx="6618513" cy="958268"/>
              <a:chOff x="-65314" y="4450839"/>
              <a:chExt cx="6618513" cy="958268"/>
            </a:xfrm>
            <a:grpFill/>
          </p:grpSpPr>
          <p:sp>
            <p:nvSpPr>
              <p:cNvPr id="106" name="Freeform 105"/>
              <p:cNvSpPr/>
              <p:nvPr/>
            </p:nvSpPr>
            <p:spPr>
              <a:xfrm>
                <a:off x="-65314" y="4450839"/>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solidFill>
                <a:schemeClr val="accent4"/>
              </a:solidFill>
              <a:ln/>
            </p:spPr>
            <p:style>
              <a:lnRef idx="2">
                <a:schemeClr val="accent4"/>
              </a:lnRef>
              <a:fillRef idx="1">
                <a:schemeClr val="lt1"/>
              </a:fillRef>
              <a:effectRef idx="0">
                <a:schemeClr val="accent4"/>
              </a:effectRef>
              <a:fontRef idx="minor">
                <a:schemeClr val="dk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baseline="0" dirty="0">
                    <a:solidFill>
                      <a:schemeClr val="bg1"/>
                    </a:solidFill>
                  </a:rPr>
                  <a:t>5</a:t>
                </a:r>
              </a:p>
            </p:txBody>
          </p:sp>
          <p:sp>
            <p:nvSpPr>
              <p:cNvPr id="107" name="Freeform 106"/>
              <p:cNvSpPr/>
              <p:nvPr/>
            </p:nvSpPr>
            <p:spPr>
              <a:xfrm>
                <a:off x="1127986" y="4450840"/>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ln/>
            </p:spPr>
            <p:style>
              <a:lnRef idx="2">
                <a:schemeClr val="accent4"/>
              </a:lnRef>
              <a:fillRef idx="1">
                <a:schemeClr val="lt1"/>
              </a:fillRef>
              <a:effectRef idx="0">
                <a:schemeClr val="accent4"/>
              </a:effectRef>
              <a:fontRef idx="minor">
                <a:schemeClr val="dk1"/>
              </a:fontRef>
            </p:style>
            <p:txBody>
              <a:bodyPr spcFirstLastPara="0" vert="horz" wrap="square" lIns="120904" tIns="41201" rIns="41201" bIns="41202" numCol="1" spcCol="1270" anchor="ctr" anchorCtr="0">
                <a:noAutofit/>
              </a:bodyPr>
              <a:lstStyle/>
              <a:p>
                <a:pPr marL="0" lvl="1" algn="l" defTabSz="755650">
                  <a:lnSpc>
                    <a:spcPct val="90000"/>
                  </a:lnSpc>
                  <a:spcBef>
                    <a:spcPct val="0"/>
                  </a:spcBef>
                  <a:spcAft>
                    <a:spcPct val="15000"/>
                  </a:spcAft>
                </a:pPr>
                <a:r>
                  <a:rPr lang="en-GB" sz="1600" b="1" kern="1200" baseline="0" dirty="0">
                    <a:solidFill>
                      <a:schemeClr val="tx1"/>
                    </a:solidFill>
                  </a:rPr>
                  <a:t>Reject</a:t>
                </a:r>
                <a:r>
                  <a:rPr lang="en-GB" sz="1600" kern="1200" baseline="0" dirty="0">
                    <a:solidFill>
                      <a:schemeClr val="tx1"/>
                    </a:solidFill>
                  </a:rPr>
                  <a:t> </a:t>
                </a:r>
                <a:r>
                  <a:rPr lang="en-GB" sz="1600" kern="1200" dirty="0">
                    <a:solidFill>
                      <a:schemeClr val="tx1"/>
                    </a:solidFill>
                  </a:rPr>
                  <a:t>H</a:t>
                </a:r>
                <a:r>
                  <a:rPr lang="en-GB" sz="1600" kern="1200" baseline="-25000" dirty="0">
                    <a:solidFill>
                      <a:schemeClr val="tx1"/>
                    </a:solidFill>
                  </a:rPr>
                  <a:t>0</a:t>
                </a:r>
                <a:r>
                  <a:rPr lang="en-GB" sz="1600" kern="1200" baseline="0" dirty="0">
                    <a:solidFill>
                      <a:schemeClr val="tx1"/>
                    </a:solidFill>
                  </a:rPr>
                  <a:t> or </a:t>
                </a:r>
                <a:r>
                  <a:rPr lang="en-GB" sz="1600" b="1" kern="1200" baseline="0" dirty="0">
                    <a:solidFill>
                      <a:schemeClr val="tx1"/>
                    </a:solidFill>
                  </a:rPr>
                  <a:t>Fail</a:t>
                </a:r>
                <a:r>
                  <a:rPr lang="en-GB" sz="1600" b="1" kern="1200" dirty="0">
                    <a:solidFill>
                      <a:schemeClr val="tx1"/>
                    </a:solidFill>
                  </a:rPr>
                  <a:t> to </a:t>
                </a:r>
                <a:r>
                  <a:rPr lang="en-GB" sz="1600" kern="1200" dirty="0">
                    <a:solidFill>
                      <a:schemeClr val="tx1"/>
                    </a:solidFill>
                  </a:rPr>
                  <a:t>Reject</a:t>
                </a:r>
                <a:r>
                  <a:rPr lang="en-GB" sz="1600" kern="1200" baseline="0" dirty="0">
                    <a:solidFill>
                      <a:schemeClr val="tx1"/>
                    </a:solidFill>
                  </a:rPr>
                  <a:t> </a:t>
                </a:r>
              </a:p>
            </p:txBody>
          </p:sp>
        </p:grpSp>
      </p:grpSp>
      <p:pic>
        <p:nvPicPr>
          <p:cNvPr id="5" name="Picture 4">
            <a:extLst>
              <a:ext uri="{FF2B5EF4-FFF2-40B4-BE49-F238E27FC236}">
                <a16:creationId xmlns:a16="http://schemas.microsoft.com/office/drawing/2014/main" id="{86623540-CE1E-492E-97C6-E0BBFF171595}"/>
              </a:ext>
            </a:extLst>
          </p:cNvPr>
          <p:cNvPicPr>
            <a:picLocks noChangeAspect="1"/>
          </p:cNvPicPr>
          <p:nvPr/>
        </p:nvPicPr>
        <p:blipFill>
          <a:blip r:embed="rId6"/>
          <a:stretch>
            <a:fillRect/>
          </a:stretch>
        </p:blipFill>
        <p:spPr>
          <a:xfrm>
            <a:off x="240497" y="5194982"/>
            <a:ext cx="4941103" cy="1523002"/>
          </a:xfrm>
          <a:prstGeom prst="rect">
            <a:avLst/>
          </a:prstGeom>
        </p:spPr>
      </p:pic>
      <p:sp>
        <p:nvSpPr>
          <p:cNvPr id="8" name="Rectangle 7">
            <a:extLst>
              <a:ext uri="{FF2B5EF4-FFF2-40B4-BE49-F238E27FC236}">
                <a16:creationId xmlns:a16="http://schemas.microsoft.com/office/drawing/2014/main" id="{4A67B94E-EBF4-4158-8CB2-DAF95C6A4D8D}"/>
              </a:ext>
            </a:extLst>
          </p:cNvPr>
          <p:cNvSpPr/>
          <p:nvPr/>
        </p:nvSpPr>
        <p:spPr>
          <a:xfrm>
            <a:off x="240496" y="6556408"/>
            <a:ext cx="4864903" cy="16598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7" name="Rectangle 126">
            <a:extLst>
              <a:ext uri="{FF2B5EF4-FFF2-40B4-BE49-F238E27FC236}">
                <a16:creationId xmlns:a16="http://schemas.microsoft.com/office/drawing/2014/main" id="{212C7FAF-E4B4-4B64-8A3B-FB2A50242A13}"/>
              </a:ext>
            </a:extLst>
          </p:cNvPr>
          <p:cNvSpPr/>
          <p:nvPr/>
        </p:nvSpPr>
        <p:spPr>
          <a:xfrm rot="5400000">
            <a:off x="4311945" y="5920044"/>
            <a:ext cx="1227096" cy="35981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45B4F107-5645-490A-A06E-86411EAF72FC}"/>
              </a:ext>
            </a:extLst>
          </p:cNvPr>
          <p:cNvSpPr txBox="1"/>
          <p:nvPr/>
        </p:nvSpPr>
        <p:spPr>
          <a:xfrm>
            <a:off x="5562600" y="5191328"/>
            <a:ext cx="2819400" cy="646331"/>
          </a:xfrm>
          <a:prstGeom prst="rect">
            <a:avLst/>
          </a:prstGeom>
          <a:noFill/>
        </p:spPr>
        <p:txBody>
          <a:bodyPr wrap="square" rtlCol="0">
            <a:spAutoFit/>
          </a:bodyPr>
          <a:lstStyle/>
          <a:p>
            <a:r>
              <a:rPr lang="en-GB" dirty="0"/>
              <a:t>P(Z&lt;-0.9901) = P(Z&gt;0.9901)  = 1 – P(Z&lt;0.9901) = 0.1611</a:t>
            </a:r>
          </a:p>
        </p:txBody>
      </p:sp>
    </p:spTree>
    <p:extLst>
      <p:ext uri="{BB962C8B-B14F-4D97-AF65-F5344CB8AC3E}">
        <p14:creationId xmlns:p14="http://schemas.microsoft.com/office/powerpoint/2010/main" val="2707047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fade">
                                      <p:cBhvr>
                                        <p:cTn id="7" dur="500"/>
                                        <p:tgtEl>
                                          <p:spTgt spid="8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2"/>
                                        </p:tgtEl>
                                        <p:attrNameLst>
                                          <p:attrName>style.visibility</p:attrName>
                                        </p:attrNameLst>
                                      </p:cBhvr>
                                      <p:to>
                                        <p:strVal val="visible"/>
                                      </p:to>
                                    </p:set>
                                    <p:animEffect transition="in" filter="fade">
                                      <p:cBhvr>
                                        <p:cTn id="12"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P spid="6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982496" y="1381125"/>
            <a:ext cx="7162800" cy="1362075"/>
          </a:xfrm>
        </p:spPr>
        <p:txBody>
          <a:bodyPr>
            <a:normAutofit/>
          </a:bodyPr>
          <a:lstStyle/>
          <a:p>
            <a:r>
              <a:rPr lang="en-GB" dirty="0"/>
              <a:t>NOT ENOUGH EVIDENCE TO REJECT THIS STATEMENT</a:t>
            </a:r>
          </a:p>
        </p:txBody>
      </p:sp>
      <mc:AlternateContent xmlns:mc="http://schemas.openxmlformats.org/markup-compatibility/2006" xmlns:a14="http://schemas.microsoft.com/office/drawing/2010/main">
        <mc:Choice Requires="a14">
          <p:sp>
            <p:nvSpPr>
              <p:cNvPr id="7" name="Rectangle 6"/>
              <p:cNvSpPr/>
              <p:nvPr/>
            </p:nvSpPr>
            <p:spPr>
              <a:xfrm>
                <a:off x="914400" y="642903"/>
                <a:ext cx="3135730" cy="7078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GB" sz="4000" b="0" i="0" smtClean="0">
                          <a:latin typeface="Cambria Math"/>
                          <a:ea typeface="Cambria Math"/>
                        </a:rPr>
                        <m:t>H</m:t>
                      </m:r>
                      <m:r>
                        <a:rPr lang="en-GB" sz="4000" b="0" i="0" baseline="-25000" smtClean="0">
                          <a:latin typeface="Cambria Math"/>
                          <a:ea typeface="Cambria Math"/>
                        </a:rPr>
                        <m:t>0</m:t>
                      </m:r>
                      <m:r>
                        <a:rPr lang="en-GB" sz="4000" b="0" i="1" smtClean="0">
                          <a:latin typeface="Cambria Math"/>
                          <a:ea typeface="Cambria Math"/>
                        </a:rPr>
                        <m:t>: </m:t>
                      </m:r>
                      <m:r>
                        <a:rPr lang="en-GB" sz="4000" i="1" smtClean="0">
                          <a:latin typeface="Cambria Math"/>
                          <a:ea typeface="Cambria Math"/>
                        </a:rPr>
                        <m:t>𝜋</m:t>
                      </m:r>
                      <m:r>
                        <a:rPr lang="en-GB" sz="4000" b="0" i="1" smtClean="0">
                          <a:latin typeface="Cambria Math"/>
                          <a:ea typeface="Cambria Math"/>
                        </a:rPr>
                        <m:t>=0.15</m:t>
                      </m:r>
                    </m:oMath>
                  </m:oMathPara>
                </a14:m>
                <a:endParaRPr lang="en-GB" sz="4000" dirty="0"/>
              </a:p>
            </p:txBody>
          </p:sp>
        </mc:Choice>
        <mc:Fallback xmlns="">
          <p:sp>
            <p:nvSpPr>
              <p:cNvPr id="7" name="Rectangle 6"/>
              <p:cNvSpPr>
                <a:spLocks noRot="1" noChangeAspect="1" noMove="1" noResize="1" noEditPoints="1" noAdjustHandles="1" noChangeArrowheads="1" noChangeShapeType="1" noTextEdit="1"/>
              </p:cNvSpPr>
              <p:nvPr/>
            </p:nvSpPr>
            <p:spPr>
              <a:xfrm>
                <a:off x="914400" y="642903"/>
                <a:ext cx="3135730" cy="707886"/>
              </a:xfrm>
              <a:prstGeom prst="rect">
                <a:avLst/>
              </a:prstGeom>
              <a:blipFill rotWithShape="1">
                <a:blip r:embed="rId3"/>
                <a:stretch>
                  <a:fillRect/>
                </a:stretch>
              </a:blipFill>
            </p:spPr>
            <p:txBody>
              <a:bodyPr/>
              <a:lstStyle/>
              <a:p>
                <a:r>
                  <a:rPr lang="en-GB">
                    <a:noFill/>
                  </a:rPr>
                  <a:t> </a:t>
                </a:r>
              </a:p>
            </p:txBody>
          </p:sp>
        </mc:Fallback>
      </mc:AlternateContent>
      <p:sp>
        <p:nvSpPr>
          <p:cNvPr id="9" name="Rectangle 8"/>
          <p:cNvSpPr/>
          <p:nvPr/>
        </p:nvSpPr>
        <p:spPr>
          <a:xfrm>
            <a:off x="990600" y="3415605"/>
            <a:ext cx="6781800" cy="1384995"/>
          </a:xfrm>
          <a:prstGeom prst="rect">
            <a:avLst/>
          </a:prstGeom>
          <a:solidFill>
            <a:schemeClr val="bg2"/>
          </a:solidFill>
        </p:spPr>
        <p:txBody>
          <a:bodyPr wrap="square">
            <a:spAutoFit/>
          </a:bodyPr>
          <a:lstStyle/>
          <a:p>
            <a:r>
              <a:rPr lang="en-GB" sz="2800" dirty="0">
                <a:ea typeface="Cambria Math"/>
              </a:rPr>
              <a:t>In other words, we cannot say that the percentage of trains departing late has significantly changed.</a:t>
            </a:r>
            <a:endParaRPr lang="en-GB" sz="2800" dirty="0"/>
          </a:p>
        </p:txBody>
      </p:sp>
      <p:pic>
        <p:nvPicPr>
          <p:cNvPr id="10" name="Picture 2" descr="http://www.clipartlord.com/wp-content/uploads/2013/03/train6.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83357" y="5715000"/>
            <a:ext cx="1731523" cy="8482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41671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304800" y="1119222"/>
            <a:ext cx="7162800" cy="1362075"/>
          </a:xfrm>
        </p:spPr>
        <p:txBody>
          <a:bodyPr>
            <a:normAutofit/>
          </a:bodyPr>
          <a:lstStyle/>
          <a:p>
            <a:r>
              <a:rPr lang="en-GB" altLang="en-US" sz="3200" b="0" dirty="0">
                <a:solidFill>
                  <a:srgbClr val="C00000"/>
                </a:solidFill>
              </a:rPr>
              <a:t>What if we observe </a:t>
            </a:r>
            <a:r>
              <a:rPr lang="en-GB" altLang="en-US" sz="3200" dirty="0">
                <a:solidFill>
                  <a:srgbClr val="C00000"/>
                </a:solidFill>
              </a:rPr>
              <a:t>500 trains </a:t>
            </a:r>
            <a:r>
              <a:rPr lang="en-GB" altLang="en-US" sz="3200" b="0" dirty="0">
                <a:solidFill>
                  <a:srgbClr val="C00000"/>
                </a:solidFill>
              </a:rPr>
              <a:t>and</a:t>
            </a:r>
            <a:r>
              <a:rPr lang="en-GB" altLang="en-US" sz="3200" dirty="0">
                <a:solidFill>
                  <a:srgbClr val="C00000"/>
                </a:solidFill>
              </a:rPr>
              <a:t> 10% </a:t>
            </a:r>
            <a:r>
              <a:rPr lang="en-GB" altLang="en-US" sz="3200" b="0" dirty="0">
                <a:solidFill>
                  <a:srgbClr val="C00000"/>
                </a:solidFill>
              </a:rPr>
              <a:t>of them </a:t>
            </a:r>
            <a:r>
              <a:rPr lang="en-GB" altLang="en-US" sz="3200" dirty="0">
                <a:solidFill>
                  <a:srgbClr val="C00000"/>
                </a:solidFill>
              </a:rPr>
              <a:t>depart</a:t>
            </a:r>
            <a:r>
              <a:rPr lang="en-GB" altLang="en-US" sz="3200" b="0" dirty="0">
                <a:solidFill>
                  <a:srgbClr val="C00000"/>
                </a:solidFill>
              </a:rPr>
              <a:t> </a:t>
            </a:r>
            <a:r>
              <a:rPr lang="en-GB" altLang="en-US" sz="3200" dirty="0">
                <a:solidFill>
                  <a:srgbClr val="C00000"/>
                </a:solidFill>
              </a:rPr>
              <a:t>late</a:t>
            </a:r>
            <a:r>
              <a:rPr lang="en-GB" altLang="en-US" sz="3200" b="0" dirty="0">
                <a:solidFill>
                  <a:srgbClr val="C00000"/>
                </a:solidFill>
              </a:rPr>
              <a:t>?</a:t>
            </a:r>
            <a:endParaRPr lang="en-GB" sz="3200" b="0" dirty="0">
              <a:solidFill>
                <a:srgbClr val="C00000"/>
              </a:solidFill>
            </a:endParaRPr>
          </a:p>
        </p:txBody>
      </p:sp>
      <mc:AlternateContent xmlns:mc="http://schemas.openxmlformats.org/markup-compatibility/2006" xmlns:a14="http://schemas.microsoft.com/office/drawing/2010/main">
        <mc:Choice Requires="a14">
          <p:sp>
            <p:nvSpPr>
              <p:cNvPr id="7" name="Rectangle 6"/>
              <p:cNvSpPr/>
              <p:nvPr/>
            </p:nvSpPr>
            <p:spPr>
              <a:xfrm>
                <a:off x="236704" y="381000"/>
                <a:ext cx="6809878" cy="7078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nor/>
                        </m:rPr>
                        <a:rPr lang="en-GB" sz="4000" dirty="0"/>
                        <m:t>Q</m:t>
                      </m:r>
                      <m:r>
                        <m:rPr>
                          <m:nor/>
                        </m:rPr>
                        <a:rPr lang="en-GB" sz="4000" dirty="0"/>
                        <m:t>1 </m:t>
                      </m:r>
                      <m:r>
                        <m:rPr>
                          <m:nor/>
                        </m:rPr>
                        <a:rPr lang="en-GB" sz="4000" dirty="0"/>
                        <m:t>Has</m:t>
                      </m:r>
                      <m:r>
                        <m:rPr>
                          <m:nor/>
                        </m:rPr>
                        <a:rPr lang="en-GB" sz="4000" dirty="0"/>
                        <m:t> </m:t>
                      </m:r>
                      <m:r>
                        <m:rPr>
                          <m:nor/>
                        </m:rPr>
                        <a:rPr lang="en-GB" sz="4000" dirty="0"/>
                        <m:t>train</m:t>
                      </m:r>
                      <m:r>
                        <m:rPr>
                          <m:nor/>
                        </m:rPr>
                        <a:rPr lang="en-GB" sz="4000" dirty="0"/>
                        <m:t> </m:t>
                      </m:r>
                      <m:r>
                        <m:rPr>
                          <m:nor/>
                        </m:rPr>
                        <a:rPr lang="en-GB" sz="4000" dirty="0"/>
                        <m:t>service</m:t>
                      </m:r>
                      <m:r>
                        <m:rPr>
                          <m:nor/>
                        </m:rPr>
                        <a:rPr lang="en-GB" sz="4000" dirty="0"/>
                        <m:t> </m:t>
                      </m:r>
                      <m:r>
                        <m:rPr>
                          <m:nor/>
                        </m:rPr>
                        <a:rPr lang="en-GB" sz="4000" dirty="0"/>
                        <m:t>improved</m:t>
                      </m:r>
                      <m:r>
                        <m:rPr>
                          <m:nor/>
                        </m:rPr>
                        <a:rPr lang="en-GB" sz="4000" dirty="0"/>
                        <m:t>?</m:t>
                      </m:r>
                    </m:oMath>
                  </m:oMathPara>
                </a14:m>
                <a:endParaRPr lang="en-GB" sz="4000" dirty="0"/>
              </a:p>
            </p:txBody>
          </p:sp>
        </mc:Choice>
        <mc:Fallback xmlns="">
          <p:sp>
            <p:nvSpPr>
              <p:cNvPr id="7" name="Rectangle 6"/>
              <p:cNvSpPr>
                <a:spLocks noRot="1" noChangeAspect="1" noMove="1" noResize="1" noEditPoints="1" noAdjustHandles="1" noChangeArrowheads="1" noChangeShapeType="1" noTextEdit="1"/>
              </p:cNvSpPr>
              <p:nvPr/>
            </p:nvSpPr>
            <p:spPr>
              <a:xfrm>
                <a:off x="236704" y="381000"/>
                <a:ext cx="6809878" cy="707886"/>
              </a:xfrm>
              <a:prstGeom prst="rect">
                <a:avLst/>
              </a:prstGeom>
              <a:blipFill>
                <a:blip r:embed="rId3"/>
                <a:stretch>
                  <a:fillRect/>
                </a:stretch>
              </a:blipFill>
            </p:spPr>
            <p:txBody>
              <a:bodyPr/>
              <a:lstStyle/>
              <a:p>
                <a:r>
                  <a:rPr lang="en-GB">
                    <a:noFill/>
                  </a:rPr>
                  <a:t> </a:t>
                </a:r>
              </a:p>
            </p:txBody>
          </p:sp>
        </mc:Fallback>
      </mc:AlternateContent>
      <p:pic>
        <p:nvPicPr>
          <p:cNvPr id="10" name="Picture 2" descr="http://www.clipartlord.com/wp-content/uploads/2013/03/train6.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7200" y="5781128"/>
            <a:ext cx="1731523" cy="848272"/>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05200" y="1866900"/>
            <a:ext cx="5419725" cy="476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77700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74"/>
                                        </p:tgtEl>
                                        <p:attrNameLst>
                                          <p:attrName>style.visibility</p:attrName>
                                        </p:attrNameLst>
                                      </p:cBhvr>
                                      <p:to>
                                        <p:strVal val="visible"/>
                                      </p:to>
                                    </p:set>
                                    <p:animEffect transition="in" filter="fade">
                                      <p:cBhvr>
                                        <p:cTn id="7" dur="500"/>
                                        <p:tgtEl>
                                          <p:spTgt spid="71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304800" y="1119222"/>
            <a:ext cx="7162800" cy="1362075"/>
          </a:xfrm>
        </p:spPr>
        <p:txBody>
          <a:bodyPr>
            <a:normAutofit/>
          </a:bodyPr>
          <a:lstStyle/>
          <a:p>
            <a:r>
              <a:rPr lang="en-GB" altLang="en-US" sz="3200" b="0" dirty="0">
                <a:solidFill>
                  <a:srgbClr val="C00000"/>
                </a:solidFill>
              </a:rPr>
              <a:t>What if we observe </a:t>
            </a:r>
            <a:r>
              <a:rPr lang="en-GB" altLang="en-US" sz="3200" dirty="0">
                <a:solidFill>
                  <a:srgbClr val="C00000"/>
                </a:solidFill>
              </a:rPr>
              <a:t>500 trains </a:t>
            </a:r>
            <a:r>
              <a:rPr lang="en-GB" altLang="en-US" sz="3200" b="0" dirty="0">
                <a:solidFill>
                  <a:srgbClr val="C00000"/>
                </a:solidFill>
              </a:rPr>
              <a:t>and</a:t>
            </a:r>
            <a:r>
              <a:rPr lang="en-GB" altLang="en-US" sz="3200" dirty="0">
                <a:solidFill>
                  <a:srgbClr val="C00000"/>
                </a:solidFill>
              </a:rPr>
              <a:t> 10% </a:t>
            </a:r>
            <a:r>
              <a:rPr lang="en-GB" altLang="en-US" sz="3200" b="0" dirty="0">
                <a:solidFill>
                  <a:srgbClr val="C00000"/>
                </a:solidFill>
              </a:rPr>
              <a:t>of them </a:t>
            </a:r>
            <a:r>
              <a:rPr lang="en-GB" altLang="en-US" sz="3200" dirty="0">
                <a:solidFill>
                  <a:srgbClr val="C00000"/>
                </a:solidFill>
              </a:rPr>
              <a:t>depart</a:t>
            </a:r>
            <a:r>
              <a:rPr lang="en-GB" altLang="en-US" sz="3200" b="0" dirty="0">
                <a:solidFill>
                  <a:srgbClr val="C00000"/>
                </a:solidFill>
              </a:rPr>
              <a:t> </a:t>
            </a:r>
            <a:r>
              <a:rPr lang="en-GB" altLang="en-US" sz="3200" dirty="0">
                <a:solidFill>
                  <a:srgbClr val="C00000"/>
                </a:solidFill>
              </a:rPr>
              <a:t>late</a:t>
            </a:r>
            <a:r>
              <a:rPr lang="en-GB" altLang="en-US" sz="3200" b="0" dirty="0">
                <a:solidFill>
                  <a:srgbClr val="C00000"/>
                </a:solidFill>
              </a:rPr>
              <a:t>?</a:t>
            </a:r>
            <a:endParaRPr lang="en-GB" sz="3200" b="0" dirty="0">
              <a:solidFill>
                <a:srgbClr val="C00000"/>
              </a:solidFill>
            </a:endParaRPr>
          </a:p>
        </p:txBody>
      </p:sp>
      <p:sp>
        <p:nvSpPr>
          <p:cNvPr id="7" name="Rectangle 6"/>
          <p:cNvSpPr/>
          <p:nvPr/>
        </p:nvSpPr>
        <p:spPr>
          <a:xfrm>
            <a:off x="236704" y="381000"/>
            <a:ext cx="6673173" cy="707886"/>
          </a:xfrm>
          <a:prstGeom prst="rect">
            <a:avLst/>
          </a:prstGeom>
        </p:spPr>
        <p:txBody>
          <a:bodyPr wrap="none">
            <a:spAutoFit/>
          </a:bodyPr>
          <a:lstStyle/>
          <a:p>
            <a:r>
              <a:rPr lang="en-GB" sz="4000" dirty="0"/>
              <a:t>Q1 Has train service improved?</a:t>
            </a:r>
          </a:p>
        </p:txBody>
      </p:sp>
      <p:pic>
        <p:nvPicPr>
          <p:cNvPr id="10" name="Picture 2" descr="http://www.clipartlord.com/wp-content/uploads/2013/03/train6.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00" y="5781128"/>
            <a:ext cx="1731523" cy="848272"/>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5200" y="1866900"/>
            <a:ext cx="5419725" cy="476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304800" y="2743200"/>
            <a:ext cx="4572000" cy="1200329"/>
          </a:xfrm>
          <a:prstGeom prst="rect">
            <a:avLst/>
          </a:prstGeom>
        </p:spPr>
        <p:txBody>
          <a:bodyPr>
            <a:spAutoFit/>
          </a:bodyPr>
          <a:lstStyle/>
          <a:p>
            <a:r>
              <a:rPr lang="en-GB" altLang="en-US" b="1" dirty="0">
                <a:solidFill>
                  <a:srgbClr val="00B050"/>
                </a:solidFill>
              </a:rPr>
              <a:t>WE REJECT NULL HYPOTHESIS </a:t>
            </a:r>
          </a:p>
          <a:p>
            <a:r>
              <a:rPr lang="en-GB" altLang="en-US" b="1" dirty="0">
                <a:solidFill>
                  <a:srgbClr val="00B050"/>
                </a:solidFill>
              </a:rPr>
              <a:t>THEREFORE, OUR ANSWER IS </a:t>
            </a:r>
          </a:p>
          <a:p>
            <a:endParaRPr lang="en-GB" altLang="en-US" b="1" dirty="0">
              <a:solidFill>
                <a:srgbClr val="00B050"/>
              </a:solidFill>
            </a:endParaRPr>
          </a:p>
          <a:p>
            <a:r>
              <a:rPr lang="en-GB" altLang="en-US" b="1" dirty="0">
                <a:solidFill>
                  <a:srgbClr val="00B050"/>
                </a:solidFill>
              </a:rPr>
              <a:t>YES, IT HAS IMPROVED</a:t>
            </a:r>
          </a:p>
        </p:txBody>
      </p:sp>
    </p:spTree>
    <p:extLst>
      <p:ext uri="{BB962C8B-B14F-4D97-AF65-F5344CB8AC3E}">
        <p14:creationId xmlns:p14="http://schemas.microsoft.com/office/powerpoint/2010/main" val="23052768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468730" y="4853022"/>
            <a:ext cx="7162800" cy="1362075"/>
          </a:xfrm>
        </p:spPr>
        <p:txBody>
          <a:bodyPr>
            <a:normAutofit/>
          </a:bodyPr>
          <a:lstStyle/>
          <a:p>
            <a:r>
              <a:rPr lang="en-GB" dirty="0"/>
              <a:t>10 Minutes Break</a:t>
            </a:r>
          </a:p>
        </p:txBody>
      </p:sp>
    </p:spTree>
    <p:extLst>
      <p:ext uri="{BB962C8B-B14F-4D97-AF65-F5344CB8AC3E}">
        <p14:creationId xmlns:p14="http://schemas.microsoft.com/office/powerpoint/2010/main" val="22690020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HYPOTHESIS TESTING</a:t>
            </a:r>
          </a:p>
        </p:txBody>
      </p:sp>
      <p:graphicFrame>
        <p:nvGraphicFramePr>
          <p:cNvPr id="7" name="Table 6"/>
          <p:cNvGraphicFramePr>
            <a:graphicFrameLocks noGrp="1"/>
          </p:cNvGraphicFramePr>
          <p:nvPr>
            <p:extLst>
              <p:ext uri="{D42A27DB-BD31-4B8C-83A1-F6EECF244321}">
                <p14:modId xmlns:p14="http://schemas.microsoft.com/office/powerpoint/2010/main" val="3893829387"/>
              </p:ext>
            </p:extLst>
          </p:nvPr>
        </p:nvGraphicFramePr>
        <p:xfrm>
          <a:off x="419912" y="1086256"/>
          <a:ext cx="7657287" cy="3684270"/>
        </p:xfrm>
        <a:graphic>
          <a:graphicData uri="http://schemas.openxmlformats.org/drawingml/2006/table">
            <a:tbl>
              <a:tblPr firstRow="1" firstCol="1">
                <a:tableStyleId>{8EC20E35-A176-4012-BC5E-935CFFF8708E}</a:tableStyleId>
              </a:tblPr>
              <a:tblGrid>
                <a:gridCol w="2552429">
                  <a:extLst>
                    <a:ext uri="{9D8B030D-6E8A-4147-A177-3AD203B41FA5}">
                      <a16:colId xmlns:a16="http://schemas.microsoft.com/office/drawing/2014/main" val="20000"/>
                    </a:ext>
                  </a:extLst>
                </a:gridCol>
                <a:gridCol w="2552429">
                  <a:extLst>
                    <a:ext uri="{9D8B030D-6E8A-4147-A177-3AD203B41FA5}">
                      <a16:colId xmlns:a16="http://schemas.microsoft.com/office/drawing/2014/main" val="20001"/>
                    </a:ext>
                  </a:extLst>
                </a:gridCol>
                <a:gridCol w="2552429">
                  <a:extLst>
                    <a:ext uri="{9D8B030D-6E8A-4147-A177-3AD203B41FA5}">
                      <a16:colId xmlns:a16="http://schemas.microsoft.com/office/drawing/2014/main" val="20002"/>
                    </a:ext>
                  </a:extLst>
                </a:gridCol>
              </a:tblGrid>
              <a:tr h="381000">
                <a:tc>
                  <a:txBody>
                    <a:bodyPr/>
                    <a:lstStyle/>
                    <a:p>
                      <a:pPr algn="ctr"/>
                      <a:endParaRPr lang="en-GB" dirty="0"/>
                    </a:p>
                  </a:txBody>
                  <a:tcPr anchor="ctr"/>
                </a:tc>
                <a:tc>
                  <a:txBody>
                    <a:bodyPr/>
                    <a:lstStyle/>
                    <a:p>
                      <a:pPr algn="ctr"/>
                      <a:r>
                        <a:rPr lang="en-GB" dirty="0"/>
                        <a:t>Categorical</a:t>
                      </a:r>
                    </a:p>
                  </a:txBody>
                  <a:tcPr anchor="ctr"/>
                </a:tc>
                <a:tc>
                  <a:txBody>
                    <a:bodyPr/>
                    <a:lstStyle/>
                    <a:p>
                      <a:pPr algn="ctr"/>
                      <a:r>
                        <a:rPr lang="en-GB" dirty="0"/>
                        <a:t>Scalar</a:t>
                      </a:r>
                    </a:p>
                  </a:txBody>
                  <a:tcPr anchor="ctr"/>
                </a:tc>
                <a:extLst>
                  <a:ext uri="{0D108BD9-81ED-4DB2-BD59-A6C34878D82A}">
                    <a16:rowId xmlns:a16="http://schemas.microsoft.com/office/drawing/2014/main" val="10000"/>
                  </a:ext>
                </a:extLst>
              </a:tr>
              <a:tr h="1047750">
                <a:tc>
                  <a:txBody>
                    <a:bodyPr/>
                    <a:lstStyle/>
                    <a:p>
                      <a:pPr algn="ctr"/>
                      <a:r>
                        <a:rPr lang="en-GB" b="0" dirty="0"/>
                        <a:t>Inference for </a:t>
                      </a:r>
                    </a:p>
                    <a:p>
                      <a:pPr algn="ctr"/>
                      <a:r>
                        <a:rPr lang="en-GB" sz="2400" dirty="0"/>
                        <a:t>One</a:t>
                      </a:r>
                      <a:r>
                        <a:rPr lang="en-GB" sz="2400" baseline="0" dirty="0"/>
                        <a:t> group</a:t>
                      </a:r>
                      <a:endParaRPr lang="en-GB" sz="2400" dirty="0"/>
                    </a:p>
                  </a:txBody>
                  <a:tcPr anchor="ctr"/>
                </a:tc>
                <a:tc>
                  <a:txBody>
                    <a:bodyPr/>
                    <a:lstStyle/>
                    <a:p>
                      <a:pPr algn="ctr"/>
                      <a:r>
                        <a:rPr lang="en-GB" sz="3200" b="1" dirty="0">
                          <a:solidFill>
                            <a:schemeClr val="bg1">
                              <a:lumMod val="85000"/>
                            </a:schemeClr>
                          </a:solidFill>
                        </a:rPr>
                        <a:t>Z Test</a:t>
                      </a:r>
                    </a:p>
                    <a:p>
                      <a:pPr algn="ctr"/>
                      <a:r>
                        <a:rPr lang="en-GB" sz="1800" dirty="0">
                          <a:solidFill>
                            <a:schemeClr val="bg1">
                              <a:lumMod val="85000"/>
                            </a:schemeClr>
                          </a:solidFill>
                        </a:rPr>
                        <a:t>for proportion</a:t>
                      </a:r>
                    </a:p>
                  </a:txBody>
                  <a:tcPr anchor="ctr"/>
                </a:tc>
                <a:tc>
                  <a:txBody>
                    <a:bodyPr/>
                    <a:lstStyle/>
                    <a:p>
                      <a:pPr algn="ctr"/>
                      <a:r>
                        <a:rPr lang="en-GB" sz="3200" b="1" dirty="0"/>
                        <a:t>t Test</a:t>
                      </a:r>
                    </a:p>
                    <a:p>
                      <a:pPr algn="ctr"/>
                      <a:r>
                        <a:rPr lang="en-GB" sz="1800" dirty="0">
                          <a:solidFill>
                            <a:schemeClr val="tx1">
                              <a:lumMod val="65000"/>
                              <a:lumOff val="35000"/>
                            </a:schemeClr>
                          </a:solidFill>
                        </a:rPr>
                        <a:t>for mean</a:t>
                      </a:r>
                      <a:endParaRPr lang="en-GB" sz="2000" dirty="0">
                        <a:solidFill>
                          <a:schemeClr val="tx1">
                            <a:lumMod val="65000"/>
                            <a:lumOff val="35000"/>
                          </a:schemeClr>
                        </a:solidFill>
                      </a:endParaRPr>
                    </a:p>
                  </a:txBody>
                  <a:tcPr anchor="ctr"/>
                </a:tc>
                <a:extLst>
                  <a:ext uri="{0D108BD9-81ED-4DB2-BD59-A6C34878D82A}">
                    <a16:rowId xmlns:a16="http://schemas.microsoft.com/office/drawing/2014/main" val="10001"/>
                  </a:ext>
                </a:extLst>
              </a:tr>
              <a:tr h="1127760">
                <a:tc>
                  <a:txBody>
                    <a:bodyPr/>
                    <a:lstStyle/>
                    <a:p>
                      <a:pPr algn="ctr"/>
                      <a:r>
                        <a:rPr lang="en-GB" b="0" dirty="0"/>
                        <a:t>Comparing</a:t>
                      </a:r>
                    </a:p>
                    <a:p>
                      <a:pPr algn="ctr"/>
                      <a:r>
                        <a:rPr lang="en-GB" sz="2400" dirty="0"/>
                        <a:t>Two groups</a:t>
                      </a:r>
                    </a:p>
                  </a:txBody>
                  <a:tcPr anchor="ctr"/>
                </a:tc>
                <a:tc>
                  <a:txBody>
                    <a:bodyPr/>
                    <a:lstStyle/>
                    <a:p>
                      <a:pPr algn="ctr"/>
                      <a:r>
                        <a:rPr lang="en-GB" sz="3200" b="1" dirty="0"/>
                        <a:t>Z Test</a:t>
                      </a:r>
                    </a:p>
                    <a:p>
                      <a:pPr algn="ctr"/>
                      <a:r>
                        <a:rPr lang="en-GB" sz="1800" dirty="0">
                          <a:solidFill>
                            <a:schemeClr val="tx1">
                              <a:lumMod val="65000"/>
                              <a:lumOff val="35000"/>
                            </a:schemeClr>
                          </a:solidFill>
                        </a:rPr>
                        <a:t>for difference in</a:t>
                      </a:r>
                    </a:p>
                    <a:p>
                      <a:pPr algn="ctr"/>
                      <a:r>
                        <a:rPr lang="en-GB" sz="1800" dirty="0">
                          <a:solidFill>
                            <a:schemeClr val="tx1">
                              <a:lumMod val="65000"/>
                              <a:lumOff val="35000"/>
                            </a:schemeClr>
                          </a:solidFill>
                        </a:rPr>
                        <a:t>two proportions</a:t>
                      </a:r>
                    </a:p>
                  </a:txBody>
                  <a:tcPr anchor="ctr">
                    <a:solidFill>
                      <a:schemeClr val="bg1">
                        <a:lumMod val="85000"/>
                      </a:schemeClr>
                    </a:solidFill>
                  </a:tcPr>
                </a:tc>
                <a:tc>
                  <a:txBody>
                    <a:bodyPr/>
                    <a:lstStyle/>
                    <a:p>
                      <a:pPr algn="ctr"/>
                      <a:r>
                        <a:rPr lang="en-GB" sz="3200" b="1" dirty="0"/>
                        <a:t>t Test</a:t>
                      </a:r>
                    </a:p>
                    <a:p>
                      <a:pPr algn="ctr"/>
                      <a:r>
                        <a:rPr lang="en-GB" sz="1800" dirty="0">
                          <a:solidFill>
                            <a:schemeClr val="tx1">
                              <a:lumMod val="65000"/>
                              <a:lumOff val="35000"/>
                            </a:schemeClr>
                          </a:solidFill>
                        </a:rPr>
                        <a:t>for difference in</a:t>
                      </a:r>
                    </a:p>
                    <a:p>
                      <a:pPr algn="ctr"/>
                      <a:r>
                        <a:rPr lang="en-GB" sz="1800" dirty="0">
                          <a:solidFill>
                            <a:schemeClr val="tx1">
                              <a:lumMod val="65000"/>
                              <a:lumOff val="35000"/>
                            </a:schemeClr>
                          </a:solidFill>
                        </a:rPr>
                        <a:t>two means</a:t>
                      </a:r>
                    </a:p>
                  </a:txBody>
                  <a:tcPr anchor="ctr">
                    <a:solidFill>
                      <a:schemeClr val="bg1">
                        <a:lumMod val="85000"/>
                      </a:schemeClr>
                    </a:solidFill>
                  </a:tcPr>
                </a:tc>
                <a:extLst>
                  <a:ext uri="{0D108BD9-81ED-4DB2-BD59-A6C34878D82A}">
                    <a16:rowId xmlns:a16="http://schemas.microsoft.com/office/drawing/2014/main" val="10002"/>
                  </a:ext>
                </a:extLst>
              </a:tr>
              <a:tr h="1127760">
                <a:tc>
                  <a:txBody>
                    <a:bodyPr/>
                    <a:lstStyle/>
                    <a:p>
                      <a:pPr algn="ctr"/>
                      <a:r>
                        <a:rPr lang="en-GB" b="0" dirty="0"/>
                        <a:t>Comparing</a:t>
                      </a:r>
                    </a:p>
                    <a:p>
                      <a:pPr algn="ctr"/>
                      <a:r>
                        <a:rPr lang="en-GB" sz="2400" b="1" dirty="0"/>
                        <a:t>Many groups</a:t>
                      </a:r>
                    </a:p>
                  </a:txBody>
                  <a:tcPr anchor="ctr"/>
                </a:tc>
                <a:tc>
                  <a:txBody>
                    <a:bodyPr/>
                    <a:lstStyle/>
                    <a:p>
                      <a:pPr algn="ctr"/>
                      <a:r>
                        <a:rPr lang="el-GR" sz="3200" b="1" dirty="0"/>
                        <a:t>χ</a:t>
                      </a:r>
                      <a:r>
                        <a:rPr lang="en-GB" sz="3200" b="1" baseline="30000" dirty="0"/>
                        <a:t>2</a:t>
                      </a:r>
                    </a:p>
                    <a:p>
                      <a:pPr algn="ctr"/>
                      <a:r>
                        <a:rPr lang="en-GB" sz="1800" dirty="0">
                          <a:solidFill>
                            <a:schemeClr val="tx1">
                              <a:lumMod val="65000"/>
                              <a:lumOff val="35000"/>
                            </a:schemeClr>
                          </a:solidFill>
                        </a:rPr>
                        <a:t>for difference among several proportions</a:t>
                      </a:r>
                      <a:endParaRPr lang="en-GB" sz="1800" baseline="30000" dirty="0"/>
                    </a:p>
                  </a:txBody>
                  <a:tcPr anchor="ctr"/>
                </a:tc>
                <a:tc>
                  <a:txBody>
                    <a:bodyPr/>
                    <a:lstStyle/>
                    <a:p>
                      <a:pPr algn="ctr"/>
                      <a:r>
                        <a:rPr lang="en-GB" sz="3200" b="1" dirty="0"/>
                        <a:t>ANOVA</a:t>
                      </a:r>
                    </a:p>
                    <a:p>
                      <a:pPr algn="ctr"/>
                      <a:r>
                        <a:rPr lang="en-GB" sz="1800" dirty="0">
                          <a:solidFill>
                            <a:schemeClr val="tx1">
                              <a:lumMod val="65000"/>
                              <a:lumOff val="35000"/>
                            </a:schemeClr>
                          </a:solidFill>
                        </a:rPr>
                        <a:t>for comparing </a:t>
                      </a:r>
                    </a:p>
                    <a:p>
                      <a:pPr algn="ctr"/>
                      <a:r>
                        <a:rPr lang="en-GB" sz="1800" dirty="0">
                          <a:solidFill>
                            <a:schemeClr val="tx1">
                              <a:lumMod val="65000"/>
                              <a:lumOff val="35000"/>
                            </a:schemeClr>
                          </a:solidFill>
                        </a:rPr>
                        <a:t>several means</a:t>
                      </a:r>
                    </a:p>
                  </a:txBody>
                  <a:tcPr anchor="ctr"/>
                </a:tc>
                <a:extLst>
                  <a:ext uri="{0D108BD9-81ED-4DB2-BD59-A6C34878D82A}">
                    <a16:rowId xmlns:a16="http://schemas.microsoft.com/office/drawing/2014/main" val="10003"/>
                  </a:ext>
                </a:extLst>
              </a:tr>
            </a:tbl>
          </a:graphicData>
        </a:graphic>
      </p:graphicFrame>
      <p:sp>
        <p:nvSpPr>
          <p:cNvPr id="8" name="TextBox 7"/>
          <p:cNvSpPr txBox="1"/>
          <p:nvPr/>
        </p:nvSpPr>
        <p:spPr>
          <a:xfrm>
            <a:off x="2957657" y="4724400"/>
            <a:ext cx="5119543" cy="338554"/>
          </a:xfrm>
          <a:prstGeom prst="rect">
            <a:avLst/>
          </a:prstGeom>
          <a:noFill/>
        </p:spPr>
        <p:txBody>
          <a:bodyPr wrap="none" rtlCol="0">
            <a:spAutoFit/>
          </a:bodyPr>
          <a:lstStyle/>
          <a:p>
            <a:r>
              <a:rPr lang="en-GB" sz="1600" dirty="0">
                <a:solidFill>
                  <a:schemeClr val="tx1">
                    <a:lumMod val="65000"/>
                    <a:lumOff val="35000"/>
                  </a:schemeClr>
                </a:solidFill>
              </a:rPr>
              <a:t>N.B.  This is only a subset of numerous statistical techniques</a:t>
            </a:r>
          </a:p>
        </p:txBody>
      </p:sp>
      <p:sp>
        <p:nvSpPr>
          <p:cNvPr id="9" name="Rounded Rectangle 8"/>
          <p:cNvSpPr/>
          <p:nvPr/>
        </p:nvSpPr>
        <p:spPr>
          <a:xfrm>
            <a:off x="3190672" y="1580744"/>
            <a:ext cx="2133600" cy="838200"/>
          </a:xfrm>
          <a:prstGeom prst="roundRect">
            <a:avLst/>
          </a:prstGeom>
          <a:noFill/>
          <a:ln w="762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ounded Rectangle 5"/>
          <p:cNvSpPr/>
          <p:nvPr/>
        </p:nvSpPr>
        <p:spPr>
          <a:xfrm>
            <a:off x="5715000" y="1580744"/>
            <a:ext cx="2133600" cy="838200"/>
          </a:xfrm>
          <a:prstGeom prst="roundRect">
            <a:avLst/>
          </a:prstGeom>
          <a:no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486521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a:t>Example</a:t>
            </a:r>
            <a:endParaRPr lang="en-GB" dirty="0"/>
          </a:p>
        </p:txBody>
      </p:sp>
      <p:sp>
        <p:nvSpPr>
          <p:cNvPr id="6" name="Text Box 2"/>
          <p:cNvSpPr txBox="1">
            <a:spLocks noChangeArrowheads="1"/>
          </p:cNvSpPr>
          <p:nvPr/>
        </p:nvSpPr>
        <p:spPr bwMode="auto">
          <a:xfrm>
            <a:off x="304800" y="789325"/>
            <a:ext cx="5715000" cy="1015663"/>
          </a:xfrm>
          <a:prstGeom prst="rect">
            <a:avLst/>
          </a:prstGeom>
          <a:solidFill>
            <a:schemeClr val="accent4">
              <a:lumMod val="20000"/>
              <a:lumOff val="80000"/>
            </a:schemeClr>
          </a:solidFill>
          <a:ln>
            <a:noFill/>
          </a:ln>
          <a:effectLst/>
        </p:spPr>
        <p:txBody>
          <a:bodyPr wrap="square">
            <a:spAutoFit/>
          </a:bodyPr>
          <a:lstStyle/>
          <a:p>
            <a:r>
              <a:rPr lang="en-GB" altLang="en-US" sz="2000" dirty="0">
                <a:effectLst>
                  <a:outerShdw blurRad="38100" dist="38100" dir="2700000" algn="tl">
                    <a:srgbClr val="FFFFFF"/>
                  </a:outerShdw>
                </a:effectLst>
              </a:rPr>
              <a:t>The </a:t>
            </a:r>
            <a:r>
              <a:rPr lang="en-GB" altLang="en-US" sz="2000" b="1" dirty="0">
                <a:effectLst>
                  <a:outerShdw blurRad="38100" dist="38100" dir="2700000" algn="tl">
                    <a:srgbClr val="FFFFFF"/>
                  </a:outerShdw>
                </a:effectLst>
              </a:rPr>
              <a:t>average </a:t>
            </a:r>
            <a:r>
              <a:rPr lang="en-GB" altLang="en-US" sz="2000" dirty="0">
                <a:effectLst>
                  <a:outerShdw blurRad="38100" dist="38100" dir="2700000" algn="tl">
                    <a:srgbClr val="FFFFFF"/>
                  </a:outerShdw>
                </a:effectLst>
              </a:rPr>
              <a:t>number of hours worked by employees in the Telecom sector is </a:t>
            </a:r>
            <a:r>
              <a:rPr lang="en-GB" altLang="en-US" sz="2000" b="1" dirty="0">
                <a:effectLst>
                  <a:outerShdw blurRad="38100" dist="38100" dir="2700000" algn="tl">
                    <a:srgbClr val="FFFFFF"/>
                  </a:outerShdw>
                </a:effectLst>
              </a:rPr>
              <a:t>40 hours </a:t>
            </a:r>
            <a:r>
              <a:rPr lang="en-GB" altLang="en-US" sz="2000" dirty="0">
                <a:effectLst>
                  <a:outerShdw blurRad="38100" dist="38100" dir="2700000" algn="tl">
                    <a:srgbClr val="FFFFFF"/>
                  </a:outerShdw>
                </a:effectLst>
              </a:rPr>
              <a:t>per week… But the managers tend to work </a:t>
            </a:r>
            <a:r>
              <a:rPr lang="en-GB" altLang="en-US" sz="2000" b="1" dirty="0">
                <a:effectLst>
                  <a:outerShdw blurRad="38100" dist="38100" dir="2700000" algn="tl">
                    <a:srgbClr val="FFFFFF"/>
                  </a:outerShdw>
                </a:effectLst>
              </a:rPr>
              <a:t>more </a:t>
            </a:r>
            <a:r>
              <a:rPr lang="en-GB" altLang="en-US" sz="2000" dirty="0">
                <a:effectLst>
                  <a:outerShdw blurRad="38100" dist="38100" dir="2700000" algn="tl">
                    <a:srgbClr val="FFFFFF"/>
                  </a:outerShdw>
                </a:effectLst>
              </a:rPr>
              <a:t>on average.</a:t>
            </a:r>
          </a:p>
        </p:txBody>
      </p:sp>
      <p:pic>
        <p:nvPicPr>
          <p:cNvPr id="8194" name="Picture 2" descr="http://i0.wp.com/geekstopten.com/wp-content/uploads/2014/04/4.-Decide-Working-hours-10-Tips-to-Boost-Productivity-While-Working-from-Home.jpg?resize=640%2C38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8672" y="0"/>
            <a:ext cx="2905328" cy="1725039"/>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p:cNvCxnSpPr/>
          <p:nvPr/>
        </p:nvCxnSpPr>
        <p:spPr>
          <a:xfrm>
            <a:off x="2524027" y="3276600"/>
            <a:ext cx="0" cy="1021848"/>
          </a:xfrm>
          <a:prstGeom prst="straightConnector1">
            <a:avLst/>
          </a:prstGeom>
          <a:ln w="38100">
            <a:solidFill>
              <a:schemeClr val="tx1"/>
            </a:solidFill>
            <a:headEnd type="none" w="med" len="med"/>
            <a:tailEnd type="none" w="med" len="med"/>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9" name="TextBox 8"/>
              <p:cNvSpPr txBox="1"/>
              <p:nvPr/>
            </p:nvSpPr>
            <p:spPr>
              <a:xfrm>
                <a:off x="2286000" y="4582180"/>
                <a:ext cx="494046" cy="523220"/>
              </a:xfrm>
              <a:prstGeom prst="rect">
                <a:avLst/>
              </a:prstGeom>
              <a:no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800" b="1" i="1" smtClean="0">
                          <a:solidFill>
                            <a:schemeClr val="tx1"/>
                          </a:solidFill>
                          <a:latin typeface="Cambria Math"/>
                          <a:ea typeface="Cambria Math"/>
                        </a:rPr>
                        <m:t>𝝁</m:t>
                      </m:r>
                    </m:oMath>
                  </m:oMathPara>
                </a14:m>
                <a:endParaRPr lang="en-GB" sz="2800" b="1" dirty="0">
                  <a:solidFill>
                    <a:schemeClr val="tx1"/>
                  </a:solidFill>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2286000" y="4582180"/>
                <a:ext cx="494046" cy="523220"/>
              </a:xfrm>
              <a:prstGeom prst="rect">
                <a:avLst/>
              </a:prstGeom>
              <a:blipFill rotWithShape="1">
                <a:blip r:embed="rId5"/>
                <a:stretch>
                  <a:fillRect/>
                </a:stretch>
              </a:blipFill>
              <a:ln>
                <a:noFill/>
              </a:ln>
            </p:spPr>
            <p:txBody>
              <a:bodyPr/>
              <a:lstStyle/>
              <a:p>
                <a:r>
                  <a:rPr lang="en-GB">
                    <a:noFill/>
                  </a:rPr>
                  <a:t> </a:t>
                </a:r>
              </a:p>
            </p:txBody>
          </p:sp>
        </mc:Fallback>
      </mc:AlternateContent>
      <p:grpSp>
        <p:nvGrpSpPr>
          <p:cNvPr id="10" name="Group 9"/>
          <p:cNvGrpSpPr/>
          <p:nvPr/>
        </p:nvGrpSpPr>
        <p:grpSpPr>
          <a:xfrm>
            <a:off x="381000" y="3295454"/>
            <a:ext cx="4267200" cy="1021848"/>
            <a:chOff x="3124200" y="3524054"/>
            <a:chExt cx="4267200" cy="1021848"/>
          </a:xfrm>
        </p:grpSpPr>
        <p:cxnSp>
          <p:nvCxnSpPr>
            <p:cNvPr id="11" name="Straight Arrow Connector 10"/>
            <p:cNvCxnSpPr/>
            <p:nvPr/>
          </p:nvCxnSpPr>
          <p:spPr>
            <a:xfrm flipH="1">
              <a:off x="3124200" y="4536475"/>
              <a:ext cx="4267200" cy="1"/>
            </a:xfrm>
            <a:prstGeom prst="straightConnector1">
              <a:avLst/>
            </a:prstGeom>
            <a:ln w="38100">
              <a:solidFill>
                <a:schemeClr val="bg1">
                  <a:lumMod val="85000"/>
                </a:schemeClr>
              </a:solidFill>
              <a:headEnd type="arrow" w="med" len="med"/>
              <a:tailEnd type="none" w="med" len="med"/>
            </a:ln>
          </p:spPr>
          <p:style>
            <a:lnRef idx="1">
              <a:schemeClr val="dk1"/>
            </a:lnRef>
            <a:fillRef idx="0">
              <a:schemeClr val="dk1"/>
            </a:fillRef>
            <a:effectRef idx="0">
              <a:schemeClr val="dk1"/>
            </a:effectRef>
            <a:fontRef idx="minor">
              <a:schemeClr val="tx1"/>
            </a:fontRef>
          </p:style>
        </p:cxnSp>
        <p:cxnSp>
          <p:nvCxnSpPr>
            <p:cNvPr id="12" name="Straight Arrow Connector 11"/>
            <p:cNvCxnSpPr/>
            <p:nvPr/>
          </p:nvCxnSpPr>
          <p:spPr>
            <a:xfrm>
              <a:off x="3143054" y="3524054"/>
              <a:ext cx="0" cy="1021848"/>
            </a:xfrm>
            <a:prstGeom prst="straightConnector1">
              <a:avLst/>
            </a:prstGeom>
            <a:ln w="38100">
              <a:solidFill>
                <a:schemeClr val="bg1">
                  <a:lumMod val="85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grpSp>
      <p:sp>
        <p:nvSpPr>
          <p:cNvPr id="14" name="TextBox 13"/>
          <p:cNvSpPr txBox="1"/>
          <p:nvPr/>
        </p:nvSpPr>
        <p:spPr>
          <a:xfrm>
            <a:off x="2286000" y="4277380"/>
            <a:ext cx="550151" cy="523220"/>
          </a:xfrm>
          <a:prstGeom prst="rect">
            <a:avLst/>
          </a:prstGeom>
          <a:noFill/>
          <a:ln>
            <a:noFill/>
          </a:ln>
        </p:spPr>
        <p:txBody>
          <a:bodyPr wrap="none" rtlCol="0">
            <a:spAutoFit/>
          </a:bodyPr>
          <a:lstStyle/>
          <a:p>
            <a:r>
              <a:rPr lang="en-GB" sz="2800" b="1" dirty="0"/>
              <a:t>40</a:t>
            </a:r>
          </a:p>
        </p:txBody>
      </p:sp>
      <p:cxnSp>
        <p:nvCxnSpPr>
          <p:cNvPr id="15" name="Straight Arrow Connector 14"/>
          <p:cNvCxnSpPr/>
          <p:nvPr/>
        </p:nvCxnSpPr>
        <p:spPr>
          <a:xfrm>
            <a:off x="3363677" y="3286028"/>
            <a:ext cx="0" cy="1021848"/>
          </a:xfrm>
          <a:prstGeom prst="straightConnector1">
            <a:avLst/>
          </a:prstGeom>
          <a:ln w="38100">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6" name="TextBox 15"/>
              <p:cNvSpPr txBox="1"/>
              <p:nvPr/>
            </p:nvSpPr>
            <p:spPr>
              <a:xfrm>
                <a:off x="3124200" y="4582180"/>
                <a:ext cx="473206"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GB" sz="2800" b="1" i="1" smtClean="0">
                              <a:solidFill>
                                <a:schemeClr val="accent1"/>
                              </a:solidFill>
                              <a:latin typeface="Cambria Math" panose="02040503050406030204" pitchFamily="18" charset="0"/>
                            </a:rPr>
                          </m:ctrlPr>
                        </m:accPr>
                        <m:e>
                          <m:r>
                            <a:rPr lang="en-GB" sz="2800" b="1" i="1" smtClean="0">
                              <a:solidFill>
                                <a:schemeClr val="accent1"/>
                              </a:solidFill>
                              <a:latin typeface="Cambria Math"/>
                            </a:rPr>
                            <m:t>𝒙</m:t>
                          </m:r>
                        </m:e>
                      </m:acc>
                    </m:oMath>
                  </m:oMathPara>
                </a14:m>
                <a:endParaRPr lang="en-GB" sz="2800" b="1" dirty="0">
                  <a:solidFill>
                    <a:schemeClr val="accent1"/>
                  </a:solidFill>
                </a:endParaRPr>
              </a:p>
            </p:txBody>
          </p:sp>
        </mc:Choice>
        <mc:Fallback xmlns="">
          <p:sp>
            <p:nvSpPr>
              <p:cNvPr id="16" name="TextBox 15"/>
              <p:cNvSpPr txBox="1">
                <a:spLocks noRot="1" noChangeAspect="1" noMove="1" noResize="1" noEditPoints="1" noAdjustHandles="1" noChangeArrowheads="1" noChangeShapeType="1" noTextEdit="1"/>
              </p:cNvSpPr>
              <p:nvPr/>
            </p:nvSpPr>
            <p:spPr>
              <a:xfrm>
                <a:off x="3124200" y="4582180"/>
                <a:ext cx="473206" cy="523220"/>
              </a:xfrm>
              <a:prstGeom prst="rect">
                <a:avLst/>
              </a:prstGeom>
              <a:blipFill rotWithShape="1">
                <a:blip r:embed="rId6"/>
                <a:stretch>
                  <a:fillRect/>
                </a:stretch>
              </a:blipFill>
            </p:spPr>
            <p:txBody>
              <a:bodyPr/>
              <a:lstStyle/>
              <a:p>
                <a:r>
                  <a:rPr lang="en-GB">
                    <a:noFill/>
                  </a:rPr>
                  <a:t> </a:t>
                </a:r>
              </a:p>
            </p:txBody>
          </p:sp>
        </mc:Fallback>
      </mc:AlternateContent>
      <p:sp>
        <p:nvSpPr>
          <p:cNvPr id="17" name="TextBox 16"/>
          <p:cNvSpPr txBox="1"/>
          <p:nvPr/>
        </p:nvSpPr>
        <p:spPr>
          <a:xfrm>
            <a:off x="3124200" y="4277380"/>
            <a:ext cx="550151" cy="523220"/>
          </a:xfrm>
          <a:prstGeom prst="rect">
            <a:avLst/>
          </a:prstGeom>
          <a:noFill/>
        </p:spPr>
        <p:txBody>
          <a:bodyPr wrap="none" rtlCol="0">
            <a:spAutoFit/>
          </a:bodyPr>
          <a:lstStyle/>
          <a:p>
            <a:r>
              <a:rPr lang="en-GB" sz="2800" b="1" dirty="0">
                <a:solidFill>
                  <a:schemeClr val="accent1"/>
                </a:solidFill>
              </a:rPr>
              <a:t>50</a:t>
            </a:r>
          </a:p>
        </p:txBody>
      </p:sp>
      <p:sp>
        <p:nvSpPr>
          <p:cNvPr id="3" name="Rectangle 2"/>
          <p:cNvSpPr/>
          <p:nvPr/>
        </p:nvSpPr>
        <p:spPr>
          <a:xfrm>
            <a:off x="304800" y="1879937"/>
            <a:ext cx="5715000" cy="1015663"/>
          </a:xfrm>
          <a:prstGeom prst="rect">
            <a:avLst/>
          </a:prstGeom>
          <a:solidFill>
            <a:schemeClr val="accent1">
              <a:lumMod val="20000"/>
              <a:lumOff val="80000"/>
            </a:schemeClr>
          </a:solidFill>
        </p:spPr>
        <p:txBody>
          <a:bodyPr wrap="square">
            <a:spAutoFit/>
          </a:bodyPr>
          <a:lstStyle/>
          <a:p>
            <a:r>
              <a:rPr lang="en-GB" altLang="en-US" sz="2000" dirty="0">
                <a:effectLst>
                  <a:outerShdw blurRad="38100" dist="38100" dir="2700000" algn="tl">
                    <a:srgbClr val="FFFFFF"/>
                  </a:outerShdw>
                </a:effectLst>
              </a:rPr>
              <a:t>A survey of </a:t>
            </a:r>
            <a:r>
              <a:rPr lang="en-GB" altLang="en-US" sz="2000" b="1" dirty="0">
                <a:effectLst>
                  <a:outerShdw blurRad="38100" dist="38100" dir="2700000" algn="tl">
                    <a:srgbClr val="FFFFFF"/>
                  </a:outerShdw>
                </a:effectLst>
              </a:rPr>
              <a:t>200 managers</a:t>
            </a:r>
            <a:r>
              <a:rPr lang="en-GB" altLang="en-US" sz="2000" dirty="0">
                <a:effectLst>
                  <a:outerShdw blurRad="38100" dist="38100" dir="2700000" algn="tl">
                    <a:srgbClr val="FFFFFF"/>
                  </a:outerShdw>
                </a:effectLst>
              </a:rPr>
              <a:t> showed that they were working </a:t>
            </a:r>
            <a:r>
              <a:rPr lang="en-GB" altLang="en-US" sz="2000" b="1" dirty="0">
                <a:effectLst>
                  <a:outerShdw blurRad="38100" dist="38100" dir="2700000" algn="tl">
                    <a:srgbClr val="FFFFFF"/>
                  </a:outerShdw>
                </a:effectLst>
              </a:rPr>
              <a:t>50 hours </a:t>
            </a:r>
            <a:r>
              <a:rPr lang="en-GB" altLang="en-US" sz="2000" dirty="0">
                <a:effectLst>
                  <a:outerShdw blurRad="38100" dist="38100" dir="2700000" algn="tl">
                    <a:srgbClr val="FFFFFF"/>
                  </a:outerShdw>
                </a:effectLst>
              </a:rPr>
              <a:t>per week with standard deviation of </a:t>
            </a:r>
            <a:r>
              <a:rPr lang="en-GB" altLang="en-US" sz="2000" b="1" dirty="0">
                <a:effectLst>
                  <a:outerShdw blurRad="38100" dist="38100" dir="2700000" algn="tl">
                    <a:srgbClr val="FFFFFF"/>
                  </a:outerShdw>
                </a:effectLst>
              </a:rPr>
              <a:t>5 hours</a:t>
            </a:r>
            <a:r>
              <a:rPr lang="en-GB" altLang="en-US" sz="2000" dirty="0">
                <a:effectLst>
                  <a:outerShdw blurRad="38100" dist="38100" dir="2700000" algn="tl">
                    <a:srgbClr val="FFFFFF"/>
                  </a:outerShdw>
                </a:effectLst>
              </a:rPr>
              <a:t>.</a:t>
            </a:r>
          </a:p>
        </p:txBody>
      </p:sp>
    </p:spTree>
    <p:extLst>
      <p:ext uri="{BB962C8B-B14F-4D97-AF65-F5344CB8AC3E}">
        <p14:creationId xmlns:p14="http://schemas.microsoft.com/office/powerpoint/2010/main" val="1647493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10" presetClass="entr" presetSubtype="0"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 grpId="0"/>
      <p:bldP spid="16" grpId="0"/>
      <p:bldP spid="17" grpId="0"/>
      <p:bldP spid="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Testing for mean</a:t>
            </a:r>
          </a:p>
        </p:txBody>
      </p:sp>
      <mc:AlternateContent xmlns:mc="http://schemas.openxmlformats.org/markup-compatibility/2006" xmlns:a14="http://schemas.microsoft.com/office/drawing/2010/main">
        <mc:Choice Requires="a14">
          <p:sp>
            <p:nvSpPr>
              <p:cNvPr id="25" name="Rectangle 24"/>
              <p:cNvSpPr/>
              <p:nvPr/>
            </p:nvSpPr>
            <p:spPr>
              <a:xfrm>
                <a:off x="243016" y="1000780"/>
                <a:ext cx="1984967"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sz="2800" b="0" i="1" smtClean="0">
                              <a:latin typeface="Cambria Math" panose="02040503050406030204" pitchFamily="18" charset="0"/>
                              <a:ea typeface="Cambria Math"/>
                            </a:rPr>
                          </m:ctrlPr>
                        </m:sSubPr>
                        <m:e>
                          <m:r>
                            <m:rPr>
                              <m:sty m:val="p"/>
                            </m:rPr>
                            <a:rPr lang="en-GB" sz="2800" b="0" i="0" smtClean="0">
                              <a:latin typeface="Cambria Math"/>
                              <a:ea typeface="Cambria Math"/>
                            </a:rPr>
                            <m:t>H</m:t>
                          </m:r>
                        </m:e>
                        <m:sub>
                          <m:r>
                            <a:rPr lang="en-GB" sz="2800" b="0" i="0" smtClean="0">
                              <a:latin typeface="Cambria Math"/>
                              <a:ea typeface="Cambria Math"/>
                            </a:rPr>
                            <m:t>0</m:t>
                          </m:r>
                        </m:sub>
                      </m:sSub>
                      <m:r>
                        <a:rPr lang="en-GB" sz="2800" b="0" i="1" smtClean="0">
                          <a:latin typeface="Cambria Math"/>
                          <a:ea typeface="Cambria Math"/>
                        </a:rPr>
                        <m:t>: </m:t>
                      </m:r>
                      <m:r>
                        <a:rPr lang="en-GB" sz="2800" b="0" i="1" smtClean="0">
                          <a:latin typeface="Cambria Math"/>
                          <a:ea typeface="Cambria Math"/>
                        </a:rPr>
                        <m:t>𝜇</m:t>
                      </m:r>
                      <m:r>
                        <a:rPr lang="en-GB" sz="2800" b="0" i="1" smtClean="0">
                          <a:latin typeface="Cambria Math"/>
                          <a:ea typeface="Cambria Math"/>
                        </a:rPr>
                        <m:t>=40</m:t>
                      </m:r>
                    </m:oMath>
                  </m:oMathPara>
                </a14:m>
                <a:endParaRPr lang="en-GB" sz="2800" dirty="0"/>
              </a:p>
            </p:txBody>
          </p:sp>
        </mc:Choice>
        <mc:Fallback xmlns="">
          <p:sp>
            <p:nvSpPr>
              <p:cNvPr id="25" name="Rectangle 24"/>
              <p:cNvSpPr>
                <a:spLocks noRot="1" noChangeAspect="1" noMove="1" noResize="1" noEditPoints="1" noAdjustHandles="1" noChangeArrowheads="1" noChangeShapeType="1" noTextEdit="1"/>
              </p:cNvSpPr>
              <p:nvPr/>
            </p:nvSpPr>
            <p:spPr>
              <a:xfrm>
                <a:off x="243016" y="1000780"/>
                <a:ext cx="1984967" cy="523220"/>
              </a:xfrm>
              <a:prstGeom prst="rect">
                <a:avLst/>
              </a:prstGeom>
              <a:blipFill rotWithShape="1">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Rectangle 25"/>
              <p:cNvSpPr/>
              <p:nvPr/>
            </p:nvSpPr>
            <p:spPr>
              <a:xfrm>
                <a:off x="243016" y="1524000"/>
                <a:ext cx="1976695"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sz="2800" b="0" i="1" smtClean="0">
                              <a:latin typeface="Cambria Math" panose="02040503050406030204" pitchFamily="18" charset="0"/>
                              <a:ea typeface="Cambria Math"/>
                            </a:rPr>
                          </m:ctrlPr>
                        </m:sSubPr>
                        <m:e>
                          <m:r>
                            <m:rPr>
                              <m:sty m:val="p"/>
                            </m:rPr>
                            <a:rPr lang="en-GB" sz="2800" b="0" i="0" smtClean="0">
                              <a:latin typeface="Cambria Math"/>
                              <a:ea typeface="Cambria Math"/>
                            </a:rPr>
                            <m:t>H</m:t>
                          </m:r>
                        </m:e>
                        <m:sub>
                          <m:r>
                            <a:rPr lang="en-GB" sz="2800" b="0" i="0" smtClean="0">
                              <a:latin typeface="Cambria Math"/>
                              <a:ea typeface="Cambria Math"/>
                            </a:rPr>
                            <m:t>1</m:t>
                          </m:r>
                        </m:sub>
                      </m:sSub>
                      <m:r>
                        <a:rPr lang="en-GB" sz="2800" b="0" i="1" smtClean="0">
                          <a:latin typeface="Cambria Math"/>
                          <a:ea typeface="Cambria Math"/>
                        </a:rPr>
                        <m:t>: </m:t>
                      </m:r>
                      <m:r>
                        <a:rPr lang="en-GB" sz="2800" i="1">
                          <a:latin typeface="Cambria Math"/>
                          <a:ea typeface="Cambria Math"/>
                        </a:rPr>
                        <m:t>𝜇</m:t>
                      </m:r>
                      <m:r>
                        <a:rPr lang="en-GB" sz="2800" b="0" i="1" smtClean="0">
                          <a:latin typeface="Cambria Math"/>
                          <a:ea typeface="Cambria Math"/>
                        </a:rPr>
                        <m:t>≠40</m:t>
                      </m:r>
                    </m:oMath>
                  </m:oMathPara>
                </a14:m>
                <a:endParaRPr lang="en-GB" sz="2800" dirty="0"/>
              </a:p>
            </p:txBody>
          </p:sp>
        </mc:Choice>
        <mc:Fallback xmlns="">
          <p:sp>
            <p:nvSpPr>
              <p:cNvPr id="26" name="Rectangle 25"/>
              <p:cNvSpPr>
                <a:spLocks noRot="1" noChangeAspect="1" noMove="1" noResize="1" noEditPoints="1" noAdjustHandles="1" noChangeArrowheads="1" noChangeShapeType="1" noTextEdit="1"/>
              </p:cNvSpPr>
              <p:nvPr/>
            </p:nvSpPr>
            <p:spPr>
              <a:xfrm>
                <a:off x="243016" y="1524000"/>
                <a:ext cx="1976695" cy="523220"/>
              </a:xfrm>
              <a:prstGeom prst="rect">
                <a:avLst/>
              </a:prstGeom>
              <a:blipFill rotWithShape="1">
                <a:blip r:embed="rId4"/>
                <a:stretch>
                  <a:fillRect/>
                </a:stretch>
              </a:blipFill>
            </p:spPr>
            <p:txBody>
              <a:bodyPr/>
              <a:lstStyle/>
              <a:p>
                <a:r>
                  <a:rPr lang="en-GB">
                    <a:noFill/>
                  </a:rPr>
                  <a:t> </a:t>
                </a:r>
              </a:p>
            </p:txBody>
          </p:sp>
        </mc:Fallback>
      </mc:AlternateContent>
      <p:cxnSp>
        <p:nvCxnSpPr>
          <p:cNvPr id="192" name="Straight Arrow Connector 191"/>
          <p:cNvCxnSpPr/>
          <p:nvPr/>
        </p:nvCxnSpPr>
        <p:spPr>
          <a:xfrm>
            <a:off x="2524027" y="2637724"/>
            <a:ext cx="0" cy="1654883"/>
          </a:xfrm>
          <a:prstGeom prst="straightConnector1">
            <a:avLst/>
          </a:prstGeom>
          <a:ln w="38100">
            <a:solidFill>
              <a:schemeClr val="tx1"/>
            </a:solidFill>
            <a:headEnd type="none" w="med" len="med"/>
            <a:tailEnd type="none" w="med" len="med"/>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94" name="TextBox 193"/>
              <p:cNvSpPr txBox="1"/>
              <p:nvPr/>
            </p:nvSpPr>
            <p:spPr>
              <a:xfrm>
                <a:off x="2286000" y="4582180"/>
                <a:ext cx="494046" cy="523220"/>
              </a:xfrm>
              <a:prstGeom prst="rect">
                <a:avLst/>
              </a:prstGeom>
              <a:no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800" b="1" i="1" smtClean="0">
                          <a:solidFill>
                            <a:schemeClr val="tx1"/>
                          </a:solidFill>
                          <a:latin typeface="Cambria Math"/>
                          <a:ea typeface="Cambria Math"/>
                        </a:rPr>
                        <m:t>𝝁</m:t>
                      </m:r>
                    </m:oMath>
                  </m:oMathPara>
                </a14:m>
                <a:endParaRPr lang="en-GB" sz="2800" b="1" dirty="0">
                  <a:solidFill>
                    <a:schemeClr val="tx1"/>
                  </a:solidFill>
                </a:endParaRPr>
              </a:p>
            </p:txBody>
          </p:sp>
        </mc:Choice>
        <mc:Fallback xmlns="">
          <p:sp>
            <p:nvSpPr>
              <p:cNvPr id="194" name="TextBox 193"/>
              <p:cNvSpPr txBox="1">
                <a:spLocks noRot="1" noChangeAspect="1" noMove="1" noResize="1" noEditPoints="1" noAdjustHandles="1" noChangeArrowheads="1" noChangeShapeType="1" noTextEdit="1"/>
              </p:cNvSpPr>
              <p:nvPr/>
            </p:nvSpPr>
            <p:spPr>
              <a:xfrm>
                <a:off x="2286000" y="4582180"/>
                <a:ext cx="494046" cy="523220"/>
              </a:xfrm>
              <a:prstGeom prst="rect">
                <a:avLst/>
              </a:prstGeom>
              <a:blipFill rotWithShape="1">
                <a:blip r:embed="rId5"/>
                <a:stretch>
                  <a:fillRect/>
                </a:stretch>
              </a:blipFill>
              <a:ln>
                <a:noFill/>
              </a:ln>
            </p:spPr>
            <p:txBody>
              <a:bodyPr/>
              <a:lstStyle/>
              <a:p>
                <a:r>
                  <a:rPr lang="en-GB">
                    <a:noFill/>
                  </a:rPr>
                  <a:t> </a:t>
                </a:r>
              </a:p>
            </p:txBody>
          </p:sp>
        </mc:Fallback>
      </mc:AlternateContent>
      <p:sp>
        <p:nvSpPr>
          <p:cNvPr id="199" name="TextBox 198"/>
          <p:cNvSpPr txBox="1"/>
          <p:nvPr/>
        </p:nvSpPr>
        <p:spPr>
          <a:xfrm>
            <a:off x="2286000" y="4277380"/>
            <a:ext cx="550151" cy="523220"/>
          </a:xfrm>
          <a:prstGeom prst="rect">
            <a:avLst/>
          </a:prstGeom>
          <a:noFill/>
          <a:ln>
            <a:noFill/>
          </a:ln>
        </p:spPr>
        <p:txBody>
          <a:bodyPr wrap="none" rtlCol="0">
            <a:spAutoFit/>
          </a:bodyPr>
          <a:lstStyle/>
          <a:p>
            <a:r>
              <a:rPr lang="en-GB" sz="2800" b="1" dirty="0"/>
              <a:t>40</a:t>
            </a:r>
          </a:p>
        </p:txBody>
      </p:sp>
      <p:grpSp>
        <p:nvGrpSpPr>
          <p:cNvPr id="206" name="Group 205"/>
          <p:cNvGrpSpPr/>
          <p:nvPr/>
        </p:nvGrpSpPr>
        <p:grpSpPr>
          <a:xfrm>
            <a:off x="381000" y="3295454"/>
            <a:ext cx="4267200" cy="1021848"/>
            <a:chOff x="3124200" y="3524054"/>
            <a:chExt cx="4267200" cy="1021848"/>
          </a:xfrm>
        </p:grpSpPr>
        <p:cxnSp>
          <p:nvCxnSpPr>
            <p:cNvPr id="207" name="Straight Arrow Connector 206"/>
            <p:cNvCxnSpPr/>
            <p:nvPr/>
          </p:nvCxnSpPr>
          <p:spPr>
            <a:xfrm flipH="1">
              <a:off x="3124200" y="4536475"/>
              <a:ext cx="4267200" cy="1"/>
            </a:xfrm>
            <a:prstGeom prst="straightConnector1">
              <a:avLst/>
            </a:prstGeom>
            <a:ln w="38100">
              <a:solidFill>
                <a:schemeClr val="bg1">
                  <a:lumMod val="85000"/>
                </a:schemeClr>
              </a:solidFill>
              <a:headEnd type="arrow" w="med" len="med"/>
              <a:tailEnd type="none" w="med" len="med"/>
            </a:ln>
          </p:spPr>
          <p:style>
            <a:lnRef idx="1">
              <a:schemeClr val="dk1"/>
            </a:lnRef>
            <a:fillRef idx="0">
              <a:schemeClr val="dk1"/>
            </a:fillRef>
            <a:effectRef idx="0">
              <a:schemeClr val="dk1"/>
            </a:effectRef>
            <a:fontRef idx="minor">
              <a:schemeClr val="tx1"/>
            </a:fontRef>
          </p:style>
        </p:cxnSp>
        <p:cxnSp>
          <p:nvCxnSpPr>
            <p:cNvPr id="208" name="Straight Arrow Connector 207"/>
            <p:cNvCxnSpPr/>
            <p:nvPr/>
          </p:nvCxnSpPr>
          <p:spPr>
            <a:xfrm>
              <a:off x="3143054" y="3524054"/>
              <a:ext cx="0" cy="1021848"/>
            </a:xfrm>
            <a:prstGeom prst="straightConnector1">
              <a:avLst/>
            </a:prstGeom>
            <a:ln w="38100">
              <a:solidFill>
                <a:schemeClr val="bg1">
                  <a:lumMod val="85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48" name="Group 47"/>
          <p:cNvGrpSpPr/>
          <p:nvPr/>
        </p:nvGrpSpPr>
        <p:grpSpPr>
          <a:xfrm>
            <a:off x="6248400" y="152400"/>
            <a:ext cx="2743199" cy="693686"/>
            <a:chOff x="-65314" y="1093291"/>
            <a:chExt cx="6618513" cy="958268"/>
          </a:xfrm>
          <a:solidFill>
            <a:schemeClr val="bg1">
              <a:lumMod val="95000"/>
            </a:schemeClr>
          </a:solidFill>
        </p:grpSpPr>
        <p:sp>
          <p:nvSpPr>
            <p:cNvPr id="61" name="Freeform 60"/>
            <p:cNvSpPr/>
            <p:nvPr/>
          </p:nvSpPr>
          <p:spPr>
            <a:xfrm>
              <a:off x="-65314" y="1093291"/>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solidFill>
              <a:schemeClr val="accent1"/>
            </a:solidFill>
            <a:ln>
              <a:solidFill>
                <a:schemeClr val="accent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chemeClr val="bg1"/>
                  </a:solidFill>
                </a:rPr>
                <a:t>1</a:t>
              </a:r>
            </a:p>
          </p:txBody>
        </p:sp>
        <p:sp>
          <p:nvSpPr>
            <p:cNvPr id="62" name="Freeform 61"/>
            <p:cNvSpPr/>
            <p:nvPr/>
          </p:nvSpPr>
          <p:spPr>
            <a:xfrm>
              <a:off x="1127986" y="1093293"/>
              <a:ext cx="5425213" cy="622873"/>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solidFill>
              <a:schemeClr val="bg1"/>
            </a:solidFill>
            <a:ln>
              <a:solidFill>
                <a:schemeClr val="accent1"/>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1" numCol="1" spcCol="1270" anchor="ctr" anchorCtr="0">
              <a:noAutofit/>
            </a:bodyPr>
            <a:lstStyle/>
            <a:p>
              <a:pPr marL="0" lvl="1" algn="l" defTabSz="755650">
                <a:lnSpc>
                  <a:spcPct val="90000"/>
                </a:lnSpc>
                <a:spcBef>
                  <a:spcPct val="0"/>
                </a:spcBef>
                <a:spcAft>
                  <a:spcPct val="15000"/>
                </a:spcAft>
              </a:pPr>
              <a:r>
                <a:rPr lang="en-GB" sz="1600" kern="1200" dirty="0">
                  <a:solidFill>
                    <a:schemeClr val="tx1"/>
                  </a:solidFill>
                </a:rPr>
                <a:t>State your null hypothesis (H</a:t>
              </a:r>
              <a:r>
                <a:rPr lang="en-GB" sz="1600" kern="1200" baseline="-25000" dirty="0">
                  <a:solidFill>
                    <a:schemeClr val="tx1"/>
                  </a:solidFill>
                </a:rPr>
                <a:t>0</a:t>
              </a:r>
              <a:r>
                <a:rPr lang="en-GB" sz="1600" kern="1200" baseline="0" dirty="0">
                  <a:solidFill>
                    <a:schemeClr val="tx1"/>
                  </a:solidFill>
                </a:rPr>
                <a:t>)</a:t>
              </a:r>
            </a:p>
          </p:txBody>
        </p:sp>
      </p:grpSp>
    </p:spTree>
    <p:extLst>
      <p:ext uri="{BB962C8B-B14F-4D97-AF65-F5344CB8AC3E}">
        <p14:creationId xmlns:p14="http://schemas.microsoft.com/office/powerpoint/2010/main" val="227166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3" name="Chart 192"/>
          <p:cNvGraphicFramePr/>
          <p:nvPr>
            <p:extLst>
              <p:ext uri="{D42A27DB-BD31-4B8C-83A1-F6EECF244321}">
                <p14:modId xmlns:p14="http://schemas.microsoft.com/office/powerpoint/2010/main" val="54181530"/>
              </p:ext>
            </p:extLst>
          </p:nvPr>
        </p:nvGraphicFramePr>
        <p:xfrm>
          <a:off x="76200" y="1641339"/>
          <a:ext cx="4876800" cy="2636041"/>
        </p:xfrm>
        <a:graphic>
          <a:graphicData uri="http://schemas.openxmlformats.org/drawingml/2006/chart">
            <c:chart xmlns:c="http://schemas.openxmlformats.org/drawingml/2006/chart" xmlns:r="http://schemas.openxmlformats.org/officeDocument/2006/relationships" r:id="rId3"/>
          </a:graphicData>
        </a:graphic>
      </p:graphicFrame>
      <p:sp>
        <p:nvSpPr>
          <p:cNvPr id="2" name="Title 1"/>
          <p:cNvSpPr>
            <a:spLocks noGrp="1"/>
          </p:cNvSpPr>
          <p:nvPr>
            <p:ph type="title"/>
          </p:nvPr>
        </p:nvSpPr>
        <p:spPr/>
        <p:txBody>
          <a:bodyPr/>
          <a:lstStyle/>
          <a:p>
            <a:r>
              <a:rPr lang="en-GB" dirty="0"/>
              <a:t>Testing for mean</a:t>
            </a:r>
          </a:p>
        </p:txBody>
      </p:sp>
      <mc:AlternateContent xmlns:mc="http://schemas.openxmlformats.org/markup-compatibility/2006" xmlns:a14="http://schemas.microsoft.com/office/drawing/2010/main">
        <mc:Choice Requires="a14">
          <p:sp>
            <p:nvSpPr>
              <p:cNvPr id="181" name="TextBox 180"/>
              <p:cNvSpPr txBox="1"/>
              <p:nvPr/>
            </p:nvSpPr>
            <p:spPr>
              <a:xfrm>
                <a:off x="2286000" y="4582180"/>
                <a:ext cx="494046" cy="523220"/>
              </a:xfrm>
              <a:prstGeom prst="rect">
                <a:avLst/>
              </a:prstGeom>
              <a:no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800" b="1" i="1" smtClean="0">
                          <a:solidFill>
                            <a:schemeClr val="tx1"/>
                          </a:solidFill>
                          <a:latin typeface="Cambria Math"/>
                          <a:ea typeface="Cambria Math"/>
                        </a:rPr>
                        <m:t>𝝁</m:t>
                      </m:r>
                    </m:oMath>
                  </m:oMathPara>
                </a14:m>
                <a:endParaRPr lang="en-GB" sz="2800" b="1" dirty="0">
                  <a:solidFill>
                    <a:schemeClr val="tx1"/>
                  </a:solidFill>
                </a:endParaRPr>
              </a:p>
            </p:txBody>
          </p:sp>
        </mc:Choice>
        <mc:Fallback xmlns="">
          <p:sp>
            <p:nvSpPr>
              <p:cNvPr id="181" name="TextBox 180"/>
              <p:cNvSpPr txBox="1">
                <a:spLocks noRot="1" noChangeAspect="1" noMove="1" noResize="1" noEditPoints="1" noAdjustHandles="1" noChangeArrowheads="1" noChangeShapeType="1" noTextEdit="1"/>
              </p:cNvSpPr>
              <p:nvPr/>
            </p:nvSpPr>
            <p:spPr>
              <a:xfrm>
                <a:off x="2286000" y="4582180"/>
                <a:ext cx="494046" cy="523220"/>
              </a:xfrm>
              <a:prstGeom prst="rect">
                <a:avLst/>
              </a:prstGeom>
              <a:blipFill rotWithShape="1">
                <a:blip r:embed="rId4"/>
                <a:stretch>
                  <a:fillRect/>
                </a:stretch>
              </a:blipFill>
              <a:ln>
                <a:noFill/>
              </a:ln>
            </p:spPr>
            <p:txBody>
              <a:bodyPr/>
              <a:lstStyle/>
              <a:p>
                <a:r>
                  <a:rPr lang="en-GB">
                    <a:noFill/>
                  </a:rPr>
                  <a:t> </a:t>
                </a:r>
              </a:p>
            </p:txBody>
          </p:sp>
        </mc:Fallback>
      </mc:AlternateContent>
      <p:sp>
        <p:nvSpPr>
          <p:cNvPr id="186" name="TextBox 185"/>
          <p:cNvSpPr txBox="1"/>
          <p:nvPr/>
        </p:nvSpPr>
        <p:spPr>
          <a:xfrm>
            <a:off x="2286000" y="4277380"/>
            <a:ext cx="550151" cy="523220"/>
          </a:xfrm>
          <a:prstGeom prst="rect">
            <a:avLst/>
          </a:prstGeom>
          <a:noFill/>
          <a:ln>
            <a:noFill/>
          </a:ln>
        </p:spPr>
        <p:txBody>
          <a:bodyPr wrap="none" rtlCol="0">
            <a:spAutoFit/>
          </a:bodyPr>
          <a:lstStyle/>
          <a:p>
            <a:r>
              <a:rPr lang="en-GB" sz="2800" b="1" dirty="0"/>
              <a:t>40</a:t>
            </a:r>
          </a:p>
        </p:txBody>
      </p:sp>
      <p:cxnSp>
        <p:nvCxnSpPr>
          <p:cNvPr id="189" name="Straight Arrow Connector 188"/>
          <p:cNvCxnSpPr/>
          <p:nvPr/>
        </p:nvCxnSpPr>
        <p:spPr>
          <a:xfrm>
            <a:off x="2524027" y="2637723"/>
            <a:ext cx="0" cy="1654883"/>
          </a:xfrm>
          <a:prstGeom prst="straightConnector1">
            <a:avLst/>
          </a:prstGeom>
          <a:ln w="19050">
            <a:solidFill>
              <a:schemeClr val="tx1"/>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92" name="Rectangle 191"/>
          <p:cNvSpPr/>
          <p:nvPr/>
        </p:nvSpPr>
        <p:spPr>
          <a:xfrm>
            <a:off x="5562600" y="1743670"/>
            <a:ext cx="3505200" cy="923330"/>
          </a:xfrm>
          <a:prstGeom prst="rect">
            <a:avLst/>
          </a:prstGeom>
          <a:solidFill>
            <a:schemeClr val="bg1">
              <a:lumMod val="95000"/>
            </a:schemeClr>
          </a:solidFill>
        </p:spPr>
        <p:txBody>
          <a:bodyPr wrap="square">
            <a:spAutoFit/>
          </a:bodyPr>
          <a:lstStyle/>
          <a:p>
            <a:r>
              <a:rPr lang="en-GB" altLang="en-US" dirty="0"/>
              <a:t>The actual population may not possibly follow normal distribution  but…</a:t>
            </a:r>
          </a:p>
        </p:txBody>
      </p:sp>
      <p:grpSp>
        <p:nvGrpSpPr>
          <p:cNvPr id="194" name="Group 193"/>
          <p:cNvGrpSpPr/>
          <p:nvPr/>
        </p:nvGrpSpPr>
        <p:grpSpPr>
          <a:xfrm>
            <a:off x="381000" y="3295454"/>
            <a:ext cx="4267200" cy="1021848"/>
            <a:chOff x="3124200" y="3524054"/>
            <a:chExt cx="4267200" cy="1021848"/>
          </a:xfrm>
        </p:grpSpPr>
        <p:cxnSp>
          <p:nvCxnSpPr>
            <p:cNvPr id="195" name="Straight Arrow Connector 194"/>
            <p:cNvCxnSpPr/>
            <p:nvPr/>
          </p:nvCxnSpPr>
          <p:spPr>
            <a:xfrm flipH="1">
              <a:off x="3124200" y="4536475"/>
              <a:ext cx="4267200" cy="1"/>
            </a:xfrm>
            <a:prstGeom prst="straightConnector1">
              <a:avLst/>
            </a:prstGeom>
            <a:ln w="38100">
              <a:solidFill>
                <a:schemeClr val="bg1">
                  <a:lumMod val="85000"/>
                </a:schemeClr>
              </a:solidFill>
              <a:headEnd type="arrow" w="med" len="med"/>
              <a:tailEnd type="none" w="med" len="med"/>
            </a:ln>
          </p:spPr>
          <p:style>
            <a:lnRef idx="1">
              <a:schemeClr val="dk1"/>
            </a:lnRef>
            <a:fillRef idx="0">
              <a:schemeClr val="dk1"/>
            </a:fillRef>
            <a:effectRef idx="0">
              <a:schemeClr val="dk1"/>
            </a:effectRef>
            <a:fontRef idx="minor">
              <a:schemeClr val="tx1"/>
            </a:fontRef>
          </p:style>
        </p:cxnSp>
        <p:cxnSp>
          <p:nvCxnSpPr>
            <p:cNvPr id="196" name="Straight Arrow Connector 195"/>
            <p:cNvCxnSpPr/>
            <p:nvPr/>
          </p:nvCxnSpPr>
          <p:spPr>
            <a:xfrm>
              <a:off x="3143054" y="3524054"/>
              <a:ext cx="0" cy="1021848"/>
            </a:xfrm>
            <a:prstGeom prst="straightConnector1">
              <a:avLst/>
            </a:prstGeom>
            <a:ln w="38100">
              <a:solidFill>
                <a:schemeClr val="bg1">
                  <a:lumMod val="85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grpSp>
      <p:sp>
        <p:nvSpPr>
          <p:cNvPr id="197" name="Rectangular Callout 196"/>
          <p:cNvSpPr/>
          <p:nvPr/>
        </p:nvSpPr>
        <p:spPr>
          <a:xfrm>
            <a:off x="3581400" y="3245031"/>
            <a:ext cx="1371600" cy="716582"/>
          </a:xfrm>
          <a:prstGeom prst="wedgeRectCallout">
            <a:avLst>
              <a:gd name="adj1" fmla="val -73976"/>
              <a:gd name="adj2" fmla="val 71144"/>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Population</a:t>
            </a:r>
          </a:p>
          <a:p>
            <a:pPr algn="ctr"/>
            <a:r>
              <a:rPr lang="en-GB" dirty="0"/>
              <a:t>distribution</a:t>
            </a:r>
          </a:p>
        </p:txBody>
      </p:sp>
      <p:grpSp>
        <p:nvGrpSpPr>
          <p:cNvPr id="39" name="Group 38"/>
          <p:cNvGrpSpPr/>
          <p:nvPr/>
        </p:nvGrpSpPr>
        <p:grpSpPr>
          <a:xfrm>
            <a:off x="6248400" y="152400"/>
            <a:ext cx="2743199" cy="1301314"/>
            <a:chOff x="925287" y="1143000"/>
            <a:chExt cx="6618513" cy="1797655"/>
          </a:xfrm>
          <a:solidFill>
            <a:schemeClr val="bg1">
              <a:lumMod val="95000"/>
            </a:schemeClr>
          </a:solidFill>
        </p:grpSpPr>
        <p:grpSp>
          <p:nvGrpSpPr>
            <p:cNvPr id="40" name="Group 39"/>
            <p:cNvGrpSpPr/>
            <p:nvPr/>
          </p:nvGrpSpPr>
          <p:grpSpPr>
            <a:xfrm>
              <a:off x="925287" y="1143000"/>
              <a:ext cx="6618513" cy="958268"/>
              <a:chOff x="-65314" y="1093291"/>
              <a:chExt cx="6618513" cy="958268"/>
            </a:xfrm>
            <a:grpFill/>
          </p:grpSpPr>
          <p:sp>
            <p:nvSpPr>
              <p:cNvPr id="53" name="Freeform 52"/>
              <p:cNvSpPr/>
              <p:nvPr/>
            </p:nvSpPr>
            <p:spPr>
              <a:xfrm>
                <a:off x="-65314" y="1093291"/>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solidFill>
                <a:schemeClr val="accent1"/>
              </a:solidFill>
              <a:ln>
                <a:solidFill>
                  <a:schemeClr val="accent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chemeClr val="bg1"/>
                    </a:solidFill>
                  </a:rPr>
                  <a:t>1</a:t>
                </a:r>
              </a:p>
            </p:txBody>
          </p:sp>
          <p:sp>
            <p:nvSpPr>
              <p:cNvPr id="54" name="Freeform 53"/>
              <p:cNvSpPr/>
              <p:nvPr/>
            </p:nvSpPr>
            <p:spPr>
              <a:xfrm>
                <a:off x="1127986" y="1093293"/>
                <a:ext cx="5425213" cy="622873"/>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solidFill>
                <a:schemeClr val="bg1"/>
              </a:solidFill>
              <a:ln>
                <a:solidFill>
                  <a:schemeClr val="accent1"/>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1" numCol="1" spcCol="1270" anchor="ctr" anchorCtr="0">
                <a:noAutofit/>
              </a:bodyPr>
              <a:lstStyle/>
              <a:p>
                <a:pPr marL="0" lvl="1" algn="l" defTabSz="755650">
                  <a:lnSpc>
                    <a:spcPct val="90000"/>
                  </a:lnSpc>
                  <a:spcBef>
                    <a:spcPct val="0"/>
                  </a:spcBef>
                  <a:spcAft>
                    <a:spcPct val="15000"/>
                  </a:spcAft>
                </a:pPr>
                <a:r>
                  <a:rPr lang="en-GB" sz="1600" kern="1200" dirty="0">
                    <a:solidFill>
                      <a:schemeClr val="tx1"/>
                    </a:solidFill>
                  </a:rPr>
                  <a:t>State your null hypothesis (H</a:t>
                </a:r>
                <a:r>
                  <a:rPr lang="en-GB" sz="1600" kern="1200" baseline="-25000" dirty="0">
                    <a:solidFill>
                      <a:schemeClr val="tx1"/>
                    </a:solidFill>
                  </a:rPr>
                  <a:t>0</a:t>
                </a:r>
                <a:r>
                  <a:rPr lang="en-GB" sz="1600" kern="1200" baseline="0" dirty="0">
                    <a:solidFill>
                      <a:schemeClr val="tx1"/>
                    </a:solidFill>
                  </a:rPr>
                  <a:t>)</a:t>
                </a:r>
              </a:p>
            </p:txBody>
          </p:sp>
        </p:grpSp>
        <p:grpSp>
          <p:nvGrpSpPr>
            <p:cNvPr id="41" name="Group 40"/>
            <p:cNvGrpSpPr/>
            <p:nvPr/>
          </p:nvGrpSpPr>
          <p:grpSpPr>
            <a:xfrm>
              <a:off x="925287" y="1982387"/>
              <a:ext cx="6618513" cy="958268"/>
              <a:chOff x="-65314" y="1932678"/>
              <a:chExt cx="6618513" cy="958268"/>
            </a:xfrm>
            <a:grpFill/>
          </p:grpSpPr>
          <p:sp>
            <p:nvSpPr>
              <p:cNvPr id="51" name="Freeform 50"/>
              <p:cNvSpPr/>
              <p:nvPr/>
            </p:nvSpPr>
            <p:spPr>
              <a:xfrm>
                <a:off x="-65314" y="1932678"/>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solidFill>
                <a:schemeClr val="accent1"/>
              </a:solidFill>
              <a:ln>
                <a:solidFill>
                  <a:schemeClr val="accent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chemeClr val="bg1"/>
                    </a:solidFill>
                  </a:rPr>
                  <a:t>2</a:t>
                </a:r>
              </a:p>
            </p:txBody>
          </p:sp>
          <p:sp>
            <p:nvSpPr>
              <p:cNvPr id="52" name="Freeform 51"/>
              <p:cNvSpPr/>
              <p:nvPr/>
            </p:nvSpPr>
            <p:spPr>
              <a:xfrm>
                <a:off x="1127986" y="1932680"/>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solidFill>
                <a:schemeClr val="bg1"/>
              </a:solidFill>
              <a:ln>
                <a:solidFill>
                  <a:schemeClr val="accent1"/>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defTabSz="755650">
                  <a:lnSpc>
                    <a:spcPct val="90000"/>
                  </a:lnSpc>
                  <a:spcBef>
                    <a:spcPct val="0"/>
                  </a:spcBef>
                  <a:spcAft>
                    <a:spcPct val="15000"/>
                  </a:spcAft>
                </a:pPr>
                <a:r>
                  <a:rPr lang="en-GB" sz="1600" b="1" dirty="0">
                    <a:solidFill>
                      <a:schemeClr val="tx1"/>
                    </a:solidFill>
                  </a:rPr>
                  <a:t>Calculate test statistic </a:t>
                </a:r>
                <a:r>
                  <a:rPr lang="en-GB" sz="1600" dirty="0">
                    <a:solidFill>
                      <a:schemeClr val="tx1"/>
                    </a:solidFill>
                  </a:rPr>
                  <a:t>from data (stat.)</a:t>
                </a:r>
              </a:p>
            </p:txBody>
          </p:sp>
        </p:grpSp>
      </p:grpSp>
    </p:spTree>
    <p:extLst>
      <p:ext uri="{BB962C8B-B14F-4D97-AF65-F5344CB8AC3E}">
        <p14:creationId xmlns:p14="http://schemas.microsoft.com/office/powerpoint/2010/main" val="992353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93"/>
                                        </p:tgtEl>
                                        <p:attrNameLst>
                                          <p:attrName>style.visibility</p:attrName>
                                        </p:attrNameLst>
                                      </p:cBhvr>
                                      <p:to>
                                        <p:strVal val="visible"/>
                                      </p:to>
                                    </p:set>
                                    <p:animEffect transition="in" filter="barn(inVertical)">
                                      <p:cBhvr>
                                        <p:cTn id="7" dur="500"/>
                                        <p:tgtEl>
                                          <p:spTgt spid="19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7"/>
                                        </p:tgtEl>
                                        <p:attrNameLst>
                                          <p:attrName>style.visibility</p:attrName>
                                        </p:attrNameLst>
                                      </p:cBhvr>
                                      <p:to>
                                        <p:strVal val="visible"/>
                                      </p:to>
                                    </p:set>
                                    <p:animEffect transition="in" filter="fade">
                                      <p:cBhvr>
                                        <p:cTn id="10" dur="500"/>
                                        <p:tgtEl>
                                          <p:spTgt spid="1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93" grpId="0">
        <p:bldAsOne/>
      </p:bldGraphic>
      <p:bldP spid="19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3" name="Chart 192"/>
          <p:cNvGraphicFramePr/>
          <p:nvPr>
            <p:extLst>
              <p:ext uri="{D42A27DB-BD31-4B8C-83A1-F6EECF244321}">
                <p14:modId xmlns:p14="http://schemas.microsoft.com/office/powerpoint/2010/main" val="561286284"/>
              </p:ext>
            </p:extLst>
          </p:nvPr>
        </p:nvGraphicFramePr>
        <p:xfrm>
          <a:off x="76200" y="1641339"/>
          <a:ext cx="4876800" cy="2636041"/>
        </p:xfrm>
        <a:graphic>
          <a:graphicData uri="http://schemas.openxmlformats.org/drawingml/2006/chart">
            <c:chart xmlns:c="http://schemas.openxmlformats.org/drawingml/2006/chart" xmlns:r="http://schemas.openxmlformats.org/officeDocument/2006/relationships" r:id="rId3"/>
          </a:graphicData>
        </a:graphic>
      </p:graphicFrame>
      <p:sp>
        <p:nvSpPr>
          <p:cNvPr id="2" name="Title 1"/>
          <p:cNvSpPr>
            <a:spLocks noGrp="1"/>
          </p:cNvSpPr>
          <p:nvPr>
            <p:ph type="title"/>
          </p:nvPr>
        </p:nvSpPr>
        <p:spPr/>
        <p:txBody>
          <a:bodyPr/>
          <a:lstStyle/>
          <a:p>
            <a:r>
              <a:rPr lang="en-GB" dirty="0"/>
              <a:t>Testing for mean</a:t>
            </a:r>
          </a:p>
        </p:txBody>
      </p:sp>
      <mc:AlternateContent xmlns:mc="http://schemas.openxmlformats.org/markup-compatibility/2006" xmlns:a14="http://schemas.microsoft.com/office/drawing/2010/main">
        <mc:Choice Requires="a14">
          <p:sp>
            <p:nvSpPr>
              <p:cNvPr id="181" name="TextBox 180"/>
              <p:cNvSpPr txBox="1"/>
              <p:nvPr/>
            </p:nvSpPr>
            <p:spPr>
              <a:xfrm>
                <a:off x="2286000" y="4582180"/>
                <a:ext cx="494046" cy="523220"/>
              </a:xfrm>
              <a:prstGeom prst="rect">
                <a:avLst/>
              </a:prstGeom>
              <a:no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800" b="1" i="1" smtClean="0">
                          <a:solidFill>
                            <a:schemeClr val="tx1"/>
                          </a:solidFill>
                          <a:latin typeface="Cambria Math"/>
                          <a:ea typeface="Cambria Math"/>
                        </a:rPr>
                        <m:t>𝝁</m:t>
                      </m:r>
                    </m:oMath>
                  </m:oMathPara>
                </a14:m>
                <a:endParaRPr lang="en-GB" sz="2800" b="1" dirty="0">
                  <a:solidFill>
                    <a:schemeClr val="tx1"/>
                  </a:solidFill>
                </a:endParaRPr>
              </a:p>
            </p:txBody>
          </p:sp>
        </mc:Choice>
        <mc:Fallback xmlns="">
          <p:sp>
            <p:nvSpPr>
              <p:cNvPr id="181" name="TextBox 180"/>
              <p:cNvSpPr txBox="1">
                <a:spLocks noRot="1" noChangeAspect="1" noMove="1" noResize="1" noEditPoints="1" noAdjustHandles="1" noChangeArrowheads="1" noChangeShapeType="1" noTextEdit="1"/>
              </p:cNvSpPr>
              <p:nvPr/>
            </p:nvSpPr>
            <p:spPr>
              <a:xfrm>
                <a:off x="2286000" y="4582180"/>
                <a:ext cx="494046" cy="523220"/>
              </a:xfrm>
              <a:prstGeom prst="rect">
                <a:avLst/>
              </a:prstGeom>
              <a:blipFill rotWithShape="1">
                <a:blip r:embed="rId4"/>
                <a:stretch>
                  <a:fillRect/>
                </a:stretch>
              </a:blipFill>
              <a:ln>
                <a:noFill/>
              </a:ln>
            </p:spPr>
            <p:txBody>
              <a:bodyPr/>
              <a:lstStyle/>
              <a:p>
                <a:r>
                  <a:rPr lang="en-GB">
                    <a:noFill/>
                  </a:rPr>
                  <a:t> </a:t>
                </a:r>
              </a:p>
            </p:txBody>
          </p:sp>
        </mc:Fallback>
      </mc:AlternateContent>
      <p:sp>
        <p:nvSpPr>
          <p:cNvPr id="186" name="TextBox 185"/>
          <p:cNvSpPr txBox="1"/>
          <p:nvPr/>
        </p:nvSpPr>
        <p:spPr>
          <a:xfrm>
            <a:off x="2286000" y="4277380"/>
            <a:ext cx="550151" cy="523220"/>
          </a:xfrm>
          <a:prstGeom prst="rect">
            <a:avLst/>
          </a:prstGeom>
          <a:noFill/>
          <a:ln>
            <a:noFill/>
          </a:ln>
        </p:spPr>
        <p:txBody>
          <a:bodyPr wrap="none" rtlCol="0">
            <a:spAutoFit/>
          </a:bodyPr>
          <a:lstStyle/>
          <a:p>
            <a:r>
              <a:rPr lang="en-GB" sz="2800" b="1" dirty="0"/>
              <a:t>40</a:t>
            </a:r>
          </a:p>
        </p:txBody>
      </p:sp>
      <p:cxnSp>
        <p:nvCxnSpPr>
          <p:cNvPr id="189" name="Straight Arrow Connector 188"/>
          <p:cNvCxnSpPr/>
          <p:nvPr/>
        </p:nvCxnSpPr>
        <p:spPr>
          <a:xfrm>
            <a:off x="2524027" y="2637723"/>
            <a:ext cx="0" cy="1654883"/>
          </a:xfrm>
          <a:prstGeom prst="straightConnector1">
            <a:avLst/>
          </a:prstGeom>
          <a:ln w="19050">
            <a:solidFill>
              <a:schemeClr val="tx1"/>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92" name="Rectangle 191"/>
          <p:cNvSpPr/>
          <p:nvPr/>
        </p:nvSpPr>
        <p:spPr>
          <a:xfrm>
            <a:off x="5562600" y="3877270"/>
            <a:ext cx="3505200" cy="923330"/>
          </a:xfrm>
          <a:prstGeom prst="rect">
            <a:avLst/>
          </a:prstGeom>
          <a:solidFill>
            <a:schemeClr val="bg1">
              <a:lumMod val="95000"/>
            </a:schemeClr>
          </a:solidFill>
        </p:spPr>
        <p:txBody>
          <a:bodyPr wrap="square">
            <a:spAutoFit/>
          </a:bodyPr>
          <a:lstStyle/>
          <a:p>
            <a:r>
              <a:rPr lang="en-GB" altLang="en-US" dirty="0"/>
              <a:t>The sampling distribution of means is </a:t>
            </a:r>
            <a:r>
              <a:rPr lang="en-GB" altLang="en-US" b="1" dirty="0"/>
              <a:t>approximately</a:t>
            </a:r>
            <a:r>
              <a:rPr lang="en-GB" altLang="en-US" dirty="0"/>
              <a:t> </a:t>
            </a:r>
            <a:r>
              <a:rPr lang="en-GB" altLang="en-US" b="1" dirty="0"/>
              <a:t>normal</a:t>
            </a:r>
            <a:r>
              <a:rPr lang="en-GB" altLang="en-US" dirty="0"/>
              <a:t> for large samples (</a:t>
            </a:r>
            <a:r>
              <a:rPr lang="en-GB" altLang="en-US" b="1" dirty="0"/>
              <a:t>n&gt;30</a:t>
            </a:r>
            <a:r>
              <a:rPr lang="en-GB" altLang="en-US" dirty="0"/>
              <a:t>)</a:t>
            </a:r>
          </a:p>
        </p:txBody>
      </p:sp>
      <p:grpSp>
        <p:nvGrpSpPr>
          <p:cNvPr id="194" name="Group 193"/>
          <p:cNvGrpSpPr/>
          <p:nvPr/>
        </p:nvGrpSpPr>
        <p:grpSpPr>
          <a:xfrm>
            <a:off x="381000" y="3295454"/>
            <a:ext cx="4267200" cy="1021848"/>
            <a:chOff x="3124200" y="3524054"/>
            <a:chExt cx="4267200" cy="1021848"/>
          </a:xfrm>
        </p:grpSpPr>
        <p:cxnSp>
          <p:nvCxnSpPr>
            <p:cNvPr id="195" name="Straight Arrow Connector 194"/>
            <p:cNvCxnSpPr/>
            <p:nvPr/>
          </p:nvCxnSpPr>
          <p:spPr>
            <a:xfrm flipH="1">
              <a:off x="3124200" y="4536475"/>
              <a:ext cx="4267200" cy="1"/>
            </a:xfrm>
            <a:prstGeom prst="straightConnector1">
              <a:avLst/>
            </a:prstGeom>
            <a:ln w="38100">
              <a:solidFill>
                <a:schemeClr val="bg1">
                  <a:lumMod val="85000"/>
                </a:schemeClr>
              </a:solidFill>
              <a:headEnd type="arrow" w="med" len="med"/>
              <a:tailEnd type="none" w="med" len="med"/>
            </a:ln>
          </p:spPr>
          <p:style>
            <a:lnRef idx="1">
              <a:schemeClr val="dk1"/>
            </a:lnRef>
            <a:fillRef idx="0">
              <a:schemeClr val="dk1"/>
            </a:fillRef>
            <a:effectRef idx="0">
              <a:schemeClr val="dk1"/>
            </a:effectRef>
            <a:fontRef idx="minor">
              <a:schemeClr val="tx1"/>
            </a:fontRef>
          </p:style>
        </p:cxnSp>
        <p:cxnSp>
          <p:nvCxnSpPr>
            <p:cNvPr id="196" name="Straight Arrow Connector 195"/>
            <p:cNvCxnSpPr/>
            <p:nvPr/>
          </p:nvCxnSpPr>
          <p:spPr>
            <a:xfrm>
              <a:off x="3143054" y="3524054"/>
              <a:ext cx="0" cy="1021848"/>
            </a:xfrm>
            <a:prstGeom prst="straightConnector1">
              <a:avLst/>
            </a:prstGeom>
            <a:ln w="38100">
              <a:solidFill>
                <a:schemeClr val="bg1">
                  <a:lumMod val="85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grpSp>
      <p:sp>
        <p:nvSpPr>
          <p:cNvPr id="197" name="Rectangular Callout 196"/>
          <p:cNvSpPr/>
          <p:nvPr/>
        </p:nvSpPr>
        <p:spPr>
          <a:xfrm>
            <a:off x="3581400" y="3245031"/>
            <a:ext cx="1371600" cy="716582"/>
          </a:xfrm>
          <a:prstGeom prst="wedgeRectCallout">
            <a:avLst>
              <a:gd name="adj1" fmla="val -73976"/>
              <a:gd name="adj2" fmla="val 71144"/>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Population</a:t>
            </a:r>
          </a:p>
          <a:p>
            <a:pPr algn="ctr"/>
            <a:r>
              <a:rPr lang="en-GB" dirty="0"/>
              <a:t>distribution</a:t>
            </a:r>
          </a:p>
        </p:txBody>
      </p:sp>
      <p:sp>
        <p:nvSpPr>
          <p:cNvPr id="198" name="Rectangular Callout 197"/>
          <p:cNvSpPr/>
          <p:nvPr/>
        </p:nvSpPr>
        <p:spPr>
          <a:xfrm>
            <a:off x="228600" y="2152170"/>
            <a:ext cx="1568254" cy="690265"/>
          </a:xfrm>
          <a:prstGeom prst="wedgeRectCallout">
            <a:avLst>
              <a:gd name="adj1" fmla="val 86829"/>
              <a:gd name="adj2" fmla="val 120522"/>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GB" sz="1600" dirty="0"/>
              <a:t>Distribution for sample means</a:t>
            </a:r>
          </a:p>
          <a:p>
            <a:pPr algn="ctr"/>
            <a:r>
              <a:rPr lang="en-GB" sz="1600" dirty="0"/>
              <a:t>n=10</a:t>
            </a:r>
          </a:p>
        </p:txBody>
      </p:sp>
      <p:sp>
        <p:nvSpPr>
          <p:cNvPr id="199" name="Rectangular Callout 198"/>
          <p:cNvSpPr/>
          <p:nvPr/>
        </p:nvSpPr>
        <p:spPr>
          <a:xfrm>
            <a:off x="3063013" y="1371600"/>
            <a:ext cx="1568254" cy="685800"/>
          </a:xfrm>
          <a:prstGeom prst="wedgeRectCallout">
            <a:avLst>
              <a:gd name="adj1" fmla="val -74595"/>
              <a:gd name="adj2" fmla="val 119133"/>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GB" sz="1600" dirty="0"/>
              <a:t>Distribution for sample means</a:t>
            </a:r>
          </a:p>
          <a:p>
            <a:pPr algn="ctr"/>
            <a:r>
              <a:rPr lang="en-GB" sz="1600" dirty="0"/>
              <a:t>n=50</a:t>
            </a:r>
          </a:p>
        </p:txBody>
      </p:sp>
      <p:sp>
        <p:nvSpPr>
          <p:cNvPr id="3" name="Rectangle 2"/>
          <p:cNvSpPr/>
          <p:nvPr/>
        </p:nvSpPr>
        <p:spPr>
          <a:xfrm>
            <a:off x="5562600" y="2819400"/>
            <a:ext cx="3505200" cy="923330"/>
          </a:xfrm>
          <a:prstGeom prst="rect">
            <a:avLst/>
          </a:prstGeom>
          <a:solidFill>
            <a:schemeClr val="bg1">
              <a:lumMod val="95000"/>
            </a:schemeClr>
          </a:solidFill>
        </p:spPr>
        <p:txBody>
          <a:bodyPr wrap="square">
            <a:spAutoFit/>
          </a:bodyPr>
          <a:lstStyle/>
          <a:p>
            <a:r>
              <a:rPr lang="en-GB" altLang="en-US" dirty="0"/>
              <a:t>The probability distribution that’s relevant here is called the </a:t>
            </a:r>
            <a:r>
              <a:rPr lang="en-GB" altLang="en-US" b="1" dirty="0">
                <a:solidFill>
                  <a:srgbClr val="333399"/>
                </a:solidFill>
              </a:rPr>
              <a:t>sampling distribution of means</a:t>
            </a:r>
            <a:r>
              <a:rPr lang="en-GB" altLang="en-US" b="1" dirty="0"/>
              <a:t> </a:t>
            </a:r>
          </a:p>
        </p:txBody>
      </p:sp>
      <p:sp>
        <p:nvSpPr>
          <p:cNvPr id="28" name="Rectangle 27"/>
          <p:cNvSpPr/>
          <p:nvPr/>
        </p:nvSpPr>
        <p:spPr>
          <a:xfrm>
            <a:off x="5562600" y="1743670"/>
            <a:ext cx="3505200" cy="923330"/>
          </a:xfrm>
          <a:prstGeom prst="rect">
            <a:avLst/>
          </a:prstGeom>
          <a:solidFill>
            <a:schemeClr val="bg1">
              <a:lumMod val="95000"/>
            </a:schemeClr>
          </a:solidFill>
        </p:spPr>
        <p:txBody>
          <a:bodyPr wrap="square">
            <a:spAutoFit/>
          </a:bodyPr>
          <a:lstStyle/>
          <a:p>
            <a:r>
              <a:rPr lang="en-GB" altLang="en-US" dirty="0"/>
              <a:t>The actual </a:t>
            </a:r>
            <a:r>
              <a:rPr lang="en-GB" altLang="en-US" b="1" dirty="0"/>
              <a:t>population may not </a:t>
            </a:r>
            <a:r>
              <a:rPr lang="en-GB" altLang="en-US" dirty="0"/>
              <a:t>possibly </a:t>
            </a:r>
            <a:r>
              <a:rPr lang="en-GB" altLang="en-US" b="1" dirty="0"/>
              <a:t>follow</a:t>
            </a:r>
            <a:r>
              <a:rPr lang="en-GB" altLang="en-US" dirty="0"/>
              <a:t> </a:t>
            </a:r>
            <a:r>
              <a:rPr lang="en-GB" altLang="en-US" b="1" dirty="0"/>
              <a:t>normal</a:t>
            </a:r>
            <a:r>
              <a:rPr lang="en-GB" altLang="en-US" dirty="0"/>
              <a:t> distribution  but…</a:t>
            </a:r>
          </a:p>
        </p:txBody>
      </p:sp>
      <p:grpSp>
        <p:nvGrpSpPr>
          <p:cNvPr id="36" name="Group 35"/>
          <p:cNvGrpSpPr/>
          <p:nvPr/>
        </p:nvGrpSpPr>
        <p:grpSpPr>
          <a:xfrm>
            <a:off x="6248400" y="152400"/>
            <a:ext cx="2743199" cy="1301314"/>
            <a:chOff x="925287" y="1143000"/>
            <a:chExt cx="6618513" cy="1797655"/>
          </a:xfrm>
          <a:solidFill>
            <a:schemeClr val="bg1">
              <a:lumMod val="95000"/>
            </a:schemeClr>
          </a:solidFill>
        </p:grpSpPr>
        <p:grpSp>
          <p:nvGrpSpPr>
            <p:cNvPr id="37" name="Group 36"/>
            <p:cNvGrpSpPr/>
            <p:nvPr/>
          </p:nvGrpSpPr>
          <p:grpSpPr>
            <a:xfrm>
              <a:off x="925287" y="1143000"/>
              <a:ext cx="6618513" cy="958268"/>
              <a:chOff x="-65314" y="1093291"/>
              <a:chExt cx="6618513" cy="958268"/>
            </a:xfrm>
            <a:grpFill/>
          </p:grpSpPr>
          <p:sp>
            <p:nvSpPr>
              <p:cNvPr id="41" name="Freeform 40"/>
              <p:cNvSpPr/>
              <p:nvPr/>
            </p:nvSpPr>
            <p:spPr>
              <a:xfrm>
                <a:off x="-65314" y="1093291"/>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solidFill>
                <a:schemeClr val="accent1"/>
              </a:solidFill>
              <a:ln>
                <a:solidFill>
                  <a:schemeClr val="accent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chemeClr val="bg1"/>
                    </a:solidFill>
                  </a:rPr>
                  <a:t>1</a:t>
                </a:r>
              </a:p>
            </p:txBody>
          </p:sp>
          <p:sp>
            <p:nvSpPr>
              <p:cNvPr id="42" name="Freeform 41"/>
              <p:cNvSpPr/>
              <p:nvPr/>
            </p:nvSpPr>
            <p:spPr>
              <a:xfrm>
                <a:off x="1127986" y="1093293"/>
                <a:ext cx="5425213" cy="622873"/>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solidFill>
                <a:schemeClr val="bg1"/>
              </a:solidFill>
              <a:ln>
                <a:solidFill>
                  <a:schemeClr val="accent1"/>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1" numCol="1" spcCol="1270" anchor="ctr" anchorCtr="0">
                <a:noAutofit/>
              </a:bodyPr>
              <a:lstStyle/>
              <a:p>
                <a:pPr marL="0" lvl="1" algn="l" defTabSz="755650">
                  <a:lnSpc>
                    <a:spcPct val="90000"/>
                  </a:lnSpc>
                  <a:spcBef>
                    <a:spcPct val="0"/>
                  </a:spcBef>
                  <a:spcAft>
                    <a:spcPct val="15000"/>
                  </a:spcAft>
                </a:pPr>
                <a:r>
                  <a:rPr lang="en-GB" sz="1600" kern="1200" dirty="0">
                    <a:solidFill>
                      <a:schemeClr val="tx1"/>
                    </a:solidFill>
                  </a:rPr>
                  <a:t>State your null hypothesis (H</a:t>
                </a:r>
                <a:r>
                  <a:rPr lang="en-GB" sz="1600" kern="1200" baseline="-25000" dirty="0">
                    <a:solidFill>
                      <a:schemeClr val="tx1"/>
                    </a:solidFill>
                  </a:rPr>
                  <a:t>0</a:t>
                </a:r>
                <a:r>
                  <a:rPr lang="en-GB" sz="1600" kern="1200" baseline="0" dirty="0">
                    <a:solidFill>
                      <a:schemeClr val="tx1"/>
                    </a:solidFill>
                  </a:rPr>
                  <a:t>)</a:t>
                </a:r>
              </a:p>
            </p:txBody>
          </p:sp>
        </p:grpSp>
        <p:grpSp>
          <p:nvGrpSpPr>
            <p:cNvPr id="38" name="Group 37"/>
            <p:cNvGrpSpPr/>
            <p:nvPr/>
          </p:nvGrpSpPr>
          <p:grpSpPr>
            <a:xfrm>
              <a:off x="925287" y="1982387"/>
              <a:ext cx="6618513" cy="958268"/>
              <a:chOff x="-65314" y="1932678"/>
              <a:chExt cx="6618513" cy="958268"/>
            </a:xfrm>
            <a:grpFill/>
          </p:grpSpPr>
          <p:sp>
            <p:nvSpPr>
              <p:cNvPr id="39" name="Freeform 38"/>
              <p:cNvSpPr/>
              <p:nvPr/>
            </p:nvSpPr>
            <p:spPr>
              <a:xfrm>
                <a:off x="-65314" y="1932678"/>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solidFill>
                <a:schemeClr val="accent1"/>
              </a:solidFill>
              <a:ln>
                <a:solidFill>
                  <a:schemeClr val="accent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chemeClr val="bg1"/>
                    </a:solidFill>
                  </a:rPr>
                  <a:t>2</a:t>
                </a:r>
              </a:p>
            </p:txBody>
          </p:sp>
          <p:sp>
            <p:nvSpPr>
              <p:cNvPr id="40" name="Freeform 39"/>
              <p:cNvSpPr/>
              <p:nvPr/>
            </p:nvSpPr>
            <p:spPr>
              <a:xfrm>
                <a:off x="1127986" y="1932680"/>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solidFill>
                <a:schemeClr val="bg1"/>
              </a:solidFill>
              <a:ln>
                <a:solidFill>
                  <a:schemeClr val="accent1"/>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defTabSz="755650">
                  <a:lnSpc>
                    <a:spcPct val="90000"/>
                  </a:lnSpc>
                  <a:spcBef>
                    <a:spcPct val="0"/>
                  </a:spcBef>
                  <a:spcAft>
                    <a:spcPct val="15000"/>
                  </a:spcAft>
                </a:pPr>
                <a:r>
                  <a:rPr lang="en-GB" sz="1600" b="1" dirty="0">
                    <a:solidFill>
                      <a:schemeClr val="tx1"/>
                    </a:solidFill>
                  </a:rPr>
                  <a:t>Calculate test statistic </a:t>
                </a:r>
                <a:r>
                  <a:rPr lang="en-GB" sz="1600" dirty="0">
                    <a:solidFill>
                      <a:schemeClr val="tx1"/>
                    </a:solidFill>
                  </a:rPr>
                  <a:t>from data (stat.)</a:t>
                </a:r>
              </a:p>
            </p:txBody>
          </p:sp>
        </p:grpSp>
      </p:grpSp>
    </p:spTree>
    <p:extLst>
      <p:ext uri="{BB962C8B-B14F-4D97-AF65-F5344CB8AC3E}">
        <p14:creationId xmlns:p14="http://schemas.microsoft.com/office/powerpoint/2010/main" val="4104305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8"/>
                                        </p:tgtEl>
                                        <p:attrNameLst>
                                          <p:attrName>style.visibility</p:attrName>
                                        </p:attrNameLst>
                                      </p:cBhvr>
                                      <p:to>
                                        <p:strVal val="visible"/>
                                      </p:to>
                                    </p:set>
                                    <p:animEffect transition="in" filter="fade">
                                      <p:cBhvr>
                                        <p:cTn id="7" dur="500"/>
                                        <p:tgtEl>
                                          <p:spTgt spid="19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9"/>
                                        </p:tgtEl>
                                        <p:attrNameLst>
                                          <p:attrName>style.visibility</p:attrName>
                                        </p:attrNameLst>
                                      </p:cBhvr>
                                      <p:to>
                                        <p:strVal val="visible"/>
                                      </p:to>
                                    </p:set>
                                    <p:animEffect transition="in" filter="fade">
                                      <p:cBhvr>
                                        <p:cTn id="12" dur="500"/>
                                        <p:tgtEl>
                                          <p:spTgt spid="19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92"/>
                                        </p:tgtEl>
                                        <p:attrNameLst>
                                          <p:attrName>style.visibility</p:attrName>
                                        </p:attrNameLst>
                                      </p:cBhvr>
                                      <p:to>
                                        <p:strVal val="visible"/>
                                      </p:to>
                                    </p:set>
                                    <p:animEffect transition="in" filter="fade">
                                      <p:cBhvr>
                                        <p:cTn id="22" dur="500"/>
                                        <p:tgtEl>
                                          <p:spTgt spid="1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 grpId="0" animBg="1"/>
      <p:bldP spid="198" grpId="0" animBg="1"/>
      <p:bldP spid="199" grpId="0" animBg="1"/>
      <p:bldP spid="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55C9D-B1E7-4FB7-81BB-B7058CBA2CA7}"/>
              </a:ext>
            </a:extLst>
          </p:cNvPr>
          <p:cNvSpPr>
            <a:spLocks noGrp="1"/>
          </p:cNvSpPr>
          <p:nvPr>
            <p:ph type="title"/>
          </p:nvPr>
        </p:nvSpPr>
        <p:spPr/>
        <p:txBody>
          <a:bodyPr/>
          <a:lstStyle/>
          <a:p>
            <a:r>
              <a:rPr lang="en-GB" dirty="0"/>
              <a:t>Sampling distribution: recall!</a:t>
            </a:r>
          </a:p>
        </p:txBody>
      </p:sp>
      <p:sp>
        <p:nvSpPr>
          <p:cNvPr id="3" name="Rectangle 2">
            <a:extLst>
              <a:ext uri="{FF2B5EF4-FFF2-40B4-BE49-F238E27FC236}">
                <a16:creationId xmlns:a16="http://schemas.microsoft.com/office/drawing/2014/main" id="{3A9D283C-37BF-4E2C-AC17-D1D9CDFC646F}"/>
              </a:ext>
            </a:extLst>
          </p:cNvPr>
          <p:cNvSpPr/>
          <p:nvPr/>
        </p:nvSpPr>
        <p:spPr>
          <a:xfrm>
            <a:off x="533400" y="1295400"/>
            <a:ext cx="7772400" cy="3139321"/>
          </a:xfrm>
          <a:prstGeom prst="rect">
            <a:avLst/>
          </a:prstGeom>
        </p:spPr>
        <p:txBody>
          <a:bodyPr wrap="square">
            <a:spAutoFit/>
          </a:bodyPr>
          <a:lstStyle/>
          <a:p>
            <a:pPr algn="just"/>
            <a:br>
              <a:rPr lang="en-GB" b="1" dirty="0">
                <a:solidFill>
                  <a:srgbClr val="222222"/>
                </a:solidFill>
                <a:latin typeface="baskerville-urw"/>
              </a:rPr>
            </a:br>
            <a:r>
              <a:rPr lang="en-GB" b="1" dirty="0">
                <a:solidFill>
                  <a:srgbClr val="222222"/>
                </a:solidFill>
                <a:latin typeface="baskerville-urw"/>
              </a:rPr>
              <a:t>A </a:t>
            </a:r>
            <a:r>
              <a:rPr lang="en-GB" dirty="0">
                <a:solidFill>
                  <a:srgbClr val="222222"/>
                </a:solidFill>
                <a:latin typeface="+mj-lt"/>
              </a:rPr>
              <a:t>sampling distribution of the sample mean is a probability distribution of all possible sample means from all possible samples (</a:t>
            </a:r>
            <a:r>
              <a:rPr lang="en-GB" i="1" dirty="0">
                <a:solidFill>
                  <a:srgbClr val="222222"/>
                </a:solidFill>
                <a:latin typeface="+mj-lt"/>
              </a:rPr>
              <a:t>n</a:t>
            </a:r>
            <a:r>
              <a:rPr lang="en-GB" dirty="0">
                <a:solidFill>
                  <a:srgbClr val="222222"/>
                </a:solidFill>
                <a:latin typeface="+mj-lt"/>
              </a:rPr>
              <a:t>).</a:t>
            </a:r>
          </a:p>
          <a:p>
            <a:pPr algn="just"/>
            <a:endParaRPr lang="en-GB" dirty="0">
              <a:solidFill>
                <a:srgbClr val="222222"/>
              </a:solidFill>
              <a:latin typeface="+mj-lt"/>
            </a:endParaRPr>
          </a:p>
          <a:p>
            <a:pPr algn="just"/>
            <a:r>
              <a:rPr lang="en-GB" dirty="0">
                <a:solidFill>
                  <a:srgbClr val="222222"/>
                </a:solidFill>
                <a:latin typeface="+mj-lt"/>
              </a:rPr>
              <a:t>In plain English, the sampling distribution is what you would get if you took a bunch of distinct samples, and plotted their respective means (mean from sample 1, mean from sample 2, etc.) and looked at the distribution…</a:t>
            </a:r>
          </a:p>
          <a:p>
            <a:pPr algn="just"/>
            <a:endParaRPr lang="en-GB" dirty="0">
              <a:solidFill>
                <a:srgbClr val="222222"/>
              </a:solidFill>
              <a:latin typeface="+mj-lt"/>
            </a:endParaRPr>
          </a:p>
          <a:p>
            <a:pPr algn="just"/>
            <a:r>
              <a:rPr lang="en-GB" dirty="0">
                <a:solidFill>
                  <a:srgbClr val="222222"/>
                </a:solidFill>
                <a:latin typeface="+mj-lt"/>
              </a:rPr>
              <a:t>…Except a “bunch of” samples is really ALL samples, and this distribution can be used to infer the probability you got a specific mean from any sample.</a:t>
            </a:r>
          </a:p>
          <a:p>
            <a:pPr algn="just"/>
            <a:endParaRPr lang="en-GB" b="0" i="0" dirty="0">
              <a:solidFill>
                <a:srgbClr val="222222"/>
              </a:solidFill>
              <a:effectLst/>
              <a:latin typeface="+mj-lt"/>
            </a:endParaRPr>
          </a:p>
        </p:txBody>
      </p:sp>
    </p:spTree>
    <p:extLst>
      <p:ext uri="{BB962C8B-B14F-4D97-AF65-F5344CB8AC3E}">
        <p14:creationId xmlns:p14="http://schemas.microsoft.com/office/powerpoint/2010/main" val="33886219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3" name="Chart 192"/>
          <p:cNvGraphicFramePr/>
          <p:nvPr>
            <p:extLst>
              <p:ext uri="{D42A27DB-BD31-4B8C-83A1-F6EECF244321}">
                <p14:modId xmlns:p14="http://schemas.microsoft.com/office/powerpoint/2010/main" val="2203830712"/>
              </p:ext>
            </p:extLst>
          </p:nvPr>
        </p:nvGraphicFramePr>
        <p:xfrm>
          <a:off x="76200" y="1641339"/>
          <a:ext cx="4876800" cy="2636041"/>
        </p:xfrm>
        <a:graphic>
          <a:graphicData uri="http://schemas.openxmlformats.org/drawingml/2006/chart">
            <c:chart xmlns:c="http://schemas.openxmlformats.org/drawingml/2006/chart" xmlns:r="http://schemas.openxmlformats.org/officeDocument/2006/relationships" r:id="rId3"/>
          </a:graphicData>
        </a:graphic>
      </p:graphicFrame>
      <p:sp>
        <p:nvSpPr>
          <p:cNvPr id="2" name="Title 1"/>
          <p:cNvSpPr>
            <a:spLocks noGrp="1"/>
          </p:cNvSpPr>
          <p:nvPr>
            <p:ph type="title"/>
          </p:nvPr>
        </p:nvSpPr>
        <p:spPr/>
        <p:txBody>
          <a:bodyPr/>
          <a:lstStyle/>
          <a:p>
            <a:r>
              <a:rPr lang="en-GB" dirty="0"/>
              <a:t>Testing for mean</a:t>
            </a:r>
          </a:p>
        </p:txBody>
      </p:sp>
      <mc:AlternateContent xmlns:mc="http://schemas.openxmlformats.org/markup-compatibility/2006" xmlns:a14="http://schemas.microsoft.com/office/drawing/2010/main">
        <mc:Choice Requires="a14">
          <p:sp>
            <p:nvSpPr>
              <p:cNvPr id="181" name="TextBox 180"/>
              <p:cNvSpPr txBox="1"/>
              <p:nvPr/>
            </p:nvSpPr>
            <p:spPr>
              <a:xfrm>
                <a:off x="2286000" y="4582180"/>
                <a:ext cx="494046" cy="523220"/>
              </a:xfrm>
              <a:prstGeom prst="rect">
                <a:avLst/>
              </a:prstGeom>
              <a:no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800" b="1" i="1" smtClean="0">
                          <a:solidFill>
                            <a:schemeClr val="tx1"/>
                          </a:solidFill>
                          <a:latin typeface="Cambria Math"/>
                          <a:ea typeface="Cambria Math"/>
                        </a:rPr>
                        <m:t>𝝁</m:t>
                      </m:r>
                    </m:oMath>
                  </m:oMathPara>
                </a14:m>
                <a:endParaRPr lang="en-GB" sz="2800" b="1" dirty="0">
                  <a:solidFill>
                    <a:schemeClr val="tx1"/>
                  </a:solidFill>
                </a:endParaRPr>
              </a:p>
            </p:txBody>
          </p:sp>
        </mc:Choice>
        <mc:Fallback xmlns="">
          <p:sp>
            <p:nvSpPr>
              <p:cNvPr id="181" name="TextBox 180"/>
              <p:cNvSpPr txBox="1">
                <a:spLocks noRot="1" noChangeAspect="1" noMove="1" noResize="1" noEditPoints="1" noAdjustHandles="1" noChangeArrowheads="1" noChangeShapeType="1" noTextEdit="1"/>
              </p:cNvSpPr>
              <p:nvPr/>
            </p:nvSpPr>
            <p:spPr>
              <a:xfrm>
                <a:off x="2286000" y="4582180"/>
                <a:ext cx="494046" cy="523220"/>
              </a:xfrm>
              <a:prstGeom prst="rect">
                <a:avLst/>
              </a:prstGeom>
              <a:blipFill rotWithShape="1">
                <a:blip r:embed="rId4"/>
                <a:stretch>
                  <a:fillRect/>
                </a:stretch>
              </a:blipFill>
              <a:ln>
                <a:noFill/>
              </a:ln>
            </p:spPr>
            <p:txBody>
              <a:bodyPr/>
              <a:lstStyle/>
              <a:p>
                <a:r>
                  <a:rPr lang="en-GB">
                    <a:noFill/>
                  </a:rPr>
                  <a:t> </a:t>
                </a:r>
              </a:p>
            </p:txBody>
          </p:sp>
        </mc:Fallback>
      </mc:AlternateContent>
      <p:sp>
        <p:nvSpPr>
          <p:cNvPr id="186" name="TextBox 185"/>
          <p:cNvSpPr txBox="1"/>
          <p:nvPr/>
        </p:nvSpPr>
        <p:spPr>
          <a:xfrm>
            <a:off x="2286000" y="4277380"/>
            <a:ext cx="550151" cy="523220"/>
          </a:xfrm>
          <a:prstGeom prst="rect">
            <a:avLst/>
          </a:prstGeom>
          <a:noFill/>
          <a:ln>
            <a:noFill/>
          </a:ln>
        </p:spPr>
        <p:txBody>
          <a:bodyPr wrap="none" rtlCol="0">
            <a:spAutoFit/>
          </a:bodyPr>
          <a:lstStyle/>
          <a:p>
            <a:r>
              <a:rPr lang="en-GB" sz="2800" b="1" dirty="0"/>
              <a:t>40</a:t>
            </a:r>
          </a:p>
        </p:txBody>
      </p:sp>
      <p:cxnSp>
        <p:nvCxnSpPr>
          <p:cNvPr id="189" name="Straight Arrow Connector 188"/>
          <p:cNvCxnSpPr/>
          <p:nvPr/>
        </p:nvCxnSpPr>
        <p:spPr>
          <a:xfrm>
            <a:off x="2524027" y="2637723"/>
            <a:ext cx="0" cy="1654883"/>
          </a:xfrm>
          <a:prstGeom prst="straightConnector1">
            <a:avLst/>
          </a:prstGeom>
          <a:ln w="19050">
            <a:solidFill>
              <a:schemeClr val="tx1"/>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grpSp>
        <p:nvGrpSpPr>
          <p:cNvPr id="194" name="Group 193"/>
          <p:cNvGrpSpPr/>
          <p:nvPr/>
        </p:nvGrpSpPr>
        <p:grpSpPr>
          <a:xfrm>
            <a:off x="381000" y="3295454"/>
            <a:ext cx="4267200" cy="1021848"/>
            <a:chOff x="3124200" y="3524054"/>
            <a:chExt cx="4267200" cy="1021848"/>
          </a:xfrm>
        </p:grpSpPr>
        <p:cxnSp>
          <p:nvCxnSpPr>
            <p:cNvPr id="195" name="Straight Arrow Connector 194"/>
            <p:cNvCxnSpPr/>
            <p:nvPr/>
          </p:nvCxnSpPr>
          <p:spPr>
            <a:xfrm flipH="1">
              <a:off x="3124200" y="4536475"/>
              <a:ext cx="4267200" cy="1"/>
            </a:xfrm>
            <a:prstGeom prst="straightConnector1">
              <a:avLst/>
            </a:prstGeom>
            <a:ln w="38100">
              <a:solidFill>
                <a:schemeClr val="bg1">
                  <a:lumMod val="85000"/>
                </a:schemeClr>
              </a:solidFill>
              <a:headEnd type="arrow" w="med" len="med"/>
              <a:tailEnd type="none" w="med" len="med"/>
            </a:ln>
          </p:spPr>
          <p:style>
            <a:lnRef idx="1">
              <a:schemeClr val="dk1"/>
            </a:lnRef>
            <a:fillRef idx="0">
              <a:schemeClr val="dk1"/>
            </a:fillRef>
            <a:effectRef idx="0">
              <a:schemeClr val="dk1"/>
            </a:effectRef>
            <a:fontRef idx="minor">
              <a:schemeClr val="tx1"/>
            </a:fontRef>
          </p:style>
        </p:cxnSp>
        <p:cxnSp>
          <p:nvCxnSpPr>
            <p:cNvPr id="196" name="Straight Arrow Connector 195"/>
            <p:cNvCxnSpPr/>
            <p:nvPr/>
          </p:nvCxnSpPr>
          <p:spPr>
            <a:xfrm>
              <a:off x="3143054" y="3524054"/>
              <a:ext cx="0" cy="1021848"/>
            </a:xfrm>
            <a:prstGeom prst="straightConnector1">
              <a:avLst/>
            </a:prstGeom>
            <a:ln w="38100">
              <a:solidFill>
                <a:schemeClr val="bg1">
                  <a:lumMod val="85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5" name="Group 4"/>
          <p:cNvGrpSpPr/>
          <p:nvPr/>
        </p:nvGrpSpPr>
        <p:grpSpPr>
          <a:xfrm>
            <a:off x="228600" y="2927239"/>
            <a:ext cx="2294467" cy="1389499"/>
            <a:chOff x="228600" y="2927239"/>
            <a:chExt cx="2294467" cy="1389499"/>
          </a:xfrm>
        </p:grpSpPr>
        <p:grpSp>
          <p:nvGrpSpPr>
            <p:cNvPr id="27" name="Group 26"/>
            <p:cNvGrpSpPr/>
            <p:nvPr/>
          </p:nvGrpSpPr>
          <p:grpSpPr>
            <a:xfrm>
              <a:off x="1952379" y="4097866"/>
              <a:ext cx="570688" cy="218872"/>
              <a:chOff x="2133600" y="3514928"/>
              <a:chExt cx="570688" cy="447472"/>
            </a:xfrm>
          </p:grpSpPr>
          <p:cxnSp>
            <p:nvCxnSpPr>
              <p:cNvPr id="28" name="Straight Arrow Connector 27"/>
              <p:cNvCxnSpPr/>
              <p:nvPr/>
            </p:nvCxnSpPr>
            <p:spPr>
              <a:xfrm flipV="1">
                <a:off x="2704288" y="3521271"/>
                <a:ext cx="0" cy="441129"/>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9" name="Straight Arrow Connector 28"/>
              <p:cNvCxnSpPr/>
              <p:nvPr/>
            </p:nvCxnSpPr>
            <p:spPr>
              <a:xfrm flipV="1">
                <a:off x="2133600" y="3514928"/>
                <a:ext cx="0" cy="447472"/>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0" name="Straight Arrow Connector 29"/>
              <p:cNvCxnSpPr/>
              <p:nvPr/>
            </p:nvCxnSpPr>
            <p:spPr>
              <a:xfrm>
                <a:off x="2152905" y="3733800"/>
                <a:ext cx="551383" cy="1"/>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grpSp>
        <mc:AlternateContent xmlns:mc="http://schemas.openxmlformats.org/markup-compatibility/2006" xmlns:a14="http://schemas.microsoft.com/office/drawing/2010/main">
          <mc:Choice Requires="a14">
            <p:sp>
              <p:nvSpPr>
                <p:cNvPr id="31" name="Rectangular Callout 30"/>
                <p:cNvSpPr/>
                <p:nvPr/>
              </p:nvSpPr>
              <p:spPr>
                <a:xfrm>
                  <a:off x="228600" y="2927239"/>
                  <a:ext cx="1371600" cy="716582"/>
                </a:xfrm>
                <a:prstGeom prst="wedgeRectCallout">
                  <a:avLst>
                    <a:gd name="adj1" fmla="val 89604"/>
                    <a:gd name="adj2" fmla="val 11958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Population</a:t>
                  </a:r>
                </a:p>
                <a:p>
                  <a:pPr algn="ctr"/>
                  <a:r>
                    <a:rPr lang="en-GB" dirty="0"/>
                    <a:t>SD (</a:t>
                  </a:r>
                  <a14:m>
                    <m:oMath xmlns:m="http://schemas.openxmlformats.org/officeDocument/2006/math">
                      <m:r>
                        <a:rPr lang="en-GB" i="1">
                          <a:latin typeface="Cambria Math"/>
                          <a:ea typeface="Cambria Math"/>
                        </a:rPr>
                        <m:t>𝜎</m:t>
                      </m:r>
                    </m:oMath>
                  </a14:m>
                  <a:r>
                    <a:rPr lang="en-GB" dirty="0"/>
                    <a:t>)</a:t>
                  </a:r>
                </a:p>
              </p:txBody>
            </p:sp>
          </mc:Choice>
          <mc:Fallback xmlns="">
            <p:sp>
              <p:nvSpPr>
                <p:cNvPr id="31" name="Rectangular Callout 30"/>
                <p:cNvSpPr>
                  <a:spLocks noRot="1" noChangeAspect="1" noMove="1" noResize="1" noEditPoints="1" noAdjustHandles="1" noChangeArrowheads="1" noChangeShapeType="1" noTextEdit="1"/>
                </p:cNvSpPr>
                <p:nvPr/>
              </p:nvSpPr>
              <p:spPr>
                <a:xfrm>
                  <a:off x="228600" y="2927239"/>
                  <a:ext cx="1371600" cy="716582"/>
                </a:xfrm>
                <a:prstGeom prst="wedgeRectCallout">
                  <a:avLst>
                    <a:gd name="adj1" fmla="val 89604"/>
                    <a:gd name="adj2" fmla="val 119587"/>
                  </a:avLst>
                </a:prstGeom>
                <a:blipFill rotWithShape="1">
                  <a:blip r:embed="rId5"/>
                  <a:stretch>
                    <a:fillRect/>
                  </a:stretch>
                </a:blipFill>
              </p:spPr>
              <p:txBody>
                <a:bodyPr/>
                <a:lstStyle/>
                <a:p>
                  <a:r>
                    <a:rPr lang="en-GB">
                      <a:noFill/>
                    </a:rPr>
                    <a:t> </a:t>
                  </a:r>
                </a:p>
              </p:txBody>
            </p:sp>
          </mc:Fallback>
        </mc:AlternateContent>
      </p:grpSp>
      <p:grpSp>
        <p:nvGrpSpPr>
          <p:cNvPr id="6" name="Group 5"/>
          <p:cNvGrpSpPr/>
          <p:nvPr/>
        </p:nvGrpSpPr>
        <p:grpSpPr>
          <a:xfrm>
            <a:off x="609600" y="1950418"/>
            <a:ext cx="1905000" cy="1859582"/>
            <a:chOff x="609600" y="1950418"/>
            <a:chExt cx="1905000" cy="1859582"/>
          </a:xfrm>
        </p:grpSpPr>
        <mc:AlternateContent xmlns:mc="http://schemas.openxmlformats.org/markup-compatibility/2006" xmlns:a14="http://schemas.microsoft.com/office/drawing/2010/main">
          <mc:Choice Requires="a14">
            <p:sp>
              <p:nvSpPr>
                <p:cNvPr id="34" name="Rectangular Callout 33"/>
                <p:cNvSpPr/>
                <p:nvPr/>
              </p:nvSpPr>
              <p:spPr>
                <a:xfrm>
                  <a:off x="609600" y="1950418"/>
                  <a:ext cx="1676400" cy="716582"/>
                </a:xfrm>
                <a:prstGeom prst="wedgeRectCallout">
                  <a:avLst>
                    <a:gd name="adj1" fmla="val 57505"/>
                    <a:gd name="adj2" fmla="val 179845"/>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GB" dirty="0"/>
                    <a:t>Sample means</a:t>
                  </a:r>
                </a:p>
                <a:p>
                  <a:pPr algn="ctr"/>
                  <a:r>
                    <a:rPr lang="en-GB" dirty="0"/>
                    <a:t>SD (</a:t>
                  </a:r>
                  <a14:m>
                    <m:oMath xmlns:m="http://schemas.openxmlformats.org/officeDocument/2006/math">
                      <m:sSub>
                        <m:sSubPr>
                          <m:ctrlPr>
                            <a:rPr lang="en-GB" i="1">
                              <a:latin typeface="Cambria Math" panose="02040503050406030204" pitchFamily="18" charset="0"/>
                              <a:ea typeface="Cambria Math"/>
                            </a:rPr>
                          </m:ctrlPr>
                        </m:sSubPr>
                        <m:e>
                          <m:r>
                            <a:rPr lang="en-GB" i="1">
                              <a:latin typeface="Cambria Math"/>
                              <a:ea typeface="Cambria Math"/>
                            </a:rPr>
                            <m:t>𝜎</m:t>
                          </m:r>
                        </m:e>
                        <m:sub>
                          <m:acc>
                            <m:accPr>
                              <m:chr m:val="̅"/>
                              <m:ctrlPr>
                                <a:rPr lang="en-GB" i="1">
                                  <a:latin typeface="Cambria Math" panose="02040503050406030204" pitchFamily="18" charset="0"/>
                                  <a:ea typeface="Cambria Math"/>
                                </a:rPr>
                              </m:ctrlPr>
                            </m:accPr>
                            <m:e>
                              <m:r>
                                <a:rPr lang="en-GB" i="1">
                                  <a:latin typeface="Cambria Math"/>
                                  <a:ea typeface="Cambria Math"/>
                                </a:rPr>
                                <m:t>𝑥</m:t>
                              </m:r>
                            </m:e>
                          </m:acc>
                        </m:sub>
                      </m:sSub>
                    </m:oMath>
                  </a14:m>
                  <a:r>
                    <a:rPr lang="en-GB" dirty="0"/>
                    <a:t>)</a:t>
                  </a:r>
                </a:p>
              </p:txBody>
            </p:sp>
          </mc:Choice>
          <mc:Fallback xmlns="">
            <p:sp>
              <p:nvSpPr>
                <p:cNvPr id="34" name="Rectangular Callout 33"/>
                <p:cNvSpPr>
                  <a:spLocks noRot="1" noChangeAspect="1" noMove="1" noResize="1" noEditPoints="1" noAdjustHandles="1" noChangeArrowheads="1" noChangeShapeType="1" noTextEdit="1"/>
                </p:cNvSpPr>
                <p:nvPr/>
              </p:nvSpPr>
              <p:spPr>
                <a:xfrm>
                  <a:off x="609600" y="1950418"/>
                  <a:ext cx="1676400" cy="716582"/>
                </a:xfrm>
                <a:prstGeom prst="wedgeRectCallout">
                  <a:avLst>
                    <a:gd name="adj1" fmla="val 57505"/>
                    <a:gd name="adj2" fmla="val 179845"/>
                  </a:avLst>
                </a:prstGeom>
                <a:blipFill rotWithShape="1">
                  <a:blip r:embed="rId6"/>
                  <a:stretch>
                    <a:fillRect/>
                  </a:stretch>
                </a:blipFill>
              </p:spPr>
              <p:txBody>
                <a:bodyPr/>
                <a:lstStyle/>
                <a:p>
                  <a:r>
                    <a:rPr lang="en-GB">
                      <a:noFill/>
                    </a:rPr>
                    <a:t> </a:t>
                  </a:r>
                </a:p>
              </p:txBody>
            </p:sp>
          </mc:Fallback>
        </mc:AlternateContent>
        <p:grpSp>
          <p:nvGrpSpPr>
            <p:cNvPr id="35" name="Group 34"/>
            <p:cNvGrpSpPr/>
            <p:nvPr/>
          </p:nvGrpSpPr>
          <p:grpSpPr>
            <a:xfrm>
              <a:off x="2238908" y="3591128"/>
              <a:ext cx="275692" cy="218872"/>
              <a:chOff x="2133600" y="3514928"/>
              <a:chExt cx="570688" cy="447472"/>
            </a:xfrm>
          </p:grpSpPr>
          <p:cxnSp>
            <p:nvCxnSpPr>
              <p:cNvPr id="36" name="Straight Arrow Connector 35"/>
              <p:cNvCxnSpPr/>
              <p:nvPr/>
            </p:nvCxnSpPr>
            <p:spPr>
              <a:xfrm flipV="1">
                <a:off x="2704288" y="3521271"/>
                <a:ext cx="0" cy="441129"/>
              </a:xfrm>
              <a:prstGeom prst="straightConnector1">
                <a:avLst/>
              </a:prstGeom>
              <a:ln>
                <a:solidFill>
                  <a:srgbClr val="C00000"/>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Arrow Connector 36"/>
              <p:cNvCxnSpPr/>
              <p:nvPr/>
            </p:nvCxnSpPr>
            <p:spPr>
              <a:xfrm flipV="1">
                <a:off x="2133600" y="3514928"/>
                <a:ext cx="0" cy="447472"/>
              </a:xfrm>
              <a:prstGeom prst="straightConnector1">
                <a:avLst/>
              </a:prstGeom>
              <a:ln>
                <a:solidFill>
                  <a:srgbClr val="C00000"/>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Straight Arrow Connector 37"/>
              <p:cNvCxnSpPr/>
              <p:nvPr/>
            </p:nvCxnSpPr>
            <p:spPr>
              <a:xfrm>
                <a:off x="2152905" y="3733800"/>
                <a:ext cx="551383" cy="1"/>
              </a:xfrm>
              <a:prstGeom prst="straightConnector1">
                <a:avLst/>
              </a:prstGeom>
              <a:ln>
                <a:solidFill>
                  <a:srgbClr val="C00000"/>
                </a:solidFill>
                <a:headEnd type="arrow" w="med" len="med"/>
                <a:tailEnd type="arrow" w="med" len="med"/>
              </a:ln>
            </p:spPr>
            <p:style>
              <a:lnRef idx="1">
                <a:schemeClr val="dk1"/>
              </a:lnRef>
              <a:fillRef idx="0">
                <a:schemeClr val="dk1"/>
              </a:fillRef>
              <a:effectRef idx="0">
                <a:schemeClr val="dk1"/>
              </a:effectRef>
              <a:fontRef idx="minor">
                <a:schemeClr val="tx1"/>
              </a:fontRef>
            </p:style>
          </p:cxnSp>
        </p:grpSp>
      </p:grpSp>
      <p:sp>
        <p:nvSpPr>
          <p:cNvPr id="7" name="Rectangle 6"/>
          <p:cNvSpPr/>
          <p:nvPr/>
        </p:nvSpPr>
        <p:spPr>
          <a:xfrm>
            <a:off x="5562600" y="1752600"/>
            <a:ext cx="3505200" cy="1200329"/>
          </a:xfrm>
          <a:prstGeom prst="rect">
            <a:avLst/>
          </a:prstGeom>
          <a:solidFill>
            <a:schemeClr val="bg1">
              <a:lumMod val="95000"/>
            </a:schemeClr>
          </a:solidFill>
        </p:spPr>
        <p:txBody>
          <a:bodyPr wrap="square">
            <a:spAutoFit/>
          </a:bodyPr>
          <a:lstStyle/>
          <a:p>
            <a:r>
              <a:rPr lang="en-GB" altLang="en-US" dirty="0"/>
              <a:t>The standard deviation of the distribution of sample means is called </a:t>
            </a:r>
            <a:r>
              <a:rPr lang="en-GB" altLang="en-US" dirty="0">
                <a:solidFill>
                  <a:srgbClr val="333399"/>
                </a:solidFill>
              </a:rPr>
              <a:t>standard error of the mean </a:t>
            </a:r>
            <a:r>
              <a:rPr lang="en-GB" altLang="en-US" dirty="0"/>
              <a:t>(STEM)</a:t>
            </a:r>
          </a:p>
        </p:txBody>
      </p:sp>
      <mc:AlternateContent xmlns:mc="http://schemas.openxmlformats.org/markup-compatibility/2006" xmlns:a14="http://schemas.microsoft.com/office/drawing/2010/main">
        <mc:Choice Requires="a14">
          <p:sp>
            <p:nvSpPr>
              <p:cNvPr id="42" name="TextBox 41"/>
              <p:cNvSpPr txBox="1"/>
              <p:nvPr/>
            </p:nvSpPr>
            <p:spPr>
              <a:xfrm>
                <a:off x="6303303" y="3063255"/>
                <a:ext cx="1926297" cy="1127745"/>
              </a:xfrm>
              <a:prstGeom prst="rect">
                <a:avLst/>
              </a:prstGeom>
              <a:solidFill>
                <a:schemeClr val="bg1">
                  <a:lumMod val="95000"/>
                </a:schemeClr>
              </a:solid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sz="2800" i="1">
                              <a:latin typeface="Cambria Math" panose="02040503050406030204" pitchFamily="18" charset="0"/>
                              <a:ea typeface="Cambria Math"/>
                            </a:rPr>
                          </m:ctrlPr>
                        </m:sSubPr>
                        <m:e>
                          <m:r>
                            <a:rPr lang="en-GB" sz="2800" i="1">
                              <a:latin typeface="Cambria Math"/>
                              <a:ea typeface="Cambria Math"/>
                            </a:rPr>
                            <m:t>𝜎</m:t>
                          </m:r>
                        </m:e>
                        <m:sub>
                          <m:acc>
                            <m:accPr>
                              <m:chr m:val="̅"/>
                              <m:ctrlPr>
                                <a:rPr lang="en-GB" sz="2800" i="1">
                                  <a:latin typeface="Cambria Math" panose="02040503050406030204" pitchFamily="18" charset="0"/>
                                  <a:ea typeface="Cambria Math"/>
                                </a:rPr>
                              </m:ctrlPr>
                            </m:accPr>
                            <m:e>
                              <m:r>
                                <a:rPr lang="en-GB" sz="2800" i="1">
                                  <a:latin typeface="Cambria Math"/>
                                  <a:ea typeface="Cambria Math"/>
                                </a:rPr>
                                <m:t>𝑥</m:t>
                              </m:r>
                            </m:e>
                          </m:acc>
                        </m:sub>
                      </m:sSub>
                      <m:r>
                        <a:rPr lang="en-GB" sz="4000" b="0" i="1" smtClean="0">
                          <a:solidFill>
                            <a:schemeClr val="tx1"/>
                          </a:solidFill>
                          <a:latin typeface="Cambria Math"/>
                          <a:ea typeface="Cambria Math"/>
                        </a:rPr>
                        <m:t>=</m:t>
                      </m:r>
                      <m:f>
                        <m:fPr>
                          <m:ctrlPr>
                            <a:rPr lang="en-GB" sz="4000" i="1" smtClean="0">
                              <a:solidFill>
                                <a:schemeClr val="tx1"/>
                              </a:solidFill>
                              <a:latin typeface="Cambria Math" panose="02040503050406030204" pitchFamily="18" charset="0"/>
                              <a:ea typeface="Cambria Math"/>
                            </a:rPr>
                          </m:ctrlPr>
                        </m:fPr>
                        <m:num>
                          <m:r>
                            <a:rPr lang="en-GB" sz="4000" b="0" i="1">
                              <a:latin typeface="Cambria Math"/>
                              <a:ea typeface="Cambria Math"/>
                            </a:rPr>
                            <m:t>𝜎</m:t>
                          </m:r>
                        </m:num>
                        <m:den>
                          <m:rad>
                            <m:radPr>
                              <m:degHide m:val="on"/>
                              <m:ctrlPr>
                                <a:rPr lang="en-GB" sz="4000" i="1" smtClean="0">
                                  <a:solidFill>
                                    <a:schemeClr val="tx1"/>
                                  </a:solidFill>
                                  <a:latin typeface="Cambria Math" panose="02040503050406030204" pitchFamily="18" charset="0"/>
                                  <a:ea typeface="Cambria Math"/>
                                </a:rPr>
                              </m:ctrlPr>
                            </m:radPr>
                            <m:deg/>
                            <m:e>
                              <m:r>
                                <a:rPr lang="en-GB" sz="4000" b="0" i="1" smtClean="0">
                                  <a:solidFill>
                                    <a:schemeClr val="tx1"/>
                                  </a:solidFill>
                                  <a:latin typeface="Cambria Math"/>
                                  <a:ea typeface="Cambria Math"/>
                                </a:rPr>
                                <m:t>𝑛</m:t>
                              </m:r>
                            </m:e>
                          </m:rad>
                        </m:den>
                      </m:f>
                    </m:oMath>
                  </m:oMathPara>
                </a14:m>
                <a:endParaRPr lang="en-GB" sz="2800" dirty="0">
                  <a:solidFill>
                    <a:schemeClr val="tx1"/>
                  </a:solidFill>
                </a:endParaRPr>
              </a:p>
            </p:txBody>
          </p:sp>
        </mc:Choice>
        <mc:Fallback xmlns="">
          <p:sp>
            <p:nvSpPr>
              <p:cNvPr id="42" name="TextBox 41"/>
              <p:cNvSpPr txBox="1">
                <a:spLocks noRot="1" noChangeAspect="1" noMove="1" noResize="1" noEditPoints="1" noAdjustHandles="1" noChangeArrowheads="1" noChangeShapeType="1" noTextEdit="1"/>
              </p:cNvSpPr>
              <p:nvPr/>
            </p:nvSpPr>
            <p:spPr>
              <a:xfrm>
                <a:off x="6303303" y="3063255"/>
                <a:ext cx="1926297" cy="1127745"/>
              </a:xfrm>
              <a:prstGeom prst="rect">
                <a:avLst/>
              </a:prstGeom>
              <a:blipFill rotWithShape="1">
                <a:blip r:embed="rId7"/>
                <a:stretch>
                  <a:fillRect/>
                </a:stretch>
              </a:blipFill>
              <a:ln>
                <a:noFill/>
              </a:ln>
            </p:spPr>
            <p:txBody>
              <a:bodyPr/>
              <a:lstStyle/>
              <a:p>
                <a:r>
                  <a:rPr lang="en-GB">
                    <a:noFill/>
                  </a:rPr>
                  <a:t> </a:t>
                </a:r>
              </a:p>
            </p:txBody>
          </p:sp>
        </mc:Fallback>
      </mc:AlternateContent>
      <p:grpSp>
        <p:nvGrpSpPr>
          <p:cNvPr id="43" name="Group 42"/>
          <p:cNvGrpSpPr/>
          <p:nvPr/>
        </p:nvGrpSpPr>
        <p:grpSpPr>
          <a:xfrm>
            <a:off x="6248400" y="152400"/>
            <a:ext cx="2743199" cy="1301314"/>
            <a:chOff x="925287" y="1143000"/>
            <a:chExt cx="6618513" cy="1797655"/>
          </a:xfrm>
          <a:solidFill>
            <a:schemeClr val="bg1">
              <a:lumMod val="95000"/>
            </a:schemeClr>
          </a:solidFill>
        </p:grpSpPr>
        <p:grpSp>
          <p:nvGrpSpPr>
            <p:cNvPr id="44" name="Group 43"/>
            <p:cNvGrpSpPr/>
            <p:nvPr/>
          </p:nvGrpSpPr>
          <p:grpSpPr>
            <a:xfrm>
              <a:off x="925287" y="1143000"/>
              <a:ext cx="6618513" cy="958268"/>
              <a:chOff x="-65314" y="1093291"/>
              <a:chExt cx="6618513" cy="958268"/>
            </a:xfrm>
            <a:grpFill/>
          </p:grpSpPr>
          <p:sp>
            <p:nvSpPr>
              <p:cNvPr id="48" name="Freeform 47"/>
              <p:cNvSpPr/>
              <p:nvPr/>
            </p:nvSpPr>
            <p:spPr>
              <a:xfrm>
                <a:off x="-65314" y="1093291"/>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solidFill>
                <a:schemeClr val="accent1"/>
              </a:solidFill>
              <a:ln>
                <a:solidFill>
                  <a:schemeClr val="accent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chemeClr val="bg1"/>
                    </a:solidFill>
                  </a:rPr>
                  <a:t>1</a:t>
                </a:r>
              </a:p>
            </p:txBody>
          </p:sp>
          <p:sp>
            <p:nvSpPr>
              <p:cNvPr id="49" name="Freeform 48"/>
              <p:cNvSpPr/>
              <p:nvPr/>
            </p:nvSpPr>
            <p:spPr>
              <a:xfrm>
                <a:off x="1127986" y="1093293"/>
                <a:ext cx="5425213" cy="622873"/>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solidFill>
                <a:schemeClr val="bg1"/>
              </a:solidFill>
              <a:ln>
                <a:solidFill>
                  <a:schemeClr val="accent1"/>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1" numCol="1" spcCol="1270" anchor="ctr" anchorCtr="0">
                <a:noAutofit/>
              </a:bodyPr>
              <a:lstStyle/>
              <a:p>
                <a:pPr marL="0" lvl="1" algn="l" defTabSz="755650">
                  <a:lnSpc>
                    <a:spcPct val="90000"/>
                  </a:lnSpc>
                  <a:spcBef>
                    <a:spcPct val="0"/>
                  </a:spcBef>
                  <a:spcAft>
                    <a:spcPct val="15000"/>
                  </a:spcAft>
                </a:pPr>
                <a:r>
                  <a:rPr lang="en-GB" sz="1600" kern="1200" dirty="0">
                    <a:solidFill>
                      <a:schemeClr val="tx1"/>
                    </a:solidFill>
                  </a:rPr>
                  <a:t>State your null hypothesis (H</a:t>
                </a:r>
                <a:r>
                  <a:rPr lang="en-GB" sz="1600" kern="1200" baseline="-25000" dirty="0">
                    <a:solidFill>
                      <a:schemeClr val="tx1"/>
                    </a:solidFill>
                  </a:rPr>
                  <a:t>0</a:t>
                </a:r>
                <a:r>
                  <a:rPr lang="en-GB" sz="1600" kern="1200" baseline="0" dirty="0">
                    <a:solidFill>
                      <a:schemeClr val="tx1"/>
                    </a:solidFill>
                  </a:rPr>
                  <a:t>)</a:t>
                </a:r>
              </a:p>
            </p:txBody>
          </p:sp>
        </p:grpSp>
        <p:grpSp>
          <p:nvGrpSpPr>
            <p:cNvPr id="45" name="Group 44"/>
            <p:cNvGrpSpPr/>
            <p:nvPr/>
          </p:nvGrpSpPr>
          <p:grpSpPr>
            <a:xfrm>
              <a:off x="925287" y="1982387"/>
              <a:ext cx="6618513" cy="958268"/>
              <a:chOff x="-65314" y="1932678"/>
              <a:chExt cx="6618513" cy="958268"/>
            </a:xfrm>
            <a:grpFill/>
          </p:grpSpPr>
          <p:sp>
            <p:nvSpPr>
              <p:cNvPr id="46" name="Freeform 45"/>
              <p:cNvSpPr/>
              <p:nvPr/>
            </p:nvSpPr>
            <p:spPr>
              <a:xfrm>
                <a:off x="-65314" y="1932678"/>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solidFill>
                <a:schemeClr val="accent1"/>
              </a:solidFill>
              <a:ln>
                <a:solidFill>
                  <a:schemeClr val="accent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chemeClr val="bg1"/>
                    </a:solidFill>
                  </a:rPr>
                  <a:t>2</a:t>
                </a:r>
              </a:p>
            </p:txBody>
          </p:sp>
          <p:sp>
            <p:nvSpPr>
              <p:cNvPr id="47" name="Freeform 46"/>
              <p:cNvSpPr/>
              <p:nvPr/>
            </p:nvSpPr>
            <p:spPr>
              <a:xfrm>
                <a:off x="1127986" y="1932680"/>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solidFill>
                <a:schemeClr val="bg1"/>
              </a:solidFill>
              <a:ln>
                <a:solidFill>
                  <a:schemeClr val="accent1"/>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defTabSz="755650">
                  <a:lnSpc>
                    <a:spcPct val="90000"/>
                  </a:lnSpc>
                  <a:spcBef>
                    <a:spcPct val="0"/>
                  </a:spcBef>
                  <a:spcAft>
                    <a:spcPct val="15000"/>
                  </a:spcAft>
                </a:pPr>
                <a:r>
                  <a:rPr lang="en-GB" sz="1600" b="1" dirty="0">
                    <a:solidFill>
                      <a:schemeClr val="tx1"/>
                    </a:solidFill>
                  </a:rPr>
                  <a:t>Calculate test statistic </a:t>
                </a:r>
                <a:r>
                  <a:rPr lang="en-GB" sz="1600" dirty="0">
                    <a:solidFill>
                      <a:schemeClr val="tx1"/>
                    </a:solidFill>
                  </a:rPr>
                  <a:t>from data (stat.)</a:t>
                </a:r>
              </a:p>
            </p:txBody>
          </p:sp>
        </p:grpSp>
      </p:grpSp>
    </p:spTree>
    <p:extLst>
      <p:ext uri="{BB962C8B-B14F-4D97-AF65-F5344CB8AC3E}">
        <p14:creationId xmlns:p14="http://schemas.microsoft.com/office/powerpoint/2010/main" val="2079416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2"/>
                                        </p:tgtEl>
                                        <p:attrNameLst>
                                          <p:attrName>style.visibility</p:attrName>
                                        </p:attrNameLst>
                                      </p:cBhvr>
                                      <p:to>
                                        <p:strVal val="visible"/>
                                      </p:to>
                                    </p:set>
                                    <p:animEffect transition="in" filter="fade">
                                      <p:cBhvr>
                                        <p:cTn id="17"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Text Box 2"/>
          <p:cNvSpPr txBox="1">
            <a:spLocks noChangeArrowheads="1"/>
          </p:cNvSpPr>
          <p:nvPr/>
        </p:nvSpPr>
        <p:spPr bwMode="auto">
          <a:xfrm>
            <a:off x="304800" y="685800"/>
            <a:ext cx="56388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altLang="en-US" sz="2000" dirty="0"/>
              <a:t>The statistic can be found by calculating how many standard deviations the mean of this sample is from the population value</a:t>
            </a:r>
          </a:p>
        </p:txBody>
      </p:sp>
      <p:sp>
        <p:nvSpPr>
          <p:cNvPr id="3" name="Title 2"/>
          <p:cNvSpPr>
            <a:spLocks noGrp="1"/>
          </p:cNvSpPr>
          <p:nvPr>
            <p:ph type="title"/>
          </p:nvPr>
        </p:nvSpPr>
        <p:spPr/>
        <p:txBody>
          <a:bodyPr/>
          <a:lstStyle/>
          <a:p>
            <a:r>
              <a:rPr lang="en-GB" dirty="0"/>
              <a:t>Testing for mean</a:t>
            </a:r>
          </a:p>
        </p:txBody>
      </p:sp>
      <mc:AlternateContent xmlns:mc="http://schemas.openxmlformats.org/markup-compatibility/2006" xmlns:a14="http://schemas.microsoft.com/office/drawing/2010/main">
        <mc:Choice Requires="a14">
          <p:sp>
            <p:nvSpPr>
              <p:cNvPr id="14" name="TextBox 13"/>
              <p:cNvSpPr txBox="1"/>
              <p:nvPr/>
            </p:nvSpPr>
            <p:spPr>
              <a:xfrm>
                <a:off x="4038600" y="2057400"/>
                <a:ext cx="3047559" cy="1105367"/>
              </a:xfrm>
              <a:prstGeom prst="wedgeRectCallout">
                <a:avLst>
                  <a:gd name="adj1" fmla="val -70007"/>
                  <a:gd name="adj2" fmla="val 126075"/>
                </a:avLst>
              </a:prstGeom>
              <a:solidFill>
                <a:schemeClr val="accent1">
                  <a:lumMod val="20000"/>
                  <a:lumOff val="80000"/>
                </a:schemeClr>
              </a:solid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0" i="1" smtClean="0">
                          <a:latin typeface="Cambria Math"/>
                          <a:ea typeface="Cambria Math"/>
                        </a:rPr>
                        <m:t>𝑍</m:t>
                      </m:r>
                      <m:r>
                        <a:rPr lang="en-GB" sz="2800" b="0" i="1" smtClean="0">
                          <a:latin typeface="Cambria Math"/>
                          <a:ea typeface="Cambria Math"/>
                        </a:rPr>
                        <m:t>=</m:t>
                      </m:r>
                      <m:f>
                        <m:fPr>
                          <m:ctrlPr>
                            <a:rPr lang="en-GB" sz="2800" i="1" smtClean="0">
                              <a:solidFill>
                                <a:schemeClr val="tx1"/>
                              </a:solidFill>
                              <a:latin typeface="Cambria Math" panose="02040503050406030204" pitchFamily="18" charset="0"/>
                              <a:ea typeface="Cambria Math"/>
                            </a:rPr>
                          </m:ctrlPr>
                        </m:fPr>
                        <m:num>
                          <m:acc>
                            <m:accPr>
                              <m:chr m:val="̅"/>
                              <m:ctrlPr>
                                <a:rPr lang="en-GB" sz="2800" i="1">
                                  <a:latin typeface="Cambria Math" panose="02040503050406030204" pitchFamily="18" charset="0"/>
                                  <a:ea typeface="Cambria Math"/>
                                </a:rPr>
                              </m:ctrlPr>
                            </m:accPr>
                            <m:e>
                              <m:r>
                                <a:rPr lang="en-GB" sz="2800" i="1">
                                  <a:latin typeface="Cambria Math"/>
                                  <a:ea typeface="Cambria Math"/>
                                </a:rPr>
                                <m:t>𝑥</m:t>
                              </m:r>
                            </m:e>
                          </m:acc>
                          <m:r>
                            <a:rPr lang="en-GB" sz="2800" b="0" i="1" smtClean="0">
                              <a:latin typeface="Cambria Math"/>
                              <a:ea typeface="Cambria Math"/>
                            </a:rPr>
                            <m:t>−</m:t>
                          </m:r>
                          <m:r>
                            <a:rPr lang="en-GB" sz="2800" b="0" i="1">
                              <a:latin typeface="Cambria Math"/>
                              <a:ea typeface="Cambria Math"/>
                            </a:rPr>
                            <m:t>𝜇</m:t>
                          </m:r>
                        </m:num>
                        <m:den>
                          <m:sSub>
                            <m:sSubPr>
                              <m:ctrlPr>
                                <a:rPr lang="en-GB" sz="2800" i="1">
                                  <a:latin typeface="Cambria Math" panose="02040503050406030204" pitchFamily="18" charset="0"/>
                                  <a:ea typeface="Cambria Math"/>
                                </a:rPr>
                              </m:ctrlPr>
                            </m:sSubPr>
                            <m:e>
                              <m:r>
                                <a:rPr lang="en-GB" sz="2800" i="1">
                                  <a:latin typeface="Cambria Math"/>
                                  <a:ea typeface="Cambria Math"/>
                                </a:rPr>
                                <m:t>𝜎</m:t>
                              </m:r>
                            </m:e>
                            <m:sub>
                              <m:acc>
                                <m:accPr>
                                  <m:chr m:val="̅"/>
                                  <m:ctrlPr>
                                    <a:rPr lang="en-GB" sz="2800" i="1">
                                      <a:latin typeface="Cambria Math" panose="02040503050406030204" pitchFamily="18" charset="0"/>
                                      <a:ea typeface="Cambria Math"/>
                                    </a:rPr>
                                  </m:ctrlPr>
                                </m:accPr>
                                <m:e>
                                  <m:r>
                                    <a:rPr lang="en-GB" sz="2800" i="1">
                                      <a:latin typeface="Cambria Math"/>
                                      <a:ea typeface="Cambria Math"/>
                                    </a:rPr>
                                    <m:t>𝑥</m:t>
                                  </m:r>
                                </m:e>
                              </m:acc>
                            </m:sub>
                          </m:sSub>
                        </m:den>
                      </m:f>
                      <m:r>
                        <a:rPr lang="en-GB" sz="2800" b="0" i="1" smtClean="0">
                          <a:solidFill>
                            <a:schemeClr val="tx1"/>
                          </a:solidFill>
                          <a:latin typeface="Cambria Math"/>
                          <a:ea typeface="Cambria Math"/>
                        </a:rPr>
                        <m:t>=</m:t>
                      </m:r>
                      <m:f>
                        <m:fPr>
                          <m:ctrlPr>
                            <a:rPr lang="en-GB" sz="2800" i="1">
                              <a:latin typeface="Cambria Math" panose="02040503050406030204" pitchFamily="18" charset="0"/>
                              <a:ea typeface="Cambria Math"/>
                            </a:rPr>
                          </m:ctrlPr>
                        </m:fPr>
                        <m:num>
                          <m:acc>
                            <m:accPr>
                              <m:chr m:val="̅"/>
                              <m:ctrlPr>
                                <a:rPr lang="en-GB" sz="2800" i="1">
                                  <a:latin typeface="Cambria Math" panose="02040503050406030204" pitchFamily="18" charset="0"/>
                                  <a:ea typeface="Cambria Math"/>
                                </a:rPr>
                              </m:ctrlPr>
                            </m:accPr>
                            <m:e>
                              <m:r>
                                <a:rPr lang="en-GB" sz="2800" i="1">
                                  <a:latin typeface="Cambria Math"/>
                                  <a:ea typeface="Cambria Math"/>
                                </a:rPr>
                                <m:t>𝑥</m:t>
                              </m:r>
                            </m:e>
                          </m:acc>
                          <m:r>
                            <a:rPr lang="en-GB" sz="2800" i="1">
                              <a:latin typeface="Cambria Math"/>
                              <a:ea typeface="Cambria Math"/>
                            </a:rPr>
                            <m:t>−</m:t>
                          </m:r>
                          <m:r>
                            <a:rPr lang="en-GB" sz="2800" i="1">
                              <a:latin typeface="Cambria Math"/>
                              <a:ea typeface="Cambria Math"/>
                            </a:rPr>
                            <m:t>𝜇</m:t>
                          </m:r>
                        </m:num>
                        <m:den>
                          <m:box>
                            <m:boxPr>
                              <m:ctrlPr>
                                <a:rPr lang="en-GB" sz="2800" i="1" smtClean="0">
                                  <a:latin typeface="Cambria Math" panose="02040503050406030204" pitchFamily="18" charset="0"/>
                                  <a:ea typeface="Cambria Math"/>
                                </a:rPr>
                              </m:ctrlPr>
                            </m:boxPr>
                            <m:e>
                              <m:argPr>
                                <m:argSz m:val="-1"/>
                              </m:argPr>
                              <m:f>
                                <m:fPr>
                                  <m:ctrlPr>
                                    <a:rPr lang="en-GB" sz="2800" i="1">
                                      <a:latin typeface="Cambria Math" panose="02040503050406030204" pitchFamily="18" charset="0"/>
                                      <a:ea typeface="Cambria Math"/>
                                    </a:rPr>
                                  </m:ctrlPr>
                                </m:fPr>
                                <m:num>
                                  <m:r>
                                    <a:rPr lang="en-GB" sz="2800" b="0" i="1">
                                      <a:latin typeface="Cambria Math"/>
                                      <a:ea typeface="Cambria Math"/>
                                    </a:rPr>
                                    <m:t>𝜎</m:t>
                                  </m:r>
                                </m:num>
                                <m:den>
                                  <m:rad>
                                    <m:radPr>
                                      <m:degHide m:val="on"/>
                                      <m:ctrlPr>
                                        <a:rPr lang="en-GB" sz="2800" i="1">
                                          <a:latin typeface="Cambria Math" panose="02040503050406030204" pitchFamily="18" charset="0"/>
                                          <a:ea typeface="Cambria Math"/>
                                        </a:rPr>
                                      </m:ctrlPr>
                                    </m:radPr>
                                    <m:deg/>
                                    <m:e>
                                      <m:r>
                                        <a:rPr lang="en-GB" sz="2800" b="0" i="1">
                                          <a:latin typeface="Cambria Math"/>
                                          <a:ea typeface="Cambria Math"/>
                                        </a:rPr>
                                        <m:t>𝑛</m:t>
                                      </m:r>
                                    </m:e>
                                  </m:rad>
                                </m:den>
                              </m:f>
                            </m:e>
                          </m:box>
                        </m:den>
                      </m:f>
                    </m:oMath>
                  </m:oMathPara>
                </a14:m>
                <a:endParaRPr lang="en-GB" sz="2800" dirty="0">
                  <a:solidFill>
                    <a:schemeClr val="tx1"/>
                  </a:solidFill>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4038600" y="2057400"/>
                <a:ext cx="3047559" cy="1105367"/>
              </a:xfrm>
              <a:prstGeom prst="wedgeRectCallout">
                <a:avLst>
                  <a:gd name="adj1" fmla="val -70007"/>
                  <a:gd name="adj2" fmla="val 126075"/>
                </a:avLst>
              </a:prstGeom>
              <a:blipFill rotWithShape="1">
                <a:blip r:embed="rId3"/>
                <a:stretch>
                  <a:fillRect/>
                </a:stretch>
              </a:blipFill>
              <a:ln>
                <a:noFill/>
              </a:ln>
            </p:spPr>
            <p:txBody>
              <a:bodyPr/>
              <a:lstStyle/>
              <a:p>
                <a:r>
                  <a:rPr lang="en-GB">
                    <a:noFill/>
                  </a:rPr>
                  <a:t> </a:t>
                </a:r>
              </a:p>
            </p:txBody>
          </p:sp>
        </mc:Fallback>
      </mc:AlternateContent>
      <p:grpSp>
        <p:nvGrpSpPr>
          <p:cNvPr id="15" name="Group 14"/>
          <p:cNvGrpSpPr/>
          <p:nvPr/>
        </p:nvGrpSpPr>
        <p:grpSpPr>
          <a:xfrm>
            <a:off x="6248400" y="152400"/>
            <a:ext cx="2743199" cy="1301314"/>
            <a:chOff x="925287" y="1143000"/>
            <a:chExt cx="6618513" cy="1797655"/>
          </a:xfrm>
          <a:solidFill>
            <a:schemeClr val="bg1">
              <a:lumMod val="95000"/>
            </a:schemeClr>
          </a:solidFill>
        </p:grpSpPr>
        <p:grpSp>
          <p:nvGrpSpPr>
            <p:cNvPr id="16" name="Group 15"/>
            <p:cNvGrpSpPr/>
            <p:nvPr/>
          </p:nvGrpSpPr>
          <p:grpSpPr>
            <a:xfrm>
              <a:off x="925287" y="1143000"/>
              <a:ext cx="6618513" cy="958268"/>
              <a:chOff x="-65314" y="1093291"/>
              <a:chExt cx="6618513" cy="958268"/>
            </a:xfrm>
            <a:grpFill/>
          </p:grpSpPr>
          <p:sp>
            <p:nvSpPr>
              <p:cNvPr id="20" name="Freeform 19"/>
              <p:cNvSpPr/>
              <p:nvPr/>
            </p:nvSpPr>
            <p:spPr>
              <a:xfrm>
                <a:off x="-65314" y="1093291"/>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solidFill>
                <a:schemeClr val="accent1"/>
              </a:solidFill>
              <a:ln>
                <a:solidFill>
                  <a:schemeClr val="accent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chemeClr val="bg1"/>
                    </a:solidFill>
                  </a:rPr>
                  <a:t>1</a:t>
                </a:r>
              </a:p>
            </p:txBody>
          </p:sp>
          <p:sp>
            <p:nvSpPr>
              <p:cNvPr id="21" name="Freeform 20"/>
              <p:cNvSpPr/>
              <p:nvPr/>
            </p:nvSpPr>
            <p:spPr>
              <a:xfrm>
                <a:off x="1127986" y="1093293"/>
                <a:ext cx="5425213" cy="622873"/>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solidFill>
                <a:schemeClr val="bg1"/>
              </a:solidFill>
              <a:ln>
                <a:solidFill>
                  <a:schemeClr val="accent1"/>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1" numCol="1" spcCol="1270" anchor="ctr" anchorCtr="0">
                <a:noAutofit/>
              </a:bodyPr>
              <a:lstStyle/>
              <a:p>
                <a:pPr marL="0" lvl="1" algn="l" defTabSz="755650">
                  <a:lnSpc>
                    <a:spcPct val="90000"/>
                  </a:lnSpc>
                  <a:spcBef>
                    <a:spcPct val="0"/>
                  </a:spcBef>
                  <a:spcAft>
                    <a:spcPct val="15000"/>
                  </a:spcAft>
                </a:pPr>
                <a:r>
                  <a:rPr lang="en-GB" sz="1600" kern="1200" dirty="0">
                    <a:solidFill>
                      <a:schemeClr val="tx1"/>
                    </a:solidFill>
                  </a:rPr>
                  <a:t>State your null hypothesis (H</a:t>
                </a:r>
                <a:r>
                  <a:rPr lang="en-GB" sz="1600" kern="1200" baseline="-25000" dirty="0">
                    <a:solidFill>
                      <a:schemeClr val="tx1"/>
                    </a:solidFill>
                  </a:rPr>
                  <a:t>0</a:t>
                </a:r>
                <a:r>
                  <a:rPr lang="en-GB" sz="1600" kern="1200" baseline="0" dirty="0">
                    <a:solidFill>
                      <a:schemeClr val="tx1"/>
                    </a:solidFill>
                  </a:rPr>
                  <a:t>)</a:t>
                </a:r>
              </a:p>
            </p:txBody>
          </p:sp>
        </p:grpSp>
        <p:grpSp>
          <p:nvGrpSpPr>
            <p:cNvPr id="17" name="Group 16"/>
            <p:cNvGrpSpPr/>
            <p:nvPr/>
          </p:nvGrpSpPr>
          <p:grpSpPr>
            <a:xfrm>
              <a:off x="925287" y="1982387"/>
              <a:ext cx="6618513" cy="958268"/>
              <a:chOff x="-65314" y="1932678"/>
              <a:chExt cx="6618513" cy="958268"/>
            </a:xfrm>
            <a:grpFill/>
          </p:grpSpPr>
          <p:sp>
            <p:nvSpPr>
              <p:cNvPr id="18" name="Freeform 17"/>
              <p:cNvSpPr/>
              <p:nvPr/>
            </p:nvSpPr>
            <p:spPr>
              <a:xfrm>
                <a:off x="-65314" y="1932678"/>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solidFill>
                <a:schemeClr val="accent1"/>
              </a:solidFill>
              <a:ln>
                <a:solidFill>
                  <a:schemeClr val="accent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chemeClr val="bg1"/>
                    </a:solidFill>
                  </a:rPr>
                  <a:t>2</a:t>
                </a:r>
              </a:p>
            </p:txBody>
          </p:sp>
          <p:sp>
            <p:nvSpPr>
              <p:cNvPr id="19" name="Freeform 18"/>
              <p:cNvSpPr/>
              <p:nvPr/>
            </p:nvSpPr>
            <p:spPr>
              <a:xfrm>
                <a:off x="1127986" y="1932680"/>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solidFill>
                <a:schemeClr val="bg1"/>
              </a:solidFill>
              <a:ln>
                <a:solidFill>
                  <a:schemeClr val="accent1"/>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defTabSz="755650">
                  <a:lnSpc>
                    <a:spcPct val="90000"/>
                  </a:lnSpc>
                  <a:spcBef>
                    <a:spcPct val="0"/>
                  </a:spcBef>
                  <a:spcAft>
                    <a:spcPct val="15000"/>
                  </a:spcAft>
                </a:pPr>
                <a:r>
                  <a:rPr lang="en-GB" sz="1600" b="1" dirty="0">
                    <a:solidFill>
                      <a:schemeClr val="tx1"/>
                    </a:solidFill>
                  </a:rPr>
                  <a:t>Calculate test statistic </a:t>
                </a:r>
                <a:r>
                  <a:rPr lang="en-GB" sz="1600" dirty="0">
                    <a:solidFill>
                      <a:schemeClr val="tx1"/>
                    </a:solidFill>
                  </a:rPr>
                  <a:t>from data (stat.)</a:t>
                </a:r>
              </a:p>
            </p:txBody>
          </p:sp>
        </p:grpSp>
      </p:grpSp>
      <p:graphicFrame>
        <p:nvGraphicFramePr>
          <p:cNvPr id="22" name="Chart 21"/>
          <p:cNvGraphicFramePr/>
          <p:nvPr>
            <p:extLst>
              <p:ext uri="{D42A27DB-BD31-4B8C-83A1-F6EECF244321}">
                <p14:modId xmlns:p14="http://schemas.microsoft.com/office/powerpoint/2010/main" val="1499965401"/>
              </p:ext>
            </p:extLst>
          </p:nvPr>
        </p:nvGraphicFramePr>
        <p:xfrm>
          <a:off x="76200" y="1641339"/>
          <a:ext cx="4876800" cy="2636041"/>
        </p:xfrm>
        <a:graphic>
          <a:graphicData uri="http://schemas.openxmlformats.org/drawingml/2006/chart">
            <c:chart xmlns:c="http://schemas.openxmlformats.org/drawingml/2006/chart" xmlns:r="http://schemas.openxmlformats.org/officeDocument/2006/relationships" r:id="rId4"/>
          </a:graphicData>
        </a:graphic>
      </p:graphicFrame>
      <p:cxnSp>
        <p:nvCxnSpPr>
          <p:cNvPr id="25" name="Straight Arrow Connector 24"/>
          <p:cNvCxnSpPr/>
          <p:nvPr/>
        </p:nvCxnSpPr>
        <p:spPr>
          <a:xfrm>
            <a:off x="2524027" y="2637723"/>
            <a:ext cx="0" cy="1654883"/>
          </a:xfrm>
          <a:prstGeom prst="straightConnector1">
            <a:avLst/>
          </a:prstGeom>
          <a:ln w="19050">
            <a:solidFill>
              <a:schemeClr val="tx1"/>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grpSp>
        <p:nvGrpSpPr>
          <p:cNvPr id="26" name="Group 25"/>
          <p:cNvGrpSpPr/>
          <p:nvPr/>
        </p:nvGrpSpPr>
        <p:grpSpPr>
          <a:xfrm>
            <a:off x="381000" y="3295454"/>
            <a:ext cx="4267200" cy="1021848"/>
            <a:chOff x="3124200" y="3524054"/>
            <a:chExt cx="4267200" cy="1021848"/>
          </a:xfrm>
        </p:grpSpPr>
        <p:cxnSp>
          <p:nvCxnSpPr>
            <p:cNvPr id="27" name="Straight Arrow Connector 26"/>
            <p:cNvCxnSpPr/>
            <p:nvPr/>
          </p:nvCxnSpPr>
          <p:spPr>
            <a:xfrm flipH="1">
              <a:off x="3124200" y="4536475"/>
              <a:ext cx="4267200" cy="1"/>
            </a:xfrm>
            <a:prstGeom prst="straightConnector1">
              <a:avLst/>
            </a:prstGeom>
            <a:ln w="38100">
              <a:solidFill>
                <a:schemeClr val="bg1">
                  <a:lumMod val="85000"/>
                </a:schemeClr>
              </a:solidFill>
              <a:headEnd type="arrow"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Arrow Connector 27"/>
            <p:cNvCxnSpPr/>
            <p:nvPr/>
          </p:nvCxnSpPr>
          <p:spPr>
            <a:xfrm>
              <a:off x="3143054" y="3524054"/>
              <a:ext cx="0" cy="1021848"/>
            </a:xfrm>
            <a:prstGeom prst="straightConnector1">
              <a:avLst/>
            </a:prstGeom>
            <a:ln w="38100">
              <a:solidFill>
                <a:schemeClr val="bg1">
                  <a:lumMod val="85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35" name="Group 34"/>
          <p:cNvGrpSpPr/>
          <p:nvPr/>
        </p:nvGrpSpPr>
        <p:grpSpPr>
          <a:xfrm>
            <a:off x="609600" y="1950418"/>
            <a:ext cx="1905000" cy="1859582"/>
            <a:chOff x="609600" y="1950418"/>
            <a:chExt cx="1905000" cy="1859582"/>
          </a:xfrm>
        </p:grpSpPr>
        <mc:AlternateContent xmlns:mc="http://schemas.openxmlformats.org/markup-compatibility/2006" xmlns:a14="http://schemas.microsoft.com/office/drawing/2010/main">
          <mc:Choice Requires="a14">
            <p:sp>
              <p:nvSpPr>
                <p:cNvPr id="36" name="Rectangular Callout 35"/>
                <p:cNvSpPr/>
                <p:nvPr/>
              </p:nvSpPr>
              <p:spPr>
                <a:xfrm>
                  <a:off x="609600" y="1950418"/>
                  <a:ext cx="1676400" cy="716582"/>
                </a:xfrm>
                <a:prstGeom prst="wedgeRectCallout">
                  <a:avLst>
                    <a:gd name="adj1" fmla="val 57505"/>
                    <a:gd name="adj2" fmla="val 179845"/>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GB" dirty="0"/>
                    <a:t>Sample means</a:t>
                  </a:r>
                </a:p>
                <a:p>
                  <a:pPr algn="ctr"/>
                  <a:r>
                    <a:rPr lang="en-GB" dirty="0"/>
                    <a:t>SD (</a:t>
                  </a:r>
                  <a14:m>
                    <m:oMath xmlns:m="http://schemas.openxmlformats.org/officeDocument/2006/math">
                      <m:sSub>
                        <m:sSubPr>
                          <m:ctrlPr>
                            <a:rPr lang="en-GB" i="1">
                              <a:latin typeface="Cambria Math" panose="02040503050406030204" pitchFamily="18" charset="0"/>
                              <a:ea typeface="Cambria Math"/>
                            </a:rPr>
                          </m:ctrlPr>
                        </m:sSubPr>
                        <m:e>
                          <m:r>
                            <a:rPr lang="en-GB" i="1">
                              <a:latin typeface="Cambria Math"/>
                              <a:ea typeface="Cambria Math"/>
                            </a:rPr>
                            <m:t>𝜎</m:t>
                          </m:r>
                        </m:e>
                        <m:sub>
                          <m:acc>
                            <m:accPr>
                              <m:chr m:val="̅"/>
                              <m:ctrlPr>
                                <a:rPr lang="en-GB" i="1">
                                  <a:latin typeface="Cambria Math" panose="02040503050406030204" pitchFamily="18" charset="0"/>
                                  <a:ea typeface="Cambria Math"/>
                                </a:rPr>
                              </m:ctrlPr>
                            </m:accPr>
                            <m:e>
                              <m:r>
                                <a:rPr lang="en-GB" i="1">
                                  <a:latin typeface="Cambria Math"/>
                                  <a:ea typeface="Cambria Math"/>
                                </a:rPr>
                                <m:t>𝑥</m:t>
                              </m:r>
                            </m:e>
                          </m:acc>
                        </m:sub>
                      </m:sSub>
                    </m:oMath>
                  </a14:m>
                  <a:r>
                    <a:rPr lang="en-GB" dirty="0"/>
                    <a:t>)</a:t>
                  </a:r>
                </a:p>
              </p:txBody>
            </p:sp>
          </mc:Choice>
          <mc:Fallback xmlns="">
            <p:sp>
              <p:nvSpPr>
                <p:cNvPr id="36" name="Rectangular Callout 35"/>
                <p:cNvSpPr>
                  <a:spLocks noRot="1" noChangeAspect="1" noMove="1" noResize="1" noEditPoints="1" noAdjustHandles="1" noChangeArrowheads="1" noChangeShapeType="1" noTextEdit="1"/>
                </p:cNvSpPr>
                <p:nvPr/>
              </p:nvSpPr>
              <p:spPr>
                <a:xfrm>
                  <a:off x="609600" y="1950418"/>
                  <a:ext cx="1676400" cy="716582"/>
                </a:xfrm>
                <a:prstGeom prst="wedgeRectCallout">
                  <a:avLst>
                    <a:gd name="adj1" fmla="val 57505"/>
                    <a:gd name="adj2" fmla="val 179845"/>
                  </a:avLst>
                </a:prstGeom>
                <a:blipFill rotWithShape="1">
                  <a:blip r:embed="rId5"/>
                  <a:stretch>
                    <a:fillRect/>
                  </a:stretch>
                </a:blipFill>
              </p:spPr>
              <p:txBody>
                <a:bodyPr/>
                <a:lstStyle/>
                <a:p>
                  <a:r>
                    <a:rPr lang="en-GB">
                      <a:noFill/>
                    </a:rPr>
                    <a:t> </a:t>
                  </a:r>
                </a:p>
              </p:txBody>
            </p:sp>
          </mc:Fallback>
        </mc:AlternateContent>
        <p:grpSp>
          <p:nvGrpSpPr>
            <p:cNvPr id="37" name="Group 36"/>
            <p:cNvGrpSpPr/>
            <p:nvPr/>
          </p:nvGrpSpPr>
          <p:grpSpPr>
            <a:xfrm>
              <a:off x="2238908" y="3591128"/>
              <a:ext cx="275692" cy="218872"/>
              <a:chOff x="2133600" y="3514928"/>
              <a:chExt cx="570688" cy="447472"/>
            </a:xfrm>
          </p:grpSpPr>
          <p:cxnSp>
            <p:nvCxnSpPr>
              <p:cNvPr id="38" name="Straight Arrow Connector 37"/>
              <p:cNvCxnSpPr/>
              <p:nvPr/>
            </p:nvCxnSpPr>
            <p:spPr>
              <a:xfrm flipV="1">
                <a:off x="2704288" y="3521271"/>
                <a:ext cx="0" cy="441129"/>
              </a:xfrm>
              <a:prstGeom prst="straightConnector1">
                <a:avLst/>
              </a:prstGeom>
              <a:ln>
                <a:solidFill>
                  <a:srgbClr val="C00000"/>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9" name="Straight Arrow Connector 38"/>
              <p:cNvCxnSpPr/>
              <p:nvPr/>
            </p:nvCxnSpPr>
            <p:spPr>
              <a:xfrm flipV="1">
                <a:off x="2133600" y="3514928"/>
                <a:ext cx="0" cy="447472"/>
              </a:xfrm>
              <a:prstGeom prst="straightConnector1">
                <a:avLst/>
              </a:prstGeom>
              <a:ln>
                <a:solidFill>
                  <a:srgbClr val="C00000"/>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Arrow Connector 39"/>
              <p:cNvCxnSpPr/>
              <p:nvPr/>
            </p:nvCxnSpPr>
            <p:spPr>
              <a:xfrm>
                <a:off x="2152905" y="3733800"/>
                <a:ext cx="551383" cy="1"/>
              </a:xfrm>
              <a:prstGeom prst="straightConnector1">
                <a:avLst/>
              </a:prstGeom>
              <a:ln>
                <a:solidFill>
                  <a:srgbClr val="C00000"/>
                </a:solidFill>
                <a:headEnd type="arrow" w="med" len="med"/>
                <a:tailEnd type="arrow" w="med" len="med"/>
              </a:ln>
            </p:spPr>
            <p:style>
              <a:lnRef idx="1">
                <a:schemeClr val="dk1"/>
              </a:lnRef>
              <a:fillRef idx="0">
                <a:schemeClr val="dk1"/>
              </a:fillRef>
              <a:effectRef idx="0">
                <a:schemeClr val="dk1"/>
              </a:effectRef>
              <a:fontRef idx="minor">
                <a:schemeClr val="tx1"/>
              </a:fontRef>
            </p:style>
          </p:cxnSp>
        </p:grpSp>
      </p:grpSp>
      <p:grpSp>
        <p:nvGrpSpPr>
          <p:cNvPr id="43" name="Group 42"/>
          <p:cNvGrpSpPr/>
          <p:nvPr/>
        </p:nvGrpSpPr>
        <p:grpSpPr>
          <a:xfrm>
            <a:off x="2526774" y="3591128"/>
            <a:ext cx="275692" cy="218872"/>
            <a:chOff x="2133600" y="3514928"/>
            <a:chExt cx="570688" cy="447472"/>
          </a:xfrm>
        </p:grpSpPr>
        <p:cxnSp>
          <p:nvCxnSpPr>
            <p:cNvPr id="44" name="Straight Arrow Connector 43"/>
            <p:cNvCxnSpPr/>
            <p:nvPr/>
          </p:nvCxnSpPr>
          <p:spPr>
            <a:xfrm flipV="1">
              <a:off x="2704288" y="3521271"/>
              <a:ext cx="0" cy="441129"/>
            </a:xfrm>
            <a:prstGeom prst="straightConnector1">
              <a:avLst/>
            </a:prstGeom>
            <a:ln>
              <a:solidFill>
                <a:srgbClr val="C00000"/>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 name="Straight Arrow Connector 44"/>
            <p:cNvCxnSpPr/>
            <p:nvPr/>
          </p:nvCxnSpPr>
          <p:spPr>
            <a:xfrm flipV="1">
              <a:off x="2133600" y="3514928"/>
              <a:ext cx="0" cy="447472"/>
            </a:xfrm>
            <a:prstGeom prst="straightConnector1">
              <a:avLst/>
            </a:prstGeom>
            <a:ln>
              <a:solidFill>
                <a:srgbClr val="C00000"/>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Straight Arrow Connector 45"/>
            <p:cNvCxnSpPr/>
            <p:nvPr/>
          </p:nvCxnSpPr>
          <p:spPr>
            <a:xfrm>
              <a:off x="2152905" y="3733800"/>
              <a:ext cx="551383" cy="1"/>
            </a:xfrm>
            <a:prstGeom prst="straightConnector1">
              <a:avLst/>
            </a:prstGeom>
            <a:ln>
              <a:solidFill>
                <a:srgbClr val="C00000"/>
              </a:solidFill>
              <a:headEnd type="arrow" w="med" len="med"/>
              <a:tailEnd type="arrow" w="med" len="med"/>
            </a:ln>
          </p:spPr>
          <p:style>
            <a:lnRef idx="1">
              <a:schemeClr val="dk1"/>
            </a:lnRef>
            <a:fillRef idx="0">
              <a:schemeClr val="dk1"/>
            </a:fillRef>
            <a:effectRef idx="0">
              <a:schemeClr val="dk1"/>
            </a:effectRef>
            <a:fontRef idx="minor">
              <a:schemeClr val="tx1"/>
            </a:fontRef>
          </p:style>
        </p:cxnSp>
      </p:grpSp>
      <p:cxnSp>
        <p:nvCxnSpPr>
          <p:cNvPr id="47" name="Straight Arrow Connector 46"/>
          <p:cNvCxnSpPr/>
          <p:nvPr/>
        </p:nvCxnSpPr>
        <p:spPr>
          <a:xfrm>
            <a:off x="3363677" y="3286028"/>
            <a:ext cx="0" cy="1021848"/>
          </a:xfrm>
          <a:prstGeom prst="straightConnector1">
            <a:avLst/>
          </a:prstGeom>
          <a:ln w="38100">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grpSp>
        <p:nvGrpSpPr>
          <p:cNvPr id="4" name="Group 3"/>
          <p:cNvGrpSpPr/>
          <p:nvPr/>
        </p:nvGrpSpPr>
        <p:grpSpPr>
          <a:xfrm>
            <a:off x="2286000" y="4277380"/>
            <a:ext cx="1388351" cy="828020"/>
            <a:chOff x="2286000" y="4277380"/>
            <a:chExt cx="1388351" cy="828020"/>
          </a:xfrm>
        </p:grpSpPr>
        <mc:AlternateContent xmlns:mc="http://schemas.openxmlformats.org/markup-compatibility/2006" xmlns:a14="http://schemas.microsoft.com/office/drawing/2010/main">
          <mc:Choice Requires="a14">
            <p:sp>
              <p:nvSpPr>
                <p:cNvPr id="23" name="TextBox 22"/>
                <p:cNvSpPr txBox="1"/>
                <p:nvPr/>
              </p:nvSpPr>
              <p:spPr>
                <a:xfrm>
                  <a:off x="2286000" y="4582180"/>
                  <a:ext cx="494046" cy="523220"/>
                </a:xfrm>
                <a:prstGeom prst="rect">
                  <a:avLst/>
                </a:prstGeom>
                <a:no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800" b="1" i="1" smtClean="0">
                            <a:solidFill>
                              <a:schemeClr val="tx1"/>
                            </a:solidFill>
                            <a:latin typeface="Cambria Math"/>
                            <a:ea typeface="Cambria Math"/>
                          </a:rPr>
                          <m:t>𝝁</m:t>
                        </m:r>
                      </m:oMath>
                    </m:oMathPara>
                  </a14:m>
                  <a:endParaRPr lang="en-GB" sz="2800" b="1" dirty="0">
                    <a:solidFill>
                      <a:schemeClr val="tx1"/>
                    </a:solidFill>
                  </a:endParaRPr>
                </a:p>
              </p:txBody>
            </p:sp>
          </mc:Choice>
          <mc:Fallback xmlns="">
            <p:sp>
              <p:nvSpPr>
                <p:cNvPr id="23" name="TextBox 22"/>
                <p:cNvSpPr txBox="1">
                  <a:spLocks noRot="1" noChangeAspect="1" noMove="1" noResize="1" noEditPoints="1" noAdjustHandles="1" noChangeArrowheads="1" noChangeShapeType="1" noTextEdit="1"/>
                </p:cNvSpPr>
                <p:nvPr/>
              </p:nvSpPr>
              <p:spPr>
                <a:xfrm>
                  <a:off x="2286000" y="4582180"/>
                  <a:ext cx="494046" cy="523220"/>
                </a:xfrm>
                <a:prstGeom prst="rect">
                  <a:avLst/>
                </a:prstGeom>
                <a:blipFill rotWithShape="1">
                  <a:blip r:embed="rId6"/>
                  <a:stretch>
                    <a:fillRect/>
                  </a:stretch>
                </a:blipFill>
                <a:ln>
                  <a:noFill/>
                </a:ln>
              </p:spPr>
              <p:txBody>
                <a:bodyPr/>
                <a:lstStyle/>
                <a:p>
                  <a:r>
                    <a:rPr lang="en-GB">
                      <a:noFill/>
                    </a:rPr>
                    <a:t> </a:t>
                  </a:r>
                </a:p>
              </p:txBody>
            </p:sp>
          </mc:Fallback>
        </mc:AlternateContent>
        <p:sp>
          <p:nvSpPr>
            <p:cNvPr id="24" name="TextBox 23"/>
            <p:cNvSpPr txBox="1"/>
            <p:nvPr/>
          </p:nvSpPr>
          <p:spPr>
            <a:xfrm>
              <a:off x="2286000" y="4277380"/>
              <a:ext cx="550151" cy="523220"/>
            </a:xfrm>
            <a:prstGeom prst="rect">
              <a:avLst/>
            </a:prstGeom>
            <a:noFill/>
            <a:ln>
              <a:noFill/>
            </a:ln>
          </p:spPr>
          <p:txBody>
            <a:bodyPr wrap="none" rtlCol="0">
              <a:spAutoFit/>
            </a:bodyPr>
            <a:lstStyle/>
            <a:p>
              <a:r>
                <a:rPr lang="en-GB" sz="2800" b="1" dirty="0"/>
                <a:t>40</a:t>
              </a:r>
            </a:p>
          </p:txBody>
        </p:sp>
        <mc:AlternateContent xmlns:mc="http://schemas.openxmlformats.org/markup-compatibility/2006" xmlns:a14="http://schemas.microsoft.com/office/drawing/2010/main">
          <mc:Choice Requires="a14">
            <p:sp>
              <p:nvSpPr>
                <p:cNvPr id="48" name="TextBox 47"/>
                <p:cNvSpPr txBox="1"/>
                <p:nvPr/>
              </p:nvSpPr>
              <p:spPr>
                <a:xfrm>
                  <a:off x="3124200" y="4582180"/>
                  <a:ext cx="473206"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GB" sz="2800" b="1" i="1" smtClean="0">
                                <a:solidFill>
                                  <a:schemeClr val="accent1"/>
                                </a:solidFill>
                                <a:latin typeface="Cambria Math" panose="02040503050406030204" pitchFamily="18" charset="0"/>
                              </a:rPr>
                            </m:ctrlPr>
                          </m:accPr>
                          <m:e>
                            <m:r>
                              <a:rPr lang="en-GB" sz="2800" b="1" i="1" smtClean="0">
                                <a:solidFill>
                                  <a:schemeClr val="accent1"/>
                                </a:solidFill>
                                <a:latin typeface="Cambria Math"/>
                              </a:rPr>
                              <m:t>𝒙</m:t>
                            </m:r>
                          </m:e>
                        </m:acc>
                      </m:oMath>
                    </m:oMathPara>
                  </a14:m>
                  <a:endParaRPr lang="en-GB" sz="2800" b="1" dirty="0">
                    <a:solidFill>
                      <a:schemeClr val="accent1"/>
                    </a:solidFill>
                  </a:endParaRPr>
                </a:p>
              </p:txBody>
            </p:sp>
          </mc:Choice>
          <mc:Fallback xmlns="">
            <p:sp>
              <p:nvSpPr>
                <p:cNvPr id="48" name="TextBox 47"/>
                <p:cNvSpPr txBox="1">
                  <a:spLocks noRot="1" noChangeAspect="1" noMove="1" noResize="1" noEditPoints="1" noAdjustHandles="1" noChangeArrowheads="1" noChangeShapeType="1" noTextEdit="1"/>
                </p:cNvSpPr>
                <p:nvPr/>
              </p:nvSpPr>
              <p:spPr>
                <a:xfrm>
                  <a:off x="3124200" y="4582180"/>
                  <a:ext cx="473206" cy="523220"/>
                </a:xfrm>
                <a:prstGeom prst="rect">
                  <a:avLst/>
                </a:prstGeom>
                <a:blipFill rotWithShape="1">
                  <a:blip r:embed="rId7"/>
                  <a:stretch>
                    <a:fillRect/>
                  </a:stretch>
                </a:blipFill>
              </p:spPr>
              <p:txBody>
                <a:bodyPr/>
                <a:lstStyle/>
                <a:p>
                  <a:r>
                    <a:rPr lang="en-GB">
                      <a:noFill/>
                    </a:rPr>
                    <a:t> </a:t>
                  </a:r>
                </a:p>
              </p:txBody>
            </p:sp>
          </mc:Fallback>
        </mc:AlternateContent>
        <p:sp>
          <p:nvSpPr>
            <p:cNvPr id="49" name="TextBox 48"/>
            <p:cNvSpPr txBox="1"/>
            <p:nvPr/>
          </p:nvSpPr>
          <p:spPr>
            <a:xfrm>
              <a:off x="3124200" y="4277380"/>
              <a:ext cx="550151" cy="523220"/>
            </a:xfrm>
            <a:prstGeom prst="rect">
              <a:avLst/>
            </a:prstGeom>
            <a:noFill/>
          </p:spPr>
          <p:txBody>
            <a:bodyPr wrap="none" rtlCol="0">
              <a:spAutoFit/>
            </a:bodyPr>
            <a:lstStyle/>
            <a:p>
              <a:r>
                <a:rPr lang="en-GB" sz="2800" b="1" dirty="0">
                  <a:solidFill>
                    <a:schemeClr val="accent1"/>
                  </a:solidFill>
                </a:rPr>
                <a:t>50</a:t>
              </a:r>
            </a:p>
          </p:txBody>
        </p:sp>
      </p:grpSp>
      <p:sp>
        <p:nvSpPr>
          <p:cNvPr id="33" name="TextBox 32"/>
          <p:cNvSpPr txBox="1"/>
          <p:nvPr/>
        </p:nvSpPr>
        <p:spPr>
          <a:xfrm>
            <a:off x="6477442" y="3276600"/>
            <a:ext cx="2209358" cy="830997"/>
          </a:xfrm>
          <a:prstGeom prst="wedgeRectCallout">
            <a:avLst>
              <a:gd name="adj1" fmla="val -42218"/>
              <a:gd name="adj2" fmla="val -120843"/>
            </a:avLst>
          </a:prstGeom>
          <a:solidFill>
            <a:schemeClr val="accent2">
              <a:lumMod val="60000"/>
              <a:lumOff val="40000"/>
            </a:schemeClr>
          </a:solidFill>
          <a:ln>
            <a:noFill/>
          </a:ln>
        </p:spPr>
        <p:txBody>
          <a:bodyPr wrap="square" rtlCol="0">
            <a:spAutoFit/>
          </a:bodyPr>
          <a:lstStyle/>
          <a:p>
            <a:r>
              <a:rPr lang="en-GB" sz="2400" b="1" dirty="0">
                <a:ea typeface="Cambria Math"/>
              </a:rPr>
              <a:t>Do we know population SD? </a:t>
            </a:r>
            <a:endParaRPr lang="en-GB" sz="2400" b="1" dirty="0">
              <a:solidFill>
                <a:schemeClr val="tx1"/>
              </a:solidFill>
            </a:endParaRPr>
          </a:p>
        </p:txBody>
      </p:sp>
    </p:spTree>
    <p:extLst>
      <p:ext uri="{BB962C8B-B14F-4D97-AF65-F5344CB8AC3E}">
        <p14:creationId xmlns:p14="http://schemas.microsoft.com/office/powerpoint/2010/main" val="1825561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3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Testing for mean</a:t>
            </a:r>
          </a:p>
        </p:txBody>
      </p:sp>
      <p:sp>
        <p:nvSpPr>
          <p:cNvPr id="3" name="Text Placeholder 2"/>
          <p:cNvSpPr>
            <a:spLocks noGrp="1"/>
          </p:cNvSpPr>
          <p:nvPr>
            <p:ph type="body" idx="1"/>
          </p:nvPr>
        </p:nvSpPr>
        <p:spPr>
          <a:xfrm>
            <a:off x="457200" y="838200"/>
            <a:ext cx="4040188" cy="639762"/>
          </a:xfrm>
          <a:solidFill>
            <a:schemeClr val="accent2">
              <a:lumMod val="20000"/>
              <a:lumOff val="80000"/>
            </a:schemeClr>
          </a:solidFill>
        </p:spPr>
        <p:txBody>
          <a:bodyPr/>
          <a:lstStyle/>
          <a:p>
            <a:r>
              <a:rPr lang="en-GB" dirty="0"/>
              <a:t>Z Test</a:t>
            </a:r>
          </a:p>
        </p:txBody>
      </p:sp>
      <mc:AlternateContent xmlns:mc="http://schemas.openxmlformats.org/markup-compatibility/2006" xmlns:a14="http://schemas.microsoft.com/office/drawing/2010/main">
        <mc:Choice Requires="a14">
          <p:sp>
            <p:nvSpPr>
              <p:cNvPr id="4" name="Content Placeholder 3"/>
              <p:cNvSpPr>
                <a:spLocks noGrp="1"/>
              </p:cNvSpPr>
              <p:nvPr>
                <p:ph sz="half" idx="2"/>
              </p:nvPr>
            </p:nvSpPr>
            <p:spPr>
              <a:xfrm>
                <a:off x="457200" y="1477962"/>
                <a:ext cx="4040188" cy="1101725"/>
              </a:xfrm>
            </p:spPr>
            <p:txBody>
              <a:bodyPr>
                <a:normAutofit/>
              </a:bodyPr>
              <a:lstStyle/>
              <a:p>
                <a:pPr marL="0" indent="0">
                  <a:buClr>
                    <a:schemeClr val="accent2"/>
                  </a:buClr>
                  <a:buSzPct val="75000"/>
                  <a:buNone/>
                </a:pPr>
                <a:r>
                  <a:rPr lang="en-GB" altLang="en-US" dirty="0"/>
                  <a:t>If we know the </a:t>
                </a:r>
                <a:r>
                  <a:rPr lang="en-GB" altLang="en-US" b="1" dirty="0"/>
                  <a:t>population standard deviation </a:t>
                </a:r>
                <a:r>
                  <a:rPr lang="en-GB" altLang="en-US" dirty="0"/>
                  <a:t>(</a:t>
                </a:r>
                <a14:m>
                  <m:oMath xmlns:m="http://schemas.openxmlformats.org/officeDocument/2006/math">
                    <m:r>
                      <a:rPr lang="en-GB" i="1">
                        <a:latin typeface="Cambria Math"/>
                        <a:ea typeface="Cambria Math"/>
                      </a:rPr>
                      <m:t>𝜎</m:t>
                    </m:r>
                  </m:oMath>
                </a14:m>
                <a:r>
                  <a:rPr lang="en-GB" altLang="en-US" dirty="0"/>
                  <a:t>)</a:t>
                </a:r>
                <a:endParaRPr lang="en-GB" dirty="0"/>
              </a:p>
            </p:txBody>
          </p:sp>
        </mc:Choice>
        <mc:Fallback xmlns="">
          <p:sp>
            <p:nvSpPr>
              <p:cNvPr id="4" name="Content Placeholder 3"/>
              <p:cNvSpPr>
                <a:spLocks noGrp="1" noRot="1" noChangeAspect="1" noMove="1" noResize="1" noEditPoints="1" noAdjustHandles="1" noChangeArrowheads="1" noChangeShapeType="1" noTextEdit="1"/>
              </p:cNvSpPr>
              <p:nvPr>
                <p:ph sz="half" idx="2"/>
              </p:nvPr>
            </p:nvSpPr>
            <p:spPr>
              <a:xfrm>
                <a:off x="457200" y="1477962"/>
                <a:ext cx="4040188" cy="1101725"/>
              </a:xfrm>
              <a:blipFill rotWithShape="1">
                <a:blip r:embed="rId3"/>
                <a:stretch>
                  <a:fillRect l="-2262" t="-4420"/>
                </a:stretch>
              </a:blipFill>
            </p:spPr>
            <p:txBody>
              <a:bodyPr/>
              <a:lstStyle/>
              <a:p>
                <a:r>
                  <a:rPr lang="en-GB">
                    <a:noFill/>
                  </a:rPr>
                  <a:t> </a:t>
                </a:r>
              </a:p>
            </p:txBody>
          </p:sp>
        </mc:Fallback>
      </mc:AlternateContent>
      <p:sp>
        <p:nvSpPr>
          <p:cNvPr id="5" name="Text Placeholder 4"/>
          <p:cNvSpPr>
            <a:spLocks noGrp="1"/>
          </p:cNvSpPr>
          <p:nvPr>
            <p:ph type="body" sz="quarter" idx="3"/>
          </p:nvPr>
        </p:nvSpPr>
        <p:spPr>
          <a:xfrm>
            <a:off x="4645025" y="838200"/>
            <a:ext cx="4041775" cy="639762"/>
          </a:xfrm>
          <a:solidFill>
            <a:schemeClr val="accent3">
              <a:lumMod val="20000"/>
              <a:lumOff val="80000"/>
            </a:schemeClr>
          </a:solidFill>
        </p:spPr>
        <p:txBody>
          <a:bodyPr/>
          <a:lstStyle/>
          <a:p>
            <a:r>
              <a:rPr lang="en-GB" dirty="0"/>
              <a:t>t Test</a:t>
            </a:r>
          </a:p>
        </p:txBody>
      </p:sp>
      <mc:AlternateContent xmlns:mc="http://schemas.openxmlformats.org/markup-compatibility/2006" xmlns:a14="http://schemas.microsoft.com/office/drawing/2010/main">
        <mc:Choice Requires="a14">
          <p:sp>
            <p:nvSpPr>
              <p:cNvPr id="6" name="Content Placeholder 5"/>
              <p:cNvSpPr>
                <a:spLocks noGrp="1"/>
              </p:cNvSpPr>
              <p:nvPr>
                <p:ph sz="quarter" idx="4"/>
              </p:nvPr>
            </p:nvSpPr>
            <p:spPr>
              <a:xfrm>
                <a:off x="4645025" y="1477962"/>
                <a:ext cx="4041775" cy="2244725"/>
              </a:xfrm>
            </p:spPr>
            <p:txBody>
              <a:bodyPr/>
              <a:lstStyle/>
              <a:p>
                <a:pPr marL="0" indent="0">
                  <a:buNone/>
                </a:pPr>
                <a:r>
                  <a:rPr lang="en-GB" altLang="en-US" dirty="0"/>
                  <a:t>Else, use the </a:t>
                </a:r>
                <a:r>
                  <a:rPr lang="en-GB" altLang="en-US" b="1" dirty="0"/>
                  <a:t>sample standard deviation </a:t>
                </a:r>
                <a:r>
                  <a:rPr lang="en-GB" altLang="en-US" dirty="0"/>
                  <a:t>(</a:t>
                </a:r>
                <a14:m>
                  <m:oMath xmlns:m="http://schemas.openxmlformats.org/officeDocument/2006/math">
                    <m:r>
                      <a:rPr lang="en-GB" altLang="en-US" i="1" dirty="0" smtClean="0">
                        <a:solidFill>
                          <a:schemeClr val="tx1"/>
                        </a:solidFill>
                        <a:latin typeface="Cambria Math"/>
                      </a:rPr>
                      <m:t>𝑠</m:t>
                    </m:r>
                  </m:oMath>
                </a14:m>
                <a:r>
                  <a:rPr lang="en-GB" altLang="en-US" dirty="0"/>
                  <a:t>) to estimate </a:t>
                </a:r>
                <a14:m>
                  <m:oMath xmlns:m="http://schemas.openxmlformats.org/officeDocument/2006/math">
                    <m:r>
                      <a:rPr lang="en-GB" i="1">
                        <a:latin typeface="Cambria Math"/>
                        <a:ea typeface="Cambria Math"/>
                      </a:rPr>
                      <m:t>𝜎</m:t>
                    </m:r>
                  </m:oMath>
                </a14:m>
                <a:endParaRPr lang="en-GB" dirty="0"/>
              </a:p>
            </p:txBody>
          </p:sp>
        </mc:Choice>
        <mc:Fallback xmlns="">
          <p:sp>
            <p:nvSpPr>
              <p:cNvPr id="6" name="Content Placeholder 5"/>
              <p:cNvSpPr>
                <a:spLocks noGrp="1" noRot="1" noChangeAspect="1" noMove="1" noResize="1" noEditPoints="1" noAdjustHandles="1" noChangeArrowheads="1" noChangeShapeType="1" noTextEdit="1"/>
              </p:cNvSpPr>
              <p:nvPr>
                <p:ph sz="quarter" idx="4"/>
              </p:nvPr>
            </p:nvSpPr>
            <p:spPr>
              <a:xfrm>
                <a:off x="4645025" y="1477962"/>
                <a:ext cx="4041775" cy="2244725"/>
              </a:xfrm>
              <a:blipFill rotWithShape="1">
                <a:blip r:embed="rId4"/>
                <a:stretch>
                  <a:fillRect l="-2413" t="-2168" r="-45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533400" y="2732087"/>
                <a:ext cx="3047559" cy="1105367"/>
              </a:xfrm>
              <a:prstGeom prst="wedgeRectCallout">
                <a:avLst>
                  <a:gd name="adj1" fmla="val 33962"/>
                  <a:gd name="adj2" fmla="val -97087"/>
                </a:avLst>
              </a:prstGeom>
              <a:solidFill>
                <a:schemeClr val="accent2">
                  <a:lumMod val="20000"/>
                  <a:lumOff val="80000"/>
                </a:schemeClr>
              </a:solid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0" i="1" smtClean="0">
                          <a:latin typeface="Cambria Math"/>
                          <a:ea typeface="Cambria Math"/>
                        </a:rPr>
                        <m:t>𝑍</m:t>
                      </m:r>
                      <m:r>
                        <a:rPr lang="en-GB" sz="2800" b="0" i="1" smtClean="0">
                          <a:latin typeface="Cambria Math"/>
                          <a:ea typeface="Cambria Math"/>
                        </a:rPr>
                        <m:t>=</m:t>
                      </m:r>
                      <m:f>
                        <m:fPr>
                          <m:ctrlPr>
                            <a:rPr lang="en-GB" sz="2800" i="1" smtClean="0">
                              <a:solidFill>
                                <a:schemeClr val="tx1"/>
                              </a:solidFill>
                              <a:latin typeface="Cambria Math" panose="02040503050406030204" pitchFamily="18" charset="0"/>
                              <a:ea typeface="Cambria Math"/>
                            </a:rPr>
                          </m:ctrlPr>
                        </m:fPr>
                        <m:num>
                          <m:acc>
                            <m:accPr>
                              <m:chr m:val="̅"/>
                              <m:ctrlPr>
                                <a:rPr lang="en-GB" sz="2800" i="1">
                                  <a:latin typeface="Cambria Math" panose="02040503050406030204" pitchFamily="18" charset="0"/>
                                  <a:ea typeface="Cambria Math"/>
                                </a:rPr>
                              </m:ctrlPr>
                            </m:accPr>
                            <m:e>
                              <m:r>
                                <a:rPr lang="en-GB" sz="2800" i="1">
                                  <a:latin typeface="Cambria Math"/>
                                  <a:ea typeface="Cambria Math"/>
                                </a:rPr>
                                <m:t>𝑥</m:t>
                              </m:r>
                            </m:e>
                          </m:acc>
                          <m:r>
                            <a:rPr lang="en-GB" sz="2800" b="0" i="1" smtClean="0">
                              <a:latin typeface="Cambria Math"/>
                              <a:ea typeface="Cambria Math"/>
                            </a:rPr>
                            <m:t>−</m:t>
                          </m:r>
                          <m:r>
                            <a:rPr lang="en-GB" sz="2800" b="0" i="1">
                              <a:latin typeface="Cambria Math"/>
                              <a:ea typeface="Cambria Math"/>
                            </a:rPr>
                            <m:t>𝜇</m:t>
                          </m:r>
                        </m:num>
                        <m:den>
                          <m:sSub>
                            <m:sSubPr>
                              <m:ctrlPr>
                                <a:rPr lang="en-GB" sz="2800" i="1">
                                  <a:latin typeface="Cambria Math" panose="02040503050406030204" pitchFamily="18" charset="0"/>
                                  <a:ea typeface="Cambria Math"/>
                                </a:rPr>
                              </m:ctrlPr>
                            </m:sSubPr>
                            <m:e>
                              <m:r>
                                <a:rPr lang="en-GB" sz="2800" i="1">
                                  <a:latin typeface="Cambria Math"/>
                                  <a:ea typeface="Cambria Math"/>
                                </a:rPr>
                                <m:t>𝜎</m:t>
                              </m:r>
                            </m:e>
                            <m:sub>
                              <m:acc>
                                <m:accPr>
                                  <m:chr m:val="̅"/>
                                  <m:ctrlPr>
                                    <a:rPr lang="en-GB" sz="2800" i="1">
                                      <a:latin typeface="Cambria Math" panose="02040503050406030204" pitchFamily="18" charset="0"/>
                                      <a:ea typeface="Cambria Math"/>
                                    </a:rPr>
                                  </m:ctrlPr>
                                </m:accPr>
                                <m:e>
                                  <m:r>
                                    <a:rPr lang="en-GB" sz="2800" i="1">
                                      <a:latin typeface="Cambria Math"/>
                                      <a:ea typeface="Cambria Math"/>
                                    </a:rPr>
                                    <m:t>𝑥</m:t>
                                  </m:r>
                                </m:e>
                              </m:acc>
                            </m:sub>
                          </m:sSub>
                        </m:den>
                      </m:f>
                      <m:r>
                        <a:rPr lang="en-GB" sz="2800" b="0" i="1" smtClean="0">
                          <a:solidFill>
                            <a:schemeClr val="tx1"/>
                          </a:solidFill>
                          <a:latin typeface="Cambria Math"/>
                          <a:ea typeface="Cambria Math"/>
                        </a:rPr>
                        <m:t>=</m:t>
                      </m:r>
                      <m:f>
                        <m:fPr>
                          <m:ctrlPr>
                            <a:rPr lang="en-GB" sz="2800" i="1">
                              <a:latin typeface="Cambria Math" panose="02040503050406030204" pitchFamily="18" charset="0"/>
                              <a:ea typeface="Cambria Math"/>
                            </a:rPr>
                          </m:ctrlPr>
                        </m:fPr>
                        <m:num>
                          <m:acc>
                            <m:accPr>
                              <m:chr m:val="̅"/>
                              <m:ctrlPr>
                                <a:rPr lang="en-GB" sz="2800" i="1">
                                  <a:latin typeface="Cambria Math" panose="02040503050406030204" pitchFamily="18" charset="0"/>
                                  <a:ea typeface="Cambria Math"/>
                                </a:rPr>
                              </m:ctrlPr>
                            </m:accPr>
                            <m:e>
                              <m:r>
                                <a:rPr lang="en-GB" sz="2800" i="1">
                                  <a:latin typeface="Cambria Math"/>
                                  <a:ea typeface="Cambria Math"/>
                                </a:rPr>
                                <m:t>𝑥</m:t>
                              </m:r>
                            </m:e>
                          </m:acc>
                          <m:r>
                            <a:rPr lang="en-GB" sz="2800" i="1">
                              <a:latin typeface="Cambria Math"/>
                              <a:ea typeface="Cambria Math"/>
                            </a:rPr>
                            <m:t>−</m:t>
                          </m:r>
                          <m:r>
                            <a:rPr lang="en-GB" sz="2800" i="1">
                              <a:latin typeface="Cambria Math"/>
                              <a:ea typeface="Cambria Math"/>
                            </a:rPr>
                            <m:t>𝜇</m:t>
                          </m:r>
                        </m:num>
                        <m:den>
                          <m:box>
                            <m:boxPr>
                              <m:ctrlPr>
                                <a:rPr lang="en-GB" sz="2800" i="1" smtClean="0">
                                  <a:latin typeface="Cambria Math" panose="02040503050406030204" pitchFamily="18" charset="0"/>
                                  <a:ea typeface="Cambria Math"/>
                                </a:rPr>
                              </m:ctrlPr>
                            </m:boxPr>
                            <m:e>
                              <m:argPr>
                                <m:argSz m:val="-1"/>
                              </m:argPr>
                              <m:f>
                                <m:fPr>
                                  <m:ctrlPr>
                                    <a:rPr lang="en-GB" sz="2800" i="1">
                                      <a:latin typeface="Cambria Math" panose="02040503050406030204" pitchFamily="18" charset="0"/>
                                      <a:ea typeface="Cambria Math"/>
                                    </a:rPr>
                                  </m:ctrlPr>
                                </m:fPr>
                                <m:num>
                                  <m:r>
                                    <a:rPr lang="en-GB" sz="2800" b="0" i="1">
                                      <a:latin typeface="Cambria Math"/>
                                      <a:ea typeface="Cambria Math"/>
                                    </a:rPr>
                                    <m:t>𝜎</m:t>
                                  </m:r>
                                </m:num>
                                <m:den>
                                  <m:rad>
                                    <m:radPr>
                                      <m:degHide m:val="on"/>
                                      <m:ctrlPr>
                                        <a:rPr lang="en-GB" sz="2800" i="1">
                                          <a:latin typeface="Cambria Math" panose="02040503050406030204" pitchFamily="18" charset="0"/>
                                          <a:ea typeface="Cambria Math"/>
                                        </a:rPr>
                                      </m:ctrlPr>
                                    </m:radPr>
                                    <m:deg/>
                                    <m:e>
                                      <m:r>
                                        <a:rPr lang="en-GB" sz="2800" b="0" i="1">
                                          <a:latin typeface="Cambria Math"/>
                                          <a:ea typeface="Cambria Math"/>
                                        </a:rPr>
                                        <m:t>𝑛</m:t>
                                      </m:r>
                                    </m:e>
                                  </m:rad>
                                </m:den>
                              </m:f>
                            </m:e>
                          </m:box>
                        </m:den>
                      </m:f>
                    </m:oMath>
                  </m:oMathPara>
                </a14:m>
                <a:endParaRPr lang="en-GB" sz="2800" dirty="0">
                  <a:solidFill>
                    <a:schemeClr val="tx1"/>
                  </a:solidFill>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533400" y="2732087"/>
                <a:ext cx="3047559" cy="1105367"/>
              </a:xfrm>
              <a:prstGeom prst="wedgeRectCallout">
                <a:avLst>
                  <a:gd name="adj1" fmla="val 33962"/>
                  <a:gd name="adj2" fmla="val -97087"/>
                </a:avLst>
              </a:prstGeom>
              <a:blipFill rotWithShape="1">
                <a:blip r:embed="rId5"/>
                <a:stretch>
                  <a:fillRect/>
                </a:stretch>
              </a:blipFill>
              <a:ln>
                <a:noFill/>
              </a:ln>
            </p:spPr>
            <p:txBody>
              <a:bodyPr/>
              <a:lstStyle/>
              <a:p>
                <a:r>
                  <a:rPr lang="en-GB">
                    <a:noFill/>
                  </a:rPr>
                  <a:t> </a:t>
                </a:r>
              </a:p>
            </p:txBody>
          </p:sp>
        </mc:Fallback>
      </mc:AlternateContent>
      <p:sp>
        <p:nvSpPr>
          <p:cNvPr id="9" name="Rectangle 8"/>
          <p:cNvSpPr/>
          <p:nvPr/>
        </p:nvSpPr>
        <p:spPr>
          <a:xfrm>
            <a:off x="533400" y="3986861"/>
            <a:ext cx="3047558" cy="830997"/>
          </a:xfrm>
          <a:prstGeom prst="rect">
            <a:avLst/>
          </a:prstGeom>
          <a:solidFill>
            <a:schemeClr val="accent2">
              <a:lumMod val="20000"/>
              <a:lumOff val="80000"/>
            </a:schemeClr>
          </a:solidFill>
        </p:spPr>
        <p:txBody>
          <a:bodyPr wrap="square">
            <a:spAutoFit/>
          </a:bodyPr>
          <a:lstStyle/>
          <a:p>
            <a:pPr algn="ctr">
              <a:buClr>
                <a:schemeClr val="accent2"/>
              </a:buClr>
              <a:buSzPct val="75000"/>
            </a:pPr>
            <a:r>
              <a:rPr lang="en-GB" altLang="en-US" sz="2400" dirty="0"/>
              <a:t>Use the </a:t>
            </a:r>
            <a:r>
              <a:rPr lang="en-GB" altLang="en-US" sz="2400" b="1" dirty="0"/>
              <a:t>normal distribution</a:t>
            </a:r>
            <a:endParaRPr lang="en-GB" sz="2400" b="1" dirty="0"/>
          </a:p>
        </p:txBody>
      </p:sp>
      <p:sp>
        <p:nvSpPr>
          <p:cNvPr id="11" name="Rectangle 10"/>
          <p:cNvSpPr/>
          <p:nvPr/>
        </p:nvSpPr>
        <p:spPr>
          <a:xfrm>
            <a:off x="5563040" y="3986861"/>
            <a:ext cx="3047559" cy="830997"/>
          </a:xfrm>
          <a:prstGeom prst="rect">
            <a:avLst/>
          </a:prstGeom>
          <a:solidFill>
            <a:schemeClr val="accent3">
              <a:lumMod val="20000"/>
              <a:lumOff val="80000"/>
            </a:schemeClr>
          </a:solidFill>
        </p:spPr>
        <p:txBody>
          <a:bodyPr wrap="square">
            <a:spAutoFit/>
          </a:bodyPr>
          <a:lstStyle/>
          <a:p>
            <a:pPr algn="ctr"/>
            <a:r>
              <a:rPr lang="en-GB" altLang="en-US" sz="2400" dirty="0"/>
              <a:t>Use the </a:t>
            </a:r>
            <a:r>
              <a:rPr lang="en-GB" altLang="en-US" sz="2400" b="1" dirty="0"/>
              <a:t>Student’s t distribution</a:t>
            </a:r>
            <a:endParaRPr lang="en-GB" sz="2400" b="1" dirty="0"/>
          </a:p>
        </p:txBody>
      </p:sp>
      <mc:AlternateContent xmlns:mc="http://schemas.openxmlformats.org/markup-compatibility/2006" xmlns:a14="http://schemas.microsoft.com/office/drawing/2010/main">
        <mc:Choice Requires="a14">
          <p:sp>
            <p:nvSpPr>
              <p:cNvPr id="13" name="TextBox 12"/>
              <p:cNvSpPr txBox="1"/>
              <p:nvPr/>
            </p:nvSpPr>
            <p:spPr>
              <a:xfrm>
                <a:off x="5563041" y="2743200"/>
                <a:ext cx="3047559" cy="1105367"/>
              </a:xfrm>
              <a:prstGeom prst="wedgeRectCallout">
                <a:avLst>
                  <a:gd name="adj1" fmla="val -30233"/>
                  <a:gd name="adj2" fmla="val -95163"/>
                </a:avLst>
              </a:prstGeom>
              <a:solidFill>
                <a:schemeClr val="accent3">
                  <a:lumMod val="20000"/>
                  <a:lumOff val="80000"/>
                </a:schemeClr>
              </a:solid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0" i="1" smtClean="0">
                          <a:latin typeface="Cambria Math"/>
                          <a:ea typeface="Cambria Math"/>
                        </a:rPr>
                        <m:t>𝑡</m:t>
                      </m:r>
                      <m:r>
                        <a:rPr lang="en-GB" sz="2800" b="0" i="1" smtClean="0">
                          <a:latin typeface="Cambria Math"/>
                          <a:ea typeface="Cambria Math"/>
                        </a:rPr>
                        <m:t>=</m:t>
                      </m:r>
                      <m:f>
                        <m:fPr>
                          <m:ctrlPr>
                            <a:rPr lang="en-GB" sz="2800" i="1" smtClean="0">
                              <a:solidFill>
                                <a:schemeClr val="tx1"/>
                              </a:solidFill>
                              <a:latin typeface="Cambria Math" panose="02040503050406030204" pitchFamily="18" charset="0"/>
                              <a:ea typeface="Cambria Math"/>
                            </a:rPr>
                          </m:ctrlPr>
                        </m:fPr>
                        <m:num>
                          <m:acc>
                            <m:accPr>
                              <m:chr m:val="̅"/>
                              <m:ctrlPr>
                                <a:rPr lang="en-GB" sz="2800" i="1">
                                  <a:latin typeface="Cambria Math" panose="02040503050406030204" pitchFamily="18" charset="0"/>
                                  <a:ea typeface="Cambria Math"/>
                                </a:rPr>
                              </m:ctrlPr>
                            </m:accPr>
                            <m:e>
                              <m:r>
                                <a:rPr lang="en-GB" sz="2800" i="1">
                                  <a:latin typeface="Cambria Math"/>
                                  <a:ea typeface="Cambria Math"/>
                                </a:rPr>
                                <m:t>𝑥</m:t>
                              </m:r>
                            </m:e>
                          </m:acc>
                          <m:r>
                            <a:rPr lang="en-GB" sz="2800" b="0" i="1" smtClean="0">
                              <a:latin typeface="Cambria Math"/>
                              <a:ea typeface="Cambria Math"/>
                            </a:rPr>
                            <m:t>−</m:t>
                          </m:r>
                          <m:r>
                            <a:rPr lang="en-GB" sz="2800" b="0" i="1">
                              <a:latin typeface="Cambria Math"/>
                              <a:ea typeface="Cambria Math"/>
                            </a:rPr>
                            <m:t>𝜇</m:t>
                          </m:r>
                        </m:num>
                        <m:den>
                          <m:sSub>
                            <m:sSubPr>
                              <m:ctrlPr>
                                <a:rPr lang="en-GB" sz="2800" i="1">
                                  <a:latin typeface="Cambria Math" panose="02040503050406030204" pitchFamily="18" charset="0"/>
                                  <a:ea typeface="Cambria Math"/>
                                </a:rPr>
                              </m:ctrlPr>
                            </m:sSubPr>
                            <m:e>
                              <m:r>
                                <a:rPr lang="en-GB" sz="2800" b="0" i="1" smtClean="0">
                                  <a:latin typeface="Cambria Math"/>
                                  <a:ea typeface="Cambria Math"/>
                                </a:rPr>
                                <m:t>𝑠</m:t>
                              </m:r>
                            </m:e>
                            <m:sub>
                              <m:acc>
                                <m:accPr>
                                  <m:chr m:val="̅"/>
                                  <m:ctrlPr>
                                    <a:rPr lang="en-GB" sz="2800" i="1">
                                      <a:latin typeface="Cambria Math" panose="02040503050406030204" pitchFamily="18" charset="0"/>
                                      <a:ea typeface="Cambria Math"/>
                                    </a:rPr>
                                  </m:ctrlPr>
                                </m:accPr>
                                <m:e>
                                  <m:r>
                                    <a:rPr lang="en-GB" sz="2800" i="1">
                                      <a:latin typeface="Cambria Math"/>
                                      <a:ea typeface="Cambria Math"/>
                                    </a:rPr>
                                    <m:t>𝑥</m:t>
                                  </m:r>
                                </m:e>
                              </m:acc>
                            </m:sub>
                          </m:sSub>
                        </m:den>
                      </m:f>
                      <m:r>
                        <a:rPr lang="en-GB" sz="2800" b="0" i="1" smtClean="0">
                          <a:solidFill>
                            <a:schemeClr val="tx1"/>
                          </a:solidFill>
                          <a:latin typeface="Cambria Math"/>
                          <a:ea typeface="Cambria Math"/>
                        </a:rPr>
                        <m:t>=</m:t>
                      </m:r>
                      <m:f>
                        <m:fPr>
                          <m:ctrlPr>
                            <a:rPr lang="en-GB" sz="2800" i="1">
                              <a:latin typeface="Cambria Math" panose="02040503050406030204" pitchFamily="18" charset="0"/>
                              <a:ea typeface="Cambria Math"/>
                            </a:rPr>
                          </m:ctrlPr>
                        </m:fPr>
                        <m:num>
                          <m:acc>
                            <m:accPr>
                              <m:chr m:val="̅"/>
                              <m:ctrlPr>
                                <a:rPr lang="en-GB" sz="2800" i="1">
                                  <a:latin typeface="Cambria Math" panose="02040503050406030204" pitchFamily="18" charset="0"/>
                                  <a:ea typeface="Cambria Math"/>
                                </a:rPr>
                              </m:ctrlPr>
                            </m:accPr>
                            <m:e>
                              <m:r>
                                <a:rPr lang="en-GB" sz="2800" i="1">
                                  <a:latin typeface="Cambria Math"/>
                                  <a:ea typeface="Cambria Math"/>
                                </a:rPr>
                                <m:t>𝑥</m:t>
                              </m:r>
                            </m:e>
                          </m:acc>
                          <m:r>
                            <a:rPr lang="en-GB" sz="2800" i="1">
                              <a:latin typeface="Cambria Math"/>
                              <a:ea typeface="Cambria Math"/>
                            </a:rPr>
                            <m:t>−</m:t>
                          </m:r>
                          <m:r>
                            <a:rPr lang="en-GB" sz="2800" i="1">
                              <a:latin typeface="Cambria Math"/>
                              <a:ea typeface="Cambria Math"/>
                            </a:rPr>
                            <m:t>𝜇</m:t>
                          </m:r>
                        </m:num>
                        <m:den>
                          <m:box>
                            <m:boxPr>
                              <m:ctrlPr>
                                <a:rPr lang="en-GB" sz="2800" i="1" smtClean="0">
                                  <a:latin typeface="Cambria Math" panose="02040503050406030204" pitchFamily="18" charset="0"/>
                                  <a:ea typeface="Cambria Math"/>
                                </a:rPr>
                              </m:ctrlPr>
                            </m:boxPr>
                            <m:e>
                              <m:argPr>
                                <m:argSz m:val="-1"/>
                              </m:argPr>
                              <m:f>
                                <m:fPr>
                                  <m:ctrlPr>
                                    <a:rPr lang="en-GB" sz="2800" i="1">
                                      <a:latin typeface="Cambria Math" panose="02040503050406030204" pitchFamily="18" charset="0"/>
                                      <a:ea typeface="Cambria Math"/>
                                    </a:rPr>
                                  </m:ctrlPr>
                                </m:fPr>
                                <m:num>
                                  <m:r>
                                    <a:rPr lang="en-GB" sz="2800" b="0" i="1" smtClean="0">
                                      <a:latin typeface="Cambria Math"/>
                                      <a:ea typeface="Cambria Math"/>
                                    </a:rPr>
                                    <m:t>𝑠</m:t>
                                  </m:r>
                                </m:num>
                                <m:den>
                                  <m:rad>
                                    <m:radPr>
                                      <m:degHide m:val="on"/>
                                      <m:ctrlPr>
                                        <a:rPr lang="en-GB" sz="2800" i="1">
                                          <a:latin typeface="Cambria Math" panose="02040503050406030204" pitchFamily="18" charset="0"/>
                                          <a:ea typeface="Cambria Math"/>
                                        </a:rPr>
                                      </m:ctrlPr>
                                    </m:radPr>
                                    <m:deg/>
                                    <m:e>
                                      <m:r>
                                        <a:rPr lang="en-GB" sz="2800" b="0" i="1">
                                          <a:latin typeface="Cambria Math"/>
                                          <a:ea typeface="Cambria Math"/>
                                        </a:rPr>
                                        <m:t>𝑛</m:t>
                                      </m:r>
                                    </m:e>
                                  </m:rad>
                                </m:den>
                              </m:f>
                            </m:e>
                          </m:box>
                        </m:den>
                      </m:f>
                    </m:oMath>
                  </m:oMathPara>
                </a14:m>
                <a:endParaRPr lang="en-GB" sz="2800" dirty="0">
                  <a:solidFill>
                    <a:schemeClr val="tx1"/>
                  </a:solidFill>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5563041" y="2743200"/>
                <a:ext cx="3047559" cy="1105367"/>
              </a:xfrm>
              <a:prstGeom prst="wedgeRectCallout">
                <a:avLst>
                  <a:gd name="adj1" fmla="val -30233"/>
                  <a:gd name="adj2" fmla="val -95163"/>
                </a:avLst>
              </a:prstGeom>
              <a:blipFill rotWithShape="1">
                <a:blip r:embed="rId6"/>
                <a:stretch>
                  <a:fillRect/>
                </a:stretch>
              </a:blipFill>
              <a:ln>
                <a:noFill/>
              </a:ln>
            </p:spPr>
            <p:txBody>
              <a:bodyPr/>
              <a:lstStyle/>
              <a:p>
                <a:r>
                  <a:rPr lang="en-GB">
                    <a:noFill/>
                  </a:rPr>
                  <a:t> </a:t>
                </a:r>
              </a:p>
            </p:txBody>
          </p:sp>
        </mc:Fallback>
      </mc:AlternateContent>
      <p:sp>
        <p:nvSpPr>
          <p:cNvPr id="14" name="Notched Right Arrow 13"/>
          <p:cNvSpPr/>
          <p:nvPr/>
        </p:nvSpPr>
        <p:spPr>
          <a:xfrm flipH="1">
            <a:off x="3429000" y="4063061"/>
            <a:ext cx="2209800" cy="737539"/>
          </a:xfrm>
          <a:prstGeom prst="notchedRightArrow">
            <a:avLst/>
          </a:prstGeom>
          <a:pattFill prst="horzBrick">
            <a:fgClr>
              <a:schemeClr val="accent3">
                <a:lumMod val="20000"/>
                <a:lumOff val="80000"/>
              </a:schemeClr>
            </a:fgClr>
            <a:bgClr>
              <a:schemeClr val="bg1"/>
            </a:bgClr>
          </a:pattFill>
          <a:ln>
            <a:solidFill>
              <a:schemeClr val="accent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tLang="en-US" sz="2400" b="1" dirty="0">
                <a:solidFill>
                  <a:schemeClr val="tx1">
                    <a:lumMod val="50000"/>
                    <a:lumOff val="50000"/>
                  </a:schemeClr>
                </a:solidFill>
              </a:rPr>
              <a:t>For n&gt;30</a:t>
            </a:r>
            <a:endParaRPr lang="en-GB" sz="2400" b="1" dirty="0">
              <a:solidFill>
                <a:schemeClr val="tx1">
                  <a:lumMod val="50000"/>
                  <a:lumOff val="50000"/>
                </a:schemeClr>
              </a:solidFill>
            </a:endParaRPr>
          </a:p>
        </p:txBody>
      </p:sp>
    </p:spTree>
    <p:extLst>
      <p:ext uri="{BB962C8B-B14F-4D97-AF65-F5344CB8AC3E}">
        <p14:creationId xmlns:p14="http://schemas.microsoft.com/office/powerpoint/2010/main" val="1374830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bg/>
                                          </p:spTgt>
                                        </p:tgtEl>
                                        <p:attrNameLst>
                                          <p:attrName>style.visibility</p:attrName>
                                        </p:attrNameLst>
                                      </p:cBhvr>
                                      <p:to>
                                        <p:strVal val="visible"/>
                                      </p:to>
                                    </p:set>
                                    <p:animEffect transition="in" filter="fade">
                                      <p:cBhvr>
                                        <p:cTn id="17" dur="500"/>
                                        <p:tgtEl>
                                          <p:spTgt spid="5">
                                            <p:bg/>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5">
                                            <p:txEl>
                                              <p:pRg st="0" end="0"/>
                                            </p:txEl>
                                          </p:spTgt>
                                        </p:tgtEl>
                                        <p:attrNameLst>
                                          <p:attrName>style.visibility</p:attrName>
                                        </p:attrNameLst>
                                      </p:cBhvr>
                                      <p:to>
                                        <p:strVal val="visible"/>
                                      </p:to>
                                    </p:set>
                                    <p:animEffect transition="in" filter="fade">
                                      <p:cBhvr>
                                        <p:cTn id="20" dur="500"/>
                                        <p:tgtEl>
                                          <p:spTgt spid="5">
                                            <p:txEl>
                                              <p:pRg st="0" end="0"/>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animEffect transition="in" filter="fade">
                                      <p:cBhvr>
                                        <p:cTn id="23" dur="500"/>
                                        <p:tgtEl>
                                          <p:spTgt spid="6">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P spid="6" grpId="0" build="p"/>
      <p:bldP spid="10" grpId="0" animBg="1"/>
      <p:bldP spid="9" grpId="0" animBg="1"/>
      <p:bldP spid="11" grpId="0" animBg="1"/>
      <p:bldP spid="13" grpId="0" animBg="1"/>
      <p:bldP spid="1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23D00-1C26-4C28-B33B-13C37FD52C80}"/>
              </a:ext>
            </a:extLst>
          </p:cNvPr>
          <p:cNvSpPr>
            <a:spLocks noGrp="1"/>
          </p:cNvSpPr>
          <p:nvPr>
            <p:ph type="title"/>
          </p:nvPr>
        </p:nvSpPr>
        <p:spPr/>
        <p:txBody>
          <a:bodyPr>
            <a:normAutofit fontScale="90000"/>
          </a:bodyPr>
          <a:lstStyle/>
          <a:p>
            <a:r>
              <a:rPr lang="en-GB" dirty="0">
                <a:solidFill>
                  <a:srgbClr val="111111"/>
                </a:solidFill>
                <a:latin typeface="SourceSansPro"/>
              </a:rPr>
              <a:t>The Difference Between a T Distribution and a Normal Distribution </a:t>
            </a:r>
            <a:br>
              <a:rPr lang="en-GB" dirty="0">
                <a:solidFill>
                  <a:srgbClr val="111111"/>
                </a:solidFill>
                <a:latin typeface="SourceSansPro"/>
              </a:rPr>
            </a:br>
            <a:endParaRPr lang="en-GB" dirty="0"/>
          </a:p>
        </p:txBody>
      </p:sp>
      <p:sp>
        <p:nvSpPr>
          <p:cNvPr id="7" name="Rectangle 6">
            <a:extLst>
              <a:ext uri="{FF2B5EF4-FFF2-40B4-BE49-F238E27FC236}">
                <a16:creationId xmlns:a16="http://schemas.microsoft.com/office/drawing/2014/main" id="{F827ADC5-C601-4778-9951-6B12C83A9043}"/>
              </a:ext>
            </a:extLst>
          </p:cNvPr>
          <p:cNvSpPr/>
          <p:nvPr/>
        </p:nvSpPr>
        <p:spPr>
          <a:xfrm>
            <a:off x="533400" y="1859339"/>
            <a:ext cx="7772400" cy="2554545"/>
          </a:xfrm>
          <a:prstGeom prst="rect">
            <a:avLst/>
          </a:prstGeom>
        </p:spPr>
        <p:txBody>
          <a:bodyPr wrap="square">
            <a:spAutoFit/>
          </a:bodyPr>
          <a:lstStyle/>
          <a:p>
            <a:pPr marL="285750" indent="-285750">
              <a:buFont typeface="Arial" panose="020B0604020202020204" pitchFamily="34" charset="0"/>
              <a:buChar char="•"/>
            </a:pPr>
            <a:r>
              <a:rPr lang="en-GB" sz="2000" dirty="0">
                <a:solidFill>
                  <a:srgbClr val="111111"/>
                </a:solidFill>
                <a:latin typeface="SourceSansPro"/>
              </a:rPr>
              <a:t>Normal distributions are used when the population distribution is </a:t>
            </a:r>
            <a:r>
              <a:rPr lang="en-GB" sz="2000" b="1" u="sng" dirty="0">
                <a:solidFill>
                  <a:srgbClr val="111111"/>
                </a:solidFill>
                <a:latin typeface="SourceSansPro"/>
              </a:rPr>
              <a:t>assumed to be normal</a:t>
            </a:r>
            <a:r>
              <a:rPr lang="en-GB" sz="2000" dirty="0">
                <a:solidFill>
                  <a:srgbClr val="111111"/>
                </a:solidFill>
                <a:latin typeface="SourceSansPro"/>
              </a:rPr>
              <a:t>. </a:t>
            </a:r>
          </a:p>
          <a:p>
            <a:pPr marL="285750" indent="-285750">
              <a:buFont typeface="Arial" panose="020B0604020202020204" pitchFamily="34" charset="0"/>
              <a:buChar char="•"/>
            </a:pPr>
            <a:endParaRPr lang="en-GB" sz="2000" dirty="0">
              <a:solidFill>
                <a:srgbClr val="111111"/>
              </a:solidFill>
              <a:latin typeface="SourceSansPro"/>
            </a:endParaRPr>
          </a:p>
          <a:p>
            <a:pPr marL="285750" indent="-285750">
              <a:buFont typeface="Arial" panose="020B0604020202020204" pitchFamily="34" charset="0"/>
              <a:buChar char="•"/>
            </a:pPr>
            <a:r>
              <a:rPr lang="en-GB" sz="2000" dirty="0">
                <a:solidFill>
                  <a:srgbClr val="111111"/>
                </a:solidFill>
                <a:latin typeface="SourceSansPro"/>
              </a:rPr>
              <a:t>The T distribution is similar to the normal distribution, just with fatter tails.</a:t>
            </a:r>
          </a:p>
          <a:p>
            <a:endParaRPr lang="en-GB" sz="2000" dirty="0">
              <a:solidFill>
                <a:srgbClr val="111111"/>
              </a:solidFill>
              <a:latin typeface="SourceSansPro"/>
            </a:endParaRPr>
          </a:p>
          <a:p>
            <a:pPr marL="285750" indent="-285750">
              <a:buFont typeface="Arial" panose="020B0604020202020204" pitchFamily="34" charset="0"/>
              <a:buChar char="•"/>
            </a:pPr>
            <a:r>
              <a:rPr lang="en-GB" sz="2000" dirty="0">
                <a:solidFill>
                  <a:srgbClr val="111111"/>
                </a:solidFill>
                <a:latin typeface="SourceSansPro"/>
              </a:rPr>
              <a:t>The probability of getting values </a:t>
            </a:r>
            <a:r>
              <a:rPr lang="en-GB" sz="2000" b="1" u="sng" dirty="0">
                <a:solidFill>
                  <a:srgbClr val="111111"/>
                </a:solidFill>
                <a:latin typeface="SourceSansPro"/>
              </a:rPr>
              <a:t>very far from the mean is larger with a T distribution </a:t>
            </a:r>
            <a:r>
              <a:rPr lang="en-GB" sz="2000" dirty="0">
                <a:solidFill>
                  <a:srgbClr val="111111"/>
                </a:solidFill>
                <a:latin typeface="SourceSansPro"/>
              </a:rPr>
              <a:t>than a normal distribution.</a:t>
            </a:r>
            <a:endParaRPr lang="en-GB" sz="2000" b="0" i="0" dirty="0">
              <a:solidFill>
                <a:srgbClr val="111111"/>
              </a:solidFill>
              <a:effectLst/>
              <a:latin typeface="SourceSansPro"/>
            </a:endParaRPr>
          </a:p>
        </p:txBody>
      </p:sp>
    </p:spTree>
    <p:extLst>
      <p:ext uri="{BB962C8B-B14F-4D97-AF65-F5344CB8AC3E}">
        <p14:creationId xmlns:p14="http://schemas.microsoft.com/office/powerpoint/2010/main" val="38860757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a:t>Testing for mean</a:t>
            </a:r>
          </a:p>
        </p:txBody>
      </p:sp>
      <mc:AlternateContent xmlns:mc="http://schemas.openxmlformats.org/markup-compatibility/2006" xmlns:a14="http://schemas.microsoft.com/office/drawing/2010/main">
        <mc:Choice Requires="a14">
          <p:sp>
            <p:nvSpPr>
              <p:cNvPr id="14" name="TextBox 13"/>
              <p:cNvSpPr txBox="1"/>
              <p:nvPr/>
            </p:nvSpPr>
            <p:spPr>
              <a:xfrm>
                <a:off x="4038600" y="2057400"/>
                <a:ext cx="3047559" cy="1105367"/>
              </a:xfrm>
              <a:prstGeom prst="wedgeRectCallout">
                <a:avLst>
                  <a:gd name="adj1" fmla="val -70007"/>
                  <a:gd name="adj2" fmla="val 126075"/>
                </a:avLst>
              </a:prstGeom>
              <a:solidFill>
                <a:schemeClr val="accent1">
                  <a:lumMod val="20000"/>
                  <a:lumOff val="80000"/>
                </a:schemeClr>
              </a:solid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0" i="1" smtClean="0">
                          <a:latin typeface="Cambria Math"/>
                          <a:ea typeface="Cambria Math"/>
                        </a:rPr>
                        <m:t>𝑡</m:t>
                      </m:r>
                      <m:r>
                        <a:rPr lang="en-GB" sz="2800" b="0" i="1" smtClean="0">
                          <a:latin typeface="Cambria Math"/>
                          <a:ea typeface="Cambria Math"/>
                        </a:rPr>
                        <m:t>=</m:t>
                      </m:r>
                      <m:f>
                        <m:fPr>
                          <m:ctrlPr>
                            <a:rPr lang="en-GB" sz="2800" i="1" smtClean="0">
                              <a:solidFill>
                                <a:schemeClr val="tx1"/>
                              </a:solidFill>
                              <a:latin typeface="Cambria Math" panose="02040503050406030204" pitchFamily="18" charset="0"/>
                              <a:ea typeface="Cambria Math"/>
                            </a:rPr>
                          </m:ctrlPr>
                        </m:fPr>
                        <m:num>
                          <m:acc>
                            <m:accPr>
                              <m:chr m:val="̅"/>
                              <m:ctrlPr>
                                <a:rPr lang="en-GB" sz="2800" i="1">
                                  <a:latin typeface="Cambria Math" panose="02040503050406030204" pitchFamily="18" charset="0"/>
                                  <a:ea typeface="Cambria Math"/>
                                </a:rPr>
                              </m:ctrlPr>
                            </m:accPr>
                            <m:e>
                              <m:r>
                                <a:rPr lang="en-GB" sz="2800" i="1">
                                  <a:latin typeface="Cambria Math"/>
                                  <a:ea typeface="Cambria Math"/>
                                </a:rPr>
                                <m:t>𝑥</m:t>
                              </m:r>
                            </m:e>
                          </m:acc>
                          <m:r>
                            <a:rPr lang="en-GB" sz="2800" b="0" i="1" smtClean="0">
                              <a:latin typeface="Cambria Math"/>
                              <a:ea typeface="Cambria Math"/>
                            </a:rPr>
                            <m:t>−</m:t>
                          </m:r>
                          <m:r>
                            <a:rPr lang="en-GB" sz="2800" b="0" i="1">
                              <a:latin typeface="Cambria Math"/>
                              <a:ea typeface="Cambria Math"/>
                            </a:rPr>
                            <m:t>𝜇</m:t>
                          </m:r>
                        </m:num>
                        <m:den>
                          <m:sSub>
                            <m:sSubPr>
                              <m:ctrlPr>
                                <a:rPr lang="en-GB" sz="2800" i="1">
                                  <a:latin typeface="Cambria Math" panose="02040503050406030204" pitchFamily="18" charset="0"/>
                                  <a:ea typeface="Cambria Math"/>
                                </a:rPr>
                              </m:ctrlPr>
                            </m:sSubPr>
                            <m:e>
                              <m:r>
                                <a:rPr lang="en-GB" sz="2800" b="0" i="1" smtClean="0">
                                  <a:latin typeface="Cambria Math"/>
                                  <a:ea typeface="Cambria Math"/>
                                </a:rPr>
                                <m:t>𝑠</m:t>
                              </m:r>
                            </m:e>
                            <m:sub>
                              <m:acc>
                                <m:accPr>
                                  <m:chr m:val="̅"/>
                                  <m:ctrlPr>
                                    <a:rPr lang="en-GB" sz="2800" i="1">
                                      <a:latin typeface="Cambria Math" panose="02040503050406030204" pitchFamily="18" charset="0"/>
                                      <a:ea typeface="Cambria Math"/>
                                    </a:rPr>
                                  </m:ctrlPr>
                                </m:accPr>
                                <m:e>
                                  <m:r>
                                    <a:rPr lang="en-GB" sz="2800" i="1">
                                      <a:latin typeface="Cambria Math"/>
                                      <a:ea typeface="Cambria Math"/>
                                    </a:rPr>
                                    <m:t>𝑥</m:t>
                                  </m:r>
                                </m:e>
                              </m:acc>
                            </m:sub>
                          </m:sSub>
                        </m:den>
                      </m:f>
                      <m:r>
                        <a:rPr lang="en-GB" sz="2800" b="0" i="1" smtClean="0">
                          <a:solidFill>
                            <a:schemeClr val="tx1"/>
                          </a:solidFill>
                          <a:latin typeface="Cambria Math"/>
                          <a:ea typeface="Cambria Math"/>
                        </a:rPr>
                        <m:t>=</m:t>
                      </m:r>
                      <m:f>
                        <m:fPr>
                          <m:ctrlPr>
                            <a:rPr lang="en-GB" sz="2800" i="1">
                              <a:latin typeface="Cambria Math" panose="02040503050406030204" pitchFamily="18" charset="0"/>
                              <a:ea typeface="Cambria Math"/>
                            </a:rPr>
                          </m:ctrlPr>
                        </m:fPr>
                        <m:num>
                          <m:acc>
                            <m:accPr>
                              <m:chr m:val="̅"/>
                              <m:ctrlPr>
                                <a:rPr lang="en-GB" sz="2800" i="1">
                                  <a:latin typeface="Cambria Math" panose="02040503050406030204" pitchFamily="18" charset="0"/>
                                  <a:ea typeface="Cambria Math"/>
                                </a:rPr>
                              </m:ctrlPr>
                            </m:accPr>
                            <m:e>
                              <m:r>
                                <a:rPr lang="en-GB" sz="2800" i="1">
                                  <a:latin typeface="Cambria Math"/>
                                  <a:ea typeface="Cambria Math"/>
                                </a:rPr>
                                <m:t>𝑥</m:t>
                              </m:r>
                            </m:e>
                          </m:acc>
                          <m:r>
                            <a:rPr lang="en-GB" sz="2800" i="1">
                              <a:latin typeface="Cambria Math"/>
                              <a:ea typeface="Cambria Math"/>
                            </a:rPr>
                            <m:t>−</m:t>
                          </m:r>
                          <m:r>
                            <a:rPr lang="en-GB" sz="2800" i="1">
                              <a:latin typeface="Cambria Math"/>
                              <a:ea typeface="Cambria Math"/>
                            </a:rPr>
                            <m:t>𝜇</m:t>
                          </m:r>
                        </m:num>
                        <m:den>
                          <m:box>
                            <m:boxPr>
                              <m:ctrlPr>
                                <a:rPr lang="en-GB" sz="2800" i="1" smtClean="0">
                                  <a:latin typeface="Cambria Math" panose="02040503050406030204" pitchFamily="18" charset="0"/>
                                  <a:ea typeface="Cambria Math"/>
                                </a:rPr>
                              </m:ctrlPr>
                            </m:boxPr>
                            <m:e>
                              <m:argPr>
                                <m:argSz m:val="-1"/>
                              </m:argPr>
                              <m:f>
                                <m:fPr>
                                  <m:ctrlPr>
                                    <a:rPr lang="en-GB" sz="2800" i="1">
                                      <a:latin typeface="Cambria Math" panose="02040503050406030204" pitchFamily="18" charset="0"/>
                                      <a:ea typeface="Cambria Math"/>
                                    </a:rPr>
                                  </m:ctrlPr>
                                </m:fPr>
                                <m:num>
                                  <m:r>
                                    <a:rPr lang="en-GB" sz="2800" b="0" i="1" smtClean="0">
                                      <a:latin typeface="Cambria Math"/>
                                      <a:ea typeface="Cambria Math"/>
                                    </a:rPr>
                                    <m:t>𝑠</m:t>
                                  </m:r>
                                </m:num>
                                <m:den>
                                  <m:rad>
                                    <m:radPr>
                                      <m:degHide m:val="on"/>
                                      <m:ctrlPr>
                                        <a:rPr lang="en-GB" sz="2800" i="1">
                                          <a:latin typeface="Cambria Math" panose="02040503050406030204" pitchFamily="18" charset="0"/>
                                          <a:ea typeface="Cambria Math"/>
                                        </a:rPr>
                                      </m:ctrlPr>
                                    </m:radPr>
                                    <m:deg/>
                                    <m:e>
                                      <m:r>
                                        <a:rPr lang="en-GB" sz="2800" b="0" i="1">
                                          <a:latin typeface="Cambria Math"/>
                                          <a:ea typeface="Cambria Math"/>
                                        </a:rPr>
                                        <m:t>𝑛</m:t>
                                      </m:r>
                                    </m:e>
                                  </m:rad>
                                </m:den>
                              </m:f>
                            </m:e>
                          </m:box>
                        </m:den>
                      </m:f>
                    </m:oMath>
                  </m:oMathPara>
                </a14:m>
                <a:endParaRPr lang="en-GB" sz="2800" dirty="0">
                  <a:solidFill>
                    <a:schemeClr val="tx1"/>
                  </a:solidFill>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4038600" y="2057400"/>
                <a:ext cx="3047559" cy="1105367"/>
              </a:xfrm>
              <a:prstGeom prst="wedgeRectCallout">
                <a:avLst>
                  <a:gd name="adj1" fmla="val -70007"/>
                  <a:gd name="adj2" fmla="val 126075"/>
                </a:avLst>
              </a:prstGeom>
              <a:blipFill rotWithShape="1">
                <a:blip r:embed="rId3"/>
                <a:stretch>
                  <a:fillRect/>
                </a:stretch>
              </a:blipFill>
              <a:ln>
                <a:noFill/>
              </a:ln>
            </p:spPr>
            <p:txBody>
              <a:bodyPr/>
              <a:lstStyle/>
              <a:p>
                <a:r>
                  <a:rPr lang="en-GB">
                    <a:noFill/>
                  </a:rPr>
                  <a:t> </a:t>
                </a:r>
              </a:p>
            </p:txBody>
          </p:sp>
        </mc:Fallback>
      </mc:AlternateContent>
      <p:grpSp>
        <p:nvGrpSpPr>
          <p:cNvPr id="15" name="Group 14"/>
          <p:cNvGrpSpPr/>
          <p:nvPr/>
        </p:nvGrpSpPr>
        <p:grpSpPr>
          <a:xfrm>
            <a:off x="6248400" y="152400"/>
            <a:ext cx="2743199" cy="1301314"/>
            <a:chOff x="925287" y="1143000"/>
            <a:chExt cx="6618513" cy="1797655"/>
          </a:xfrm>
          <a:solidFill>
            <a:schemeClr val="bg1">
              <a:lumMod val="95000"/>
            </a:schemeClr>
          </a:solidFill>
        </p:grpSpPr>
        <p:grpSp>
          <p:nvGrpSpPr>
            <p:cNvPr id="16" name="Group 15"/>
            <p:cNvGrpSpPr/>
            <p:nvPr/>
          </p:nvGrpSpPr>
          <p:grpSpPr>
            <a:xfrm>
              <a:off x="925287" y="1143000"/>
              <a:ext cx="6618513" cy="958268"/>
              <a:chOff x="-65314" y="1093291"/>
              <a:chExt cx="6618513" cy="958268"/>
            </a:xfrm>
            <a:grpFill/>
          </p:grpSpPr>
          <p:sp>
            <p:nvSpPr>
              <p:cNvPr id="20" name="Freeform 19"/>
              <p:cNvSpPr/>
              <p:nvPr/>
            </p:nvSpPr>
            <p:spPr>
              <a:xfrm>
                <a:off x="-65314" y="1093291"/>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solidFill>
                <a:schemeClr val="accent1"/>
              </a:solidFill>
              <a:ln>
                <a:solidFill>
                  <a:schemeClr val="accent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chemeClr val="bg1"/>
                    </a:solidFill>
                  </a:rPr>
                  <a:t>1</a:t>
                </a:r>
              </a:p>
            </p:txBody>
          </p:sp>
          <p:sp>
            <p:nvSpPr>
              <p:cNvPr id="21" name="Freeform 20"/>
              <p:cNvSpPr/>
              <p:nvPr/>
            </p:nvSpPr>
            <p:spPr>
              <a:xfrm>
                <a:off x="1127986" y="1093293"/>
                <a:ext cx="5425213" cy="622873"/>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solidFill>
                <a:schemeClr val="bg1"/>
              </a:solidFill>
              <a:ln>
                <a:solidFill>
                  <a:schemeClr val="accent1"/>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1" numCol="1" spcCol="1270" anchor="ctr" anchorCtr="0">
                <a:noAutofit/>
              </a:bodyPr>
              <a:lstStyle/>
              <a:p>
                <a:pPr marL="0" lvl="1" algn="l" defTabSz="755650">
                  <a:lnSpc>
                    <a:spcPct val="90000"/>
                  </a:lnSpc>
                  <a:spcBef>
                    <a:spcPct val="0"/>
                  </a:spcBef>
                  <a:spcAft>
                    <a:spcPct val="15000"/>
                  </a:spcAft>
                </a:pPr>
                <a:r>
                  <a:rPr lang="en-GB" sz="1600" kern="1200" dirty="0">
                    <a:solidFill>
                      <a:schemeClr val="tx1"/>
                    </a:solidFill>
                  </a:rPr>
                  <a:t>State your null hypothesis (H</a:t>
                </a:r>
                <a:r>
                  <a:rPr lang="en-GB" sz="1600" kern="1200" baseline="-25000" dirty="0">
                    <a:solidFill>
                      <a:schemeClr val="tx1"/>
                    </a:solidFill>
                  </a:rPr>
                  <a:t>0</a:t>
                </a:r>
                <a:r>
                  <a:rPr lang="en-GB" sz="1600" kern="1200" baseline="0" dirty="0">
                    <a:solidFill>
                      <a:schemeClr val="tx1"/>
                    </a:solidFill>
                  </a:rPr>
                  <a:t>)</a:t>
                </a:r>
              </a:p>
            </p:txBody>
          </p:sp>
        </p:grpSp>
        <p:grpSp>
          <p:nvGrpSpPr>
            <p:cNvPr id="17" name="Group 16"/>
            <p:cNvGrpSpPr/>
            <p:nvPr/>
          </p:nvGrpSpPr>
          <p:grpSpPr>
            <a:xfrm>
              <a:off x="925287" y="1982387"/>
              <a:ext cx="6618513" cy="958268"/>
              <a:chOff x="-65314" y="1932678"/>
              <a:chExt cx="6618513" cy="958268"/>
            </a:xfrm>
            <a:grpFill/>
          </p:grpSpPr>
          <p:sp>
            <p:nvSpPr>
              <p:cNvPr id="18" name="Freeform 17"/>
              <p:cNvSpPr/>
              <p:nvPr/>
            </p:nvSpPr>
            <p:spPr>
              <a:xfrm>
                <a:off x="-65314" y="1932678"/>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solidFill>
                <a:schemeClr val="accent1"/>
              </a:solidFill>
              <a:ln>
                <a:solidFill>
                  <a:schemeClr val="accent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chemeClr val="bg1"/>
                    </a:solidFill>
                  </a:rPr>
                  <a:t>2</a:t>
                </a:r>
              </a:p>
            </p:txBody>
          </p:sp>
          <p:sp>
            <p:nvSpPr>
              <p:cNvPr id="19" name="Freeform 18"/>
              <p:cNvSpPr/>
              <p:nvPr/>
            </p:nvSpPr>
            <p:spPr>
              <a:xfrm>
                <a:off x="1127986" y="1932680"/>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solidFill>
                <a:schemeClr val="bg1"/>
              </a:solidFill>
              <a:ln>
                <a:solidFill>
                  <a:schemeClr val="accent1"/>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defTabSz="755650">
                  <a:lnSpc>
                    <a:spcPct val="90000"/>
                  </a:lnSpc>
                  <a:spcBef>
                    <a:spcPct val="0"/>
                  </a:spcBef>
                  <a:spcAft>
                    <a:spcPct val="15000"/>
                  </a:spcAft>
                </a:pPr>
                <a:r>
                  <a:rPr lang="en-GB" sz="1600" b="1" dirty="0">
                    <a:solidFill>
                      <a:schemeClr val="tx1"/>
                    </a:solidFill>
                  </a:rPr>
                  <a:t>Calculate test statistic </a:t>
                </a:r>
                <a:r>
                  <a:rPr lang="en-GB" sz="1600" dirty="0">
                    <a:solidFill>
                      <a:schemeClr val="tx1"/>
                    </a:solidFill>
                  </a:rPr>
                  <a:t>from data (stat.)</a:t>
                </a:r>
              </a:p>
            </p:txBody>
          </p:sp>
        </p:grpSp>
      </p:grpSp>
      <p:graphicFrame>
        <p:nvGraphicFramePr>
          <p:cNvPr id="22" name="Chart 21"/>
          <p:cNvGraphicFramePr/>
          <p:nvPr>
            <p:extLst>
              <p:ext uri="{D42A27DB-BD31-4B8C-83A1-F6EECF244321}">
                <p14:modId xmlns:p14="http://schemas.microsoft.com/office/powerpoint/2010/main" val="3099470210"/>
              </p:ext>
            </p:extLst>
          </p:nvPr>
        </p:nvGraphicFramePr>
        <p:xfrm>
          <a:off x="76200" y="1641339"/>
          <a:ext cx="4876800" cy="2636041"/>
        </p:xfrm>
        <a:graphic>
          <a:graphicData uri="http://schemas.openxmlformats.org/drawingml/2006/chart">
            <c:chart xmlns:c="http://schemas.openxmlformats.org/drawingml/2006/chart" xmlns:r="http://schemas.openxmlformats.org/officeDocument/2006/relationships" r:id="rId4"/>
          </a:graphicData>
        </a:graphic>
      </p:graphicFrame>
      <p:cxnSp>
        <p:nvCxnSpPr>
          <p:cNvPr id="25" name="Straight Arrow Connector 24"/>
          <p:cNvCxnSpPr/>
          <p:nvPr/>
        </p:nvCxnSpPr>
        <p:spPr>
          <a:xfrm>
            <a:off x="2524027" y="2637723"/>
            <a:ext cx="0" cy="1654883"/>
          </a:xfrm>
          <a:prstGeom prst="straightConnector1">
            <a:avLst/>
          </a:prstGeom>
          <a:ln w="19050">
            <a:solidFill>
              <a:schemeClr val="tx1"/>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grpSp>
        <p:nvGrpSpPr>
          <p:cNvPr id="26" name="Group 25"/>
          <p:cNvGrpSpPr/>
          <p:nvPr/>
        </p:nvGrpSpPr>
        <p:grpSpPr>
          <a:xfrm>
            <a:off x="381000" y="3295454"/>
            <a:ext cx="4267200" cy="1021848"/>
            <a:chOff x="3124200" y="3524054"/>
            <a:chExt cx="4267200" cy="1021848"/>
          </a:xfrm>
        </p:grpSpPr>
        <p:cxnSp>
          <p:nvCxnSpPr>
            <p:cNvPr id="27" name="Straight Arrow Connector 26"/>
            <p:cNvCxnSpPr/>
            <p:nvPr/>
          </p:nvCxnSpPr>
          <p:spPr>
            <a:xfrm flipH="1">
              <a:off x="3124200" y="4536475"/>
              <a:ext cx="4267200" cy="1"/>
            </a:xfrm>
            <a:prstGeom prst="straightConnector1">
              <a:avLst/>
            </a:prstGeom>
            <a:ln w="38100">
              <a:solidFill>
                <a:schemeClr val="bg1">
                  <a:lumMod val="85000"/>
                </a:schemeClr>
              </a:solidFill>
              <a:headEnd type="arrow"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Arrow Connector 27"/>
            <p:cNvCxnSpPr/>
            <p:nvPr/>
          </p:nvCxnSpPr>
          <p:spPr>
            <a:xfrm>
              <a:off x="3143054" y="3524054"/>
              <a:ext cx="0" cy="1021848"/>
            </a:xfrm>
            <a:prstGeom prst="straightConnector1">
              <a:avLst/>
            </a:prstGeom>
            <a:ln w="38100">
              <a:solidFill>
                <a:schemeClr val="bg1">
                  <a:lumMod val="85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35" name="Group 34"/>
          <p:cNvGrpSpPr/>
          <p:nvPr/>
        </p:nvGrpSpPr>
        <p:grpSpPr>
          <a:xfrm>
            <a:off x="609600" y="1950418"/>
            <a:ext cx="1905000" cy="1859582"/>
            <a:chOff x="609600" y="1950418"/>
            <a:chExt cx="1905000" cy="1859582"/>
          </a:xfrm>
        </p:grpSpPr>
        <mc:AlternateContent xmlns:mc="http://schemas.openxmlformats.org/markup-compatibility/2006" xmlns:a14="http://schemas.microsoft.com/office/drawing/2010/main">
          <mc:Choice Requires="a14">
            <p:sp>
              <p:nvSpPr>
                <p:cNvPr id="36" name="Rectangular Callout 35"/>
                <p:cNvSpPr/>
                <p:nvPr/>
              </p:nvSpPr>
              <p:spPr>
                <a:xfrm>
                  <a:off x="609600" y="1950418"/>
                  <a:ext cx="1676400" cy="716582"/>
                </a:xfrm>
                <a:prstGeom prst="wedgeRectCallout">
                  <a:avLst>
                    <a:gd name="adj1" fmla="val 57505"/>
                    <a:gd name="adj2" fmla="val 179845"/>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GB" dirty="0"/>
                    <a:t>Sample means</a:t>
                  </a:r>
                </a:p>
                <a:p>
                  <a:pPr algn="ctr"/>
                  <a:r>
                    <a:rPr lang="en-GB" dirty="0"/>
                    <a:t>SD (</a:t>
                  </a:r>
                  <a14:m>
                    <m:oMath xmlns:m="http://schemas.openxmlformats.org/officeDocument/2006/math">
                      <m:sSub>
                        <m:sSubPr>
                          <m:ctrlPr>
                            <a:rPr lang="en-GB" i="1">
                              <a:latin typeface="Cambria Math" panose="02040503050406030204" pitchFamily="18" charset="0"/>
                              <a:ea typeface="Cambria Math"/>
                            </a:rPr>
                          </m:ctrlPr>
                        </m:sSubPr>
                        <m:e>
                          <m:r>
                            <a:rPr lang="en-GB" i="1">
                              <a:latin typeface="Cambria Math"/>
                              <a:ea typeface="Cambria Math"/>
                            </a:rPr>
                            <m:t>𝜎</m:t>
                          </m:r>
                        </m:e>
                        <m:sub>
                          <m:acc>
                            <m:accPr>
                              <m:chr m:val="̅"/>
                              <m:ctrlPr>
                                <a:rPr lang="en-GB" i="1">
                                  <a:latin typeface="Cambria Math" panose="02040503050406030204" pitchFamily="18" charset="0"/>
                                  <a:ea typeface="Cambria Math"/>
                                </a:rPr>
                              </m:ctrlPr>
                            </m:accPr>
                            <m:e>
                              <m:r>
                                <a:rPr lang="en-GB" i="1">
                                  <a:latin typeface="Cambria Math"/>
                                  <a:ea typeface="Cambria Math"/>
                                </a:rPr>
                                <m:t>𝑥</m:t>
                              </m:r>
                            </m:e>
                          </m:acc>
                        </m:sub>
                      </m:sSub>
                    </m:oMath>
                  </a14:m>
                  <a:r>
                    <a:rPr lang="en-GB" dirty="0"/>
                    <a:t>)</a:t>
                  </a:r>
                </a:p>
              </p:txBody>
            </p:sp>
          </mc:Choice>
          <mc:Fallback xmlns="">
            <p:sp>
              <p:nvSpPr>
                <p:cNvPr id="36" name="Rectangular Callout 35"/>
                <p:cNvSpPr>
                  <a:spLocks noRot="1" noChangeAspect="1" noMove="1" noResize="1" noEditPoints="1" noAdjustHandles="1" noChangeArrowheads="1" noChangeShapeType="1" noTextEdit="1"/>
                </p:cNvSpPr>
                <p:nvPr/>
              </p:nvSpPr>
              <p:spPr>
                <a:xfrm>
                  <a:off x="609600" y="1950418"/>
                  <a:ext cx="1676400" cy="716582"/>
                </a:xfrm>
                <a:prstGeom prst="wedgeRectCallout">
                  <a:avLst>
                    <a:gd name="adj1" fmla="val 57505"/>
                    <a:gd name="adj2" fmla="val 179845"/>
                  </a:avLst>
                </a:prstGeom>
                <a:blipFill rotWithShape="1">
                  <a:blip r:embed="rId5"/>
                  <a:stretch>
                    <a:fillRect/>
                  </a:stretch>
                </a:blipFill>
              </p:spPr>
              <p:txBody>
                <a:bodyPr/>
                <a:lstStyle/>
                <a:p>
                  <a:r>
                    <a:rPr lang="en-GB">
                      <a:noFill/>
                    </a:rPr>
                    <a:t> </a:t>
                  </a:r>
                </a:p>
              </p:txBody>
            </p:sp>
          </mc:Fallback>
        </mc:AlternateContent>
        <p:grpSp>
          <p:nvGrpSpPr>
            <p:cNvPr id="37" name="Group 36"/>
            <p:cNvGrpSpPr/>
            <p:nvPr/>
          </p:nvGrpSpPr>
          <p:grpSpPr>
            <a:xfrm>
              <a:off x="2238908" y="3591128"/>
              <a:ext cx="275692" cy="218872"/>
              <a:chOff x="2133600" y="3514928"/>
              <a:chExt cx="570688" cy="447472"/>
            </a:xfrm>
          </p:grpSpPr>
          <p:cxnSp>
            <p:nvCxnSpPr>
              <p:cNvPr id="38" name="Straight Arrow Connector 37"/>
              <p:cNvCxnSpPr/>
              <p:nvPr/>
            </p:nvCxnSpPr>
            <p:spPr>
              <a:xfrm flipV="1">
                <a:off x="2704288" y="3521271"/>
                <a:ext cx="0" cy="441129"/>
              </a:xfrm>
              <a:prstGeom prst="straightConnector1">
                <a:avLst/>
              </a:prstGeom>
              <a:ln>
                <a:solidFill>
                  <a:srgbClr val="C00000"/>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9" name="Straight Arrow Connector 38"/>
              <p:cNvCxnSpPr/>
              <p:nvPr/>
            </p:nvCxnSpPr>
            <p:spPr>
              <a:xfrm flipV="1">
                <a:off x="2133600" y="3514928"/>
                <a:ext cx="0" cy="447472"/>
              </a:xfrm>
              <a:prstGeom prst="straightConnector1">
                <a:avLst/>
              </a:prstGeom>
              <a:ln>
                <a:solidFill>
                  <a:srgbClr val="C00000"/>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Arrow Connector 39"/>
              <p:cNvCxnSpPr/>
              <p:nvPr/>
            </p:nvCxnSpPr>
            <p:spPr>
              <a:xfrm>
                <a:off x="2152905" y="3733800"/>
                <a:ext cx="551383" cy="1"/>
              </a:xfrm>
              <a:prstGeom prst="straightConnector1">
                <a:avLst/>
              </a:prstGeom>
              <a:ln>
                <a:solidFill>
                  <a:srgbClr val="C00000"/>
                </a:solidFill>
                <a:headEnd type="arrow" w="med" len="med"/>
                <a:tailEnd type="arrow" w="med" len="med"/>
              </a:ln>
            </p:spPr>
            <p:style>
              <a:lnRef idx="1">
                <a:schemeClr val="dk1"/>
              </a:lnRef>
              <a:fillRef idx="0">
                <a:schemeClr val="dk1"/>
              </a:fillRef>
              <a:effectRef idx="0">
                <a:schemeClr val="dk1"/>
              </a:effectRef>
              <a:fontRef idx="minor">
                <a:schemeClr val="tx1"/>
              </a:fontRef>
            </p:style>
          </p:cxnSp>
        </p:grpSp>
      </p:grpSp>
      <p:grpSp>
        <p:nvGrpSpPr>
          <p:cNvPr id="43" name="Group 42"/>
          <p:cNvGrpSpPr/>
          <p:nvPr/>
        </p:nvGrpSpPr>
        <p:grpSpPr>
          <a:xfrm>
            <a:off x="2526774" y="3591128"/>
            <a:ext cx="275692" cy="218872"/>
            <a:chOff x="2133600" y="3514928"/>
            <a:chExt cx="570688" cy="447472"/>
          </a:xfrm>
        </p:grpSpPr>
        <p:cxnSp>
          <p:nvCxnSpPr>
            <p:cNvPr id="44" name="Straight Arrow Connector 43"/>
            <p:cNvCxnSpPr/>
            <p:nvPr/>
          </p:nvCxnSpPr>
          <p:spPr>
            <a:xfrm flipV="1">
              <a:off x="2704288" y="3521271"/>
              <a:ext cx="0" cy="441129"/>
            </a:xfrm>
            <a:prstGeom prst="straightConnector1">
              <a:avLst/>
            </a:prstGeom>
            <a:ln>
              <a:solidFill>
                <a:srgbClr val="C00000"/>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 name="Straight Arrow Connector 44"/>
            <p:cNvCxnSpPr/>
            <p:nvPr/>
          </p:nvCxnSpPr>
          <p:spPr>
            <a:xfrm flipV="1">
              <a:off x="2133600" y="3514928"/>
              <a:ext cx="0" cy="447472"/>
            </a:xfrm>
            <a:prstGeom prst="straightConnector1">
              <a:avLst/>
            </a:prstGeom>
            <a:ln>
              <a:solidFill>
                <a:srgbClr val="C00000"/>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Straight Arrow Connector 45"/>
            <p:cNvCxnSpPr/>
            <p:nvPr/>
          </p:nvCxnSpPr>
          <p:spPr>
            <a:xfrm>
              <a:off x="2152905" y="3733800"/>
              <a:ext cx="551383" cy="1"/>
            </a:xfrm>
            <a:prstGeom prst="straightConnector1">
              <a:avLst/>
            </a:prstGeom>
            <a:ln>
              <a:solidFill>
                <a:srgbClr val="C00000"/>
              </a:solidFill>
              <a:headEnd type="arrow" w="med" len="med"/>
              <a:tailEnd type="arrow" w="med" len="med"/>
            </a:ln>
          </p:spPr>
          <p:style>
            <a:lnRef idx="1">
              <a:schemeClr val="dk1"/>
            </a:lnRef>
            <a:fillRef idx="0">
              <a:schemeClr val="dk1"/>
            </a:fillRef>
            <a:effectRef idx="0">
              <a:schemeClr val="dk1"/>
            </a:effectRef>
            <a:fontRef idx="minor">
              <a:schemeClr val="tx1"/>
            </a:fontRef>
          </p:style>
        </p:cxnSp>
      </p:grpSp>
      <p:cxnSp>
        <p:nvCxnSpPr>
          <p:cNvPr id="47" name="Straight Arrow Connector 46"/>
          <p:cNvCxnSpPr/>
          <p:nvPr/>
        </p:nvCxnSpPr>
        <p:spPr>
          <a:xfrm>
            <a:off x="3363677" y="3286028"/>
            <a:ext cx="0" cy="1021848"/>
          </a:xfrm>
          <a:prstGeom prst="straightConnector1">
            <a:avLst/>
          </a:prstGeom>
          <a:ln w="38100">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grpSp>
        <p:nvGrpSpPr>
          <p:cNvPr id="4" name="Group 3"/>
          <p:cNvGrpSpPr/>
          <p:nvPr/>
        </p:nvGrpSpPr>
        <p:grpSpPr>
          <a:xfrm>
            <a:off x="2286000" y="4277380"/>
            <a:ext cx="1388351" cy="828020"/>
            <a:chOff x="2286000" y="4277380"/>
            <a:chExt cx="1388351" cy="828020"/>
          </a:xfrm>
        </p:grpSpPr>
        <mc:AlternateContent xmlns:mc="http://schemas.openxmlformats.org/markup-compatibility/2006" xmlns:a14="http://schemas.microsoft.com/office/drawing/2010/main">
          <mc:Choice Requires="a14">
            <p:sp>
              <p:nvSpPr>
                <p:cNvPr id="23" name="TextBox 22"/>
                <p:cNvSpPr txBox="1"/>
                <p:nvPr/>
              </p:nvSpPr>
              <p:spPr>
                <a:xfrm>
                  <a:off x="2286000" y="4582180"/>
                  <a:ext cx="494046" cy="523220"/>
                </a:xfrm>
                <a:prstGeom prst="rect">
                  <a:avLst/>
                </a:prstGeom>
                <a:no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800" b="1" i="1" smtClean="0">
                            <a:solidFill>
                              <a:schemeClr val="tx1"/>
                            </a:solidFill>
                            <a:latin typeface="Cambria Math"/>
                            <a:ea typeface="Cambria Math"/>
                          </a:rPr>
                          <m:t>𝝁</m:t>
                        </m:r>
                      </m:oMath>
                    </m:oMathPara>
                  </a14:m>
                  <a:endParaRPr lang="en-GB" sz="2800" b="1" dirty="0">
                    <a:solidFill>
                      <a:schemeClr val="tx1"/>
                    </a:solidFill>
                  </a:endParaRPr>
                </a:p>
              </p:txBody>
            </p:sp>
          </mc:Choice>
          <mc:Fallback xmlns="">
            <p:sp>
              <p:nvSpPr>
                <p:cNvPr id="23" name="TextBox 22"/>
                <p:cNvSpPr txBox="1">
                  <a:spLocks noRot="1" noChangeAspect="1" noMove="1" noResize="1" noEditPoints="1" noAdjustHandles="1" noChangeArrowheads="1" noChangeShapeType="1" noTextEdit="1"/>
                </p:cNvSpPr>
                <p:nvPr/>
              </p:nvSpPr>
              <p:spPr>
                <a:xfrm>
                  <a:off x="2286000" y="4582180"/>
                  <a:ext cx="494046" cy="523220"/>
                </a:xfrm>
                <a:prstGeom prst="rect">
                  <a:avLst/>
                </a:prstGeom>
                <a:blipFill rotWithShape="1">
                  <a:blip r:embed="rId6"/>
                  <a:stretch>
                    <a:fillRect/>
                  </a:stretch>
                </a:blipFill>
                <a:ln>
                  <a:noFill/>
                </a:ln>
              </p:spPr>
              <p:txBody>
                <a:bodyPr/>
                <a:lstStyle/>
                <a:p>
                  <a:r>
                    <a:rPr lang="en-GB">
                      <a:noFill/>
                    </a:rPr>
                    <a:t> </a:t>
                  </a:r>
                </a:p>
              </p:txBody>
            </p:sp>
          </mc:Fallback>
        </mc:AlternateContent>
        <p:sp>
          <p:nvSpPr>
            <p:cNvPr id="24" name="TextBox 23"/>
            <p:cNvSpPr txBox="1"/>
            <p:nvPr/>
          </p:nvSpPr>
          <p:spPr>
            <a:xfrm>
              <a:off x="2286000" y="4277380"/>
              <a:ext cx="550151" cy="523220"/>
            </a:xfrm>
            <a:prstGeom prst="rect">
              <a:avLst/>
            </a:prstGeom>
            <a:noFill/>
            <a:ln>
              <a:noFill/>
            </a:ln>
          </p:spPr>
          <p:txBody>
            <a:bodyPr wrap="none" rtlCol="0">
              <a:spAutoFit/>
            </a:bodyPr>
            <a:lstStyle/>
            <a:p>
              <a:r>
                <a:rPr lang="en-GB" sz="2800" b="1" dirty="0"/>
                <a:t>40</a:t>
              </a:r>
            </a:p>
          </p:txBody>
        </p:sp>
        <mc:AlternateContent xmlns:mc="http://schemas.openxmlformats.org/markup-compatibility/2006" xmlns:a14="http://schemas.microsoft.com/office/drawing/2010/main">
          <mc:Choice Requires="a14">
            <p:sp>
              <p:nvSpPr>
                <p:cNvPr id="48" name="TextBox 47"/>
                <p:cNvSpPr txBox="1"/>
                <p:nvPr/>
              </p:nvSpPr>
              <p:spPr>
                <a:xfrm>
                  <a:off x="3124200" y="4582180"/>
                  <a:ext cx="473206"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GB" sz="2800" b="1" i="1" smtClean="0">
                                <a:solidFill>
                                  <a:schemeClr val="accent1"/>
                                </a:solidFill>
                                <a:latin typeface="Cambria Math" panose="02040503050406030204" pitchFamily="18" charset="0"/>
                              </a:rPr>
                            </m:ctrlPr>
                          </m:accPr>
                          <m:e>
                            <m:r>
                              <a:rPr lang="en-GB" sz="2800" b="1" i="1" smtClean="0">
                                <a:solidFill>
                                  <a:schemeClr val="accent1"/>
                                </a:solidFill>
                                <a:latin typeface="Cambria Math"/>
                              </a:rPr>
                              <m:t>𝒙</m:t>
                            </m:r>
                          </m:e>
                        </m:acc>
                      </m:oMath>
                    </m:oMathPara>
                  </a14:m>
                  <a:endParaRPr lang="en-GB" sz="2800" b="1" dirty="0">
                    <a:solidFill>
                      <a:schemeClr val="accent1"/>
                    </a:solidFill>
                  </a:endParaRPr>
                </a:p>
              </p:txBody>
            </p:sp>
          </mc:Choice>
          <mc:Fallback xmlns="">
            <p:sp>
              <p:nvSpPr>
                <p:cNvPr id="48" name="TextBox 47"/>
                <p:cNvSpPr txBox="1">
                  <a:spLocks noRot="1" noChangeAspect="1" noMove="1" noResize="1" noEditPoints="1" noAdjustHandles="1" noChangeArrowheads="1" noChangeShapeType="1" noTextEdit="1"/>
                </p:cNvSpPr>
                <p:nvPr/>
              </p:nvSpPr>
              <p:spPr>
                <a:xfrm>
                  <a:off x="3124200" y="4582180"/>
                  <a:ext cx="473206" cy="523220"/>
                </a:xfrm>
                <a:prstGeom prst="rect">
                  <a:avLst/>
                </a:prstGeom>
                <a:blipFill rotWithShape="1">
                  <a:blip r:embed="rId7"/>
                  <a:stretch>
                    <a:fillRect/>
                  </a:stretch>
                </a:blipFill>
              </p:spPr>
              <p:txBody>
                <a:bodyPr/>
                <a:lstStyle/>
                <a:p>
                  <a:r>
                    <a:rPr lang="en-GB">
                      <a:noFill/>
                    </a:rPr>
                    <a:t> </a:t>
                  </a:r>
                </a:p>
              </p:txBody>
            </p:sp>
          </mc:Fallback>
        </mc:AlternateContent>
        <p:sp>
          <p:nvSpPr>
            <p:cNvPr id="49" name="TextBox 48"/>
            <p:cNvSpPr txBox="1"/>
            <p:nvPr/>
          </p:nvSpPr>
          <p:spPr>
            <a:xfrm>
              <a:off x="3124200" y="4277380"/>
              <a:ext cx="550151" cy="523220"/>
            </a:xfrm>
            <a:prstGeom prst="rect">
              <a:avLst/>
            </a:prstGeom>
            <a:noFill/>
          </p:spPr>
          <p:txBody>
            <a:bodyPr wrap="none" rtlCol="0">
              <a:spAutoFit/>
            </a:bodyPr>
            <a:lstStyle/>
            <a:p>
              <a:r>
                <a:rPr lang="en-GB" sz="2800" b="1" dirty="0">
                  <a:solidFill>
                    <a:schemeClr val="accent1"/>
                  </a:solidFill>
                </a:rPr>
                <a:t>50</a:t>
              </a:r>
            </a:p>
          </p:txBody>
        </p:sp>
      </p:grpSp>
      <p:sp>
        <p:nvSpPr>
          <p:cNvPr id="33" name="TextBox 32"/>
          <p:cNvSpPr txBox="1"/>
          <p:nvPr/>
        </p:nvSpPr>
        <p:spPr>
          <a:xfrm>
            <a:off x="5029200" y="3635514"/>
            <a:ext cx="3276600" cy="1015663"/>
          </a:xfrm>
          <a:prstGeom prst="wedgeRectCallout">
            <a:avLst>
              <a:gd name="adj1" fmla="val -72517"/>
              <a:gd name="adj2" fmla="val -142068"/>
            </a:avLst>
          </a:prstGeom>
          <a:solidFill>
            <a:schemeClr val="accent2">
              <a:lumMod val="60000"/>
              <a:lumOff val="40000"/>
            </a:schemeClr>
          </a:solidFill>
          <a:ln>
            <a:noFill/>
          </a:ln>
        </p:spPr>
        <p:txBody>
          <a:bodyPr wrap="square" rtlCol="0">
            <a:spAutoFit/>
          </a:bodyPr>
          <a:lstStyle/>
          <a:p>
            <a:r>
              <a:rPr lang="en-GB" sz="2000" dirty="0">
                <a:ea typeface="Cambria Math"/>
              </a:rPr>
              <a:t>We know </a:t>
            </a:r>
            <a:r>
              <a:rPr lang="en-GB" sz="2000" b="1" dirty="0">
                <a:ea typeface="Cambria Math"/>
              </a:rPr>
              <a:t>sample SD = 5 hours</a:t>
            </a:r>
            <a:r>
              <a:rPr lang="en-GB" sz="2000" dirty="0">
                <a:ea typeface="Cambria Math"/>
              </a:rPr>
              <a:t> so we</a:t>
            </a:r>
            <a:r>
              <a:rPr lang="en-GB" sz="2000" dirty="0">
                <a:solidFill>
                  <a:schemeClr val="tx1"/>
                </a:solidFill>
                <a:ea typeface="Cambria Math"/>
              </a:rPr>
              <a:t> use </a:t>
            </a:r>
            <a:r>
              <a:rPr lang="en-GB" sz="2000" b="1" dirty="0">
                <a:solidFill>
                  <a:schemeClr val="tx1"/>
                </a:solidFill>
                <a:ea typeface="Cambria Math"/>
              </a:rPr>
              <a:t>t-distribution</a:t>
            </a:r>
            <a:endParaRPr lang="en-GB" sz="2000" b="1" dirty="0">
              <a:solidFill>
                <a:schemeClr val="tx1"/>
              </a:solidFill>
            </a:endParaRPr>
          </a:p>
        </p:txBody>
      </p:sp>
    </p:spTree>
    <p:extLst>
      <p:ext uri="{BB962C8B-B14F-4D97-AF65-F5344CB8AC3E}">
        <p14:creationId xmlns:p14="http://schemas.microsoft.com/office/powerpoint/2010/main" val="1394624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3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a:t>Testing for mean</a:t>
            </a:r>
          </a:p>
        </p:txBody>
      </p:sp>
      <mc:AlternateContent xmlns:mc="http://schemas.openxmlformats.org/markup-compatibility/2006" xmlns:a14="http://schemas.microsoft.com/office/drawing/2010/main">
        <mc:Choice Requires="a14">
          <p:sp>
            <p:nvSpPr>
              <p:cNvPr id="14" name="TextBox 13"/>
              <p:cNvSpPr txBox="1"/>
              <p:nvPr/>
            </p:nvSpPr>
            <p:spPr>
              <a:xfrm>
                <a:off x="5162905" y="3283803"/>
                <a:ext cx="3828695" cy="830997"/>
              </a:xfrm>
              <a:prstGeom prst="wedgeRectCallout">
                <a:avLst>
                  <a:gd name="adj1" fmla="val 39195"/>
                  <a:gd name="adj2" fmla="val 15272"/>
                </a:avLst>
              </a:prstGeom>
              <a:solidFill>
                <a:schemeClr val="accent1">
                  <a:lumMod val="20000"/>
                  <a:lumOff val="80000"/>
                </a:schemeClr>
              </a:solidFill>
              <a:ln>
                <a:noFill/>
              </a:ln>
            </p:spPr>
            <p:txBody>
              <a:bodyPr wrap="square" rtlCol="0">
                <a:spAutoFit/>
              </a:bodyPr>
              <a:lstStyle/>
              <a:p>
                <a:pPr/>
                <a14:m>
                  <m:oMathPara xmlns:m="http://schemas.openxmlformats.org/officeDocument/2006/math">
                    <m:oMathParaPr>
                      <m:jc m:val="left"/>
                    </m:oMathParaPr>
                    <m:oMath xmlns:m="http://schemas.openxmlformats.org/officeDocument/2006/math">
                      <m:r>
                        <a:rPr lang="en-GB" sz="2400" b="0" i="1" smtClean="0">
                          <a:latin typeface="Cambria Math"/>
                          <a:ea typeface="Cambria Math"/>
                        </a:rPr>
                        <m:t>𝑡</m:t>
                      </m:r>
                      <m:r>
                        <a:rPr lang="en-GB" sz="2400" b="0" i="1" smtClean="0">
                          <a:latin typeface="Cambria Math"/>
                          <a:ea typeface="Cambria Math"/>
                        </a:rPr>
                        <m:t>=28.284</m:t>
                      </m:r>
                    </m:oMath>
                  </m:oMathPara>
                </a14:m>
                <a:endParaRPr lang="en-GB" sz="2400" dirty="0">
                  <a:solidFill>
                    <a:schemeClr val="tx1"/>
                  </a:solidFill>
                </a:endParaRPr>
              </a:p>
              <a:p>
                <a14:m>
                  <m:oMath xmlns:m="http://schemas.openxmlformats.org/officeDocument/2006/math">
                    <m:r>
                      <a:rPr lang="en-GB" sz="2400" i="1" smtClean="0">
                        <a:latin typeface="Cambria Math"/>
                        <a:ea typeface="Cambria Math"/>
                      </a:rPr>
                      <m:t>𝛼</m:t>
                    </m:r>
                    <m:r>
                      <a:rPr lang="en-GB" sz="2400" i="1">
                        <a:latin typeface="Cambria Math"/>
                        <a:ea typeface="Cambria Math"/>
                      </a:rPr>
                      <m:t>=</m:t>
                    </m:r>
                    <m:r>
                      <a:rPr lang="en-GB" sz="2400" b="0" i="1" smtClean="0">
                        <a:latin typeface="Cambria Math"/>
                        <a:ea typeface="Cambria Math"/>
                      </a:rPr>
                      <m:t>0.05</m:t>
                    </m:r>
                  </m:oMath>
                </a14:m>
                <a:r>
                  <a:rPr lang="en-GB" sz="2400" dirty="0"/>
                  <a:t> (two-tailed)</a:t>
                </a:r>
              </a:p>
            </p:txBody>
          </p:sp>
        </mc:Choice>
        <mc:Fallback xmlns="">
          <p:sp>
            <p:nvSpPr>
              <p:cNvPr id="14" name="TextBox 13"/>
              <p:cNvSpPr txBox="1">
                <a:spLocks noRot="1" noChangeAspect="1" noMove="1" noResize="1" noEditPoints="1" noAdjustHandles="1" noChangeArrowheads="1" noChangeShapeType="1" noTextEdit="1"/>
              </p:cNvSpPr>
              <p:nvPr/>
            </p:nvSpPr>
            <p:spPr>
              <a:xfrm>
                <a:off x="5162905" y="3283803"/>
                <a:ext cx="3828695" cy="830997"/>
              </a:xfrm>
              <a:prstGeom prst="wedgeRectCallout">
                <a:avLst>
                  <a:gd name="adj1" fmla="val 39195"/>
                  <a:gd name="adj2" fmla="val 15272"/>
                </a:avLst>
              </a:prstGeom>
              <a:blipFill rotWithShape="1">
                <a:blip r:embed="rId3"/>
                <a:stretch>
                  <a:fillRect l="-159" b="-16176"/>
                </a:stretch>
              </a:blipFill>
              <a:ln>
                <a:noFill/>
              </a:ln>
            </p:spPr>
            <p:txBody>
              <a:bodyPr/>
              <a:lstStyle/>
              <a:p>
                <a:r>
                  <a:rPr lang="en-GB">
                    <a:noFill/>
                  </a:rPr>
                  <a:t> </a:t>
                </a:r>
              </a:p>
            </p:txBody>
          </p:sp>
        </mc:Fallback>
      </mc:AlternateContent>
      <p:graphicFrame>
        <p:nvGraphicFramePr>
          <p:cNvPr id="22" name="Chart 21"/>
          <p:cNvGraphicFramePr/>
          <p:nvPr>
            <p:extLst>
              <p:ext uri="{D42A27DB-BD31-4B8C-83A1-F6EECF244321}">
                <p14:modId xmlns:p14="http://schemas.microsoft.com/office/powerpoint/2010/main" val="1322355995"/>
              </p:ext>
            </p:extLst>
          </p:nvPr>
        </p:nvGraphicFramePr>
        <p:xfrm>
          <a:off x="76200" y="1641339"/>
          <a:ext cx="4876800" cy="2636041"/>
        </p:xfrm>
        <a:graphic>
          <a:graphicData uri="http://schemas.openxmlformats.org/drawingml/2006/chart">
            <c:chart xmlns:c="http://schemas.openxmlformats.org/drawingml/2006/chart" xmlns:r="http://schemas.openxmlformats.org/officeDocument/2006/relationships" r:id="rId4"/>
          </a:graphicData>
        </a:graphic>
      </p:graphicFrame>
      <p:cxnSp>
        <p:nvCxnSpPr>
          <p:cNvPr id="25" name="Straight Arrow Connector 24"/>
          <p:cNvCxnSpPr/>
          <p:nvPr/>
        </p:nvCxnSpPr>
        <p:spPr>
          <a:xfrm>
            <a:off x="2524027" y="2637723"/>
            <a:ext cx="0" cy="1654883"/>
          </a:xfrm>
          <a:prstGeom prst="straightConnector1">
            <a:avLst/>
          </a:prstGeom>
          <a:ln w="19050">
            <a:solidFill>
              <a:schemeClr val="tx1"/>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grpSp>
        <p:nvGrpSpPr>
          <p:cNvPr id="26" name="Group 25"/>
          <p:cNvGrpSpPr/>
          <p:nvPr/>
        </p:nvGrpSpPr>
        <p:grpSpPr>
          <a:xfrm>
            <a:off x="381000" y="3295454"/>
            <a:ext cx="4267200" cy="1021848"/>
            <a:chOff x="3124200" y="3524054"/>
            <a:chExt cx="4267200" cy="1021848"/>
          </a:xfrm>
        </p:grpSpPr>
        <p:cxnSp>
          <p:nvCxnSpPr>
            <p:cNvPr id="27" name="Straight Arrow Connector 26"/>
            <p:cNvCxnSpPr/>
            <p:nvPr/>
          </p:nvCxnSpPr>
          <p:spPr>
            <a:xfrm flipH="1">
              <a:off x="3124200" y="4536475"/>
              <a:ext cx="4267200" cy="1"/>
            </a:xfrm>
            <a:prstGeom prst="straightConnector1">
              <a:avLst/>
            </a:prstGeom>
            <a:ln w="38100">
              <a:solidFill>
                <a:schemeClr val="bg1">
                  <a:lumMod val="85000"/>
                </a:schemeClr>
              </a:solidFill>
              <a:headEnd type="arrow"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Arrow Connector 27"/>
            <p:cNvCxnSpPr/>
            <p:nvPr/>
          </p:nvCxnSpPr>
          <p:spPr>
            <a:xfrm>
              <a:off x="3143054" y="3524054"/>
              <a:ext cx="0" cy="1021848"/>
            </a:xfrm>
            <a:prstGeom prst="straightConnector1">
              <a:avLst/>
            </a:prstGeom>
            <a:ln w="38100">
              <a:solidFill>
                <a:schemeClr val="bg1">
                  <a:lumMod val="85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35" name="Group 34"/>
          <p:cNvGrpSpPr/>
          <p:nvPr/>
        </p:nvGrpSpPr>
        <p:grpSpPr>
          <a:xfrm>
            <a:off x="609600" y="1950418"/>
            <a:ext cx="1905000" cy="1859582"/>
            <a:chOff x="609600" y="1950418"/>
            <a:chExt cx="1905000" cy="1859582"/>
          </a:xfrm>
        </p:grpSpPr>
        <mc:AlternateContent xmlns:mc="http://schemas.openxmlformats.org/markup-compatibility/2006" xmlns:a14="http://schemas.microsoft.com/office/drawing/2010/main">
          <mc:Choice Requires="a14">
            <p:sp>
              <p:nvSpPr>
                <p:cNvPr id="36" name="Rectangular Callout 35"/>
                <p:cNvSpPr/>
                <p:nvPr/>
              </p:nvSpPr>
              <p:spPr>
                <a:xfrm>
                  <a:off x="609600" y="1950418"/>
                  <a:ext cx="1676400" cy="716582"/>
                </a:xfrm>
                <a:prstGeom prst="wedgeRectCallout">
                  <a:avLst>
                    <a:gd name="adj1" fmla="val 57505"/>
                    <a:gd name="adj2" fmla="val 179845"/>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GB" dirty="0"/>
                    <a:t>Sample means</a:t>
                  </a:r>
                </a:p>
                <a:p>
                  <a:pPr algn="ctr"/>
                  <a:r>
                    <a:rPr lang="en-GB" dirty="0"/>
                    <a:t>SD (</a:t>
                  </a:r>
                  <a14:m>
                    <m:oMath xmlns:m="http://schemas.openxmlformats.org/officeDocument/2006/math">
                      <m:sSub>
                        <m:sSubPr>
                          <m:ctrlPr>
                            <a:rPr lang="en-GB" i="1">
                              <a:latin typeface="Cambria Math" panose="02040503050406030204" pitchFamily="18" charset="0"/>
                              <a:ea typeface="Cambria Math"/>
                            </a:rPr>
                          </m:ctrlPr>
                        </m:sSubPr>
                        <m:e>
                          <m:r>
                            <a:rPr lang="en-GB" i="1">
                              <a:latin typeface="Cambria Math"/>
                              <a:ea typeface="Cambria Math"/>
                            </a:rPr>
                            <m:t>𝜎</m:t>
                          </m:r>
                        </m:e>
                        <m:sub>
                          <m:acc>
                            <m:accPr>
                              <m:chr m:val="̅"/>
                              <m:ctrlPr>
                                <a:rPr lang="en-GB" i="1">
                                  <a:latin typeface="Cambria Math" panose="02040503050406030204" pitchFamily="18" charset="0"/>
                                  <a:ea typeface="Cambria Math"/>
                                </a:rPr>
                              </m:ctrlPr>
                            </m:accPr>
                            <m:e>
                              <m:r>
                                <a:rPr lang="en-GB" i="1">
                                  <a:latin typeface="Cambria Math"/>
                                  <a:ea typeface="Cambria Math"/>
                                </a:rPr>
                                <m:t>𝑥</m:t>
                              </m:r>
                            </m:e>
                          </m:acc>
                        </m:sub>
                      </m:sSub>
                    </m:oMath>
                  </a14:m>
                  <a:r>
                    <a:rPr lang="en-GB" dirty="0"/>
                    <a:t>)</a:t>
                  </a:r>
                </a:p>
              </p:txBody>
            </p:sp>
          </mc:Choice>
          <mc:Fallback xmlns="">
            <p:sp>
              <p:nvSpPr>
                <p:cNvPr id="36" name="Rectangular Callout 35"/>
                <p:cNvSpPr>
                  <a:spLocks noRot="1" noChangeAspect="1" noMove="1" noResize="1" noEditPoints="1" noAdjustHandles="1" noChangeArrowheads="1" noChangeShapeType="1" noTextEdit="1"/>
                </p:cNvSpPr>
                <p:nvPr/>
              </p:nvSpPr>
              <p:spPr>
                <a:xfrm>
                  <a:off x="609600" y="1950418"/>
                  <a:ext cx="1676400" cy="716582"/>
                </a:xfrm>
                <a:prstGeom prst="wedgeRectCallout">
                  <a:avLst>
                    <a:gd name="adj1" fmla="val 57505"/>
                    <a:gd name="adj2" fmla="val 179845"/>
                  </a:avLst>
                </a:prstGeom>
                <a:blipFill rotWithShape="1">
                  <a:blip r:embed="rId5"/>
                  <a:stretch>
                    <a:fillRect/>
                  </a:stretch>
                </a:blipFill>
              </p:spPr>
              <p:txBody>
                <a:bodyPr/>
                <a:lstStyle/>
                <a:p>
                  <a:r>
                    <a:rPr lang="en-GB">
                      <a:noFill/>
                    </a:rPr>
                    <a:t> </a:t>
                  </a:r>
                </a:p>
              </p:txBody>
            </p:sp>
          </mc:Fallback>
        </mc:AlternateContent>
        <p:grpSp>
          <p:nvGrpSpPr>
            <p:cNvPr id="37" name="Group 36"/>
            <p:cNvGrpSpPr/>
            <p:nvPr/>
          </p:nvGrpSpPr>
          <p:grpSpPr>
            <a:xfrm>
              <a:off x="2238908" y="3591128"/>
              <a:ext cx="275692" cy="218872"/>
              <a:chOff x="2133600" y="3514928"/>
              <a:chExt cx="570688" cy="447472"/>
            </a:xfrm>
          </p:grpSpPr>
          <p:cxnSp>
            <p:nvCxnSpPr>
              <p:cNvPr id="38" name="Straight Arrow Connector 37"/>
              <p:cNvCxnSpPr/>
              <p:nvPr/>
            </p:nvCxnSpPr>
            <p:spPr>
              <a:xfrm flipV="1">
                <a:off x="2704288" y="3521271"/>
                <a:ext cx="0" cy="441129"/>
              </a:xfrm>
              <a:prstGeom prst="straightConnector1">
                <a:avLst/>
              </a:prstGeom>
              <a:ln>
                <a:solidFill>
                  <a:srgbClr val="C00000"/>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9" name="Straight Arrow Connector 38"/>
              <p:cNvCxnSpPr/>
              <p:nvPr/>
            </p:nvCxnSpPr>
            <p:spPr>
              <a:xfrm flipV="1">
                <a:off x="2133600" y="3514928"/>
                <a:ext cx="0" cy="447472"/>
              </a:xfrm>
              <a:prstGeom prst="straightConnector1">
                <a:avLst/>
              </a:prstGeom>
              <a:ln>
                <a:solidFill>
                  <a:srgbClr val="C00000"/>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Arrow Connector 39"/>
              <p:cNvCxnSpPr/>
              <p:nvPr/>
            </p:nvCxnSpPr>
            <p:spPr>
              <a:xfrm>
                <a:off x="2152905" y="3733800"/>
                <a:ext cx="551383" cy="1"/>
              </a:xfrm>
              <a:prstGeom prst="straightConnector1">
                <a:avLst/>
              </a:prstGeom>
              <a:ln>
                <a:solidFill>
                  <a:srgbClr val="C00000"/>
                </a:solidFill>
                <a:headEnd type="arrow" w="med" len="med"/>
                <a:tailEnd type="arrow" w="med" len="med"/>
              </a:ln>
            </p:spPr>
            <p:style>
              <a:lnRef idx="1">
                <a:schemeClr val="dk1"/>
              </a:lnRef>
              <a:fillRef idx="0">
                <a:schemeClr val="dk1"/>
              </a:fillRef>
              <a:effectRef idx="0">
                <a:schemeClr val="dk1"/>
              </a:effectRef>
              <a:fontRef idx="minor">
                <a:schemeClr val="tx1"/>
              </a:fontRef>
            </p:style>
          </p:cxnSp>
        </p:grpSp>
      </p:grpSp>
      <p:grpSp>
        <p:nvGrpSpPr>
          <p:cNvPr id="43" name="Group 42"/>
          <p:cNvGrpSpPr/>
          <p:nvPr/>
        </p:nvGrpSpPr>
        <p:grpSpPr>
          <a:xfrm>
            <a:off x="2526774" y="3591128"/>
            <a:ext cx="275692" cy="218872"/>
            <a:chOff x="2133600" y="3514928"/>
            <a:chExt cx="570688" cy="447472"/>
          </a:xfrm>
        </p:grpSpPr>
        <p:cxnSp>
          <p:nvCxnSpPr>
            <p:cNvPr id="44" name="Straight Arrow Connector 43"/>
            <p:cNvCxnSpPr/>
            <p:nvPr/>
          </p:nvCxnSpPr>
          <p:spPr>
            <a:xfrm flipV="1">
              <a:off x="2704288" y="3521271"/>
              <a:ext cx="0" cy="441129"/>
            </a:xfrm>
            <a:prstGeom prst="straightConnector1">
              <a:avLst/>
            </a:prstGeom>
            <a:ln>
              <a:solidFill>
                <a:srgbClr val="C00000"/>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 name="Straight Arrow Connector 44"/>
            <p:cNvCxnSpPr/>
            <p:nvPr/>
          </p:nvCxnSpPr>
          <p:spPr>
            <a:xfrm flipV="1">
              <a:off x="2133600" y="3514928"/>
              <a:ext cx="0" cy="447472"/>
            </a:xfrm>
            <a:prstGeom prst="straightConnector1">
              <a:avLst/>
            </a:prstGeom>
            <a:ln>
              <a:solidFill>
                <a:srgbClr val="C00000"/>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Straight Arrow Connector 45"/>
            <p:cNvCxnSpPr/>
            <p:nvPr/>
          </p:nvCxnSpPr>
          <p:spPr>
            <a:xfrm>
              <a:off x="2152905" y="3733800"/>
              <a:ext cx="551383" cy="1"/>
            </a:xfrm>
            <a:prstGeom prst="straightConnector1">
              <a:avLst/>
            </a:prstGeom>
            <a:ln>
              <a:solidFill>
                <a:srgbClr val="C00000"/>
              </a:solidFill>
              <a:headEnd type="arrow" w="med" len="med"/>
              <a:tailEnd type="arrow" w="med" len="med"/>
            </a:ln>
          </p:spPr>
          <p:style>
            <a:lnRef idx="1">
              <a:schemeClr val="dk1"/>
            </a:lnRef>
            <a:fillRef idx="0">
              <a:schemeClr val="dk1"/>
            </a:fillRef>
            <a:effectRef idx="0">
              <a:schemeClr val="dk1"/>
            </a:effectRef>
            <a:fontRef idx="minor">
              <a:schemeClr val="tx1"/>
            </a:fontRef>
          </p:style>
        </p:cxnSp>
      </p:grpSp>
      <p:cxnSp>
        <p:nvCxnSpPr>
          <p:cNvPr id="47" name="Straight Arrow Connector 46"/>
          <p:cNvCxnSpPr/>
          <p:nvPr/>
        </p:nvCxnSpPr>
        <p:spPr>
          <a:xfrm>
            <a:off x="3363677" y="3286028"/>
            <a:ext cx="0" cy="1021848"/>
          </a:xfrm>
          <a:prstGeom prst="straightConnector1">
            <a:avLst/>
          </a:prstGeom>
          <a:ln w="38100">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grpSp>
        <p:nvGrpSpPr>
          <p:cNvPr id="4" name="Group 3"/>
          <p:cNvGrpSpPr/>
          <p:nvPr/>
        </p:nvGrpSpPr>
        <p:grpSpPr>
          <a:xfrm>
            <a:off x="2286000" y="4277380"/>
            <a:ext cx="1388351" cy="828020"/>
            <a:chOff x="2286000" y="4277380"/>
            <a:chExt cx="1388351" cy="828020"/>
          </a:xfrm>
        </p:grpSpPr>
        <mc:AlternateContent xmlns:mc="http://schemas.openxmlformats.org/markup-compatibility/2006" xmlns:a14="http://schemas.microsoft.com/office/drawing/2010/main">
          <mc:Choice Requires="a14">
            <p:sp>
              <p:nvSpPr>
                <p:cNvPr id="23" name="TextBox 22"/>
                <p:cNvSpPr txBox="1"/>
                <p:nvPr/>
              </p:nvSpPr>
              <p:spPr>
                <a:xfrm>
                  <a:off x="2286000" y="4582180"/>
                  <a:ext cx="494046" cy="523220"/>
                </a:xfrm>
                <a:prstGeom prst="rect">
                  <a:avLst/>
                </a:prstGeom>
                <a:no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800" b="1" i="1" smtClean="0">
                            <a:solidFill>
                              <a:schemeClr val="tx1"/>
                            </a:solidFill>
                            <a:latin typeface="Cambria Math"/>
                            <a:ea typeface="Cambria Math"/>
                          </a:rPr>
                          <m:t>𝝁</m:t>
                        </m:r>
                      </m:oMath>
                    </m:oMathPara>
                  </a14:m>
                  <a:endParaRPr lang="en-GB" sz="2800" b="1" dirty="0">
                    <a:solidFill>
                      <a:schemeClr val="tx1"/>
                    </a:solidFill>
                  </a:endParaRPr>
                </a:p>
              </p:txBody>
            </p:sp>
          </mc:Choice>
          <mc:Fallback xmlns="">
            <p:sp>
              <p:nvSpPr>
                <p:cNvPr id="23" name="TextBox 22"/>
                <p:cNvSpPr txBox="1">
                  <a:spLocks noRot="1" noChangeAspect="1" noMove="1" noResize="1" noEditPoints="1" noAdjustHandles="1" noChangeArrowheads="1" noChangeShapeType="1" noTextEdit="1"/>
                </p:cNvSpPr>
                <p:nvPr/>
              </p:nvSpPr>
              <p:spPr>
                <a:xfrm>
                  <a:off x="2286000" y="4582180"/>
                  <a:ext cx="494046" cy="523220"/>
                </a:xfrm>
                <a:prstGeom prst="rect">
                  <a:avLst/>
                </a:prstGeom>
                <a:blipFill rotWithShape="1">
                  <a:blip r:embed="rId6"/>
                  <a:stretch>
                    <a:fillRect/>
                  </a:stretch>
                </a:blipFill>
                <a:ln>
                  <a:noFill/>
                </a:ln>
              </p:spPr>
              <p:txBody>
                <a:bodyPr/>
                <a:lstStyle/>
                <a:p>
                  <a:r>
                    <a:rPr lang="en-GB">
                      <a:noFill/>
                    </a:rPr>
                    <a:t> </a:t>
                  </a:r>
                </a:p>
              </p:txBody>
            </p:sp>
          </mc:Fallback>
        </mc:AlternateContent>
        <p:sp>
          <p:nvSpPr>
            <p:cNvPr id="24" name="TextBox 23"/>
            <p:cNvSpPr txBox="1"/>
            <p:nvPr/>
          </p:nvSpPr>
          <p:spPr>
            <a:xfrm>
              <a:off x="2286000" y="4277380"/>
              <a:ext cx="550151" cy="523220"/>
            </a:xfrm>
            <a:prstGeom prst="rect">
              <a:avLst/>
            </a:prstGeom>
            <a:noFill/>
            <a:ln>
              <a:noFill/>
            </a:ln>
          </p:spPr>
          <p:txBody>
            <a:bodyPr wrap="none" rtlCol="0">
              <a:spAutoFit/>
            </a:bodyPr>
            <a:lstStyle/>
            <a:p>
              <a:r>
                <a:rPr lang="en-GB" sz="2800" b="1" dirty="0"/>
                <a:t>40</a:t>
              </a:r>
            </a:p>
          </p:txBody>
        </p:sp>
        <mc:AlternateContent xmlns:mc="http://schemas.openxmlformats.org/markup-compatibility/2006" xmlns:a14="http://schemas.microsoft.com/office/drawing/2010/main">
          <mc:Choice Requires="a14">
            <p:sp>
              <p:nvSpPr>
                <p:cNvPr id="48" name="TextBox 47"/>
                <p:cNvSpPr txBox="1"/>
                <p:nvPr/>
              </p:nvSpPr>
              <p:spPr>
                <a:xfrm>
                  <a:off x="3124200" y="4582180"/>
                  <a:ext cx="473206"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GB" sz="2800" b="1" i="1" smtClean="0">
                                <a:solidFill>
                                  <a:schemeClr val="accent1"/>
                                </a:solidFill>
                                <a:latin typeface="Cambria Math" panose="02040503050406030204" pitchFamily="18" charset="0"/>
                              </a:rPr>
                            </m:ctrlPr>
                          </m:accPr>
                          <m:e>
                            <m:r>
                              <a:rPr lang="en-GB" sz="2800" b="1" i="1" smtClean="0">
                                <a:solidFill>
                                  <a:schemeClr val="accent1"/>
                                </a:solidFill>
                                <a:latin typeface="Cambria Math"/>
                              </a:rPr>
                              <m:t>𝒙</m:t>
                            </m:r>
                          </m:e>
                        </m:acc>
                      </m:oMath>
                    </m:oMathPara>
                  </a14:m>
                  <a:endParaRPr lang="en-GB" sz="2800" b="1" dirty="0">
                    <a:solidFill>
                      <a:schemeClr val="accent1"/>
                    </a:solidFill>
                  </a:endParaRPr>
                </a:p>
              </p:txBody>
            </p:sp>
          </mc:Choice>
          <mc:Fallback xmlns="">
            <p:sp>
              <p:nvSpPr>
                <p:cNvPr id="48" name="TextBox 47"/>
                <p:cNvSpPr txBox="1">
                  <a:spLocks noRot="1" noChangeAspect="1" noMove="1" noResize="1" noEditPoints="1" noAdjustHandles="1" noChangeArrowheads="1" noChangeShapeType="1" noTextEdit="1"/>
                </p:cNvSpPr>
                <p:nvPr/>
              </p:nvSpPr>
              <p:spPr>
                <a:xfrm>
                  <a:off x="3124200" y="4582180"/>
                  <a:ext cx="473206" cy="523220"/>
                </a:xfrm>
                <a:prstGeom prst="rect">
                  <a:avLst/>
                </a:prstGeom>
                <a:blipFill rotWithShape="1">
                  <a:blip r:embed="rId7"/>
                  <a:stretch>
                    <a:fillRect/>
                  </a:stretch>
                </a:blipFill>
              </p:spPr>
              <p:txBody>
                <a:bodyPr/>
                <a:lstStyle/>
                <a:p>
                  <a:r>
                    <a:rPr lang="en-GB">
                      <a:noFill/>
                    </a:rPr>
                    <a:t> </a:t>
                  </a:r>
                </a:p>
              </p:txBody>
            </p:sp>
          </mc:Fallback>
        </mc:AlternateContent>
        <p:sp>
          <p:nvSpPr>
            <p:cNvPr id="49" name="TextBox 48"/>
            <p:cNvSpPr txBox="1"/>
            <p:nvPr/>
          </p:nvSpPr>
          <p:spPr>
            <a:xfrm>
              <a:off x="3124200" y="4277380"/>
              <a:ext cx="550151" cy="523220"/>
            </a:xfrm>
            <a:prstGeom prst="rect">
              <a:avLst/>
            </a:prstGeom>
            <a:noFill/>
          </p:spPr>
          <p:txBody>
            <a:bodyPr wrap="none" rtlCol="0">
              <a:spAutoFit/>
            </a:bodyPr>
            <a:lstStyle/>
            <a:p>
              <a:r>
                <a:rPr lang="en-GB" sz="2800" b="1" dirty="0">
                  <a:solidFill>
                    <a:schemeClr val="accent1"/>
                  </a:solidFill>
                </a:rPr>
                <a:t>50</a:t>
              </a:r>
            </a:p>
          </p:txBody>
        </p:sp>
      </p:grpSp>
      <p:grpSp>
        <p:nvGrpSpPr>
          <p:cNvPr id="34" name="Group 33"/>
          <p:cNvGrpSpPr/>
          <p:nvPr/>
        </p:nvGrpSpPr>
        <p:grpSpPr>
          <a:xfrm>
            <a:off x="6248400" y="152400"/>
            <a:ext cx="2743199" cy="1908943"/>
            <a:chOff x="925287" y="1143000"/>
            <a:chExt cx="6618513" cy="2637042"/>
          </a:xfrm>
          <a:solidFill>
            <a:schemeClr val="bg1">
              <a:lumMod val="95000"/>
            </a:schemeClr>
          </a:solidFill>
        </p:grpSpPr>
        <p:grpSp>
          <p:nvGrpSpPr>
            <p:cNvPr id="41" name="Group 40"/>
            <p:cNvGrpSpPr/>
            <p:nvPr/>
          </p:nvGrpSpPr>
          <p:grpSpPr>
            <a:xfrm>
              <a:off x="925287" y="1143000"/>
              <a:ext cx="6618513" cy="958268"/>
              <a:chOff x="-65314" y="1093291"/>
              <a:chExt cx="6618513" cy="958268"/>
            </a:xfrm>
            <a:grpFill/>
          </p:grpSpPr>
          <p:sp>
            <p:nvSpPr>
              <p:cNvPr id="61" name="Freeform 60"/>
              <p:cNvSpPr/>
              <p:nvPr/>
            </p:nvSpPr>
            <p:spPr>
              <a:xfrm>
                <a:off x="-65314" y="1093291"/>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solidFill>
                <a:schemeClr val="accent1"/>
              </a:solidFill>
              <a:ln>
                <a:solidFill>
                  <a:schemeClr val="accent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chemeClr val="bg1"/>
                    </a:solidFill>
                  </a:rPr>
                  <a:t>1</a:t>
                </a:r>
              </a:p>
            </p:txBody>
          </p:sp>
          <p:sp>
            <p:nvSpPr>
              <p:cNvPr id="62" name="Freeform 61"/>
              <p:cNvSpPr/>
              <p:nvPr/>
            </p:nvSpPr>
            <p:spPr>
              <a:xfrm>
                <a:off x="1127986" y="1093293"/>
                <a:ext cx="5425213" cy="622873"/>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solidFill>
                <a:schemeClr val="bg1"/>
              </a:solidFill>
              <a:ln>
                <a:solidFill>
                  <a:schemeClr val="accent1"/>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1" numCol="1" spcCol="1270" anchor="ctr" anchorCtr="0">
                <a:noAutofit/>
              </a:bodyPr>
              <a:lstStyle/>
              <a:p>
                <a:pPr marL="0" lvl="1" algn="l" defTabSz="755650">
                  <a:lnSpc>
                    <a:spcPct val="90000"/>
                  </a:lnSpc>
                  <a:spcBef>
                    <a:spcPct val="0"/>
                  </a:spcBef>
                  <a:spcAft>
                    <a:spcPct val="15000"/>
                  </a:spcAft>
                </a:pPr>
                <a:r>
                  <a:rPr lang="en-GB" sz="1600" kern="1200" dirty="0">
                    <a:solidFill>
                      <a:schemeClr val="tx1"/>
                    </a:solidFill>
                  </a:rPr>
                  <a:t>State your null hypothesis (H</a:t>
                </a:r>
                <a:r>
                  <a:rPr lang="en-GB" sz="1600" kern="1200" baseline="-25000" dirty="0">
                    <a:solidFill>
                      <a:schemeClr val="tx1"/>
                    </a:solidFill>
                  </a:rPr>
                  <a:t>0</a:t>
                </a:r>
                <a:r>
                  <a:rPr lang="en-GB" sz="1600" kern="1200" baseline="0" dirty="0">
                    <a:solidFill>
                      <a:schemeClr val="tx1"/>
                    </a:solidFill>
                  </a:rPr>
                  <a:t>)</a:t>
                </a:r>
              </a:p>
            </p:txBody>
          </p:sp>
        </p:grpSp>
        <p:grpSp>
          <p:nvGrpSpPr>
            <p:cNvPr id="42" name="Group 41"/>
            <p:cNvGrpSpPr/>
            <p:nvPr/>
          </p:nvGrpSpPr>
          <p:grpSpPr>
            <a:xfrm>
              <a:off x="925287" y="1982387"/>
              <a:ext cx="6618513" cy="958268"/>
              <a:chOff x="-65314" y="1932678"/>
              <a:chExt cx="6618513" cy="958268"/>
            </a:xfrm>
            <a:grpFill/>
          </p:grpSpPr>
          <p:sp>
            <p:nvSpPr>
              <p:cNvPr id="59" name="Freeform 58"/>
              <p:cNvSpPr/>
              <p:nvPr/>
            </p:nvSpPr>
            <p:spPr>
              <a:xfrm>
                <a:off x="-65314" y="1932678"/>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solidFill>
                <a:schemeClr val="accent1"/>
              </a:solidFill>
              <a:ln>
                <a:solidFill>
                  <a:schemeClr val="accent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chemeClr val="bg1"/>
                    </a:solidFill>
                  </a:rPr>
                  <a:t>2</a:t>
                </a:r>
              </a:p>
            </p:txBody>
          </p:sp>
          <p:sp>
            <p:nvSpPr>
              <p:cNvPr id="60" name="Freeform 59"/>
              <p:cNvSpPr/>
              <p:nvPr/>
            </p:nvSpPr>
            <p:spPr>
              <a:xfrm>
                <a:off x="1127986" y="1932680"/>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solidFill>
                <a:schemeClr val="bg1"/>
              </a:solidFill>
              <a:ln>
                <a:solidFill>
                  <a:schemeClr val="accent1"/>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defTabSz="755650">
                  <a:lnSpc>
                    <a:spcPct val="90000"/>
                  </a:lnSpc>
                  <a:spcBef>
                    <a:spcPct val="0"/>
                  </a:spcBef>
                  <a:spcAft>
                    <a:spcPct val="15000"/>
                  </a:spcAft>
                </a:pPr>
                <a:r>
                  <a:rPr lang="en-GB" sz="1600" b="1" dirty="0">
                    <a:solidFill>
                      <a:schemeClr val="tx1"/>
                    </a:solidFill>
                  </a:rPr>
                  <a:t>Calculate test statistic </a:t>
                </a:r>
                <a:r>
                  <a:rPr lang="en-GB" sz="1600" dirty="0">
                    <a:solidFill>
                      <a:schemeClr val="tx1"/>
                    </a:solidFill>
                  </a:rPr>
                  <a:t>from data (stat.)</a:t>
                </a:r>
              </a:p>
            </p:txBody>
          </p:sp>
        </p:grpSp>
        <p:grpSp>
          <p:nvGrpSpPr>
            <p:cNvPr id="50" name="Group 49"/>
            <p:cNvGrpSpPr/>
            <p:nvPr/>
          </p:nvGrpSpPr>
          <p:grpSpPr>
            <a:xfrm>
              <a:off x="925287" y="2821774"/>
              <a:ext cx="6618513" cy="958268"/>
              <a:chOff x="-65314" y="2772065"/>
              <a:chExt cx="6618513" cy="958268"/>
            </a:xfrm>
            <a:grpFill/>
          </p:grpSpPr>
          <p:sp>
            <p:nvSpPr>
              <p:cNvPr id="57" name="Freeform 56"/>
              <p:cNvSpPr/>
              <p:nvPr/>
            </p:nvSpPr>
            <p:spPr>
              <a:xfrm>
                <a:off x="-65314" y="2772065"/>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solidFill>
                <a:schemeClr val="accent1"/>
              </a:solidFill>
              <a:ln>
                <a:solidFill>
                  <a:schemeClr val="accent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chemeClr val="bg1"/>
                    </a:solidFill>
                  </a:rPr>
                  <a:t>3</a:t>
                </a:r>
              </a:p>
            </p:txBody>
          </p:sp>
          <p:sp>
            <p:nvSpPr>
              <p:cNvPr id="58" name="Freeform 57"/>
              <p:cNvSpPr/>
              <p:nvPr/>
            </p:nvSpPr>
            <p:spPr>
              <a:xfrm>
                <a:off x="1127986" y="2772067"/>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solidFill>
                <a:schemeClr val="bg1"/>
              </a:solidFill>
              <a:ln>
                <a:solidFill>
                  <a:schemeClr val="accent1"/>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defTabSz="755650">
                  <a:lnSpc>
                    <a:spcPct val="90000"/>
                  </a:lnSpc>
                  <a:spcBef>
                    <a:spcPct val="0"/>
                  </a:spcBef>
                  <a:spcAft>
                    <a:spcPct val="15000"/>
                  </a:spcAft>
                </a:pPr>
                <a:r>
                  <a:rPr lang="en-GB" sz="1600" b="1" dirty="0">
                    <a:solidFill>
                      <a:schemeClr val="tx1"/>
                    </a:solidFill>
                  </a:rPr>
                  <a:t>Choose </a:t>
                </a:r>
                <a:r>
                  <a:rPr lang="en-GB" sz="1600" dirty="0">
                    <a:solidFill>
                      <a:schemeClr val="tx1"/>
                    </a:solidFill>
                  </a:rPr>
                  <a:t>a level of </a:t>
                </a:r>
                <a:r>
                  <a:rPr lang="en-GB" sz="1600" b="1" dirty="0">
                    <a:solidFill>
                      <a:schemeClr val="tx1"/>
                    </a:solidFill>
                  </a:rPr>
                  <a:t>significance</a:t>
                </a:r>
                <a:r>
                  <a:rPr lang="en-GB" sz="1600" dirty="0">
                    <a:solidFill>
                      <a:schemeClr val="tx1"/>
                    </a:solidFill>
                  </a:rPr>
                  <a:t> (</a:t>
                </a:r>
                <a:r>
                  <a:rPr lang="el-GR" sz="1600" dirty="0">
                    <a:solidFill>
                      <a:schemeClr val="tx1"/>
                    </a:solidFill>
                  </a:rPr>
                  <a:t>α</a:t>
                </a:r>
                <a:r>
                  <a:rPr lang="en-GB" sz="1600" dirty="0">
                    <a:solidFill>
                      <a:schemeClr val="tx1"/>
                    </a:solidFill>
                  </a:rPr>
                  <a:t>)</a:t>
                </a:r>
              </a:p>
            </p:txBody>
          </p:sp>
        </p:grpSp>
      </p:grpSp>
    </p:spTree>
    <p:extLst>
      <p:ext uri="{BB962C8B-B14F-4D97-AF65-F5344CB8AC3E}">
        <p14:creationId xmlns:p14="http://schemas.microsoft.com/office/powerpoint/2010/main" val="5495744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xplosion 1 2"/>
          <p:cNvSpPr/>
          <p:nvPr/>
        </p:nvSpPr>
        <p:spPr>
          <a:xfrm>
            <a:off x="2998060" y="1399342"/>
            <a:ext cx="4164740" cy="2334458"/>
          </a:xfrm>
          <a:prstGeom prst="irregularSeal1">
            <a:avLst/>
          </a:prstGeom>
          <a:solidFill>
            <a:schemeClr val="accent3">
              <a:lumMod val="20000"/>
              <a:lumOff val="80000"/>
            </a:schemeClr>
          </a:solidFill>
          <a:ln>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dirty="0">
                <a:solidFill>
                  <a:schemeClr val="accent3">
                    <a:lumMod val="50000"/>
                  </a:schemeClr>
                </a:solidFill>
              </a:rPr>
              <a:t>n&gt;30 so we can comfortably use normal distribution</a:t>
            </a:r>
          </a:p>
        </p:txBody>
      </p:sp>
      <p:grpSp>
        <p:nvGrpSpPr>
          <p:cNvPr id="17" name="Group 16"/>
          <p:cNvGrpSpPr/>
          <p:nvPr/>
        </p:nvGrpSpPr>
        <p:grpSpPr>
          <a:xfrm>
            <a:off x="6248400" y="152400"/>
            <a:ext cx="2743199" cy="2516571"/>
            <a:chOff x="925287" y="1143000"/>
            <a:chExt cx="6618513" cy="3476429"/>
          </a:xfrm>
          <a:solidFill>
            <a:schemeClr val="bg1">
              <a:lumMod val="95000"/>
            </a:schemeClr>
          </a:solidFill>
        </p:grpSpPr>
        <p:grpSp>
          <p:nvGrpSpPr>
            <p:cNvPr id="18" name="Group 17"/>
            <p:cNvGrpSpPr/>
            <p:nvPr/>
          </p:nvGrpSpPr>
          <p:grpSpPr>
            <a:xfrm>
              <a:off x="925287" y="1143000"/>
              <a:ext cx="6618513" cy="958268"/>
              <a:chOff x="-65314" y="1093291"/>
              <a:chExt cx="6618513" cy="958268"/>
            </a:xfrm>
            <a:grpFill/>
          </p:grpSpPr>
          <p:sp>
            <p:nvSpPr>
              <p:cNvPr id="31" name="Freeform 30"/>
              <p:cNvSpPr/>
              <p:nvPr/>
            </p:nvSpPr>
            <p:spPr>
              <a:xfrm>
                <a:off x="-65314" y="1093291"/>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grpFill/>
              <a:ln>
                <a:solidFill>
                  <a:schemeClr val="bg1">
                    <a:lumMod val="95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chemeClr val="bg1">
                        <a:lumMod val="65000"/>
                      </a:schemeClr>
                    </a:solidFill>
                  </a:rPr>
                  <a:t>1</a:t>
                </a:r>
              </a:p>
            </p:txBody>
          </p:sp>
          <p:sp>
            <p:nvSpPr>
              <p:cNvPr id="32" name="Freeform 31"/>
              <p:cNvSpPr/>
              <p:nvPr/>
            </p:nvSpPr>
            <p:spPr>
              <a:xfrm>
                <a:off x="1127986" y="1093293"/>
                <a:ext cx="5425213" cy="622873"/>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grpFill/>
              <a:ln>
                <a:solidFill>
                  <a:schemeClr val="bg1">
                    <a:lumMod val="95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1" numCol="1" spcCol="1270" anchor="ctr" anchorCtr="0">
                <a:noAutofit/>
              </a:bodyPr>
              <a:lstStyle/>
              <a:p>
                <a:pPr marL="0" lvl="1" algn="l" defTabSz="755650">
                  <a:lnSpc>
                    <a:spcPct val="90000"/>
                  </a:lnSpc>
                  <a:spcBef>
                    <a:spcPct val="0"/>
                  </a:spcBef>
                  <a:spcAft>
                    <a:spcPct val="15000"/>
                  </a:spcAft>
                </a:pPr>
                <a:r>
                  <a:rPr lang="en-GB" sz="1600" kern="1200" dirty="0">
                    <a:solidFill>
                      <a:schemeClr val="bg1">
                        <a:lumMod val="65000"/>
                      </a:schemeClr>
                    </a:solidFill>
                  </a:rPr>
                  <a:t>State your null hypothesis (H</a:t>
                </a:r>
                <a:r>
                  <a:rPr lang="en-GB" sz="1600" kern="1200" baseline="-25000" dirty="0">
                    <a:solidFill>
                      <a:schemeClr val="bg1">
                        <a:lumMod val="65000"/>
                      </a:schemeClr>
                    </a:solidFill>
                  </a:rPr>
                  <a:t>0</a:t>
                </a:r>
                <a:r>
                  <a:rPr lang="en-GB" sz="1600" kern="1200" baseline="0" dirty="0">
                    <a:solidFill>
                      <a:schemeClr val="bg1">
                        <a:lumMod val="65000"/>
                      </a:schemeClr>
                    </a:solidFill>
                  </a:rPr>
                  <a:t>)</a:t>
                </a:r>
              </a:p>
            </p:txBody>
          </p:sp>
        </p:grpSp>
        <p:grpSp>
          <p:nvGrpSpPr>
            <p:cNvPr id="19" name="Group 18"/>
            <p:cNvGrpSpPr/>
            <p:nvPr/>
          </p:nvGrpSpPr>
          <p:grpSpPr>
            <a:xfrm>
              <a:off x="925287" y="1982387"/>
              <a:ext cx="6618513" cy="958268"/>
              <a:chOff x="-65314" y="1932678"/>
              <a:chExt cx="6618513" cy="958268"/>
            </a:xfrm>
            <a:grpFill/>
          </p:grpSpPr>
          <p:sp>
            <p:nvSpPr>
              <p:cNvPr id="29" name="Freeform 28"/>
              <p:cNvSpPr/>
              <p:nvPr/>
            </p:nvSpPr>
            <p:spPr>
              <a:xfrm>
                <a:off x="-65314" y="1932678"/>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solidFill>
                <a:schemeClr val="accent1"/>
              </a:solidFill>
              <a:ln>
                <a:solidFill>
                  <a:schemeClr val="accent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chemeClr val="bg1"/>
                    </a:solidFill>
                  </a:rPr>
                  <a:t>2</a:t>
                </a:r>
              </a:p>
            </p:txBody>
          </p:sp>
          <p:sp>
            <p:nvSpPr>
              <p:cNvPr id="30" name="Freeform 29"/>
              <p:cNvSpPr/>
              <p:nvPr/>
            </p:nvSpPr>
            <p:spPr>
              <a:xfrm>
                <a:off x="1127986" y="1932680"/>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solidFill>
                <a:schemeClr val="bg1"/>
              </a:solidFill>
              <a:ln>
                <a:solidFill>
                  <a:schemeClr val="accent1"/>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defTabSz="755650">
                  <a:lnSpc>
                    <a:spcPct val="90000"/>
                  </a:lnSpc>
                  <a:spcBef>
                    <a:spcPct val="0"/>
                  </a:spcBef>
                  <a:spcAft>
                    <a:spcPct val="15000"/>
                  </a:spcAft>
                </a:pPr>
                <a:r>
                  <a:rPr lang="en-GB" sz="1600" b="1" dirty="0">
                    <a:solidFill>
                      <a:schemeClr val="tx1"/>
                    </a:solidFill>
                  </a:rPr>
                  <a:t>Calculate test statistic </a:t>
                </a:r>
                <a:r>
                  <a:rPr lang="en-GB" sz="1600" dirty="0">
                    <a:solidFill>
                      <a:schemeClr val="tx1"/>
                    </a:solidFill>
                  </a:rPr>
                  <a:t>from data (stat.)</a:t>
                </a:r>
              </a:p>
            </p:txBody>
          </p:sp>
        </p:grpSp>
        <p:grpSp>
          <p:nvGrpSpPr>
            <p:cNvPr id="20" name="Group 19"/>
            <p:cNvGrpSpPr/>
            <p:nvPr/>
          </p:nvGrpSpPr>
          <p:grpSpPr>
            <a:xfrm>
              <a:off x="925287" y="2821774"/>
              <a:ext cx="6618513" cy="958268"/>
              <a:chOff x="-65314" y="2772065"/>
              <a:chExt cx="6618513" cy="958268"/>
            </a:xfrm>
            <a:grpFill/>
          </p:grpSpPr>
          <p:sp>
            <p:nvSpPr>
              <p:cNvPr id="27" name="Freeform 26"/>
              <p:cNvSpPr/>
              <p:nvPr/>
            </p:nvSpPr>
            <p:spPr>
              <a:xfrm>
                <a:off x="-65314" y="2772065"/>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solidFill>
                <a:schemeClr val="accent1"/>
              </a:solidFill>
              <a:ln>
                <a:solidFill>
                  <a:schemeClr val="accent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chemeClr val="bg1"/>
                    </a:solidFill>
                  </a:rPr>
                  <a:t>3</a:t>
                </a:r>
              </a:p>
            </p:txBody>
          </p:sp>
          <p:sp>
            <p:nvSpPr>
              <p:cNvPr id="28" name="Freeform 27"/>
              <p:cNvSpPr/>
              <p:nvPr/>
            </p:nvSpPr>
            <p:spPr>
              <a:xfrm>
                <a:off x="1127986" y="2772067"/>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solidFill>
                <a:schemeClr val="bg1"/>
              </a:solidFill>
              <a:ln>
                <a:solidFill>
                  <a:schemeClr val="accent1"/>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defTabSz="755650">
                  <a:lnSpc>
                    <a:spcPct val="90000"/>
                  </a:lnSpc>
                  <a:spcBef>
                    <a:spcPct val="0"/>
                  </a:spcBef>
                  <a:spcAft>
                    <a:spcPct val="15000"/>
                  </a:spcAft>
                </a:pPr>
                <a:r>
                  <a:rPr lang="en-GB" sz="1600" b="1" dirty="0">
                    <a:solidFill>
                      <a:schemeClr val="tx1"/>
                    </a:solidFill>
                  </a:rPr>
                  <a:t>Choose </a:t>
                </a:r>
                <a:r>
                  <a:rPr lang="en-GB" sz="1600" dirty="0">
                    <a:solidFill>
                      <a:schemeClr val="tx1"/>
                    </a:solidFill>
                  </a:rPr>
                  <a:t>a level of </a:t>
                </a:r>
                <a:r>
                  <a:rPr lang="en-GB" sz="1600" b="1" dirty="0">
                    <a:solidFill>
                      <a:schemeClr val="tx1"/>
                    </a:solidFill>
                  </a:rPr>
                  <a:t>significance</a:t>
                </a:r>
                <a:r>
                  <a:rPr lang="en-GB" sz="1600" dirty="0">
                    <a:solidFill>
                      <a:schemeClr val="tx1"/>
                    </a:solidFill>
                  </a:rPr>
                  <a:t> (</a:t>
                </a:r>
                <a:r>
                  <a:rPr lang="el-GR" sz="1600" dirty="0">
                    <a:solidFill>
                      <a:schemeClr val="tx1"/>
                    </a:solidFill>
                  </a:rPr>
                  <a:t>α</a:t>
                </a:r>
                <a:r>
                  <a:rPr lang="en-GB" sz="1600" dirty="0">
                    <a:solidFill>
                      <a:schemeClr val="tx1"/>
                    </a:solidFill>
                  </a:rPr>
                  <a:t>)</a:t>
                </a:r>
              </a:p>
            </p:txBody>
          </p:sp>
        </p:grpSp>
        <p:grpSp>
          <p:nvGrpSpPr>
            <p:cNvPr id="21" name="Group 20"/>
            <p:cNvGrpSpPr/>
            <p:nvPr/>
          </p:nvGrpSpPr>
          <p:grpSpPr>
            <a:xfrm>
              <a:off x="925287" y="3661161"/>
              <a:ext cx="6618513" cy="958268"/>
              <a:chOff x="-65314" y="3611452"/>
              <a:chExt cx="6618513" cy="958268"/>
            </a:xfrm>
            <a:grpFill/>
          </p:grpSpPr>
          <p:sp>
            <p:nvSpPr>
              <p:cNvPr id="25" name="Freeform 24"/>
              <p:cNvSpPr/>
              <p:nvPr/>
            </p:nvSpPr>
            <p:spPr>
              <a:xfrm>
                <a:off x="-65314" y="3611452"/>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solidFill>
                <a:schemeClr val="accent1"/>
              </a:solidFill>
              <a:ln>
                <a:solidFill>
                  <a:schemeClr val="accent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baseline="0" dirty="0">
                    <a:solidFill>
                      <a:schemeClr val="bg1"/>
                    </a:solidFill>
                  </a:rPr>
                  <a:t>4</a:t>
                </a:r>
              </a:p>
            </p:txBody>
          </p:sp>
          <p:sp>
            <p:nvSpPr>
              <p:cNvPr id="26" name="Freeform 25"/>
              <p:cNvSpPr/>
              <p:nvPr/>
            </p:nvSpPr>
            <p:spPr>
              <a:xfrm>
                <a:off x="1127986" y="3611453"/>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solidFill>
                <a:schemeClr val="bg1"/>
              </a:solidFill>
              <a:ln>
                <a:solidFill>
                  <a:schemeClr val="accent1"/>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algn="l" defTabSz="755650">
                  <a:lnSpc>
                    <a:spcPct val="90000"/>
                  </a:lnSpc>
                  <a:spcBef>
                    <a:spcPct val="0"/>
                  </a:spcBef>
                  <a:spcAft>
                    <a:spcPct val="15000"/>
                  </a:spcAft>
                </a:pPr>
                <a:r>
                  <a:rPr lang="en-GB" sz="1600" b="1" kern="1200" baseline="0" dirty="0">
                    <a:solidFill>
                      <a:schemeClr val="tx1"/>
                    </a:solidFill>
                  </a:rPr>
                  <a:t>Lookup </a:t>
                </a:r>
                <a:r>
                  <a:rPr lang="en-GB" sz="1600" kern="1200" baseline="0" dirty="0">
                    <a:solidFill>
                      <a:schemeClr val="tx1"/>
                    </a:solidFill>
                  </a:rPr>
                  <a:t>for the</a:t>
                </a:r>
                <a:r>
                  <a:rPr lang="en-GB" sz="1600" b="1" kern="1200" baseline="0" dirty="0">
                    <a:solidFill>
                      <a:schemeClr val="tx1"/>
                    </a:solidFill>
                  </a:rPr>
                  <a:t> </a:t>
                </a:r>
                <a:r>
                  <a:rPr lang="en-GB" sz="1600" b="0" kern="1200" baseline="0" dirty="0">
                    <a:solidFill>
                      <a:schemeClr val="tx1"/>
                    </a:solidFill>
                  </a:rPr>
                  <a:t>critical value</a:t>
                </a:r>
                <a:endParaRPr lang="en-GB" sz="1600" kern="1200" baseline="0" dirty="0">
                  <a:solidFill>
                    <a:schemeClr val="tx1"/>
                  </a:solidFill>
                </a:endParaRPr>
              </a:p>
            </p:txBody>
          </p:sp>
        </p:grpSp>
      </p:grpSp>
      <p:grpSp>
        <p:nvGrpSpPr>
          <p:cNvPr id="33" name="Group 32"/>
          <p:cNvGrpSpPr/>
          <p:nvPr/>
        </p:nvGrpSpPr>
        <p:grpSpPr>
          <a:xfrm>
            <a:off x="6248400" y="152399"/>
            <a:ext cx="2743199" cy="693685"/>
            <a:chOff x="-65314" y="1093291"/>
            <a:chExt cx="6618513" cy="958268"/>
          </a:xfrm>
        </p:grpSpPr>
        <p:sp>
          <p:nvSpPr>
            <p:cNvPr id="34" name="Freeform 33"/>
            <p:cNvSpPr/>
            <p:nvPr/>
          </p:nvSpPr>
          <p:spPr>
            <a:xfrm>
              <a:off x="-65314" y="1093291"/>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t>1</a:t>
              </a:r>
            </a:p>
          </p:txBody>
        </p:sp>
        <p:sp>
          <p:nvSpPr>
            <p:cNvPr id="35" name="Freeform 34"/>
            <p:cNvSpPr/>
            <p:nvPr/>
          </p:nvSpPr>
          <p:spPr>
            <a:xfrm>
              <a:off x="1127986" y="1093293"/>
              <a:ext cx="5425213" cy="622873"/>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1" numCol="1" spcCol="1270" anchor="ctr" anchorCtr="0">
              <a:noAutofit/>
            </a:bodyPr>
            <a:lstStyle/>
            <a:p>
              <a:pPr marL="0" lvl="1" algn="l" defTabSz="755650">
                <a:lnSpc>
                  <a:spcPct val="90000"/>
                </a:lnSpc>
                <a:spcBef>
                  <a:spcPct val="0"/>
                </a:spcBef>
                <a:spcAft>
                  <a:spcPct val="15000"/>
                </a:spcAft>
              </a:pPr>
              <a:r>
                <a:rPr lang="en-GB" sz="1600" kern="1200" dirty="0"/>
                <a:t>State your null hypothesis (H</a:t>
              </a:r>
              <a:r>
                <a:rPr lang="en-GB" sz="1600" kern="1200" baseline="-25000" dirty="0"/>
                <a:t>0</a:t>
              </a:r>
              <a:r>
                <a:rPr lang="en-GB" sz="1600" kern="1200" baseline="0" dirty="0"/>
                <a:t>)</a:t>
              </a:r>
            </a:p>
          </p:txBody>
        </p:sp>
      </p:grpSp>
      <p:sp>
        <p:nvSpPr>
          <p:cNvPr id="2" name="Title 1"/>
          <p:cNvSpPr>
            <a:spLocks noGrp="1"/>
          </p:cNvSpPr>
          <p:nvPr>
            <p:ph type="title"/>
          </p:nvPr>
        </p:nvSpPr>
        <p:spPr/>
        <p:txBody>
          <a:bodyPr/>
          <a:lstStyle/>
          <a:p>
            <a:r>
              <a:rPr lang="en-GB" dirty="0"/>
              <a:t>Testing for mean</a:t>
            </a:r>
          </a:p>
        </p:txBody>
      </p:sp>
      <mc:AlternateContent xmlns:mc="http://schemas.openxmlformats.org/markup-compatibility/2006" xmlns:a14="http://schemas.microsoft.com/office/drawing/2010/main">
        <mc:Choice Requires="a14">
          <p:sp>
            <p:nvSpPr>
              <p:cNvPr id="37" name="TextBox 36"/>
              <p:cNvSpPr txBox="1"/>
              <p:nvPr/>
            </p:nvSpPr>
            <p:spPr>
              <a:xfrm>
                <a:off x="5162905" y="3307140"/>
                <a:ext cx="3828695" cy="1569660"/>
              </a:xfrm>
              <a:prstGeom prst="wedgeRectCallout">
                <a:avLst>
                  <a:gd name="adj1" fmla="val 39195"/>
                  <a:gd name="adj2" fmla="val 15272"/>
                </a:avLst>
              </a:prstGeom>
              <a:solidFill>
                <a:schemeClr val="accent1">
                  <a:lumMod val="20000"/>
                  <a:lumOff val="80000"/>
                </a:schemeClr>
              </a:solidFill>
              <a:ln>
                <a:noFill/>
              </a:ln>
            </p:spPr>
            <p:txBody>
              <a:bodyPr wrap="square" rtlCol="0">
                <a:spAutoFit/>
              </a:bodyPr>
              <a:lstStyle/>
              <a:p>
                <a:pPr/>
                <a14:m>
                  <m:oMathPara xmlns:m="http://schemas.openxmlformats.org/officeDocument/2006/math">
                    <m:oMathParaPr>
                      <m:jc m:val="left"/>
                    </m:oMathParaPr>
                    <m:oMath xmlns:m="http://schemas.openxmlformats.org/officeDocument/2006/math">
                      <m:r>
                        <a:rPr lang="en-GB" sz="2400" b="0" i="1" smtClean="0">
                          <a:latin typeface="Cambria Math"/>
                          <a:ea typeface="Cambria Math"/>
                        </a:rPr>
                        <m:t>𝑡</m:t>
                      </m:r>
                      <m:r>
                        <a:rPr lang="en-GB" sz="2400" b="0" i="1" smtClean="0">
                          <a:latin typeface="Cambria Math"/>
                          <a:ea typeface="Cambria Math"/>
                        </a:rPr>
                        <m:t>=28.284</m:t>
                      </m:r>
                    </m:oMath>
                  </m:oMathPara>
                </a14:m>
                <a:endParaRPr lang="en-GB" sz="2400" dirty="0">
                  <a:solidFill>
                    <a:schemeClr val="tx1"/>
                  </a:solidFill>
                </a:endParaRPr>
              </a:p>
              <a:p>
                <a14:m>
                  <m:oMath xmlns:m="http://schemas.openxmlformats.org/officeDocument/2006/math">
                    <m:r>
                      <a:rPr lang="en-GB" sz="2400" i="1" smtClean="0">
                        <a:latin typeface="Cambria Math"/>
                        <a:ea typeface="Cambria Math"/>
                      </a:rPr>
                      <m:t>𝛼</m:t>
                    </m:r>
                    <m:r>
                      <a:rPr lang="en-GB" sz="2400" i="1">
                        <a:latin typeface="Cambria Math"/>
                        <a:ea typeface="Cambria Math"/>
                      </a:rPr>
                      <m:t>=</m:t>
                    </m:r>
                    <m:r>
                      <a:rPr lang="en-GB" sz="2400" b="0" i="1" smtClean="0">
                        <a:latin typeface="Cambria Math"/>
                        <a:ea typeface="Cambria Math"/>
                      </a:rPr>
                      <m:t>0.05</m:t>
                    </m:r>
                  </m:oMath>
                </a14:m>
                <a:r>
                  <a:rPr lang="en-GB" sz="2400" dirty="0"/>
                  <a:t> (two-tailed)</a:t>
                </a:r>
              </a:p>
              <a:p>
                <a:pPr/>
                <a14:m>
                  <m:oMathPara xmlns:m="http://schemas.openxmlformats.org/officeDocument/2006/math">
                    <m:oMathParaPr>
                      <m:jc m:val="left"/>
                    </m:oMathParaPr>
                    <m:oMath xmlns:m="http://schemas.openxmlformats.org/officeDocument/2006/math">
                      <m:r>
                        <a:rPr lang="en-GB" sz="2400" i="1" dirty="0" smtClean="0">
                          <a:solidFill>
                            <a:schemeClr val="tx1"/>
                          </a:solidFill>
                          <a:latin typeface="Cambria Math"/>
                        </a:rPr>
                        <m:t>𝑑𝑓</m:t>
                      </m:r>
                      <m:r>
                        <a:rPr lang="en-GB" sz="2400" i="1" dirty="0" smtClean="0">
                          <a:solidFill>
                            <a:schemeClr val="tx1"/>
                          </a:solidFill>
                          <a:latin typeface="Cambria Math"/>
                        </a:rPr>
                        <m:t>= </m:t>
                      </m:r>
                      <m:r>
                        <a:rPr lang="en-GB" sz="2400" i="1" dirty="0" smtClean="0">
                          <a:solidFill>
                            <a:schemeClr val="tx1"/>
                          </a:solidFill>
                          <a:latin typeface="Cambria Math"/>
                        </a:rPr>
                        <m:t>𝑛</m:t>
                      </m:r>
                      <m:r>
                        <a:rPr lang="en-GB" sz="2400" i="1" dirty="0" smtClean="0">
                          <a:solidFill>
                            <a:schemeClr val="tx1"/>
                          </a:solidFill>
                          <a:latin typeface="Cambria Math"/>
                        </a:rPr>
                        <m:t>−1 (199)</m:t>
                      </m:r>
                    </m:oMath>
                  </m:oMathPara>
                </a14:m>
                <a:endParaRPr lang="en-GB" sz="2400" dirty="0">
                  <a:solidFill>
                    <a:schemeClr val="tx1"/>
                  </a:solidFill>
                </a:endParaRPr>
              </a:p>
              <a:p>
                <a14:m>
                  <m:oMath xmlns:m="http://schemas.openxmlformats.org/officeDocument/2006/math">
                    <m:r>
                      <a:rPr lang="en-GB" sz="2400" b="0" i="1" dirty="0" smtClean="0">
                        <a:latin typeface="Cambria Math"/>
                      </a:rPr>
                      <m:t>𝑡</m:t>
                    </m:r>
                    <m:r>
                      <a:rPr lang="en-GB" sz="2400" i="1" baseline="-25000" dirty="0" smtClean="0">
                        <a:latin typeface="Cambria Math"/>
                      </a:rPr>
                      <m:t>𝑐𝑟𝑖𝑡</m:t>
                    </m:r>
                    <m:r>
                      <a:rPr lang="en-GB" sz="2400" i="1" dirty="0" smtClean="0">
                        <a:latin typeface="Cambria Math"/>
                      </a:rPr>
                      <m:t>=1.972</m:t>
                    </m:r>
                  </m:oMath>
                </a14:m>
                <a:r>
                  <a:rPr lang="en-GB" sz="2400" dirty="0">
                    <a:solidFill>
                      <a:schemeClr val="tx1"/>
                    </a:solidFill>
                  </a:rPr>
                  <a:t> </a:t>
                </a:r>
                <a:r>
                  <a:rPr lang="en-GB" sz="2400" b="1" dirty="0">
                    <a:solidFill>
                      <a:schemeClr val="bg1">
                        <a:lumMod val="75000"/>
                      </a:schemeClr>
                    </a:solidFill>
                  </a:rPr>
                  <a:t>(or </a:t>
                </a:r>
                <a:r>
                  <a:rPr lang="en-GB" sz="2400" b="1" dirty="0" err="1">
                    <a:solidFill>
                      <a:schemeClr val="bg1">
                        <a:lumMod val="75000"/>
                      </a:schemeClr>
                    </a:solidFill>
                  </a:rPr>
                  <a:t>Z</a:t>
                </a:r>
                <a:r>
                  <a:rPr lang="en-GB" sz="2400" b="1" baseline="-25000" dirty="0" err="1">
                    <a:solidFill>
                      <a:schemeClr val="bg1">
                        <a:lumMod val="75000"/>
                      </a:schemeClr>
                    </a:solidFill>
                  </a:rPr>
                  <a:t>crit</a:t>
                </a:r>
                <a:r>
                  <a:rPr lang="en-GB" sz="2400" b="1" dirty="0">
                    <a:solidFill>
                      <a:schemeClr val="bg1">
                        <a:lumMod val="75000"/>
                      </a:schemeClr>
                    </a:solidFill>
                  </a:rPr>
                  <a:t>=1.96)</a:t>
                </a:r>
              </a:p>
            </p:txBody>
          </p:sp>
        </mc:Choice>
        <mc:Fallback xmlns="">
          <p:sp>
            <p:nvSpPr>
              <p:cNvPr id="37" name="TextBox 36"/>
              <p:cNvSpPr txBox="1">
                <a:spLocks noRot="1" noChangeAspect="1" noMove="1" noResize="1" noEditPoints="1" noAdjustHandles="1" noChangeArrowheads="1" noChangeShapeType="1" noTextEdit="1"/>
              </p:cNvSpPr>
              <p:nvPr/>
            </p:nvSpPr>
            <p:spPr>
              <a:xfrm>
                <a:off x="5162905" y="3307140"/>
                <a:ext cx="3828695" cy="1569660"/>
              </a:xfrm>
              <a:prstGeom prst="wedgeRectCallout">
                <a:avLst>
                  <a:gd name="adj1" fmla="val 39195"/>
                  <a:gd name="adj2" fmla="val 15272"/>
                </a:avLst>
              </a:prstGeom>
              <a:blipFill rotWithShape="1">
                <a:blip r:embed="rId3"/>
                <a:stretch>
                  <a:fillRect l="-1433" b="-8171"/>
                </a:stretch>
              </a:blipFill>
              <a:ln>
                <a:noFill/>
              </a:ln>
            </p:spPr>
            <p:txBody>
              <a:bodyPr/>
              <a:lstStyle/>
              <a:p>
                <a:r>
                  <a:rPr lang="en-GB">
                    <a:noFill/>
                  </a:rPr>
                  <a:t> </a:t>
                </a:r>
              </a:p>
            </p:txBody>
          </p:sp>
        </mc:Fallback>
      </mc:AlternateContent>
      <p:graphicFrame>
        <p:nvGraphicFramePr>
          <p:cNvPr id="38" name="Chart 37"/>
          <p:cNvGraphicFramePr/>
          <p:nvPr>
            <p:extLst>
              <p:ext uri="{D42A27DB-BD31-4B8C-83A1-F6EECF244321}">
                <p14:modId xmlns:p14="http://schemas.microsoft.com/office/powerpoint/2010/main" val="1306237606"/>
              </p:ext>
            </p:extLst>
          </p:nvPr>
        </p:nvGraphicFramePr>
        <p:xfrm>
          <a:off x="76200" y="1641339"/>
          <a:ext cx="4876800" cy="2636041"/>
        </p:xfrm>
        <a:graphic>
          <a:graphicData uri="http://schemas.openxmlformats.org/drawingml/2006/chart">
            <c:chart xmlns:c="http://schemas.openxmlformats.org/drawingml/2006/chart" xmlns:r="http://schemas.openxmlformats.org/officeDocument/2006/relationships" r:id="rId4"/>
          </a:graphicData>
        </a:graphic>
      </p:graphicFrame>
      <p:cxnSp>
        <p:nvCxnSpPr>
          <p:cNvPr id="39" name="Straight Arrow Connector 38"/>
          <p:cNvCxnSpPr/>
          <p:nvPr/>
        </p:nvCxnSpPr>
        <p:spPr>
          <a:xfrm>
            <a:off x="2524027" y="2637723"/>
            <a:ext cx="0" cy="1654883"/>
          </a:xfrm>
          <a:prstGeom prst="straightConnector1">
            <a:avLst/>
          </a:prstGeom>
          <a:ln w="19050">
            <a:solidFill>
              <a:schemeClr val="tx1"/>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grpSp>
        <p:nvGrpSpPr>
          <p:cNvPr id="40" name="Group 39"/>
          <p:cNvGrpSpPr/>
          <p:nvPr/>
        </p:nvGrpSpPr>
        <p:grpSpPr>
          <a:xfrm>
            <a:off x="381000" y="3295454"/>
            <a:ext cx="4267200" cy="1021848"/>
            <a:chOff x="3124200" y="3524054"/>
            <a:chExt cx="4267200" cy="1021848"/>
          </a:xfrm>
        </p:grpSpPr>
        <p:cxnSp>
          <p:nvCxnSpPr>
            <p:cNvPr id="41" name="Straight Arrow Connector 40"/>
            <p:cNvCxnSpPr/>
            <p:nvPr/>
          </p:nvCxnSpPr>
          <p:spPr>
            <a:xfrm flipH="1">
              <a:off x="3124200" y="4536475"/>
              <a:ext cx="4267200" cy="1"/>
            </a:xfrm>
            <a:prstGeom prst="straightConnector1">
              <a:avLst/>
            </a:prstGeom>
            <a:ln w="38100">
              <a:solidFill>
                <a:schemeClr val="bg1">
                  <a:lumMod val="85000"/>
                </a:schemeClr>
              </a:solidFill>
              <a:headEnd type="arrow" w="med" len="med"/>
              <a:tailEnd type="none" w="med" len="med"/>
            </a:ln>
          </p:spPr>
          <p:style>
            <a:lnRef idx="1">
              <a:schemeClr val="dk1"/>
            </a:lnRef>
            <a:fillRef idx="0">
              <a:schemeClr val="dk1"/>
            </a:fillRef>
            <a:effectRef idx="0">
              <a:schemeClr val="dk1"/>
            </a:effectRef>
            <a:fontRef idx="minor">
              <a:schemeClr val="tx1"/>
            </a:fontRef>
          </p:style>
        </p:cxnSp>
        <p:cxnSp>
          <p:nvCxnSpPr>
            <p:cNvPr id="42" name="Straight Arrow Connector 41"/>
            <p:cNvCxnSpPr/>
            <p:nvPr/>
          </p:nvCxnSpPr>
          <p:spPr>
            <a:xfrm>
              <a:off x="3143054" y="3524054"/>
              <a:ext cx="0" cy="1021848"/>
            </a:xfrm>
            <a:prstGeom prst="straightConnector1">
              <a:avLst/>
            </a:prstGeom>
            <a:ln w="38100">
              <a:solidFill>
                <a:schemeClr val="bg1">
                  <a:lumMod val="85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43" name="Group 42"/>
          <p:cNvGrpSpPr/>
          <p:nvPr/>
        </p:nvGrpSpPr>
        <p:grpSpPr>
          <a:xfrm>
            <a:off x="609600" y="1950418"/>
            <a:ext cx="1905000" cy="1859582"/>
            <a:chOff x="609600" y="1950418"/>
            <a:chExt cx="1905000" cy="1859582"/>
          </a:xfrm>
        </p:grpSpPr>
        <mc:AlternateContent xmlns:mc="http://schemas.openxmlformats.org/markup-compatibility/2006" xmlns:a14="http://schemas.microsoft.com/office/drawing/2010/main">
          <mc:Choice Requires="a14">
            <p:sp>
              <p:nvSpPr>
                <p:cNvPr id="44" name="Rectangular Callout 43"/>
                <p:cNvSpPr/>
                <p:nvPr/>
              </p:nvSpPr>
              <p:spPr>
                <a:xfrm>
                  <a:off x="609600" y="1950418"/>
                  <a:ext cx="1676400" cy="716582"/>
                </a:xfrm>
                <a:prstGeom prst="wedgeRectCallout">
                  <a:avLst>
                    <a:gd name="adj1" fmla="val 57505"/>
                    <a:gd name="adj2" fmla="val 179845"/>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GB" dirty="0"/>
                    <a:t>Sample means</a:t>
                  </a:r>
                </a:p>
                <a:p>
                  <a:pPr algn="ctr"/>
                  <a:r>
                    <a:rPr lang="en-GB" dirty="0"/>
                    <a:t>SD (</a:t>
                  </a:r>
                  <a14:m>
                    <m:oMath xmlns:m="http://schemas.openxmlformats.org/officeDocument/2006/math">
                      <m:sSub>
                        <m:sSubPr>
                          <m:ctrlPr>
                            <a:rPr lang="en-GB" i="1">
                              <a:latin typeface="Cambria Math" panose="02040503050406030204" pitchFamily="18" charset="0"/>
                              <a:ea typeface="Cambria Math"/>
                            </a:rPr>
                          </m:ctrlPr>
                        </m:sSubPr>
                        <m:e>
                          <m:r>
                            <a:rPr lang="en-GB" i="1">
                              <a:latin typeface="Cambria Math"/>
                              <a:ea typeface="Cambria Math"/>
                            </a:rPr>
                            <m:t>𝜎</m:t>
                          </m:r>
                        </m:e>
                        <m:sub>
                          <m:acc>
                            <m:accPr>
                              <m:chr m:val="̅"/>
                              <m:ctrlPr>
                                <a:rPr lang="en-GB" i="1">
                                  <a:latin typeface="Cambria Math" panose="02040503050406030204" pitchFamily="18" charset="0"/>
                                  <a:ea typeface="Cambria Math"/>
                                </a:rPr>
                              </m:ctrlPr>
                            </m:accPr>
                            <m:e>
                              <m:r>
                                <a:rPr lang="en-GB" i="1">
                                  <a:latin typeface="Cambria Math"/>
                                  <a:ea typeface="Cambria Math"/>
                                </a:rPr>
                                <m:t>𝑥</m:t>
                              </m:r>
                            </m:e>
                          </m:acc>
                        </m:sub>
                      </m:sSub>
                    </m:oMath>
                  </a14:m>
                  <a:r>
                    <a:rPr lang="en-GB" dirty="0"/>
                    <a:t>)</a:t>
                  </a:r>
                </a:p>
              </p:txBody>
            </p:sp>
          </mc:Choice>
          <mc:Fallback xmlns="">
            <p:sp>
              <p:nvSpPr>
                <p:cNvPr id="36" name="Rectangular Callout 35"/>
                <p:cNvSpPr>
                  <a:spLocks noRot="1" noChangeAspect="1" noMove="1" noResize="1" noEditPoints="1" noAdjustHandles="1" noChangeArrowheads="1" noChangeShapeType="1" noTextEdit="1"/>
                </p:cNvSpPr>
                <p:nvPr/>
              </p:nvSpPr>
              <p:spPr>
                <a:xfrm>
                  <a:off x="609600" y="1950418"/>
                  <a:ext cx="1676400" cy="716582"/>
                </a:xfrm>
                <a:prstGeom prst="wedgeRectCallout">
                  <a:avLst>
                    <a:gd name="adj1" fmla="val 57505"/>
                    <a:gd name="adj2" fmla="val 179845"/>
                  </a:avLst>
                </a:prstGeom>
                <a:blipFill rotWithShape="1">
                  <a:blip r:embed="rId5"/>
                  <a:stretch>
                    <a:fillRect/>
                  </a:stretch>
                </a:blipFill>
              </p:spPr>
              <p:txBody>
                <a:bodyPr/>
                <a:lstStyle/>
                <a:p>
                  <a:r>
                    <a:rPr lang="en-GB">
                      <a:noFill/>
                    </a:rPr>
                    <a:t> </a:t>
                  </a:r>
                </a:p>
              </p:txBody>
            </p:sp>
          </mc:Fallback>
        </mc:AlternateContent>
        <p:grpSp>
          <p:nvGrpSpPr>
            <p:cNvPr id="45" name="Group 44"/>
            <p:cNvGrpSpPr/>
            <p:nvPr/>
          </p:nvGrpSpPr>
          <p:grpSpPr>
            <a:xfrm>
              <a:off x="2238908" y="3591128"/>
              <a:ext cx="275692" cy="218872"/>
              <a:chOff x="2133600" y="3514928"/>
              <a:chExt cx="570688" cy="447472"/>
            </a:xfrm>
          </p:grpSpPr>
          <p:cxnSp>
            <p:nvCxnSpPr>
              <p:cNvPr id="46" name="Straight Arrow Connector 45"/>
              <p:cNvCxnSpPr/>
              <p:nvPr/>
            </p:nvCxnSpPr>
            <p:spPr>
              <a:xfrm flipV="1">
                <a:off x="2704288" y="3521271"/>
                <a:ext cx="0" cy="441129"/>
              </a:xfrm>
              <a:prstGeom prst="straightConnector1">
                <a:avLst/>
              </a:prstGeom>
              <a:ln>
                <a:solidFill>
                  <a:srgbClr val="C00000"/>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7" name="Straight Arrow Connector 46"/>
              <p:cNvCxnSpPr/>
              <p:nvPr/>
            </p:nvCxnSpPr>
            <p:spPr>
              <a:xfrm flipV="1">
                <a:off x="2133600" y="3514928"/>
                <a:ext cx="0" cy="447472"/>
              </a:xfrm>
              <a:prstGeom prst="straightConnector1">
                <a:avLst/>
              </a:prstGeom>
              <a:ln>
                <a:solidFill>
                  <a:srgbClr val="C00000"/>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8" name="Straight Arrow Connector 47"/>
              <p:cNvCxnSpPr/>
              <p:nvPr/>
            </p:nvCxnSpPr>
            <p:spPr>
              <a:xfrm>
                <a:off x="2152905" y="3733800"/>
                <a:ext cx="551383" cy="1"/>
              </a:xfrm>
              <a:prstGeom prst="straightConnector1">
                <a:avLst/>
              </a:prstGeom>
              <a:ln>
                <a:solidFill>
                  <a:srgbClr val="C00000"/>
                </a:solidFill>
                <a:headEnd type="arrow" w="med" len="med"/>
                <a:tailEnd type="arrow" w="med" len="med"/>
              </a:ln>
            </p:spPr>
            <p:style>
              <a:lnRef idx="1">
                <a:schemeClr val="dk1"/>
              </a:lnRef>
              <a:fillRef idx="0">
                <a:schemeClr val="dk1"/>
              </a:fillRef>
              <a:effectRef idx="0">
                <a:schemeClr val="dk1"/>
              </a:effectRef>
              <a:fontRef idx="minor">
                <a:schemeClr val="tx1"/>
              </a:fontRef>
            </p:style>
          </p:cxnSp>
        </p:grpSp>
      </p:grpSp>
      <p:grpSp>
        <p:nvGrpSpPr>
          <p:cNvPr id="49" name="Group 48"/>
          <p:cNvGrpSpPr/>
          <p:nvPr/>
        </p:nvGrpSpPr>
        <p:grpSpPr>
          <a:xfrm>
            <a:off x="2526774" y="3591128"/>
            <a:ext cx="275692" cy="218872"/>
            <a:chOff x="2133600" y="3514928"/>
            <a:chExt cx="570688" cy="447472"/>
          </a:xfrm>
        </p:grpSpPr>
        <p:cxnSp>
          <p:nvCxnSpPr>
            <p:cNvPr id="50" name="Straight Arrow Connector 49"/>
            <p:cNvCxnSpPr/>
            <p:nvPr/>
          </p:nvCxnSpPr>
          <p:spPr>
            <a:xfrm flipV="1">
              <a:off x="2704288" y="3521271"/>
              <a:ext cx="0" cy="441129"/>
            </a:xfrm>
            <a:prstGeom prst="straightConnector1">
              <a:avLst/>
            </a:prstGeom>
            <a:ln>
              <a:solidFill>
                <a:srgbClr val="C00000"/>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1" name="Straight Arrow Connector 50"/>
            <p:cNvCxnSpPr/>
            <p:nvPr/>
          </p:nvCxnSpPr>
          <p:spPr>
            <a:xfrm flipV="1">
              <a:off x="2133600" y="3514928"/>
              <a:ext cx="0" cy="447472"/>
            </a:xfrm>
            <a:prstGeom prst="straightConnector1">
              <a:avLst/>
            </a:prstGeom>
            <a:ln>
              <a:solidFill>
                <a:srgbClr val="C00000"/>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Straight Arrow Connector 51"/>
            <p:cNvCxnSpPr/>
            <p:nvPr/>
          </p:nvCxnSpPr>
          <p:spPr>
            <a:xfrm>
              <a:off x="2152905" y="3733800"/>
              <a:ext cx="551383" cy="1"/>
            </a:xfrm>
            <a:prstGeom prst="straightConnector1">
              <a:avLst/>
            </a:prstGeom>
            <a:ln>
              <a:solidFill>
                <a:srgbClr val="C00000"/>
              </a:solidFill>
              <a:headEnd type="arrow" w="med" len="med"/>
              <a:tailEnd type="arrow" w="med" len="med"/>
            </a:ln>
          </p:spPr>
          <p:style>
            <a:lnRef idx="1">
              <a:schemeClr val="dk1"/>
            </a:lnRef>
            <a:fillRef idx="0">
              <a:schemeClr val="dk1"/>
            </a:fillRef>
            <a:effectRef idx="0">
              <a:schemeClr val="dk1"/>
            </a:effectRef>
            <a:fontRef idx="minor">
              <a:schemeClr val="tx1"/>
            </a:fontRef>
          </p:style>
        </p:cxnSp>
      </p:grpSp>
      <p:cxnSp>
        <p:nvCxnSpPr>
          <p:cNvPr id="53" name="Straight Arrow Connector 52"/>
          <p:cNvCxnSpPr/>
          <p:nvPr/>
        </p:nvCxnSpPr>
        <p:spPr>
          <a:xfrm>
            <a:off x="3363677" y="3286028"/>
            <a:ext cx="0" cy="1021848"/>
          </a:xfrm>
          <a:prstGeom prst="straightConnector1">
            <a:avLst/>
          </a:prstGeom>
          <a:ln w="38100">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grpSp>
        <p:nvGrpSpPr>
          <p:cNvPr id="54" name="Group 53"/>
          <p:cNvGrpSpPr/>
          <p:nvPr/>
        </p:nvGrpSpPr>
        <p:grpSpPr>
          <a:xfrm>
            <a:off x="2286000" y="4277380"/>
            <a:ext cx="1388351" cy="828020"/>
            <a:chOff x="2286000" y="4277380"/>
            <a:chExt cx="1388351" cy="828020"/>
          </a:xfrm>
        </p:grpSpPr>
        <mc:AlternateContent xmlns:mc="http://schemas.openxmlformats.org/markup-compatibility/2006" xmlns:a14="http://schemas.microsoft.com/office/drawing/2010/main">
          <mc:Choice Requires="a14">
            <p:sp>
              <p:nvSpPr>
                <p:cNvPr id="55" name="TextBox 54"/>
                <p:cNvSpPr txBox="1"/>
                <p:nvPr/>
              </p:nvSpPr>
              <p:spPr>
                <a:xfrm>
                  <a:off x="2286000" y="4582180"/>
                  <a:ext cx="494046" cy="523220"/>
                </a:xfrm>
                <a:prstGeom prst="rect">
                  <a:avLst/>
                </a:prstGeom>
                <a:no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800" b="1" i="1" smtClean="0">
                            <a:solidFill>
                              <a:schemeClr val="tx1"/>
                            </a:solidFill>
                            <a:latin typeface="Cambria Math"/>
                            <a:ea typeface="Cambria Math"/>
                          </a:rPr>
                          <m:t>𝝁</m:t>
                        </m:r>
                      </m:oMath>
                    </m:oMathPara>
                  </a14:m>
                  <a:endParaRPr lang="en-GB" sz="2800" b="1" dirty="0">
                    <a:solidFill>
                      <a:schemeClr val="tx1"/>
                    </a:solidFill>
                  </a:endParaRPr>
                </a:p>
              </p:txBody>
            </p:sp>
          </mc:Choice>
          <mc:Fallback xmlns="">
            <p:sp>
              <p:nvSpPr>
                <p:cNvPr id="23" name="TextBox 22"/>
                <p:cNvSpPr txBox="1">
                  <a:spLocks noRot="1" noChangeAspect="1" noMove="1" noResize="1" noEditPoints="1" noAdjustHandles="1" noChangeArrowheads="1" noChangeShapeType="1" noTextEdit="1"/>
                </p:cNvSpPr>
                <p:nvPr/>
              </p:nvSpPr>
              <p:spPr>
                <a:xfrm>
                  <a:off x="2286000" y="4582180"/>
                  <a:ext cx="494046" cy="523220"/>
                </a:xfrm>
                <a:prstGeom prst="rect">
                  <a:avLst/>
                </a:prstGeom>
                <a:blipFill rotWithShape="1">
                  <a:blip r:embed="rId6"/>
                  <a:stretch>
                    <a:fillRect/>
                  </a:stretch>
                </a:blipFill>
                <a:ln>
                  <a:noFill/>
                </a:ln>
              </p:spPr>
              <p:txBody>
                <a:bodyPr/>
                <a:lstStyle/>
                <a:p>
                  <a:r>
                    <a:rPr lang="en-GB">
                      <a:noFill/>
                    </a:rPr>
                    <a:t> </a:t>
                  </a:r>
                </a:p>
              </p:txBody>
            </p:sp>
          </mc:Fallback>
        </mc:AlternateContent>
        <p:sp>
          <p:nvSpPr>
            <p:cNvPr id="56" name="TextBox 55"/>
            <p:cNvSpPr txBox="1"/>
            <p:nvPr/>
          </p:nvSpPr>
          <p:spPr>
            <a:xfrm>
              <a:off x="2286000" y="4277380"/>
              <a:ext cx="550151" cy="523220"/>
            </a:xfrm>
            <a:prstGeom prst="rect">
              <a:avLst/>
            </a:prstGeom>
            <a:noFill/>
            <a:ln>
              <a:noFill/>
            </a:ln>
          </p:spPr>
          <p:txBody>
            <a:bodyPr wrap="none" rtlCol="0">
              <a:spAutoFit/>
            </a:bodyPr>
            <a:lstStyle/>
            <a:p>
              <a:r>
                <a:rPr lang="en-GB" sz="2800" b="1" dirty="0"/>
                <a:t>40</a:t>
              </a:r>
            </a:p>
          </p:txBody>
        </p:sp>
        <mc:AlternateContent xmlns:mc="http://schemas.openxmlformats.org/markup-compatibility/2006" xmlns:a14="http://schemas.microsoft.com/office/drawing/2010/main">
          <mc:Choice Requires="a14">
            <p:sp>
              <p:nvSpPr>
                <p:cNvPr id="57" name="TextBox 56"/>
                <p:cNvSpPr txBox="1"/>
                <p:nvPr/>
              </p:nvSpPr>
              <p:spPr>
                <a:xfrm>
                  <a:off x="3124200" y="4582180"/>
                  <a:ext cx="473206"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GB" sz="2800" b="1" i="1" smtClean="0">
                                <a:solidFill>
                                  <a:schemeClr val="accent1"/>
                                </a:solidFill>
                                <a:latin typeface="Cambria Math" panose="02040503050406030204" pitchFamily="18" charset="0"/>
                              </a:rPr>
                            </m:ctrlPr>
                          </m:accPr>
                          <m:e>
                            <m:r>
                              <a:rPr lang="en-GB" sz="2800" b="1" i="1" smtClean="0">
                                <a:solidFill>
                                  <a:schemeClr val="accent1"/>
                                </a:solidFill>
                                <a:latin typeface="Cambria Math"/>
                              </a:rPr>
                              <m:t>𝒙</m:t>
                            </m:r>
                          </m:e>
                        </m:acc>
                      </m:oMath>
                    </m:oMathPara>
                  </a14:m>
                  <a:endParaRPr lang="en-GB" sz="2800" b="1" dirty="0">
                    <a:solidFill>
                      <a:schemeClr val="accent1"/>
                    </a:solidFill>
                  </a:endParaRPr>
                </a:p>
              </p:txBody>
            </p:sp>
          </mc:Choice>
          <mc:Fallback xmlns="">
            <p:sp>
              <p:nvSpPr>
                <p:cNvPr id="48" name="TextBox 47"/>
                <p:cNvSpPr txBox="1">
                  <a:spLocks noRot="1" noChangeAspect="1" noMove="1" noResize="1" noEditPoints="1" noAdjustHandles="1" noChangeArrowheads="1" noChangeShapeType="1" noTextEdit="1"/>
                </p:cNvSpPr>
                <p:nvPr/>
              </p:nvSpPr>
              <p:spPr>
                <a:xfrm>
                  <a:off x="3124200" y="4582180"/>
                  <a:ext cx="473206" cy="523220"/>
                </a:xfrm>
                <a:prstGeom prst="rect">
                  <a:avLst/>
                </a:prstGeom>
                <a:blipFill rotWithShape="1">
                  <a:blip r:embed="rId7"/>
                  <a:stretch>
                    <a:fillRect/>
                  </a:stretch>
                </a:blipFill>
              </p:spPr>
              <p:txBody>
                <a:bodyPr/>
                <a:lstStyle/>
                <a:p>
                  <a:r>
                    <a:rPr lang="en-GB">
                      <a:noFill/>
                    </a:rPr>
                    <a:t> </a:t>
                  </a:r>
                </a:p>
              </p:txBody>
            </p:sp>
          </mc:Fallback>
        </mc:AlternateContent>
        <p:sp>
          <p:nvSpPr>
            <p:cNvPr id="58" name="TextBox 57"/>
            <p:cNvSpPr txBox="1"/>
            <p:nvPr/>
          </p:nvSpPr>
          <p:spPr>
            <a:xfrm>
              <a:off x="3124200" y="4277380"/>
              <a:ext cx="550151" cy="523220"/>
            </a:xfrm>
            <a:prstGeom prst="rect">
              <a:avLst/>
            </a:prstGeom>
            <a:noFill/>
          </p:spPr>
          <p:txBody>
            <a:bodyPr wrap="none" rtlCol="0">
              <a:spAutoFit/>
            </a:bodyPr>
            <a:lstStyle/>
            <a:p>
              <a:r>
                <a:rPr lang="en-GB" sz="2800" b="1" dirty="0">
                  <a:solidFill>
                    <a:schemeClr val="accent1"/>
                  </a:solidFill>
                </a:rPr>
                <a:t>50</a:t>
              </a:r>
            </a:p>
          </p:txBody>
        </p:sp>
      </p:grpSp>
    </p:spTree>
    <p:extLst>
      <p:ext uri="{BB962C8B-B14F-4D97-AF65-F5344CB8AC3E}">
        <p14:creationId xmlns:p14="http://schemas.microsoft.com/office/powerpoint/2010/main" val="31938198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Testing for mean</a:t>
            </a:r>
          </a:p>
        </p:txBody>
      </p:sp>
      <mc:AlternateContent xmlns:mc="http://schemas.openxmlformats.org/markup-compatibility/2006" xmlns:a14="http://schemas.microsoft.com/office/drawing/2010/main">
        <mc:Choice Requires="a14">
          <p:sp>
            <p:nvSpPr>
              <p:cNvPr id="37" name="TextBox 36"/>
              <p:cNvSpPr txBox="1"/>
              <p:nvPr/>
            </p:nvSpPr>
            <p:spPr>
              <a:xfrm>
                <a:off x="5162905" y="3307140"/>
                <a:ext cx="3828695" cy="1569660"/>
              </a:xfrm>
              <a:prstGeom prst="wedgeRectCallout">
                <a:avLst>
                  <a:gd name="adj1" fmla="val 39195"/>
                  <a:gd name="adj2" fmla="val 15272"/>
                </a:avLst>
              </a:prstGeom>
              <a:solidFill>
                <a:schemeClr val="accent1">
                  <a:lumMod val="20000"/>
                  <a:lumOff val="80000"/>
                </a:schemeClr>
              </a:solidFill>
              <a:ln>
                <a:noFill/>
              </a:ln>
            </p:spPr>
            <p:txBody>
              <a:bodyPr wrap="square" rtlCol="0">
                <a:spAutoFit/>
              </a:bodyPr>
              <a:lstStyle/>
              <a:p>
                <a:pPr/>
                <a14:m>
                  <m:oMathPara xmlns:m="http://schemas.openxmlformats.org/officeDocument/2006/math">
                    <m:oMathParaPr>
                      <m:jc m:val="left"/>
                    </m:oMathParaPr>
                    <m:oMath xmlns:m="http://schemas.openxmlformats.org/officeDocument/2006/math">
                      <m:r>
                        <a:rPr lang="en-GB" sz="2400" b="0" i="1" smtClean="0">
                          <a:latin typeface="Cambria Math"/>
                          <a:ea typeface="Cambria Math"/>
                        </a:rPr>
                        <m:t>𝑡</m:t>
                      </m:r>
                      <m:r>
                        <a:rPr lang="en-GB" sz="2400" b="0" i="1" smtClean="0">
                          <a:latin typeface="Cambria Math"/>
                          <a:ea typeface="Cambria Math"/>
                        </a:rPr>
                        <m:t>=</m:t>
                      </m:r>
                      <m:r>
                        <a:rPr lang="en-GB" sz="2400" b="1" i="1" smtClean="0">
                          <a:latin typeface="Cambria Math"/>
                          <a:ea typeface="Cambria Math"/>
                        </a:rPr>
                        <m:t>𝟐𝟖</m:t>
                      </m:r>
                      <m:r>
                        <a:rPr lang="en-GB" sz="2400" b="1" i="1" smtClean="0">
                          <a:latin typeface="Cambria Math"/>
                          <a:ea typeface="Cambria Math"/>
                        </a:rPr>
                        <m:t>.</m:t>
                      </m:r>
                      <m:r>
                        <a:rPr lang="en-GB" sz="2400" b="1" i="1" smtClean="0">
                          <a:latin typeface="Cambria Math"/>
                          <a:ea typeface="Cambria Math"/>
                        </a:rPr>
                        <m:t>𝟐𝟖𝟒</m:t>
                      </m:r>
                    </m:oMath>
                  </m:oMathPara>
                </a14:m>
                <a:endParaRPr lang="en-GB" sz="2400" b="1" dirty="0">
                  <a:solidFill>
                    <a:schemeClr val="tx1"/>
                  </a:solidFill>
                </a:endParaRPr>
              </a:p>
              <a:p>
                <a14:m>
                  <m:oMath xmlns:m="http://schemas.openxmlformats.org/officeDocument/2006/math">
                    <m:r>
                      <a:rPr lang="en-GB" sz="2400" i="1" smtClean="0">
                        <a:latin typeface="Cambria Math"/>
                        <a:ea typeface="Cambria Math"/>
                      </a:rPr>
                      <m:t>𝛼</m:t>
                    </m:r>
                    <m:r>
                      <a:rPr lang="en-GB" sz="2400" i="1">
                        <a:latin typeface="Cambria Math"/>
                        <a:ea typeface="Cambria Math"/>
                      </a:rPr>
                      <m:t>=</m:t>
                    </m:r>
                    <m:r>
                      <a:rPr lang="en-GB" sz="2400" b="0" i="1" smtClean="0">
                        <a:latin typeface="Cambria Math"/>
                        <a:ea typeface="Cambria Math"/>
                      </a:rPr>
                      <m:t>0.05</m:t>
                    </m:r>
                  </m:oMath>
                </a14:m>
                <a:r>
                  <a:rPr lang="en-GB" sz="2400" dirty="0"/>
                  <a:t> (two-tailed)</a:t>
                </a:r>
              </a:p>
              <a:p>
                <a:pPr/>
                <a14:m>
                  <m:oMathPara xmlns:m="http://schemas.openxmlformats.org/officeDocument/2006/math">
                    <m:oMathParaPr>
                      <m:jc m:val="left"/>
                    </m:oMathParaPr>
                    <m:oMath xmlns:m="http://schemas.openxmlformats.org/officeDocument/2006/math">
                      <m:r>
                        <a:rPr lang="en-GB" sz="2400" i="1" dirty="0" smtClean="0">
                          <a:solidFill>
                            <a:schemeClr val="tx1"/>
                          </a:solidFill>
                          <a:latin typeface="Cambria Math"/>
                        </a:rPr>
                        <m:t>𝑑𝑓</m:t>
                      </m:r>
                      <m:r>
                        <a:rPr lang="en-GB" sz="2400" i="1" dirty="0" smtClean="0">
                          <a:solidFill>
                            <a:schemeClr val="tx1"/>
                          </a:solidFill>
                          <a:latin typeface="Cambria Math"/>
                        </a:rPr>
                        <m:t>= </m:t>
                      </m:r>
                      <m:r>
                        <a:rPr lang="en-GB" sz="2400" i="1" dirty="0" smtClean="0">
                          <a:solidFill>
                            <a:schemeClr val="tx1"/>
                          </a:solidFill>
                          <a:latin typeface="Cambria Math"/>
                        </a:rPr>
                        <m:t>𝑛</m:t>
                      </m:r>
                      <m:r>
                        <a:rPr lang="en-GB" sz="2400" i="1" dirty="0" smtClean="0">
                          <a:solidFill>
                            <a:schemeClr val="tx1"/>
                          </a:solidFill>
                          <a:latin typeface="Cambria Math"/>
                        </a:rPr>
                        <m:t>−1 (199)</m:t>
                      </m:r>
                    </m:oMath>
                  </m:oMathPara>
                </a14:m>
                <a:endParaRPr lang="en-GB" sz="2400" dirty="0">
                  <a:solidFill>
                    <a:schemeClr val="tx1"/>
                  </a:solidFill>
                </a:endParaRPr>
              </a:p>
              <a:p>
                <a14:m>
                  <m:oMath xmlns:m="http://schemas.openxmlformats.org/officeDocument/2006/math">
                    <m:r>
                      <a:rPr lang="en-GB" sz="2400" b="0" i="1" dirty="0" smtClean="0">
                        <a:latin typeface="Cambria Math"/>
                      </a:rPr>
                      <m:t>𝑡</m:t>
                    </m:r>
                    <m:r>
                      <a:rPr lang="en-GB" sz="2400" i="1" baseline="-25000" dirty="0" smtClean="0">
                        <a:latin typeface="Cambria Math"/>
                      </a:rPr>
                      <m:t>𝑐𝑟𝑖𝑡</m:t>
                    </m:r>
                    <m:r>
                      <a:rPr lang="en-GB" sz="2400" i="1" dirty="0" smtClean="0">
                        <a:latin typeface="Cambria Math"/>
                      </a:rPr>
                      <m:t>=</m:t>
                    </m:r>
                    <m:r>
                      <a:rPr lang="en-GB" sz="2400" b="1" i="1" dirty="0" smtClean="0">
                        <a:latin typeface="Cambria Math"/>
                      </a:rPr>
                      <m:t>𝟏</m:t>
                    </m:r>
                    <m:r>
                      <a:rPr lang="en-GB" sz="2400" b="1" i="1" dirty="0" smtClean="0">
                        <a:latin typeface="Cambria Math"/>
                      </a:rPr>
                      <m:t>.</m:t>
                    </m:r>
                    <m:r>
                      <a:rPr lang="en-GB" sz="2400" b="1" i="1" dirty="0" smtClean="0">
                        <a:latin typeface="Cambria Math"/>
                      </a:rPr>
                      <m:t>𝟗𝟕𝟐</m:t>
                    </m:r>
                    <m:r>
                      <a:rPr lang="en-GB" sz="2400" i="1" dirty="0" smtClean="0">
                        <a:latin typeface="Cambria Math"/>
                      </a:rPr>
                      <m:t> </m:t>
                    </m:r>
                    <m:r>
                      <a:rPr lang="en-GB" sz="2400" b="0" i="1" dirty="0" smtClean="0">
                        <a:latin typeface="Cambria Math"/>
                      </a:rPr>
                      <m:t> </m:t>
                    </m:r>
                  </m:oMath>
                </a14:m>
                <a:r>
                  <a:rPr lang="en-GB" sz="2400" dirty="0">
                    <a:solidFill>
                      <a:schemeClr val="tx1"/>
                    </a:solidFill>
                  </a:rPr>
                  <a:t> </a:t>
                </a:r>
              </a:p>
            </p:txBody>
          </p:sp>
        </mc:Choice>
        <mc:Fallback xmlns="">
          <p:sp>
            <p:nvSpPr>
              <p:cNvPr id="37" name="TextBox 36"/>
              <p:cNvSpPr txBox="1">
                <a:spLocks noRot="1" noChangeAspect="1" noMove="1" noResize="1" noEditPoints="1" noAdjustHandles="1" noChangeArrowheads="1" noChangeShapeType="1" noTextEdit="1"/>
              </p:cNvSpPr>
              <p:nvPr/>
            </p:nvSpPr>
            <p:spPr>
              <a:xfrm>
                <a:off x="5162905" y="3307140"/>
                <a:ext cx="3828695" cy="1569660"/>
              </a:xfrm>
              <a:prstGeom prst="wedgeRectCallout">
                <a:avLst>
                  <a:gd name="adj1" fmla="val 39195"/>
                  <a:gd name="adj2" fmla="val 15272"/>
                </a:avLst>
              </a:prstGeom>
              <a:blipFill rotWithShape="1">
                <a:blip r:embed="rId3"/>
                <a:stretch>
                  <a:fillRect l="-1433" b="-389"/>
                </a:stretch>
              </a:blipFill>
              <a:ln>
                <a:noFill/>
              </a:ln>
            </p:spPr>
            <p:txBody>
              <a:bodyPr/>
              <a:lstStyle/>
              <a:p>
                <a:r>
                  <a:rPr lang="en-GB">
                    <a:noFill/>
                  </a:rPr>
                  <a:t> </a:t>
                </a:r>
              </a:p>
            </p:txBody>
          </p:sp>
        </mc:Fallback>
      </mc:AlternateContent>
      <p:graphicFrame>
        <p:nvGraphicFramePr>
          <p:cNvPr id="38" name="Chart 37"/>
          <p:cNvGraphicFramePr/>
          <p:nvPr>
            <p:extLst>
              <p:ext uri="{D42A27DB-BD31-4B8C-83A1-F6EECF244321}">
                <p14:modId xmlns:p14="http://schemas.microsoft.com/office/powerpoint/2010/main" val="1750613367"/>
              </p:ext>
            </p:extLst>
          </p:nvPr>
        </p:nvGraphicFramePr>
        <p:xfrm>
          <a:off x="76200" y="1641339"/>
          <a:ext cx="4876800" cy="2636041"/>
        </p:xfrm>
        <a:graphic>
          <a:graphicData uri="http://schemas.openxmlformats.org/drawingml/2006/chart">
            <c:chart xmlns:c="http://schemas.openxmlformats.org/drawingml/2006/chart" xmlns:r="http://schemas.openxmlformats.org/officeDocument/2006/relationships" r:id="rId4"/>
          </a:graphicData>
        </a:graphic>
      </p:graphicFrame>
      <p:cxnSp>
        <p:nvCxnSpPr>
          <p:cNvPr id="39" name="Straight Arrow Connector 38"/>
          <p:cNvCxnSpPr/>
          <p:nvPr/>
        </p:nvCxnSpPr>
        <p:spPr>
          <a:xfrm>
            <a:off x="2524027" y="2637723"/>
            <a:ext cx="0" cy="1654883"/>
          </a:xfrm>
          <a:prstGeom prst="straightConnector1">
            <a:avLst/>
          </a:prstGeom>
          <a:ln w="19050">
            <a:solidFill>
              <a:schemeClr val="tx1"/>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grpSp>
        <p:nvGrpSpPr>
          <p:cNvPr id="40" name="Group 39"/>
          <p:cNvGrpSpPr/>
          <p:nvPr/>
        </p:nvGrpSpPr>
        <p:grpSpPr>
          <a:xfrm>
            <a:off x="381000" y="3295454"/>
            <a:ext cx="4267200" cy="1021848"/>
            <a:chOff x="3124200" y="3524054"/>
            <a:chExt cx="4267200" cy="1021848"/>
          </a:xfrm>
        </p:grpSpPr>
        <p:cxnSp>
          <p:nvCxnSpPr>
            <p:cNvPr id="41" name="Straight Arrow Connector 40"/>
            <p:cNvCxnSpPr/>
            <p:nvPr/>
          </p:nvCxnSpPr>
          <p:spPr>
            <a:xfrm flipH="1">
              <a:off x="3124200" y="4536475"/>
              <a:ext cx="4267200" cy="1"/>
            </a:xfrm>
            <a:prstGeom prst="straightConnector1">
              <a:avLst/>
            </a:prstGeom>
            <a:ln w="38100">
              <a:solidFill>
                <a:schemeClr val="bg1">
                  <a:lumMod val="85000"/>
                </a:schemeClr>
              </a:solidFill>
              <a:headEnd type="arrow" w="med" len="med"/>
              <a:tailEnd type="none" w="med" len="med"/>
            </a:ln>
          </p:spPr>
          <p:style>
            <a:lnRef idx="1">
              <a:schemeClr val="dk1"/>
            </a:lnRef>
            <a:fillRef idx="0">
              <a:schemeClr val="dk1"/>
            </a:fillRef>
            <a:effectRef idx="0">
              <a:schemeClr val="dk1"/>
            </a:effectRef>
            <a:fontRef idx="minor">
              <a:schemeClr val="tx1"/>
            </a:fontRef>
          </p:style>
        </p:cxnSp>
        <p:cxnSp>
          <p:nvCxnSpPr>
            <p:cNvPr id="42" name="Straight Arrow Connector 41"/>
            <p:cNvCxnSpPr/>
            <p:nvPr/>
          </p:nvCxnSpPr>
          <p:spPr>
            <a:xfrm>
              <a:off x="3143054" y="3524054"/>
              <a:ext cx="0" cy="1021848"/>
            </a:xfrm>
            <a:prstGeom prst="straightConnector1">
              <a:avLst/>
            </a:prstGeom>
            <a:ln w="38100">
              <a:solidFill>
                <a:schemeClr val="bg1">
                  <a:lumMod val="85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43" name="Group 42"/>
          <p:cNvGrpSpPr/>
          <p:nvPr/>
        </p:nvGrpSpPr>
        <p:grpSpPr>
          <a:xfrm>
            <a:off x="609600" y="1950418"/>
            <a:ext cx="1905000" cy="1859582"/>
            <a:chOff x="609600" y="1950418"/>
            <a:chExt cx="1905000" cy="1859582"/>
          </a:xfrm>
        </p:grpSpPr>
        <mc:AlternateContent xmlns:mc="http://schemas.openxmlformats.org/markup-compatibility/2006" xmlns:a14="http://schemas.microsoft.com/office/drawing/2010/main">
          <mc:Choice Requires="a14">
            <p:sp>
              <p:nvSpPr>
                <p:cNvPr id="44" name="Rectangular Callout 43"/>
                <p:cNvSpPr/>
                <p:nvPr/>
              </p:nvSpPr>
              <p:spPr>
                <a:xfrm>
                  <a:off x="609600" y="1950418"/>
                  <a:ext cx="1676400" cy="716582"/>
                </a:xfrm>
                <a:prstGeom prst="wedgeRectCallout">
                  <a:avLst>
                    <a:gd name="adj1" fmla="val 57505"/>
                    <a:gd name="adj2" fmla="val 179845"/>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GB" dirty="0"/>
                    <a:t>Sample means</a:t>
                  </a:r>
                </a:p>
                <a:p>
                  <a:pPr algn="ctr"/>
                  <a:r>
                    <a:rPr lang="en-GB" dirty="0"/>
                    <a:t>SD (</a:t>
                  </a:r>
                  <a14:m>
                    <m:oMath xmlns:m="http://schemas.openxmlformats.org/officeDocument/2006/math">
                      <m:sSub>
                        <m:sSubPr>
                          <m:ctrlPr>
                            <a:rPr lang="en-GB" i="1">
                              <a:latin typeface="Cambria Math" panose="02040503050406030204" pitchFamily="18" charset="0"/>
                              <a:ea typeface="Cambria Math"/>
                            </a:rPr>
                          </m:ctrlPr>
                        </m:sSubPr>
                        <m:e>
                          <m:r>
                            <a:rPr lang="en-GB" i="1">
                              <a:latin typeface="Cambria Math"/>
                              <a:ea typeface="Cambria Math"/>
                            </a:rPr>
                            <m:t>𝜎</m:t>
                          </m:r>
                        </m:e>
                        <m:sub>
                          <m:acc>
                            <m:accPr>
                              <m:chr m:val="̅"/>
                              <m:ctrlPr>
                                <a:rPr lang="en-GB" i="1">
                                  <a:latin typeface="Cambria Math" panose="02040503050406030204" pitchFamily="18" charset="0"/>
                                  <a:ea typeface="Cambria Math"/>
                                </a:rPr>
                              </m:ctrlPr>
                            </m:accPr>
                            <m:e>
                              <m:r>
                                <a:rPr lang="en-GB" i="1">
                                  <a:latin typeface="Cambria Math"/>
                                  <a:ea typeface="Cambria Math"/>
                                </a:rPr>
                                <m:t>𝑥</m:t>
                              </m:r>
                            </m:e>
                          </m:acc>
                        </m:sub>
                      </m:sSub>
                    </m:oMath>
                  </a14:m>
                  <a:r>
                    <a:rPr lang="en-GB" dirty="0"/>
                    <a:t>)</a:t>
                  </a:r>
                </a:p>
              </p:txBody>
            </p:sp>
          </mc:Choice>
          <mc:Fallback xmlns="">
            <p:sp>
              <p:nvSpPr>
                <p:cNvPr id="36" name="Rectangular Callout 35"/>
                <p:cNvSpPr>
                  <a:spLocks noRot="1" noChangeAspect="1" noMove="1" noResize="1" noEditPoints="1" noAdjustHandles="1" noChangeArrowheads="1" noChangeShapeType="1" noTextEdit="1"/>
                </p:cNvSpPr>
                <p:nvPr/>
              </p:nvSpPr>
              <p:spPr>
                <a:xfrm>
                  <a:off x="609600" y="1950418"/>
                  <a:ext cx="1676400" cy="716582"/>
                </a:xfrm>
                <a:prstGeom prst="wedgeRectCallout">
                  <a:avLst>
                    <a:gd name="adj1" fmla="val 57505"/>
                    <a:gd name="adj2" fmla="val 179845"/>
                  </a:avLst>
                </a:prstGeom>
                <a:blipFill rotWithShape="1">
                  <a:blip r:embed="rId5"/>
                  <a:stretch>
                    <a:fillRect/>
                  </a:stretch>
                </a:blipFill>
              </p:spPr>
              <p:txBody>
                <a:bodyPr/>
                <a:lstStyle/>
                <a:p>
                  <a:r>
                    <a:rPr lang="en-GB">
                      <a:noFill/>
                    </a:rPr>
                    <a:t> </a:t>
                  </a:r>
                </a:p>
              </p:txBody>
            </p:sp>
          </mc:Fallback>
        </mc:AlternateContent>
        <p:grpSp>
          <p:nvGrpSpPr>
            <p:cNvPr id="45" name="Group 44"/>
            <p:cNvGrpSpPr/>
            <p:nvPr/>
          </p:nvGrpSpPr>
          <p:grpSpPr>
            <a:xfrm>
              <a:off x="2238908" y="3591128"/>
              <a:ext cx="275692" cy="218872"/>
              <a:chOff x="2133600" y="3514928"/>
              <a:chExt cx="570688" cy="447472"/>
            </a:xfrm>
          </p:grpSpPr>
          <p:cxnSp>
            <p:nvCxnSpPr>
              <p:cNvPr id="46" name="Straight Arrow Connector 45"/>
              <p:cNvCxnSpPr/>
              <p:nvPr/>
            </p:nvCxnSpPr>
            <p:spPr>
              <a:xfrm flipV="1">
                <a:off x="2704288" y="3521271"/>
                <a:ext cx="0" cy="441129"/>
              </a:xfrm>
              <a:prstGeom prst="straightConnector1">
                <a:avLst/>
              </a:prstGeom>
              <a:ln>
                <a:solidFill>
                  <a:srgbClr val="C00000"/>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7" name="Straight Arrow Connector 46"/>
              <p:cNvCxnSpPr/>
              <p:nvPr/>
            </p:nvCxnSpPr>
            <p:spPr>
              <a:xfrm flipV="1">
                <a:off x="2133600" y="3514928"/>
                <a:ext cx="0" cy="447472"/>
              </a:xfrm>
              <a:prstGeom prst="straightConnector1">
                <a:avLst/>
              </a:prstGeom>
              <a:ln>
                <a:solidFill>
                  <a:srgbClr val="C00000"/>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8" name="Straight Arrow Connector 47"/>
              <p:cNvCxnSpPr/>
              <p:nvPr/>
            </p:nvCxnSpPr>
            <p:spPr>
              <a:xfrm>
                <a:off x="2152905" y="3733800"/>
                <a:ext cx="551383" cy="1"/>
              </a:xfrm>
              <a:prstGeom prst="straightConnector1">
                <a:avLst/>
              </a:prstGeom>
              <a:ln>
                <a:solidFill>
                  <a:srgbClr val="C00000"/>
                </a:solidFill>
                <a:headEnd type="arrow" w="med" len="med"/>
                <a:tailEnd type="arrow" w="med" len="med"/>
              </a:ln>
            </p:spPr>
            <p:style>
              <a:lnRef idx="1">
                <a:schemeClr val="dk1"/>
              </a:lnRef>
              <a:fillRef idx="0">
                <a:schemeClr val="dk1"/>
              </a:fillRef>
              <a:effectRef idx="0">
                <a:schemeClr val="dk1"/>
              </a:effectRef>
              <a:fontRef idx="minor">
                <a:schemeClr val="tx1"/>
              </a:fontRef>
            </p:style>
          </p:cxnSp>
        </p:grpSp>
      </p:grpSp>
      <p:grpSp>
        <p:nvGrpSpPr>
          <p:cNvPr id="49" name="Group 48"/>
          <p:cNvGrpSpPr/>
          <p:nvPr/>
        </p:nvGrpSpPr>
        <p:grpSpPr>
          <a:xfrm>
            <a:off x="2526774" y="3591128"/>
            <a:ext cx="275692" cy="218872"/>
            <a:chOff x="2133600" y="3514928"/>
            <a:chExt cx="570688" cy="447472"/>
          </a:xfrm>
        </p:grpSpPr>
        <p:cxnSp>
          <p:nvCxnSpPr>
            <p:cNvPr id="50" name="Straight Arrow Connector 49"/>
            <p:cNvCxnSpPr/>
            <p:nvPr/>
          </p:nvCxnSpPr>
          <p:spPr>
            <a:xfrm flipV="1">
              <a:off x="2704288" y="3521271"/>
              <a:ext cx="0" cy="441129"/>
            </a:xfrm>
            <a:prstGeom prst="straightConnector1">
              <a:avLst/>
            </a:prstGeom>
            <a:ln>
              <a:solidFill>
                <a:srgbClr val="C00000"/>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1" name="Straight Arrow Connector 50"/>
            <p:cNvCxnSpPr/>
            <p:nvPr/>
          </p:nvCxnSpPr>
          <p:spPr>
            <a:xfrm flipV="1">
              <a:off x="2133600" y="3514928"/>
              <a:ext cx="0" cy="447472"/>
            </a:xfrm>
            <a:prstGeom prst="straightConnector1">
              <a:avLst/>
            </a:prstGeom>
            <a:ln>
              <a:solidFill>
                <a:srgbClr val="C00000"/>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Straight Arrow Connector 51"/>
            <p:cNvCxnSpPr/>
            <p:nvPr/>
          </p:nvCxnSpPr>
          <p:spPr>
            <a:xfrm>
              <a:off x="2152905" y="3733800"/>
              <a:ext cx="551383" cy="1"/>
            </a:xfrm>
            <a:prstGeom prst="straightConnector1">
              <a:avLst/>
            </a:prstGeom>
            <a:ln>
              <a:solidFill>
                <a:srgbClr val="C00000"/>
              </a:solidFill>
              <a:headEnd type="arrow" w="med" len="med"/>
              <a:tailEnd type="arrow" w="med" len="med"/>
            </a:ln>
          </p:spPr>
          <p:style>
            <a:lnRef idx="1">
              <a:schemeClr val="dk1"/>
            </a:lnRef>
            <a:fillRef idx="0">
              <a:schemeClr val="dk1"/>
            </a:fillRef>
            <a:effectRef idx="0">
              <a:schemeClr val="dk1"/>
            </a:effectRef>
            <a:fontRef idx="minor">
              <a:schemeClr val="tx1"/>
            </a:fontRef>
          </p:style>
        </p:cxnSp>
      </p:grpSp>
      <p:cxnSp>
        <p:nvCxnSpPr>
          <p:cNvPr id="53" name="Straight Arrow Connector 52"/>
          <p:cNvCxnSpPr/>
          <p:nvPr/>
        </p:nvCxnSpPr>
        <p:spPr>
          <a:xfrm>
            <a:off x="3363677" y="3286028"/>
            <a:ext cx="0" cy="1021848"/>
          </a:xfrm>
          <a:prstGeom prst="straightConnector1">
            <a:avLst/>
          </a:prstGeom>
          <a:ln w="38100">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grpSp>
        <p:nvGrpSpPr>
          <p:cNvPr id="54" name="Group 53"/>
          <p:cNvGrpSpPr/>
          <p:nvPr/>
        </p:nvGrpSpPr>
        <p:grpSpPr>
          <a:xfrm>
            <a:off x="2286000" y="4277380"/>
            <a:ext cx="1388351" cy="828020"/>
            <a:chOff x="2286000" y="4277380"/>
            <a:chExt cx="1388351" cy="828020"/>
          </a:xfrm>
        </p:grpSpPr>
        <mc:AlternateContent xmlns:mc="http://schemas.openxmlformats.org/markup-compatibility/2006" xmlns:a14="http://schemas.microsoft.com/office/drawing/2010/main">
          <mc:Choice Requires="a14">
            <p:sp>
              <p:nvSpPr>
                <p:cNvPr id="55" name="TextBox 54"/>
                <p:cNvSpPr txBox="1"/>
                <p:nvPr/>
              </p:nvSpPr>
              <p:spPr>
                <a:xfrm>
                  <a:off x="2286000" y="4582180"/>
                  <a:ext cx="494046" cy="523220"/>
                </a:xfrm>
                <a:prstGeom prst="rect">
                  <a:avLst/>
                </a:prstGeom>
                <a:no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800" b="1" i="1" smtClean="0">
                            <a:solidFill>
                              <a:schemeClr val="tx1"/>
                            </a:solidFill>
                            <a:latin typeface="Cambria Math"/>
                            <a:ea typeface="Cambria Math"/>
                          </a:rPr>
                          <m:t>𝝁</m:t>
                        </m:r>
                      </m:oMath>
                    </m:oMathPara>
                  </a14:m>
                  <a:endParaRPr lang="en-GB" sz="2800" b="1" dirty="0">
                    <a:solidFill>
                      <a:schemeClr val="tx1"/>
                    </a:solidFill>
                  </a:endParaRPr>
                </a:p>
              </p:txBody>
            </p:sp>
          </mc:Choice>
          <mc:Fallback xmlns="">
            <p:sp>
              <p:nvSpPr>
                <p:cNvPr id="23" name="TextBox 22"/>
                <p:cNvSpPr txBox="1">
                  <a:spLocks noRot="1" noChangeAspect="1" noMove="1" noResize="1" noEditPoints="1" noAdjustHandles="1" noChangeArrowheads="1" noChangeShapeType="1" noTextEdit="1"/>
                </p:cNvSpPr>
                <p:nvPr/>
              </p:nvSpPr>
              <p:spPr>
                <a:xfrm>
                  <a:off x="2286000" y="4582180"/>
                  <a:ext cx="494046" cy="523220"/>
                </a:xfrm>
                <a:prstGeom prst="rect">
                  <a:avLst/>
                </a:prstGeom>
                <a:blipFill rotWithShape="1">
                  <a:blip r:embed="rId6"/>
                  <a:stretch>
                    <a:fillRect/>
                  </a:stretch>
                </a:blipFill>
                <a:ln>
                  <a:noFill/>
                </a:ln>
              </p:spPr>
              <p:txBody>
                <a:bodyPr/>
                <a:lstStyle/>
                <a:p>
                  <a:r>
                    <a:rPr lang="en-GB">
                      <a:noFill/>
                    </a:rPr>
                    <a:t> </a:t>
                  </a:r>
                </a:p>
              </p:txBody>
            </p:sp>
          </mc:Fallback>
        </mc:AlternateContent>
        <p:sp>
          <p:nvSpPr>
            <p:cNvPr id="56" name="TextBox 55"/>
            <p:cNvSpPr txBox="1"/>
            <p:nvPr/>
          </p:nvSpPr>
          <p:spPr>
            <a:xfrm>
              <a:off x="2286000" y="4277380"/>
              <a:ext cx="550151" cy="523220"/>
            </a:xfrm>
            <a:prstGeom prst="rect">
              <a:avLst/>
            </a:prstGeom>
            <a:noFill/>
            <a:ln>
              <a:noFill/>
            </a:ln>
          </p:spPr>
          <p:txBody>
            <a:bodyPr wrap="none" rtlCol="0">
              <a:spAutoFit/>
            </a:bodyPr>
            <a:lstStyle/>
            <a:p>
              <a:r>
                <a:rPr lang="en-GB" sz="2800" b="1" dirty="0"/>
                <a:t>40</a:t>
              </a:r>
            </a:p>
          </p:txBody>
        </p:sp>
        <mc:AlternateContent xmlns:mc="http://schemas.openxmlformats.org/markup-compatibility/2006" xmlns:a14="http://schemas.microsoft.com/office/drawing/2010/main">
          <mc:Choice Requires="a14">
            <p:sp>
              <p:nvSpPr>
                <p:cNvPr id="57" name="TextBox 56"/>
                <p:cNvSpPr txBox="1"/>
                <p:nvPr/>
              </p:nvSpPr>
              <p:spPr>
                <a:xfrm>
                  <a:off x="3124200" y="4582180"/>
                  <a:ext cx="473206"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GB" sz="2800" b="1" i="1" smtClean="0">
                                <a:solidFill>
                                  <a:schemeClr val="accent1"/>
                                </a:solidFill>
                                <a:latin typeface="Cambria Math" panose="02040503050406030204" pitchFamily="18" charset="0"/>
                              </a:rPr>
                            </m:ctrlPr>
                          </m:accPr>
                          <m:e>
                            <m:r>
                              <a:rPr lang="en-GB" sz="2800" b="1" i="1" smtClean="0">
                                <a:solidFill>
                                  <a:schemeClr val="accent1"/>
                                </a:solidFill>
                                <a:latin typeface="Cambria Math"/>
                              </a:rPr>
                              <m:t>𝒙</m:t>
                            </m:r>
                          </m:e>
                        </m:acc>
                      </m:oMath>
                    </m:oMathPara>
                  </a14:m>
                  <a:endParaRPr lang="en-GB" sz="2800" b="1" dirty="0">
                    <a:solidFill>
                      <a:schemeClr val="accent1"/>
                    </a:solidFill>
                  </a:endParaRPr>
                </a:p>
              </p:txBody>
            </p:sp>
          </mc:Choice>
          <mc:Fallback xmlns="">
            <p:sp>
              <p:nvSpPr>
                <p:cNvPr id="48" name="TextBox 47"/>
                <p:cNvSpPr txBox="1">
                  <a:spLocks noRot="1" noChangeAspect="1" noMove="1" noResize="1" noEditPoints="1" noAdjustHandles="1" noChangeArrowheads="1" noChangeShapeType="1" noTextEdit="1"/>
                </p:cNvSpPr>
                <p:nvPr/>
              </p:nvSpPr>
              <p:spPr>
                <a:xfrm>
                  <a:off x="3124200" y="4582180"/>
                  <a:ext cx="473206" cy="523220"/>
                </a:xfrm>
                <a:prstGeom prst="rect">
                  <a:avLst/>
                </a:prstGeom>
                <a:blipFill rotWithShape="1">
                  <a:blip r:embed="rId7"/>
                  <a:stretch>
                    <a:fillRect/>
                  </a:stretch>
                </a:blipFill>
              </p:spPr>
              <p:txBody>
                <a:bodyPr/>
                <a:lstStyle/>
                <a:p>
                  <a:r>
                    <a:rPr lang="en-GB">
                      <a:noFill/>
                    </a:rPr>
                    <a:t> </a:t>
                  </a:r>
                </a:p>
              </p:txBody>
            </p:sp>
          </mc:Fallback>
        </mc:AlternateContent>
        <p:sp>
          <p:nvSpPr>
            <p:cNvPr id="58" name="TextBox 57"/>
            <p:cNvSpPr txBox="1"/>
            <p:nvPr/>
          </p:nvSpPr>
          <p:spPr>
            <a:xfrm>
              <a:off x="3124200" y="4277380"/>
              <a:ext cx="550151" cy="523220"/>
            </a:xfrm>
            <a:prstGeom prst="rect">
              <a:avLst/>
            </a:prstGeom>
            <a:noFill/>
          </p:spPr>
          <p:txBody>
            <a:bodyPr wrap="none" rtlCol="0">
              <a:spAutoFit/>
            </a:bodyPr>
            <a:lstStyle/>
            <a:p>
              <a:r>
                <a:rPr lang="en-GB" sz="2800" b="1" dirty="0">
                  <a:solidFill>
                    <a:schemeClr val="accent1"/>
                  </a:solidFill>
                </a:rPr>
                <a:t>50</a:t>
              </a:r>
            </a:p>
          </p:txBody>
        </p:sp>
      </p:grpSp>
      <p:sp>
        <p:nvSpPr>
          <p:cNvPr id="252969" name="Text Box 41"/>
          <p:cNvSpPr txBox="1">
            <a:spLocks noChangeArrowheads="1"/>
          </p:cNvSpPr>
          <p:nvPr/>
        </p:nvSpPr>
        <p:spPr bwMode="auto">
          <a:xfrm>
            <a:off x="2850397" y="1949231"/>
            <a:ext cx="2986005" cy="954107"/>
          </a:xfrm>
          <a:prstGeom prst="wedgeRectCallout">
            <a:avLst>
              <a:gd name="adj1" fmla="val 47890"/>
              <a:gd name="adj2" fmla="val 103733"/>
            </a:avLst>
          </a:prstGeom>
          <a:solidFill>
            <a:schemeClr val="accent2">
              <a:lumMod val="20000"/>
              <a:lumOff val="80000"/>
            </a:schemeClr>
          </a:solidFill>
          <a:ln w="9525">
            <a:solidFill>
              <a:schemeClr val="accent2">
                <a:lumMod val="40000"/>
                <a:lumOff val="60000"/>
              </a:schemeClr>
            </a:solidFill>
            <a:miter lim="800000"/>
            <a:headEnd/>
            <a:tailEnd/>
          </a:ln>
          <a:effectLst/>
        </p:spPr>
        <p:txBody>
          <a:bodyPr wrap="square">
            <a:spAutoFit/>
          </a:bodyPr>
          <a:lstStyle/>
          <a:p>
            <a:r>
              <a:rPr lang="en-US" altLang="en-US" sz="2800" dirty="0">
                <a:solidFill>
                  <a:srgbClr val="333399"/>
                </a:solidFill>
              </a:rPr>
              <a:t>Do you think this is significant?</a:t>
            </a:r>
          </a:p>
        </p:txBody>
      </p:sp>
      <p:grpSp>
        <p:nvGrpSpPr>
          <p:cNvPr id="78" name="Group 77"/>
          <p:cNvGrpSpPr/>
          <p:nvPr/>
        </p:nvGrpSpPr>
        <p:grpSpPr>
          <a:xfrm>
            <a:off x="6248400" y="152400"/>
            <a:ext cx="2743199" cy="3124200"/>
            <a:chOff x="925287" y="1143000"/>
            <a:chExt cx="6618513" cy="4315816"/>
          </a:xfrm>
          <a:solidFill>
            <a:schemeClr val="bg1">
              <a:lumMod val="95000"/>
            </a:schemeClr>
          </a:solidFill>
        </p:grpSpPr>
        <p:grpSp>
          <p:nvGrpSpPr>
            <p:cNvPr id="79" name="Group 78"/>
            <p:cNvGrpSpPr/>
            <p:nvPr/>
          </p:nvGrpSpPr>
          <p:grpSpPr>
            <a:xfrm>
              <a:off x="925287" y="1143000"/>
              <a:ext cx="6618513" cy="958268"/>
              <a:chOff x="-65314" y="1093291"/>
              <a:chExt cx="6618513" cy="958268"/>
            </a:xfrm>
            <a:grpFill/>
          </p:grpSpPr>
          <p:sp>
            <p:nvSpPr>
              <p:cNvPr id="92" name="Freeform 91"/>
              <p:cNvSpPr/>
              <p:nvPr/>
            </p:nvSpPr>
            <p:spPr>
              <a:xfrm>
                <a:off x="-65314" y="1093291"/>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grpFill/>
              <a:ln>
                <a:solidFill>
                  <a:schemeClr val="bg1">
                    <a:lumMod val="95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chemeClr val="bg1">
                        <a:lumMod val="65000"/>
                      </a:schemeClr>
                    </a:solidFill>
                  </a:rPr>
                  <a:t>1</a:t>
                </a:r>
              </a:p>
            </p:txBody>
          </p:sp>
          <p:sp>
            <p:nvSpPr>
              <p:cNvPr id="93" name="Freeform 92"/>
              <p:cNvSpPr/>
              <p:nvPr/>
            </p:nvSpPr>
            <p:spPr>
              <a:xfrm>
                <a:off x="1127986" y="1093293"/>
                <a:ext cx="5425213" cy="622873"/>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grpFill/>
              <a:ln>
                <a:solidFill>
                  <a:schemeClr val="bg1">
                    <a:lumMod val="95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1" numCol="1" spcCol="1270" anchor="ctr" anchorCtr="0">
                <a:noAutofit/>
              </a:bodyPr>
              <a:lstStyle/>
              <a:p>
                <a:pPr marL="0" lvl="1" algn="l" defTabSz="755650">
                  <a:lnSpc>
                    <a:spcPct val="90000"/>
                  </a:lnSpc>
                  <a:spcBef>
                    <a:spcPct val="0"/>
                  </a:spcBef>
                  <a:spcAft>
                    <a:spcPct val="15000"/>
                  </a:spcAft>
                </a:pPr>
                <a:r>
                  <a:rPr lang="en-GB" sz="1600" kern="1200" dirty="0">
                    <a:solidFill>
                      <a:schemeClr val="bg1">
                        <a:lumMod val="65000"/>
                      </a:schemeClr>
                    </a:solidFill>
                  </a:rPr>
                  <a:t>State your null hypothesis (H</a:t>
                </a:r>
                <a:r>
                  <a:rPr lang="en-GB" sz="1600" kern="1200" baseline="-25000" dirty="0">
                    <a:solidFill>
                      <a:schemeClr val="bg1">
                        <a:lumMod val="65000"/>
                      </a:schemeClr>
                    </a:solidFill>
                  </a:rPr>
                  <a:t>0</a:t>
                </a:r>
                <a:r>
                  <a:rPr lang="en-GB" sz="1600" kern="1200" baseline="0" dirty="0">
                    <a:solidFill>
                      <a:schemeClr val="bg1">
                        <a:lumMod val="65000"/>
                      </a:schemeClr>
                    </a:solidFill>
                  </a:rPr>
                  <a:t>)</a:t>
                </a:r>
              </a:p>
            </p:txBody>
          </p:sp>
        </p:grpSp>
        <p:grpSp>
          <p:nvGrpSpPr>
            <p:cNvPr id="80" name="Group 79"/>
            <p:cNvGrpSpPr/>
            <p:nvPr/>
          </p:nvGrpSpPr>
          <p:grpSpPr>
            <a:xfrm>
              <a:off x="925287" y="1982387"/>
              <a:ext cx="6618513" cy="958268"/>
              <a:chOff x="-65314" y="1932678"/>
              <a:chExt cx="6618513" cy="958268"/>
            </a:xfrm>
            <a:grpFill/>
          </p:grpSpPr>
          <p:sp>
            <p:nvSpPr>
              <p:cNvPr id="90" name="Freeform 89"/>
              <p:cNvSpPr/>
              <p:nvPr/>
            </p:nvSpPr>
            <p:spPr>
              <a:xfrm>
                <a:off x="-65314" y="1932678"/>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solidFill>
                <a:schemeClr val="accent1"/>
              </a:solidFill>
              <a:ln>
                <a:solidFill>
                  <a:schemeClr val="accent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chemeClr val="bg1"/>
                    </a:solidFill>
                  </a:rPr>
                  <a:t>2</a:t>
                </a:r>
              </a:p>
            </p:txBody>
          </p:sp>
          <p:sp>
            <p:nvSpPr>
              <p:cNvPr id="91" name="Freeform 90"/>
              <p:cNvSpPr/>
              <p:nvPr/>
            </p:nvSpPr>
            <p:spPr>
              <a:xfrm>
                <a:off x="1127986" y="1932680"/>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solidFill>
                <a:schemeClr val="bg1"/>
              </a:solidFill>
              <a:ln>
                <a:solidFill>
                  <a:schemeClr val="accent1"/>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defTabSz="755650">
                  <a:lnSpc>
                    <a:spcPct val="90000"/>
                  </a:lnSpc>
                  <a:spcBef>
                    <a:spcPct val="0"/>
                  </a:spcBef>
                  <a:spcAft>
                    <a:spcPct val="15000"/>
                  </a:spcAft>
                </a:pPr>
                <a:r>
                  <a:rPr lang="en-GB" sz="1600" b="1" dirty="0">
                    <a:solidFill>
                      <a:schemeClr val="tx1"/>
                    </a:solidFill>
                  </a:rPr>
                  <a:t>Calculate test statistic </a:t>
                </a:r>
                <a:r>
                  <a:rPr lang="en-GB" sz="1600" dirty="0">
                    <a:solidFill>
                      <a:schemeClr val="tx1"/>
                    </a:solidFill>
                  </a:rPr>
                  <a:t>from data (stat.)</a:t>
                </a:r>
              </a:p>
            </p:txBody>
          </p:sp>
        </p:grpSp>
        <p:grpSp>
          <p:nvGrpSpPr>
            <p:cNvPr id="81" name="Group 80"/>
            <p:cNvGrpSpPr/>
            <p:nvPr/>
          </p:nvGrpSpPr>
          <p:grpSpPr>
            <a:xfrm>
              <a:off x="925287" y="2821774"/>
              <a:ext cx="6618513" cy="958268"/>
              <a:chOff x="-65314" y="2772065"/>
              <a:chExt cx="6618513" cy="958268"/>
            </a:xfrm>
            <a:grpFill/>
          </p:grpSpPr>
          <p:sp>
            <p:nvSpPr>
              <p:cNvPr id="88" name="Freeform 87"/>
              <p:cNvSpPr/>
              <p:nvPr/>
            </p:nvSpPr>
            <p:spPr>
              <a:xfrm>
                <a:off x="-65314" y="2772065"/>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solidFill>
                <a:schemeClr val="accent1"/>
              </a:solidFill>
              <a:ln>
                <a:solidFill>
                  <a:schemeClr val="accent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solidFill>
                      <a:schemeClr val="bg1"/>
                    </a:solidFill>
                  </a:rPr>
                  <a:t>3</a:t>
                </a:r>
              </a:p>
            </p:txBody>
          </p:sp>
          <p:sp>
            <p:nvSpPr>
              <p:cNvPr id="89" name="Freeform 88"/>
              <p:cNvSpPr/>
              <p:nvPr/>
            </p:nvSpPr>
            <p:spPr>
              <a:xfrm>
                <a:off x="1127986" y="2772067"/>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solidFill>
                <a:schemeClr val="bg1"/>
              </a:solidFill>
              <a:ln>
                <a:solidFill>
                  <a:schemeClr val="accent1"/>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defTabSz="755650">
                  <a:lnSpc>
                    <a:spcPct val="90000"/>
                  </a:lnSpc>
                  <a:spcBef>
                    <a:spcPct val="0"/>
                  </a:spcBef>
                  <a:spcAft>
                    <a:spcPct val="15000"/>
                  </a:spcAft>
                </a:pPr>
                <a:r>
                  <a:rPr lang="en-GB" sz="1600" b="1" dirty="0">
                    <a:solidFill>
                      <a:schemeClr val="tx1"/>
                    </a:solidFill>
                  </a:rPr>
                  <a:t>Choose </a:t>
                </a:r>
                <a:r>
                  <a:rPr lang="en-GB" sz="1600" dirty="0">
                    <a:solidFill>
                      <a:schemeClr val="tx1"/>
                    </a:solidFill>
                  </a:rPr>
                  <a:t>a level of </a:t>
                </a:r>
                <a:r>
                  <a:rPr lang="en-GB" sz="1600" b="1" dirty="0">
                    <a:solidFill>
                      <a:schemeClr val="tx1"/>
                    </a:solidFill>
                  </a:rPr>
                  <a:t>significance</a:t>
                </a:r>
                <a:r>
                  <a:rPr lang="en-GB" sz="1600" dirty="0">
                    <a:solidFill>
                      <a:schemeClr val="tx1"/>
                    </a:solidFill>
                  </a:rPr>
                  <a:t> (</a:t>
                </a:r>
                <a:r>
                  <a:rPr lang="el-GR" sz="1600" dirty="0">
                    <a:solidFill>
                      <a:schemeClr val="tx1"/>
                    </a:solidFill>
                  </a:rPr>
                  <a:t>α</a:t>
                </a:r>
                <a:r>
                  <a:rPr lang="en-GB" sz="1600" dirty="0">
                    <a:solidFill>
                      <a:schemeClr val="tx1"/>
                    </a:solidFill>
                  </a:rPr>
                  <a:t>)</a:t>
                </a:r>
              </a:p>
            </p:txBody>
          </p:sp>
        </p:grpSp>
        <p:grpSp>
          <p:nvGrpSpPr>
            <p:cNvPr id="82" name="Group 81"/>
            <p:cNvGrpSpPr/>
            <p:nvPr/>
          </p:nvGrpSpPr>
          <p:grpSpPr>
            <a:xfrm>
              <a:off x="925287" y="3661161"/>
              <a:ext cx="6618513" cy="958268"/>
              <a:chOff x="-65314" y="3611452"/>
              <a:chExt cx="6618513" cy="958268"/>
            </a:xfrm>
            <a:grpFill/>
          </p:grpSpPr>
          <p:sp>
            <p:nvSpPr>
              <p:cNvPr id="86" name="Freeform 85"/>
              <p:cNvSpPr/>
              <p:nvPr/>
            </p:nvSpPr>
            <p:spPr>
              <a:xfrm>
                <a:off x="-65314" y="3611452"/>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solidFill>
                <a:schemeClr val="accent1"/>
              </a:solidFill>
              <a:ln>
                <a:solidFill>
                  <a:schemeClr val="accent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baseline="0" dirty="0">
                    <a:solidFill>
                      <a:schemeClr val="bg1"/>
                    </a:solidFill>
                  </a:rPr>
                  <a:t>4</a:t>
                </a:r>
              </a:p>
            </p:txBody>
          </p:sp>
          <p:sp>
            <p:nvSpPr>
              <p:cNvPr id="87" name="Freeform 86"/>
              <p:cNvSpPr/>
              <p:nvPr/>
            </p:nvSpPr>
            <p:spPr>
              <a:xfrm>
                <a:off x="1127986" y="3611453"/>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solidFill>
                <a:schemeClr val="bg1"/>
              </a:solidFill>
              <a:ln>
                <a:solidFill>
                  <a:schemeClr val="accent1"/>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algn="l" defTabSz="755650">
                  <a:lnSpc>
                    <a:spcPct val="90000"/>
                  </a:lnSpc>
                  <a:spcBef>
                    <a:spcPct val="0"/>
                  </a:spcBef>
                  <a:spcAft>
                    <a:spcPct val="15000"/>
                  </a:spcAft>
                </a:pPr>
                <a:r>
                  <a:rPr lang="en-GB" sz="1600" b="1" kern="1200" baseline="0" dirty="0">
                    <a:solidFill>
                      <a:schemeClr val="tx1"/>
                    </a:solidFill>
                  </a:rPr>
                  <a:t>Lookup </a:t>
                </a:r>
                <a:r>
                  <a:rPr lang="en-GB" sz="1600" kern="1200" baseline="0" dirty="0">
                    <a:solidFill>
                      <a:schemeClr val="tx1"/>
                    </a:solidFill>
                  </a:rPr>
                  <a:t>the</a:t>
                </a:r>
                <a:r>
                  <a:rPr lang="en-GB" sz="1600" b="1" kern="1200" baseline="0" dirty="0">
                    <a:solidFill>
                      <a:schemeClr val="tx1"/>
                    </a:solidFill>
                  </a:rPr>
                  <a:t> </a:t>
                </a:r>
                <a:r>
                  <a:rPr lang="en-GB" sz="1600" b="0" kern="1200" baseline="0" dirty="0">
                    <a:solidFill>
                      <a:schemeClr val="tx1"/>
                    </a:solidFill>
                  </a:rPr>
                  <a:t>critical value or the p-value</a:t>
                </a:r>
                <a:endParaRPr lang="en-GB" sz="1600" kern="1200" baseline="0" dirty="0">
                  <a:solidFill>
                    <a:schemeClr val="tx1"/>
                  </a:solidFill>
                </a:endParaRPr>
              </a:p>
            </p:txBody>
          </p:sp>
        </p:grpSp>
        <p:grpSp>
          <p:nvGrpSpPr>
            <p:cNvPr id="83" name="Group 82"/>
            <p:cNvGrpSpPr/>
            <p:nvPr/>
          </p:nvGrpSpPr>
          <p:grpSpPr>
            <a:xfrm>
              <a:off x="925287" y="4500548"/>
              <a:ext cx="6618513" cy="958268"/>
              <a:chOff x="-65314" y="4450839"/>
              <a:chExt cx="6618513" cy="958268"/>
            </a:xfrm>
            <a:grpFill/>
          </p:grpSpPr>
          <p:sp>
            <p:nvSpPr>
              <p:cNvPr id="84" name="Freeform 83"/>
              <p:cNvSpPr/>
              <p:nvPr/>
            </p:nvSpPr>
            <p:spPr>
              <a:xfrm>
                <a:off x="-65314" y="4450839"/>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a:solidFill>
                <a:schemeClr val="accent1"/>
              </a:solidFill>
              <a:ln>
                <a:solidFill>
                  <a:schemeClr val="accent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baseline="0" dirty="0">
                    <a:solidFill>
                      <a:schemeClr val="bg1"/>
                    </a:solidFill>
                  </a:rPr>
                  <a:t>5</a:t>
                </a:r>
              </a:p>
            </p:txBody>
          </p:sp>
          <p:sp>
            <p:nvSpPr>
              <p:cNvPr id="85" name="Freeform 84"/>
              <p:cNvSpPr/>
              <p:nvPr/>
            </p:nvSpPr>
            <p:spPr>
              <a:xfrm>
                <a:off x="1127986" y="4450840"/>
                <a:ext cx="5425213" cy="622874"/>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a:solidFill>
                <a:schemeClr val="bg1"/>
              </a:solidFill>
              <a:ln>
                <a:solidFill>
                  <a:schemeClr val="accent1"/>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2" numCol="1" spcCol="1270" anchor="ctr" anchorCtr="0">
                <a:noAutofit/>
              </a:bodyPr>
              <a:lstStyle/>
              <a:p>
                <a:pPr marL="0" lvl="1" algn="l" defTabSz="755650">
                  <a:lnSpc>
                    <a:spcPct val="90000"/>
                  </a:lnSpc>
                  <a:spcBef>
                    <a:spcPct val="0"/>
                  </a:spcBef>
                  <a:spcAft>
                    <a:spcPct val="15000"/>
                  </a:spcAft>
                </a:pPr>
                <a:r>
                  <a:rPr lang="en-GB" sz="1600" b="1" kern="1200" baseline="0" dirty="0">
                    <a:solidFill>
                      <a:schemeClr val="tx1"/>
                    </a:solidFill>
                  </a:rPr>
                  <a:t>Reject</a:t>
                </a:r>
                <a:r>
                  <a:rPr lang="en-GB" sz="1600" kern="1200" baseline="0" dirty="0">
                    <a:solidFill>
                      <a:schemeClr val="tx1"/>
                    </a:solidFill>
                  </a:rPr>
                  <a:t> </a:t>
                </a:r>
                <a:r>
                  <a:rPr lang="en-GB" sz="1600" kern="1200" dirty="0">
                    <a:solidFill>
                      <a:schemeClr val="tx1"/>
                    </a:solidFill>
                  </a:rPr>
                  <a:t>H</a:t>
                </a:r>
                <a:r>
                  <a:rPr lang="en-GB" sz="1600" kern="1200" baseline="-25000" dirty="0">
                    <a:solidFill>
                      <a:schemeClr val="tx1"/>
                    </a:solidFill>
                  </a:rPr>
                  <a:t>0</a:t>
                </a:r>
                <a:r>
                  <a:rPr lang="en-GB" sz="1600" kern="1200" baseline="0" dirty="0">
                    <a:solidFill>
                      <a:schemeClr val="tx1"/>
                    </a:solidFill>
                  </a:rPr>
                  <a:t> or </a:t>
                </a:r>
                <a:r>
                  <a:rPr lang="en-GB" sz="1600" b="1" kern="1200" baseline="0" dirty="0">
                    <a:solidFill>
                      <a:schemeClr val="tx1"/>
                    </a:solidFill>
                  </a:rPr>
                  <a:t>Fail</a:t>
                </a:r>
                <a:r>
                  <a:rPr lang="en-GB" sz="1600" b="1" kern="1200" dirty="0">
                    <a:solidFill>
                      <a:schemeClr val="tx1"/>
                    </a:solidFill>
                  </a:rPr>
                  <a:t> to </a:t>
                </a:r>
                <a:r>
                  <a:rPr lang="en-GB" sz="1600" kern="1200" dirty="0">
                    <a:solidFill>
                      <a:schemeClr val="tx1"/>
                    </a:solidFill>
                  </a:rPr>
                  <a:t>Reject</a:t>
                </a:r>
                <a:r>
                  <a:rPr lang="en-GB" sz="1600" kern="1200" baseline="0" dirty="0">
                    <a:solidFill>
                      <a:schemeClr val="tx1"/>
                    </a:solidFill>
                  </a:rPr>
                  <a:t> </a:t>
                </a:r>
              </a:p>
            </p:txBody>
          </p:sp>
        </p:grpSp>
      </p:grpSp>
      <p:grpSp>
        <p:nvGrpSpPr>
          <p:cNvPr id="94" name="Group 93"/>
          <p:cNvGrpSpPr/>
          <p:nvPr/>
        </p:nvGrpSpPr>
        <p:grpSpPr>
          <a:xfrm>
            <a:off x="6248400" y="152399"/>
            <a:ext cx="2743199" cy="693685"/>
            <a:chOff x="-65314" y="1093291"/>
            <a:chExt cx="6618513" cy="958268"/>
          </a:xfrm>
        </p:grpSpPr>
        <p:sp>
          <p:nvSpPr>
            <p:cNvPr id="95" name="Freeform 94"/>
            <p:cNvSpPr/>
            <p:nvPr/>
          </p:nvSpPr>
          <p:spPr>
            <a:xfrm>
              <a:off x="-65314" y="1093291"/>
              <a:ext cx="1193301" cy="958268"/>
            </a:xfrm>
            <a:custGeom>
              <a:avLst/>
              <a:gdLst>
                <a:gd name="connsiteX0" fmla="*/ 0 w 958267"/>
                <a:gd name="connsiteY0" fmla="*/ 0 h 670786"/>
                <a:gd name="connsiteX1" fmla="*/ 622874 w 958267"/>
                <a:gd name="connsiteY1" fmla="*/ 0 h 670786"/>
                <a:gd name="connsiteX2" fmla="*/ 958267 w 958267"/>
                <a:gd name="connsiteY2" fmla="*/ 335393 h 670786"/>
                <a:gd name="connsiteX3" fmla="*/ 622874 w 958267"/>
                <a:gd name="connsiteY3" fmla="*/ 670786 h 670786"/>
                <a:gd name="connsiteX4" fmla="*/ 0 w 958267"/>
                <a:gd name="connsiteY4" fmla="*/ 670786 h 670786"/>
                <a:gd name="connsiteX5" fmla="*/ 335393 w 958267"/>
                <a:gd name="connsiteY5" fmla="*/ 335393 h 670786"/>
                <a:gd name="connsiteX6" fmla="*/ 0 w 958267"/>
                <a:gd name="connsiteY6" fmla="*/ 0 h 67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267" h="670786">
                  <a:moveTo>
                    <a:pt x="958266" y="0"/>
                  </a:moveTo>
                  <a:lnTo>
                    <a:pt x="958266" y="436011"/>
                  </a:lnTo>
                  <a:lnTo>
                    <a:pt x="479134" y="670786"/>
                  </a:lnTo>
                  <a:lnTo>
                    <a:pt x="1" y="436011"/>
                  </a:lnTo>
                  <a:lnTo>
                    <a:pt x="1" y="0"/>
                  </a:lnTo>
                  <a:lnTo>
                    <a:pt x="479134" y="234775"/>
                  </a:lnTo>
                  <a:lnTo>
                    <a:pt x="958266"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31" tIns="346823" rIns="11430" bIns="346824" numCol="1" spcCol="1270" anchor="ctr" anchorCtr="0">
              <a:noAutofit/>
            </a:bodyPr>
            <a:lstStyle/>
            <a:p>
              <a:pPr lvl="0" algn="ctr" defTabSz="800100">
                <a:lnSpc>
                  <a:spcPct val="90000"/>
                </a:lnSpc>
                <a:spcBef>
                  <a:spcPct val="0"/>
                </a:spcBef>
                <a:spcAft>
                  <a:spcPct val="35000"/>
                </a:spcAft>
              </a:pPr>
              <a:r>
                <a:rPr lang="en-GB" sz="1600" kern="1200" dirty="0"/>
                <a:t>1</a:t>
              </a:r>
            </a:p>
          </p:txBody>
        </p:sp>
        <p:sp>
          <p:nvSpPr>
            <p:cNvPr id="96" name="Freeform 95"/>
            <p:cNvSpPr/>
            <p:nvPr/>
          </p:nvSpPr>
          <p:spPr>
            <a:xfrm>
              <a:off x="1127986" y="1093293"/>
              <a:ext cx="5425213" cy="622873"/>
            </a:xfrm>
            <a:custGeom>
              <a:avLst/>
              <a:gdLst>
                <a:gd name="connsiteX0" fmla="*/ 103814 w 622873"/>
                <a:gd name="connsiteY0" fmla="*/ 0 h 5425213"/>
                <a:gd name="connsiteX1" fmla="*/ 519059 w 622873"/>
                <a:gd name="connsiteY1" fmla="*/ 0 h 5425213"/>
                <a:gd name="connsiteX2" fmla="*/ 622873 w 622873"/>
                <a:gd name="connsiteY2" fmla="*/ 103814 h 5425213"/>
                <a:gd name="connsiteX3" fmla="*/ 622873 w 622873"/>
                <a:gd name="connsiteY3" fmla="*/ 5425213 h 5425213"/>
                <a:gd name="connsiteX4" fmla="*/ 622873 w 622873"/>
                <a:gd name="connsiteY4" fmla="*/ 5425213 h 5425213"/>
                <a:gd name="connsiteX5" fmla="*/ 0 w 622873"/>
                <a:gd name="connsiteY5" fmla="*/ 5425213 h 5425213"/>
                <a:gd name="connsiteX6" fmla="*/ 0 w 622873"/>
                <a:gd name="connsiteY6" fmla="*/ 5425213 h 5425213"/>
                <a:gd name="connsiteX7" fmla="*/ 0 w 622873"/>
                <a:gd name="connsiteY7" fmla="*/ 103814 h 5425213"/>
                <a:gd name="connsiteX8" fmla="*/ 103814 w 622873"/>
                <a:gd name="connsiteY8" fmla="*/ 0 h 5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873" h="5425213">
                  <a:moveTo>
                    <a:pt x="622873" y="904221"/>
                  </a:moveTo>
                  <a:lnTo>
                    <a:pt x="622873" y="4520992"/>
                  </a:lnTo>
                  <a:cubicBezTo>
                    <a:pt x="622873" y="5020378"/>
                    <a:pt x="617537" y="5425209"/>
                    <a:pt x="610954" y="5425209"/>
                  </a:cubicBezTo>
                  <a:lnTo>
                    <a:pt x="0" y="5425209"/>
                  </a:lnTo>
                  <a:lnTo>
                    <a:pt x="0" y="5425209"/>
                  </a:lnTo>
                  <a:lnTo>
                    <a:pt x="0" y="4"/>
                  </a:lnTo>
                  <a:lnTo>
                    <a:pt x="0" y="4"/>
                  </a:lnTo>
                  <a:lnTo>
                    <a:pt x="610954" y="4"/>
                  </a:lnTo>
                  <a:cubicBezTo>
                    <a:pt x="617537" y="4"/>
                    <a:pt x="622873" y="404835"/>
                    <a:pt x="622873" y="904221"/>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904" tIns="41201" rIns="41201" bIns="41201" numCol="1" spcCol="1270" anchor="ctr" anchorCtr="0">
              <a:noAutofit/>
            </a:bodyPr>
            <a:lstStyle/>
            <a:p>
              <a:pPr marL="0" lvl="1" algn="l" defTabSz="755650">
                <a:lnSpc>
                  <a:spcPct val="90000"/>
                </a:lnSpc>
                <a:spcBef>
                  <a:spcPct val="0"/>
                </a:spcBef>
                <a:spcAft>
                  <a:spcPct val="15000"/>
                </a:spcAft>
              </a:pPr>
              <a:r>
                <a:rPr lang="en-GB" sz="1600" kern="1200" dirty="0"/>
                <a:t>State your null hypothesis (H</a:t>
              </a:r>
              <a:r>
                <a:rPr lang="en-GB" sz="1600" kern="1200" baseline="-25000" dirty="0"/>
                <a:t>0</a:t>
              </a:r>
              <a:r>
                <a:rPr lang="en-GB" sz="1600" kern="1200" baseline="0" dirty="0"/>
                <a:t>)</a:t>
              </a:r>
            </a:p>
          </p:txBody>
        </p:sp>
      </p:grpSp>
      <p:pic>
        <p:nvPicPr>
          <p:cNvPr id="5" name="Picture 4">
            <a:extLst>
              <a:ext uri="{FF2B5EF4-FFF2-40B4-BE49-F238E27FC236}">
                <a16:creationId xmlns:a16="http://schemas.microsoft.com/office/drawing/2014/main" id="{BF33B279-C5AE-A770-117D-1D529A8CC9B1}"/>
              </a:ext>
            </a:extLst>
          </p:cNvPr>
          <p:cNvPicPr>
            <a:picLocks noChangeAspect="1"/>
          </p:cNvPicPr>
          <p:nvPr/>
        </p:nvPicPr>
        <p:blipFill>
          <a:blip r:embed="rId8"/>
          <a:stretch>
            <a:fillRect/>
          </a:stretch>
        </p:blipFill>
        <p:spPr>
          <a:xfrm>
            <a:off x="362638" y="5994987"/>
            <a:ext cx="8687578" cy="217684"/>
          </a:xfrm>
          <a:prstGeom prst="rect">
            <a:avLst/>
          </a:prstGeom>
        </p:spPr>
      </p:pic>
      <p:pic>
        <p:nvPicPr>
          <p:cNvPr id="7" name="Picture 6">
            <a:extLst>
              <a:ext uri="{FF2B5EF4-FFF2-40B4-BE49-F238E27FC236}">
                <a16:creationId xmlns:a16="http://schemas.microsoft.com/office/drawing/2014/main" id="{6881E42C-50AA-2D62-6168-3B475B8399E9}"/>
              </a:ext>
            </a:extLst>
          </p:cNvPr>
          <p:cNvPicPr>
            <a:picLocks noChangeAspect="1"/>
          </p:cNvPicPr>
          <p:nvPr/>
        </p:nvPicPr>
        <p:blipFill>
          <a:blip r:embed="rId9"/>
          <a:stretch>
            <a:fillRect/>
          </a:stretch>
        </p:blipFill>
        <p:spPr>
          <a:xfrm>
            <a:off x="175599" y="5253593"/>
            <a:ext cx="8792802" cy="600159"/>
          </a:xfrm>
          <a:prstGeom prst="rect">
            <a:avLst/>
          </a:prstGeom>
        </p:spPr>
      </p:pic>
    </p:spTree>
    <p:extLst>
      <p:ext uri="{BB962C8B-B14F-4D97-AF65-F5344CB8AC3E}">
        <p14:creationId xmlns:p14="http://schemas.microsoft.com/office/powerpoint/2010/main" val="28765855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7" name="Text Box 3"/>
          <p:cNvSpPr txBox="1">
            <a:spLocks noChangeArrowheads="1"/>
          </p:cNvSpPr>
          <p:nvPr/>
        </p:nvSpPr>
        <p:spPr bwMode="auto">
          <a:xfrm>
            <a:off x="304800" y="838200"/>
            <a:ext cx="5715000"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altLang="en-US" sz="2000" dirty="0"/>
              <a:t>The average value of houses when valued five years ago, was</a:t>
            </a:r>
            <a:r>
              <a:rPr lang="en-GB" altLang="en-US" sz="2000" b="1" dirty="0"/>
              <a:t> £120,000</a:t>
            </a:r>
            <a:r>
              <a:rPr lang="en-GB" altLang="en-US" sz="2000" dirty="0"/>
              <a:t>. </a:t>
            </a:r>
          </a:p>
          <a:p>
            <a:endParaRPr lang="en-GB" altLang="en-US" sz="2000" dirty="0"/>
          </a:p>
          <a:p>
            <a:r>
              <a:rPr lang="en-GB" altLang="en-US" sz="2000" dirty="0"/>
              <a:t>A recent survey of property prices for recent sales among local estate agents found that for </a:t>
            </a:r>
            <a:r>
              <a:rPr lang="en-GB" altLang="en-US" sz="2000" b="1" dirty="0"/>
              <a:t>a sample of 50 </a:t>
            </a:r>
            <a:r>
              <a:rPr lang="en-GB" altLang="en-US" sz="2000" dirty="0"/>
              <a:t>properties the average sale price was  </a:t>
            </a:r>
            <a:r>
              <a:rPr lang="en-GB" altLang="en-US" sz="2000" b="1" dirty="0"/>
              <a:t>£124,000</a:t>
            </a:r>
            <a:r>
              <a:rPr lang="en-GB" altLang="en-US" sz="2000" dirty="0"/>
              <a:t>, with a </a:t>
            </a:r>
            <a:r>
              <a:rPr lang="en-GB" altLang="en-US" sz="2000" b="1" dirty="0"/>
              <a:t>standard deviation of £15,000</a:t>
            </a:r>
            <a:r>
              <a:rPr lang="en-GB" altLang="en-US" sz="2000" dirty="0"/>
              <a:t>. </a:t>
            </a:r>
          </a:p>
          <a:p>
            <a:endParaRPr lang="en-GB" altLang="en-US" sz="2000" dirty="0"/>
          </a:p>
          <a:p>
            <a:r>
              <a:rPr lang="en-GB" altLang="en-US" sz="2000" dirty="0">
                <a:solidFill>
                  <a:srgbClr val="333399"/>
                </a:solidFill>
              </a:rPr>
              <a:t>Can we conclude that there has been</a:t>
            </a:r>
          </a:p>
          <a:p>
            <a:r>
              <a:rPr lang="en-GB" altLang="en-US" sz="2000" dirty="0">
                <a:solidFill>
                  <a:srgbClr val="333399"/>
                </a:solidFill>
              </a:rPr>
              <a:t>a significant change in house prices?</a:t>
            </a:r>
          </a:p>
        </p:txBody>
      </p:sp>
      <p:sp>
        <p:nvSpPr>
          <p:cNvPr id="2" name="Title 1"/>
          <p:cNvSpPr>
            <a:spLocks noGrp="1"/>
          </p:cNvSpPr>
          <p:nvPr>
            <p:ph type="title"/>
          </p:nvPr>
        </p:nvSpPr>
        <p:spPr/>
        <p:txBody>
          <a:bodyPr/>
          <a:lstStyle/>
          <a:p>
            <a:r>
              <a:rPr lang="en-GB" dirty="0"/>
              <a:t>Q2 Exercise Problem</a:t>
            </a:r>
          </a:p>
        </p:txBody>
      </p:sp>
      <p:pic>
        <p:nvPicPr>
          <p:cNvPr id="1026" name="Picture 2" descr="http://cgvector.cgvector.netdna-cdn.com/wp-content/uploads/2013/01/259-3d-cool-house-icon-Vector.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77000" y="2694467"/>
            <a:ext cx="2400300" cy="2400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46655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7" name="Text Box 3"/>
          <p:cNvSpPr txBox="1">
            <a:spLocks noChangeArrowheads="1"/>
          </p:cNvSpPr>
          <p:nvPr/>
        </p:nvSpPr>
        <p:spPr bwMode="auto">
          <a:xfrm>
            <a:off x="304800" y="838200"/>
            <a:ext cx="5715000"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altLang="en-US" sz="2000" dirty="0"/>
              <a:t>The average value of houses when valued five years ago, was</a:t>
            </a:r>
            <a:r>
              <a:rPr lang="en-GB" altLang="en-US" sz="2000" b="1" dirty="0"/>
              <a:t> £120,000</a:t>
            </a:r>
            <a:r>
              <a:rPr lang="en-GB" altLang="en-US" sz="2000" dirty="0"/>
              <a:t>. </a:t>
            </a:r>
          </a:p>
          <a:p>
            <a:endParaRPr lang="en-GB" altLang="en-US" sz="2000" dirty="0"/>
          </a:p>
          <a:p>
            <a:r>
              <a:rPr lang="en-GB" altLang="en-US" sz="2000" dirty="0"/>
              <a:t>A recent survey of property prices for recent sales among local estate agents found that for </a:t>
            </a:r>
            <a:r>
              <a:rPr lang="en-GB" altLang="en-US" sz="2000" b="1" dirty="0"/>
              <a:t>a sample of 50 </a:t>
            </a:r>
            <a:r>
              <a:rPr lang="en-GB" altLang="en-US" sz="2000" dirty="0"/>
              <a:t>properties the average sale price was  </a:t>
            </a:r>
            <a:r>
              <a:rPr lang="en-GB" altLang="en-US" sz="2000" b="1" dirty="0"/>
              <a:t>£124,000</a:t>
            </a:r>
            <a:r>
              <a:rPr lang="en-GB" altLang="en-US" sz="2000" dirty="0"/>
              <a:t>, with a </a:t>
            </a:r>
            <a:r>
              <a:rPr lang="en-GB" altLang="en-US" sz="2000" b="1" dirty="0"/>
              <a:t>standard deviation of £15,000</a:t>
            </a:r>
            <a:r>
              <a:rPr lang="en-GB" altLang="en-US" sz="2000" dirty="0"/>
              <a:t>. </a:t>
            </a:r>
          </a:p>
          <a:p>
            <a:endParaRPr lang="en-GB" altLang="en-US" sz="2000" dirty="0"/>
          </a:p>
          <a:p>
            <a:r>
              <a:rPr lang="en-GB" altLang="en-US" sz="2000" dirty="0">
                <a:solidFill>
                  <a:srgbClr val="333399"/>
                </a:solidFill>
              </a:rPr>
              <a:t>Can we conclude that there has been</a:t>
            </a:r>
          </a:p>
          <a:p>
            <a:r>
              <a:rPr lang="en-GB" altLang="en-US" sz="2000" dirty="0">
                <a:solidFill>
                  <a:srgbClr val="333399"/>
                </a:solidFill>
              </a:rPr>
              <a:t>a significant change in house prices?</a:t>
            </a:r>
          </a:p>
          <a:p>
            <a:endParaRPr lang="en-GB" altLang="en-US" sz="2000" b="1" dirty="0">
              <a:solidFill>
                <a:srgbClr val="FF0000"/>
              </a:solidFill>
            </a:endParaRPr>
          </a:p>
          <a:p>
            <a:r>
              <a:rPr lang="en-GB" altLang="en-US" sz="2000" b="1" dirty="0">
                <a:solidFill>
                  <a:srgbClr val="FF0000"/>
                </a:solidFill>
              </a:rPr>
              <a:t>CANNOT REJECT NULL HYPOTHESIS </a:t>
            </a:r>
          </a:p>
          <a:p>
            <a:endParaRPr lang="en-GB" altLang="en-US" sz="2000" b="1" dirty="0">
              <a:solidFill>
                <a:srgbClr val="FF0000"/>
              </a:solidFill>
            </a:endParaRPr>
          </a:p>
          <a:p>
            <a:r>
              <a:rPr lang="en-GB" altLang="en-US" sz="2000" b="1" dirty="0">
                <a:solidFill>
                  <a:srgbClr val="FF0000"/>
                </a:solidFill>
              </a:rPr>
              <a:t>THEREFORE, WE CANNOT CLAIM A</a:t>
            </a:r>
          </a:p>
          <a:p>
            <a:r>
              <a:rPr lang="en-GB" altLang="en-US" sz="2000" b="1" dirty="0">
                <a:solidFill>
                  <a:srgbClr val="FF0000"/>
                </a:solidFill>
              </a:rPr>
              <a:t>SIGNIFICANT CHANGE</a:t>
            </a:r>
          </a:p>
        </p:txBody>
      </p:sp>
      <p:sp>
        <p:nvSpPr>
          <p:cNvPr id="2" name="Title 1"/>
          <p:cNvSpPr>
            <a:spLocks noGrp="1"/>
          </p:cNvSpPr>
          <p:nvPr>
            <p:ph type="title"/>
          </p:nvPr>
        </p:nvSpPr>
        <p:spPr/>
        <p:txBody>
          <a:bodyPr/>
          <a:lstStyle/>
          <a:p>
            <a:r>
              <a:rPr lang="en-GB" dirty="0"/>
              <a:t>Q#2 Change in house prices?</a:t>
            </a:r>
          </a:p>
        </p:txBody>
      </p:sp>
      <p:pic>
        <p:nvPicPr>
          <p:cNvPr id="1026" name="Picture 2" descr="http://cgvector.cgvector.netdna-cdn.com/wp-content/uploads/2013/01/259-3d-cool-house-icon-Vector.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77000" y="2694467"/>
            <a:ext cx="2400300" cy="2400300"/>
          </a:xfrm>
          <a:prstGeom prst="rect">
            <a:avLst/>
          </a:prstGeom>
          <a:noFill/>
          <a:extLst>
            <a:ext uri="{909E8E84-426E-40DD-AFC4-6F175D3DCCD1}">
              <a14:hiddenFill xmlns:a14="http://schemas.microsoft.com/office/drawing/2010/main">
                <a:solidFill>
                  <a:srgbClr val="FFFFFF"/>
                </a:solidFill>
              </a14:hiddenFill>
            </a:ext>
          </a:extLst>
        </p:spPr>
      </p:pic>
      <p:pic>
        <p:nvPicPr>
          <p:cNvPr id="921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34958" y="2851299"/>
            <a:ext cx="4538037" cy="3848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76634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E55F-4DB5-4276-AB19-3AA959641428}"/>
              </a:ext>
            </a:extLst>
          </p:cNvPr>
          <p:cNvSpPr>
            <a:spLocks noGrp="1"/>
          </p:cNvSpPr>
          <p:nvPr>
            <p:ph type="title"/>
          </p:nvPr>
        </p:nvSpPr>
        <p:spPr/>
        <p:txBody>
          <a:bodyPr/>
          <a:lstStyle/>
          <a:p>
            <a:r>
              <a:rPr lang="en-GB" dirty="0"/>
              <a:t>Hypothesis testing in SPSS/PSPP</a:t>
            </a:r>
          </a:p>
        </p:txBody>
      </p:sp>
      <p:pic>
        <p:nvPicPr>
          <p:cNvPr id="3" name="Picture 2">
            <a:extLst>
              <a:ext uri="{FF2B5EF4-FFF2-40B4-BE49-F238E27FC236}">
                <a16:creationId xmlns:a16="http://schemas.microsoft.com/office/drawing/2014/main" id="{22C452AD-72EA-43F2-9A53-98321568DE20}"/>
              </a:ext>
            </a:extLst>
          </p:cNvPr>
          <p:cNvPicPr>
            <a:picLocks noChangeAspect="1"/>
          </p:cNvPicPr>
          <p:nvPr/>
        </p:nvPicPr>
        <p:blipFill>
          <a:blip r:embed="rId2"/>
          <a:stretch>
            <a:fillRect/>
          </a:stretch>
        </p:blipFill>
        <p:spPr>
          <a:xfrm>
            <a:off x="381000" y="3886200"/>
            <a:ext cx="4648200" cy="2590800"/>
          </a:xfrm>
          <a:prstGeom prst="rect">
            <a:avLst/>
          </a:prstGeom>
          <a:ln w="57150">
            <a:solidFill>
              <a:schemeClr val="tx2">
                <a:lumMod val="60000"/>
                <a:lumOff val="40000"/>
              </a:schemeClr>
            </a:solidFill>
          </a:ln>
        </p:spPr>
      </p:pic>
      <p:sp>
        <p:nvSpPr>
          <p:cNvPr id="4" name="Text Box 8">
            <a:extLst>
              <a:ext uri="{FF2B5EF4-FFF2-40B4-BE49-F238E27FC236}">
                <a16:creationId xmlns:a16="http://schemas.microsoft.com/office/drawing/2014/main" id="{59225839-1C05-4853-8F71-2E03CB184584}"/>
              </a:ext>
            </a:extLst>
          </p:cNvPr>
          <p:cNvSpPr txBox="1">
            <a:spLocks noChangeArrowheads="1"/>
          </p:cNvSpPr>
          <p:nvPr/>
        </p:nvSpPr>
        <p:spPr bwMode="auto">
          <a:xfrm>
            <a:off x="304800" y="762000"/>
            <a:ext cx="822959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altLang="en-US" sz="2000" dirty="0"/>
              <a:t>Is the highest year of school completed in the GSS.SAV sample</a:t>
            </a:r>
          </a:p>
          <a:p>
            <a:r>
              <a:rPr lang="en-GB" altLang="en-US" sz="2000" dirty="0"/>
              <a:t>different to the </a:t>
            </a:r>
            <a:r>
              <a:rPr lang="en-GB" altLang="en-US" sz="2000" b="1" dirty="0"/>
              <a:t>population average of 12</a:t>
            </a:r>
            <a:r>
              <a:rPr lang="en-GB" altLang="en-US" sz="2000" dirty="0"/>
              <a:t>?</a:t>
            </a:r>
            <a:endParaRPr lang="en-US" altLang="en-US" sz="2000" dirty="0"/>
          </a:p>
        </p:txBody>
      </p:sp>
      <p:pic>
        <p:nvPicPr>
          <p:cNvPr id="5" name="Picture 4">
            <a:extLst>
              <a:ext uri="{FF2B5EF4-FFF2-40B4-BE49-F238E27FC236}">
                <a16:creationId xmlns:a16="http://schemas.microsoft.com/office/drawing/2014/main" id="{5EB047C4-9715-4821-B887-652D901BB94F}"/>
              </a:ext>
            </a:extLst>
          </p:cNvPr>
          <p:cNvPicPr>
            <a:picLocks noChangeAspect="1"/>
          </p:cNvPicPr>
          <p:nvPr/>
        </p:nvPicPr>
        <p:blipFill>
          <a:blip r:embed="rId3"/>
          <a:stretch>
            <a:fillRect/>
          </a:stretch>
        </p:blipFill>
        <p:spPr>
          <a:xfrm>
            <a:off x="3886200" y="1676400"/>
            <a:ext cx="4449019" cy="1905000"/>
          </a:xfrm>
          <a:prstGeom prst="rect">
            <a:avLst/>
          </a:prstGeom>
          <a:ln w="57150">
            <a:solidFill>
              <a:schemeClr val="tx1"/>
            </a:solidFill>
          </a:ln>
        </p:spPr>
      </p:pic>
      <p:sp>
        <p:nvSpPr>
          <p:cNvPr id="6" name="TextBox 5">
            <a:extLst>
              <a:ext uri="{FF2B5EF4-FFF2-40B4-BE49-F238E27FC236}">
                <a16:creationId xmlns:a16="http://schemas.microsoft.com/office/drawing/2014/main" id="{068AE343-04BB-4EE7-B2D3-7CBE25BEE779}"/>
              </a:ext>
            </a:extLst>
          </p:cNvPr>
          <p:cNvSpPr txBox="1"/>
          <p:nvPr/>
        </p:nvSpPr>
        <p:spPr>
          <a:xfrm>
            <a:off x="2324100" y="2155686"/>
            <a:ext cx="495300" cy="646331"/>
          </a:xfrm>
          <a:prstGeom prst="rect">
            <a:avLst/>
          </a:prstGeom>
          <a:noFill/>
        </p:spPr>
        <p:txBody>
          <a:bodyPr wrap="square" rtlCol="0">
            <a:spAutoFit/>
          </a:bodyPr>
          <a:lstStyle/>
          <a:p>
            <a:r>
              <a:rPr lang="en-GB" sz="3600" dirty="0"/>
              <a:t>1</a:t>
            </a:r>
          </a:p>
        </p:txBody>
      </p:sp>
      <p:sp>
        <p:nvSpPr>
          <p:cNvPr id="7" name="TextBox 6">
            <a:extLst>
              <a:ext uri="{FF2B5EF4-FFF2-40B4-BE49-F238E27FC236}">
                <a16:creationId xmlns:a16="http://schemas.microsoft.com/office/drawing/2014/main" id="{F2530E7D-B780-4DD5-B0D8-B141EC834932}"/>
              </a:ext>
            </a:extLst>
          </p:cNvPr>
          <p:cNvSpPr txBox="1"/>
          <p:nvPr/>
        </p:nvSpPr>
        <p:spPr>
          <a:xfrm>
            <a:off x="6705600" y="4755794"/>
            <a:ext cx="495300" cy="646331"/>
          </a:xfrm>
          <a:prstGeom prst="rect">
            <a:avLst/>
          </a:prstGeom>
          <a:noFill/>
        </p:spPr>
        <p:txBody>
          <a:bodyPr wrap="square" rtlCol="0">
            <a:spAutoFit/>
          </a:bodyPr>
          <a:lstStyle/>
          <a:p>
            <a:r>
              <a:rPr lang="en-GB" sz="3600" dirty="0">
                <a:solidFill>
                  <a:srgbClr val="0070C0"/>
                </a:solidFill>
              </a:rPr>
              <a:t>2</a:t>
            </a:r>
          </a:p>
        </p:txBody>
      </p:sp>
    </p:spTree>
    <p:extLst>
      <p:ext uri="{BB962C8B-B14F-4D97-AF65-F5344CB8AC3E}">
        <p14:creationId xmlns:p14="http://schemas.microsoft.com/office/powerpoint/2010/main" val="14686966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110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2888" y="1447800"/>
            <a:ext cx="5903912" cy="1416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3111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025" y="2806700"/>
            <a:ext cx="8424863" cy="2239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31112" name="Text Box 8"/>
          <p:cNvSpPr txBox="1">
            <a:spLocks noChangeArrowheads="1"/>
          </p:cNvSpPr>
          <p:nvPr/>
        </p:nvSpPr>
        <p:spPr bwMode="auto">
          <a:xfrm>
            <a:off x="303213" y="762000"/>
            <a:ext cx="576209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000" dirty="0"/>
              <a:t>Is the highest year of school completed in this sample</a:t>
            </a:r>
          </a:p>
          <a:p>
            <a:r>
              <a:rPr lang="en-GB" altLang="en-US" sz="2000" dirty="0"/>
              <a:t>different to the </a:t>
            </a:r>
            <a:r>
              <a:rPr lang="en-GB" altLang="en-US" sz="2000" b="1" dirty="0"/>
              <a:t>population average of 12</a:t>
            </a:r>
            <a:r>
              <a:rPr lang="en-GB" altLang="en-US" sz="2000" dirty="0"/>
              <a:t>?</a:t>
            </a:r>
            <a:endParaRPr lang="en-US" altLang="en-US" sz="2000" dirty="0"/>
          </a:p>
        </p:txBody>
      </p:sp>
      <p:sp>
        <p:nvSpPr>
          <p:cNvPr id="2" name="Title 1"/>
          <p:cNvSpPr>
            <a:spLocks noGrp="1"/>
          </p:cNvSpPr>
          <p:nvPr>
            <p:ph type="title"/>
          </p:nvPr>
        </p:nvSpPr>
        <p:spPr/>
        <p:txBody>
          <a:bodyPr/>
          <a:lstStyle/>
          <a:p>
            <a:r>
              <a:rPr lang="en-GB" dirty="0"/>
              <a:t>Hypothesis testing in SPSS</a:t>
            </a:r>
          </a:p>
        </p:txBody>
      </p:sp>
      <p:grpSp>
        <p:nvGrpSpPr>
          <p:cNvPr id="3" name="Group 2"/>
          <p:cNvGrpSpPr/>
          <p:nvPr/>
        </p:nvGrpSpPr>
        <p:grpSpPr>
          <a:xfrm>
            <a:off x="304800" y="3714690"/>
            <a:ext cx="5234763" cy="1162110"/>
            <a:chOff x="304800" y="3714690"/>
            <a:chExt cx="5234763" cy="1162110"/>
          </a:xfrm>
        </p:grpSpPr>
        <p:sp>
          <p:nvSpPr>
            <p:cNvPr id="7" name="Text Box 8"/>
            <p:cNvSpPr txBox="1">
              <a:spLocks noChangeArrowheads="1"/>
            </p:cNvSpPr>
            <p:nvPr/>
          </p:nvSpPr>
          <p:spPr bwMode="auto">
            <a:xfrm>
              <a:off x="304800" y="3714690"/>
              <a:ext cx="5081519" cy="400110"/>
            </a:xfrm>
            <a:prstGeom prst="rect">
              <a:avLst/>
            </a:prstGeom>
            <a:solidFill>
              <a:schemeClr val="bg2"/>
            </a:solidFill>
            <a:ln>
              <a:noFill/>
            </a:ln>
            <a:effectLst/>
          </p:spPr>
          <p:txBody>
            <a:bodyPr wrap="none">
              <a:spAutoFit/>
            </a:bodyPr>
            <a:lstStyle/>
            <a:p>
              <a:r>
                <a:rPr lang="en-GB" altLang="en-US" sz="2000" b="1" dirty="0">
                  <a:solidFill>
                    <a:srgbClr val="FF0000"/>
                  </a:solidFill>
                </a:rPr>
                <a:t>YES, there is strong evidence that it’s different</a:t>
              </a:r>
              <a:endParaRPr lang="en-US" altLang="en-US" sz="2000" b="1" dirty="0">
                <a:solidFill>
                  <a:srgbClr val="FF0000"/>
                </a:solidFill>
              </a:endParaRPr>
            </a:p>
          </p:txBody>
        </p:sp>
        <p:sp>
          <p:nvSpPr>
            <p:cNvPr id="6" name="Oval Callout 5"/>
            <p:cNvSpPr/>
            <p:nvPr/>
          </p:nvSpPr>
          <p:spPr>
            <a:xfrm>
              <a:off x="4876800" y="4495800"/>
              <a:ext cx="662763" cy="381000"/>
            </a:xfrm>
            <a:prstGeom prst="wedgeEllipseCallout">
              <a:avLst>
                <a:gd name="adj1" fmla="val -20834"/>
                <a:gd name="adj2" fmla="val -155174"/>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 name="Rectangle 3">
            <a:extLst>
              <a:ext uri="{FF2B5EF4-FFF2-40B4-BE49-F238E27FC236}">
                <a16:creationId xmlns:a16="http://schemas.microsoft.com/office/drawing/2014/main" id="{281FD2B8-0E49-6C0F-95F5-C5D664E0A671}"/>
              </a:ext>
            </a:extLst>
          </p:cNvPr>
          <p:cNvSpPr/>
          <p:nvPr/>
        </p:nvSpPr>
        <p:spPr>
          <a:xfrm>
            <a:off x="2438400" y="4495800"/>
            <a:ext cx="762000" cy="3810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39927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5">
            <a:extLst>
              <a:ext uri="{FF2B5EF4-FFF2-40B4-BE49-F238E27FC236}">
                <a16:creationId xmlns:a16="http://schemas.microsoft.com/office/drawing/2014/main" id="{DE97E404-437B-1F57-268A-B5B95346E19A}"/>
              </a:ext>
            </a:extLst>
          </p:cNvPr>
          <p:cNvGraphicFramePr>
            <a:graphicFrameLocks noGrp="1"/>
          </p:cNvGraphicFramePr>
          <p:nvPr>
            <p:extLst>
              <p:ext uri="{D42A27DB-BD31-4B8C-83A1-F6EECF244321}">
                <p14:modId xmlns:p14="http://schemas.microsoft.com/office/powerpoint/2010/main" val="1142963634"/>
              </p:ext>
            </p:extLst>
          </p:nvPr>
        </p:nvGraphicFramePr>
        <p:xfrm>
          <a:off x="995889" y="1453633"/>
          <a:ext cx="7251225" cy="3950733"/>
        </p:xfrm>
        <a:graphic>
          <a:graphicData uri="http://schemas.openxmlformats.org/drawingml/2006/table">
            <a:tbl>
              <a:tblPr firstRow="1" bandRow="1">
                <a:tableStyleId>{5C22544A-7EE6-4342-B048-85BDC9FD1C3A}</a:tableStyleId>
              </a:tblPr>
              <a:tblGrid>
                <a:gridCol w="2417075">
                  <a:extLst>
                    <a:ext uri="{9D8B030D-6E8A-4147-A177-3AD203B41FA5}">
                      <a16:colId xmlns:a16="http://schemas.microsoft.com/office/drawing/2014/main" val="1143923563"/>
                    </a:ext>
                  </a:extLst>
                </a:gridCol>
                <a:gridCol w="2417075">
                  <a:extLst>
                    <a:ext uri="{9D8B030D-6E8A-4147-A177-3AD203B41FA5}">
                      <a16:colId xmlns:a16="http://schemas.microsoft.com/office/drawing/2014/main" val="2231350419"/>
                    </a:ext>
                  </a:extLst>
                </a:gridCol>
                <a:gridCol w="2417075">
                  <a:extLst>
                    <a:ext uri="{9D8B030D-6E8A-4147-A177-3AD203B41FA5}">
                      <a16:colId xmlns:a16="http://schemas.microsoft.com/office/drawing/2014/main" val="1633584814"/>
                    </a:ext>
                  </a:extLst>
                </a:gridCol>
              </a:tblGrid>
              <a:tr h="1316911">
                <a:tc>
                  <a:txBody>
                    <a:bodyPr/>
                    <a:lstStyle/>
                    <a:p>
                      <a:endParaRPr lang="en-GB" dirty="0"/>
                    </a:p>
                  </a:txBody>
                  <a:tcPr>
                    <a:solidFill>
                      <a:schemeClr val="tx2">
                        <a:lumMod val="40000"/>
                        <a:lumOff val="6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dirty="0">
                          <a:solidFill>
                            <a:sysClr val="windowText" lastClr="000000"/>
                          </a:solidFill>
                        </a:rPr>
                        <a:t>‘Statistical Test’: </a:t>
                      </a:r>
                      <a:r>
                        <a:rPr lang="en-GB" b="1" dirty="0">
                          <a:solidFill>
                            <a:srgbClr val="00B050"/>
                          </a:solidFill>
                        </a:rPr>
                        <a:t>Failed to reject null hypothesis.</a:t>
                      </a:r>
                    </a:p>
                  </a:txBody>
                  <a:tcPr anchor="b">
                    <a:solidFill>
                      <a:schemeClr val="tx2">
                        <a:lumMod val="40000"/>
                        <a:lumOff val="6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dirty="0">
                          <a:solidFill>
                            <a:sysClr val="windowText" lastClr="000000"/>
                          </a:solidFill>
                        </a:rPr>
                        <a:t>‘Statistical Test’: </a:t>
                      </a:r>
                      <a:r>
                        <a:rPr lang="en-GB" b="1" dirty="0">
                          <a:solidFill>
                            <a:srgbClr val="00B050"/>
                          </a:solidFill>
                        </a:rPr>
                        <a:t>Reject null hypothesis.</a:t>
                      </a:r>
                    </a:p>
                  </a:txBody>
                  <a:tcPr anchor="b">
                    <a:solidFill>
                      <a:schemeClr val="tx2">
                        <a:lumMod val="40000"/>
                        <a:lumOff val="60000"/>
                      </a:schemeClr>
                    </a:solidFill>
                  </a:tcPr>
                </a:tc>
                <a:extLst>
                  <a:ext uri="{0D108BD9-81ED-4DB2-BD59-A6C34878D82A}">
                    <a16:rowId xmlns:a16="http://schemas.microsoft.com/office/drawing/2014/main" val="585253855"/>
                  </a:ext>
                </a:extLst>
              </a:tr>
              <a:tr h="1316911">
                <a:tc>
                  <a:txBody>
                    <a:bodyPr/>
                    <a:lstStyle/>
                    <a:p>
                      <a:pPr algn="r"/>
                      <a:r>
                        <a:rPr lang="en-GB" b="1" dirty="0"/>
                        <a:t>Reality: Null</a:t>
                      </a:r>
                    </a:p>
                    <a:p>
                      <a:pPr algn="r"/>
                      <a:r>
                        <a:rPr lang="en-GB" b="1" dirty="0"/>
                        <a:t>Hypothesis</a:t>
                      </a:r>
                    </a:p>
                    <a:p>
                      <a:pPr algn="r"/>
                      <a:r>
                        <a:rPr lang="en-GB" b="1" dirty="0">
                          <a:solidFill>
                            <a:srgbClr val="00B050"/>
                          </a:solidFill>
                        </a:rPr>
                        <a:t>is true</a:t>
                      </a:r>
                    </a:p>
                    <a:p>
                      <a:endParaRPr lang="en-GB" dirty="0"/>
                    </a:p>
                  </a:txBody>
                  <a:tcPr>
                    <a:solidFill>
                      <a:schemeClr val="tx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t>GOOD</a:t>
                      </a:r>
                      <a:r>
                        <a:rPr lang="en-GB" b="1" baseline="0" dirty="0"/>
                        <a:t> CONCLUSION</a:t>
                      </a:r>
                      <a:endParaRPr lang="en-GB" b="1" dirty="0"/>
                    </a:p>
                  </a:txBody>
                  <a:tcPr anchor="ctr"/>
                </a:tc>
                <a:tc>
                  <a:txBody>
                    <a:bodyPr/>
                    <a:lstStyle/>
                    <a:p>
                      <a:pPr algn="ctr"/>
                      <a:endParaRPr lang="en-GB" dirty="0"/>
                    </a:p>
                  </a:txBody>
                  <a:tcPr anchor="ctr"/>
                </a:tc>
                <a:extLst>
                  <a:ext uri="{0D108BD9-81ED-4DB2-BD59-A6C34878D82A}">
                    <a16:rowId xmlns:a16="http://schemas.microsoft.com/office/drawing/2014/main" val="153380431"/>
                  </a:ext>
                </a:extLst>
              </a:tr>
              <a:tr h="1316911">
                <a:tc>
                  <a:txBody>
                    <a:bodyPr/>
                    <a:lstStyle/>
                    <a:p>
                      <a:pPr algn="r"/>
                      <a:r>
                        <a:rPr lang="en-GB" b="1" dirty="0"/>
                        <a:t>Reality: Alternative</a:t>
                      </a:r>
                    </a:p>
                    <a:p>
                      <a:pPr algn="r"/>
                      <a:r>
                        <a:rPr lang="en-GB" b="1" dirty="0"/>
                        <a:t>Hypothesis</a:t>
                      </a:r>
                    </a:p>
                    <a:p>
                      <a:pPr algn="r"/>
                      <a:r>
                        <a:rPr lang="en-GB" b="1" dirty="0">
                          <a:solidFill>
                            <a:srgbClr val="00B050"/>
                          </a:solidFill>
                        </a:rPr>
                        <a:t>is true</a:t>
                      </a:r>
                      <a:endParaRPr lang="en-GB" b="1" dirty="0">
                        <a:solidFill>
                          <a:srgbClr val="0070C0"/>
                        </a:solidFill>
                      </a:endParaRPr>
                    </a:p>
                    <a:p>
                      <a:endParaRPr lang="en-GB" dirty="0"/>
                    </a:p>
                  </a:txBody>
                  <a:tcPr>
                    <a:solidFill>
                      <a:schemeClr val="tx2">
                        <a:lumMod val="40000"/>
                        <a:lumOff val="60000"/>
                      </a:schemeClr>
                    </a:solidFill>
                  </a:tcPr>
                </a:tc>
                <a:tc>
                  <a:txBody>
                    <a:bodyPr/>
                    <a:lstStyle/>
                    <a:p>
                      <a:pPr algn="ctr"/>
                      <a:endParaRPr lang="en-GB"/>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t>GOOD</a:t>
                      </a:r>
                      <a:r>
                        <a:rPr lang="en-GB" b="1" baseline="0" dirty="0"/>
                        <a:t> CONCLUSION</a:t>
                      </a:r>
                      <a:endParaRPr lang="en-GB" b="1" dirty="0"/>
                    </a:p>
                  </a:txBody>
                  <a:tcPr anchor="ctr"/>
                </a:tc>
                <a:extLst>
                  <a:ext uri="{0D108BD9-81ED-4DB2-BD59-A6C34878D82A}">
                    <a16:rowId xmlns:a16="http://schemas.microsoft.com/office/drawing/2014/main" val="3772812831"/>
                  </a:ext>
                </a:extLst>
              </a:tr>
            </a:tbl>
          </a:graphicData>
        </a:graphic>
      </p:graphicFrame>
      <p:sp>
        <p:nvSpPr>
          <p:cNvPr id="2" name="Title 1"/>
          <p:cNvSpPr>
            <a:spLocks noGrp="1"/>
          </p:cNvSpPr>
          <p:nvPr>
            <p:ph type="title"/>
          </p:nvPr>
        </p:nvSpPr>
        <p:spPr/>
        <p:txBody>
          <a:bodyPr>
            <a:normAutofit fontScale="90000"/>
          </a:bodyPr>
          <a:lstStyle/>
          <a:p>
            <a:r>
              <a:rPr lang="en-GB" altLang="en-US" dirty="0"/>
              <a:t>This is about “EVIDENCE” not “PROOF”</a:t>
            </a:r>
            <a:br>
              <a:rPr lang="en-GB" altLang="en-US" dirty="0"/>
            </a:br>
            <a:r>
              <a:rPr lang="en-GB" altLang="en-US" dirty="0"/>
              <a:t>Possible Outcomes</a:t>
            </a:r>
            <a:endParaRPr lang="en-GB" dirty="0"/>
          </a:p>
        </p:txBody>
      </p:sp>
    </p:spTree>
    <p:extLst>
      <p:ext uri="{BB962C8B-B14F-4D97-AF65-F5344CB8AC3E}">
        <p14:creationId xmlns:p14="http://schemas.microsoft.com/office/powerpoint/2010/main" val="6538380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5">
            <a:extLst>
              <a:ext uri="{FF2B5EF4-FFF2-40B4-BE49-F238E27FC236}">
                <a16:creationId xmlns:a16="http://schemas.microsoft.com/office/drawing/2014/main" id="{DE97E404-437B-1F57-268A-B5B95346E19A}"/>
              </a:ext>
            </a:extLst>
          </p:cNvPr>
          <p:cNvGraphicFramePr>
            <a:graphicFrameLocks noGrp="1"/>
          </p:cNvGraphicFramePr>
          <p:nvPr>
            <p:extLst>
              <p:ext uri="{D42A27DB-BD31-4B8C-83A1-F6EECF244321}">
                <p14:modId xmlns:p14="http://schemas.microsoft.com/office/powerpoint/2010/main" val="2299765419"/>
              </p:ext>
            </p:extLst>
          </p:nvPr>
        </p:nvGraphicFramePr>
        <p:xfrm>
          <a:off x="995889" y="1453633"/>
          <a:ext cx="7251225" cy="3950733"/>
        </p:xfrm>
        <a:graphic>
          <a:graphicData uri="http://schemas.openxmlformats.org/drawingml/2006/table">
            <a:tbl>
              <a:tblPr firstRow="1" bandRow="1">
                <a:tableStyleId>{5C22544A-7EE6-4342-B048-85BDC9FD1C3A}</a:tableStyleId>
              </a:tblPr>
              <a:tblGrid>
                <a:gridCol w="2417075">
                  <a:extLst>
                    <a:ext uri="{9D8B030D-6E8A-4147-A177-3AD203B41FA5}">
                      <a16:colId xmlns:a16="http://schemas.microsoft.com/office/drawing/2014/main" val="1143923563"/>
                    </a:ext>
                  </a:extLst>
                </a:gridCol>
                <a:gridCol w="2417075">
                  <a:extLst>
                    <a:ext uri="{9D8B030D-6E8A-4147-A177-3AD203B41FA5}">
                      <a16:colId xmlns:a16="http://schemas.microsoft.com/office/drawing/2014/main" val="2231350419"/>
                    </a:ext>
                  </a:extLst>
                </a:gridCol>
                <a:gridCol w="2417075">
                  <a:extLst>
                    <a:ext uri="{9D8B030D-6E8A-4147-A177-3AD203B41FA5}">
                      <a16:colId xmlns:a16="http://schemas.microsoft.com/office/drawing/2014/main" val="1633584814"/>
                    </a:ext>
                  </a:extLst>
                </a:gridCol>
              </a:tblGrid>
              <a:tr h="1316911">
                <a:tc>
                  <a:txBody>
                    <a:bodyPr/>
                    <a:lstStyle/>
                    <a:p>
                      <a:endParaRPr lang="en-GB" dirty="0"/>
                    </a:p>
                  </a:txBody>
                  <a:tcPr>
                    <a:solidFill>
                      <a:schemeClr val="tx2">
                        <a:lumMod val="40000"/>
                        <a:lumOff val="6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dirty="0">
                          <a:solidFill>
                            <a:sysClr val="windowText" lastClr="000000"/>
                          </a:solidFill>
                        </a:rPr>
                        <a:t>‘Statistical Test’: </a:t>
                      </a:r>
                      <a:r>
                        <a:rPr lang="en-GB" b="1" dirty="0">
                          <a:solidFill>
                            <a:srgbClr val="00B050"/>
                          </a:solidFill>
                        </a:rPr>
                        <a:t>Failed to reject null hypothesis.</a:t>
                      </a:r>
                    </a:p>
                  </a:txBody>
                  <a:tcPr anchor="b">
                    <a:solidFill>
                      <a:schemeClr val="tx2">
                        <a:lumMod val="40000"/>
                        <a:lumOff val="6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dirty="0">
                          <a:solidFill>
                            <a:sysClr val="windowText" lastClr="000000"/>
                          </a:solidFill>
                        </a:rPr>
                        <a:t>‘Statistical Test’: </a:t>
                      </a:r>
                      <a:r>
                        <a:rPr lang="en-GB" b="1" dirty="0">
                          <a:solidFill>
                            <a:srgbClr val="00B050"/>
                          </a:solidFill>
                        </a:rPr>
                        <a:t>Reject null hypothesis.</a:t>
                      </a:r>
                    </a:p>
                  </a:txBody>
                  <a:tcPr anchor="b">
                    <a:solidFill>
                      <a:schemeClr val="tx2">
                        <a:lumMod val="40000"/>
                        <a:lumOff val="60000"/>
                      </a:schemeClr>
                    </a:solidFill>
                  </a:tcPr>
                </a:tc>
                <a:extLst>
                  <a:ext uri="{0D108BD9-81ED-4DB2-BD59-A6C34878D82A}">
                    <a16:rowId xmlns:a16="http://schemas.microsoft.com/office/drawing/2014/main" val="585253855"/>
                  </a:ext>
                </a:extLst>
              </a:tr>
              <a:tr h="1316911">
                <a:tc>
                  <a:txBody>
                    <a:bodyPr/>
                    <a:lstStyle/>
                    <a:p>
                      <a:pPr algn="r"/>
                      <a:r>
                        <a:rPr lang="en-GB" b="1" dirty="0"/>
                        <a:t>Reality: Null</a:t>
                      </a:r>
                    </a:p>
                    <a:p>
                      <a:pPr algn="r"/>
                      <a:r>
                        <a:rPr lang="en-GB" b="1" dirty="0"/>
                        <a:t>Hypothesis</a:t>
                      </a:r>
                    </a:p>
                    <a:p>
                      <a:pPr algn="r"/>
                      <a:r>
                        <a:rPr lang="en-GB" b="1" dirty="0">
                          <a:solidFill>
                            <a:srgbClr val="00B050"/>
                          </a:solidFill>
                        </a:rPr>
                        <a:t>is true</a:t>
                      </a:r>
                    </a:p>
                    <a:p>
                      <a:endParaRPr lang="en-GB" dirty="0"/>
                    </a:p>
                  </a:txBody>
                  <a:tcPr>
                    <a:solidFill>
                      <a:schemeClr val="tx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t>GOOD</a:t>
                      </a:r>
                      <a:r>
                        <a:rPr lang="en-GB" b="1" baseline="0" dirty="0"/>
                        <a:t> CONCLUSION</a:t>
                      </a:r>
                      <a:endParaRPr lang="en-GB"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rgbClr val="FF0000"/>
                          </a:solidFill>
                        </a:rPr>
                        <a:t>Type I Error/False Positive</a:t>
                      </a:r>
                    </a:p>
                  </a:txBody>
                  <a:tcPr anchor="ctr"/>
                </a:tc>
                <a:extLst>
                  <a:ext uri="{0D108BD9-81ED-4DB2-BD59-A6C34878D82A}">
                    <a16:rowId xmlns:a16="http://schemas.microsoft.com/office/drawing/2014/main" val="153380431"/>
                  </a:ext>
                </a:extLst>
              </a:tr>
              <a:tr h="1316911">
                <a:tc>
                  <a:txBody>
                    <a:bodyPr/>
                    <a:lstStyle/>
                    <a:p>
                      <a:pPr algn="r"/>
                      <a:r>
                        <a:rPr lang="en-GB" b="1" dirty="0"/>
                        <a:t>Reality: Alternative</a:t>
                      </a:r>
                    </a:p>
                    <a:p>
                      <a:pPr algn="r"/>
                      <a:r>
                        <a:rPr lang="en-GB" b="1" dirty="0"/>
                        <a:t>Hypothesis</a:t>
                      </a:r>
                    </a:p>
                    <a:p>
                      <a:pPr algn="r"/>
                      <a:r>
                        <a:rPr lang="en-GB" b="1" dirty="0">
                          <a:solidFill>
                            <a:srgbClr val="00B050"/>
                          </a:solidFill>
                        </a:rPr>
                        <a:t>is true</a:t>
                      </a:r>
                      <a:endParaRPr lang="en-GB" b="1" dirty="0">
                        <a:solidFill>
                          <a:srgbClr val="0070C0"/>
                        </a:solidFill>
                      </a:endParaRPr>
                    </a:p>
                    <a:p>
                      <a:endParaRPr lang="en-GB" dirty="0"/>
                    </a:p>
                  </a:txBody>
                  <a:tcPr>
                    <a:solidFill>
                      <a:schemeClr val="tx2">
                        <a:lumMod val="40000"/>
                        <a:lumOff val="60000"/>
                      </a:schemeClr>
                    </a:solidFill>
                  </a:tcPr>
                </a:tc>
                <a:tc>
                  <a:txBody>
                    <a:bodyPr/>
                    <a:lstStyle/>
                    <a:p>
                      <a:pPr algn="ctr"/>
                      <a:endParaRPr lang="en-GB"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t>GOOD</a:t>
                      </a:r>
                      <a:r>
                        <a:rPr lang="en-GB" b="1" baseline="0" dirty="0"/>
                        <a:t> CONCLUSION</a:t>
                      </a:r>
                      <a:endParaRPr lang="en-GB" b="1" dirty="0"/>
                    </a:p>
                  </a:txBody>
                  <a:tcPr anchor="ctr"/>
                </a:tc>
                <a:extLst>
                  <a:ext uri="{0D108BD9-81ED-4DB2-BD59-A6C34878D82A}">
                    <a16:rowId xmlns:a16="http://schemas.microsoft.com/office/drawing/2014/main" val="3772812831"/>
                  </a:ext>
                </a:extLst>
              </a:tr>
            </a:tbl>
          </a:graphicData>
        </a:graphic>
      </p:graphicFrame>
      <p:sp>
        <p:nvSpPr>
          <p:cNvPr id="2" name="Title 1"/>
          <p:cNvSpPr>
            <a:spLocks noGrp="1"/>
          </p:cNvSpPr>
          <p:nvPr>
            <p:ph type="title"/>
          </p:nvPr>
        </p:nvSpPr>
        <p:spPr/>
        <p:txBody>
          <a:bodyPr>
            <a:normAutofit fontScale="90000"/>
          </a:bodyPr>
          <a:lstStyle/>
          <a:p>
            <a:r>
              <a:rPr lang="en-GB" altLang="en-US" dirty="0"/>
              <a:t>This is about “EVIDENCE” not “PROOF”</a:t>
            </a:r>
            <a:br>
              <a:rPr lang="en-GB" altLang="en-US" dirty="0"/>
            </a:br>
            <a:r>
              <a:rPr lang="en-GB" altLang="en-US" dirty="0"/>
              <a:t>Possible Outcomes</a:t>
            </a:r>
            <a:endParaRPr lang="en-GB" dirty="0"/>
          </a:p>
        </p:txBody>
      </p:sp>
    </p:spTree>
    <p:extLst>
      <p:ext uri="{BB962C8B-B14F-4D97-AF65-F5344CB8AC3E}">
        <p14:creationId xmlns:p14="http://schemas.microsoft.com/office/powerpoint/2010/main" val="40147986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5">
            <a:extLst>
              <a:ext uri="{FF2B5EF4-FFF2-40B4-BE49-F238E27FC236}">
                <a16:creationId xmlns:a16="http://schemas.microsoft.com/office/drawing/2014/main" id="{DE97E404-437B-1F57-268A-B5B95346E19A}"/>
              </a:ext>
            </a:extLst>
          </p:cNvPr>
          <p:cNvGraphicFramePr>
            <a:graphicFrameLocks noGrp="1"/>
          </p:cNvGraphicFramePr>
          <p:nvPr>
            <p:extLst>
              <p:ext uri="{D42A27DB-BD31-4B8C-83A1-F6EECF244321}">
                <p14:modId xmlns:p14="http://schemas.microsoft.com/office/powerpoint/2010/main" val="3387539958"/>
              </p:ext>
            </p:extLst>
          </p:nvPr>
        </p:nvGraphicFramePr>
        <p:xfrm>
          <a:off x="995889" y="1453633"/>
          <a:ext cx="7251225" cy="3950733"/>
        </p:xfrm>
        <a:graphic>
          <a:graphicData uri="http://schemas.openxmlformats.org/drawingml/2006/table">
            <a:tbl>
              <a:tblPr firstRow="1" bandRow="1">
                <a:tableStyleId>{5C22544A-7EE6-4342-B048-85BDC9FD1C3A}</a:tableStyleId>
              </a:tblPr>
              <a:tblGrid>
                <a:gridCol w="2417075">
                  <a:extLst>
                    <a:ext uri="{9D8B030D-6E8A-4147-A177-3AD203B41FA5}">
                      <a16:colId xmlns:a16="http://schemas.microsoft.com/office/drawing/2014/main" val="1143923563"/>
                    </a:ext>
                  </a:extLst>
                </a:gridCol>
                <a:gridCol w="2417075">
                  <a:extLst>
                    <a:ext uri="{9D8B030D-6E8A-4147-A177-3AD203B41FA5}">
                      <a16:colId xmlns:a16="http://schemas.microsoft.com/office/drawing/2014/main" val="2231350419"/>
                    </a:ext>
                  </a:extLst>
                </a:gridCol>
                <a:gridCol w="2417075">
                  <a:extLst>
                    <a:ext uri="{9D8B030D-6E8A-4147-A177-3AD203B41FA5}">
                      <a16:colId xmlns:a16="http://schemas.microsoft.com/office/drawing/2014/main" val="1633584814"/>
                    </a:ext>
                  </a:extLst>
                </a:gridCol>
              </a:tblGrid>
              <a:tr h="1316911">
                <a:tc>
                  <a:txBody>
                    <a:bodyPr/>
                    <a:lstStyle/>
                    <a:p>
                      <a:endParaRPr lang="en-GB" dirty="0"/>
                    </a:p>
                  </a:txBody>
                  <a:tcPr>
                    <a:solidFill>
                      <a:schemeClr val="tx2">
                        <a:lumMod val="40000"/>
                        <a:lumOff val="6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dirty="0">
                          <a:solidFill>
                            <a:sysClr val="windowText" lastClr="000000"/>
                          </a:solidFill>
                        </a:rPr>
                        <a:t>‘Statistical Test’: </a:t>
                      </a:r>
                      <a:r>
                        <a:rPr lang="en-GB" b="1" dirty="0">
                          <a:solidFill>
                            <a:srgbClr val="00B050"/>
                          </a:solidFill>
                        </a:rPr>
                        <a:t>Failed to reject null hypothesis.</a:t>
                      </a:r>
                    </a:p>
                  </a:txBody>
                  <a:tcPr anchor="b">
                    <a:solidFill>
                      <a:schemeClr val="tx2">
                        <a:lumMod val="40000"/>
                        <a:lumOff val="6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dirty="0">
                          <a:solidFill>
                            <a:sysClr val="windowText" lastClr="000000"/>
                          </a:solidFill>
                        </a:rPr>
                        <a:t>‘Statistical Test’: </a:t>
                      </a:r>
                      <a:r>
                        <a:rPr lang="en-GB" b="1" dirty="0">
                          <a:solidFill>
                            <a:srgbClr val="00B050"/>
                          </a:solidFill>
                        </a:rPr>
                        <a:t>Reject null hypothesis.</a:t>
                      </a:r>
                    </a:p>
                  </a:txBody>
                  <a:tcPr anchor="b">
                    <a:solidFill>
                      <a:schemeClr val="tx2">
                        <a:lumMod val="40000"/>
                        <a:lumOff val="60000"/>
                      </a:schemeClr>
                    </a:solidFill>
                  </a:tcPr>
                </a:tc>
                <a:extLst>
                  <a:ext uri="{0D108BD9-81ED-4DB2-BD59-A6C34878D82A}">
                    <a16:rowId xmlns:a16="http://schemas.microsoft.com/office/drawing/2014/main" val="585253855"/>
                  </a:ext>
                </a:extLst>
              </a:tr>
              <a:tr h="1316911">
                <a:tc>
                  <a:txBody>
                    <a:bodyPr/>
                    <a:lstStyle/>
                    <a:p>
                      <a:pPr algn="r"/>
                      <a:r>
                        <a:rPr lang="en-GB" b="1" dirty="0"/>
                        <a:t>Reality: Null</a:t>
                      </a:r>
                    </a:p>
                    <a:p>
                      <a:pPr algn="r"/>
                      <a:r>
                        <a:rPr lang="en-GB" b="1" dirty="0"/>
                        <a:t>Hypothesis</a:t>
                      </a:r>
                    </a:p>
                    <a:p>
                      <a:pPr algn="r"/>
                      <a:r>
                        <a:rPr lang="en-GB" b="1" dirty="0">
                          <a:solidFill>
                            <a:srgbClr val="00B050"/>
                          </a:solidFill>
                        </a:rPr>
                        <a:t>is true</a:t>
                      </a:r>
                    </a:p>
                    <a:p>
                      <a:endParaRPr lang="en-GB" dirty="0"/>
                    </a:p>
                  </a:txBody>
                  <a:tcPr>
                    <a:solidFill>
                      <a:schemeClr val="tx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t>GOOD</a:t>
                      </a:r>
                      <a:r>
                        <a:rPr lang="en-GB" b="1" baseline="0" dirty="0"/>
                        <a:t> CONCLUSION</a:t>
                      </a:r>
                      <a:endParaRPr lang="en-GB"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rgbClr val="FF0000"/>
                          </a:solidFill>
                        </a:rPr>
                        <a:t>Type I Error/False Positive</a:t>
                      </a:r>
                    </a:p>
                  </a:txBody>
                  <a:tcPr anchor="ctr"/>
                </a:tc>
                <a:extLst>
                  <a:ext uri="{0D108BD9-81ED-4DB2-BD59-A6C34878D82A}">
                    <a16:rowId xmlns:a16="http://schemas.microsoft.com/office/drawing/2014/main" val="153380431"/>
                  </a:ext>
                </a:extLst>
              </a:tr>
              <a:tr h="1316911">
                <a:tc>
                  <a:txBody>
                    <a:bodyPr/>
                    <a:lstStyle/>
                    <a:p>
                      <a:pPr algn="r"/>
                      <a:r>
                        <a:rPr lang="en-GB" b="1" dirty="0"/>
                        <a:t>Reality: Alternative</a:t>
                      </a:r>
                    </a:p>
                    <a:p>
                      <a:pPr algn="r"/>
                      <a:r>
                        <a:rPr lang="en-GB" b="1" dirty="0"/>
                        <a:t>Hypothesis</a:t>
                      </a:r>
                    </a:p>
                    <a:p>
                      <a:pPr algn="r"/>
                      <a:r>
                        <a:rPr lang="en-GB" b="1" dirty="0">
                          <a:solidFill>
                            <a:srgbClr val="00B050"/>
                          </a:solidFill>
                        </a:rPr>
                        <a:t>is true</a:t>
                      </a:r>
                      <a:endParaRPr lang="en-GB" b="1" dirty="0">
                        <a:solidFill>
                          <a:srgbClr val="0070C0"/>
                        </a:solidFill>
                      </a:endParaRPr>
                    </a:p>
                    <a:p>
                      <a:endParaRPr lang="en-GB" dirty="0"/>
                    </a:p>
                  </a:txBody>
                  <a:tcPr>
                    <a:solidFill>
                      <a:schemeClr val="tx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a:solidFill>
                            <a:srgbClr val="FF0000"/>
                          </a:solidFill>
                        </a:rPr>
                        <a:t>Type II Error</a:t>
                      </a:r>
                      <a:r>
                        <a:rPr lang="en-GB" b="1" dirty="0">
                          <a:solidFill>
                            <a:srgbClr val="FF0000"/>
                          </a:solidFill>
                        </a:rPr>
                        <a:t>/False Negative</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t>GOOD</a:t>
                      </a:r>
                      <a:r>
                        <a:rPr lang="en-GB" b="1" baseline="0" dirty="0"/>
                        <a:t> CONCLUSION</a:t>
                      </a:r>
                      <a:endParaRPr lang="en-GB" b="1" dirty="0"/>
                    </a:p>
                  </a:txBody>
                  <a:tcPr anchor="ctr"/>
                </a:tc>
                <a:extLst>
                  <a:ext uri="{0D108BD9-81ED-4DB2-BD59-A6C34878D82A}">
                    <a16:rowId xmlns:a16="http://schemas.microsoft.com/office/drawing/2014/main" val="3772812831"/>
                  </a:ext>
                </a:extLst>
              </a:tr>
            </a:tbl>
          </a:graphicData>
        </a:graphic>
      </p:graphicFrame>
      <p:sp>
        <p:nvSpPr>
          <p:cNvPr id="2" name="Title 1"/>
          <p:cNvSpPr>
            <a:spLocks noGrp="1"/>
          </p:cNvSpPr>
          <p:nvPr>
            <p:ph type="title"/>
          </p:nvPr>
        </p:nvSpPr>
        <p:spPr/>
        <p:txBody>
          <a:bodyPr>
            <a:normAutofit fontScale="90000"/>
          </a:bodyPr>
          <a:lstStyle/>
          <a:p>
            <a:r>
              <a:rPr lang="en-GB" altLang="en-US" dirty="0"/>
              <a:t>This is about “EVIDENCE” not “PROOF”</a:t>
            </a:r>
            <a:br>
              <a:rPr lang="en-GB" altLang="en-US" dirty="0"/>
            </a:br>
            <a:r>
              <a:rPr lang="en-GB" altLang="en-US" dirty="0"/>
              <a:t>Possible Outcomes</a:t>
            </a:r>
            <a:endParaRPr lang="en-GB" dirty="0"/>
          </a:p>
        </p:txBody>
      </p:sp>
    </p:spTree>
    <p:extLst>
      <p:ext uri="{BB962C8B-B14F-4D97-AF65-F5344CB8AC3E}">
        <p14:creationId xmlns:p14="http://schemas.microsoft.com/office/powerpoint/2010/main" val="13742945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Reading…</a:t>
            </a:r>
          </a:p>
        </p:txBody>
      </p:sp>
      <p:sp>
        <p:nvSpPr>
          <p:cNvPr id="3" name="Content Placeholder 2"/>
          <p:cNvSpPr>
            <a:spLocks noGrp="1"/>
          </p:cNvSpPr>
          <p:nvPr>
            <p:ph idx="1"/>
          </p:nvPr>
        </p:nvSpPr>
        <p:spPr/>
        <p:txBody>
          <a:bodyPr>
            <a:normAutofit/>
          </a:bodyPr>
          <a:lstStyle/>
          <a:p>
            <a:pPr marL="0" indent="0">
              <a:buNone/>
            </a:pPr>
            <a:r>
              <a:rPr lang="en-GB" sz="4000" dirty="0"/>
              <a:t>Berenson et al. (2015)</a:t>
            </a:r>
          </a:p>
          <a:p>
            <a:pPr marL="0" indent="0">
              <a:buNone/>
            </a:pPr>
            <a:endParaRPr lang="en-GB" sz="4000" dirty="0"/>
          </a:p>
          <a:p>
            <a:pPr marL="0" indent="0">
              <a:buNone/>
            </a:pPr>
            <a:r>
              <a:rPr lang="en-GB" sz="2000" dirty="0"/>
              <a:t>Chapter 7 Section 7.4 </a:t>
            </a:r>
          </a:p>
          <a:p>
            <a:pPr marL="0" indent="0">
              <a:buNone/>
            </a:pPr>
            <a:r>
              <a:rPr lang="en-GB" sz="2000" dirty="0"/>
              <a:t>	Sampling Distribution of the Mean</a:t>
            </a:r>
            <a:br>
              <a:rPr lang="en-GB" sz="2000" dirty="0"/>
            </a:br>
            <a:r>
              <a:rPr lang="en-GB" sz="2000" dirty="0"/>
              <a:t>Chapter 7 Section 7.5</a:t>
            </a:r>
          </a:p>
          <a:p>
            <a:pPr marL="0" indent="0">
              <a:buNone/>
            </a:pPr>
            <a:r>
              <a:rPr lang="en-GB" sz="2000" dirty="0"/>
              <a:t>	Sampling Distribution of the Proportion</a:t>
            </a:r>
            <a:br>
              <a:rPr lang="en-GB" sz="2000" dirty="0"/>
            </a:br>
            <a:r>
              <a:rPr lang="en-GB" sz="2000" dirty="0"/>
              <a:t>Chapter 9 </a:t>
            </a:r>
          </a:p>
          <a:p>
            <a:pPr marL="0" indent="0">
              <a:buNone/>
            </a:pPr>
            <a:r>
              <a:rPr lang="en-GB" sz="2000" dirty="0"/>
              <a:t>	Fundamentals of Hypothesis Testing</a:t>
            </a:r>
            <a:br>
              <a:rPr lang="en-GB" sz="2000" dirty="0"/>
            </a:br>
            <a:endParaRPr lang="en-GB" sz="4000" dirty="0"/>
          </a:p>
        </p:txBody>
      </p:sp>
    </p:spTree>
    <p:extLst>
      <p:ext uri="{BB962C8B-B14F-4D97-AF65-F5344CB8AC3E}">
        <p14:creationId xmlns:p14="http://schemas.microsoft.com/office/powerpoint/2010/main" val="14670347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0C4C77-9508-4F69-BBB7-7BC89AC88B70}"/>
              </a:ext>
            </a:extLst>
          </p:cNvPr>
          <p:cNvSpPr>
            <a:spLocks noGrp="1"/>
          </p:cNvSpPr>
          <p:nvPr>
            <p:ph type="title"/>
          </p:nvPr>
        </p:nvSpPr>
        <p:spPr>
          <a:xfrm>
            <a:off x="473202" y="639520"/>
            <a:ext cx="2571750" cy="1719072"/>
          </a:xfrm>
        </p:spPr>
        <p:txBody>
          <a:bodyPr anchor="b">
            <a:normAutofit/>
          </a:bodyPr>
          <a:lstStyle/>
          <a:p>
            <a:r>
              <a:rPr lang="en-GB" sz="4300" dirty="0"/>
              <a:t>Seminar</a:t>
            </a:r>
          </a:p>
        </p:txBody>
      </p:sp>
      <p:sp>
        <p:nvSpPr>
          <p:cNvPr id="13"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2573756"/>
            <a:ext cx="2441321" cy="18288"/>
          </a:xfrm>
          <a:custGeom>
            <a:avLst/>
            <a:gdLst>
              <a:gd name="connsiteX0" fmla="*/ 0 w 2441321"/>
              <a:gd name="connsiteY0" fmla="*/ 0 h 18288"/>
              <a:gd name="connsiteX1" fmla="*/ 585917 w 2441321"/>
              <a:gd name="connsiteY1" fmla="*/ 0 h 18288"/>
              <a:gd name="connsiteX2" fmla="*/ 1196247 w 2441321"/>
              <a:gd name="connsiteY2" fmla="*/ 0 h 18288"/>
              <a:gd name="connsiteX3" fmla="*/ 1806578 w 2441321"/>
              <a:gd name="connsiteY3" fmla="*/ 0 h 18288"/>
              <a:gd name="connsiteX4" fmla="*/ 2441321 w 2441321"/>
              <a:gd name="connsiteY4" fmla="*/ 0 h 18288"/>
              <a:gd name="connsiteX5" fmla="*/ 2441321 w 2441321"/>
              <a:gd name="connsiteY5" fmla="*/ 18288 h 18288"/>
              <a:gd name="connsiteX6" fmla="*/ 1830991 w 2441321"/>
              <a:gd name="connsiteY6" fmla="*/ 18288 h 18288"/>
              <a:gd name="connsiteX7" fmla="*/ 1269487 w 2441321"/>
              <a:gd name="connsiteY7" fmla="*/ 18288 h 18288"/>
              <a:gd name="connsiteX8" fmla="*/ 707983 w 2441321"/>
              <a:gd name="connsiteY8" fmla="*/ 18288 h 18288"/>
              <a:gd name="connsiteX9" fmla="*/ 0 w 2441321"/>
              <a:gd name="connsiteY9" fmla="*/ 18288 h 18288"/>
              <a:gd name="connsiteX10" fmla="*/ 0 w 2441321"/>
              <a:gd name="connsiteY10" fmla="*/ 0 h 18288"/>
              <a:gd name="connsiteX0" fmla="*/ 0 w 2441321"/>
              <a:gd name="connsiteY0" fmla="*/ 0 h 18288"/>
              <a:gd name="connsiteX1" fmla="*/ 585917 w 2441321"/>
              <a:gd name="connsiteY1" fmla="*/ 0 h 18288"/>
              <a:gd name="connsiteX2" fmla="*/ 1123008 w 2441321"/>
              <a:gd name="connsiteY2" fmla="*/ 0 h 18288"/>
              <a:gd name="connsiteX3" fmla="*/ 1782164 w 2441321"/>
              <a:gd name="connsiteY3" fmla="*/ 0 h 18288"/>
              <a:gd name="connsiteX4" fmla="*/ 2441321 w 2441321"/>
              <a:gd name="connsiteY4" fmla="*/ 0 h 18288"/>
              <a:gd name="connsiteX5" fmla="*/ 2441321 w 2441321"/>
              <a:gd name="connsiteY5" fmla="*/ 18288 h 18288"/>
              <a:gd name="connsiteX6" fmla="*/ 1879817 w 2441321"/>
              <a:gd name="connsiteY6" fmla="*/ 18288 h 18288"/>
              <a:gd name="connsiteX7" fmla="*/ 1318313 w 2441321"/>
              <a:gd name="connsiteY7" fmla="*/ 18288 h 18288"/>
              <a:gd name="connsiteX8" fmla="*/ 659157 w 2441321"/>
              <a:gd name="connsiteY8" fmla="*/ 18288 h 18288"/>
              <a:gd name="connsiteX9" fmla="*/ 0 w 2441321"/>
              <a:gd name="connsiteY9" fmla="*/ 18288 h 18288"/>
              <a:gd name="connsiteX10" fmla="*/ 0 w 2441321"/>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8288" fill="none" extrusionOk="0">
                <a:moveTo>
                  <a:pt x="0" y="0"/>
                </a:moveTo>
                <a:cubicBezTo>
                  <a:pt x="280302" y="-6619"/>
                  <a:pt x="363201" y="4913"/>
                  <a:pt x="585917" y="0"/>
                </a:cubicBezTo>
                <a:cubicBezTo>
                  <a:pt x="832357" y="-10107"/>
                  <a:pt x="996738" y="-34312"/>
                  <a:pt x="1196247" y="0"/>
                </a:cubicBezTo>
                <a:cubicBezTo>
                  <a:pt x="1357180" y="16623"/>
                  <a:pt x="1575042" y="-11041"/>
                  <a:pt x="1806578" y="0"/>
                </a:cubicBezTo>
                <a:cubicBezTo>
                  <a:pt x="2016334" y="246"/>
                  <a:pt x="2239353" y="-8732"/>
                  <a:pt x="2441321" y="0"/>
                </a:cubicBezTo>
                <a:cubicBezTo>
                  <a:pt x="2441188" y="8366"/>
                  <a:pt x="2440365" y="10017"/>
                  <a:pt x="2441321" y="18288"/>
                </a:cubicBezTo>
                <a:cubicBezTo>
                  <a:pt x="2159375" y="49009"/>
                  <a:pt x="2054495" y="45666"/>
                  <a:pt x="1830991" y="18288"/>
                </a:cubicBezTo>
                <a:cubicBezTo>
                  <a:pt x="1615846" y="7509"/>
                  <a:pt x="1521674" y="-5422"/>
                  <a:pt x="1269487" y="18288"/>
                </a:cubicBezTo>
                <a:cubicBezTo>
                  <a:pt x="1019660" y="53960"/>
                  <a:pt x="886911" y="42351"/>
                  <a:pt x="707983" y="18288"/>
                </a:cubicBezTo>
                <a:cubicBezTo>
                  <a:pt x="523434" y="27321"/>
                  <a:pt x="307885" y="34316"/>
                  <a:pt x="0" y="18288"/>
                </a:cubicBezTo>
                <a:cubicBezTo>
                  <a:pt x="-595" y="11182"/>
                  <a:pt x="-5" y="6307"/>
                  <a:pt x="0" y="0"/>
                </a:cubicBezTo>
                <a:close/>
              </a:path>
              <a:path w="2441321" h="18288" stroke="0" extrusionOk="0">
                <a:moveTo>
                  <a:pt x="0" y="0"/>
                </a:moveTo>
                <a:cubicBezTo>
                  <a:pt x="212126" y="-10265"/>
                  <a:pt x="442910" y="-11728"/>
                  <a:pt x="585917" y="0"/>
                </a:cubicBezTo>
                <a:cubicBezTo>
                  <a:pt x="724579" y="21751"/>
                  <a:pt x="879365" y="-33198"/>
                  <a:pt x="1123008" y="0"/>
                </a:cubicBezTo>
                <a:cubicBezTo>
                  <a:pt x="1377247" y="11220"/>
                  <a:pt x="1597861" y="-34280"/>
                  <a:pt x="1782164" y="0"/>
                </a:cubicBezTo>
                <a:cubicBezTo>
                  <a:pt x="1975975" y="-3055"/>
                  <a:pt x="2116392" y="-15531"/>
                  <a:pt x="2441321" y="0"/>
                </a:cubicBezTo>
                <a:cubicBezTo>
                  <a:pt x="2441666" y="6144"/>
                  <a:pt x="2441358" y="10525"/>
                  <a:pt x="2441321" y="18288"/>
                </a:cubicBezTo>
                <a:cubicBezTo>
                  <a:pt x="2180658" y="18322"/>
                  <a:pt x="2084222" y="5934"/>
                  <a:pt x="1879817" y="18288"/>
                </a:cubicBezTo>
                <a:cubicBezTo>
                  <a:pt x="1668182" y="16222"/>
                  <a:pt x="1551159" y="-6477"/>
                  <a:pt x="1318313" y="18288"/>
                </a:cubicBezTo>
                <a:cubicBezTo>
                  <a:pt x="1059871" y="56395"/>
                  <a:pt x="901959" y="23831"/>
                  <a:pt x="659157" y="18288"/>
                </a:cubicBezTo>
                <a:cubicBezTo>
                  <a:pt x="444692" y="28483"/>
                  <a:pt x="245032" y="39882"/>
                  <a:pt x="0" y="18288"/>
                </a:cubicBezTo>
                <a:cubicBezTo>
                  <a:pt x="-11" y="10485"/>
                  <a:pt x="-221" y="3288"/>
                  <a:pt x="0" y="0"/>
                </a:cubicBezTo>
                <a:close/>
              </a:path>
              <a:path w="2441321" h="18288" fill="none" stroke="0" extrusionOk="0">
                <a:moveTo>
                  <a:pt x="0" y="0"/>
                </a:moveTo>
                <a:cubicBezTo>
                  <a:pt x="265389" y="-22361"/>
                  <a:pt x="344845" y="-65"/>
                  <a:pt x="585917" y="0"/>
                </a:cubicBezTo>
                <a:cubicBezTo>
                  <a:pt x="858472" y="13102"/>
                  <a:pt x="949265" y="-8078"/>
                  <a:pt x="1196247" y="0"/>
                </a:cubicBezTo>
                <a:cubicBezTo>
                  <a:pt x="1379248" y="30707"/>
                  <a:pt x="1585336" y="24963"/>
                  <a:pt x="1806578" y="0"/>
                </a:cubicBezTo>
                <a:cubicBezTo>
                  <a:pt x="1986731" y="-19207"/>
                  <a:pt x="2264933" y="16601"/>
                  <a:pt x="2441321" y="0"/>
                </a:cubicBezTo>
                <a:cubicBezTo>
                  <a:pt x="2441440" y="8687"/>
                  <a:pt x="2440452" y="9944"/>
                  <a:pt x="2441321" y="18288"/>
                </a:cubicBezTo>
                <a:cubicBezTo>
                  <a:pt x="2149099" y="27348"/>
                  <a:pt x="2027305" y="56470"/>
                  <a:pt x="1830991" y="18288"/>
                </a:cubicBezTo>
                <a:cubicBezTo>
                  <a:pt x="1614571" y="-18764"/>
                  <a:pt x="1500998" y="10727"/>
                  <a:pt x="1269487" y="18288"/>
                </a:cubicBezTo>
                <a:cubicBezTo>
                  <a:pt x="1042399" y="37834"/>
                  <a:pt x="927922" y="45822"/>
                  <a:pt x="707983" y="18288"/>
                </a:cubicBezTo>
                <a:cubicBezTo>
                  <a:pt x="502575" y="-5380"/>
                  <a:pt x="350393" y="34499"/>
                  <a:pt x="0" y="18288"/>
                </a:cubicBezTo>
                <a:cubicBezTo>
                  <a:pt x="-394" y="12154"/>
                  <a:pt x="907" y="6688"/>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custGeom>
                    <a:avLst/>
                    <a:gdLst>
                      <a:gd name="connsiteX0" fmla="*/ 0 w 2441321"/>
                      <a:gd name="connsiteY0" fmla="*/ 0 h 18288"/>
                      <a:gd name="connsiteX1" fmla="*/ 585917 w 2441321"/>
                      <a:gd name="connsiteY1" fmla="*/ 0 h 18288"/>
                      <a:gd name="connsiteX2" fmla="*/ 1196247 w 2441321"/>
                      <a:gd name="connsiteY2" fmla="*/ 0 h 18288"/>
                      <a:gd name="connsiteX3" fmla="*/ 1806578 w 2441321"/>
                      <a:gd name="connsiteY3" fmla="*/ 0 h 18288"/>
                      <a:gd name="connsiteX4" fmla="*/ 2441321 w 2441321"/>
                      <a:gd name="connsiteY4" fmla="*/ 0 h 18288"/>
                      <a:gd name="connsiteX5" fmla="*/ 2441321 w 2441321"/>
                      <a:gd name="connsiteY5" fmla="*/ 18288 h 18288"/>
                      <a:gd name="connsiteX6" fmla="*/ 1830991 w 2441321"/>
                      <a:gd name="connsiteY6" fmla="*/ 18288 h 18288"/>
                      <a:gd name="connsiteX7" fmla="*/ 1269487 w 2441321"/>
                      <a:gd name="connsiteY7" fmla="*/ 18288 h 18288"/>
                      <a:gd name="connsiteX8" fmla="*/ 707983 w 2441321"/>
                      <a:gd name="connsiteY8" fmla="*/ 18288 h 18288"/>
                      <a:gd name="connsiteX9" fmla="*/ 0 w 2441321"/>
                      <a:gd name="connsiteY9" fmla="*/ 18288 h 18288"/>
                      <a:gd name="connsiteX10" fmla="*/ 0 w 2441321"/>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1424561-7EAC-4041-98E8-5F15A1F036E8}"/>
              </a:ext>
            </a:extLst>
          </p:cNvPr>
          <p:cNvSpPr>
            <a:spLocks noGrp="1"/>
          </p:cNvSpPr>
          <p:nvPr>
            <p:ph idx="1"/>
          </p:nvPr>
        </p:nvSpPr>
        <p:spPr>
          <a:xfrm>
            <a:off x="473202" y="2807208"/>
            <a:ext cx="2571750" cy="3410712"/>
          </a:xfrm>
        </p:spPr>
        <p:txBody>
          <a:bodyPr anchor="t">
            <a:normAutofit fontScale="92500" lnSpcReduction="20000"/>
          </a:bodyPr>
          <a:lstStyle/>
          <a:p>
            <a:pPr>
              <a:lnSpc>
                <a:spcPct val="90000"/>
              </a:lnSpc>
            </a:pPr>
            <a:r>
              <a:rPr lang="en-GB" sz="1800" dirty="0"/>
              <a:t>The bit to do in class are the non-SPSS exercises</a:t>
            </a:r>
          </a:p>
          <a:p>
            <a:pPr>
              <a:lnSpc>
                <a:spcPct val="90000"/>
              </a:lnSpc>
            </a:pPr>
            <a:endParaRPr lang="en-GB" sz="1800" dirty="0"/>
          </a:p>
          <a:p>
            <a:pPr>
              <a:lnSpc>
                <a:spcPct val="90000"/>
              </a:lnSpc>
            </a:pPr>
            <a:r>
              <a:rPr lang="en-GB" sz="1800" dirty="0"/>
              <a:t>Information about SPSS can be found on Minerva:</a:t>
            </a:r>
          </a:p>
          <a:p>
            <a:pPr marL="0" indent="0">
              <a:lnSpc>
                <a:spcPct val="90000"/>
              </a:lnSpc>
              <a:buNone/>
            </a:pPr>
            <a:endParaRPr lang="en-GB" sz="1800" dirty="0"/>
          </a:p>
          <a:p>
            <a:pPr>
              <a:lnSpc>
                <a:spcPct val="90000"/>
              </a:lnSpc>
            </a:pPr>
            <a:r>
              <a:rPr lang="en-GB" sz="1800" dirty="0"/>
              <a:t>Try to do the exercises based on SPSS on your own (this is not the core of this module) and email me if you have any questions or issues with using the software. </a:t>
            </a:r>
          </a:p>
          <a:p>
            <a:pPr marL="0" indent="0">
              <a:lnSpc>
                <a:spcPct val="90000"/>
              </a:lnSpc>
              <a:buNone/>
            </a:pPr>
            <a:endParaRPr lang="en-GB" sz="1800" dirty="0"/>
          </a:p>
        </p:txBody>
      </p:sp>
      <p:pic>
        <p:nvPicPr>
          <p:cNvPr id="6" name="Picture 5">
            <a:extLst>
              <a:ext uri="{FF2B5EF4-FFF2-40B4-BE49-F238E27FC236}">
                <a16:creationId xmlns:a16="http://schemas.microsoft.com/office/drawing/2014/main" id="{F66D2E14-C50C-101E-1A4B-4B963468B624}"/>
              </a:ext>
            </a:extLst>
          </p:cNvPr>
          <p:cNvPicPr>
            <a:picLocks noChangeAspect="1"/>
          </p:cNvPicPr>
          <p:nvPr/>
        </p:nvPicPr>
        <p:blipFill>
          <a:blip r:embed="rId2"/>
          <a:stretch>
            <a:fillRect/>
          </a:stretch>
        </p:blipFill>
        <p:spPr>
          <a:xfrm>
            <a:off x="3490722" y="1888608"/>
            <a:ext cx="5177790" cy="3080784"/>
          </a:xfrm>
          <a:prstGeom prst="rect">
            <a:avLst/>
          </a:prstGeom>
          <a:ln>
            <a:solidFill>
              <a:srgbClr val="000000"/>
            </a:solidFill>
          </a:ln>
        </p:spPr>
      </p:pic>
    </p:spTree>
    <p:extLst>
      <p:ext uri="{BB962C8B-B14F-4D97-AF65-F5344CB8AC3E}">
        <p14:creationId xmlns:p14="http://schemas.microsoft.com/office/powerpoint/2010/main" val="21372174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2D95DB2-7B13-758B-B01C-EB022DE692B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0" y="419100"/>
            <a:ext cx="6019800" cy="6019800"/>
          </a:xfrm>
          <a:prstGeom prst="rect">
            <a:avLst/>
          </a:prstGeom>
        </p:spPr>
      </p:pic>
    </p:spTree>
    <p:extLst>
      <p:ext uri="{BB962C8B-B14F-4D97-AF65-F5344CB8AC3E}">
        <p14:creationId xmlns:p14="http://schemas.microsoft.com/office/powerpoint/2010/main" val="21958442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8" name="Straight Arrow Connector 127"/>
          <p:cNvCxnSpPr>
            <a:stCxn id="124" idx="1"/>
            <a:endCxn id="108" idx="2"/>
          </p:cNvCxnSpPr>
          <p:nvPr/>
        </p:nvCxnSpPr>
        <p:spPr>
          <a:xfrm>
            <a:off x="533400" y="2688209"/>
            <a:ext cx="5890947" cy="3172"/>
          </a:xfrm>
          <a:prstGeom prst="straightConnector1">
            <a:avLst/>
          </a:prstGeom>
          <a:ln w="17780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3" name="Straight Arrow Connector 142"/>
          <p:cNvCxnSpPr>
            <a:stCxn id="124" idx="1"/>
            <a:endCxn id="108" idx="2"/>
          </p:cNvCxnSpPr>
          <p:nvPr/>
        </p:nvCxnSpPr>
        <p:spPr>
          <a:xfrm>
            <a:off x="533400" y="2688209"/>
            <a:ext cx="5890947" cy="3172"/>
          </a:xfrm>
          <a:prstGeom prst="straightConnector1">
            <a:avLst/>
          </a:prstGeom>
          <a:ln w="9525"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99" name="Rounded Rectangle 64"/>
          <p:cNvSpPr/>
          <p:nvPr/>
        </p:nvSpPr>
        <p:spPr>
          <a:xfrm>
            <a:off x="1066800" y="1295400"/>
            <a:ext cx="7010400" cy="4676775"/>
          </a:xfrm>
          <a:prstGeom prst="roundRect">
            <a:avLst/>
          </a:prstGeom>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124" name="Pentagon 41"/>
          <p:cNvSpPr/>
          <p:nvPr/>
        </p:nvSpPr>
        <p:spPr>
          <a:xfrm>
            <a:off x="533400" y="2557018"/>
            <a:ext cx="122819" cy="262382"/>
          </a:xfrm>
          <a:prstGeom prst="rect">
            <a:avLst/>
          </a:prstGeom>
          <a:solidFill>
            <a:schemeClr val="tx1">
              <a:lumMod val="50000"/>
              <a:lumOff val="5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sz="2000" b="1" dirty="0"/>
          </a:p>
        </p:txBody>
      </p:sp>
      <p:cxnSp>
        <p:nvCxnSpPr>
          <p:cNvPr id="135" name="Elbow Connector 73"/>
          <p:cNvCxnSpPr>
            <a:stCxn id="122" idx="0"/>
            <a:endCxn id="110" idx="6"/>
          </p:cNvCxnSpPr>
          <p:nvPr/>
        </p:nvCxnSpPr>
        <p:spPr>
          <a:xfrm rot="16200000" flipV="1">
            <a:off x="4670377" y="2285111"/>
            <a:ext cx="716160" cy="5438768"/>
          </a:xfrm>
          <a:prstGeom prst="bentConnector2">
            <a:avLst/>
          </a:prstGeom>
          <a:ln w="177800"/>
        </p:spPr>
        <p:style>
          <a:lnRef idx="1">
            <a:schemeClr val="dk1"/>
          </a:lnRef>
          <a:fillRef idx="0">
            <a:schemeClr val="dk1"/>
          </a:fillRef>
          <a:effectRef idx="0">
            <a:schemeClr val="dk1"/>
          </a:effectRef>
          <a:fontRef idx="minor">
            <a:schemeClr val="tx1"/>
          </a:fontRef>
        </p:style>
      </p:cxnSp>
      <p:sp>
        <p:nvSpPr>
          <p:cNvPr id="101" name="Rectangle 100"/>
          <p:cNvSpPr/>
          <p:nvPr/>
        </p:nvSpPr>
        <p:spPr>
          <a:xfrm>
            <a:off x="2651263" y="2025045"/>
            <a:ext cx="1001621" cy="307777"/>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Probability</a:t>
            </a:r>
            <a:endParaRPr lang="en-GB" sz="1400" dirty="0"/>
          </a:p>
        </p:txBody>
      </p:sp>
      <p:sp>
        <p:nvSpPr>
          <p:cNvPr id="103" name="Rectangle 102"/>
          <p:cNvSpPr/>
          <p:nvPr/>
        </p:nvSpPr>
        <p:spPr>
          <a:xfrm>
            <a:off x="1474886" y="1799422"/>
            <a:ext cx="1020664"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Descriptive</a:t>
            </a:r>
          </a:p>
          <a:p>
            <a:pPr algn="ctr"/>
            <a:r>
              <a:rPr lang="en-GB" sz="1400" b="1" dirty="0"/>
              <a:t>Statistics</a:t>
            </a:r>
            <a:endParaRPr lang="en-GB" sz="1400" dirty="0"/>
          </a:p>
        </p:txBody>
      </p:sp>
      <p:sp>
        <p:nvSpPr>
          <p:cNvPr id="105" name="Rectangle 104"/>
          <p:cNvSpPr/>
          <p:nvPr/>
        </p:nvSpPr>
        <p:spPr>
          <a:xfrm>
            <a:off x="3808597" y="1799422"/>
            <a:ext cx="1149289"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Probability</a:t>
            </a:r>
          </a:p>
          <a:p>
            <a:pPr algn="ctr"/>
            <a:r>
              <a:rPr lang="en-GB" sz="1400" b="1" dirty="0"/>
              <a:t>Distributions</a:t>
            </a:r>
            <a:endParaRPr lang="en-GB" sz="1400" dirty="0"/>
          </a:p>
        </p:txBody>
      </p:sp>
      <p:sp>
        <p:nvSpPr>
          <p:cNvPr id="107" name="Rectangle 106"/>
          <p:cNvSpPr/>
          <p:nvPr/>
        </p:nvSpPr>
        <p:spPr>
          <a:xfrm>
            <a:off x="6275649" y="1799422"/>
            <a:ext cx="1013418"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Hypothesis</a:t>
            </a:r>
          </a:p>
          <a:p>
            <a:pPr algn="ctr"/>
            <a:r>
              <a:rPr lang="en-GB" sz="1400" b="1" dirty="0"/>
              <a:t>Testing 1</a:t>
            </a:r>
            <a:endParaRPr lang="en-GB" sz="1400" dirty="0"/>
          </a:p>
        </p:txBody>
      </p:sp>
      <p:sp>
        <p:nvSpPr>
          <p:cNvPr id="109" name="Rectangle 108"/>
          <p:cNvSpPr/>
          <p:nvPr/>
        </p:nvSpPr>
        <p:spPr>
          <a:xfrm>
            <a:off x="2594245" y="5039380"/>
            <a:ext cx="1113318"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Testing</a:t>
            </a:r>
          </a:p>
          <a:p>
            <a:pPr algn="ctr"/>
            <a:r>
              <a:rPr lang="en-GB" sz="1400" b="1" dirty="0"/>
              <a:t>Relationship</a:t>
            </a:r>
            <a:endParaRPr lang="en-GB" sz="1400" dirty="0"/>
          </a:p>
        </p:txBody>
      </p:sp>
      <p:sp>
        <p:nvSpPr>
          <p:cNvPr id="111" name="Rectangle 110"/>
          <p:cNvSpPr/>
          <p:nvPr/>
        </p:nvSpPr>
        <p:spPr>
          <a:xfrm>
            <a:off x="3886201" y="5054798"/>
            <a:ext cx="991169" cy="307777"/>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Regression</a:t>
            </a:r>
            <a:endParaRPr lang="en-GB" sz="1400" dirty="0"/>
          </a:p>
        </p:txBody>
      </p:sp>
      <p:sp>
        <p:nvSpPr>
          <p:cNvPr id="113" name="Rectangle 112"/>
          <p:cNvSpPr/>
          <p:nvPr/>
        </p:nvSpPr>
        <p:spPr>
          <a:xfrm>
            <a:off x="6334125" y="5085080"/>
            <a:ext cx="904875" cy="523220"/>
          </a:xfrm>
          <a:prstGeom prst="rect">
            <a:avLst/>
          </a:prstGeom>
          <a:effectLst>
            <a:outerShdw blurRad="50800" dist="38100" dir="18900000" algn="bl" rotWithShape="0">
              <a:prstClr val="black">
                <a:alpha val="40000"/>
              </a:prstClr>
            </a:outerShdw>
          </a:effectLst>
        </p:spPr>
        <p:txBody>
          <a:bodyPr wrap="square">
            <a:spAutoFit/>
          </a:bodyPr>
          <a:lstStyle/>
          <a:p>
            <a:pPr algn="ctr"/>
            <a:r>
              <a:rPr lang="en-GB" sz="1400" b="1" dirty="0"/>
              <a:t>Factor</a:t>
            </a:r>
          </a:p>
          <a:p>
            <a:pPr algn="ctr"/>
            <a:r>
              <a:rPr lang="en-GB" sz="1400" b="1" dirty="0"/>
              <a:t>Analysis</a:t>
            </a:r>
          </a:p>
        </p:txBody>
      </p:sp>
      <p:sp>
        <p:nvSpPr>
          <p:cNvPr id="115" name="Rectangle 114"/>
          <p:cNvSpPr/>
          <p:nvPr/>
        </p:nvSpPr>
        <p:spPr>
          <a:xfrm>
            <a:off x="5225248" y="1981200"/>
            <a:ext cx="870752" cy="307777"/>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Sampling</a:t>
            </a:r>
          </a:p>
        </p:txBody>
      </p:sp>
      <p:sp>
        <p:nvSpPr>
          <p:cNvPr id="122" name="Oval 121"/>
          <p:cNvSpPr/>
          <p:nvPr/>
        </p:nvSpPr>
        <p:spPr>
          <a:xfrm>
            <a:off x="7385891" y="5362575"/>
            <a:ext cx="723900" cy="69532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100" dirty="0"/>
              <a:t>Week</a:t>
            </a:r>
          </a:p>
          <a:p>
            <a:pPr algn="ctr"/>
            <a:r>
              <a:rPr lang="en-GB" sz="2000" b="1" dirty="0"/>
              <a:t>11</a:t>
            </a:r>
          </a:p>
        </p:txBody>
      </p:sp>
      <p:sp>
        <p:nvSpPr>
          <p:cNvPr id="123" name="Rectangle 122"/>
          <p:cNvSpPr/>
          <p:nvPr/>
        </p:nvSpPr>
        <p:spPr>
          <a:xfrm>
            <a:off x="7342281" y="6106180"/>
            <a:ext cx="811119" cy="307777"/>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Revision</a:t>
            </a:r>
          </a:p>
        </p:txBody>
      </p:sp>
      <p:sp>
        <p:nvSpPr>
          <p:cNvPr id="126" name="Rectangle 125"/>
          <p:cNvSpPr/>
          <p:nvPr/>
        </p:nvSpPr>
        <p:spPr>
          <a:xfrm>
            <a:off x="5134855" y="5090072"/>
            <a:ext cx="1045478"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Conditional</a:t>
            </a:r>
          </a:p>
          <a:p>
            <a:pPr algn="ctr"/>
            <a:r>
              <a:rPr lang="en-GB" sz="1400" b="1" dirty="0"/>
              <a:t>Probability</a:t>
            </a:r>
            <a:endParaRPr lang="en-GB" sz="1400" dirty="0"/>
          </a:p>
        </p:txBody>
      </p:sp>
      <p:cxnSp>
        <p:nvCxnSpPr>
          <p:cNvPr id="127" name="Elbow Connector 46"/>
          <p:cNvCxnSpPr>
            <a:stCxn id="110" idx="2"/>
            <a:endCxn id="108" idx="6"/>
          </p:cNvCxnSpPr>
          <p:nvPr/>
        </p:nvCxnSpPr>
        <p:spPr>
          <a:xfrm rot="10800000" flipH="1">
            <a:off x="1585173" y="2691381"/>
            <a:ext cx="5563074" cy="1955034"/>
          </a:xfrm>
          <a:prstGeom prst="bentConnector5">
            <a:avLst>
              <a:gd name="adj1" fmla="val -4109"/>
              <a:gd name="adj2" fmla="val 50000"/>
              <a:gd name="adj3" fmla="val 104109"/>
            </a:avLst>
          </a:prstGeom>
          <a:ln w="177800"/>
        </p:spPr>
        <p:style>
          <a:lnRef idx="1">
            <a:schemeClr val="dk1"/>
          </a:lnRef>
          <a:fillRef idx="0">
            <a:schemeClr val="dk1"/>
          </a:fillRef>
          <a:effectRef idx="0">
            <a:schemeClr val="dk1"/>
          </a:effectRef>
          <a:fontRef idx="minor">
            <a:schemeClr val="tx1"/>
          </a:fontRef>
        </p:style>
      </p:cxnSp>
      <p:sp>
        <p:nvSpPr>
          <p:cNvPr id="136" name="Title 1"/>
          <p:cNvSpPr>
            <a:spLocks noGrp="1"/>
          </p:cNvSpPr>
          <p:nvPr>
            <p:ph type="title"/>
          </p:nvPr>
        </p:nvSpPr>
        <p:spPr>
          <a:xfrm>
            <a:off x="304800" y="76200"/>
            <a:ext cx="8229600" cy="869277"/>
          </a:xfrm>
        </p:spPr>
        <p:txBody>
          <a:bodyPr/>
          <a:lstStyle/>
          <a:p>
            <a:r>
              <a:rPr lang="en-GB" dirty="0"/>
              <a:t>Module Overview</a:t>
            </a:r>
          </a:p>
        </p:txBody>
      </p:sp>
      <p:sp>
        <p:nvSpPr>
          <p:cNvPr id="137" name="Rectangle 136"/>
          <p:cNvSpPr/>
          <p:nvPr/>
        </p:nvSpPr>
        <p:spPr>
          <a:xfrm>
            <a:off x="1447800" y="5029200"/>
            <a:ext cx="1013419"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Hypothesis</a:t>
            </a:r>
          </a:p>
          <a:p>
            <a:pPr algn="ctr"/>
            <a:r>
              <a:rPr lang="en-GB" sz="1400" b="1" dirty="0"/>
              <a:t>Testing 2</a:t>
            </a:r>
          </a:p>
        </p:txBody>
      </p:sp>
      <p:cxnSp>
        <p:nvCxnSpPr>
          <p:cNvPr id="142" name="Elbow Connector 73"/>
          <p:cNvCxnSpPr>
            <a:stCxn id="122" idx="0"/>
            <a:endCxn id="110" idx="6"/>
          </p:cNvCxnSpPr>
          <p:nvPr/>
        </p:nvCxnSpPr>
        <p:spPr>
          <a:xfrm rot="16200000" flipV="1">
            <a:off x="4670377" y="2285111"/>
            <a:ext cx="716160" cy="5438768"/>
          </a:xfrm>
          <a:prstGeom prst="bentConnector2">
            <a:avLst/>
          </a:prstGeom>
          <a:ln w="9525"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44" name="Elbow Connector 46"/>
          <p:cNvCxnSpPr>
            <a:stCxn id="110" idx="2"/>
            <a:endCxn id="108" idx="6"/>
          </p:cNvCxnSpPr>
          <p:nvPr/>
        </p:nvCxnSpPr>
        <p:spPr>
          <a:xfrm rot="10800000" flipH="1">
            <a:off x="1585173" y="2691381"/>
            <a:ext cx="5563074" cy="1955034"/>
          </a:xfrm>
          <a:prstGeom prst="bentConnector5">
            <a:avLst>
              <a:gd name="adj1" fmla="val -4109"/>
              <a:gd name="adj2" fmla="val 50000"/>
              <a:gd name="adj3" fmla="val 104109"/>
            </a:avLst>
          </a:prstGeom>
          <a:ln w="9525"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10" name="Oval 109"/>
          <p:cNvSpPr/>
          <p:nvPr/>
        </p:nvSpPr>
        <p:spPr>
          <a:xfrm>
            <a:off x="1585173" y="4298752"/>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6</a:t>
            </a:r>
          </a:p>
        </p:txBody>
      </p:sp>
      <p:sp>
        <p:nvSpPr>
          <p:cNvPr id="112" name="Oval 111"/>
          <p:cNvSpPr/>
          <p:nvPr/>
        </p:nvSpPr>
        <p:spPr>
          <a:xfrm>
            <a:off x="2767095" y="4298752"/>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7</a:t>
            </a:r>
          </a:p>
        </p:txBody>
      </p:sp>
      <p:sp>
        <p:nvSpPr>
          <p:cNvPr id="114" name="Oval 113"/>
          <p:cNvSpPr/>
          <p:nvPr/>
        </p:nvSpPr>
        <p:spPr>
          <a:xfrm>
            <a:off x="4006152" y="4298752"/>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8</a:t>
            </a:r>
          </a:p>
        </p:txBody>
      </p:sp>
      <p:sp>
        <p:nvSpPr>
          <p:cNvPr id="116" name="Oval 115"/>
          <p:cNvSpPr/>
          <p:nvPr/>
        </p:nvSpPr>
        <p:spPr>
          <a:xfrm>
            <a:off x="6424348" y="4298752"/>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10</a:t>
            </a:r>
          </a:p>
        </p:txBody>
      </p:sp>
      <p:sp>
        <p:nvSpPr>
          <p:cNvPr id="125" name="Oval 124"/>
          <p:cNvSpPr/>
          <p:nvPr/>
        </p:nvSpPr>
        <p:spPr>
          <a:xfrm>
            <a:off x="5304166" y="4298752"/>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9</a:t>
            </a:r>
          </a:p>
        </p:txBody>
      </p:sp>
      <p:sp>
        <p:nvSpPr>
          <p:cNvPr id="100" name="Oval 99"/>
          <p:cNvSpPr/>
          <p:nvPr/>
        </p:nvSpPr>
        <p:spPr>
          <a:xfrm>
            <a:off x="2790125" y="2345979"/>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2</a:t>
            </a:r>
          </a:p>
        </p:txBody>
      </p:sp>
      <p:sp>
        <p:nvSpPr>
          <p:cNvPr id="104" name="Oval 103"/>
          <p:cNvSpPr/>
          <p:nvPr/>
        </p:nvSpPr>
        <p:spPr>
          <a:xfrm>
            <a:off x="4019643" y="2345979"/>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3</a:t>
            </a:r>
          </a:p>
        </p:txBody>
      </p:sp>
      <p:sp>
        <p:nvSpPr>
          <p:cNvPr id="106" name="Oval 105"/>
          <p:cNvSpPr/>
          <p:nvPr/>
        </p:nvSpPr>
        <p:spPr>
          <a:xfrm>
            <a:off x="5255214" y="2343718"/>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4</a:t>
            </a:r>
          </a:p>
        </p:txBody>
      </p:sp>
      <p:sp>
        <p:nvSpPr>
          <p:cNvPr id="108" name="Oval 107"/>
          <p:cNvSpPr/>
          <p:nvPr/>
        </p:nvSpPr>
        <p:spPr>
          <a:xfrm>
            <a:off x="6424347" y="2343718"/>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5</a:t>
            </a:r>
          </a:p>
        </p:txBody>
      </p:sp>
      <p:sp>
        <p:nvSpPr>
          <p:cNvPr id="138" name="Oval 137"/>
          <p:cNvSpPr/>
          <p:nvPr/>
        </p:nvSpPr>
        <p:spPr>
          <a:xfrm>
            <a:off x="1600200" y="2352675"/>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1</a:t>
            </a:r>
          </a:p>
        </p:txBody>
      </p:sp>
      <p:cxnSp>
        <p:nvCxnSpPr>
          <p:cNvPr id="181" name="Straight Arrow Connector 180"/>
          <p:cNvCxnSpPr>
            <a:stCxn id="180" idx="3"/>
            <a:endCxn id="122" idx="6"/>
          </p:cNvCxnSpPr>
          <p:nvPr/>
        </p:nvCxnSpPr>
        <p:spPr>
          <a:xfrm flipH="1">
            <a:off x="8109791" y="5709209"/>
            <a:ext cx="779641" cy="1029"/>
          </a:xfrm>
          <a:prstGeom prst="straightConnector1">
            <a:avLst/>
          </a:prstGeom>
          <a:ln w="17780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82" name="Straight Arrow Connector 181"/>
          <p:cNvCxnSpPr>
            <a:stCxn id="180" idx="3"/>
            <a:endCxn id="122" idx="6"/>
          </p:cNvCxnSpPr>
          <p:nvPr/>
        </p:nvCxnSpPr>
        <p:spPr>
          <a:xfrm flipH="1">
            <a:off x="8109791" y="5709209"/>
            <a:ext cx="779641" cy="1029"/>
          </a:xfrm>
          <a:prstGeom prst="straightConnector1">
            <a:avLst/>
          </a:prstGeom>
          <a:ln w="9525"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80" name="Pentagon 41"/>
          <p:cNvSpPr/>
          <p:nvPr/>
        </p:nvSpPr>
        <p:spPr>
          <a:xfrm>
            <a:off x="8766613" y="5578018"/>
            <a:ext cx="122819" cy="262382"/>
          </a:xfrm>
          <a:prstGeom prst="rect">
            <a:avLst/>
          </a:prstGeom>
          <a:solidFill>
            <a:schemeClr val="tx1">
              <a:lumMod val="50000"/>
              <a:lumOff val="5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sz="2000" b="1" dirty="0"/>
          </a:p>
        </p:txBody>
      </p:sp>
    </p:spTree>
    <p:extLst>
      <p:ext uri="{BB962C8B-B14F-4D97-AF65-F5344CB8AC3E}">
        <p14:creationId xmlns:p14="http://schemas.microsoft.com/office/powerpoint/2010/main" val="241179254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LUBS5586M Week-04 Hypothesis Testing Part 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626F0AC08688F4F92DDEAA80FA7A5E2" ma:contentTypeVersion="14" ma:contentTypeDescription="Create a new document." ma:contentTypeScope="" ma:versionID="181bf84f64f4613636f9b37f7b16896b">
  <xsd:schema xmlns:xsd="http://www.w3.org/2001/XMLSchema" xmlns:xs="http://www.w3.org/2001/XMLSchema" xmlns:p="http://schemas.microsoft.com/office/2006/metadata/properties" xmlns:ns3="d1e97dd3-b4ca-44de-9335-788d8906ab46" xmlns:ns4="3fec1700-afbb-4cae-beae-0e3f538272b6" targetNamespace="http://schemas.microsoft.com/office/2006/metadata/properties" ma:root="true" ma:fieldsID="2e940debefd250f217f609c9ae8fc993" ns3:_="" ns4:_="">
    <xsd:import namespace="d1e97dd3-b4ca-44de-9335-788d8906ab46"/>
    <xsd:import namespace="3fec1700-afbb-4cae-beae-0e3f538272b6"/>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OCR" minOccurs="0"/>
                <xsd:element ref="ns4:SharedWithUsers" minOccurs="0"/>
                <xsd:element ref="ns4:SharedWithDetails" minOccurs="0"/>
                <xsd:element ref="ns4:SharingHintHash" minOccurs="0"/>
                <xsd:element ref="ns3:MediaServiceAutoKeyPoints" minOccurs="0"/>
                <xsd:element ref="ns3:MediaServiceKeyPoints" minOccurs="0"/>
                <xsd:element ref="ns3:MediaServiceGenerationTime" minOccurs="0"/>
                <xsd:element ref="ns3:MediaServiceEventHashCode" minOccurs="0"/>
                <xsd:element ref="ns3:MediaLengthInSecond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e97dd3-b4ca-44de-9335-788d8906ab4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fec1700-afbb-4cae-beae-0e3f538272b6"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SharingHintHash" ma:index="15"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A7A5082-72E2-428C-9726-B42E87EAF2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1e97dd3-b4ca-44de-9335-788d8906ab46"/>
    <ds:schemaRef ds:uri="3fec1700-afbb-4cae-beae-0e3f538272b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F58F9D7-4F94-43DA-A715-31A05296BA5B}">
  <ds:schemaRefs>
    <ds:schemaRef ds:uri="http://schemas.microsoft.com/sharepoint/v3/contenttype/forms"/>
  </ds:schemaRefs>
</ds:datastoreItem>
</file>

<file path=customXml/itemProps3.xml><?xml version="1.0" encoding="utf-8"?>
<ds:datastoreItem xmlns:ds="http://schemas.openxmlformats.org/officeDocument/2006/customXml" ds:itemID="{2178323E-34DB-42AD-B284-BD4F021EA222}">
  <ds:schemaRefs>
    <ds:schemaRef ds:uri="http://schemas.openxmlformats.org/package/2006/metadata/core-properties"/>
    <ds:schemaRef ds:uri="http://purl.org/dc/dcmitype/"/>
    <ds:schemaRef ds:uri="http://schemas.microsoft.com/office/infopath/2007/PartnerControls"/>
    <ds:schemaRef ds:uri="http://schemas.microsoft.com/office/2006/documentManagement/types"/>
    <ds:schemaRef ds:uri="http://schemas.microsoft.com/office/2006/metadata/properties"/>
    <ds:schemaRef ds:uri="3fec1700-afbb-4cae-beae-0e3f538272b6"/>
    <ds:schemaRef ds:uri="http://purl.org/dc/terms/"/>
    <ds:schemaRef ds:uri="d1e97dd3-b4ca-44de-9335-788d8906ab46"/>
    <ds:schemaRef ds:uri="http://www.w3.org/XML/1998/namespace"/>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49</TotalTime>
  <Words>3378</Words>
  <Application>Microsoft Office PowerPoint</Application>
  <PresentationFormat>On-screen Show (4:3)</PresentationFormat>
  <Paragraphs>727</Paragraphs>
  <Slides>47</Slides>
  <Notes>40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47</vt:i4>
      </vt:variant>
    </vt:vector>
  </HeadingPairs>
  <TitlesOfParts>
    <vt:vector size="55" baseType="lpstr">
      <vt:lpstr>baskerville-urw</vt:lpstr>
      <vt:lpstr>Monotype Sorts</vt:lpstr>
      <vt:lpstr>SourceSansPro</vt:lpstr>
      <vt:lpstr>Arial</vt:lpstr>
      <vt:lpstr>Calibri</vt:lpstr>
      <vt:lpstr>Cambria Math</vt:lpstr>
      <vt:lpstr>Times New Roman</vt:lpstr>
      <vt:lpstr>Office Theme</vt:lpstr>
      <vt:lpstr>Module Overview</vt:lpstr>
      <vt:lpstr>A bit of housekeeping…</vt:lpstr>
      <vt:lpstr>Consider this information…</vt:lpstr>
      <vt:lpstr>Hypothesis testing</vt:lpstr>
      <vt:lpstr>Hypothesis testing</vt:lpstr>
      <vt:lpstr>Hypothesis testing</vt:lpstr>
      <vt:lpstr>Hypothesis testing</vt:lpstr>
      <vt:lpstr>HYPOTHESIS TESTING</vt:lpstr>
      <vt:lpstr>Z Test for Proportion</vt:lpstr>
      <vt:lpstr>Z Test for Proportion</vt:lpstr>
      <vt:lpstr>Z Test for Proportion</vt:lpstr>
      <vt:lpstr>Z Test for Proportion</vt:lpstr>
      <vt:lpstr>Z Test for Proportion</vt:lpstr>
      <vt:lpstr>Z Test for Proportion</vt:lpstr>
      <vt:lpstr>Z Test for Proportion</vt:lpstr>
      <vt:lpstr>Z Test for Proportion</vt:lpstr>
      <vt:lpstr>Z Test for Proportion</vt:lpstr>
      <vt:lpstr>Z Test for Proportion</vt:lpstr>
      <vt:lpstr>NOT ENOUGH EVIDENCE TO REJECT THIS STATEMENT</vt:lpstr>
      <vt:lpstr>What if we observe 500 trains and 10% of them depart late?</vt:lpstr>
      <vt:lpstr>What if we observe 500 trains and 10% of them depart late?</vt:lpstr>
      <vt:lpstr>10 Minutes Break</vt:lpstr>
      <vt:lpstr>HYPOTHESIS TESTING</vt:lpstr>
      <vt:lpstr>Example</vt:lpstr>
      <vt:lpstr>Testing for mean</vt:lpstr>
      <vt:lpstr>Testing for mean</vt:lpstr>
      <vt:lpstr>Testing for mean</vt:lpstr>
      <vt:lpstr>Sampling distribution: recall!</vt:lpstr>
      <vt:lpstr>Testing for mean</vt:lpstr>
      <vt:lpstr>Testing for mean</vt:lpstr>
      <vt:lpstr>Testing for mean</vt:lpstr>
      <vt:lpstr>The Difference Between a T Distribution and a Normal Distribution  </vt:lpstr>
      <vt:lpstr>Testing for mean</vt:lpstr>
      <vt:lpstr>Testing for mean</vt:lpstr>
      <vt:lpstr>Testing for mean</vt:lpstr>
      <vt:lpstr>Testing for mean</vt:lpstr>
      <vt:lpstr>Q2 Exercise Problem</vt:lpstr>
      <vt:lpstr>Q#2 Change in house prices?</vt:lpstr>
      <vt:lpstr>Hypothesis testing in SPSS/PSPP</vt:lpstr>
      <vt:lpstr>Hypothesis testing in SPSS</vt:lpstr>
      <vt:lpstr>This is about “EVIDENCE” not “PROOF” Possible Outcomes</vt:lpstr>
      <vt:lpstr>This is about “EVIDENCE” not “PROOF” Possible Outcomes</vt:lpstr>
      <vt:lpstr>This is about “EVIDENCE” not “PROOF” Possible Outcomes</vt:lpstr>
      <vt:lpstr>Reading…</vt:lpstr>
      <vt:lpstr>Seminar</vt:lpstr>
      <vt:lpstr>PowerPoint Presentation</vt:lpstr>
      <vt:lpstr>Module Overview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LUBS5586M Week-04 Hypothesis Testing Part 1</dc:title>
  <dc:creator>Sajid Siraj</dc:creator>
  <cp:lastModifiedBy>Peizhi Shi</cp:lastModifiedBy>
  <cp:revision>564</cp:revision>
  <dcterms:created xsi:type="dcterms:W3CDTF">2006-08-16T00:00:00Z</dcterms:created>
  <dcterms:modified xsi:type="dcterms:W3CDTF">2024-10-28T20:54:19Z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0x0101009626F0AC08688F4F92DDEAA80FA7A5E2</vt:lpwstr>
  </property>
</Properties>
</file>