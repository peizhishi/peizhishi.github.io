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26" r:id="rId2"/>
    <p:sldId id="391" r:id="rId3"/>
    <p:sldId id="302" r:id="rId4"/>
    <p:sldId id="369" r:id="rId5"/>
    <p:sldId id="307" r:id="rId6"/>
    <p:sldId id="379" r:id="rId7"/>
    <p:sldId id="380" r:id="rId8"/>
    <p:sldId id="319" r:id="rId9"/>
    <p:sldId id="313" r:id="rId10"/>
    <p:sldId id="393" r:id="rId11"/>
    <p:sldId id="394" r:id="rId12"/>
    <p:sldId id="392" r:id="rId13"/>
    <p:sldId id="395" r:id="rId14"/>
    <p:sldId id="267" r:id="rId15"/>
    <p:sldId id="397" r:id="rId16"/>
    <p:sldId id="396" r:id="rId17"/>
    <p:sldId id="329" r:id="rId18"/>
    <p:sldId id="399" r:id="rId19"/>
    <p:sldId id="268" r:id="rId20"/>
    <p:sldId id="331" r:id="rId21"/>
    <p:sldId id="330" r:id="rId22"/>
    <p:sldId id="270" r:id="rId23"/>
    <p:sldId id="398" r:id="rId24"/>
    <p:sldId id="381" r:id="rId25"/>
    <p:sldId id="382" r:id="rId26"/>
    <p:sldId id="317" r:id="rId27"/>
    <p:sldId id="318" r:id="rId28"/>
    <p:sldId id="299" r:id="rId29"/>
    <p:sldId id="321" r:id="rId30"/>
    <p:sldId id="400" r:id="rId31"/>
    <p:sldId id="327" r:id="rId32"/>
  </p:sldIdLst>
  <p:sldSz cx="9144000" cy="6858000" type="screen4x3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main Crastes dit Sourd" initials="RCdS" lastIdx="1" clrIdx="0">
    <p:extLst>
      <p:ext uri="{19B8F6BF-5375-455C-9EA6-DF929625EA0E}">
        <p15:presenceInfo xmlns:p15="http://schemas.microsoft.com/office/powerpoint/2012/main" userId="S::trarc@leeds.ac.uk::a2132d6e-bc8b-4edd-b1aa-842784ce985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387"/>
  </p:normalViewPr>
  <p:slideViewPr>
    <p:cSldViewPr>
      <p:cViewPr>
        <p:scale>
          <a:sx n="101" d="100"/>
          <a:sy n="101" d="100"/>
        </p:scale>
        <p:origin x="148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BDA18-A924-4623-AFDA-7F89229823E3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7484-4BD0-4B53-9749-250372656A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44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1pPr>
            <a:lvl2pPr marL="685817" indent="-263776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2pPr>
            <a:lvl3pPr marL="1055103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3pPr>
            <a:lvl4pPr marL="1477145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4pPr>
            <a:lvl5pPr marL="1899186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5pPr>
            <a:lvl6pPr marL="2321227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6pPr>
            <a:lvl7pPr marL="2743269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7pPr>
            <a:lvl8pPr marL="3165310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8pPr>
            <a:lvl9pPr marL="3587351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fld id="{EB7E6F60-869F-4A39-A783-8E6D319521FE}" type="slidenum">
              <a:rPr lang="en-GB" altLang="en-US" sz="1200"/>
              <a:pPr/>
              <a:t>3</a:t>
            </a:fld>
            <a:endParaRPr lang="en-GB" alt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1pPr>
            <a:lvl2pPr marL="685817" indent="-263776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2pPr>
            <a:lvl3pPr marL="1055103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3pPr>
            <a:lvl4pPr marL="1477145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4pPr>
            <a:lvl5pPr marL="1899186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5pPr>
            <a:lvl6pPr marL="2321227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6pPr>
            <a:lvl7pPr marL="2743269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7pPr>
            <a:lvl8pPr marL="3165310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8pPr>
            <a:lvl9pPr marL="3587351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fld id="{ACCE8B64-AA49-4383-BB65-0EDAD6DC9D90}" type="slidenum">
              <a:rPr lang="en-GB" altLang="en-US" sz="1200"/>
              <a:pPr/>
              <a:t>4</a:t>
            </a:fld>
            <a:endParaRPr lang="en-GB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524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790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942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1pPr>
            <a:lvl2pPr marL="685817" indent="-263776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2pPr>
            <a:lvl3pPr marL="1055103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3pPr>
            <a:lvl4pPr marL="1477145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4pPr>
            <a:lvl5pPr marL="1899186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5pPr>
            <a:lvl6pPr marL="2321227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6pPr>
            <a:lvl7pPr marL="2743269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7pPr>
            <a:lvl8pPr marL="3165310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8pPr>
            <a:lvl9pPr marL="3587351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fld id="{D86C5C9E-EFF2-4158-99C2-7CF863148BC0}" type="slidenum">
              <a:rPr lang="en-GB" altLang="en-US" sz="1200"/>
              <a:pPr/>
              <a:t>8</a:t>
            </a:fld>
            <a:endParaRPr lang="en-GB" altLang="en-US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/>
              <a:t>example in book shows that purchasing a plasma TV indicates an increased chance of purchasing a DVDR</a:t>
            </a: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990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1pPr>
            <a:lvl2pPr marL="685817" indent="-263776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2pPr>
            <a:lvl3pPr marL="1055103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3pPr>
            <a:lvl4pPr marL="1477145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4pPr>
            <a:lvl5pPr marL="1899186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5pPr>
            <a:lvl6pPr marL="2321227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6pPr>
            <a:lvl7pPr marL="2743269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7pPr>
            <a:lvl8pPr marL="3165310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8pPr>
            <a:lvl9pPr marL="3587351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fld id="{ACCE8B64-AA49-4383-BB65-0EDAD6DC9D90}" type="slidenum">
              <a:rPr lang="en-GB" altLang="en-US" sz="1200"/>
              <a:pPr/>
              <a:t>10</a:t>
            </a:fld>
            <a:endParaRPr lang="en-GB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0016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201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105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1pPr>
            <a:lvl2pPr marL="685817" indent="-263776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2pPr>
            <a:lvl3pPr marL="1055103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3pPr>
            <a:lvl4pPr marL="1477145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4pPr>
            <a:lvl5pPr marL="1899186" indent="-211021" defTabSz="882184">
              <a:defRPr sz="2200" b="1">
                <a:solidFill>
                  <a:schemeClr val="tx1"/>
                </a:solidFill>
                <a:latin typeface="Avalon" pitchFamily="34" charset="0"/>
              </a:defRPr>
            </a:lvl5pPr>
            <a:lvl6pPr marL="2321227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6pPr>
            <a:lvl7pPr marL="2743269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7pPr>
            <a:lvl8pPr marL="3165310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8pPr>
            <a:lvl9pPr marL="3587351" indent="-211021" defTabSz="882184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fld id="{ACCE8B64-AA49-4383-BB65-0EDAD6DC9D90}" type="slidenum">
              <a:rPr lang="en-GB" altLang="en-US" sz="1200"/>
              <a:pPr/>
              <a:t>13</a:t>
            </a:fld>
            <a:endParaRPr lang="en-GB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8347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86C87E-9E10-4602-BFEB-120D43B530E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552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86C87E-9E10-4602-BFEB-120D43B530E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3208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86C87E-9E10-4602-BFEB-120D43B530E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541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86C87E-9E10-4602-BFEB-120D43B530E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5698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86C87E-9E10-4602-BFEB-120D43B530E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2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86C87E-9E10-4602-BFEB-120D43B530E7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786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86C87E-9E10-4602-BFEB-120D43B530E7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1795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86C87E-9E10-4602-BFEB-120D43B530E7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067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86C87E-9E10-4602-BFEB-120D43B530E7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9190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2326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9959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6259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930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E5FECE-493C-464C-B403-ACE9D0667A33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332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25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55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7.pn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0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0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130.png"/><Relationship Id="rId4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Straight Arrow Connector 127"/>
          <p:cNvCxnSpPr>
            <a:stCxn id="124" idx="1"/>
            <a:endCxn id="108" idx="2"/>
          </p:cNvCxnSpPr>
          <p:nvPr/>
        </p:nvCxnSpPr>
        <p:spPr>
          <a:xfrm>
            <a:off x="533400" y="2688209"/>
            <a:ext cx="5890947" cy="3172"/>
          </a:xfrm>
          <a:prstGeom prst="straightConnector1">
            <a:avLst/>
          </a:prstGeom>
          <a:ln w="1778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124" idx="1"/>
            <a:endCxn id="108" idx="2"/>
          </p:cNvCxnSpPr>
          <p:nvPr/>
        </p:nvCxnSpPr>
        <p:spPr>
          <a:xfrm>
            <a:off x="533400" y="2688209"/>
            <a:ext cx="5890947" cy="3172"/>
          </a:xfrm>
          <a:prstGeom prst="straightConnector1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Rounded Rectangle 64"/>
          <p:cNvSpPr/>
          <p:nvPr/>
        </p:nvSpPr>
        <p:spPr>
          <a:xfrm>
            <a:off x="1066800" y="1295400"/>
            <a:ext cx="7010400" cy="4676775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Pentagon 41"/>
          <p:cNvSpPr/>
          <p:nvPr/>
        </p:nvSpPr>
        <p:spPr>
          <a:xfrm>
            <a:off x="533400" y="2557018"/>
            <a:ext cx="122819" cy="26238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/>
          </a:p>
        </p:txBody>
      </p:sp>
      <p:cxnSp>
        <p:nvCxnSpPr>
          <p:cNvPr id="135" name="Elbow Connector 73"/>
          <p:cNvCxnSpPr>
            <a:stCxn id="122" idx="0"/>
            <a:endCxn id="110" idx="6"/>
          </p:cNvCxnSpPr>
          <p:nvPr/>
        </p:nvCxnSpPr>
        <p:spPr>
          <a:xfrm rot="16200000" flipV="1">
            <a:off x="4670377" y="2285111"/>
            <a:ext cx="716160" cy="5438768"/>
          </a:xfrm>
          <a:prstGeom prst="bentConnector2">
            <a:avLst/>
          </a:prstGeom>
          <a:ln w="177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2651263" y="2025045"/>
            <a:ext cx="1001621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Probability</a:t>
            </a:r>
            <a:endParaRPr lang="en-GB" sz="1400" dirty="0"/>
          </a:p>
        </p:txBody>
      </p:sp>
      <p:sp>
        <p:nvSpPr>
          <p:cNvPr id="103" name="Rectangle 102"/>
          <p:cNvSpPr/>
          <p:nvPr/>
        </p:nvSpPr>
        <p:spPr>
          <a:xfrm>
            <a:off x="1474886" y="1799422"/>
            <a:ext cx="1020664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Descriptive</a:t>
            </a:r>
          </a:p>
          <a:p>
            <a:pPr algn="ctr"/>
            <a:r>
              <a:rPr lang="en-GB" sz="1400" b="1" dirty="0"/>
              <a:t>Statistics</a:t>
            </a:r>
            <a:endParaRPr lang="en-GB" sz="1400" dirty="0"/>
          </a:p>
        </p:txBody>
      </p:sp>
      <p:sp>
        <p:nvSpPr>
          <p:cNvPr id="105" name="Rectangle 104"/>
          <p:cNvSpPr/>
          <p:nvPr/>
        </p:nvSpPr>
        <p:spPr>
          <a:xfrm>
            <a:off x="3808597" y="1799422"/>
            <a:ext cx="1149289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Probability</a:t>
            </a:r>
          </a:p>
          <a:p>
            <a:pPr algn="ctr"/>
            <a:r>
              <a:rPr lang="en-GB" sz="1400" b="1" dirty="0"/>
              <a:t>Distributions</a:t>
            </a:r>
            <a:endParaRPr lang="en-GB" sz="1400" dirty="0"/>
          </a:p>
        </p:txBody>
      </p:sp>
      <p:sp>
        <p:nvSpPr>
          <p:cNvPr id="107" name="Rectangle 106"/>
          <p:cNvSpPr/>
          <p:nvPr/>
        </p:nvSpPr>
        <p:spPr>
          <a:xfrm>
            <a:off x="6275649" y="1799422"/>
            <a:ext cx="1013418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Hypothesis</a:t>
            </a:r>
          </a:p>
          <a:p>
            <a:pPr algn="ctr"/>
            <a:r>
              <a:rPr lang="en-GB" sz="1400" b="1" dirty="0"/>
              <a:t>Testing 1</a:t>
            </a:r>
            <a:endParaRPr lang="en-GB" sz="1400" dirty="0"/>
          </a:p>
        </p:txBody>
      </p:sp>
      <p:sp>
        <p:nvSpPr>
          <p:cNvPr id="109" name="Rectangle 108"/>
          <p:cNvSpPr/>
          <p:nvPr/>
        </p:nvSpPr>
        <p:spPr>
          <a:xfrm>
            <a:off x="2594245" y="5039380"/>
            <a:ext cx="1113318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Testing</a:t>
            </a:r>
          </a:p>
          <a:p>
            <a:pPr algn="ctr"/>
            <a:r>
              <a:rPr lang="en-GB" sz="1400" b="1" dirty="0"/>
              <a:t>Relationship</a:t>
            </a:r>
            <a:endParaRPr lang="en-GB" sz="1400" dirty="0"/>
          </a:p>
        </p:txBody>
      </p:sp>
      <p:sp>
        <p:nvSpPr>
          <p:cNvPr id="111" name="Rectangle 110"/>
          <p:cNvSpPr/>
          <p:nvPr/>
        </p:nvSpPr>
        <p:spPr>
          <a:xfrm>
            <a:off x="3886201" y="5054798"/>
            <a:ext cx="991169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Regression</a:t>
            </a:r>
            <a:endParaRPr lang="en-GB" sz="1400" dirty="0"/>
          </a:p>
        </p:txBody>
      </p:sp>
      <p:sp>
        <p:nvSpPr>
          <p:cNvPr id="113" name="Rectangle 112"/>
          <p:cNvSpPr/>
          <p:nvPr/>
        </p:nvSpPr>
        <p:spPr>
          <a:xfrm>
            <a:off x="6334125" y="5085080"/>
            <a:ext cx="904875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Factor</a:t>
            </a:r>
          </a:p>
          <a:p>
            <a:pPr algn="ctr"/>
            <a:r>
              <a:rPr lang="en-GB" sz="1400" b="1" dirty="0"/>
              <a:t>Analysis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225248" y="1981200"/>
            <a:ext cx="870752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Sampling</a:t>
            </a:r>
          </a:p>
        </p:txBody>
      </p:sp>
      <p:sp>
        <p:nvSpPr>
          <p:cNvPr id="122" name="Oval 121"/>
          <p:cNvSpPr/>
          <p:nvPr/>
        </p:nvSpPr>
        <p:spPr>
          <a:xfrm>
            <a:off x="7385891" y="5362575"/>
            <a:ext cx="723900" cy="69532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11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134855" y="5090072"/>
            <a:ext cx="1045478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Conditional</a:t>
            </a:r>
          </a:p>
          <a:p>
            <a:pPr algn="ctr"/>
            <a:r>
              <a:rPr lang="en-GB" sz="1400" b="1" dirty="0"/>
              <a:t>Probability</a:t>
            </a:r>
            <a:endParaRPr lang="en-GB" sz="1400" dirty="0"/>
          </a:p>
        </p:txBody>
      </p:sp>
      <p:cxnSp>
        <p:nvCxnSpPr>
          <p:cNvPr id="127" name="Elbow Connector 46"/>
          <p:cNvCxnSpPr>
            <a:stCxn id="110" idx="2"/>
            <a:endCxn id="108" idx="6"/>
          </p:cNvCxnSpPr>
          <p:nvPr/>
        </p:nvCxnSpPr>
        <p:spPr>
          <a:xfrm rot="10800000" flipH="1">
            <a:off x="1585173" y="2691381"/>
            <a:ext cx="5563074" cy="1955034"/>
          </a:xfrm>
          <a:prstGeom prst="bentConnector5">
            <a:avLst>
              <a:gd name="adj1" fmla="val -4109"/>
              <a:gd name="adj2" fmla="val 50000"/>
              <a:gd name="adj3" fmla="val 104109"/>
            </a:avLst>
          </a:prstGeom>
          <a:ln w="177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69277"/>
          </a:xfrm>
        </p:spPr>
        <p:txBody>
          <a:bodyPr/>
          <a:lstStyle/>
          <a:p>
            <a:r>
              <a:rPr lang="en-GB" dirty="0"/>
              <a:t>Module Overview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447800" y="5029200"/>
            <a:ext cx="1013419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Hypothesis</a:t>
            </a:r>
          </a:p>
          <a:p>
            <a:pPr algn="ctr"/>
            <a:r>
              <a:rPr lang="en-GB" sz="1400" b="1" dirty="0"/>
              <a:t>Testing 2</a:t>
            </a:r>
          </a:p>
        </p:txBody>
      </p:sp>
      <p:cxnSp>
        <p:nvCxnSpPr>
          <p:cNvPr id="142" name="Elbow Connector 73"/>
          <p:cNvCxnSpPr>
            <a:stCxn id="122" idx="0"/>
            <a:endCxn id="110" idx="6"/>
          </p:cNvCxnSpPr>
          <p:nvPr/>
        </p:nvCxnSpPr>
        <p:spPr>
          <a:xfrm rot="16200000" flipV="1">
            <a:off x="4670377" y="2285111"/>
            <a:ext cx="716160" cy="5438768"/>
          </a:xfrm>
          <a:prstGeom prst="bentConnector2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4" name="Elbow Connector 46"/>
          <p:cNvCxnSpPr>
            <a:stCxn id="110" idx="2"/>
            <a:endCxn id="108" idx="6"/>
          </p:cNvCxnSpPr>
          <p:nvPr/>
        </p:nvCxnSpPr>
        <p:spPr>
          <a:xfrm rot="10800000" flipH="1">
            <a:off x="1585173" y="2691381"/>
            <a:ext cx="5563074" cy="1955034"/>
          </a:xfrm>
          <a:prstGeom prst="bentConnector5">
            <a:avLst>
              <a:gd name="adj1" fmla="val -4109"/>
              <a:gd name="adj2" fmla="val 50000"/>
              <a:gd name="adj3" fmla="val 104109"/>
            </a:avLst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585173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6</a:t>
            </a:r>
          </a:p>
        </p:txBody>
      </p:sp>
      <p:sp>
        <p:nvSpPr>
          <p:cNvPr id="112" name="Oval 111"/>
          <p:cNvSpPr/>
          <p:nvPr/>
        </p:nvSpPr>
        <p:spPr>
          <a:xfrm>
            <a:off x="2767095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7</a:t>
            </a:r>
          </a:p>
        </p:txBody>
      </p:sp>
      <p:sp>
        <p:nvSpPr>
          <p:cNvPr id="114" name="Oval 113"/>
          <p:cNvSpPr/>
          <p:nvPr/>
        </p:nvSpPr>
        <p:spPr>
          <a:xfrm>
            <a:off x="4006152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8</a:t>
            </a:r>
          </a:p>
        </p:txBody>
      </p:sp>
      <p:sp>
        <p:nvSpPr>
          <p:cNvPr id="116" name="Oval 115"/>
          <p:cNvSpPr/>
          <p:nvPr/>
        </p:nvSpPr>
        <p:spPr>
          <a:xfrm>
            <a:off x="6424348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10</a:t>
            </a:r>
          </a:p>
        </p:txBody>
      </p:sp>
      <p:sp>
        <p:nvSpPr>
          <p:cNvPr id="125" name="Oval 124"/>
          <p:cNvSpPr/>
          <p:nvPr/>
        </p:nvSpPr>
        <p:spPr>
          <a:xfrm>
            <a:off x="5304166" y="4298752"/>
            <a:ext cx="723900" cy="695325"/>
          </a:xfrm>
          <a:prstGeom prst="ellipse">
            <a:avLst/>
          </a:prstGeom>
          <a:solidFill>
            <a:srgbClr val="00B050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2790125" y="2345979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2</a:t>
            </a:r>
          </a:p>
        </p:txBody>
      </p:sp>
      <p:sp>
        <p:nvSpPr>
          <p:cNvPr id="104" name="Oval 103"/>
          <p:cNvSpPr/>
          <p:nvPr/>
        </p:nvSpPr>
        <p:spPr>
          <a:xfrm>
            <a:off x="4019643" y="2345979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5255214" y="2343718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4</a:t>
            </a:r>
          </a:p>
        </p:txBody>
      </p:sp>
      <p:sp>
        <p:nvSpPr>
          <p:cNvPr id="108" name="Oval 107"/>
          <p:cNvSpPr/>
          <p:nvPr/>
        </p:nvSpPr>
        <p:spPr>
          <a:xfrm>
            <a:off x="6424347" y="2343718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5</a:t>
            </a:r>
          </a:p>
        </p:txBody>
      </p:sp>
      <p:sp>
        <p:nvSpPr>
          <p:cNvPr id="138" name="Oval 137"/>
          <p:cNvSpPr/>
          <p:nvPr/>
        </p:nvSpPr>
        <p:spPr>
          <a:xfrm>
            <a:off x="1600200" y="2352675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1</a:t>
            </a:r>
          </a:p>
        </p:txBody>
      </p:sp>
      <p:cxnSp>
        <p:nvCxnSpPr>
          <p:cNvPr id="181" name="Straight Arrow Connector 180"/>
          <p:cNvCxnSpPr>
            <a:stCxn id="180" idx="3"/>
            <a:endCxn id="122" idx="6"/>
          </p:cNvCxnSpPr>
          <p:nvPr/>
        </p:nvCxnSpPr>
        <p:spPr>
          <a:xfrm flipH="1">
            <a:off x="8109791" y="5709209"/>
            <a:ext cx="779641" cy="1029"/>
          </a:xfrm>
          <a:prstGeom prst="straightConnector1">
            <a:avLst/>
          </a:prstGeom>
          <a:ln w="1778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>
            <a:stCxn id="180" idx="3"/>
            <a:endCxn id="122" idx="6"/>
          </p:cNvCxnSpPr>
          <p:nvPr/>
        </p:nvCxnSpPr>
        <p:spPr>
          <a:xfrm flipH="1">
            <a:off x="8109791" y="5709209"/>
            <a:ext cx="779641" cy="1029"/>
          </a:xfrm>
          <a:prstGeom prst="straightConnector1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0" name="Pentagon 41"/>
          <p:cNvSpPr/>
          <p:nvPr/>
        </p:nvSpPr>
        <p:spPr>
          <a:xfrm>
            <a:off x="8766613" y="5578018"/>
            <a:ext cx="122819" cy="26238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270403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2A843-5203-D5C6-C2FE-D6F861938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Examination Update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0B876-BDF5-6F30-7D32-A6457FE42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3000" dirty="0"/>
              <a:t>120 Mins Exam</a:t>
            </a:r>
          </a:p>
          <a:p>
            <a:r>
              <a:rPr lang="en-GB" sz="3000" dirty="0"/>
              <a:t>60 MCQ</a:t>
            </a:r>
          </a:p>
          <a:p>
            <a:r>
              <a:rPr lang="en-GB" sz="3000"/>
              <a:t>14/01/2026</a:t>
            </a:r>
            <a:endParaRPr lang="en-GB" sz="3000" dirty="0"/>
          </a:p>
          <a:p>
            <a:r>
              <a:rPr lang="en-GB" sz="3000" dirty="0"/>
              <a:t>14:00 PM</a:t>
            </a:r>
          </a:p>
          <a:p>
            <a:r>
              <a:rPr lang="en-GB" sz="3000" dirty="0"/>
              <a:t>Location: To be confirm, check University Website.</a:t>
            </a:r>
          </a:p>
          <a:p>
            <a:r>
              <a:rPr lang="en-GB" sz="3000" dirty="0"/>
              <a:t>Calculator:</a:t>
            </a:r>
          </a:p>
          <a:p>
            <a:pPr lvl="1"/>
            <a:r>
              <a:rPr lang="en-GB" sz="2600" dirty="0"/>
              <a:t>Casio fx-82 series</a:t>
            </a:r>
          </a:p>
          <a:p>
            <a:pPr lvl="1"/>
            <a:r>
              <a:rPr lang="en-GB" sz="2600" dirty="0"/>
              <a:t>Casio fx-83 series</a:t>
            </a:r>
          </a:p>
          <a:p>
            <a:pPr lvl="1"/>
            <a:r>
              <a:rPr lang="en-GB" sz="2600" dirty="0"/>
              <a:t>Casio fx-85 series</a:t>
            </a:r>
          </a:p>
          <a:p>
            <a:pPr lvl="1"/>
            <a:r>
              <a:rPr lang="en-GB" sz="2600" dirty="0"/>
              <a:t>Casio fx-350 series</a:t>
            </a:r>
          </a:p>
          <a:p>
            <a:pPr lvl="1"/>
            <a:r>
              <a:rPr lang="en-GB" sz="2600" dirty="0"/>
              <a:t>Sharp EL – 531 series</a:t>
            </a:r>
            <a:endParaRPr lang="en-GB" sz="3000" dirty="0"/>
          </a:p>
          <a:p>
            <a:r>
              <a:rPr lang="en-GB" sz="3000" dirty="0"/>
              <a:t>Get the calculator approved at the Maurice </a:t>
            </a:r>
            <a:r>
              <a:rPr lang="en-GB" sz="3000" dirty="0" err="1"/>
              <a:t>Keyworth</a:t>
            </a:r>
            <a:r>
              <a:rPr lang="en-GB" sz="3000" dirty="0"/>
              <a:t> reception desk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624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773529" y="5979676"/>
            <a:ext cx="2246271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e.g. Will it snow tomorrow? </a:t>
            </a:r>
            <a:r>
              <a:rPr lang="en-GB" b="1" dirty="0"/>
              <a:t>Impossible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5200" y="2284961"/>
            <a:ext cx="2207581" cy="60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e.g. Will it snow tomorrow? </a:t>
            </a:r>
            <a:r>
              <a:rPr lang="en-GB" b="1" dirty="0"/>
              <a:t>Definitely</a:t>
            </a:r>
          </a:p>
        </p:txBody>
      </p:sp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3841668" y="5060275"/>
            <a:ext cx="2143207" cy="919401"/>
          </a:xfrm>
          <a:prstGeom prst="wedgeRoundRectCallout">
            <a:avLst>
              <a:gd name="adj1" fmla="val 92739"/>
              <a:gd name="adj2" fmla="val 82391"/>
              <a:gd name="adj3" fmla="val 16667"/>
            </a:avLst>
          </a:prstGeom>
          <a:ln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dirty="0"/>
              <a:t>Absolute</a:t>
            </a:r>
          </a:p>
          <a:p>
            <a:r>
              <a:rPr lang="en-GB" altLang="en-US" dirty="0"/>
              <a:t>impossibility</a:t>
            </a:r>
          </a:p>
        </p:txBody>
      </p:sp>
      <p:grpSp>
        <p:nvGrpSpPr>
          <p:cNvPr id="5" name="Group 4"/>
          <p:cNvGrpSpPr/>
          <p:nvPr/>
        </p:nvGrpSpPr>
        <p:grpSpPr>
          <a:xfrm flipH="1">
            <a:off x="6910240" y="1676400"/>
            <a:ext cx="1066799" cy="4784467"/>
            <a:chOff x="609601" y="552450"/>
            <a:chExt cx="959398" cy="5832217"/>
          </a:xfrm>
        </p:grpSpPr>
        <p:sp>
          <p:nvSpPr>
            <p:cNvPr id="17" name="Line 8"/>
            <p:cNvSpPr>
              <a:spLocks noChangeShapeType="1"/>
            </p:cNvSpPr>
            <p:nvPr/>
          </p:nvSpPr>
          <p:spPr bwMode="auto">
            <a:xfrm>
              <a:off x="958850" y="733019"/>
              <a:ext cx="152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400"/>
            </a:p>
          </p:txBody>
        </p:sp>
        <p:sp>
          <p:nvSpPr>
            <p:cNvPr id="3078" name="Text Box 6"/>
            <p:cNvSpPr txBox="1">
              <a:spLocks noChangeArrowheads="1"/>
            </p:cNvSpPr>
            <p:nvPr/>
          </p:nvSpPr>
          <p:spPr bwMode="auto">
            <a:xfrm>
              <a:off x="1063625" y="3276600"/>
              <a:ext cx="50526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9pPr>
            </a:lstStyle>
            <a:p>
              <a:r>
                <a:rPr lang="en-GB" altLang="en-US" sz="1800" dirty="0"/>
                <a:t>0.5</a:t>
              </a:r>
            </a:p>
          </p:txBody>
        </p:sp>
        <p:sp>
          <p:nvSpPr>
            <p:cNvPr id="3080" name="Line 8"/>
            <p:cNvSpPr>
              <a:spLocks noChangeShapeType="1"/>
            </p:cNvSpPr>
            <p:nvPr/>
          </p:nvSpPr>
          <p:spPr bwMode="auto">
            <a:xfrm>
              <a:off x="958850" y="3503613"/>
              <a:ext cx="152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400"/>
            </a:p>
          </p:txBody>
        </p:sp>
        <p:sp>
          <p:nvSpPr>
            <p:cNvPr id="16" name="Text Box 6"/>
            <p:cNvSpPr txBox="1">
              <a:spLocks noChangeArrowheads="1"/>
            </p:cNvSpPr>
            <p:nvPr/>
          </p:nvSpPr>
          <p:spPr bwMode="auto">
            <a:xfrm>
              <a:off x="1063625" y="552450"/>
              <a:ext cx="50526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9pPr>
            </a:lstStyle>
            <a:p>
              <a:r>
                <a:rPr lang="en-GB" altLang="en-US" sz="1800" dirty="0"/>
                <a:t>1.0</a:t>
              </a: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>
              <a:off x="958957" y="6253958"/>
              <a:ext cx="152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400"/>
            </a:p>
          </p:txBody>
        </p:sp>
        <p:sp>
          <p:nvSpPr>
            <p:cNvPr id="19" name="Text Box 6"/>
            <p:cNvSpPr txBox="1">
              <a:spLocks noChangeArrowheads="1"/>
            </p:cNvSpPr>
            <p:nvPr/>
          </p:nvSpPr>
          <p:spPr bwMode="auto">
            <a:xfrm>
              <a:off x="1063732" y="6015335"/>
              <a:ext cx="50526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valon" pitchFamily="34" charset="0"/>
                </a:defRPr>
              </a:lvl9pPr>
            </a:lstStyle>
            <a:p>
              <a:r>
                <a:rPr lang="en-GB" altLang="en-US" sz="1800" dirty="0"/>
                <a:t>0.0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609601" y="737116"/>
              <a:ext cx="381000" cy="551128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50000">
                  <a:srgbClr val="C00000"/>
                </a:gs>
                <a:gs pos="100000">
                  <a:schemeClr val="accent3">
                    <a:lumMod val="75000"/>
                  </a:schemeClr>
                </a:gs>
              </a:gsLst>
              <a:lin ang="16200000" scaled="0"/>
              <a:tileRect/>
            </a:gradFill>
            <a:ln w="38100"/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</p:grp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4080674" y="1365560"/>
            <a:ext cx="1587815" cy="919401"/>
          </a:xfrm>
          <a:prstGeom prst="wedgeRoundRectCallout">
            <a:avLst>
              <a:gd name="adj1" fmla="val 127199"/>
              <a:gd name="adj2" fmla="val 4691"/>
              <a:gd name="adj3" fmla="val 16667"/>
            </a:avLst>
          </a:prstGeom>
          <a:ln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dirty="0"/>
              <a:t>Absolute</a:t>
            </a:r>
          </a:p>
          <a:p>
            <a:r>
              <a:rPr lang="en-GB" altLang="en-US" dirty="0"/>
              <a:t>certainty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Recall Week 2: The probability 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4" name="Text Box 12"/>
              <p:cNvSpPr txBox="1">
                <a:spLocks noChangeArrowheads="1"/>
              </p:cNvSpPr>
              <p:nvPr/>
            </p:nvSpPr>
            <p:spPr bwMode="auto">
              <a:xfrm>
                <a:off x="3655211" y="3590925"/>
                <a:ext cx="2078839" cy="46166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Avalon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valon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valon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valon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valon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valon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valon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valon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valon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b="1" i="0" smtClean="0">
                          <a:latin typeface="Cambria Math"/>
                        </a:rPr>
                        <m:t>𝟎</m:t>
                      </m:r>
                      <m:r>
                        <a:rPr lang="en-GB" altLang="en-US" b="1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n-GB" altLang="en-US" b="1" i="1" smtClean="0"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GB" alt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altLang="en-US" b="1" i="0" smtClean="0">
                              <a:latin typeface="Cambria Math"/>
                            </a:rPr>
                            <m:t>𝐗</m:t>
                          </m:r>
                        </m:e>
                      </m:d>
                      <m:r>
                        <a:rPr lang="en-GB" altLang="en-US" b="1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n-GB" altLang="en-US" b="1" i="1" smtClean="0">
                          <a:latin typeface="Cambria Math"/>
                          <a:ea typeface="Cambria Math"/>
                        </a:rPr>
                        <m:t>𝟏</m:t>
                      </m:r>
                    </m:oMath>
                  </m:oMathPara>
                </a14:m>
                <a:endParaRPr lang="en-GB" altLang="en-US" dirty="0"/>
              </a:p>
            </p:txBody>
          </p:sp>
        </mc:Choice>
        <mc:Fallback xmlns="">
          <p:sp>
            <p:nvSpPr>
              <p:cNvPr id="3084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5211" y="3590925"/>
                <a:ext cx="2078839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3158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/>
          <p:cNvGrpSpPr/>
          <p:nvPr/>
        </p:nvGrpSpPr>
        <p:grpSpPr>
          <a:xfrm>
            <a:off x="4464415" y="2133600"/>
            <a:ext cx="2726740" cy="3846076"/>
            <a:chOff x="4464415" y="2133600"/>
            <a:chExt cx="2726740" cy="3846076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5765800" y="2133600"/>
              <a:ext cx="1425355" cy="1447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5751471" y="4038600"/>
              <a:ext cx="1439684" cy="194107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Arc 19"/>
            <p:cNvSpPr/>
            <p:nvPr/>
          </p:nvSpPr>
          <p:spPr>
            <a:xfrm rot="2724687">
              <a:off x="4508529" y="2737241"/>
              <a:ext cx="2220221" cy="2308449"/>
            </a:xfrm>
            <a:prstGeom prst="arc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7835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1" grpId="0" animBg="1"/>
      <p:bldP spid="3083" grpId="0" animBg="1"/>
      <p:bldP spid="21" grpId="0" animBg="1"/>
      <p:bldP spid="308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Recall Week 2: </a:t>
            </a:r>
            <a:r>
              <a:rPr lang="en-GB" altLang="en-US" dirty="0"/>
              <a:t>Combining Events</a:t>
            </a:r>
            <a:endParaRPr lang="en-GB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04800" y="1748135"/>
            <a:ext cx="48327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For events that are </a:t>
            </a:r>
            <a:r>
              <a:rPr lang="en-GB" altLang="en-US" dirty="0">
                <a:latin typeface="+mn-lt"/>
              </a:rPr>
              <a:t>not independent</a:t>
            </a:r>
            <a:r>
              <a:rPr lang="en-GB" altLang="en-US" b="0" dirty="0">
                <a:latin typeface="+mn-lt"/>
              </a:rPr>
              <a:t>:</a:t>
            </a:r>
          </a:p>
        </p:txBody>
      </p:sp>
      <p:sp>
        <p:nvSpPr>
          <p:cNvPr id="10" name="Text Box 1027"/>
          <p:cNvSpPr txBox="1">
            <a:spLocks noChangeArrowheads="1"/>
          </p:cNvSpPr>
          <p:nvPr/>
        </p:nvSpPr>
        <p:spPr bwMode="auto">
          <a:xfrm>
            <a:off x="304800" y="1066800"/>
            <a:ext cx="66207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Probability of </a:t>
            </a:r>
            <a:r>
              <a:rPr lang="en-GB" altLang="en-US" dirty="0">
                <a:latin typeface="+mn-lt"/>
              </a:rPr>
              <a:t>A and B happening simultaneously</a:t>
            </a:r>
            <a:r>
              <a:rPr lang="en-GB" altLang="en-US" b="0" dirty="0">
                <a:latin typeface="+mn-lt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828800" y="2743200"/>
                <a:ext cx="44298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800" smtClean="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 i="0">
                              <a:latin typeface="Cambria Math"/>
                              <a:ea typeface="Cambria Math"/>
                            </a:rPr>
                            <m:t>𝐀</m:t>
                          </m:r>
                          <m:r>
                            <a:rPr lang="en-GB" altLang="en-US" sz="2800" b="1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n-GB" altLang="en-US" sz="2800" b="1" i="0">
                              <a:latin typeface="Cambria Math"/>
                              <a:ea typeface="Cambria Math"/>
                            </a:rPr>
                            <m:t>𝐁</m:t>
                          </m:r>
                        </m:e>
                      </m:d>
                      <m:r>
                        <a:rPr lang="en-GB" altLang="en-US" sz="28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altLang="en-US" sz="280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>
                              <a:latin typeface="Cambria Math"/>
                              <a:ea typeface="Cambria Math"/>
                            </a:rPr>
                            <m:t>𝐀</m:t>
                          </m:r>
                        </m:e>
                      </m:d>
                      <m:r>
                        <a:rPr lang="en-GB" altLang="en-US" sz="2800" b="1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altLang="en-US" sz="280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>
                              <a:latin typeface="Cambria Math"/>
                              <a:ea typeface="Cambria Math"/>
                            </a:rPr>
                            <m:t>𝐁</m:t>
                          </m:r>
                          <m:r>
                            <a:rPr lang="en-GB" altLang="en-US" sz="2800" b="1" i="0" smtClean="0">
                              <a:latin typeface="Cambria Math"/>
                              <a:ea typeface="Cambria Math"/>
                            </a:rPr>
                            <m:t>|</m:t>
                          </m:r>
                          <m:r>
                            <a:rPr lang="en-GB" altLang="en-US" sz="2800" b="1" i="0" smtClean="0">
                              <a:latin typeface="Cambria Math"/>
                              <a:ea typeface="Cambria Math"/>
                            </a:rPr>
                            <m:t>𝐀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743200"/>
                <a:ext cx="442986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536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Recall Week 2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557152"/>
              </p:ext>
            </p:extLst>
          </p:nvPr>
        </p:nvGraphicFramePr>
        <p:xfrm>
          <a:off x="4495800" y="76200"/>
          <a:ext cx="4571998" cy="1706880"/>
        </p:xfrm>
        <a:graphic>
          <a:graphicData uri="http://schemas.openxmlformats.org/drawingml/2006/table">
            <a:tbl>
              <a:tblPr firstRow="1" firstCol="1" lastRow="1" lastCol="1" bandRow="1">
                <a:tableStyleId>{9D7B26C5-4107-4FEC-AEDC-1716B250A1EF}</a:tableStyleId>
              </a:tblPr>
              <a:tblGrid>
                <a:gridCol w="1616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Total</a:t>
                      </a:r>
                      <a:endParaRPr lang="en-GB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>
                          <a:solidFill>
                            <a:srgbClr val="C00000"/>
                          </a:solidFill>
                        </a:rPr>
                        <a:t>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C00000"/>
                          </a:solidFill>
                        </a:rPr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Non-smokers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/>
                        <a:t>Total</a:t>
                      </a:r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rgbClr val="FFFF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100%</a:t>
                      </a:r>
                      <a:endParaRPr lang="en-GB" sz="2400" dirty="0">
                        <a:solidFill>
                          <a:srgbClr val="FFFF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304800" y="716340"/>
            <a:ext cx="377077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sz="2000" b="0" dirty="0">
                <a:latin typeface="+mn-lt"/>
              </a:rPr>
              <a:t>The company example:-</a:t>
            </a:r>
          </a:p>
          <a:p>
            <a:pPr lvl="1"/>
            <a:r>
              <a:rPr lang="en-GB" altLang="en-US" sz="1800" dirty="0">
                <a:latin typeface="+mn-lt"/>
              </a:rPr>
              <a:t>50% </a:t>
            </a:r>
            <a:r>
              <a:rPr lang="en-GB" altLang="en-US" sz="1800" b="0" dirty="0">
                <a:latin typeface="+mn-lt"/>
              </a:rPr>
              <a:t>of employees </a:t>
            </a:r>
            <a:r>
              <a:rPr lang="en-GB" altLang="en-US" sz="1800" dirty="0">
                <a:latin typeface="+mn-lt"/>
              </a:rPr>
              <a:t>are female</a:t>
            </a:r>
          </a:p>
          <a:p>
            <a:pPr lvl="1"/>
            <a:r>
              <a:rPr lang="en-GB" altLang="en-US" sz="1800" dirty="0">
                <a:latin typeface="+mn-lt"/>
              </a:rPr>
              <a:t>20% </a:t>
            </a:r>
            <a:r>
              <a:rPr lang="en-GB" altLang="en-US" sz="1800" b="0" dirty="0">
                <a:latin typeface="+mn-lt"/>
              </a:rPr>
              <a:t>of</a:t>
            </a:r>
            <a:r>
              <a:rPr lang="en-GB" altLang="en-US" sz="1800" dirty="0">
                <a:latin typeface="+mn-lt"/>
              </a:rPr>
              <a:t> female </a:t>
            </a:r>
            <a:r>
              <a:rPr lang="en-GB" altLang="en-US" sz="1800" b="0" dirty="0">
                <a:latin typeface="+mn-lt"/>
              </a:rPr>
              <a:t>employees </a:t>
            </a:r>
            <a:r>
              <a:rPr lang="en-GB" altLang="en-US" sz="1800" dirty="0">
                <a:latin typeface="+mn-lt"/>
              </a:rPr>
              <a:t>smoke</a:t>
            </a:r>
          </a:p>
          <a:p>
            <a:pPr lvl="1"/>
            <a:r>
              <a:rPr lang="en-GB" altLang="en-US" sz="1800" dirty="0">
                <a:latin typeface="+mn-lt"/>
              </a:rPr>
              <a:t>30% </a:t>
            </a:r>
            <a:r>
              <a:rPr lang="en-GB" altLang="en-US" sz="1800" b="0" dirty="0">
                <a:latin typeface="+mn-lt"/>
              </a:rPr>
              <a:t>of employees</a:t>
            </a:r>
            <a:r>
              <a:rPr lang="en-GB" altLang="en-US" sz="1800" dirty="0">
                <a:latin typeface="+mn-lt"/>
              </a:rPr>
              <a:t> smoke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2286000" y="2057400"/>
            <a:ext cx="4495800" cy="3276600"/>
            <a:chOff x="2209800" y="2286000"/>
            <a:chExt cx="4495800" cy="2895600"/>
          </a:xfrm>
        </p:grpSpPr>
        <p:sp>
          <p:nvSpPr>
            <p:cNvPr id="54" name="Rectangle 53"/>
            <p:cNvSpPr/>
            <p:nvPr/>
          </p:nvSpPr>
          <p:spPr>
            <a:xfrm>
              <a:off x="2209800" y="2286000"/>
              <a:ext cx="2209800" cy="2895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419600" y="2286000"/>
              <a:ext cx="2286000" cy="2895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4495800" y="2743200"/>
            <a:ext cx="1828800" cy="1371600"/>
            <a:chOff x="4419600" y="2286000"/>
            <a:chExt cx="1828800" cy="1371600"/>
          </a:xfrm>
        </p:grpSpPr>
        <p:sp>
          <p:nvSpPr>
            <p:cNvPr id="57" name="Rectangle 56"/>
            <p:cNvSpPr/>
            <p:nvPr/>
          </p:nvSpPr>
          <p:spPr>
            <a:xfrm>
              <a:off x="4419600" y="2286000"/>
              <a:ext cx="1828800" cy="1371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8" name="Picture 2" descr="https://image.freepik.com/free-icon/smoking-man-silhouette_318-29159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9850" y="2752813"/>
              <a:ext cx="396508" cy="396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9" name="Group 58"/>
          <p:cNvGrpSpPr/>
          <p:nvPr/>
        </p:nvGrpSpPr>
        <p:grpSpPr>
          <a:xfrm>
            <a:off x="3390900" y="2743200"/>
            <a:ext cx="1104900" cy="1371600"/>
            <a:chOff x="3314700" y="2286000"/>
            <a:chExt cx="1104900" cy="1371600"/>
          </a:xfrm>
        </p:grpSpPr>
        <p:sp>
          <p:nvSpPr>
            <p:cNvPr id="60" name="Rectangle 59"/>
            <p:cNvSpPr/>
            <p:nvPr/>
          </p:nvSpPr>
          <p:spPr>
            <a:xfrm>
              <a:off x="3314700" y="2286000"/>
              <a:ext cx="1104900" cy="1371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1" name="Picture 5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9523" y="2752813"/>
              <a:ext cx="368250" cy="397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2" name="Rectangular Callout 61"/>
          <p:cNvSpPr/>
          <p:nvPr/>
        </p:nvSpPr>
        <p:spPr>
          <a:xfrm>
            <a:off x="762000" y="2133600"/>
            <a:ext cx="1371600" cy="753041"/>
          </a:xfrm>
          <a:prstGeom prst="wedgeRectCallout">
            <a:avLst>
              <a:gd name="adj1" fmla="val 80198"/>
              <a:gd name="adj2" fmla="val 5499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50% are females</a:t>
            </a:r>
          </a:p>
        </p:txBody>
      </p:sp>
      <p:sp>
        <p:nvSpPr>
          <p:cNvPr id="63" name="Rectangular Callout 62"/>
          <p:cNvSpPr/>
          <p:nvPr/>
        </p:nvSpPr>
        <p:spPr>
          <a:xfrm>
            <a:off x="609600" y="3634801"/>
            <a:ext cx="1371600" cy="753041"/>
          </a:xfrm>
          <a:prstGeom prst="wedgeRectCallout">
            <a:avLst>
              <a:gd name="adj1" fmla="val 168858"/>
              <a:gd name="adj2" fmla="val -3889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20% females are smokers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6858000" y="4267200"/>
            <a:ext cx="1828800" cy="685800"/>
            <a:chOff x="7010400" y="4267200"/>
            <a:chExt cx="1371600" cy="753041"/>
          </a:xfrm>
        </p:grpSpPr>
        <p:sp>
          <p:nvSpPr>
            <p:cNvPr id="64" name="Rectangular Callout 63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14991"/>
                <a:gd name="adj2" fmla="val -105245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20% females are smokers</a:t>
              </a:r>
            </a:p>
          </p:txBody>
        </p:sp>
        <p:sp>
          <p:nvSpPr>
            <p:cNvPr id="65" name="Rectangular Callout 64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88015"/>
                <a:gd name="adj2" fmla="val -104852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30% of employee are smokers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966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685800" y="2796570"/>
            <a:ext cx="5972175" cy="2173135"/>
            <a:chOff x="685800" y="2796570"/>
            <a:chExt cx="5972175" cy="2173135"/>
          </a:xfrm>
        </p:grpSpPr>
        <p:sp>
          <p:nvSpPr>
            <p:cNvPr id="16" name="Pentagon 15"/>
            <p:cNvSpPr/>
            <p:nvPr/>
          </p:nvSpPr>
          <p:spPr>
            <a:xfrm>
              <a:off x="685800" y="2796570"/>
              <a:ext cx="4451798" cy="403830"/>
            </a:xfrm>
            <a:prstGeom prst="homePlat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8" name="Elbow Connector 17"/>
            <p:cNvCxnSpPr>
              <a:stCxn id="13314" idx="0"/>
              <a:endCxn id="16" idx="3"/>
            </p:cNvCxnSpPr>
            <p:nvPr/>
          </p:nvCxnSpPr>
          <p:spPr>
            <a:xfrm rot="16200000" flipV="1">
              <a:off x="4912177" y="3223906"/>
              <a:ext cx="1971220" cy="1520377"/>
            </a:xfrm>
            <a:prstGeom prst="bentConnector2">
              <a:avLst/>
            </a:prstGeom>
            <a:ln w="57150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Combining Events</a:t>
            </a:r>
            <a:endParaRPr lang="en-GB" dirty="0"/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304800" y="1676400"/>
            <a:ext cx="479009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Consider a company where:-</a:t>
            </a:r>
          </a:p>
          <a:p>
            <a:pPr lvl="1"/>
            <a:r>
              <a:rPr lang="en-GB" altLang="en-US" dirty="0">
                <a:latin typeface="+mn-lt"/>
              </a:rPr>
              <a:t>20% of female </a:t>
            </a:r>
            <a:r>
              <a:rPr lang="en-GB" altLang="en-US" b="0" dirty="0">
                <a:latin typeface="+mn-lt"/>
              </a:rPr>
              <a:t>employees </a:t>
            </a:r>
            <a:r>
              <a:rPr lang="en-GB" altLang="en-US" dirty="0">
                <a:latin typeface="+mn-lt"/>
              </a:rPr>
              <a:t>smoke</a:t>
            </a:r>
          </a:p>
          <a:p>
            <a:pPr lvl="1"/>
            <a:r>
              <a:rPr lang="en-GB" altLang="en-US" dirty="0">
                <a:latin typeface="+mn-lt"/>
              </a:rPr>
              <a:t>50% </a:t>
            </a:r>
            <a:r>
              <a:rPr lang="en-GB" altLang="en-US" b="0" dirty="0">
                <a:latin typeface="+mn-lt"/>
              </a:rPr>
              <a:t>of employees </a:t>
            </a:r>
            <a:r>
              <a:rPr lang="en-GB" altLang="en-US" dirty="0">
                <a:latin typeface="+mn-lt"/>
              </a:rPr>
              <a:t>are female</a:t>
            </a:r>
          </a:p>
          <a:p>
            <a:pPr lvl="1"/>
            <a:r>
              <a:rPr lang="en-GB" altLang="en-US" dirty="0">
                <a:latin typeface="+mn-lt"/>
              </a:rPr>
              <a:t>30% </a:t>
            </a:r>
            <a:r>
              <a:rPr lang="en-GB" altLang="en-US" b="0" dirty="0">
                <a:latin typeface="+mn-lt"/>
              </a:rPr>
              <a:t>of employees</a:t>
            </a:r>
            <a:r>
              <a:rPr lang="en-GB" altLang="en-US" dirty="0">
                <a:latin typeface="+mn-lt"/>
              </a:rPr>
              <a:t> smoke</a:t>
            </a: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04800" y="3810000"/>
            <a:ext cx="717754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If an </a:t>
            </a:r>
            <a:r>
              <a:rPr lang="en-GB" altLang="en-US" dirty="0">
                <a:latin typeface="+mn-lt"/>
              </a:rPr>
              <a:t>employee</a:t>
            </a:r>
            <a:r>
              <a:rPr lang="en-GB" altLang="en-US" b="0" dirty="0">
                <a:latin typeface="+mn-lt"/>
              </a:rPr>
              <a:t> </a:t>
            </a:r>
            <a:r>
              <a:rPr lang="en-GB" altLang="en-US" dirty="0">
                <a:latin typeface="+mn-lt"/>
              </a:rPr>
              <a:t>is</a:t>
            </a:r>
            <a:r>
              <a:rPr lang="en-GB" altLang="en-US" b="0" dirty="0">
                <a:latin typeface="+mn-lt"/>
              </a:rPr>
              <a:t> </a:t>
            </a:r>
            <a:r>
              <a:rPr lang="en-GB" altLang="en-US" dirty="0">
                <a:latin typeface="+mn-lt"/>
              </a:rPr>
              <a:t>chosen at random</a:t>
            </a:r>
            <a:r>
              <a:rPr lang="en-GB" altLang="en-US" b="0" dirty="0">
                <a:latin typeface="+mn-lt"/>
              </a:rPr>
              <a:t>…</a:t>
            </a:r>
          </a:p>
          <a:p>
            <a:pPr lvl="1"/>
            <a:r>
              <a:rPr lang="en-GB" altLang="en-US" b="0" dirty="0">
                <a:latin typeface="+mn-lt"/>
              </a:rPr>
              <a:t>what is the chance it </a:t>
            </a:r>
            <a:r>
              <a:rPr lang="en-GB" altLang="en-US" dirty="0">
                <a:latin typeface="+mn-lt"/>
              </a:rPr>
              <a:t>will be a woman who smokes</a:t>
            </a:r>
            <a:r>
              <a:rPr lang="en-GB" altLang="en-US" b="0" dirty="0">
                <a:latin typeface="+mn-lt"/>
              </a:rPr>
              <a:t>?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4800" y="990600"/>
            <a:ext cx="48327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For events that are </a:t>
            </a:r>
            <a:r>
              <a:rPr lang="en-GB" altLang="en-US" dirty="0">
                <a:ln>
                  <a:solidFill>
                    <a:srgbClr val="FFC000"/>
                  </a:solidFill>
                </a:ln>
                <a:latin typeface="+mn-lt"/>
              </a:rPr>
              <a:t>not independent</a:t>
            </a:r>
            <a:r>
              <a:rPr lang="en-GB" altLang="en-US" b="0" dirty="0">
                <a:latin typeface="+mn-lt"/>
              </a:rPr>
              <a:t>:</a:t>
            </a:r>
          </a:p>
        </p:txBody>
      </p:sp>
      <p:sp>
        <p:nvSpPr>
          <p:cNvPr id="6" name="Text Box 1027"/>
          <p:cNvSpPr txBox="1">
            <a:spLocks noChangeArrowheads="1"/>
          </p:cNvSpPr>
          <p:nvPr/>
        </p:nvSpPr>
        <p:spPr bwMode="auto">
          <a:xfrm>
            <a:off x="304800" y="609600"/>
            <a:ext cx="66207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Probability of </a:t>
            </a:r>
            <a:r>
              <a:rPr lang="en-GB" altLang="en-US" dirty="0">
                <a:latin typeface="+mn-lt"/>
              </a:rPr>
              <a:t>A and B happening simultaneously</a:t>
            </a:r>
            <a:r>
              <a:rPr lang="en-GB" altLang="en-US" b="0" dirty="0">
                <a:latin typeface="+mn-lt"/>
              </a:rPr>
              <a:t>…</a:t>
            </a:r>
          </a:p>
        </p:txBody>
      </p:sp>
      <p:pic>
        <p:nvPicPr>
          <p:cNvPr id="10242" name="Picture 2" descr="http://www.dionnesheencounsellor.co.uk/wp-content/uploads/2015/03/smokin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592" y="2135902"/>
            <a:ext cx="1489570" cy="106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http://l.rgbimg.com/cache1nYGZk/users/w/we/weirdvis/600/mmKVlOc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587" y="1447800"/>
            <a:ext cx="12954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62000" y="4690865"/>
                <a:ext cx="7696200" cy="12926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altLang="en-US" sz="2000" dirty="0">
                    <a:solidFill>
                      <a:srgbClr val="0070C0"/>
                    </a:solidFill>
                  </a:rPr>
                  <a:t>Chances of both e</a:t>
                </a:r>
                <a:r>
                  <a:rPr lang="en-GB" altLang="en-US" sz="2000" b="0" dirty="0">
                    <a:solidFill>
                      <a:srgbClr val="0070C0"/>
                    </a:solidFill>
                  </a:rPr>
                  <a:t>vents </a:t>
                </a:r>
                <a14:m>
                  <m:oMath xmlns:m="http://schemas.openxmlformats.org/officeDocument/2006/math">
                    <m:r>
                      <a:rPr lang="en-GB" alt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GB" alt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altLang="en-US" sz="2000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smoke</m:t>
                        </m:r>
                      </m:sub>
                    </m:sSub>
                  </m:oMath>
                </a14:m>
                <a:r>
                  <a:rPr lang="en-GB" altLang="en-US" sz="2000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altLang="en-US" sz="2000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female</m:t>
                        </m:r>
                      </m:sub>
                    </m:sSub>
                  </m:oMath>
                </a14:m>
                <a:r>
                  <a:rPr lang="en-GB" altLang="en-US" sz="2000" dirty="0">
                    <a:solidFill>
                      <a:srgbClr val="0070C0"/>
                    </a:solidFill>
                  </a:rPr>
                  <a:t> together:-</a:t>
                </a:r>
              </a:p>
              <a:p>
                <a:endParaRPr lang="en-GB" altLang="en-US" sz="900" dirty="0">
                  <a:solidFill>
                    <a:srgbClr val="0070C0"/>
                  </a:solidFill>
                </a:endParaRPr>
              </a:p>
              <a:p>
                <a:r>
                  <a:rPr lang="en-GB" altLang="en-US" sz="2000" dirty="0">
                    <a:solidFill>
                      <a:srgbClr val="0070C0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 sz="2000">
                        <a:solidFill>
                          <a:srgbClr val="0070C0"/>
                        </a:solidFill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en-US" sz="200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female</m:t>
                            </m:r>
                          </m:sub>
                        </m:sSub>
                        <m:r>
                          <a:rPr lang="en-GB" altLang="en-US" sz="200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∩</m:t>
                        </m:r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en-US" sz="200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smoke</m:t>
                            </m:r>
                          </m:sub>
                        </m:sSub>
                      </m:e>
                    </m:d>
                    <m:r>
                      <a:rPr lang="en-GB" alt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altLang="en-US" sz="2000">
                        <a:solidFill>
                          <a:srgbClr val="0070C0"/>
                        </a:solidFill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en-US" sz="200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female</m:t>
                            </m:r>
                          </m:sub>
                        </m:sSub>
                      </m:e>
                    </m:d>
                    <m:r>
                      <a:rPr lang="en-GB" altLang="en-US" sz="20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m:rPr>
                        <m:sty m:val="p"/>
                      </m:rPr>
                      <a:rPr lang="en-GB" altLang="en-US" sz="2000">
                        <a:solidFill>
                          <a:srgbClr val="0070C0"/>
                        </a:solidFill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en-US" sz="200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smoke</m:t>
                            </m:r>
                          </m:sub>
                        </m:sSub>
                      </m:e>
                    </m:d>
                  </m:oMath>
                </a14:m>
                <a:endParaRPr lang="en-GB" altLang="en-US" sz="2000" i="1" dirty="0">
                  <a:solidFill>
                    <a:srgbClr val="0070C0"/>
                  </a:solidFill>
                  <a:latin typeface="Cambria Math"/>
                </a:endParaRPr>
              </a:p>
              <a:p>
                <a:endParaRPr lang="en-GB" altLang="en-US" sz="900" i="1" dirty="0">
                  <a:solidFill>
                    <a:srgbClr val="0070C0"/>
                  </a:solidFill>
                  <a:latin typeface="Cambria Math"/>
                </a:endParaRPr>
              </a:p>
              <a:p>
                <a:r>
                  <a:rPr lang="en-GB" altLang="en-US" sz="2000" dirty="0">
                    <a:solidFill>
                      <a:srgbClr val="0070C0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 sz="2000">
                        <a:solidFill>
                          <a:srgbClr val="0070C0"/>
                        </a:solidFill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en-US" sz="200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female</m:t>
                            </m:r>
                          </m:sub>
                        </m:sSub>
                        <m: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∩</m:t>
                        </m:r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en-US" sz="200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smoke</m:t>
                            </m:r>
                          </m:sub>
                        </m:sSub>
                      </m:e>
                    </m:d>
                    <m:r>
                      <a:rPr lang="en-GB" altLang="en-US" sz="20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GB" alt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0.50</m:t>
                    </m:r>
                    <m:r>
                      <a:rPr lang="en-GB" altLang="en-US" sz="2000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GB" altLang="en-US" sz="20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0.30</m:t>
                    </m:r>
                    <m:r>
                      <a:rPr lang="en-GB" alt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=0.15</m:t>
                    </m:r>
                  </m:oMath>
                </a14:m>
                <a:endParaRPr lang="en-GB" alt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690865"/>
                <a:ext cx="7696200" cy="1292662"/>
              </a:xfrm>
              <a:prstGeom prst="rect">
                <a:avLst/>
              </a:prstGeom>
              <a:blipFill rotWithShape="1">
                <a:blip r:embed="rId5"/>
                <a:stretch>
                  <a:fillRect l="-792" t="-2347" b="-9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5695950" y="4969705"/>
            <a:ext cx="1219200" cy="576167"/>
            <a:chOff x="5695950" y="5434108"/>
            <a:chExt cx="1219200" cy="576167"/>
          </a:xfrm>
        </p:grpSpPr>
        <p:sp>
          <p:nvSpPr>
            <p:cNvPr id="11" name="Rectangle 10"/>
            <p:cNvSpPr/>
            <p:nvPr/>
          </p:nvSpPr>
          <p:spPr>
            <a:xfrm>
              <a:off x="5695950" y="5587082"/>
              <a:ext cx="1219200" cy="42319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3314" name="Picture 2" descr="http://www.clker.com/cliparts/u/B/V/9/F/u/red-wrong-cross-md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5434108"/>
              <a:ext cx="361950" cy="3570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1144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685800" y="2057400"/>
            <a:ext cx="6032405" cy="3065279"/>
            <a:chOff x="685800" y="2057400"/>
            <a:chExt cx="6032405" cy="3065279"/>
          </a:xfrm>
        </p:grpSpPr>
        <p:sp>
          <p:nvSpPr>
            <p:cNvPr id="14" name="Pentagon 13"/>
            <p:cNvSpPr/>
            <p:nvPr/>
          </p:nvSpPr>
          <p:spPr>
            <a:xfrm>
              <a:off x="685800" y="2057400"/>
              <a:ext cx="4451798" cy="403830"/>
            </a:xfrm>
            <a:prstGeom prst="homePlat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" name="Elbow Connector 15"/>
            <p:cNvCxnSpPr>
              <a:stCxn id="15" idx="0"/>
              <a:endCxn id="14" idx="3"/>
            </p:cNvCxnSpPr>
            <p:nvPr/>
          </p:nvCxnSpPr>
          <p:spPr>
            <a:xfrm rot="16200000" flipV="1">
              <a:off x="4496220" y="2900693"/>
              <a:ext cx="2863364" cy="1580607"/>
            </a:xfrm>
            <a:prstGeom prst="bentConnector2">
              <a:avLst/>
            </a:prstGeom>
            <a:ln w="57150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Combining Events</a:t>
            </a:r>
            <a:endParaRPr lang="en-GB" dirty="0"/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304800" y="1676400"/>
            <a:ext cx="479009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Consider a company where:-</a:t>
            </a:r>
          </a:p>
          <a:p>
            <a:pPr lvl="1"/>
            <a:r>
              <a:rPr lang="en-GB" altLang="en-US" dirty="0">
                <a:latin typeface="+mn-lt"/>
              </a:rPr>
              <a:t>20% of female </a:t>
            </a:r>
            <a:r>
              <a:rPr lang="en-GB" altLang="en-US" b="0" dirty="0">
                <a:latin typeface="+mn-lt"/>
              </a:rPr>
              <a:t>employees </a:t>
            </a:r>
            <a:r>
              <a:rPr lang="en-GB" altLang="en-US" dirty="0">
                <a:latin typeface="+mn-lt"/>
              </a:rPr>
              <a:t>smoke</a:t>
            </a:r>
          </a:p>
          <a:p>
            <a:pPr lvl="1"/>
            <a:r>
              <a:rPr lang="en-GB" altLang="en-US" dirty="0">
                <a:latin typeface="+mn-lt"/>
              </a:rPr>
              <a:t>50% </a:t>
            </a:r>
            <a:r>
              <a:rPr lang="en-GB" altLang="en-US" b="0" dirty="0">
                <a:latin typeface="+mn-lt"/>
              </a:rPr>
              <a:t>of employees </a:t>
            </a:r>
            <a:r>
              <a:rPr lang="en-GB" altLang="en-US" dirty="0">
                <a:latin typeface="+mn-lt"/>
              </a:rPr>
              <a:t>are female</a:t>
            </a:r>
          </a:p>
          <a:p>
            <a:pPr lvl="1"/>
            <a:r>
              <a:rPr lang="en-GB" altLang="en-US" dirty="0">
                <a:latin typeface="+mn-lt"/>
              </a:rPr>
              <a:t>30% </a:t>
            </a:r>
            <a:r>
              <a:rPr lang="en-GB" altLang="en-US" b="0" dirty="0">
                <a:latin typeface="+mn-lt"/>
              </a:rPr>
              <a:t>of employees</a:t>
            </a:r>
            <a:r>
              <a:rPr lang="en-GB" altLang="en-US" dirty="0">
                <a:latin typeface="+mn-lt"/>
              </a:rPr>
              <a:t> smoke</a:t>
            </a: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04800" y="3810000"/>
            <a:ext cx="717754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If an </a:t>
            </a:r>
            <a:r>
              <a:rPr lang="en-GB" altLang="en-US" dirty="0">
                <a:latin typeface="+mn-lt"/>
              </a:rPr>
              <a:t>employee</a:t>
            </a:r>
            <a:r>
              <a:rPr lang="en-GB" altLang="en-US" b="0" dirty="0">
                <a:latin typeface="+mn-lt"/>
              </a:rPr>
              <a:t> </a:t>
            </a:r>
            <a:r>
              <a:rPr lang="en-GB" altLang="en-US" dirty="0">
                <a:latin typeface="+mn-lt"/>
              </a:rPr>
              <a:t>is</a:t>
            </a:r>
            <a:r>
              <a:rPr lang="en-GB" altLang="en-US" b="0" dirty="0">
                <a:latin typeface="+mn-lt"/>
              </a:rPr>
              <a:t> </a:t>
            </a:r>
            <a:r>
              <a:rPr lang="en-GB" altLang="en-US" dirty="0">
                <a:latin typeface="+mn-lt"/>
              </a:rPr>
              <a:t>chosen at random</a:t>
            </a:r>
            <a:r>
              <a:rPr lang="en-GB" altLang="en-US" b="0" dirty="0">
                <a:latin typeface="+mn-lt"/>
              </a:rPr>
              <a:t>…</a:t>
            </a:r>
          </a:p>
          <a:p>
            <a:pPr lvl="1"/>
            <a:r>
              <a:rPr lang="en-GB" altLang="en-US" b="0" dirty="0">
                <a:latin typeface="+mn-lt"/>
              </a:rPr>
              <a:t>what is the chance it </a:t>
            </a:r>
            <a:r>
              <a:rPr lang="en-GB" altLang="en-US" dirty="0">
                <a:latin typeface="+mn-lt"/>
              </a:rPr>
              <a:t>will be a woman who smokes</a:t>
            </a:r>
            <a:r>
              <a:rPr lang="en-GB" altLang="en-US" b="0" dirty="0">
                <a:latin typeface="+mn-lt"/>
              </a:rPr>
              <a:t>?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4800" y="990600"/>
            <a:ext cx="48327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For events that are </a:t>
            </a:r>
            <a:r>
              <a:rPr lang="en-GB" altLang="en-US" dirty="0">
                <a:ln>
                  <a:solidFill>
                    <a:srgbClr val="FFC000"/>
                  </a:solidFill>
                </a:ln>
                <a:latin typeface="+mn-lt"/>
              </a:rPr>
              <a:t>not independent</a:t>
            </a:r>
            <a:r>
              <a:rPr lang="en-GB" altLang="en-US" b="0" dirty="0">
                <a:latin typeface="+mn-lt"/>
              </a:rPr>
              <a:t>:</a:t>
            </a:r>
          </a:p>
        </p:txBody>
      </p:sp>
      <p:sp>
        <p:nvSpPr>
          <p:cNvPr id="6" name="Text Box 1027"/>
          <p:cNvSpPr txBox="1">
            <a:spLocks noChangeArrowheads="1"/>
          </p:cNvSpPr>
          <p:nvPr/>
        </p:nvSpPr>
        <p:spPr bwMode="auto">
          <a:xfrm>
            <a:off x="304800" y="609600"/>
            <a:ext cx="66207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Probability of </a:t>
            </a:r>
            <a:r>
              <a:rPr lang="en-GB" altLang="en-US" dirty="0">
                <a:latin typeface="+mn-lt"/>
              </a:rPr>
              <a:t>A and B happening simultaneously</a:t>
            </a:r>
            <a:r>
              <a:rPr lang="en-GB" altLang="en-US" b="0" dirty="0">
                <a:latin typeface="+mn-lt"/>
              </a:rPr>
              <a:t>…</a:t>
            </a:r>
          </a:p>
        </p:txBody>
      </p:sp>
      <p:pic>
        <p:nvPicPr>
          <p:cNvPr id="10242" name="Picture 2" descr="http://www.dionnesheencounsellor.co.uk/wp-content/uploads/2015/03/smokin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592" y="2135902"/>
            <a:ext cx="1489570" cy="106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http://l.rgbimg.com/cache1nYGZk/users/w/we/weirdvis/600/mmKVlOc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587" y="1447800"/>
            <a:ext cx="12954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62000" y="4690865"/>
                <a:ext cx="7696200" cy="12926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altLang="en-US" sz="2000" dirty="0">
                    <a:solidFill>
                      <a:srgbClr val="0070C0"/>
                    </a:solidFill>
                  </a:rPr>
                  <a:t>Chances of both e</a:t>
                </a:r>
                <a:r>
                  <a:rPr lang="en-GB" altLang="en-US" sz="2000" b="0" dirty="0">
                    <a:solidFill>
                      <a:srgbClr val="0070C0"/>
                    </a:solidFill>
                  </a:rPr>
                  <a:t>vents </a:t>
                </a:r>
                <a14:m>
                  <m:oMath xmlns:m="http://schemas.openxmlformats.org/officeDocument/2006/math">
                    <m:r>
                      <a:rPr lang="en-GB" alt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GB" alt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altLang="en-US" sz="2000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smoke</m:t>
                        </m:r>
                      </m:sub>
                    </m:sSub>
                  </m:oMath>
                </a14:m>
                <a:r>
                  <a:rPr lang="en-GB" altLang="en-US" sz="2000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altLang="en-US" sz="2000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female</m:t>
                        </m:r>
                      </m:sub>
                    </m:sSub>
                  </m:oMath>
                </a14:m>
                <a:r>
                  <a:rPr lang="en-GB" altLang="en-US" sz="2000" dirty="0">
                    <a:solidFill>
                      <a:srgbClr val="0070C0"/>
                    </a:solidFill>
                  </a:rPr>
                  <a:t> together:-</a:t>
                </a:r>
              </a:p>
              <a:p>
                <a:endParaRPr lang="en-GB" altLang="en-US" sz="900" dirty="0">
                  <a:solidFill>
                    <a:srgbClr val="0070C0"/>
                  </a:solidFill>
                </a:endParaRPr>
              </a:p>
              <a:p>
                <a:r>
                  <a:rPr lang="en-GB" altLang="en-US" sz="2000" dirty="0">
                    <a:solidFill>
                      <a:srgbClr val="0070C0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 sz="2000">
                        <a:solidFill>
                          <a:srgbClr val="0070C0"/>
                        </a:solidFill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en-US" sz="200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female</m:t>
                            </m:r>
                          </m:sub>
                        </m:sSub>
                        <m:r>
                          <a:rPr lang="en-GB" altLang="en-US" sz="200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∩</m:t>
                        </m:r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en-US" sz="200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smoke</m:t>
                            </m:r>
                          </m:sub>
                        </m:sSub>
                      </m:e>
                    </m:d>
                    <m:r>
                      <a:rPr lang="en-GB" alt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altLang="en-US" sz="2000">
                        <a:solidFill>
                          <a:srgbClr val="0070C0"/>
                        </a:solidFill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en-US" sz="200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female</m:t>
                            </m:r>
                          </m:sub>
                        </m:sSub>
                      </m:e>
                    </m:d>
                    <m:r>
                      <a:rPr lang="en-GB" altLang="en-US" sz="20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m:rPr>
                        <m:sty m:val="p"/>
                      </m:rPr>
                      <a:rPr lang="en-GB" altLang="en-US" sz="2000">
                        <a:solidFill>
                          <a:srgbClr val="0070C0"/>
                        </a:solidFill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en-US" sz="200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smoke</m:t>
                            </m:r>
                          </m:sub>
                        </m:sSub>
                        <m:r>
                          <a:rPr lang="en-GB" alt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en-US" sz="200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female</m:t>
                            </m:r>
                          </m:sub>
                        </m:sSub>
                      </m:e>
                    </m:d>
                  </m:oMath>
                </a14:m>
                <a:endParaRPr lang="en-GB" altLang="en-US" sz="2000" i="1" dirty="0">
                  <a:solidFill>
                    <a:srgbClr val="0070C0"/>
                  </a:solidFill>
                  <a:latin typeface="Cambria Math"/>
                </a:endParaRPr>
              </a:p>
              <a:p>
                <a:endParaRPr lang="en-GB" altLang="en-US" sz="900" i="1" dirty="0">
                  <a:solidFill>
                    <a:srgbClr val="0070C0"/>
                  </a:solidFill>
                  <a:latin typeface="Cambria Math"/>
                </a:endParaRPr>
              </a:p>
              <a:p>
                <a:r>
                  <a:rPr lang="en-GB" altLang="en-US" sz="2000" dirty="0">
                    <a:solidFill>
                      <a:srgbClr val="0070C0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 sz="2000">
                        <a:solidFill>
                          <a:srgbClr val="0070C0"/>
                        </a:solidFill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en-US" sz="200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female</m:t>
                            </m:r>
                          </m:sub>
                        </m:sSub>
                        <m:r>
                          <a:rPr lang="en-GB" altLang="en-US" sz="2000" i="1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∩</m:t>
                        </m:r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en-US" sz="200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smoke</m:t>
                            </m:r>
                          </m:sub>
                        </m:sSub>
                      </m:e>
                    </m:d>
                    <m:r>
                      <a:rPr lang="en-GB" altLang="en-US" sz="20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GB" alt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0.50</m:t>
                    </m:r>
                    <m:r>
                      <a:rPr lang="en-GB" altLang="en-US" sz="2000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GB" altLang="en-US" sz="20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0.20</m:t>
                    </m:r>
                    <m:r>
                      <a:rPr lang="en-GB" alt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=0.1</m:t>
                    </m:r>
                  </m:oMath>
                </a14:m>
                <a:r>
                  <a:rPr lang="en-GB" altLang="en-US" sz="2000" dirty="0">
                    <a:solidFill>
                      <a:srgbClr val="0070C0"/>
                    </a:solidFill>
                  </a:rPr>
                  <a:t>0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690865"/>
                <a:ext cx="7696200" cy="1292662"/>
              </a:xfrm>
              <a:prstGeom prst="rect">
                <a:avLst/>
              </a:prstGeom>
              <a:blipFill rotWithShape="1">
                <a:blip r:embed="rId5"/>
                <a:stretch>
                  <a:fillRect l="-792" t="-2347" b="-70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5695952" y="4964847"/>
            <a:ext cx="2044505" cy="581025"/>
            <a:chOff x="5695952" y="5429250"/>
            <a:chExt cx="2044505" cy="581025"/>
          </a:xfrm>
        </p:grpSpPr>
        <p:sp>
          <p:nvSpPr>
            <p:cNvPr id="15" name="Rectangle 14"/>
            <p:cNvSpPr/>
            <p:nvPr/>
          </p:nvSpPr>
          <p:spPr>
            <a:xfrm>
              <a:off x="5695952" y="5587082"/>
              <a:ext cx="2044505" cy="423193"/>
            </a:xfrm>
            <a:prstGeom prst="rect">
              <a:avLst/>
            </a:prstGeom>
            <a:noFill/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2" descr="http://nexnet.files.wordpress.com/2013/02/kliponious-black-tick.png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0124" y="5429250"/>
              <a:ext cx="303201" cy="3469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934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Text Box 2051"/>
          <p:cNvSpPr txBox="1">
            <a:spLocks noChangeArrowheads="1"/>
          </p:cNvSpPr>
          <p:nvPr/>
        </p:nvSpPr>
        <p:spPr bwMode="auto">
          <a:xfrm>
            <a:off x="304800" y="1046114"/>
            <a:ext cx="744370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dirty="0">
                <a:latin typeface="+mn-lt"/>
              </a:rPr>
              <a:t>p(smoker if female) </a:t>
            </a:r>
            <a:r>
              <a:rPr lang="en-GB" altLang="en-US" b="0" dirty="0">
                <a:latin typeface="+mn-lt"/>
              </a:rPr>
              <a:t>is the </a:t>
            </a:r>
            <a:r>
              <a:rPr lang="en-GB" altLang="en-US" dirty="0">
                <a:solidFill>
                  <a:srgbClr val="333399"/>
                </a:solidFill>
                <a:latin typeface="+mn-lt"/>
              </a:rPr>
              <a:t>conditional probability</a:t>
            </a:r>
            <a:r>
              <a:rPr lang="en-GB" altLang="en-US" dirty="0">
                <a:latin typeface="+mn-lt"/>
              </a:rPr>
              <a:t> </a:t>
            </a:r>
            <a:r>
              <a:rPr lang="en-GB" altLang="en-US" b="0" dirty="0">
                <a:latin typeface="+mn-lt"/>
              </a:rPr>
              <a:t>i.e.</a:t>
            </a:r>
          </a:p>
          <a:p>
            <a:r>
              <a:rPr lang="en-GB" altLang="en-US" dirty="0">
                <a:latin typeface="+mn-lt"/>
              </a:rPr>
              <a:t>	</a:t>
            </a:r>
            <a:r>
              <a:rPr lang="en-GB" altLang="en-US" b="0" dirty="0">
                <a:latin typeface="+mn-lt"/>
              </a:rPr>
              <a:t>the worker smokes </a:t>
            </a:r>
            <a:r>
              <a:rPr lang="en-GB" altLang="en-US" dirty="0">
                <a:solidFill>
                  <a:srgbClr val="333399"/>
                </a:solidFill>
                <a:latin typeface="+mn-lt"/>
              </a:rPr>
              <a:t>given that</a:t>
            </a:r>
            <a:r>
              <a:rPr lang="en-GB" altLang="en-US" dirty="0">
                <a:latin typeface="+mn-lt"/>
              </a:rPr>
              <a:t> </a:t>
            </a:r>
            <a:r>
              <a:rPr lang="en-GB" altLang="en-US" b="0" dirty="0">
                <a:latin typeface="+mn-lt"/>
              </a:rPr>
              <a:t>the worker is female</a:t>
            </a:r>
          </a:p>
          <a:p>
            <a:endParaRPr lang="en-GB" altLang="en-US" dirty="0">
              <a:latin typeface="+mn-lt"/>
            </a:endParaRPr>
          </a:p>
          <a:p>
            <a:r>
              <a:rPr lang="en-GB" altLang="en-US" b="0" dirty="0">
                <a:latin typeface="+mn-lt"/>
              </a:rPr>
              <a:t>This can be written as…</a:t>
            </a:r>
          </a:p>
          <a:p>
            <a:r>
              <a:rPr lang="en-GB" altLang="en-US" dirty="0">
                <a:latin typeface="+mn-lt"/>
              </a:rPr>
              <a:t>	p(smoker | female)</a:t>
            </a:r>
          </a:p>
        </p:txBody>
      </p:sp>
      <p:sp>
        <p:nvSpPr>
          <p:cNvPr id="45060" name="Text Box 2052"/>
          <p:cNvSpPr txBox="1">
            <a:spLocks noChangeArrowheads="1"/>
          </p:cNvSpPr>
          <p:nvPr/>
        </p:nvSpPr>
        <p:spPr bwMode="auto">
          <a:xfrm>
            <a:off x="304800" y="3505200"/>
            <a:ext cx="8001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dirty="0">
                <a:latin typeface="+mn-lt"/>
              </a:rPr>
              <a:t>Conditional probabilities </a:t>
            </a:r>
            <a:r>
              <a:rPr lang="en-GB" altLang="en-US" b="0" dirty="0">
                <a:latin typeface="+mn-lt"/>
              </a:rPr>
              <a:t>can be important:</a:t>
            </a:r>
          </a:p>
          <a:p>
            <a:pPr lvl="1"/>
            <a:r>
              <a:rPr lang="en-GB" altLang="en-US" b="0" dirty="0">
                <a:latin typeface="+mn-lt"/>
              </a:rPr>
              <a:t>They </a:t>
            </a:r>
            <a:r>
              <a:rPr lang="en-GB" altLang="en-US" dirty="0">
                <a:latin typeface="+mn-lt"/>
              </a:rPr>
              <a:t>give information about subgroups</a:t>
            </a:r>
            <a:r>
              <a:rPr lang="en-GB" altLang="en-US" b="0" dirty="0">
                <a:latin typeface="+mn-lt"/>
              </a:rPr>
              <a:t> with different propensities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/>
              <a:t>Conditional Probabilities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1066800" y="4930914"/>
            <a:ext cx="4648200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altLang="en-US" sz="2000" dirty="0"/>
              <a:t>e.g. different propensities to default on loans or purchase products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7691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188547"/>
              </p:ext>
            </p:extLst>
          </p:nvPr>
        </p:nvGraphicFramePr>
        <p:xfrm>
          <a:off x="4495800" y="76200"/>
          <a:ext cx="4571998" cy="1706880"/>
        </p:xfrm>
        <a:graphic>
          <a:graphicData uri="http://schemas.openxmlformats.org/drawingml/2006/table">
            <a:tbl>
              <a:tblPr firstRow="1" firstCol="1" lastRow="1" lastCol="1" bandRow="1">
                <a:tableStyleId>{9D7B26C5-4107-4FEC-AEDC-1716B250A1EF}</a:tableStyleId>
              </a:tblPr>
              <a:tblGrid>
                <a:gridCol w="1616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Total</a:t>
                      </a:r>
                      <a:endParaRPr lang="en-GB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>
                          <a:solidFill>
                            <a:srgbClr val="C00000"/>
                          </a:solidFill>
                        </a:rPr>
                        <a:t>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C00000"/>
                          </a:solidFill>
                        </a:rPr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Non-smokers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/>
                        <a:t>Total</a:t>
                      </a:r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rgbClr val="FFFF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100%</a:t>
                      </a:r>
                      <a:endParaRPr lang="en-GB" sz="2400" dirty="0">
                        <a:solidFill>
                          <a:srgbClr val="FFFF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3" name="Group 52"/>
          <p:cNvGrpSpPr/>
          <p:nvPr/>
        </p:nvGrpSpPr>
        <p:grpSpPr>
          <a:xfrm>
            <a:off x="2286000" y="2057400"/>
            <a:ext cx="4495800" cy="3276600"/>
            <a:chOff x="2209800" y="2286000"/>
            <a:chExt cx="4495800" cy="2895600"/>
          </a:xfrm>
        </p:grpSpPr>
        <p:sp>
          <p:nvSpPr>
            <p:cNvPr id="54" name="Rectangle 53"/>
            <p:cNvSpPr/>
            <p:nvPr/>
          </p:nvSpPr>
          <p:spPr>
            <a:xfrm>
              <a:off x="2209800" y="2286000"/>
              <a:ext cx="2209800" cy="2895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419600" y="2286000"/>
              <a:ext cx="2286000" cy="2895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4495800" y="2743200"/>
            <a:ext cx="1828800" cy="1371600"/>
            <a:chOff x="4419600" y="2286000"/>
            <a:chExt cx="1828800" cy="1371600"/>
          </a:xfrm>
        </p:grpSpPr>
        <p:sp>
          <p:nvSpPr>
            <p:cNvPr id="57" name="Rectangle 56"/>
            <p:cNvSpPr/>
            <p:nvPr/>
          </p:nvSpPr>
          <p:spPr>
            <a:xfrm>
              <a:off x="4419600" y="2286000"/>
              <a:ext cx="1828800" cy="1371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8" name="Picture 2" descr="https://image.freepik.com/free-icon/smoking-man-silhouette_318-29159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9850" y="2752813"/>
              <a:ext cx="396508" cy="396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9" name="Group 58"/>
          <p:cNvGrpSpPr/>
          <p:nvPr/>
        </p:nvGrpSpPr>
        <p:grpSpPr>
          <a:xfrm>
            <a:off x="3390900" y="2743200"/>
            <a:ext cx="1104900" cy="1371600"/>
            <a:chOff x="3314700" y="2286000"/>
            <a:chExt cx="1104900" cy="1371600"/>
          </a:xfrm>
        </p:grpSpPr>
        <p:sp>
          <p:nvSpPr>
            <p:cNvPr id="60" name="Rectangle 59"/>
            <p:cNvSpPr/>
            <p:nvPr/>
          </p:nvSpPr>
          <p:spPr>
            <a:xfrm>
              <a:off x="3314700" y="2286000"/>
              <a:ext cx="1104900" cy="1371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1" name="Picture 5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9523" y="2752813"/>
              <a:ext cx="368250" cy="397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2" name="Rectangular Callout 61"/>
          <p:cNvSpPr/>
          <p:nvPr/>
        </p:nvSpPr>
        <p:spPr>
          <a:xfrm>
            <a:off x="762000" y="2133600"/>
            <a:ext cx="1371600" cy="753041"/>
          </a:xfrm>
          <a:prstGeom prst="wedgeRectCallout">
            <a:avLst>
              <a:gd name="adj1" fmla="val 80198"/>
              <a:gd name="adj2" fmla="val 5499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50% are females</a:t>
            </a:r>
          </a:p>
        </p:txBody>
      </p:sp>
      <p:sp>
        <p:nvSpPr>
          <p:cNvPr id="63" name="Rectangular Callout 62"/>
          <p:cNvSpPr/>
          <p:nvPr/>
        </p:nvSpPr>
        <p:spPr>
          <a:xfrm>
            <a:off x="609600" y="3634801"/>
            <a:ext cx="1371600" cy="753041"/>
          </a:xfrm>
          <a:prstGeom prst="wedgeRectCallout">
            <a:avLst>
              <a:gd name="adj1" fmla="val 168858"/>
              <a:gd name="adj2" fmla="val -3889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20% females are smokers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6858000" y="4267200"/>
            <a:ext cx="1828800" cy="685800"/>
            <a:chOff x="7010400" y="4267200"/>
            <a:chExt cx="1371600" cy="753041"/>
          </a:xfrm>
        </p:grpSpPr>
        <p:sp>
          <p:nvSpPr>
            <p:cNvPr id="64" name="Rectangular Callout 63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14991"/>
                <a:gd name="adj2" fmla="val -105245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20% females are smokers</a:t>
              </a:r>
            </a:p>
          </p:txBody>
        </p:sp>
        <p:sp>
          <p:nvSpPr>
            <p:cNvPr id="65" name="Rectangular Callout 64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88015"/>
                <a:gd name="adj2" fmla="val -104852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30% of employee are smokers</a:t>
              </a:r>
            </a:p>
          </p:txBody>
        </p:sp>
      </p:grpSp>
      <p:sp>
        <p:nvSpPr>
          <p:cNvPr id="19" name="Rectangular Callout 18"/>
          <p:cNvSpPr/>
          <p:nvPr/>
        </p:nvSpPr>
        <p:spPr>
          <a:xfrm>
            <a:off x="762000" y="2133600"/>
            <a:ext cx="1371600" cy="753041"/>
          </a:xfrm>
          <a:prstGeom prst="wedgeRectCallout">
            <a:avLst>
              <a:gd name="adj1" fmla="val 80198"/>
              <a:gd name="adj2" fmla="val 5499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P(F) = 0.5</a:t>
            </a:r>
          </a:p>
        </p:txBody>
      </p:sp>
      <p:sp>
        <p:nvSpPr>
          <p:cNvPr id="20" name="Rectangular Callout 19"/>
          <p:cNvSpPr/>
          <p:nvPr/>
        </p:nvSpPr>
        <p:spPr>
          <a:xfrm>
            <a:off x="609600" y="3634801"/>
            <a:ext cx="1371600" cy="753041"/>
          </a:xfrm>
          <a:prstGeom prst="wedgeRectCallout">
            <a:avLst>
              <a:gd name="adj1" fmla="val 168858"/>
              <a:gd name="adj2" fmla="val -3889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P(S|F) = 0.2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6858000" y="4267200"/>
            <a:ext cx="1828800" cy="685800"/>
            <a:chOff x="7010400" y="4267200"/>
            <a:chExt cx="1371600" cy="753041"/>
          </a:xfrm>
        </p:grpSpPr>
        <p:sp>
          <p:nvSpPr>
            <p:cNvPr id="22" name="Rectangular Callout 21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14991"/>
                <a:gd name="adj2" fmla="val -105245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20% females are smokers</a:t>
              </a:r>
            </a:p>
          </p:txBody>
        </p:sp>
        <p:sp>
          <p:nvSpPr>
            <p:cNvPr id="23" name="Rectangular Callout 22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88015"/>
                <a:gd name="adj2" fmla="val -104852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P(S) = 0.3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ular Callout 28"/>
              <p:cNvSpPr/>
              <p:nvPr/>
            </p:nvSpPr>
            <p:spPr>
              <a:xfrm>
                <a:off x="3377013" y="2133600"/>
                <a:ext cx="2286000" cy="295841"/>
              </a:xfrm>
              <a:prstGeom prst="wedgeRectCallout">
                <a:avLst>
                  <a:gd name="adj1" fmla="val -33641"/>
                  <a:gd name="adj2" fmla="val 203476"/>
                </a:avLst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 dirty="0" smtClean="0">
                              <a:latin typeface="Cambria Math"/>
                            </a:rPr>
                            <m:t>𝑆</m:t>
                          </m:r>
                          <m:r>
                            <a:rPr lang="en-GB" sz="1200" i="1" dirty="0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n-GB" sz="1200" i="1" dirty="0" smtClean="0">
                              <a:latin typeface="Cambria Math"/>
                            </a:rPr>
                            <m:t>𝐹</m:t>
                          </m:r>
                        </m:e>
                      </m:d>
                      <m:r>
                        <a:rPr lang="en-GB" sz="1200" i="1" dirty="0" smtClean="0">
                          <a:latin typeface="Cambria Math"/>
                        </a:rPr>
                        <m:t>=</m:t>
                      </m:r>
                      <m:r>
                        <a:rPr lang="en-GB" sz="1200" b="0" i="1" dirty="0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dirty="0" smtClean="0">
                              <a:latin typeface="Cambria Math"/>
                            </a:rPr>
                            <m:t>𝑆</m:t>
                          </m:r>
                        </m:e>
                        <m:e>
                          <m:r>
                            <a:rPr lang="en-GB" sz="1200" b="0" i="1" dirty="0" smtClean="0">
                              <a:latin typeface="Cambria Math"/>
                            </a:rPr>
                            <m:t>𝐹</m:t>
                          </m:r>
                        </m:e>
                      </m:d>
                      <m:r>
                        <a:rPr lang="en-GB" sz="1200" b="0" i="1" dirty="0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dirty="0" smtClean="0">
                              <a:latin typeface="Cambria Math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9" name="Rectangular Callout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013" y="2133600"/>
                <a:ext cx="2286000" cy="295841"/>
              </a:xfrm>
              <a:prstGeom prst="wedgeRectCallout">
                <a:avLst>
                  <a:gd name="adj1" fmla="val -33641"/>
                  <a:gd name="adj2" fmla="val 203476"/>
                </a:avLst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3390900" y="2743200"/>
            <a:ext cx="1104900" cy="1371600"/>
          </a:xfrm>
          <a:prstGeom prst="rect">
            <a:avLst/>
          </a:prstGeom>
          <a:noFill/>
          <a:ln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6" name="Group 25"/>
          <p:cNvGrpSpPr/>
          <p:nvPr/>
        </p:nvGrpSpPr>
        <p:grpSpPr>
          <a:xfrm>
            <a:off x="4013575" y="468868"/>
            <a:ext cx="4081872" cy="1943412"/>
            <a:chOff x="4013575" y="468868"/>
            <a:chExt cx="4081872" cy="1788495"/>
          </a:xfrm>
        </p:grpSpPr>
        <p:sp>
          <p:nvSpPr>
            <p:cNvPr id="27" name="Curved Up Arrow 26"/>
            <p:cNvSpPr/>
            <p:nvPr/>
          </p:nvSpPr>
          <p:spPr>
            <a:xfrm rot="19548744">
              <a:off x="4013575" y="1683336"/>
              <a:ext cx="4081872" cy="574027"/>
            </a:xfrm>
            <a:prstGeom prst="curvedUp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468868"/>
              <a:ext cx="5870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b="1" dirty="0">
                  <a:solidFill>
                    <a:srgbClr val="C00000"/>
                  </a:solidFill>
                </a:rPr>
                <a:t>10%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139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9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Bayes Theorem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04800" y="1748135"/>
            <a:ext cx="48327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For events that are </a:t>
            </a:r>
            <a:r>
              <a:rPr lang="en-GB" altLang="en-US" dirty="0">
                <a:latin typeface="+mn-lt"/>
              </a:rPr>
              <a:t>not independent</a:t>
            </a:r>
            <a:r>
              <a:rPr lang="en-GB" altLang="en-US" b="0" dirty="0">
                <a:latin typeface="+mn-lt"/>
              </a:rPr>
              <a:t>:</a:t>
            </a:r>
          </a:p>
        </p:txBody>
      </p:sp>
      <p:sp>
        <p:nvSpPr>
          <p:cNvPr id="10" name="Text Box 1027"/>
          <p:cNvSpPr txBox="1">
            <a:spLocks noChangeArrowheads="1"/>
          </p:cNvSpPr>
          <p:nvPr/>
        </p:nvSpPr>
        <p:spPr bwMode="auto">
          <a:xfrm>
            <a:off x="304800" y="1066800"/>
            <a:ext cx="66207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Probability of </a:t>
            </a:r>
            <a:r>
              <a:rPr lang="en-GB" altLang="en-US" dirty="0">
                <a:latin typeface="+mn-lt"/>
              </a:rPr>
              <a:t>A and B happening simultaneously</a:t>
            </a:r>
            <a:r>
              <a:rPr lang="en-GB" altLang="en-US" b="0" dirty="0">
                <a:latin typeface="+mn-lt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828800" y="2514600"/>
                <a:ext cx="44298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800" smtClean="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 i="0">
                              <a:latin typeface="Cambria Math"/>
                              <a:ea typeface="Cambria Math"/>
                            </a:rPr>
                            <m:t>𝐀</m:t>
                          </m:r>
                          <m:r>
                            <a:rPr lang="en-GB" altLang="en-US" sz="2800" b="1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n-GB" altLang="en-US" sz="2800" b="1" i="0">
                              <a:latin typeface="Cambria Math"/>
                              <a:ea typeface="Cambria Math"/>
                            </a:rPr>
                            <m:t>𝐁</m:t>
                          </m:r>
                        </m:e>
                      </m:d>
                      <m:r>
                        <a:rPr lang="en-GB" altLang="en-US" sz="28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altLang="en-US" sz="280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>
                              <a:latin typeface="Cambria Math"/>
                              <a:ea typeface="Cambria Math"/>
                            </a:rPr>
                            <m:t>𝐀</m:t>
                          </m:r>
                        </m:e>
                      </m:d>
                      <m:r>
                        <a:rPr lang="en-GB" altLang="en-US" sz="2800" b="1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altLang="en-US" sz="280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>
                              <a:latin typeface="Cambria Math"/>
                              <a:ea typeface="Cambria Math"/>
                            </a:rPr>
                            <m:t>𝐁</m:t>
                          </m:r>
                          <m:r>
                            <a:rPr lang="en-GB" altLang="en-US" sz="2800" b="1" i="0" smtClean="0">
                              <a:latin typeface="Cambria Math"/>
                              <a:ea typeface="Cambria Math"/>
                            </a:rPr>
                            <m:t>|</m:t>
                          </m:r>
                          <m:r>
                            <a:rPr lang="en-GB" altLang="en-US" sz="2800" b="1" i="0" smtClean="0">
                              <a:latin typeface="Cambria Math"/>
                              <a:ea typeface="Cambria Math"/>
                            </a:rPr>
                            <m:t>𝐀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514600"/>
                <a:ext cx="442986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05D6777-B20E-4415-B1B7-CF8C6A82DDB9}"/>
                  </a:ext>
                </a:extLst>
              </p:cNvPr>
              <p:cNvSpPr/>
              <p:nvPr/>
            </p:nvSpPr>
            <p:spPr>
              <a:xfrm>
                <a:off x="1828800" y="3276600"/>
                <a:ext cx="446673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800" smtClean="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 i="0">
                              <a:latin typeface="Cambria Math"/>
                              <a:ea typeface="Cambria Math"/>
                            </a:rPr>
                            <m:t>𝐀</m:t>
                          </m:r>
                          <m:r>
                            <a:rPr lang="en-GB" altLang="en-US" sz="2800" b="1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n-GB" altLang="en-US" sz="2800" b="1" i="0">
                              <a:latin typeface="Cambria Math"/>
                              <a:ea typeface="Cambria Math"/>
                            </a:rPr>
                            <m:t>𝐁</m:t>
                          </m:r>
                        </m:e>
                      </m:d>
                      <m:r>
                        <a:rPr lang="en-GB" altLang="en-US" sz="28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altLang="en-US" sz="280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>
                              <a:latin typeface="Cambria Math" panose="02040503050406030204" pitchFamily="18" charset="0"/>
                              <a:ea typeface="Cambria Math"/>
                            </a:rPr>
                            <m:t>𝐁</m:t>
                          </m:r>
                        </m:e>
                      </m:d>
                      <m:r>
                        <a:rPr lang="en-GB" altLang="en-US" sz="2800" b="1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altLang="en-US" sz="280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 i="0" smtClean="0">
                              <a:latin typeface="Cambria Math" panose="02040503050406030204" pitchFamily="18" charset="0"/>
                              <a:ea typeface="Cambria Math"/>
                            </a:rPr>
                            <m:t>𝐀</m:t>
                          </m:r>
                          <m:r>
                            <a:rPr lang="en-GB" altLang="en-US" sz="2800" b="1" i="0" smtClean="0">
                              <a:latin typeface="Cambria Math"/>
                              <a:ea typeface="Cambria Math"/>
                            </a:rPr>
                            <m:t>|</m:t>
                          </m:r>
                          <m:r>
                            <a:rPr lang="en-GB" altLang="en-US" sz="2800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𝑩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05D6777-B20E-4415-B1B7-CF8C6A82DD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276600"/>
                <a:ext cx="446673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A89E7F5-6830-1993-E058-B7F6B662DD11}"/>
                  </a:ext>
                </a:extLst>
              </p:cNvPr>
              <p:cNvSpPr/>
              <p:nvPr/>
            </p:nvSpPr>
            <p:spPr>
              <a:xfrm>
                <a:off x="1601971" y="4724400"/>
                <a:ext cx="533222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800" smtClean="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>
                              <a:latin typeface="Cambria Math"/>
                              <a:ea typeface="Cambria Math"/>
                            </a:rPr>
                            <m:t>𝐀</m:t>
                          </m:r>
                        </m:e>
                      </m:d>
                      <m:r>
                        <a:rPr lang="en-GB" altLang="en-US" sz="2800" b="1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altLang="en-US" sz="280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>
                              <a:latin typeface="Cambria Math"/>
                              <a:ea typeface="Cambria Math"/>
                            </a:rPr>
                            <m:t>𝐁</m:t>
                          </m:r>
                          <m:r>
                            <a:rPr lang="en-GB" altLang="en-US" sz="2800" b="1">
                              <a:latin typeface="Cambria Math"/>
                              <a:ea typeface="Cambria Math"/>
                            </a:rPr>
                            <m:t>|</m:t>
                          </m:r>
                          <m:r>
                            <a:rPr lang="en-GB" altLang="en-US" sz="2800" b="1">
                              <a:latin typeface="Cambria Math"/>
                              <a:ea typeface="Cambria Math"/>
                            </a:rPr>
                            <m:t>𝐀</m:t>
                          </m:r>
                        </m:e>
                      </m:d>
                      <m:r>
                        <a:rPr lang="en-GB" altLang="en-US" sz="28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altLang="en-US" sz="280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 i="0" smtClean="0">
                              <a:latin typeface="Cambria Math" panose="02040503050406030204" pitchFamily="18" charset="0"/>
                              <a:ea typeface="Cambria Math"/>
                            </a:rPr>
                            <m:t>𝐁</m:t>
                          </m:r>
                        </m:e>
                      </m:d>
                      <m:r>
                        <a:rPr lang="en-GB" altLang="en-US" sz="2800" b="1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altLang="en-US" sz="280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 i="0" smtClean="0">
                              <a:latin typeface="Cambria Math" panose="02040503050406030204" pitchFamily="18" charset="0"/>
                              <a:ea typeface="Cambria Math"/>
                            </a:rPr>
                            <m:t>𝐀</m:t>
                          </m:r>
                          <m:r>
                            <a:rPr lang="en-GB" altLang="en-US" sz="2800" b="1" i="0" smtClean="0">
                              <a:latin typeface="Cambria Math"/>
                              <a:ea typeface="Cambria Math"/>
                            </a:rPr>
                            <m:t>|</m:t>
                          </m:r>
                          <m:r>
                            <a:rPr lang="en-GB" altLang="en-US" sz="2800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𝑩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A89E7F5-6830-1993-E058-B7F6B662D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971" y="4724400"/>
                <a:ext cx="533222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4">
            <a:extLst>
              <a:ext uri="{FF2B5EF4-FFF2-40B4-BE49-F238E27FC236}">
                <a16:creationId xmlns:a16="http://schemas.microsoft.com/office/drawing/2014/main" id="{CD14B352-6E74-A9C3-9DE6-6098DA355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114800"/>
            <a:ext cx="14129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Therefore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448D062-B404-0041-D004-15037658081E}"/>
                  </a:ext>
                </a:extLst>
              </p:cNvPr>
              <p:cNvSpPr/>
              <p:nvPr/>
            </p:nvSpPr>
            <p:spPr>
              <a:xfrm>
                <a:off x="1593358" y="5595610"/>
                <a:ext cx="517109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800" smtClean="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>
                              <a:latin typeface="Cambria Math" panose="02040503050406030204" pitchFamily="18" charset="0"/>
                              <a:ea typeface="Cambria Math"/>
                            </a:rPr>
                            <m:t>𝐀</m:t>
                          </m:r>
                          <m:r>
                            <a:rPr lang="en-GB" altLang="en-US" sz="2800" b="1">
                              <a:latin typeface="Cambria Math"/>
                              <a:ea typeface="Cambria Math"/>
                            </a:rPr>
                            <m:t>|</m:t>
                          </m:r>
                          <m:r>
                            <a:rPr lang="en-GB" altLang="en-US" sz="2800" b="1" i="1">
                              <a:latin typeface="Cambria Math" panose="02040503050406030204" pitchFamily="18" charset="0"/>
                              <a:ea typeface="Cambria Math"/>
                            </a:rPr>
                            <m:t>𝑩</m:t>
                          </m:r>
                        </m:e>
                      </m:d>
                      <m:r>
                        <a:rPr lang="en-GB" altLang="en-US" sz="2800" b="0" i="0" smtClean="0">
                          <a:latin typeface="Cambria Math" panose="02040503050406030204" pitchFamily="18" charset="0"/>
                          <a:ea typeface="Cambria Math"/>
                        </a:rPr>
                        <m:t>= </m:t>
                      </m:r>
                      <m:r>
                        <a:rPr lang="en-GB" altLang="en-US" sz="2800" smtClean="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>
                              <a:latin typeface="Cambria Math"/>
                              <a:ea typeface="Cambria Math"/>
                            </a:rPr>
                            <m:t>𝐀</m:t>
                          </m:r>
                        </m:e>
                      </m:d>
                      <m:r>
                        <a:rPr lang="en-GB" altLang="en-US" sz="2800" b="1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altLang="en-US" sz="280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>
                              <a:latin typeface="Cambria Math"/>
                              <a:ea typeface="Cambria Math"/>
                            </a:rPr>
                            <m:t>𝐁</m:t>
                          </m:r>
                          <m:r>
                            <a:rPr lang="en-GB" altLang="en-US" sz="2800" b="1">
                              <a:latin typeface="Cambria Math"/>
                              <a:ea typeface="Cambria Math"/>
                            </a:rPr>
                            <m:t>|</m:t>
                          </m:r>
                          <m:r>
                            <a:rPr lang="en-GB" altLang="en-US" sz="2800" b="1">
                              <a:latin typeface="Cambria Math"/>
                              <a:ea typeface="Cambria Math"/>
                            </a:rPr>
                            <m:t>𝐀</m:t>
                          </m:r>
                        </m:e>
                      </m:d>
                      <m:r>
                        <a:rPr lang="en-GB" altLang="en-US" sz="2800" b="1" i="1" smtClean="0">
                          <a:latin typeface="Cambria Math" panose="02040503050406030204" pitchFamily="18" charset="0"/>
                          <a:ea typeface="Cambria Math"/>
                        </a:rPr>
                        <m:t>/</m:t>
                      </m:r>
                      <m:r>
                        <a:rPr lang="en-GB" altLang="en-US" sz="2800">
                          <a:latin typeface="Cambria Math"/>
                          <a:ea typeface="Cambria Math"/>
                        </a:rPr>
                        <m:t>𝐩</m:t>
                      </m:r>
                      <m:d>
                        <m:dPr>
                          <m:ctrlPr>
                            <a:rPr lang="en-GB" alt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altLang="en-US" sz="2800" b="1">
                              <a:latin typeface="Cambria Math" panose="02040503050406030204" pitchFamily="18" charset="0"/>
                              <a:ea typeface="Cambria Math"/>
                            </a:rPr>
                            <m:t>𝐁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448D062-B404-0041-D004-1503765808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358" y="5595610"/>
                <a:ext cx="517109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xplosion 2 2">
            <a:extLst>
              <a:ext uri="{FF2B5EF4-FFF2-40B4-BE49-F238E27FC236}">
                <a16:creationId xmlns:a16="http://schemas.microsoft.com/office/drawing/2014/main" id="{9C23ECCA-670A-0036-E836-516E38F5DCB7}"/>
              </a:ext>
            </a:extLst>
          </p:cNvPr>
          <p:cNvSpPr/>
          <p:nvPr/>
        </p:nvSpPr>
        <p:spPr>
          <a:xfrm>
            <a:off x="4876800" y="3200400"/>
            <a:ext cx="4114800" cy="3200400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Bayes Theorem</a:t>
            </a:r>
          </a:p>
        </p:txBody>
      </p:sp>
    </p:spTree>
    <p:extLst>
      <p:ext uri="{BB962C8B-B14F-4D97-AF65-F5344CB8AC3E}">
        <p14:creationId xmlns:p14="http://schemas.microsoft.com/office/powerpoint/2010/main" val="342987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" grpId="0"/>
      <p:bldP spid="5" grpId="0"/>
      <p:bldP spid="6" grpId="0"/>
      <p:bldP spid="7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495800" y="76200"/>
          <a:ext cx="4571998" cy="1706880"/>
        </p:xfrm>
        <a:graphic>
          <a:graphicData uri="http://schemas.openxmlformats.org/drawingml/2006/table">
            <a:tbl>
              <a:tblPr firstRow="1" firstCol="1" lastRow="1" lastCol="1" bandRow="1">
                <a:tableStyleId>{9D7B26C5-4107-4FEC-AEDC-1716B250A1EF}</a:tableStyleId>
              </a:tblPr>
              <a:tblGrid>
                <a:gridCol w="1616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Total</a:t>
                      </a:r>
                      <a:endParaRPr lang="en-GB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>
                          <a:solidFill>
                            <a:srgbClr val="C00000"/>
                          </a:solidFill>
                        </a:rPr>
                        <a:t>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C00000"/>
                          </a:solidFill>
                        </a:rPr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Non-smokers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/>
                        <a:t>Total</a:t>
                      </a:r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rgbClr val="FFFF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100%</a:t>
                      </a:r>
                      <a:endParaRPr lang="en-GB" sz="2400" dirty="0">
                        <a:solidFill>
                          <a:srgbClr val="FFFF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3" name="Group 52"/>
          <p:cNvGrpSpPr/>
          <p:nvPr/>
        </p:nvGrpSpPr>
        <p:grpSpPr>
          <a:xfrm>
            <a:off x="2286000" y="2057400"/>
            <a:ext cx="4495800" cy="3276600"/>
            <a:chOff x="2209800" y="2286000"/>
            <a:chExt cx="4495800" cy="2895600"/>
          </a:xfrm>
        </p:grpSpPr>
        <p:sp>
          <p:nvSpPr>
            <p:cNvPr id="54" name="Rectangle 53"/>
            <p:cNvSpPr/>
            <p:nvPr/>
          </p:nvSpPr>
          <p:spPr>
            <a:xfrm>
              <a:off x="2209800" y="2286000"/>
              <a:ext cx="2209800" cy="2895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419600" y="2286000"/>
              <a:ext cx="2286000" cy="2895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4495800" y="2743200"/>
            <a:ext cx="1828800" cy="1371600"/>
            <a:chOff x="4419600" y="2286000"/>
            <a:chExt cx="1828800" cy="1371600"/>
          </a:xfrm>
        </p:grpSpPr>
        <p:sp>
          <p:nvSpPr>
            <p:cNvPr id="57" name="Rectangle 56"/>
            <p:cNvSpPr/>
            <p:nvPr/>
          </p:nvSpPr>
          <p:spPr>
            <a:xfrm>
              <a:off x="4419600" y="2286000"/>
              <a:ext cx="1828800" cy="1371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8" name="Picture 2" descr="https://image.freepik.com/free-icon/smoking-man-silhouette_318-29159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9850" y="2752813"/>
              <a:ext cx="396508" cy="396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9" name="Group 58"/>
          <p:cNvGrpSpPr/>
          <p:nvPr/>
        </p:nvGrpSpPr>
        <p:grpSpPr>
          <a:xfrm>
            <a:off x="3390900" y="2743200"/>
            <a:ext cx="1104900" cy="1371600"/>
            <a:chOff x="3314700" y="2286000"/>
            <a:chExt cx="1104900" cy="1371600"/>
          </a:xfrm>
        </p:grpSpPr>
        <p:sp>
          <p:nvSpPr>
            <p:cNvPr id="60" name="Rectangle 59"/>
            <p:cNvSpPr/>
            <p:nvPr/>
          </p:nvSpPr>
          <p:spPr>
            <a:xfrm>
              <a:off x="3314700" y="2286000"/>
              <a:ext cx="1104900" cy="1371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1" name="Picture 5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9523" y="2752813"/>
              <a:ext cx="368250" cy="397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2" name="Rectangular Callout 61"/>
          <p:cNvSpPr/>
          <p:nvPr/>
        </p:nvSpPr>
        <p:spPr>
          <a:xfrm>
            <a:off x="762000" y="2133600"/>
            <a:ext cx="1371600" cy="753041"/>
          </a:xfrm>
          <a:prstGeom prst="wedgeRectCallout">
            <a:avLst>
              <a:gd name="adj1" fmla="val 80198"/>
              <a:gd name="adj2" fmla="val 5499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50% are females</a:t>
            </a:r>
          </a:p>
        </p:txBody>
      </p:sp>
      <p:sp>
        <p:nvSpPr>
          <p:cNvPr id="63" name="Rectangular Callout 62"/>
          <p:cNvSpPr/>
          <p:nvPr/>
        </p:nvSpPr>
        <p:spPr>
          <a:xfrm>
            <a:off x="609600" y="3634801"/>
            <a:ext cx="1371600" cy="753041"/>
          </a:xfrm>
          <a:prstGeom prst="wedgeRectCallout">
            <a:avLst>
              <a:gd name="adj1" fmla="val 168858"/>
              <a:gd name="adj2" fmla="val -3889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20% females are smokers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6858000" y="4267200"/>
            <a:ext cx="1828800" cy="685800"/>
            <a:chOff x="7010400" y="4267200"/>
            <a:chExt cx="1371600" cy="753041"/>
          </a:xfrm>
        </p:grpSpPr>
        <p:sp>
          <p:nvSpPr>
            <p:cNvPr id="64" name="Rectangular Callout 63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14991"/>
                <a:gd name="adj2" fmla="val -105245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20% females are smokers</a:t>
              </a:r>
            </a:p>
          </p:txBody>
        </p:sp>
        <p:sp>
          <p:nvSpPr>
            <p:cNvPr id="65" name="Rectangular Callout 64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88015"/>
                <a:gd name="adj2" fmla="val -104852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30% of employee are smokers</a:t>
              </a:r>
            </a:p>
          </p:txBody>
        </p:sp>
      </p:grpSp>
      <p:sp>
        <p:nvSpPr>
          <p:cNvPr id="19" name="Rectangular Callout 18"/>
          <p:cNvSpPr/>
          <p:nvPr/>
        </p:nvSpPr>
        <p:spPr>
          <a:xfrm>
            <a:off x="762000" y="2133600"/>
            <a:ext cx="1371600" cy="753041"/>
          </a:xfrm>
          <a:prstGeom prst="wedgeRectCallout">
            <a:avLst>
              <a:gd name="adj1" fmla="val 80198"/>
              <a:gd name="adj2" fmla="val 5499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P(F) = 0.5</a:t>
            </a:r>
          </a:p>
        </p:txBody>
      </p:sp>
      <p:sp>
        <p:nvSpPr>
          <p:cNvPr id="20" name="Rectangular Callout 19"/>
          <p:cNvSpPr/>
          <p:nvPr/>
        </p:nvSpPr>
        <p:spPr>
          <a:xfrm>
            <a:off x="609600" y="3634801"/>
            <a:ext cx="1371600" cy="753041"/>
          </a:xfrm>
          <a:prstGeom prst="wedgeRectCallout">
            <a:avLst>
              <a:gd name="adj1" fmla="val 168858"/>
              <a:gd name="adj2" fmla="val -3889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P(S|F) = 0.2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6858000" y="4267200"/>
            <a:ext cx="1828800" cy="685800"/>
            <a:chOff x="7010400" y="4267200"/>
            <a:chExt cx="1371600" cy="753041"/>
          </a:xfrm>
        </p:grpSpPr>
        <p:sp>
          <p:nvSpPr>
            <p:cNvPr id="22" name="Rectangular Callout 21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14991"/>
                <a:gd name="adj2" fmla="val -105245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20% females are smokers</a:t>
              </a:r>
            </a:p>
          </p:txBody>
        </p:sp>
        <p:sp>
          <p:nvSpPr>
            <p:cNvPr id="23" name="Rectangular Callout 22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88015"/>
                <a:gd name="adj2" fmla="val -104852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P(S) = 0.3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ular Callout 28"/>
              <p:cNvSpPr/>
              <p:nvPr/>
            </p:nvSpPr>
            <p:spPr>
              <a:xfrm>
                <a:off x="3377013" y="2133600"/>
                <a:ext cx="2286000" cy="295841"/>
              </a:xfrm>
              <a:prstGeom prst="wedgeRectCallout">
                <a:avLst>
                  <a:gd name="adj1" fmla="val -33641"/>
                  <a:gd name="adj2" fmla="val 203476"/>
                </a:avLst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 dirty="0" smtClean="0">
                              <a:latin typeface="Cambria Math"/>
                            </a:rPr>
                            <m:t>𝑆</m:t>
                          </m:r>
                          <m:r>
                            <a:rPr lang="en-GB" sz="1200" i="1" dirty="0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n-GB" sz="1200" i="1" dirty="0" smtClean="0">
                              <a:latin typeface="Cambria Math"/>
                            </a:rPr>
                            <m:t>𝐹</m:t>
                          </m:r>
                        </m:e>
                      </m:d>
                      <m:r>
                        <a:rPr lang="en-GB" sz="1200" i="1" dirty="0" smtClean="0">
                          <a:latin typeface="Cambria Math"/>
                        </a:rPr>
                        <m:t>=</m:t>
                      </m:r>
                      <m:r>
                        <a:rPr lang="en-GB" sz="1200" b="0" i="1" dirty="0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dirty="0" smtClean="0">
                              <a:latin typeface="Cambria Math"/>
                            </a:rPr>
                            <m:t>𝑆</m:t>
                          </m:r>
                        </m:e>
                        <m:e>
                          <m:r>
                            <a:rPr lang="en-GB" sz="1200" b="0" i="1" dirty="0" smtClean="0">
                              <a:latin typeface="Cambria Math"/>
                            </a:rPr>
                            <m:t>𝐹</m:t>
                          </m:r>
                        </m:e>
                      </m:d>
                      <m:r>
                        <a:rPr lang="en-GB" sz="1200" b="0" i="1" dirty="0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dirty="0" smtClean="0">
                              <a:latin typeface="Cambria Math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9" name="Rectangular Callout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013" y="2133600"/>
                <a:ext cx="2286000" cy="295841"/>
              </a:xfrm>
              <a:prstGeom prst="wedgeRectCallout">
                <a:avLst>
                  <a:gd name="adj1" fmla="val -33641"/>
                  <a:gd name="adj2" fmla="val 203476"/>
                </a:avLst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3390900" y="2743200"/>
            <a:ext cx="1104900" cy="1371600"/>
          </a:xfrm>
          <a:prstGeom prst="rect">
            <a:avLst/>
          </a:prstGeom>
          <a:noFill/>
          <a:ln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ular Callout 24"/>
          <p:cNvSpPr/>
          <p:nvPr/>
        </p:nvSpPr>
        <p:spPr>
          <a:xfrm>
            <a:off x="3352800" y="4343400"/>
            <a:ext cx="1991806" cy="799305"/>
          </a:xfrm>
          <a:prstGeom prst="wedgeRectCallout">
            <a:avLst>
              <a:gd name="adj1" fmla="val -17399"/>
              <a:gd name="adj2" fmla="val -11895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P(F|S) = ?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4013575" y="468868"/>
            <a:ext cx="4081872" cy="1943412"/>
            <a:chOff x="4013575" y="468868"/>
            <a:chExt cx="4081872" cy="1788495"/>
          </a:xfrm>
        </p:grpSpPr>
        <p:sp>
          <p:nvSpPr>
            <p:cNvPr id="27" name="Curved Up Arrow 26"/>
            <p:cNvSpPr/>
            <p:nvPr/>
          </p:nvSpPr>
          <p:spPr>
            <a:xfrm rot="19548744">
              <a:off x="4013575" y="1683336"/>
              <a:ext cx="4081872" cy="574027"/>
            </a:xfrm>
            <a:prstGeom prst="curvedUp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468868"/>
              <a:ext cx="5870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b="1" dirty="0">
                  <a:solidFill>
                    <a:srgbClr val="C00000"/>
                  </a:solidFill>
                </a:rPr>
                <a:t>10%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6010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495800" y="76200"/>
          <a:ext cx="4571998" cy="1706880"/>
        </p:xfrm>
        <a:graphic>
          <a:graphicData uri="http://schemas.openxmlformats.org/drawingml/2006/table">
            <a:tbl>
              <a:tblPr firstRow="1" firstCol="1" lastRow="1" lastCol="1" bandRow="1">
                <a:tableStyleId>{9D7B26C5-4107-4FEC-AEDC-1716B250A1EF}</a:tableStyleId>
              </a:tblPr>
              <a:tblGrid>
                <a:gridCol w="1616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Total</a:t>
                      </a:r>
                      <a:endParaRPr lang="en-GB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>
                          <a:solidFill>
                            <a:srgbClr val="C00000"/>
                          </a:solidFill>
                        </a:rPr>
                        <a:t>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C00000"/>
                          </a:solidFill>
                        </a:rP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C00000"/>
                          </a:solidFill>
                        </a:rPr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Non-smokers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GB" sz="1800" dirty="0"/>
                        <a:t>Total</a:t>
                      </a:r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rgbClr val="FFFF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100%</a:t>
                      </a:r>
                      <a:endParaRPr lang="en-GB" sz="2400" dirty="0">
                        <a:solidFill>
                          <a:srgbClr val="FFFF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3" name="Group 52"/>
          <p:cNvGrpSpPr/>
          <p:nvPr/>
        </p:nvGrpSpPr>
        <p:grpSpPr>
          <a:xfrm>
            <a:off x="2286000" y="2057400"/>
            <a:ext cx="4495800" cy="3276600"/>
            <a:chOff x="2209800" y="2286000"/>
            <a:chExt cx="4495800" cy="2895600"/>
          </a:xfrm>
        </p:grpSpPr>
        <p:sp>
          <p:nvSpPr>
            <p:cNvPr id="54" name="Rectangle 53"/>
            <p:cNvSpPr/>
            <p:nvPr/>
          </p:nvSpPr>
          <p:spPr>
            <a:xfrm>
              <a:off x="2209800" y="2286000"/>
              <a:ext cx="2209800" cy="2895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419600" y="2286000"/>
              <a:ext cx="2286000" cy="2895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4495800" y="2743200"/>
            <a:ext cx="1828800" cy="1371600"/>
            <a:chOff x="4419600" y="2286000"/>
            <a:chExt cx="1828800" cy="1371600"/>
          </a:xfrm>
        </p:grpSpPr>
        <p:sp>
          <p:nvSpPr>
            <p:cNvPr id="57" name="Rectangle 56"/>
            <p:cNvSpPr/>
            <p:nvPr/>
          </p:nvSpPr>
          <p:spPr>
            <a:xfrm>
              <a:off x="4419600" y="2286000"/>
              <a:ext cx="1828800" cy="1371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8" name="Picture 2" descr="https://image.freepik.com/free-icon/smoking-man-silhouette_318-29159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9850" y="2752813"/>
              <a:ext cx="396508" cy="396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9" name="Group 58"/>
          <p:cNvGrpSpPr/>
          <p:nvPr/>
        </p:nvGrpSpPr>
        <p:grpSpPr>
          <a:xfrm>
            <a:off x="3390900" y="2743200"/>
            <a:ext cx="1104900" cy="1371600"/>
            <a:chOff x="3314700" y="2286000"/>
            <a:chExt cx="1104900" cy="1371600"/>
          </a:xfrm>
        </p:grpSpPr>
        <p:sp>
          <p:nvSpPr>
            <p:cNvPr id="60" name="Rectangle 59"/>
            <p:cNvSpPr/>
            <p:nvPr/>
          </p:nvSpPr>
          <p:spPr>
            <a:xfrm>
              <a:off x="3314700" y="2286000"/>
              <a:ext cx="1104900" cy="13716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1" name="Picture 5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9523" y="2752813"/>
              <a:ext cx="368250" cy="397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2" name="Rectangular Callout 61"/>
          <p:cNvSpPr/>
          <p:nvPr/>
        </p:nvSpPr>
        <p:spPr>
          <a:xfrm>
            <a:off x="762000" y="2133600"/>
            <a:ext cx="1371600" cy="753041"/>
          </a:xfrm>
          <a:prstGeom prst="wedgeRectCallout">
            <a:avLst>
              <a:gd name="adj1" fmla="val 80198"/>
              <a:gd name="adj2" fmla="val 5499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50% are females</a:t>
            </a:r>
          </a:p>
        </p:txBody>
      </p:sp>
      <p:sp>
        <p:nvSpPr>
          <p:cNvPr id="63" name="Rectangular Callout 62"/>
          <p:cNvSpPr/>
          <p:nvPr/>
        </p:nvSpPr>
        <p:spPr>
          <a:xfrm>
            <a:off x="609600" y="3634801"/>
            <a:ext cx="1371600" cy="753041"/>
          </a:xfrm>
          <a:prstGeom prst="wedgeRectCallout">
            <a:avLst>
              <a:gd name="adj1" fmla="val 168858"/>
              <a:gd name="adj2" fmla="val -3889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20% females are smokers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6858000" y="4267200"/>
            <a:ext cx="1828800" cy="685800"/>
            <a:chOff x="7010400" y="4267200"/>
            <a:chExt cx="1371600" cy="753041"/>
          </a:xfrm>
        </p:grpSpPr>
        <p:sp>
          <p:nvSpPr>
            <p:cNvPr id="64" name="Rectangular Callout 63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14991"/>
                <a:gd name="adj2" fmla="val -105245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20% females are smokers</a:t>
              </a:r>
            </a:p>
          </p:txBody>
        </p:sp>
        <p:sp>
          <p:nvSpPr>
            <p:cNvPr id="65" name="Rectangular Callout 64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88015"/>
                <a:gd name="adj2" fmla="val -104852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30% of employee are smokers</a:t>
              </a:r>
            </a:p>
          </p:txBody>
        </p:sp>
      </p:grpSp>
      <p:sp>
        <p:nvSpPr>
          <p:cNvPr id="19" name="Rectangular Callout 18"/>
          <p:cNvSpPr/>
          <p:nvPr/>
        </p:nvSpPr>
        <p:spPr>
          <a:xfrm>
            <a:off x="762000" y="2133600"/>
            <a:ext cx="1371600" cy="753041"/>
          </a:xfrm>
          <a:prstGeom prst="wedgeRectCallout">
            <a:avLst>
              <a:gd name="adj1" fmla="val 80198"/>
              <a:gd name="adj2" fmla="val 5499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P(F) = 0.5</a:t>
            </a:r>
          </a:p>
        </p:txBody>
      </p:sp>
      <p:sp>
        <p:nvSpPr>
          <p:cNvPr id="20" name="Rectangular Callout 19"/>
          <p:cNvSpPr/>
          <p:nvPr/>
        </p:nvSpPr>
        <p:spPr>
          <a:xfrm>
            <a:off x="609600" y="3634801"/>
            <a:ext cx="1371600" cy="753041"/>
          </a:xfrm>
          <a:prstGeom prst="wedgeRectCallout">
            <a:avLst>
              <a:gd name="adj1" fmla="val 168858"/>
              <a:gd name="adj2" fmla="val -3889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P(S|F) = 0.2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6858000" y="4267200"/>
            <a:ext cx="1828800" cy="685800"/>
            <a:chOff x="7010400" y="4267200"/>
            <a:chExt cx="1371600" cy="753041"/>
          </a:xfrm>
        </p:grpSpPr>
        <p:sp>
          <p:nvSpPr>
            <p:cNvPr id="22" name="Rectangular Callout 21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14991"/>
                <a:gd name="adj2" fmla="val -105245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20% females are smokers</a:t>
              </a:r>
            </a:p>
          </p:txBody>
        </p:sp>
        <p:sp>
          <p:nvSpPr>
            <p:cNvPr id="23" name="Rectangular Callout 22"/>
            <p:cNvSpPr/>
            <p:nvPr/>
          </p:nvSpPr>
          <p:spPr>
            <a:xfrm>
              <a:off x="7010400" y="4267200"/>
              <a:ext cx="1371600" cy="753041"/>
            </a:xfrm>
            <a:prstGeom prst="wedgeRectCallout">
              <a:avLst>
                <a:gd name="adj1" fmla="val -188015"/>
                <a:gd name="adj2" fmla="val -104852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P(S) = 0.3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ular Callout 23"/>
              <p:cNvSpPr/>
              <p:nvPr/>
            </p:nvSpPr>
            <p:spPr>
              <a:xfrm>
                <a:off x="3723194" y="1752600"/>
                <a:ext cx="2372806" cy="799305"/>
              </a:xfrm>
              <a:prstGeom prst="wedgeRectCallout">
                <a:avLst>
                  <a:gd name="adj1" fmla="val -32584"/>
                  <a:gd name="adj2" fmla="val 91087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𝑃</m:t>
                      </m:r>
                      <m:r>
                        <a:rPr lang="en-GB" i="1" dirty="0" smtClean="0">
                          <a:latin typeface="Cambria Math"/>
                        </a:rPr>
                        <m:t>(</m:t>
                      </m:r>
                      <m:r>
                        <a:rPr lang="en-GB" i="1" dirty="0" smtClean="0">
                          <a:latin typeface="Cambria Math"/>
                        </a:rPr>
                        <m:t>𝐹</m:t>
                      </m:r>
                      <m:r>
                        <a:rPr lang="en-GB" i="1" dirty="0" smtClean="0">
                          <a:latin typeface="Cambria Math"/>
                        </a:rPr>
                        <m:t>|</m:t>
                      </m:r>
                      <m:r>
                        <a:rPr lang="en-GB" i="1" dirty="0" smtClean="0">
                          <a:latin typeface="Cambria Math"/>
                        </a:rPr>
                        <m:t>𝑆</m:t>
                      </m:r>
                      <m:r>
                        <a:rPr lang="en-GB" i="1" dirty="0" smtClean="0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dirty="0">
                                  <a:latin typeface="Cambria Math"/>
                                </a:rPr>
                                <m:t>𝑆</m:t>
                              </m:r>
                            </m:e>
                            <m:e>
                              <m:r>
                                <a:rPr lang="en-GB" i="1" dirty="0">
                                  <a:latin typeface="Cambria Math"/>
                                </a:rPr>
                                <m:t>𝐹</m:t>
                              </m:r>
                            </m:e>
                          </m:d>
                          <m:r>
                            <a:rPr lang="en-GB" i="1" dirty="0">
                              <a:latin typeface="Cambria Math"/>
                            </a:rPr>
                            <m:t>𝑃</m:t>
                          </m:r>
                          <m:r>
                            <a:rPr lang="en-GB" i="1" dirty="0">
                              <a:latin typeface="Cambria Math"/>
                            </a:rPr>
                            <m:t>(</m:t>
                          </m:r>
                          <m:r>
                            <a:rPr lang="en-GB" b="0" i="1" dirty="0" smtClean="0">
                              <a:latin typeface="Cambria Math"/>
                            </a:rPr>
                            <m:t>𝐹</m:t>
                          </m:r>
                          <m:r>
                            <a:rPr lang="en-GB" b="0" i="1" dirty="0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/>
                            </a:rPr>
                            <m:t>𝑃</m:t>
                          </m:r>
                          <m:r>
                            <a:rPr lang="en-GB" b="0" i="1" dirty="0" smtClean="0">
                              <a:latin typeface="Cambria Math"/>
                            </a:rPr>
                            <m:t>(</m:t>
                          </m:r>
                          <m:r>
                            <a:rPr lang="en-GB" b="0" i="1" dirty="0" smtClean="0">
                              <a:latin typeface="Cambria Math"/>
                            </a:rPr>
                            <m:t>𝑆</m:t>
                          </m:r>
                          <m:r>
                            <a:rPr lang="en-GB" b="0" i="1" dirty="0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Rectangular Callou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194" y="1752600"/>
                <a:ext cx="2372806" cy="799305"/>
              </a:xfrm>
              <a:prstGeom prst="wedgeRectCallout">
                <a:avLst>
                  <a:gd name="adj1" fmla="val -32584"/>
                  <a:gd name="adj2" fmla="val 91087"/>
                </a:avLst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2B625EC-7E36-47FF-9637-E4D018B64F0B}"/>
              </a:ext>
            </a:extLst>
          </p:cNvPr>
          <p:cNvSpPr/>
          <p:nvPr/>
        </p:nvSpPr>
        <p:spPr>
          <a:xfrm>
            <a:off x="333473" y="5638800"/>
            <a:ext cx="8001000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algn="ctr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b="1" u="sng" dirty="0"/>
              <a:t>P(F|S) = 0.2 x 0.5 / 0.3 = 1/3</a:t>
            </a:r>
          </a:p>
        </p:txBody>
      </p:sp>
    </p:spTree>
    <p:extLst>
      <p:ext uri="{BB962C8B-B14F-4D97-AF65-F5344CB8AC3E}">
        <p14:creationId xmlns:p14="http://schemas.microsoft.com/office/powerpoint/2010/main" val="3278796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Law of total probability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04800" y="2205335"/>
            <a:ext cx="22047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For any event A:</a:t>
            </a:r>
          </a:p>
        </p:txBody>
      </p:sp>
      <p:sp>
        <p:nvSpPr>
          <p:cNvPr id="10" name="Text Box 1027"/>
          <p:cNvSpPr txBox="1">
            <a:spLocks noChangeArrowheads="1"/>
          </p:cNvSpPr>
          <p:nvPr/>
        </p:nvSpPr>
        <p:spPr bwMode="auto">
          <a:xfrm>
            <a:off x="304801" y="1066800"/>
            <a:ext cx="799770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b="0" dirty="0">
                <a:latin typeface="+mn-lt"/>
              </a:rPr>
              <a:t>B1, B2, … and Bn are mutually exclusive and collectively exhaustive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304800" y="3058180"/>
                <a:ext cx="79977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altLang="en-US" sz="2800" smtClean="0">
                        <a:latin typeface="Cambria Math"/>
                        <a:ea typeface="Cambria Math"/>
                      </a:rPr>
                      <m:t>𝐩</m:t>
                    </m:r>
                    <m:d>
                      <m:dPr>
                        <m:ctrlPr>
                          <a:rPr lang="en-GB" alt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altLang="en-US" sz="2800" b="1" smtClean="0">
                            <a:latin typeface="Cambria Math"/>
                            <a:ea typeface="Cambria Math"/>
                          </a:rPr>
                          <m:t>𝐀</m:t>
                        </m:r>
                      </m:e>
                    </m:d>
                    <m:r>
                      <a:rPr lang="en-GB" altLang="en-US" sz="2800" b="0" i="0" smtClean="0">
                        <a:latin typeface="Cambria Math" panose="02040503050406030204" pitchFamily="18" charset="0"/>
                        <a:ea typeface="Cambria Math"/>
                      </a:rPr>
                      <m:t>= </m:t>
                    </m:r>
                    <m:r>
                      <a:rPr lang="en-GB" altLang="en-US" sz="2800" smtClean="0">
                        <a:latin typeface="Cambria Math"/>
                        <a:ea typeface="Cambria Math"/>
                      </a:rPr>
                      <m:t>𝐩</m:t>
                    </m:r>
                    <m:d>
                      <m:dPr>
                        <m:ctrlPr>
                          <a:rPr lang="en-GB" alt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altLang="en-US" sz="2800" b="1" i="0">
                            <a:latin typeface="Cambria Math"/>
                            <a:ea typeface="Cambria Math"/>
                          </a:rPr>
                          <m:t>𝐀</m:t>
                        </m:r>
                        <m:r>
                          <a:rPr lang="en-GB" altLang="en-US" sz="2800" b="1" i="1" smtClean="0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GB" altLang="en-US" sz="2800" b="1" i="0">
                            <a:latin typeface="Cambria Math"/>
                            <a:ea typeface="Cambria Math"/>
                          </a:rPr>
                          <m:t>𝐁</m:t>
                        </m:r>
                        <m:r>
                          <a:rPr lang="en-GB" altLang="en-US" sz="28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𝟏</m:t>
                        </m:r>
                      </m:e>
                    </m:d>
                    <m:r>
                      <a:rPr lang="en-GB" altLang="en-US" sz="2800" b="1" i="1" smtClean="0">
                        <a:latin typeface="Cambria Math" panose="02040503050406030204" pitchFamily="18" charset="0"/>
                        <a:ea typeface="Cambria Math"/>
                      </a:rPr>
                      <m:t>+</m:t>
                    </m:r>
                  </m:oMath>
                </a14:m>
                <a:r>
                  <a:rPr lang="en-GB" altLang="en-US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GB" altLang="en-US" sz="2800">
                        <a:latin typeface="Cambria Math"/>
                        <a:ea typeface="Cambria Math"/>
                      </a:rPr>
                      <m:t>𝐩</m:t>
                    </m:r>
                    <m:d>
                      <m:dPr>
                        <m:ctrlPr>
                          <a:rPr lang="en-GB" alt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altLang="en-US" sz="2800" b="1">
                            <a:latin typeface="Cambria Math"/>
                            <a:ea typeface="Cambria Math"/>
                          </a:rPr>
                          <m:t>𝐀</m:t>
                        </m:r>
                        <m:r>
                          <a:rPr lang="en-GB" altLang="en-US" sz="2800" b="1" i="1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GB" altLang="en-US" sz="2800" b="1">
                            <a:latin typeface="Cambria Math"/>
                            <a:ea typeface="Cambria Math"/>
                          </a:rPr>
                          <m:t>𝐁</m:t>
                        </m:r>
                        <m:r>
                          <a:rPr lang="en-GB" altLang="en-US" sz="28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GB" altLang="en-US" sz="2800" b="1" i="1" smtClean="0">
                        <a:latin typeface="Cambria Math" panose="02040503050406030204" pitchFamily="18" charset="0"/>
                        <a:ea typeface="Cambria Math"/>
                      </a:rPr>
                      <m:t>+ …</m:t>
                    </m:r>
                  </m:oMath>
                </a14:m>
                <a:r>
                  <a:rPr lang="en-GB" altLang="en-US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GB" altLang="en-US" sz="2800" b="1" i="1">
                        <a:latin typeface="Cambria Math" panose="02040503050406030204" pitchFamily="18" charset="0"/>
                        <a:ea typeface="Cambria Math"/>
                      </a:rPr>
                      <m:t>+ </m:t>
                    </m:r>
                    <m:r>
                      <a:rPr lang="en-GB" altLang="en-US" sz="2800">
                        <a:latin typeface="Cambria Math"/>
                        <a:ea typeface="Cambria Math"/>
                      </a:rPr>
                      <m:t>𝐩</m:t>
                    </m:r>
                    <m:d>
                      <m:dPr>
                        <m:ctrlPr>
                          <a:rPr lang="en-GB" alt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altLang="en-US" sz="2800" b="1">
                            <a:latin typeface="Cambria Math"/>
                            <a:ea typeface="Cambria Math"/>
                          </a:rPr>
                          <m:t>𝐀</m:t>
                        </m:r>
                        <m:r>
                          <a:rPr lang="en-GB" altLang="en-US" sz="2800" b="1" i="1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GB" altLang="en-US" sz="2800" b="1">
                            <a:latin typeface="Cambria Math"/>
                            <a:ea typeface="Cambria Math"/>
                          </a:rPr>
                          <m:t>𝐁</m:t>
                        </m:r>
                        <m:r>
                          <a:rPr lang="en-GB" altLang="en-US" sz="28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𝒏</m:t>
                        </m:r>
                      </m:e>
                    </m:d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058180"/>
                <a:ext cx="799770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D4FB92-54B3-D892-A93E-C8F533DD1B23}"/>
                  </a:ext>
                </a:extLst>
              </p:cNvPr>
              <p:cNvSpPr/>
              <p:nvPr/>
            </p:nvSpPr>
            <p:spPr>
              <a:xfrm>
                <a:off x="1143000" y="3896380"/>
                <a:ext cx="643509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altLang="en-US" sz="2800" b="0" i="0" smtClean="0">
                        <a:latin typeface="Cambria Math" panose="02040503050406030204" pitchFamily="18" charset="0"/>
                        <a:ea typeface="Cambria Math"/>
                      </a:rPr>
                      <m:t>= </m:t>
                    </m:r>
                    <m:r>
                      <a:rPr lang="en-GB" altLang="en-US" sz="2800" smtClean="0">
                        <a:latin typeface="Cambria Math"/>
                        <a:ea typeface="Cambria Math"/>
                      </a:rPr>
                      <m:t>𝐩</m:t>
                    </m:r>
                    <m:d>
                      <m:dPr>
                        <m:ctrlPr>
                          <a:rPr lang="en-GB" alt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altLang="en-US" sz="2800" b="1" i="0">
                            <a:latin typeface="Cambria Math"/>
                            <a:ea typeface="Cambria Math"/>
                          </a:rPr>
                          <m:t>𝐀</m:t>
                        </m:r>
                        <m:r>
                          <a:rPr lang="en-GB" altLang="en-US" sz="2800" b="1" i="1" smtClean="0">
                            <a:latin typeface="Cambria Math" panose="02040503050406030204" pitchFamily="18" charset="0"/>
                            <a:ea typeface="Cambria Math"/>
                          </a:rPr>
                          <m:t>|</m:t>
                        </m:r>
                        <m:r>
                          <a:rPr lang="en-GB" altLang="en-US" sz="2800" b="1" i="0">
                            <a:latin typeface="Cambria Math"/>
                            <a:ea typeface="Cambria Math"/>
                          </a:rPr>
                          <m:t>𝐁</m:t>
                        </m:r>
                        <m:r>
                          <a:rPr lang="en-GB" altLang="en-US" sz="28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𝟏</m:t>
                        </m:r>
                      </m:e>
                    </m:d>
                    <m:r>
                      <a:rPr lang="en-GB" altLang="en-US" sz="2800">
                        <a:latin typeface="Cambria Math"/>
                        <a:ea typeface="Cambria Math"/>
                      </a:rPr>
                      <m:t>𝐩</m:t>
                    </m:r>
                    <m:d>
                      <m:dPr>
                        <m:ctrlPr>
                          <a:rPr lang="en-GB" alt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altLang="en-US" sz="2800" b="1">
                            <a:latin typeface="Cambria Math"/>
                            <a:ea typeface="Cambria Math"/>
                          </a:rPr>
                          <m:t>𝐁</m:t>
                        </m:r>
                        <m:r>
                          <a:rPr lang="en-GB" altLang="en-US" sz="2800" b="1" i="1">
                            <a:latin typeface="Cambria Math" panose="02040503050406030204" pitchFamily="18" charset="0"/>
                            <a:ea typeface="Cambria Math"/>
                          </a:rPr>
                          <m:t>𝟏</m:t>
                        </m:r>
                      </m:e>
                    </m:d>
                    <m:r>
                      <a:rPr lang="en-GB" altLang="en-US" sz="2800" b="1" i="1" smtClean="0">
                        <a:latin typeface="Cambria Math" panose="02040503050406030204" pitchFamily="18" charset="0"/>
                        <a:ea typeface="Cambria Math"/>
                      </a:rPr>
                      <m:t>+</m:t>
                    </m:r>
                  </m:oMath>
                </a14:m>
                <a:r>
                  <a:rPr lang="en-GB" altLang="en-US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GB" altLang="en-US" sz="2800">
                        <a:latin typeface="Cambria Math"/>
                        <a:ea typeface="Cambria Math"/>
                      </a:rPr>
                      <m:t>𝐩</m:t>
                    </m:r>
                    <m:d>
                      <m:dPr>
                        <m:ctrlPr>
                          <a:rPr lang="en-GB" alt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altLang="en-US" sz="2800" b="1">
                            <a:latin typeface="Cambria Math"/>
                            <a:ea typeface="Cambria Math"/>
                          </a:rPr>
                          <m:t>𝐀</m:t>
                        </m:r>
                        <m:r>
                          <a:rPr lang="en-GB" altLang="en-US" sz="2800" b="1" i="1" smtClean="0">
                            <a:latin typeface="Cambria Math" panose="02040503050406030204" pitchFamily="18" charset="0"/>
                            <a:ea typeface="Cambria Math"/>
                          </a:rPr>
                          <m:t>|</m:t>
                        </m:r>
                        <m:r>
                          <a:rPr lang="en-GB" altLang="en-US" sz="2800" b="1">
                            <a:latin typeface="Cambria Math"/>
                            <a:ea typeface="Cambria Math"/>
                          </a:rPr>
                          <m:t>𝐁</m:t>
                        </m:r>
                        <m:r>
                          <a:rPr lang="en-GB" altLang="en-US" sz="28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GB" altLang="en-US" sz="2800">
                        <a:latin typeface="Cambria Math"/>
                        <a:ea typeface="Cambria Math"/>
                      </a:rPr>
                      <m:t>𝐩</m:t>
                    </m:r>
                    <m:d>
                      <m:dPr>
                        <m:ctrlPr>
                          <a:rPr lang="en-GB" alt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altLang="en-US" sz="2800" b="1">
                            <a:latin typeface="Cambria Math"/>
                            <a:ea typeface="Cambria Math"/>
                          </a:rPr>
                          <m:t>𝐁</m:t>
                        </m:r>
                        <m:r>
                          <a:rPr lang="en-GB" altLang="en-US" sz="28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GB" altLang="en-US" sz="2800" b="1" i="1" smtClean="0">
                        <a:latin typeface="Cambria Math" panose="02040503050406030204" pitchFamily="18" charset="0"/>
                        <a:ea typeface="Cambria Math"/>
                      </a:rPr>
                      <m:t>+ …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D4FB92-54B3-D892-A93E-C8F533DD1B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896380"/>
                <a:ext cx="643509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64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48600" cy="1371600"/>
          </a:xfrm>
        </p:spPr>
        <p:txBody>
          <a:bodyPr>
            <a:normAutofit/>
          </a:bodyPr>
          <a:lstStyle/>
          <a:p>
            <a:r>
              <a:rPr lang="en-GB" dirty="0"/>
              <a:t>Probability 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14400"/>
            <a:ext cx="8229600" cy="4923710"/>
          </a:xfrm>
        </p:spPr>
        <p:txBody>
          <a:bodyPr>
            <a:normAutofit lnSpcReduction="10000"/>
          </a:bodyPr>
          <a:lstStyle/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Box 1 contains 7 </a:t>
            </a:r>
            <a:r>
              <a:rPr lang="en-GB" dirty="0">
                <a:solidFill>
                  <a:srgbClr val="FF0000"/>
                </a:solidFill>
              </a:rPr>
              <a:t>red</a:t>
            </a:r>
            <a:r>
              <a:rPr lang="en-GB" dirty="0"/>
              <a:t> and 3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white</a:t>
            </a:r>
            <a:r>
              <a:rPr lang="en-GB" dirty="0"/>
              <a:t> balls. 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Box 2 contains 2 </a:t>
            </a:r>
            <a:r>
              <a:rPr lang="en-GB" dirty="0">
                <a:solidFill>
                  <a:srgbClr val="FF0000"/>
                </a:solidFill>
              </a:rPr>
              <a:t>red</a:t>
            </a:r>
            <a:r>
              <a:rPr lang="en-GB" dirty="0"/>
              <a:t> and 6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white</a:t>
            </a:r>
            <a:r>
              <a:rPr lang="en-GB" dirty="0"/>
              <a:t> balls. 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First a box is selected at random (each box is as likely to be selected as the other) and then a ball is drawn from the box. </a:t>
            </a:r>
          </a:p>
          <a:p>
            <a:pPr marL="0" lvl="1" indent="0">
              <a:lnSpc>
                <a:spcPct val="150000"/>
              </a:lnSpc>
              <a:spcAft>
                <a:spcPts val="600"/>
              </a:spcAft>
              <a:buClrTx/>
              <a:buNone/>
            </a:pPr>
            <a:r>
              <a:rPr lang="en-GB" dirty="0"/>
              <a:t>Please calculate p(B1), p(B2), p(red|B1), p(red|B2), and p(red)</a:t>
            </a:r>
          </a:p>
          <a:p>
            <a:pPr marL="0" lvl="1" indent="0">
              <a:spcAft>
                <a:spcPts val="600"/>
              </a:spcAft>
              <a:buClrTx/>
              <a:buNone/>
            </a:pPr>
            <a:endParaRPr lang="en-GB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6200" y="6553200"/>
            <a:ext cx="8888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  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284541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29D45-90F6-4ECB-83CD-679AAD93E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AF76C-6AB6-4A9E-B4ED-5D149A7CC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pPr marL="0" lvl="1" indent="0">
              <a:spcAft>
                <a:spcPts val="600"/>
              </a:spcAft>
              <a:buClrTx/>
              <a:buNone/>
            </a:pPr>
            <a:r>
              <a:rPr lang="nn-NO" sz="3200" dirty="0"/>
              <a:t>P(B1) = 1/2</a:t>
            </a:r>
          </a:p>
          <a:p>
            <a:pPr marL="0" lvl="1" indent="0">
              <a:spcAft>
                <a:spcPts val="600"/>
              </a:spcAft>
              <a:buClrTx/>
              <a:buNone/>
            </a:pPr>
            <a:r>
              <a:rPr lang="nn-NO" sz="3200" dirty="0"/>
              <a:t>P(B2) = 1/2</a:t>
            </a:r>
          </a:p>
          <a:p>
            <a:pPr marL="0" lvl="1" indent="0">
              <a:spcAft>
                <a:spcPts val="600"/>
              </a:spcAft>
              <a:buClrTx/>
              <a:buNone/>
            </a:pPr>
            <a:r>
              <a:rPr lang="en-GB" dirty="0"/>
              <a:t>P(red|B1) = 7/10</a:t>
            </a:r>
          </a:p>
          <a:p>
            <a:pPr marL="0" lvl="1" indent="0">
              <a:spcAft>
                <a:spcPts val="600"/>
              </a:spcAft>
              <a:buClrTx/>
              <a:buNone/>
            </a:pPr>
            <a:r>
              <a:rPr lang="en-GB" dirty="0"/>
              <a:t>P(red|B2) = 2/8 =  1/4</a:t>
            </a:r>
          </a:p>
          <a:p>
            <a:pPr marL="0" lvl="1" indent="0">
              <a:spcAft>
                <a:spcPts val="600"/>
              </a:spcAft>
              <a:buClrTx/>
              <a:buNone/>
            </a:pPr>
            <a:r>
              <a:rPr lang="en-GB" dirty="0"/>
              <a:t>P(red) = P(red|B1)P(B1) + P(red|B2)P(B2)</a:t>
            </a:r>
          </a:p>
          <a:p>
            <a:pPr marL="0" lvl="1" indent="0">
              <a:spcAft>
                <a:spcPts val="600"/>
              </a:spcAft>
              <a:buClrTx/>
              <a:buNone/>
            </a:pPr>
            <a:r>
              <a:rPr lang="en-GB" dirty="0"/>
              <a:t>            = (7/10) * (1/2) + (1/4) * (1/2)</a:t>
            </a:r>
          </a:p>
          <a:p>
            <a:pPr marL="0" lvl="1" indent="0">
              <a:spcAft>
                <a:spcPts val="600"/>
              </a:spcAft>
              <a:buClrTx/>
              <a:buNone/>
            </a:pPr>
            <a:r>
              <a:rPr lang="en-GB" dirty="0"/>
              <a:t>            = 0.475</a:t>
            </a:r>
          </a:p>
        </p:txBody>
      </p:sp>
    </p:spTree>
    <p:extLst>
      <p:ext uri="{BB962C8B-B14F-4D97-AF65-F5344CB8AC3E}">
        <p14:creationId xmlns:p14="http://schemas.microsoft.com/office/powerpoint/2010/main" val="1699349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48600" cy="1371600"/>
          </a:xfrm>
        </p:spPr>
        <p:txBody>
          <a:bodyPr>
            <a:normAutofit/>
          </a:bodyPr>
          <a:lstStyle/>
          <a:p>
            <a:r>
              <a:rPr lang="en-GB" dirty="0"/>
              <a:t>Probability 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576904"/>
            <a:ext cx="8229600" cy="4923710"/>
          </a:xfrm>
        </p:spPr>
        <p:txBody>
          <a:bodyPr>
            <a:normAutofit lnSpcReduction="10000"/>
          </a:bodyPr>
          <a:lstStyle/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Box 1 contains 7 </a:t>
            </a:r>
            <a:r>
              <a:rPr lang="en-GB" dirty="0">
                <a:solidFill>
                  <a:srgbClr val="FF0000"/>
                </a:solidFill>
              </a:rPr>
              <a:t>red</a:t>
            </a:r>
            <a:r>
              <a:rPr lang="en-GB" dirty="0"/>
              <a:t> and 3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white</a:t>
            </a:r>
            <a:r>
              <a:rPr lang="en-GB" dirty="0"/>
              <a:t> balls. 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Box 2 contains 2 </a:t>
            </a:r>
            <a:r>
              <a:rPr lang="en-GB" dirty="0">
                <a:solidFill>
                  <a:srgbClr val="FF0000"/>
                </a:solidFill>
              </a:rPr>
              <a:t>red</a:t>
            </a:r>
            <a:r>
              <a:rPr lang="en-GB" dirty="0"/>
              <a:t> and 6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white</a:t>
            </a:r>
            <a:r>
              <a:rPr lang="en-GB" dirty="0"/>
              <a:t> balls. 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First a box is selected at random (each box is as likely to be selected as the other) and then a ball is drawn from the box. 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If a </a:t>
            </a:r>
            <a:r>
              <a:rPr lang="en-GB" dirty="0">
                <a:solidFill>
                  <a:srgbClr val="FF0000"/>
                </a:solidFill>
              </a:rPr>
              <a:t>red</a:t>
            </a:r>
            <a:r>
              <a:rPr lang="en-GB" dirty="0"/>
              <a:t> ball is drawn, what is the probability that it came from Box 1?</a:t>
            </a:r>
          </a:p>
          <a:p>
            <a:pPr marL="0" lvl="1" indent="0">
              <a:spcAft>
                <a:spcPts val="600"/>
              </a:spcAft>
              <a:buClrTx/>
              <a:buNone/>
            </a:pPr>
            <a:endParaRPr lang="en-GB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6200" y="6553200"/>
            <a:ext cx="8888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  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574818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48600" cy="1371600"/>
          </a:xfrm>
        </p:spPr>
        <p:txBody>
          <a:bodyPr>
            <a:normAutofit/>
          </a:bodyPr>
          <a:lstStyle/>
          <a:p>
            <a:r>
              <a:rPr lang="en-GB" dirty="0"/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76904"/>
            <a:ext cx="7848600" cy="4923710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spcAft>
                <a:spcPts val="600"/>
              </a:spcAft>
              <a:buClrTx/>
              <a:buNone/>
            </a:pPr>
            <a:r>
              <a:rPr lang="nn-NO" dirty="0"/>
              <a:t>P(B1|Red) </a:t>
            </a:r>
          </a:p>
          <a:p>
            <a:pPr marL="0" lvl="1" indent="0">
              <a:lnSpc>
                <a:spcPct val="150000"/>
              </a:lnSpc>
              <a:spcAft>
                <a:spcPts val="600"/>
              </a:spcAft>
              <a:buClrTx/>
              <a:buNone/>
            </a:pPr>
            <a:r>
              <a:rPr lang="nn-NO" dirty="0"/>
              <a:t>= P(Red|B1) * P(B1) / P(Red) </a:t>
            </a:r>
          </a:p>
          <a:p>
            <a:pPr marL="0" lvl="1" indent="0">
              <a:lnSpc>
                <a:spcPct val="150000"/>
              </a:lnSpc>
              <a:spcAft>
                <a:spcPts val="600"/>
              </a:spcAft>
              <a:buClrTx/>
              <a:buNone/>
            </a:pPr>
            <a:r>
              <a:rPr lang="nn-NO" dirty="0"/>
              <a:t>= (7/10)*(1/2)/0.475</a:t>
            </a:r>
          </a:p>
          <a:p>
            <a:pPr marL="0" lvl="1" indent="0">
              <a:lnSpc>
                <a:spcPct val="150000"/>
              </a:lnSpc>
              <a:spcAft>
                <a:spcPts val="600"/>
              </a:spcAft>
              <a:buClrTx/>
              <a:buNone/>
            </a:pPr>
            <a:r>
              <a:rPr lang="nn-NO" dirty="0"/>
              <a:t>= 0.737</a:t>
            </a:r>
            <a:r>
              <a:rPr lang="nn-NO" sz="2600" dirty="0"/>
              <a:t>	</a:t>
            </a:r>
            <a:endParaRPr lang="en-GB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6200" y="6553200"/>
            <a:ext cx="8888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  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021743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638800"/>
            <a:ext cx="7848600" cy="861814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spcAft>
                <a:spcPts val="600"/>
              </a:spcAft>
              <a:buClrTx/>
              <a:buNone/>
            </a:pPr>
            <a:r>
              <a:rPr lang="nn-NO" b="1" dirty="0"/>
              <a:t>10 Minutes Break</a:t>
            </a:r>
            <a:endParaRPr lang="en-GB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6200" y="6553200"/>
            <a:ext cx="8888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  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66511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48600" cy="1371600"/>
          </a:xfrm>
        </p:spPr>
        <p:txBody>
          <a:bodyPr>
            <a:normAutofit/>
          </a:bodyPr>
          <a:lstStyle/>
          <a:p>
            <a:r>
              <a:rPr lang="en-GB" dirty="0"/>
              <a:t>Probability 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 fontScale="85000" lnSpcReduction="10000"/>
          </a:bodyPr>
          <a:lstStyle/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You need to determine if an athlete at the Olympics is using drugs by interpreting the results of a test. 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Suppose that </a:t>
            </a:r>
            <a:r>
              <a:rPr lang="en-GB" b="1" dirty="0"/>
              <a:t>5%</a:t>
            </a:r>
            <a:r>
              <a:rPr lang="en-GB" dirty="0"/>
              <a:t> of athletes at the Olympics are drug users. 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A test is </a:t>
            </a:r>
            <a:r>
              <a:rPr lang="en-GB" b="1" dirty="0"/>
              <a:t>96%</a:t>
            </a:r>
            <a:r>
              <a:rPr lang="en-GB" dirty="0"/>
              <a:t> accurate, which we'll say means that if a person is a drug user, the result is positive 96% of the time and if the person is not a drug user, the result is negative 96% of the time. 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A randomly chosen athlete at the Olympics tests positive. </a:t>
            </a:r>
          </a:p>
          <a:p>
            <a:pPr marL="1028700" lvl="2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sz="2000" dirty="0"/>
              <a:t>What is the probability that the person is a drug user?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" y="6553200"/>
            <a:ext cx="8888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  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132610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48600" cy="1371600"/>
          </a:xfrm>
        </p:spPr>
        <p:txBody>
          <a:bodyPr>
            <a:normAutofit/>
          </a:bodyPr>
          <a:lstStyle/>
          <a:p>
            <a:r>
              <a:rPr lang="en-GB" dirty="0"/>
              <a:t>Exercise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>
                <a:normAutofit fontScale="85000" lnSpcReduction="20000"/>
              </a:bodyPr>
              <a:lstStyle/>
              <a:p>
                <a:pPr marL="342900" lvl="1" indent="-342900">
                  <a:lnSpc>
                    <a:spcPct val="150000"/>
                  </a:lnSpc>
                  <a:spcAft>
                    <a:spcPts val="600"/>
                  </a:spcAft>
                  <a:buClrTx/>
                </a:pPr>
                <a:r>
                  <a:rPr lang="en-GB" sz="2000" dirty="0"/>
                  <a:t>Suppose that </a:t>
                </a:r>
                <a:r>
                  <a:rPr lang="en-GB" sz="2000" b="1" dirty="0"/>
                  <a:t>5%</a:t>
                </a:r>
                <a:r>
                  <a:rPr lang="en-GB" sz="2000" dirty="0"/>
                  <a:t> of athletes at the Olympics are drug users. </a:t>
                </a:r>
                <a:br>
                  <a:rPr lang="en-GB" sz="2000" dirty="0"/>
                </a:br>
                <a:r>
                  <a:rPr lang="en-GB" sz="2000" dirty="0"/>
                  <a:t>P(D) = 0.05</a:t>
                </a:r>
              </a:p>
              <a:p>
                <a:pPr marL="342900" lvl="1" indent="-342900">
                  <a:lnSpc>
                    <a:spcPct val="150000"/>
                  </a:lnSpc>
                  <a:spcAft>
                    <a:spcPts val="600"/>
                  </a:spcAft>
                  <a:buClrTx/>
                </a:pPr>
                <a:r>
                  <a:rPr lang="en-GB" sz="2000" dirty="0"/>
                  <a:t>A test is </a:t>
                </a:r>
                <a:r>
                  <a:rPr lang="en-GB" sz="2000" b="1" dirty="0"/>
                  <a:t>96%</a:t>
                </a:r>
                <a:r>
                  <a:rPr lang="en-GB" sz="2000" dirty="0"/>
                  <a:t> accurate, which we'll say means that if a person is a drug user, the result is positive 96% of the time and if the person is not a drug user, the result is negative 96% of the time. </a:t>
                </a:r>
              </a:p>
              <a:p>
                <a:pPr marL="0" lvl="1" indent="0">
                  <a:lnSpc>
                    <a:spcPct val="150000"/>
                  </a:lnSpc>
                  <a:spcAft>
                    <a:spcPts val="600"/>
                  </a:spcAft>
                  <a:buClrTx/>
                  <a:buNone/>
                </a:pP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=0.96</m:t>
                    </m:r>
                  </m:oMath>
                </a14:m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e>
                        <m:acc>
                          <m:accPr>
                            <m:chr m:val="̅"/>
                            <m:ctrlPr>
                              <a:rPr lang="en-GB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000" dirty="0"/>
                  <a:t> 0.96</a:t>
                </a:r>
              </a:p>
              <a:p>
                <a:pPr marL="342900" lvl="1" indent="-342900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GB" sz="2000" dirty="0"/>
                  <a:t>A randomly chosen athlete at the Olympics tests positive. What is the probability that the person is a drug user? </a:t>
                </a:r>
              </a:p>
              <a:p>
                <a:pPr marL="0" lvl="1" indent="0">
                  <a:lnSpc>
                    <a:spcPct val="150000"/>
                  </a:lnSpc>
                  <a:spcAft>
                    <a:spcPts val="600"/>
                  </a:spcAft>
                  <a:buClrTx/>
                  <a:buNone/>
                </a:pP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GB" sz="2000" dirty="0"/>
                  <a:t> where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acc>
                      <m:accPr>
                        <m:chr m:val="̅"/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:pPr marL="0" lvl="1" indent="0">
                  <a:lnSpc>
                    <a:spcPct val="150000"/>
                  </a:lnSpc>
                  <a:spcAft>
                    <a:spcPts val="600"/>
                  </a:spcAft>
                  <a:buClrTx/>
                  <a:buNone/>
                </a:pPr>
                <a:r>
                  <a:rPr lang="en-GB" sz="2000" dirty="0"/>
                  <a:t>       So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)+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acc>
                              <m:accPr>
                                <m:chr m:val="̅"/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acc>
                          </m:e>
                        </m:d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GB" sz="2000" dirty="0"/>
              </a:p>
              <a:p>
                <a:pPr marL="0" lvl="1" indent="0">
                  <a:lnSpc>
                    <a:spcPct val="150000"/>
                  </a:lnSpc>
                  <a:spcAft>
                    <a:spcPts val="600"/>
                  </a:spcAft>
                  <a:buClrTx/>
                  <a:buNone/>
                </a:pPr>
                <a:r>
                  <a:rPr lang="en-GB" sz="2000" dirty="0"/>
                  <a:t>                            = (0.96 x 0.05)/ (0.96 x 0.05 + 0.04 x 0.95)   = 0.55814</a:t>
                </a:r>
                <a:br>
                  <a:rPr lang="en-GB" sz="2000" dirty="0"/>
                </a:b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>
                <a:blip r:embed="rId3"/>
                <a:stretch>
                  <a:fillRect l="-370" r="-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6200" y="6553200"/>
            <a:ext cx="8888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  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127663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48600" cy="1371600"/>
          </a:xfrm>
        </p:spPr>
        <p:txBody>
          <a:bodyPr>
            <a:normAutofit/>
          </a:bodyPr>
          <a:lstStyle/>
          <a:p>
            <a:r>
              <a:rPr lang="en-GB" dirty="0"/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410200"/>
          </a:xfrm>
        </p:spPr>
        <p:txBody>
          <a:bodyPr>
            <a:normAutofit/>
          </a:bodyPr>
          <a:lstStyle/>
          <a:p>
            <a:pPr marL="0" lvl="1" indent="0">
              <a:spcAft>
                <a:spcPts val="600"/>
              </a:spcAft>
              <a:buClrTx/>
              <a:buNone/>
            </a:pPr>
            <a:r>
              <a:rPr lang="en-GB" dirty="0"/>
              <a:t>Now what if 40% of the group are drug users?</a:t>
            </a:r>
          </a:p>
          <a:p>
            <a:pPr marL="0" lvl="1" indent="0">
              <a:spcAft>
                <a:spcPts val="600"/>
              </a:spcAft>
              <a:buClrTx/>
              <a:buNone/>
            </a:pPr>
            <a:r>
              <a:rPr lang="en-GB" dirty="0"/>
              <a:t>	</a:t>
            </a:r>
          </a:p>
          <a:p>
            <a:pPr marL="0" lvl="1" indent="0">
              <a:spcAft>
                <a:spcPts val="600"/>
              </a:spcAft>
              <a:buClrTx/>
              <a:buNone/>
            </a:pPr>
            <a:r>
              <a:rPr lang="en-GB" dirty="0"/>
              <a:t> P(D|T) = (0.96x0.4)/(0.96x0.4 + 0.04x0.6)= 0.941176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" y="6553200"/>
            <a:ext cx="8888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  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4177652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48600" cy="1371600"/>
          </a:xfrm>
        </p:spPr>
        <p:txBody>
          <a:bodyPr>
            <a:normAutofit/>
          </a:bodyPr>
          <a:lstStyle/>
          <a:p>
            <a:r>
              <a:rPr lang="en-GB" dirty="0"/>
              <a:t>Probability 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539" y="990600"/>
            <a:ext cx="8229600" cy="5410200"/>
          </a:xfrm>
        </p:spPr>
        <p:txBody>
          <a:bodyPr>
            <a:normAutofit fontScale="85000" lnSpcReduction="20000"/>
          </a:bodyPr>
          <a:lstStyle/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The university buys computers from three different manufacturers: </a:t>
            </a:r>
          </a:p>
          <a:p>
            <a:pPr marL="1028700" lvl="2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30% from manufacturer A</a:t>
            </a:r>
          </a:p>
          <a:p>
            <a:pPr marL="1028700" lvl="2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45% from manufacturer B</a:t>
            </a:r>
          </a:p>
          <a:p>
            <a:pPr marL="1028700" lvl="2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25% from manufacturer C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Past experience has shown that the defective rates for these manufacturers are 3%, 1%, and 4% respectively. 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If a computer is returned to the manufacturer by the university because it was found to be defective, what is the probability that it came from manufacturer C?</a:t>
            </a:r>
          </a:p>
        </p:txBody>
      </p:sp>
    </p:spTree>
    <p:extLst>
      <p:ext uri="{BB962C8B-B14F-4D97-AF65-F5344CB8AC3E}">
        <p14:creationId xmlns:p14="http://schemas.microsoft.com/office/powerpoint/2010/main" val="1356475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48600" cy="1371600"/>
          </a:xfrm>
        </p:spPr>
        <p:txBody>
          <a:bodyPr>
            <a:normAutofit/>
          </a:bodyPr>
          <a:lstStyle/>
          <a:p>
            <a:r>
              <a:rPr lang="en-GB" dirty="0"/>
              <a:t>Probability 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539" y="990600"/>
            <a:ext cx="8229600" cy="5410200"/>
          </a:xfrm>
        </p:spPr>
        <p:txBody>
          <a:bodyPr>
            <a:normAutofit fontScale="62500" lnSpcReduction="20000"/>
          </a:bodyPr>
          <a:lstStyle/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Three different manufacturers: </a:t>
            </a:r>
          </a:p>
          <a:p>
            <a:pPr marL="1028700" lvl="2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30% from manufacturer A:    P(A) = 0.3</a:t>
            </a:r>
          </a:p>
          <a:p>
            <a:pPr marL="1028700" lvl="2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45% from manufacturer B:    P(B) = 0.45</a:t>
            </a:r>
          </a:p>
          <a:p>
            <a:pPr marL="1028700" lvl="2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25% from manufacturer C:    P(C) = 0.25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Defective rates for these manufacturers are 3%, 1%, and 4% respectively.  </a:t>
            </a:r>
          </a:p>
          <a:p>
            <a:pPr marL="0" lvl="1" indent="0">
              <a:lnSpc>
                <a:spcPct val="150000"/>
              </a:lnSpc>
              <a:spcAft>
                <a:spcPts val="600"/>
              </a:spcAft>
              <a:buClrTx/>
              <a:buNone/>
            </a:pPr>
            <a:r>
              <a:rPr lang="en-GB" dirty="0"/>
              <a:t>	P(D|A) = 0.03      P(D|B) = 0.01      P(D|C) = 0.04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ClrTx/>
            </a:pPr>
            <a:r>
              <a:rPr lang="en-GB" dirty="0"/>
              <a:t>If a computer is returned to the manufacturer by the university because it was found to be defective, what is the probability that it came from manufacturer C?</a:t>
            </a:r>
          </a:p>
          <a:p>
            <a:pPr marL="0" lvl="1" indent="0">
              <a:lnSpc>
                <a:spcPct val="150000"/>
              </a:lnSpc>
              <a:spcAft>
                <a:spcPts val="600"/>
              </a:spcAft>
              <a:buClrTx/>
              <a:buNone/>
            </a:pPr>
            <a:r>
              <a:rPr lang="en-GB" dirty="0"/>
              <a:t>    P(C|D) = P(D|C)P(C)/P(D) </a:t>
            </a:r>
          </a:p>
          <a:p>
            <a:pPr marL="0" lvl="1" indent="0">
              <a:lnSpc>
                <a:spcPct val="150000"/>
              </a:lnSpc>
              <a:spcAft>
                <a:spcPts val="600"/>
              </a:spcAft>
              <a:buClrTx/>
              <a:buNone/>
            </a:pPr>
            <a:r>
              <a:rPr lang="en-GB" dirty="0"/>
              <a:t>                 = P(D|C)P(C)/(P(D|A)P(A) + P(D|B)P(B) + P(D|C)P(C))</a:t>
            </a:r>
          </a:p>
          <a:p>
            <a:pPr marL="0" lvl="1" indent="0">
              <a:lnSpc>
                <a:spcPct val="150000"/>
              </a:lnSpc>
              <a:spcAft>
                <a:spcPts val="600"/>
              </a:spcAft>
              <a:buClrTx/>
              <a:buNone/>
            </a:pPr>
            <a:r>
              <a:rPr lang="en-GB" dirty="0"/>
              <a:t>                 = (0.04*0.25)/(0.03x0.3+0.01x0.45+0.04x0.25) = 0.425532</a:t>
            </a:r>
          </a:p>
        </p:txBody>
      </p:sp>
    </p:spTree>
    <p:extLst>
      <p:ext uri="{BB962C8B-B14F-4D97-AF65-F5344CB8AC3E}">
        <p14:creationId xmlns:p14="http://schemas.microsoft.com/office/powerpoint/2010/main" val="2896200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Natural frequencies method</a:t>
            </a:r>
          </a:p>
        </p:txBody>
      </p:sp>
      <p:sp>
        <p:nvSpPr>
          <p:cNvPr id="36" name="Freeform 35"/>
          <p:cNvSpPr/>
          <p:nvPr/>
        </p:nvSpPr>
        <p:spPr>
          <a:xfrm>
            <a:off x="1524000" y="3657600"/>
            <a:ext cx="1055348" cy="556227"/>
          </a:xfrm>
          <a:custGeom>
            <a:avLst/>
            <a:gdLst>
              <a:gd name="connsiteX0" fmla="*/ 0 w 1603374"/>
              <a:gd name="connsiteY0" fmla="*/ 80169 h 801687"/>
              <a:gd name="connsiteX1" fmla="*/ 80169 w 1603374"/>
              <a:gd name="connsiteY1" fmla="*/ 0 h 801687"/>
              <a:gd name="connsiteX2" fmla="*/ 1523205 w 1603374"/>
              <a:gd name="connsiteY2" fmla="*/ 0 h 801687"/>
              <a:gd name="connsiteX3" fmla="*/ 1603374 w 1603374"/>
              <a:gd name="connsiteY3" fmla="*/ 80169 h 801687"/>
              <a:gd name="connsiteX4" fmla="*/ 1603374 w 1603374"/>
              <a:gd name="connsiteY4" fmla="*/ 721518 h 801687"/>
              <a:gd name="connsiteX5" fmla="*/ 1523205 w 1603374"/>
              <a:gd name="connsiteY5" fmla="*/ 801687 h 801687"/>
              <a:gd name="connsiteX6" fmla="*/ 80169 w 1603374"/>
              <a:gd name="connsiteY6" fmla="*/ 801687 h 801687"/>
              <a:gd name="connsiteX7" fmla="*/ 0 w 1603374"/>
              <a:gd name="connsiteY7" fmla="*/ 721518 h 801687"/>
              <a:gd name="connsiteX8" fmla="*/ 0 w 1603374"/>
              <a:gd name="connsiteY8" fmla="*/ 80169 h 801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3374" h="801687">
                <a:moveTo>
                  <a:pt x="0" y="80169"/>
                </a:moveTo>
                <a:cubicBezTo>
                  <a:pt x="0" y="35893"/>
                  <a:pt x="35893" y="0"/>
                  <a:pt x="80169" y="0"/>
                </a:cubicBezTo>
                <a:lnTo>
                  <a:pt x="1523205" y="0"/>
                </a:lnTo>
                <a:cubicBezTo>
                  <a:pt x="1567481" y="0"/>
                  <a:pt x="1603374" y="35893"/>
                  <a:pt x="1603374" y="80169"/>
                </a:cubicBezTo>
                <a:lnTo>
                  <a:pt x="1603374" y="721518"/>
                </a:lnTo>
                <a:cubicBezTo>
                  <a:pt x="1603374" y="765794"/>
                  <a:pt x="1567481" y="801687"/>
                  <a:pt x="1523205" y="801687"/>
                </a:cubicBezTo>
                <a:lnTo>
                  <a:pt x="80169" y="801687"/>
                </a:lnTo>
                <a:cubicBezTo>
                  <a:pt x="35893" y="801687"/>
                  <a:pt x="0" y="765794"/>
                  <a:pt x="0" y="721518"/>
                </a:cubicBezTo>
                <a:lnTo>
                  <a:pt x="0" y="80169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41896" tIns="41896" rIns="41896" bIns="41896" numCol="1" spcCol="1270" anchor="t" anchorCtr="0">
            <a:noAutofit/>
          </a:bodyPr>
          <a:lstStyle/>
          <a:p>
            <a:pPr lvl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kern="1200" dirty="0"/>
              <a:t>Employee</a:t>
            </a:r>
          </a:p>
          <a:p>
            <a:pPr lvl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400" dirty="0"/>
              <a:t>1000</a:t>
            </a:r>
            <a:endParaRPr lang="en-GB" sz="1400" kern="1200" dirty="0"/>
          </a:p>
        </p:txBody>
      </p:sp>
      <p:grpSp>
        <p:nvGrpSpPr>
          <p:cNvPr id="4" name="Group 3"/>
          <p:cNvGrpSpPr/>
          <p:nvPr/>
        </p:nvGrpSpPr>
        <p:grpSpPr>
          <a:xfrm>
            <a:off x="2810290" y="2738011"/>
            <a:ext cx="1127957" cy="1256374"/>
            <a:chOff x="2810290" y="2738011"/>
            <a:chExt cx="1127957" cy="1256374"/>
          </a:xfrm>
        </p:grpSpPr>
        <p:sp>
          <p:nvSpPr>
            <p:cNvPr id="37" name="Freeform 36"/>
            <p:cNvSpPr/>
            <p:nvPr/>
          </p:nvSpPr>
          <p:spPr>
            <a:xfrm rot="18289469">
              <a:off x="2434217" y="3591243"/>
              <a:ext cx="779215" cy="27070"/>
            </a:xfrm>
            <a:custGeom>
              <a:avLst/>
              <a:gdLst>
                <a:gd name="connsiteX0" fmla="*/ 0 w 1123078"/>
                <a:gd name="connsiteY0" fmla="*/ 17753 h 35507"/>
                <a:gd name="connsiteX1" fmla="*/ 1123078 w 1123078"/>
                <a:gd name="connsiteY1" fmla="*/ 17753 h 3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3078" h="35507">
                  <a:moveTo>
                    <a:pt x="0" y="17753"/>
                  </a:moveTo>
                  <a:lnTo>
                    <a:pt x="1123078" y="17753"/>
                  </a:lnTo>
                </a:path>
              </a:pathLst>
            </a:cu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spcFirstLastPara="0" vert="horz" wrap="square" lIns="546161" tIns="-10324" rIns="546163" bIns="-10323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2000" kern="1200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3047999" y="2738011"/>
              <a:ext cx="890248" cy="556227"/>
            </a:xfrm>
            <a:custGeom>
              <a:avLst/>
              <a:gdLst>
                <a:gd name="connsiteX0" fmla="*/ 0 w 1603374"/>
                <a:gd name="connsiteY0" fmla="*/ 80169 h 801687"/>
                <a:gd name="connsiteX1" fmla="*/ 80169 w 1603374"/>
                <a:gd name="connsiteY1" fmla="*/ 0 h 801687"/>
                <a:gd name="connsiteX2" fmla="*/ 1523205 w 1603374"/>
                <a:gd name="connsiteY2" fmla="*/ 0 h 801687"/>
                <a:gd name="connsiteX3" fmla="*/ 1603374 w 1603374"/>
                <a:gd name="connsiteY3" fmla="*/ 80169 h 801687"/>
                <a:gd name="connsiteX4" fmla="*/ 1603374 w 1603374"/>
                <a:gd name="connsiteY4" fmla="*/ 721518 h 801687"/>
                <a:gd name="connsiteX5" fmla="*/ 1523205 w 1603374"/>
                <a:gd name="connsiteY5" fmla="*/ 801687 h 801687"/>
                <a:gd name="connsiteX6" fmla="*/ 80169 w 1603374"/>
                <a:gd name="connsiteY6" fmla="*/ 801687 h 801687"/>
                <a:gd name="connsiteX7" fmla="*/ 0 w 1603374"/>
                <a:gd name="connsiteY7" fmla="*/ 721518 h 801687"/>
                <a:gd name="connsiteX8" fmla="*/ 0 w 1603374"/>
                <a:gd name="connsiteY8" fmla="*/ 80169 h 80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374" h="801687">
                  <a:moveTo>
                    <a:pt x="0" y="80169"/>
                  </a:moveTo>
                  <a:cubicBezTo>
                    <a:pt x="0" y="35893"/>
                    <a:pt x="35893" y="0"/>
                    <a:pt x="80169" y="0"/>
                  </a:cubicBezTo>
                  <a:lnTo>
                    <a:pt x="1523205" y="0"/>
                  </a:lnTo>
                  <a:cubicBezTo>
                    <a:pt x="1567481" y="0"/>
                    <a:pt x="1603374" y="35893"/>
                    <a:pt x="1603374" y="80169"/>
                  </a:cubicBezTo>
                  <a:lnTo>
                    <a:pt x="1603374" y="721518"/>
                  </a:lnTo>
                  <a:cubicBezTo>
                    <a:pt x="1603374" y="765794"/>
                    <a:pt x="1567481" y="801687"/>
                    <a:pt x="1523205" y="801687"/>
                  </a:cubicBezTo>
                  <a:lnTo>
                    <a:pt x="80169" y="801687"/>
                  </a:lnTo>
                  <a:cubicBezTo>
                    <a:pt x="35893" y="801687"/>
                    <a:pt x="0" y="765794"/>
                    <a:pt x="0" y="721518"/>
                  </a:cubicBezTo>
                  <a:lnTo>
                    <a:pt x="0" y="80169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41896" tIns="41896" rIns="41896" bIns="41896" numCol="1" spcCol="1270" anchor="t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Male</a:t>
              </a:r>
            </a:p>
            <a:p>
              <a:pPr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dirty="0"/>
                <a:t>500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810290" y="3854831"/>
            <a:ext cx="1127957" cy="1250569"/>
            <a:chOff x="2810290" y="3854831"/>
            <a:chExt cx="1127957" cy="1250569"/>
          </a:xfrm>
        </p:grpSpPr>
        <p:sp>
          <p:nvSpPr>
            <p:cNvPr id="43" name="Freeform 42"/>
            <p:cNvSpPr/>
            <p:nvPr/>
          </p:nvSpPr>
          <p:spPr>
            <a:xfrm rot="3310531">
              <a:off x="2434217" y="4230904"/>
              <a:ext cx="779215" cy="27070"/>
            </a:xfrm>
            <a:custGeom>
              <a:avLst/>
              <a:gdLst>
                <a:gd name="connsiteX0" fmla="*/ 0 w 1123078"/>
                <a:gd name="connsiteY0" fmla="*/ 17753 h 35507"/>
                <a:gd name="connsiteX1" fmla="*/ 1123078 w 1123078"/>
                <a:gd name="connsiteY1" fmla="*/ 17753 h 3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3078" h="35507">
                  <a:moveTo>
                    <a:pt x="0" y="17753"/>
                  </a:moveTo>
                  <a:lnTo>
                    <a:pt x="1123078" y="17753"/>
                  </a:lnTo>
                </a:path>
              </a:pathLst>
            </a:cu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spcFirstLastPara="0" vert="horz" wrap="square" lIns="546162" tIns="-10323" rIns="546162" bIns="-10324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2000" kern="1200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3047999" y="4549173"/>
              <a:ext cx="890248" cy="556227"/>
            </a:xfrm>
            <a:custGeom>
              <a:avLst/>
              <a:gdLst>
                <a:gd name="connsiteX0" fmla="*/ 0 w 1603374"/>
                <a:gd name="connsiteY0" fmla="*/ 80169 h 801687"/>
                <a:gd name="connsiteX1" fmla="*/ 80169 w 1603374"/>
                <a:gd name="connsiteY1" fmla="*/ 0 h 801687"/>
                <a:gd name="connsiteX2" fmla="*/ 1523205 w 1603374"/>
                <a:gd name="connsiteY2" fmla="*/ 0 h 801687"/>
                <a:gd name="connsiteX3" fmla="*/ 1603374 w 1603374"/>
                <a:gd name="connsiteY3" fmla="*/ 80169 h 801687"/>
                <a:gd name="connsiteX4" fmla="*/ 1603374 w 1603374"/>
                <a:gd name="connsiteY4" fmla="*/ 721518 h 801687"/>
                <a:gd name="connsiteX5" fmla="*/ 1523205 w 1603374"/>
                <a:gd name="connsiteY5" fmla="*/ 801687 h 801687"/>
                <a:gd name="connsiteX6" fmla="*/ 80169 w 1603374"/>
                <a:gd name="connsiteY6" fmla="*/ 801687 h 801687"/>
                <a:gd name="connsiteX7" fmla="*/ 0 w 1603374"/>
                <a:gd name="connsiteY7" fmla="*/ 721518 h 801687"/>
                <a:gd name="connsiteX8" fmla="*/ 0 w 1603374"/>
                <a:gd name="connsiteY8" fmla="*/ 80169 h 80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374" h="801687">
                  <a:moveTo>
                    <a:pt x="0" y="80169"/>
                  </a:moveTo>
                  <a:cubicBezTo>
                    <a:pt x="0" y="35893"/>
                    <a:pt x="35893" y="0"/>
                    <a:pt x="80169" y="0"/>
                  </a:cubicBezTo>
                  <a:lnTo>
                    <a:pt x="1523205" y="0"/>
                  </a:lnTo>
                  <a:cubicBezTo>
                    <a:pt x="1567481" y="0"/>
                    <a:pt x="1603374" y="35893"/>
                    <a:pt x="1603374" y="80169"/>
                  </a:cubicBezTo>
                  <a:lnTo>
                    <a:pt x="1603374" y="721518"/>
                  </a:lnTo>
                  <a:cubicBezTo>
                    <a:pt x="1603374" y="765794"/>
                    <a:pt x="1567481" y="801687"/>
                    <a:pt x="1523205" y="801687"/>
                  </a:cubicBezTo>
                  <a:lnTo>
                    <a:pt x="80169" y="801687"/>
                  </a:lnTo>
                  <a:cubicBezTo>
                    <a:pt x="35893" y="801687"/>
                    <a:pt x="0" y="765794"/>
                    <a:pt x="0" y="721518"/>
                  </a:cubicBezTo>
                  <a:lnTo>
                    <a:pt x="0" y="80169"/>
                  </a:ln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41896" tIns="41896" rIns="41896" bIns="41896" numCol="1" spcCol="1270" anchor="t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Female</a:t>
              </a:r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dirty="0"/>
                <a:t>500</a:t>
              </a:r>
              <a:endParaRPr lang="en-GB" sz="1400" kern="1200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881652" y="2418181"/>
            <a:ext cx="1767921" cy="556227"/>
            <a:chOff x="3881652" y="2418181"/>
            <a:chExt cx="1767921" cy="556227"/>
          </a:xfrm>
        </p:grpSpPr>
        <p:sp>
          <p:nvSpPr>
            <p:cNvPr id="39" name="Freeform 38"/>
            <p:cNvSpPr/>
            <p:nvPr/>
          </p:nvSpPr>
          <p:spPr>
            <a:xfrm rot="19457599">
              <a:off x="3881652" y="2843892"/>
              <a:ext cx="602143" cy="24635"/>
            </a:xfrm>
            <a:custGeom>
              <a:avLst/>
              <a:gdLst>
                <a:gd name="connsiteX0" fmla="*/ 0 w 789824"/>
                <a:gd name="connsiteY0" fmla="*/ 17753 h 35507"/>
                <a:gd name="connsiteX1" fmla="*/ 789824 w 789824"/>
                <a:gd name="connsiteY1" fmla="*/ 17753 h 3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9824" h="35507">
                  <a:moveTo>
                    <a:pt x="0" y="17753"/>
                  </a:moveTo>
                  <a:lnTo>
                    <a:pt x="789824" y="17753"/>
                  </a:ln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0" vert="horz" wrap="square" lIns="387865" tIns="-1993" rIns="387867" bIns="-1992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2000" kern="1200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4427199" y="2418181"/>
              <a:ext cx="1222374" cy="556227"/>
            </a:xfrm>
            <a:custGeom>
              <a:avLst/>
              <a:gdLst>
                <a:gd name="connsiteX0" fmla="*/ 0 w 1603374"/>
                <a:gd name="connsiteY0" fmla="*/ 80169 h 801687"/>
                <a:gd name="connsiteX1" fmla="*/ 80169 w 1603374"/>
                <a:gd name="connsiteY1" fmla="*/ 0 h 801687"/>
                <a:gd name="connsiteX2" fmla="*/ 1523205 w 1603374"/>
                <a:gd name="connsiteY2" fmla="*/ 0 h 801687"/>
                <a:gd name="connsiteX3" fmla="*/ 1603374 w 1603374"/>
                <a:gd name="connsiteY3" fmla="*/ 80169 h 801687"/>
                <a:gd name="connsiteX4" fmla="*/ 1603374 w 1603374"/>
                <a:gd name="connsiteY4" fmla="*/ 721518 h 801687"/>
                <a:gd name="connsiteX5" fmla="*/ 1523205 w 1603374"/>
                <a:gd name="connsiteY5" fmla="*/ 801687 h 801687"/>
                <a:gd name="connsiteX6" fmla="*/ 80169 w 1603374"/>
                <a:gd name="connsiteY6" fmla="*/ 801687 h 801687"/>
                <a:gd name="connsiteX7" fmla="*/ 0 w 1603374"/>
                <a:gd name="connsiteY7" fmla="*/ 721518 h 801687"/>
                <a:gd name="connsiteX8" fmla="*/ 0 w 1603374"/>
                <a:gd name="connsiteY8" fmla="*/ 80169 h 80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374" h="801687">
                  <a:moveTo>
                    <a:pt x="0" y="80169"/>
                  </a:moveTo>
                  <a:cubicBezTo>
                    <a:pt x="0" y="35893"/>
                    <a:pt x="35893" y="0"/>
                    <a:pt x="80169" y="0"/>
                  </a:cubicBezTo>
                  <a:lnTo>
                    <a:pt x="1523205" y="0"/>
                  </a:lnTo>
                  <a:cubicBezTo>
                    <a:pt x="1567481" y="0"/>
                    <a:pt x="1603374" y="35893"/>
                    <a:pt x="1603374" y="80169"/>
                  </a:cubicBezTo>
                  <a:lnTo>
                    <a:pt x="1603374" y="721518"/>
                  </a:lnTo>
                  <a:cubicBezTo>
                    <a:pt x="1603374" y="765794"/>
                    <a:pt x="1567481" y="801687"/>
                    <a:pt x="1523205" y="801687"/>
                  </a:cubicBezTo>
                  <a:lnTo>
                    <a:pt x="80169" y="801687"/>
                  </a:lnTo>
                  <a:cubicBezTo>
                    <a:pt x="35893" y="801687"/>
                    <a:pt x="0" y="765794"/>
                    <a:pt x="0" y="721518"/>
                  </a:cubicBezTo>
                  <a:lnTo>
                    <a:pt x="0" y="80169"/>
                  </a:lnTo>
                  <a:close/>
                </a:path>
              </a:pathLst>
            </a:cu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41896" tIns="41896" rIns="41896" bIns="41896" numCol="1" spcCol="1270" anchor="t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Smoke</a:t>
              </a:r>
              <a:endParaRPr lang="en-GB" sz="1400" kern="1200" dirty="0"/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kern="1200" dirty="0"/>
                <a:t>200</a:t>
              </a:r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400" kern="1200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403292" y="2418181"/>
              <a:ext cx="116186" cy="556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881652" y="3050963"/>
            <a:ext cx="1767921" cy="563106"/>
            <a:chOff x="3881652" y="3050963"/>
            <a:chExt cx="1767921" cy="563106"/>
          </a:xfrm>
        </p:grpSpPr>
        <p:sp>
          <p:nvSpPr>
            <p:cNvPr id="41" name="Freeform 40"/>
            <p:cNvSpPr/>
            <p:nvPr/>
          </p:nvSpPr>
          <p:spPr>
            <a:xfrm rot="2142401">
              <a:off x="3881652" y="3163723"/>
              <a:ext cx="602143" cy="24635"/>
            </a:xfrm>
            <a:custGeom>
              <a:avLst/>
              <a:gdLst>
                <a:gd name="connsiteX0" fmla="*/ 0 w 789824"/>
                <a:gd name="connsiteY0" fmla="*/ 17753 h 35507"/>
                <a:gd name="connsiteX1" fmla="*/ 789824 w 789824"/>
                <a:gd name="connsiteY1" fmla="*/ 17753 h 3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9824" h="35507">
                  <a:moveTo>
                    <a:pt x="0" y="17753"/>
                  </a:moveTo>
                  <a:lnTo>
                    <a:pt x="789824" y="17753"/>
                  </a:ln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0" vert="horz" wrap="square" lIns="387866" tIns="-1992" rIns="387866" bIns="-1993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2000" kern="1200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4427199" y="3057842"/>
              <a:ext cx="1222374" cy="556227"/>
            </a:xfrm>
            <a:custGeom>
              <a:avLst/>
              <a:gdLst>
                <a:gd name="connsiteX0" fmla="*/ 0 w 1603374"/>
                <a:gd name="connsiteY0" fmla="*/ 80169 h 801687"/>
                <a:gd name="connsiteX1" fmla="*/ 80169 w 1603374"/>
                <a:gd name="connsiteY1" fmla="*/ 0 h 801687"/>
                <a:gd name="connsiteX2" fmla="*/ 1523205 w 1603374"/>
                <a:gd name="connsiteY2" fmla="*/ 0 h 801687"/>
                <a:gd name="connsiteX3" fmla="*/ 1603374 w 1603374"/>
                <a:gd name="connsiteY3" fmla="*/ 80169 h 801687"/>
                <a:gd name="connsiteX4" fmla="*/ 1603374 w 1603374"/>
                <a:gd name="connsiteY4" fmla="*/ 721518 h 801687"/>
                <a:gd name="connsiteX5" fmla="*/ 1523205 w 1603374"/>
                <a:gd name="connsiteY5" fmla="*/ 801687 h 801687"/>
                <a:gd name="connsiteX6" fmla="*/ 80169 w 1603374"/>
                <a:gd name="connsiteY6" fmla="*/ 801687 h 801687"/>
                <a:gd name="connsiteX7" fmla="*/ 0 w 1603374"/>
                <a:gd name="connsiteY7" fmla="*/ 721518 h 801687"/>
                <a:gd name="connsiteX8" fmla="*/ 0 w 1603374"/>
                <a:gd name="connsiteY8" fmla="*/ 80169 h 80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374" h="801687">
                  <a:moveTo>
                    <a:pt x="0" y="80169"/>
                  </a:moveTo>
                  <a:cubicBezTo>
                    <a:pt x="0" y="35893"/>
                    <a:pt x="35893" y="0"/>
                    <a:pt x="80169" y="0"/>
                  </a:cubicBezTo>
                  <a:lnTo>
                    <a:pt x="1523205" y="0"/>
                  </a:lnTo>
                  <a:cubicBezTo>
                    <a:pt x="1567481" y="0"/>
                    <a:pt x="1603374" y="35893"/>
                    <a:pt x="1603374" y="80169"/>
                  </a:cubicBezTo>
                  <a:lnTo>
                    <a:pt x="1603374" y="721518"/>
                  </a:lnTo>
                  <a:cubicBezTo>
                    <a:pt x="1603374" y="765794"/>
                    <a:pt x="1567481" y="801687"/>
                    <a:pt x="1523205" y="801687"/>
                  </a:cubicBezTo>
                  <a:lnTo>
                    <a:pt x="80169" y="801687"/>
                  </a:lnTo>
                  <a:cubicBezTo>
                    <a:pt x="35893" y="801687"/>
                    <a:pt x="0" y="765794"/>
                    <a:pt x="0" y="721518"/>
                  </a:cubicBezTo>
                  <a:lnTo>
                    <a:pt x="0" y="80169"/>
                  </a:lnTo>
                  <a:close/>
                </a:path>
              </a:pathLst>
            </a:cu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41896" tIns="41896" rIns="41896" bIns="41896" numCol="1" spcCol="1270" anchor="t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Don’t</a:t>
              </a:r>
              <a:endParaRPr lang="en-GB" sz="1400" kern="1200" dirty="0"/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kern="1200" dirty="0"/>
                <a:t>300</a:t>
              </a:r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400" kern="1200" dirty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403292" y="3050963"/>
              <a:ext cx="116186" cy="556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881652" y="4209622"/>
            <a:ext cx="1767921" cy="560918"/>
            <a:chOff x="3881652" y="4209622"/>
            <a:chExt cx="1767921" cy="560918"/>
          </a:xfrm>
        </p:grpSpPr>
        <p:sp>
          <p:nvSpPr>
            <p:cNvPr id="45" name="Freeform 44"/>
            <p:cNvSpPr/>
            <p:nvPr/>
          </p:nvSpPr>
          <p:spPr>
            <a:xfrm rot="19457599">
              <a:off x="3881652" y="4663734"/>
              <a:ext cx="602143" cy="24635"/>
            </a:xfrm>
            <a:custGeom>
              <a:avLst/>
              <a:gdLst>
                <a:gd name="connsiteX0" fmla="*/ 0 w 789824"/>
                <a:gd name="connsiteY0" fmla="*/ 17753 h 35507"/>
                <a:gd name="connsiteX1" fmla="*/ 789824 w 789824"/>
                <a:gd name="connsiteY1" fmla="*/ 17753 h 3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9824" h="35507">
                  <a:moveTo>
                    <a:pt x="0" y="17753"/>
                  </a:moveTo>
                  <a:lnTo>
                    <a:pt x="789824" y="17753"/>
                  </a:lnTo>
                </a:path>
              </a:pathLst>
            </a:cu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spcFirstLastPara="0" vert="horz" wrap="square" lIns="387865" tIns="-1993" rIns="387867" bIns="-1992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2000" kern="1200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4427199" y="4214313"/>
              <a:ext cx="1222374" cy="556227"/>
            </a:xfrm>
            <a:custGeom>
              <a:avLst/>
              <a:gdLst>
                <a:gd name="connsiteX0" fmla="*/ 0 w 1603374"/>
                <a:gd name="connsiteY0" fmla="*/ 80169 h 801687"/>
                <a:gd name="connsiteX1" fmla="*/ 80169 w 1603374"/>
                <a:gd name="connsiteY1" fmla="*/ 0 h 801687"/>
                <a:gd name="connsiteX2" fmla="*/ 1523205 w 1603374"/>
                <a:gd name="connsiteY2" fmla="*/ 0 h 801687"/>
                <a:gd name="connsiteX3" fmla="*/ 1603374 w 1603374"/>
                <a:gd name="connsiteY3" fmla="*/ 80169 h 801687"/>
                <a:gd name="connsiteX4" fmla="*/ 1603374 w 1603374"/>
                <a:gd name="connsiteY4" fmla="*/ 721518 h 801687"/>
                <a:gd name="connsiteX5" fmla="*/ 1523205 w 1603374"/>
                <a:gd name="connsiteY5" fmla="*/ 801687 h 801687"/>
                <a:gd name="connsiteX6" fmla="*/ 80169 w 1603374"/>
                <a:gd name="connsiteY6" fmla="*/ 801687 h 801687"/>
                <a:gd name="connsiteX7" fmla="*/ 0 w 1603374"/>
                <a:gd name="connsiteY7" fmla="*/ 721518 h 801687"/>
                <a:gd name="connsiteX8" fmla="*/ 0 w 1603374"/>
                <a:gd name="connsiteY8" fmla="*/ 80169 h 80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374" h="801687">
                  <a:moveTo>
                    <a:pt x="0" y="80169"/>
                  </a:moveTo>
                  <a:cubicBezTo>
                    <a:pt x="0" y="35893"/>
                    <a:pt x="35893" y="0"/>
                    <a:pt x="80169" y="0"/>
                  </a:cubicBezTo>
                  <a:lnTo>
                    <a:pt x="1523205" y="0"/>
                  </a:lnTo>
                  <a:cubicBezTo>
                    <a:pt x="1567481" y="0"/>
                    <a:pt x="1603374" y="35893"/>
                    <a:pt x="1603374" y="80169"/>
                  </a:cubicBezTo>
                  <a:lnTo>
                    <a:pt x="1603374" y="721518"/>
                  </a:lnTo>
                  <a:cubicBezTo>
                    <a:pt x="1603374" y="765794"/>
                    <a:pt x="1567481" y="801687"/>
                    <a:pt x="1523205" y="801687"/>
                  </a:cubicBezTo>
                  <a:lnTo>
                    <a:pt x="80169" y="801687"/>
                  </a:lnTo>
                  <a:cubicBezTo>
                    <a:pt x="35893" y="801687"/>
                    <a:pt x="0" y="765794"/>
                    <a:pt x="0" y="721518"/>
                  </a:cubicBezTo>
                  <a:lnTo>
                    <a:pt x="0" y="80169"/>
                  </a:lnTo>
                  <a:close/>
                </a:path>
              </a:pathLst>
            </a:cu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41896" tIns="41896" rIns="41896" bIns="41896" numCol="1" spcCol="1270" anchor="t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Smoke</a:t>
              </a:r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dirty="0"/>
                <a:t>100</a:t>
              </a:r>
              <a:endParaRPr lang="en-GB" sz="1400" kern="12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403292" y="4209622"/>
              <a:ext cx="116186" cy="55622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881652" y="4853836"/>
            <a:ext cx="1767921" cy="556364"/>
            <a:chOff x="3881652" y="4853836"/>
            <a:chExt cx="1767921" cy="556364"/>
          </a:xfrm>
        </p:grpSpPr>
        <p:sp>
          <p:nvSpPr>
            <p:cNvPr id="47" name="Freeform 46"/>
            <p:cNvSpPr/>
            <p:nvPr/>
          </p:nvSpPr>
          <p:spPr>
            <a:xfrm rot="2142401">
              <a:off x="3881652" y="4983564"/>
              <a:ext cx="602143" cy="24635"/>
            </a:xfrm>
            <a:custGeom>
              <a:avLst/>
              <a:gdLst>
                <a:gd name="connsiteX0" fmla="*/ 0 w 789824"/>
                <a:gd name="connsiteY0" fmla="*/ 17753 h 35507"/>
                <a:gd name="connsiteX1" fmla="*/ 789824 w 789824"/>
                <a:gd name="connsiteY1" fmla="*/ 17753 h 3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9824" h="35507">
                  <a:moveTo>
                    <a:pt x="0" y="17753"/>
                  </a:moveTo>
                  <a:lnTo>
                    <a:pt x="789824" y="17753"/>
                  </a:lnTo>
                </a:path>
              </a:pathLst>
            </a:cu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spcFirstLastPara="0" vert="horz" wrap="square" lIns="387866" tIns="-1991" rIns="387866" bIns="-1994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2000" kern="120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4427199" y="4853973"/>
              <a:ext cx="1222374" cy="556227"/>
            </a:xfrm>
            <a:custGeom>
              <a:avLst/>
              <a:gdLst>
                <a:gd name="connsiteX0" fmla="*/ 0 w 1603374"/>
                <a:gd name="connsiteY0" fmla="*/ 80169 h 801687"/>
                <a:gd name="connsiteX1" fmla="*/ 80169 w 1603374"/>
                <a:gd name="connsiteY1" fmla="*/ 0 h 801687"/>
                <a:gd name="connsiteX2" fmla="*/ 1523205 w 1603374"/>
                <a:gd name="connsiteY2" fmla="*/ 0 h 801687"/>
                <a:gd name="connsiteX3" fmla="*/ 1603374 w 1603374"/>
                <a:gd name="connsiteY3" fmla="*/ 80169 h 801687"/>
                <a:gd name="connsiteX4" fmla="*/ 1603374 w 1603374"/>
                <a:gd name="connsiteY4" fmla="*/ 721518 h 801687"/>
                <a:gd name="connsiteX5" fmla="*/ 1523205 w 1603374"/>
                <a:gd name="connsiteY5" fmla="*/ 801687 h 801687"/>
                <a:gd name="connsiteX6" fmla="*/ 80169 w 1603374"/>
                <a:gd name="connsiteY6" fmla="*/ 801687 h 801687"/>
                <a:gd name="connsiteX7" fmla="*/ 0 w 1603374"/>
                <a:gd name="connsiteY7" fmla="*/ 721518 h 801687"/>
                <a:gd name="connsiteX8" fmla="*/ 0 w 1603374"/>
                <a:gd name="connsiteY8" fmla="*/ 80169 h 80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374" h="801687">
                  <a:moveTo>
                    <a:pt x="0" y="80169"/>
                  </a:moveTo>
                  <a:cubicBezTo>
                    <a:pt x="0" y="35893"/>
                    <a:pt x="35893" y="0"/>
                    <a:pt x="80169" y="0"/>
                  </a:cubicBezTo>
                  <a:lnTo>
                    <a:pt x="1523205" y="0"/>
                  </a:lnTo>
                  <a:cubicBezTo>
                    <a:pt x="1567481" y="0"/>
                    <a:pt x="1603374" y="35893"/>
                    <a:pt x="1603374" y="80169"/>
                  </a:cubicBezTo>
                  <a:lnTo>
                    <a:pt x="1603374" y="721518"/>
                  </a:lnTo>
                  <a:cubicBezTo>
                    <a:pt x="1603374" y="765794"/>
                    <a:pt x="1567481" y="801687"/>
                    <a:pt x="1523205" y="801687"/>
                  </a:cubicBezTo>
                  <a:lnTo>
                    <a:pt x="80169" y="801687"/>
                  </a:lnTo>
                  <a:cubicBezTo>
                    <a:pt x="35893" y="801687"/>
                    <a:pt x="0" y="765794"/>
                    <a:pt x="0" y="721518"/>
                  </a:cubicBezTo>
                  <a:lnTo>
                    <a:pt x="0" y="80169"/>
                  </a:lnTo>
                  <a:close/>
                </a:path>
              </a:pathLst>
            </a:cu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41896" tIns="41896" rIns="41896" bIns="41896" numCol="1" spcCol="1270" anchor="t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Don’t</a:t>
              </a:r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dirty="0"/>
                <a:t>400</a:t>
              </a:r>
              <a:endParaRPr lang="en-GB" sz="1400" kern="1200" dirty="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403292" y="4853836"/>
              <a:ext cx="116186" cy="55622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/>
            </a:p>
          </p:txBody>
        </p:sp>
      </p:grpSp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304800" y="1295400"/>
            <a:ext cx="377077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valon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valon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valo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valon" pitchFamily="34" charset="0"/>
              </a:defRPr>
            </a:lvl9pPr>
          </a:lstStyle>
          <a:p>
            <a:r>
              <a:rPr lang="en-GB" altLang="en-US" sz="2000" b="0" dirty="0">
                <a:latin typeface="+mn-lt"/>
              </a:rPr>
              <a:t>The company example:-</a:t>
            </a:r>
          </a:p>
          <a:p>
            <a:pPr lvl="1"/>
            <a:r>
              <a:rPr lang="en-GB" altLang="en-US" sz="1800" dirty="0">
                <a:latin typeface="+mn-lt"/>
              </a:rPr>
              <a:t>50% </a:t>
            </a:r>
            <a:r>
              <a:rPr lang="en-GB" altLang="en-US" sz="1800" b="0" dirty="0">
                <a:latin typeface="+mn-lt"/>
              </a:rPr>
              <a:t>of employees </a:t>
            </a:r>
            <a:r>
              <a:rPr lang="en-GB" altLang="en-US" sz="1800" dirty="0">
                <a:latin typeface="+mn-lt"/>
              </a:rPr>
              <a:t>are female</a:t>
            </a:r>
          </a:p>
          <a:p>
            <a:pPr lvl="1"/>
            <a:r>
              <a:rPr lang="en-GB" altLang="en-US" sz="1800" dirty="0">
                <a:latin typeface="+mn-lt"/>
              </a:rPr>
              <a:t>20% </a:t>
            </a:r>
            <a:r>
              <a:rPr lang="en-GB" altLang="en-US" sz="1800" b="0" dirty="0">
                <a:latin typeface="+mn-lt"/>
              </a:rPr>
              <a:t>of</a:t>
            </a:r>
            <a:r>
              <a:rPr lang="en-GB" altLang="en-US" sz="1800" dirty="0">
                <a:latin typeface="+mn-lt"/>
              </a:rPr>
              <a:t> female </a:t>
            </a:r>
            <a:r>
              <a:rPr lang="en-GB" altLang="en-US" sz="1800" b="0" dirty="0">
                <a:latin typeface="+mn-lt"/>
              </a:rPr>
              <a:t>employees </a:t>
            </a:r>
            <a:r>
              <a:rPr lang="en-GB" altLang="en-US" sz="1800" dirty="0">
                <a:latin typeface="+mn-lt"/>
              </a:rPr>
              <a:t>smoke</a:t>
            </a:r>
          </a:p>
          <a:p>
            <a:pPr lvl="1"/>
            <a:r>
              <a:rPr lang="en-GB" altLang="en-US" sz="1800" dirty="0">
                <a:latin typeface="+mn-lt"/>
              </a:rPr>
              <a:t>30% </a:t>
            </a:r>
            <a:r>
              <a:rPr lang="en-GB" altLang="en-US" sz="1800" b="0" dirty="0">
                <a:latin typeface="+mn-lt"/>
              </a:rPr>
              <a:t>of employees</a:t>
            </a:r>
            <a:r>
              <a:rPr lang="en-GB" altLang="en-US" sz="1800" dirty="0">
                <a:latin typeface="+mn-lt"/>
              </a:rPr>
              <a:t> smoke</a:t>
            </a:r>
          </a:p>
        </p:txBody>
      </p:sp>
    </p:spTree>
    <p:extLst>
      <p:ext uri="{BB962C8B-B14F-4D97-AF65-F5344CB8AC3E}">
        <p14:creationId xmlns:p14="http://schemas.microsoft.com/office/powerpoint/2010/main" val="18400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Natural frequencies method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1524000" y="2418181"/>
            <a:ext cx="4125573" cy="2992019"/>
            <a:chOff x="2129159" y="2189161"/>
            <a:chExt cx="5411465" cy="4312381"/>
          </a:xfrm>
        </p:grpSpPr>
        <p:sp>
          <p:nvSpPr>
            <p:cNvPr id="57" name="Freeform 56"/>
            <p:cNvSpPr/>
            <p:nvPr/>
          </p:nvSpPr>
          <p:spPr>
            <a:xfrm>
              <a:off x="2129159" y="3975529"/>
              <a:ext cx="1384287" cy="801687"/>
            </a:xfrm>
            <a:custGeom>
              <a:avLst/>
              <a:gdLst>
                <a:gd name="connsiteX0" fmla="*/ 0 w 1603374"/>
                <a:gd name="connsiteY0" fmla="*/ 80169 h 801687"/>
                <a:gd name="connsiteX1" fmla="*/ 80169 w 1603374"/>
                <a:gd name="connsiteY1" fmla="*/ 0 h 801687"/>
                <a:gd name="connsiteX2" fmla="*/ 1523205 w 1603374"/>
                <a:gd name="connsiteY2" fmla="*/ 0 h 801687"/>
                <a:gd name="connsiteX3" fmla="*/ 1603374 w 1603374"/>
                <a:gd name="connsiteY3" fmla="*/ 80169 h 801687"/>
                <a:gd name="connsiteX4" fmla="*/ 1603374 w 1603374"/>
                <a:gd name="connsiteY4" fmla="*/ 721518 h 801687"/>
                <a:gd name="connsiteX5" fmla="*/ 1523205 w 1603374"/>
                <a:gd name="connsiteY5" fmla="*/ 801687 h 801687"/>
                <a:gd name="connsiteX6" fmla="*/ 80169 w 1603374"/>
                <a:gd name="connsiteY6" fmla="*/ 801687 h 801687"/>
                <a:gd name="connsiteX7" fmla="*/ 0 w 1603374"/>
                <a:gd name="connsiteY7" fmla="*/ 721518 h 801687"/>
                <a:gd name="connsiteX8" fmla="*/ 0 w 1603374"/>
                <a:gd name="connsiteY8" fmla="*/ 80169 h 80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374" h="801687">
                  <a:moveTo>
                    <a:pt x="0" y="80169"/>
                  </a:moveTo>
                  <a:cubicBezTo>
                    <a:pt x="0" y="35893"/>
                    <a:pt x="35893" y="0"/>
                    <a:pt x="80169" y="0"/>
                  </a:cubicBezTo>
                  <a:lnTo>
                    <a:pt x="1523205" y="0"/>
                  </a:lnTo>
                  <a:cubicBezTo>
                    <a:pt x="1567481" y="0"/>
                    <a:pt x="1603374" y="35893"/>
                    <a:pt x="1603374" y="80169"/>
                  </a:cubicBezTo>
                  <a:lnTo>
                    <a:pt x="1603374" y="721518"/>
                  </a:lnTo>
                  <a:cubicBezTo>
                    <a:pt x="1603374" y="765794"/>
                    <a:pt x="1567481" y="801687"/>
                    <a:pt x="1523205" y="801687"/>
                  </a:cubicBezTo>
                  <a:lnTo>
                    <a:pt x="80169" y="801687"/>
                  </a:lnTo>
                  <a:cubicBezTo>
                    <a:pt x="35893" y="801687"/>
                    <a:pt x="0" y="765794"/>
                    <a:pt x="0" y="721518"/>
                  </a:cubicBezTo>
                  <a:lnTo>
                    <a:pt x="0" y="80169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spcFirstLastPara="0" vert="horz" wrap="square" lIns="41896" tIns="41896" rIns="41896" bIns="41896" numCol="1" spcCol="1270" anchor="t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Employee</a:t>
              </a:r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dirty="0"/>
                <a:t>1000</a:t>
              </a:r>
              <a:endParaRPr lang="en-GB" sz="1400" kern="1200" dirty="0"/>
            </a:p>
          </p:txBody>
        </p:sp>
        <p:sp>
          <p:nvSpPr>
            <p:cNvPr id="58" name="Freeform 57"/>
            <p:cNvSpPr/>
            <p:nvPr/>
          </p:nvSpPr>
          <p:spPr>
            <a:xfrm rot="18289469">
              <a:off x="3272584" y="3881643"/>
              <a:ext cx="1123078" cy="35507"/>
            </a:xfrm>
            <a:custGeom>
              <a:avLst/>
              <a:gdLst>
                <a:gd name="connsiteX0" fmla="*/ 0 w 1123078"/>
                <a:gd name="connsiteY0" fmla="*/ 17753 h 35507"/>
                <a:gd name="connsiteX1" fmla="*/ 1123078 w 1123078"/>
                <a:gd name="connsiteY1" fmla="*/ 17753 h 3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3078" h="35507">
                  <a:moveTo>
                    <a:pt x="0" y="17753"/>
                  </a:moveTo>
                  <a:lnTo>
                    <a:pt x="1123078" y="17753"/>
                  </a:lnTo>
                </a:path>
              </a:pathLst>
            </a:cu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spcFirstLastPara="0" vert="horz" wrap="square" lIns="546161" tIns="-10324" rIns="546163" bIns="-10323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2000" kern="1200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4128171" y="2650130"/>
              <a:ext cx="1167728" cy="801687"/>
            </a:xfrm>
            <a:custGeom>
              <a:avLst/>
              <a:gdLst>
                <a:gd name="connsiteX0" fmla="*/ 0 w 1603374"/>
                <a:gd name="connsiteY0" fmla="*/ 80169 h 801687"/>
                <a:gd name="connsiteX1" fmla="*/ 80169 w 1603374"/>
                <a:gd name="connsiteY1" fmla="*/ 0 h 801687"/>
                <a:gd name="connsiteX2" fmla="*/ 1523205 w 1603374"/>
                <a:gd name="connsiteY2" fmla="*/ 0 h 801687"/>
                <a:gd name="connsiteX3" fmla="*/ 1603374 w 1603374"/>
                <a:gd name="connsiteY3" fmla="*/ 80169 h 801687"/>
                <a:gd name="connsiteX4" fmla="*/ 1603374 w 1603374"/>
                <a:gd name="connsiteY4" fmla="*/ 721518 h 801687"/>
                <a:gd name="connsiteX5" fmla="*/ 1523205 w 1603374"/>
                <a:gd name="connsiteY5" fmla="*/ 801687 h 801687"/>
                <a:gd name="connsiteX6" fmla="*/ 80169 w 1603374"/>
                <a:gd name="connsiteY6" fmla="*/ 801687 h 801687"/>
                <a:gd name="connsiteX7" fmla="*/ 0 w 1603374"/>
                <a:gd name="connsiteY7" fmla="*/ 721518 h 801687"/>
                <a:gd name="connsiteX8" fmla="*/ 0 w 1603374"/>
                <a:gd name="connsiteY8" fmla="*/ 80169 h 80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374" h="801687">
                  <a:moveTo>
                    <a:pt x="0" y="80169"/>
                  </a:moveTo>
                  <a:cubicBezTo>
                    <a:pt x="0" y="35893"/>
                    <a:pt x="35893" y="0"/>
                    <a:pt x="80169" y="0"/>
                  </a:cubicBezTo>
                  <a:lnTo>
                    <a:pt x="1523205" y="0"/>
                  </a:lnTo>
                  <a:cubicBezTo>
                    <a:pt x="1567481" y="0"/>
                    <a:pt x="1603374" y="35893"/>
                    <a:pt x="1603374" y="80169"/>
                  </a:cubicBezTo>
                  <a:lnTo>
                    <a:pt x="1603374" y="721518"/>
                  </a:lnTo>
                  <a:cubicBezTo>
                    <a:pt x="1603374" y="765794"/>
                    <a:pt x="1567481" y="801687"/>
                    <a:pt x="1523205" y="801687"/>
                  </a:cubicBezTo>
                  <a:lnTo>
                    <a:pt x="80169" y="801687"/>
                  </a:lnTo>
                  <a:cubicBezTo>
                    <a:pt x="35893" y="801687"/>
                    <a:pt x="0" y="765794"/>
                    <a:pt x="0" y="721518"/>
                  </a:cubicBezTo>
                  <a:lnTo>
                    <a:pt x="0" y="80169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41896" tIns="41896" rIns="41896" bIns="41896" numCol="1" spcCol="1270" anchor="t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Male</a:t>
              </a:r>
            </a:p>
            <a:p>
              <a:pPr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dirty="0"/>
                <a:t>500</a:t>
              </a:r>
            </a:p>
          </p:txBody>
        </p:sp>
        <p:sp>
          <p:nvSpPr>
            <p:cNvPr id="60" name="Freeform 59"/>
            <p:cNvSpPr/>
            <p:nvPr/>
          </p:nvSpPr>
          <p:spPr>
            <a:xfrm rot="19457599">
              <a:off x="5221663" y="2802736"/>
              <a:ext cx="789824" cy="35507"/>
            </a:xfrm>
            <a:custGeom>
              <a:avLst/>
              <a:gdLst>
                <a:gd name="connsiteX0" fmla="*/ 0 w 789824"/>
                <a:gd name="connsiteY0" fmla="*/ 17753 h 35507"/>
                <a:gd name="connsiteX1" fmla="*/ 789824 w 789824"/>
                <a:gd name="connsiteY1" fmla="*/ 17753 h 3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9824" h="35507">
                  <a:moveTo>
                    <a:pt x="0" y="17753"/>
                  </a:moveTo>
                  <a:lnTo>
                    <a:pt x="789824" y="17753"/>
                  </a:ln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0" vert="horz" wrap="square" lIns="387865" tIns="-1993" rIns="387867" bIns="-1992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2000" kern="1200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5937250" y="2189161"/>
              <a:ext cx="1603374" cy="801687"/>
            </a:xfrm>
            <a:custGeom>
              <a:avLst/>
              <a:gdLst>
                <a:gd name="connsiteX0" fmla="*/ 0 w 1603374"/>
                <a:gd name="connsiteY0" fmla="*/ 80169 h 801687"/>
                <a:gd name="connsiteX1" fmla="*/ 80169 w 1603374"/>
                <a:gd name="connsiteY1" fmla="*/ 0 h 801687"/>
                <a:gd name="connsiteX2" fmla="*/ 1523205 w 1603374"/>
                <a:gd name="connsiteY2" fmla="*/ 0 h 801687"/>
                <a:gd name="connsiteX3" fmla="*/ 1603374 w 1603374"/>
                <a:gd name="connsiteY3" fmla="*/ 80169 h 801687"/>
                <a:gd name="connsiteX4" fmla="*/ 1603374 w 1603374"/>
                <a:gd name="connsiteY4" fmla="*/ 721518 h 801687"/>
                <a:gd name="connsiteX5" fmla="*/ 1523205 w 1603374"/>
                <a:gd name="connsiteY5" fmla="*/ 801687 h 801687"/>
                <a:gd name="connsiteX6" fmla="*/ 80169 w 1603374"/>
                <a:gd name="connsiteY6" fmla="*/ 801687 h 801687"/>
                <a:gd name="connsiteX7" fmla="*/ 0 w 1603374"/>
                <a:gd name="connsiteY7" fmla="*/ 721518 h 801687"/>
                <a:gd name="connsiteX8" fmla="*/ 0 w 1603374"/>
                <a:gd name="connsiteY8" fmla="*/ 80169 h 80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374" h="801687">
                  <a:moveTo>
                    <a:pt x="0" y="80169"/>
                  </a:moveTo>
                  <a:cubicBezTo>
                    <a:pt x="0" y="35893"/>
                    <a:pt x="35893" y="0"/>
                    <a:pt x="80169" y="0"/>
                  </a:cubicBezTo>
                  <a:lnTo>
                    <a:pt x="1523205" y="0"/>
                  </a:lnTo>
                  <a:cubicBezTo>
                    <a:pt x="1567481" y="0"/>
                    <a:pt x="1603374" y="35893"/>
                    <a:pt x="1603374" y="80169"/>
                  </a:cubicBezTo>
                  <a:lnTo>
                    <a:pt x="1603374" y="721518"/>
                  </a:lnTo>
                  <a:cubicBezTo>
                    <a:pt x="1603374" y="765794"/>
                    <a:pt x="1567481" y="801687"/>
                    <a:pt x="1523205" y="801687"/>
                  </a:cubicBezTo>
                  <a:lnTo>
                    <a:pt x="80169" y="801687"/>
                  </a:lnTo>
                  <a:cubicBezTo>
                    <a:pt x="35893" y="801687"/>
                    <a:pt x="0" y="765794"/>
                    <a:pt x="0" y="721518"/>
                  </a:cubicBezTo>
                  <a:lnTo>
                    <a:pt x="0" y="80169"/>
                  </a:lnTo>
                  <a:close/>
                </a:path>
              </a:pathLst>
            </a:cu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41896" tIns="41896" rIns="41896" bIns="41896" numCol="1" spcCol="1270" anchor="t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Smoke</a:t>
              </a:r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kern="1200" dirty="0"/>
                <a:t>200</a:t>
              </a:r>
            </a:p>
          </p:txBody>
        </p:sp>
        <p:sp>
          <p:nvSpPr>
            <p:cNvPr id="62" name="Freeform 61"/>
            <p:cNvSpPr/>
            <p:nvPr/>
          </p:nvSpPr>
          <p:spPr>
            <a:xfrm rot="2142401">
              <a:off x="5221663" y="3263706"/>
              <a:ext cx="789824" cy="35507"/>
            </a:xfrm>
            <a:custGeom>
              <a:avLst/>
              <a:gdLst>
                <a:gd name="connsiteX0" fmla="*/ 0 w 789824"/>
                <a:gd name="connsiteY0" fmla="*/ 17753 h 35507"/>
                <a:gd name="connsiteX1" fmla="*/ 789824 w 789824"/>
                <a:gd name="connsiteY1" fmla="*/ 17753 h 3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9824" h="35507">
                  <a:moveTo>
                    <a:pt x="0" y="17753"/>
                  </a:moveTo>
                  <a:lnTo>
                    <a:pt x="789824" y="17753"/>
                  </a:ln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0" vert="horz" wrap="square" lIns="387866" tIns="-1992" rIns="387866" bIns="-1993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2000" kern="1200"/>
            </a:p>
          </p:txBody>
        </p:sp>
        <p:sp>
          <p:nvSpPr>
            <p:cNvPr id="63" name="Freeform 62"/>
            <p:cNvSpPr/>
            <p:nvPr/>
          </p:nvSpPr>
          <p:spPr>
            <a:xfrm>
              <a:off x="5937250" y="3111101"/>
              <a:ext cx="1603374" cy="801687"/>
            </a:xfrm>
            <a:custGeom>
              <a:avLst/>
              <a:gdLst>
                <a:gd name="connsiteX0" fmla="*/ 0 w 1603374"/>
                <a:gd name="connsiteY0" fmla="*/ 80169 h 801687"/>
                <a:gd name="connsiteX1" fmla="*/ 80169 w 1603374"/>
                <a:gd name="connsiteY1" fmla="*/ 0 h 801687"/>
                <a:gd name="connsiteX2" fmla="*/ 1523205 w 1603374"/>
                <a:gd name="connsiteY2" fmla="*/ 0 h 801687"/>
                <a:gd name="connsiteX3" fmla="*/ 1603374 w 1603374"/>
                <a:gd name="connsiteY3" fmla="*/ 80169 h 801687"/>
                <a:gd name="connsiteX4" fmla="*/ 1603374 w 1603374"/>
                <a:gd name="connsiteY4" fmla="*/ 721518 h 801687"/>
                <a:gd name="connsiteX5" fmla="*/ 1523205 w 1603374"/>
                <a:gd name="connsiteY5" fmla="*/ 801687 h 801687"/>
                <a:gd name="connsiteX6" fmla="*/ 80169 w 1603374"/>
                <a:gd name="connsiteY6" fmla="*/ 801687 h 801687"/>
                <a:gd name="connsiteX7" fmla="*/ 0 w 1603374"/>
                <a:gd name="connsiteY7" fmla="*/ 721518 h 801687"/>
                <a:gd name="connsiteX8" fmla="*/ 0 w 1603374"/>
                <a:gd name="connsiteY8" fmla="*/ 80169 h 80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374" h="801687">
                  <a:moveTo>
                    <a:pt x="0" y="80169"/>
                  </a:moveTo>
                  <a:cubicBezTo>
                    <a:pt x="0" y="35893"/>
                    <a:pt x="35893" y="0"/>
                    <a:pt x="80169" y="0"/>
                  </a:cubicBezTo>
                  <a:lnTo>
                    <a:pt x="1523205" y="0"/>
                  </a:lnTo>
                  <a:cubicBezTo>
                    <a:pt x="1567481" y="0"/>
                    <a:pt x="1603374" y="35893"/>
                    <a:pt x="1603374" y="80169"/>
                  </a:cubicBezTo>
                  <a:lnTo>
                    <a:pt x="1603374" y="721518"/>
                  </a:lnTo>
                  <a:cubicBezTo>
                    <a:pt x="1603374" y="765794"/>
                    <a:pt x="1567481" y="801687"/>
                    <a:pt x="1523205" y="801687"/>
                  </a:cubicBezTo>
                  <a:lnTo>
                    <a:pt x="80169" y="801687"/>
                  </a:lnTo>
                  <a:cubicBezTo>
                    <a:pt x="35893" y="801687"/>
                    <a:pt x="0" y="765794"/>
                    <a:pt x="0" y="721518"/>
                  </a:cubicBezTo>
                  <a:lnTo>
                    <a:pt x="0" y="80169"/>
                  </a:lnTo>
                  <a:close/>
                </a:path>
              </a:pathLst>
            </a:cu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41896" tIns="41896" rIns="41896" bIns="41896" numCol="1" spcCol="1270" anchor="t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Don’t</a:t>
              </a:r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dirty="0"/>
                <a:t>300</a:t>
              </a:r>
              <a:endParaRPr lang="en-GB" sz="1400" kern="1200" dirty="0"/>
            </a:p>
          </p:txBody>
        </p:sp>
        <p:sp>
          <p:nvSpPr>
            <p:cNvPr id="64" name="Freeform 63"/>
            <p:cNvSpPr/>
            <p:nvPr/>
          </p:nvSpPr>
          <p:spPr>
            <a:xfrm rot="3310531">
              <a:off x="3272584" y="4803583"/>
              <a:ext cx="1123078" cy="35507"/>
            </a:xfrm>
            <a:custGeom>
              <a:avLst/>
              <a:gdLst>
                <a:gd name="connsiteX0" fmla="*/ 0 w 1123078"/>
                <a:gd name="connsiteY0" fmla="*/ 17753 h 35507"/>
                <a:gd name="connsiteX1" fmla="*/ 1123078 w 1123078"/>
                <a:gd name="connsiteY1" fmla="*/ 17753 h 3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3078" h="35507">
                  <a:moveTo>
                    <a:pt x="0" y="17753"/>
                  </a:moveTo>
                  <a:lnTo>
                    <a:pt x="1123078" y="17753"/>
                  </a:lnTo>
                </a:path>
              </a:pathLst>
            </a:cu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spcFirstLastPara="0" vert="horz" wrap="square" lIns="546162" tIns="-10323" rIns="546162" bIns="-10324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2000" kern="1200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4128170" y="5260548"/>
              <a:ext cx="1167728" cy="801687"/>
            </a:xfrm>
            <a:custGeom>
              <a:avLst/>
              <a:gdLst>
                <a:gd name="connsiteX0" fmla="*/ 0 w 1603374"/>
                <a:gd name="connsiteY0" fmla="*/ 80169 h 801687"/>
                <a:gd name="connsiteX1" fmla="*/ 80169 w 1603374"/>
                <a:gd name="connsiteY1" fmla="*/ 0 h 801687"/>
                <a:gd name="connsiteX2" fmla="*/ 1523205 w 1603374"/>
                <a:gd name="connsiteY2" fmla="*/ 0 h 801687"/>
                <a:gd name="connsiteX3" fmla="*/ 1603374 w 1603374"/>
                <a:gd name="connsiteY3" fmla="*/ 80169 h 801687"/>
                <a:gd name="connsiteX4" fmla="*/ 1603374 w 1603374"/>
                <a:gd name="connsiteY4" fmla="*/ 721518 h 801687"/>
                <a:gd name="connsiteX5" fmla="*/ 1523205 w 1603374"/>
                <a:gd name="connsiteY5" fmla="*/ 801687 h 801687"/>
                <a:gd name="connsiteX6" fmla="*/ 80169 w 1603374"/>
                <a:gd name="connsiteY6" fmla="*/ 801687 h 801687"/>
                <a:gd name="connsiteX7" fmla="*/ 0 w 1603374"/>
                <a:gd name="connsiteY7" fmla="*/ 721518 h 801687"/>
                <a:gd name="connsiteX8" fmla="*/ 0 w 1603374"/>
                <a:gd name="connsiteY8" fmla="*/ 80169 h 80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374" h="801687">
                  <a:moveTo>
                    <a:pt x="0" y="80169"/>
                  </a:moveTo>
                  <a:cubicBezTo>
                    <a:pt x="0" y="35893"/>
                    <a:pt x="35893" y="0"/>
                    <a:pt x="80169" y="0"/>
                  </a:cubicBezTo>
                  <a:lnTo>
                    <a:pt x="1523205" y="0"/>
                  </a:lnTo>
                  <a:cubicBezTo>
                    <a:pt x="1567481" y="0"/>
                    <a:pt x="1603374" y="35893"/>
                    <a:pt x="1603374" y="80169"/>
                  </a:cubicBezTo>
                  <a:lnTo>
                    <a:pt x="1603374" y="721518"/>
                  </a:lnTo>
                  <a:cubicBezTo>
                    <a:pt x="1603374" y="765794"/>
                    <a:pt x="1567481" y="801687"/>
                    <a:pt x="1523205" y="801687"/>
                  </a:cubicBezTo>
                  <a:lnTo>
                    <a:pt x="80169" y="801687"/>
                  </a:lnTo>
                  <a:cubicBezTo>
                    <a:pt x="35893" y="801687"/>
                    <a:pt x="0" y="765794"/>
                    <a:pt x="0" y="721518"/>
                  </a:cubicBezTo>
                  <a:lnTo>
                    <a:pt x="0" y="80169"/>
                  </a:ln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41896" tIns="41896" rIns="41896" bIns="41896" numCol="1" spcCol="1270" anchor="t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Female</a:t>
              </a:r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dirty="0"/>
                <a:t>500</a:t>
              </a:r>
              <a:endParaRPr lang="en-GB" sz="1400" kern="1200" dirty="0"/>
            </a:p>
          </p:txBody>
        </p:sp>
        <p:sp>
          <p:nvSpPr>
            <p:cNvPr id="66" name="Freeform 65"/>
            <p:cNvSpPr/>
            <p:nvPr/>
          </p:nvSpPr>
          <p:spPr>
            <a:xfrm rot="19457599">
              <a:off x="5221663" y="5425665"/>
              <a:ext cx="789824" cy="35506"/>
            </a:xfrm>
            <a:custGeom>
              <a:avLst/>
              <a:gdLst>
                <a:gd name="connsiteX0" fmla="*/ 0 w 789824"/>
                <a:gd name="connsiteY0" fmla="*/ 17753 h 35507"/>
                <a:gd name="connsiteX1" fmla="*/ 789824 w 789824"/>
                <a:gd name="connsiteY1" fmla="*/ 17753 h 3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9824" h="35507">
                  <a:moveTo>
                    <a:pt x="0" y="17753"/>
                  </a:moveTo>
                  <a:lnTo>
                    <a:pt x="789824" y="17753"/>
                  </a:lnTo>
                </a:path>
              </a:pathLst>
            </a:cu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spcFirstLastPara="0" vert="horz" wrap="square" lIns="387865" tIns="-1993" rIns="387867" bIns="-1992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2000" kern="1200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5937251" y="4777916"/>
              <a:ext cx="1603373" cy="801687"/>
            </a:xfrm>
            <a:custGeom>
              <a:avLst/>
              <a:gdLst>
                <a:gd name="connsiteX0" fmla="*/ 0 w 1603374"/>
                <a:gd name="connsiteY0" fmla="*/ 80169 h 801687"/>
                <a:gd name="connsiteX1" fmla="*/ 80169 w 1603374"/>
                <a:gd name="connsiteY1" fmla="*/ 0 h 801687"/>
                <a:gd name="connsiteX2" fmla="*/ 1523205 w 1603374"/>
                <a:gd name="connsiteY2" fmla="*/ 0 h 801687"/>
                <a:gd name="connsiteX3" fmla="*/ 1603374 w 1603374"/>
                <a:gd name="connsiteY3" fmla="*/ 80169 h 801687"/>
                <a:gd name="connsiteX4" fmla="*/ 1603374 w 1603374"/>
                <a:gd name="connsiteY4" fmla="*/ 721518 h 801687"/>
                <a:gd name="connsiteX5" fmla="*/ 1523205 w 1603374"/>
                <a:gd name="connsiteY5" fmla="*/ 801687 h 801687"/>
                <a:gd name="connsiteX6" fmla="*/ 80169 w 1603374"/>
                <a:gd name="connsiteY6" fmla="*/ 801687 h 801687"/>
                <a:gd name="connsiteX7" fmla="*/ 0 w 1603374"/>
                <a:gd name="connsiteY7" fmla="*/ 721518 h 801687"/>
                <a:gd name="connsiteX8" fmla="*/ 0 w 1603374"/>
                <a:gd name="connsiteY8" fmla="*/ 80169 h 80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374" h="801687">
                  <a:moveTo>
                    <a:pt x="0" y="80169"/>
                  </a:moveTo>
                  <a:cubicBezTo>
                    <a:pt x="0" y="35893"/>
                    <a:pt x="35893" y="0"/>
                    <a:pt x="80169" y="0"/>
                  </a:cubicBezTo>
                  <a:lnTo>
                    <a:pt x="1523205" y="0"/>
                  </a:lnTo>
                  <a:cubicBezTo>
                    <a:pt x="1567481" y="0"/>
                    <a:pt x="1603374" y="35893"/>
                    <a:pt x="1603374" y="80169"/>
                  </a:cubicBezTo>
                  <a:lnTo>
                    <a:pt x="1603374" y="721518"/>
                  </a:lnTo>
                  <a:cubicBezTo>
                    <a:pt x="1603374" y="765794"/>
                    <a:pt x="1567481" y="801687"/>
                    <a:pt x="1523205" y="801687"/>
                  </a:cubicBezTo>
                  <a:lnTo>
                    <a:pt x="80169" y="801687"/>
                  </a:lnTo>
                  <a:cubicBezTo>
                    <a:pt x="35893" y="801687"/>
                    <a:pt x="0" y="765794"/>
                    <a:pt x="0" y="721518"/>
                  </a:cubicBezTo>
                  <a:lnTo>
                    <a:pt x="0" y="80169"/>
                  </a:lnTo>
                  <a:close/>
                </a:path>
              </a:pathLst>
            </a:cu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41896" tIns="41896" rIns="41896" bIns="41896" numCol="1" spcCol="1270" anchor="t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Smoke</a:t>
              </a:r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dirty="0"/>
                <a:t>100</a:t>
              </a:r>
              <a:endParaRPr lang="en-GB" sz="1400" kern="1200" dirty="0"/>
            </a:p>
          </p:txBody>
        </p:sp>
        <p:sp>
          <p:nvSpPr>
            <p:cNvPr id="68" name="Freeform 67"/>
            <p:cNvSpPr/>
            <p:nvPr/>
          </p:nvSpPr>
          <p:spPr>
            <a:xfrm rot="2142401">
              <a:off x="5221663" y="5886634"/>
              <a:ext cx="789824" cy="35506"/>
            </a:xfrm>
            <a:custGeom>
              <a:avLst/>
              <a:gdLst>
                <a:gd name="connsiteX0" fmla="*/ 0 w 789824"/>
                <a:gd name="connsiteY0" fmla="*/ 17753 h 35507"/>
                <a:gd name="connsiteX1" fmla="*/ 789824 w 789824"/>
                <a:gd name="connsiteY1" fmla="*/ 17753 h 3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9824" h="35507">
                  <a:moveTo>
                    <a:pt x="0" y="17753"/>
                  </a:moveTo>
                  <a:lnTo>
                    <a:pt x="789824" y="17753"/>
                  </a:lnTo>
                </a:path>
              </a:pathLst>
            </a:cu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spcFirstLastPara="0" vert="horz" wrap="square" lIns="387866" tIns="-1991" rIns="387866" bIns="-1994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2000" kern="1200"/>
            </a:p>
          </p:txBody>
        </p:sp>
        <p:sp>
          <p:nvSpPr>
            <p:cNvPr id="69" name="Freeform 68"/>
            <p:cNvSpPr/>
            <p:nvPr/>
          </p:nvSpPr>
          <p:spPr>
            <a:xfrm>
              <a:off x="5937251" y="5699855"/>
              <a:ext cx="1603373" cy="801687"/>
            </a:xfrm>
            <a:custGeom>
              <a:avLst/>
              <a:gdLst>
                <a:gd name="connsiteX0" fmla="*/ 0 w 1603374"/>
                <a:gd name="connsiteY0" fmla="*/ 80169 h 801687"/>
                <a:gd name="connsiteX1" fmla="*/ 80169 w 1603374"/>
                <a:gd name="connsiteY1" fmla="*/ 0 h 801687"/>
                <a:gd name="connsiteX2" fmla="*/ 1523205 w 1603374"/>
                <a:gd name="connsiteY2" fmla="*/ 0 h 801687"/>
                <a:gd name="connsiteX3" fmla="*/ 1603374 w 1603374"/>
                <a:gd name="connsiteY3" fmla="*/ 80169 h 801687"/>
                <a:gd name="connsiteX4" fmla="*/ 1603374 w 1603374"/>
                <a:gd name="connsiteY4" fmla="*/ 721518 h 801687"/>
                <a:gd name="connsiteX5" fmla="*/ 1523205 w 1603374"/>
                <a:gd name="connsiteY5" fmla="*/ 801687 h 801687"/>
                <a:gd name="connsiteX6" fmla="*/ 80169 w 1603374"/>
                <a:gd name="connsiteY6" fmla="*/ 801687 h 801687"/>
                <a:gd name="connsiteX7" fmla="*/ 0 w 1603374"/>
                <a:gd name="connsiteY7" fmla="*/ 721518 h 801687"/>
                <a:gd name="connsiteX8" fmla="*/ 0 w 1603374"/>
                <a:gd name="connsiteY8" fmla="*/ 80169 h 80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374" h="801687">
                  <a:moveTo>
                    <a:pt x="0" y="80169"/>
                  </a:moveTo>
                  <a:cubicBezTo>
                    <a:pt x="0" y="35893"/>
                    <a:pt x="35893" y="0"/>
                    <a:pt x="80169" y="0"/>
                  </a:cubicBezTo>
                  <a:lnTo>
                    <a:pt x="1523205" y="0"/>
                  </a:lnTo>
                  <a:cubicBezTo>
                    <a:pt x="1567481" y="0"/>
                    <a:pt x="1603374" y="35893"/>
                    <a:pt x="1603374" y="80169"/>
                  </a:cubicBezTo>
                  <a:lnTo>
                    <a:pt x="1603374" y="721518"/>
                  </a:lnTo>
                  <a:cubicBezTo>
                    <a:pt x="1603374" y="765794"/>
                    <a:pt x="1567481" y="801687"/>
                    <a:pt x="1523205" y="801687"/>
                  </a:cubicBezTo>
                  <a:lnTo>
                    <a:pt x="80169" y="801687"/>
                  </a:lnTo>
                  <a:cubicBezTo>
                    <a:pt x="35893" y="801687"/>
                    <a:pt x="0" y="765794"/>
                    <a:pt x="0" y="721518"/>
                  </a:cubicBezTo>
                  <a:lnTo>
                    <a:pt x="0" y="80169"/>
                  </a:lnTo>
                  <a:close/>
                </a:path>
              </a:pathLst>
            </a:cu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41896" tIns="41896" rIns="41896" bIns="41896" numCol="1" spcCol="1270" anchor="t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Don’t</a:t>
              </a:r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dirty="0"/>
                <a:t>400</a:t>
              </a:r>
              <a:endParaRPr lang="en-GB" sz="1400" kern="1200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905892" y="2189161"/>
              <a:ext cx="152400" cy="80168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905892" y="3101186"/>
              <a:ext cx="152400" cy="80168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905892" y="4771155"/>
              <a:ext cx="152400" cy="80168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905892" y="5699657"/>
              <a:ext cx="152400" cy="80168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398493" y="3061584"/>
            <a:ext cx="2781366" cy="1037655"/>
            <a:chOff x="4724400" y="3783543"/>
            <a:chExt cx="2781366" cy="1037655"/>
          </a:xfrm>
        </p:grpSpPr>
        <p:pic>
          <p:nvPicPr>
            <p:cNvPr id="56" name="Picture 5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3783543"/>
              <a:ext cx="368250" cy="397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5009633" y="3897868"/>
                  <a:ext cx="2496133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𝑃</m:t>
                      </m:r>
                      <m:r>
                        <a:rPr lang="en-GB" b="0" i="1" smtClean="0">
                          <a:latin typeface="Cambria Math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/>
                        </a:rPr>
                        <m:t>|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smtClean="0"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GB" dirty="0"/>
                    <a:t> = 100/(100+200)</a:t>
                  </a:r>
                </a:p>
                <a:p>
                  <a:r>
                    <a:rPr lang="en-GB" dirty="0"/>
                    <a:t>              = 100/300</a:t>
                  </a:r>
                </a:p>
                <a:p>
                  <a:r>
                    <a:rPr lang="en-GB" dirty="0"/>
                    <a:t>              = 33.3%</a:t>
                  </a:r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9633" y="3897868"/>
                  <a:ext cx="2496133" cy="923330"/>
                </a:xfrm>
                <a:prstGeom prst="rect">
                  <a:avLst/>
                </a:prstGeom>
                <a:blipFill>
                  <a:blip r:embed="rId4"/>
                  <a:stretch>
                    <a:fillRect t="-3289" r="-1711" b="-921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09510" y="817378"/>
                <a:ext cx="2409890" cy="669094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e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</m:d>
                      <m:r>
                        <a:rPr lang="en-GB" b="0" i="1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GB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i="1" smtClean="0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GB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en-GB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𝐹</m:t>
                          </m:r>
                          <m:r>
                            <a:rPr lang="en-GB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GB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GB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𝐹</m:t>
                          </m:r>
                          <m:r>
                            <a:rPr lang="en-GB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i="1" smtClean="0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GB" i="1" smtClean="0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i="1" smtClean="0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GB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GB" dirty="0">
                              <a:solidFill>
                                <a:schemeClr val="accent2"/>
                              </a:solidFill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10" y="817378"/>
                <a:ext cx="2409890" cy="669094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854949" y="817197"/>
                <a:ext cx="2555251" cy="669094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GB" i="1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n-GB" i="1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</a:rPr>
                                <m:t>𝐹</m:t>
                              </m:r>
                            </m:e>
                          </m:d>
                        </m:num>
                        <m:den>
                          <m:r>
                            <a:rPr lang="en-GB" i="1" smtClean="0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GB" i="1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n-GB" i="1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</a:rPr>
                                <m:t>𝑀</m:t>
                              </m:r>
                            </m:e>
                          </m:d>
                          <m:r>
                            <a:rPr lang="en-GB" b="0" i="1" smtClean="0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GB" i="1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n-GB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</a:rPr>
                                <m:t>𝐹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949" y="817197"/>
                <a:ext cx="2555251" cy="6690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/>
          <p:cNvSpPr/>
          <p:nvPr/>
        </p:nvSpPr>
        <p:spPr>
          <a:xfrm>
            <a:off x="5845031" y="2670491"/>
            <a:ext cx="708169" cy="18198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42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Probability exercise 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altLang="en-US" sz="2400" b="1" dirty="0"/>
              <a:t>Eight out of</a:t>
            </a:r>
            <a:r>
              <a:rPr lang="en-GB" altLang="en-US" sz="2400" dirty="0"/>
              <a:t> every </a:t>
            </a:r>
            <a:r>
              <a:rPr lang="en-GB" altLang="en-US" sz="2400" b="1" dirty="0"/>
              <a:t>thousand</a:t>
            </a:r>
            <a:r>
              <a:rPr lang="en-GB" altLang="en-US" sz="2400" dirty="0"/>
              <a:t> women </a:t>
            </a:r>
            <a:r>
              <a:rPr lang="en-GB" altLang="en-US" sz="2400" b="1" dirty="0"/>
              <a:t>have</a:t>
            </a:r>
            <a:r>
              <a:rPr lang="en-GB" altLang="en-US" sz="2400" dirty="0"/>
              <a:t> </a:t>
            </a:r>
            <a:r>
              <a:rPr lang="en-GB" altLang="en-US" sz="2400" b="1" dirty="0"/>
              <a:t>breast cancer</a:t>
            </a:r>
            <a:r>
              <a:rPr lang="en-GB" altLang="en-US" sz="2400" dirty="0"/>
              <a:t> (who had no symptoms prior to the screening test)</a:t>
            </a:r>
          </a:p>
          <a:p>
            <a:pPr lvl="1"/>
            <a:r>
              <a:rPr lang="en-GB" altLang="en-US" sz="2000" b="1" dirty="0"/>
              <a:t>Of these </a:t>
            </a:r>
            <a:r>
              <a:rPr lang="en-GB" altLang="en-US" sz="2000" dirty="0"/>
              <a:t>eight women, </a:t>
            </a:r>
            <a:r>
              <a:rPr lang="en-GB" altLang="en-US" sz="2000" b="1" dirty="0"/>
              <a:t>Seven</a:t>
            </a:r>
            <a:r>
              <a:rPr lang="en-GB" altLang="en-US" sz="2000" dirty="0"/>
              <a:t> will </a:t>
            </a:r>
            <a:r>
              <a:rPr lang="en-GB" altLang="en-US" sz="2000" b="1" dirty="0"/>
              <a:t>have</a:t>
            </a:r>
            <a:r>
              <a:rPr lang="en-GB" altLang="en-US" sz="2000" dirty="0"/>
              <a:t> a </a:t>
            </a:r>
            <a:r>
              <a:rPr lang="en-GB" altLang="en-US" sz="2000" b="1" dirty="0"/>
              <a:t>positive</a:t>
            </a:r>
            <a:r>
              <a:rPr lang="en-GB" altLang="en-US" sz="2000" dirty="0"/>
              <a:t> </a:t>
            </a:r>
            <a:r>
              <a:rPr lang="en-GB" altLang="en-US" sz="2000" b="1" dirty="0"/>
              <a:t>test </a:t>
            </a:r>
            <a:r>
              <a:rPr lang="en-GB" altLang="en-US" sz="2000" dirty="0"/>
              <a:t>result. </a:t>
            </a:r>
          </a:p>
          <a:p>
            <a:pPr lvl="1"/>
            <a:r>
              <a:rPr lang="en-GB" altLang="en-US" sz="2000" b="1" dirty="0"/>
              <a:t>Of the other </a:t>
            </a:r>
            <a:r>
              <a:rPr lang="en-GB" altLang="en-US" sz="2000" dirty="0"/>
              <a:t>992 women, who do not have breast cancer, around </a:t>
            </a:r>
            <a:r>
              <a:rPr lang="en-GB" altLang="en-US" sz="2000" b="1" dirty="0"/>
              <a:t>70</a:t>
            </a:r>
            <a:r>
              <a:rPr lang="en-GB" altLang="en-US" sz="2000" dirty="0"/>
              <a:t> will </a:t>
            </a:r>
            <a:r>
              <a:rPr lang="en-GB" altLang="en-US" sz="2000" b="1" dirty="0"/>
              <a:t>have a positive test </a:t>
            </a:r>
            <a:r>
              <a:rPr lang="en-GB" altLang="en-US" sz="2000" dirty="0"/>
              <a:t>result.</a:t>
            </a:r>
            <a:r>
              <a:rPr lang="en-GB" altLang="en-US" sz="2000" dirty="0">
                <a:latin typeface="Times New Roman" charset="0"/>
              </a:rPr>
              <a:t> </a:t>
            </a:r>
          </a:p>
          <a:p>
            <a:pPr marL="0" indent="0">
              <a:buNone/>
            </a:pPr>
            <a:endParaRPr lang="en-GB" altLang="en-US" sz="2400" dirty="0"/>
          </a:p>
          <a:p>
            <a:pPr marL="0" indent="0">
              <a:buNone/>
            </a:pPr>
            <a:r>
              <a:rPr lang="en-GB" altLang="en-US" sz="2400" b="1" dirty="0"/>
              <a:t>What is </a:t>
            </a:r>
            <a:r>
              <a:rPr lang="en-GB" altLang="en-US" sz="2400" dirty="0"/>
              <a:t>the </a:t>
            </a:r>
            <a:r>
              <a:rPr lang="en-GB" altLang="en-US" sz="2400" b="1" dirty="0"/>
              <a:t>probability</a:t>
            </a:r>
            <a:r>
              <a:rPr lang="en-GB" altLang="en-US" sz="2400" dirty="0"/>
              <a:t> a woman with a </a:t>
            </a:r>
            <a:r>
              <a:rPr lang="en-GB" altLang="en-US" sz="2400" b="1" dirty="0"/>
              <a:t>positive test </a:t>
            </a:r>
            <a:r>
              <a:rPr lang="en-GB" altLang="en-US" sz="2400" dirty="0"/>
              <a:t>result </a:t>
            </a:r>
            <a:r>
              <a:rPr lang="en-GB" altLang="en-US" sz="2400" b="1" dirty="0"/>
              <a:t>actually has breast cancer</a:t>
            </a:r>
            <a:r>
              <a:rPr lang="en-GB" altLang="en-US" sz="2400" dirty="0"/>
              <a:t>?</a:t>
            </a:r>
          </a:p>
          <a:p>
            <a:pPr marL="0" indent="0">
              <a:buNone/>
            </a:pPr>
            <a:endParaRPr lang="en-GB" altLang="en-US" sz="2400" dirty="0"/>
          </a:p>
          <a:p>
            <a:pPr>
              <a:buFontTx/>
              <a:buChar char="-"/>
            </a:pPr>
            <a:r>
              <a:rPr lang="en-GB" altLang="en-US" sz="2400" dirty="0"/>
              <a:t>Solve this using:</a:t>
            </a:r>
          </a:p>
          <a:p>
            <a:pPr lvl="1">
              <a:buFontTx/>
              <a:buChar char="-"/>
            </a:pPr>
            <a:r>
              <a:rPr lang="en-GB" altLang="en-US" sz="2000" dirty="0"/>
              <a:t>Bayes rule</a:t>
            </a:r>
          </a:p>
          <a:p>
            <a:pPr lvl="1">
              <a:buFontTx/>
              <a:buChar char="-"/>
            </a:pPr>
            <a:r>
              <a:rPr lang="en-GB" altLang="en-US" sz="2000" dirty="0"/>
              <a:t>Natural frequencies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5618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en-US" sz="2400" b="1" dirty="0"/>
              <a:t>Eight out of</a:t>
            </a:r>
            <a:r>
              <a:rPr lang="en-GB" altLang="en-US" sz="2400" dirty="0"/>
              <a:t> every </a:t>
            </a:r>
            <a:r>
              <a:rPr lang="en-GB" altLang="en-US" sz="2400" b="1" dirty="0"/>
              <a:t>thousand</a:t>
            </a:r>
            <a:r>
              <a:rPr lang="en-GB" altLang="en-US" sz="2400" dirty="0"/>
              <a:t> women </a:t>
            </a:r>
            <a:r>
              <a:rPr lang="en-GB" altLang="en-US" sz="2400" b="1" dirty="0"/>
              <a:t>have</a:t>
            </a:r>
            <a:r>
              <a:rPr lang="en-GB" altLang="en-US" sz="2400" dirty="0"/>
              <a:t> </a:t>
            </a:r>
            <a:r>
              <a:rPr lang="en-GB" altLang="en-US" sz="2400" b="1" dirty="0"/>
              <a:t>breast cancer</a:t>
            </a:r>
            <a:r>
              <a:rPr lang="en-GB" altLang="en-US" sz="2400" dirty="0"/>
              <a:t> (who had no symptoms prior to the screening test)</a:t>
            </a:r>
          </a:p>
          <a:p>
            <a:pPr lvl="1"/>
            <a:r>
              <a:rPr lang="en-GB" altLang="en-US" sz="2000" b="1" dirty="0"/>
              <a:t>Of these </a:t>
            </a:r>
            <a:r>
              <a:rPr lang="en-GB" altLang="en-US" sz="2000" dirty="0"/>
              <a:t>eight women, </a:t>
            </a:r>
            <a:r>
              <a:rPr lang="en-GB" altLang="en-US" sz="2000" b="1" dirty="0"/>
              <a:t>Seven</a:t>
            </a:r>
            <a:r>
              <a:rPr lang="en-GB" altLang="en-US" sz="2000" dirty="0"/>
              <a:t> will </a:t>
            </a:r>
            <a:r>
              <a:rPr lang="en-GB" altLang="en-US" sz="2000" b="1" dirty="0"/>
              <a:t>have</a:t>
            </a:r>
            <a:r>
              <a:rPr lang="en-GB" altLang="en-US" sz="2000" dirty="0"/>
              <a:t> a </a:t>
            </a:r>
            <a:r>
              <a:rPr lang="en-GB" altLang="en-US" sz="2000" b="1" dirty="0"/>
              <a:t>positive</a:t>
            </a:r>
            <a:r>
              <a:rPr lang="en-GB" altLang="en-US" sz="2000" dirty="0"/>
              <a:t> </a:t>
            </a:r>
            <a:r>
              <a:rPr lang="en-GB" altLang="en-US" sz="2000" b="1" dirty="0"/>
              <a:t>test </a:t>
            </a:r>
            <a:r>
              <a:rPr lang="en-GB" altLang="en-US" sz="2000" dirty="0"/>
              <a:t>result. </a:t>
            </a:r>
          </a:p>
          <a:p>
            <a:pPr lvl="1"/>
            <a:r>
              <a:rPr lang="en-GB" altLang="en-US" sz="2000" b="1" dirty="0"/>
              <a:t>Of the other </a:t>
            </a:r>
            <a:r>
              <a:rPr lang="en-GB" altLang="en-US" sz="2000" dirty="0"/>
              <a:t>992 women, who do not have breast cancer, around </a:t>
            </a:r>
            <a:r>
              <a:rPr lang="en-GB" altLang="en-US" sz="2000" b="1" dirty="0"/>
              <a:t>70</a:t>
            </a:r>
            <a:r>
              <a:rPr lang="en-GB" altLang="en-US" sz="2000" dirty="0"/>
              <a:t> will </a:t>
            </a:r>
            <a:r>
              <a:rPr lang="en-GB" altLang="en-US" sz="2000" b="1" dirty="0"/>
              <a:t>have a positive test </a:t>
            </a:r>
            <a:r>
              <a:rPr lang="en-GB" altLang="en-US" sz="2000" dirty="0"/>
              <a:t>result.</a:t>
            </a:r>
            <a:r>
              <a:rPr lang="en-GB" altLang="en-US" sz="2000" dirty="0">
                <a:latin typeface="Times New Roman" charset="0"/>
              </a:rPr>
              <a:t> </a:t>
            </a:r>
          </a:p>
          <a:p>
            <a:pPr marL="0" indent="0">
              <a:buNone/>
            </a:pPr>
            <a:endParaRPr lang="en-GB" altLang="en-US" sz="2400" dirty="0"/>
          </a:p>
          <a:p>
            <a:pPr marL="0" indent="0">
              <a:buNone/>
            </a:pPr>
            <a:r>
              <a:rPr lang="en-GB" altLang="en-US" sz="2400" b="1" dirty="0"/>
              <a:t>What is </a:t>
            </a:r>
            <a:r>
              <a:rPr lang="en-GB" altLang="en-US" sz="2400" dirty="0"/>
              <a:t>the </a:t>
            </a:r>
            <a:r>
              <a:rPr lang="en-GB" altLang="en-US" sz="2400" b="1" dirty="0"/>
              <a:t>probability</a:t>
            </a:r>
            <a:r>
              <a:rPr lang="en-GB" altLang="en-US" sz="2400" dirty="0"/>
              <a:t> a woman with a </a:t>
            </a:r>
            <a:r>
              <a:rPr lang="en-GB" altLang="en-US" sz="2400" b="1" dirty="0"/>
              <a:t>positive test </a:t>
            </a:r>
            <a:r>
              <a:rPr lang="en-GB" altLang="en-US" sz="2400" dirty="0"/>
              <a:t>result </a:t>
            </a:r>
            <a:r>
              <a:rPr lang="en-GB" altLang="en-US" sz="2400" b="1" dirty="0"/>
              <a:t>actually has breast cancer</a:t>
            </a:r>
            <a:r>
              <a:rPr lang="en-GB" altLang="en-US" sz="2400" dirty="0"/>
              <a:t>?</a:t>
            </a:r>
          </a:p>
          <a:p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921620" y="3674306"/>
                <a:ext cx="3459665" cy="669094"/>
              </a:xfrm>
              <a:prstGeom prst="wedgeRectCallout">
                <a:avLst>
                  <a:gd name="adj1" fmla="val -76831"/>
                  <a:gd name="adj2" fmla="val -47394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𝐶𝑎𝑛𝑐𝑒𝑟</m:t>
                          </m:r>
                        </m:e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𝑃𝑜𝑠𝑖𝑡𝑖𝑣𝑒</m:t>
                          </m:r>
                        </m:e>
                      </m:d>
                      <m:f>
                        <m:f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𝐹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𝐹</m:t>
                          </m:r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GB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620" y="3674306"/>
                <a:ext cx="3459665" cy="669094"/>
              </a:xfrm>
              <a:prstGeom prst="wedgeRectCallout">
                <a:avLst>
                  <a:gd name="adj1" fmla="val -76831"/>
                  <a:gd name="adj2" fmla="val -47394"/>
                </a:avLst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3400" y="3200400"/>
                <a:ext cx="7924800" cy="122309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endParaRPr lang="en-GB" i="1" dirty="0">
                  <a:solidFill>
                    <a:schemeClr val="tx1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𝐶𝑎𝑛𝑐𝑒𝑟</m:t>
                          </m:r>
                        </m:e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𝑃𝑜𝑠𝑖𝑡𝑖𝑣𝑒</m:t>
                          </m:r>
                        </m:e>
                      </m:d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GB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𝑃𝑜𝑠𝑖𝑡𝑖𝑣𝑒</m:t>
                          </m:r>
                          <m:r>
                            <a:rPr lang="en-GB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𝐶𝑎𝑛𝑐𝑒𝑟</m:t>
                          </m:r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GB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GB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𝐶𝑎𝑛𝑐𝑒𝑟</m:t>
                          </m:r>
                          <m:r>
                            <a:rPr lang="en-GB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GB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𝑃𝑜𝑠𝑖𝑡𝑖𝑣𝑒</m:t>
                          </m:r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GB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200400"/>
                <a:ext cx="7924800" cy="122309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3400" y="3303498"/>
                <a:ext cx="7924800" cy="103047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𝐶𝑎𝑛𝑐𝑒𝑟</m:t>
                          </m:r>
                        </m:e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𝑃𝑜𝑠𝑖𝑡𝑖𝑣𝑒</m:t>
                          </m:r>
                        </m:e>
                      </m:d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d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d>
                            <m:dPr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1000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GB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8</m:t>
                                  </m:r>
                                </m:den>
                              </m:f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1000</m:t>
                                  </m:r>
                                </m:den>
                              </m:f>
                            </m:e>
                          </m:d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70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992</m:t>
                                  </m:r>
                                </m:den>
                              </m:f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992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1000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303498"/>
                <a:ext cx="7924800" cy="10304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3400" y="3295454"/>
                <a:ext cx="7924800" cy="103047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𝐶𝑎𝑛𝑐𝑒𝑟</m:t>
                          </m:r>
                        </m:e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𝑃𝑜𝑠𝑖𝑡𝑖𝑣𝑒</m:t>
                          </m:r>
                        </m:e>
                      </m:d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d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d>
                            <m:dPr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1000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GB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8</m:t>
                                  </m:r>
                                </m:den>
                              </m:f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1000</m:t>
                                  </m:r>
                                </m:den>
                              </m:f>
                            </m:e>
                          </m:d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70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992</m:t>
                                  </m:r>
                                </m:den>
                              </m:f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992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1000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77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11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(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𝑖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.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𝑒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. ~ 9%)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295454"/>
                <a:ext cx="7924800" cy="10304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43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86" name="Text Box 18"/>
          <p:cNvSpPr txBox="1">
            <a:spLocks noChangeArrowheads="1"/>
          </p:cNvSpPr>
          <p:nvPr/>
        </p:nvSpPr>
        <p:spPr bwMode="auto">
          <a:xfrm>
            <a:off x="1884731" y="5105400"/>
            <a:ext cx="46896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GB" altLang="en-US" sz="2000" b="1" dirty="0">
                <a:solidFill>
                  <a:schemeClr val="accent2"/>
                </a:solidFill>
              </a:rPr>
              <a:t>7 in 77</a:t>
            </a:r>
            <a:r>
              <a:rPr lang="en-GB" altLang="en-US" sz="2000" b="1" dirty="0">
                <a:solidFill>
                  <a:srgbClr val="333399"/>
                </a:solidFill>
              </a:rPr>
              <a:t> have cancer (1 in 11, or around 9%)</a:t>
            </a:r>
            <a:endParaRPr lang="en-US" altLang="en-US" sz="2000" b="1" dirty="0">
              <a:solidFill>
                <a:srgbClr val="333399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4799" y="609600"/>
            <a:ext cx="75787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000" dirty="0"/>
              <a:t>This method is referred to as </a:t>
            </a:r>
            <a:r>
              <a:rPr lang="en-GB" altLang="en-US" sz="2000" b="1" dirty="0"/>
              <a:t>using natural frequencies</a:t>
            </a:r>
            <a:r>
              <a:rPr lang="en-GB" altLang="en-US" sz="2000" dirty="0"/>
              <a:t>. </a:t>
            </a:r>
            <a:endParaRPr lang="en-GB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741487"/>
            <a:ext cx="1780176" cy="62071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1000 women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7800" y="2884487"/>
            <a:ext cx="1780176" cy="62071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 have cancer</a:t>
            </a:r>
          </a:p>
        </p:txBody>
      </p:sp>
      <p:cxnSp>
        <p:nvCxnSpPr>
          <p:cNvPr id="7" name="Elbow Connector 6"/>
          <p:cNvCxnSpPr>
            <a:stCxn id="5" idx="2"/>
            <a:endCxn id="21" idx="0"/>
          </p:cNvCxnSpPr>
          <p:nvPr/>
        </p:nvCxnSpPr>
        <p:spPr>
          <a:xfrm rot="5400000">
            <a:off x="3067345" y="1632743"/>
            <a:ext cx="522287" cy="19812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06424" y="2884487"/>
            <a:ext cx="1780176" cy="62071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992 are clear</a:t>
            </a:r>
          </a:p>
        </p:txBody>
      </p:sp>
      <p:cxnSp>
        <p:nvCxnSpPr>
          <p:cNvPr id="25" name="Elbow Connector 24"/>
          <p:cNvCxnSpPr>
            <a:stCxn id="5" idx="2"/>
            <a:endCxn id="24" idx="0"/>
          </p:cNvCxnSpPr>
          <p:nvPr/>
        </p:nvCxnSpPr>
        <p:spPr>
          <a:xfrm rot="16200000" flipH="1">
            <a:off x="4996657" y="1684631"/>
            <a:ext cx="522287" cy="18774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0611" y="4267200"/>
            <a:ext cx="1098189" cy="62071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9400" y="4267200"/>
            <a:ext cx="1098189" cy="62071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31" name="Elbow Connector 30"/>
          <p:cNvCxnSpPr>
            <a:stCxn id="21" idx="2"/>
            <a:endCxn id="29" idx="0"/>
          </p:cNvCxnSpPr>
          <p:nvPr/>
        </p:nvCxnSpPr>
        <p:spPr>
          <a:xfrm rot="5400000">
            <a:off x="1427797" y="3357109"/>
            <a:ext cx="762000" cy="105818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21" idx="2"/>
            <a:endCxn id="30" idx="0"/>
          </p:cNvCxnSpPr>
          <p:nvPr/>
        </p:nvCxnSpPr>
        <p:spPr>
          <a:xfrm rot="16200000" flipH="1">
            <a:off x="2472191" y="3370896"/>
            <a:ext cx="762000" cy="103060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24" idx="2"/>
            <a:endCxn id="38" idx="0"/>
          </p:cNvCxnSpPr>
          <p:nvPr/>
        </p:nvCxnSpPr>
        <p:spPr>
          <a:xfrm rot="5400000">
            <a:off x="5315904" y="3386592"/>
            <a:ext cx="762000" cy="99921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648200" y="4267200"/>
            <a:ext cx="1098189" cy="62071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36989" y="4267200"/>
            <a:ext cx="1098189" cy="62071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922</a:t>
            </a:r>
          </a:p>
        </p:txBody>
      </p:sp>
      <p:cxnSp>
        <p:nvCxnSpPr>
          <p:cNvPr id="42" name="Elbow Connector 41"/>
          <p:cNvCxnSpPr>
            <a:stCxn id="24" idx="2"/>
            <a:endCxn id="39" idx="0"/>
          </p:cNvCxnSpPr>
          <p:nvPr/>
        </p:nvCxnSpPr>
        <p:spPr>
          <a:xfrm rot="16200000" flipH="1">
            <a:off x="6360298" y="3341414"/>
            <a:ext cx="762000" cy="108957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8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8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283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Berenson et al. (2015)</a:t>
            </a:r>
          </a:p>
          <a:p>
            <a:pPr marL="0" indent="0">
              <a:buNone/>
            </a:pPr>
            <a:r>
              <a:rPr lang="en-GB" sz="1800" dirty="0"/>
              <a:t>Chapter 4</a:t>
            </a:r>
          </a:p>
          <a:p>
            <a:pPr marL="0" indent="0">
              <a:buNone/>
            </a:pPr>
            <a:r>
              <a:rPr lang="en-GB" sz="1800" dirty="0"/>
              <a:t>	Section 4.3 - “Bayes Theorem”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638922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D00C-D836-4A60-9B76-11CA4EEDE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preparing for the exam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506AAE-E5A6-4BBE-BD88-B9BDAA3793FC}"/>
              </a:ext>
            </a:extLst>
          </p:cNvPr>
          <p:cNvSpPr/>
          <p:nvPr/>
        </p:nvSpPr>
        <p:spPr>
          <a:xfrm>
            <a:off x="419100" y="762000"/>
            <a:ext cx="8305800" cy="50167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en-GB" sz="2000" dirty="0"/>
          </a:p>
          <a:p>
            <a:r>
              <a:rPr lang="en-GB" sz="2000" dirty="0"/>
              <a:t>Tips: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Understand the concepts covered in the lecture slides.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Practice the 100+ questions in the lecture slides and seminar worksheets </a:t>
            </a:r>
            <a:r>
              <a:rPr lang="en-GB" sz="2000" b="1" dirty="0">
                <a:solidFill>
                  <a:srgbClr val="FF0000"/>
                </a:solidFill>
              </a:rPr>
              <a:t>at least three times</a:t>
            </a:r>
            <a:r>
              <a:rPr lang="en-GB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Complete 30+ mock questions </a:t>
            </a:r>
            <a:r>
              <a:rPr lang="en-GB" sz="2000" b="1" dirty="0">
                <a:solidFill>
                  <a:srgbClr val="FF0000"/>
                </a:solidFill>
              </a:rPr>
              <a:t>within one hour</a:t>
            </a:r>
            <a:r>
              <a:rPr lang="en-GB" sz="2000" dirty="0"/>
              <a:t>.</a:t>
            </a:r>
          </a:p>
          <a:p>
            <a:endParaRPr lang="en-GB" sz="2000" dirty="0"/>
          </a:p>
          <a:p>
            <a:r>
              <a:rPr lang="en-GB" sz="2000" dirty="0"/>
              <a:t>Please book a </a:t>
            </a:r>
            <a:r>
              <a:rPr lang="en-GB" sz="2000"/>
              <a:t>meeting and </a:t>
            </a:r>
            <a:r>
              <a:rPr lang="en-GB" sz="2000" dirty="0"/>
              <a:t>talk to me!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Available in person on Wednesday and Friday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Available online on Monday, Tuesday and Thursday</a:t>
            </a:r>
          </a:p>
          <a:p>
            <a:endParaRPr lang="en-GB" sz="2000" dirty="0"/>
          </a:p>
          <a:p>
            <a:r>
              <a:rPr lang="en-GB" sz="2000" dirty="0"/>
              <a:t>Please send me an email or teams message if you have any questions. I will try to check email/message from time-to-time, and do my best to address your questions as quickly as possible.</a:t>
            </a:r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699134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Straight Arrow Connector 127"/>
          <p:cNvCxnSpPr>
            <a:stCxn id="124" idx="1"/>
            <a:endCxn id="108" idx="2"/>
          </p:cNvCxnSpPr>
          <p:nvPr/>
        </p:nvCxnSpPr>
        <p:spPr>
          <a:xfrm>
            <a:off x="533400" y="2688209"/>
            <a:ext cx="5890947" cy="3172"/>
          </a:xfrm>
          <a:prstGeom prst="straightConnector1">
            <a:avLst/>
          </a:prstGeom>
          <a:ln w="1778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124" idx="1"/>
            <a:endCxn id="108" idx="2"/>
          </p:cNvCxnSpPr>
          <p:nvPr/>
        </p:nvCxnSpPr>
        <p:spPr>
          <a:xfrm>
            <a:off x="533400" y="2688209"/>
            <a:ext cx="5890947" cy="3172"/>
          </a:xfrm>
          <a:prstGeom prst="straightConnector1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Rounded Rectangle 64"/>
          <p:cNvSpPr/>
          <p:nvPr/>
        </p:nvSpPr>
        <p:spPr>
          <a:xfrm>
            <a:off x="1066800" y="1295400"/>
            <a:ext cx="7010400" cy="4676775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Pentagon 41"/>
          <p:cNvSpPr/>
          <p:nvPr/>
        </p:nvSpPr>
        <p:spPr>
          <a:xfrm>
            <a:off x="533400" y="2557018"/>
            <a:ext cx="122819" cy="26238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/>
          </a:p>
        </p:txBody>
      </p:sp>
      <p:cxnSp>
        <p:nvCxnSpPr>
          <p:cNvPr id="135" name="Elbow Connector 73"/>
          <p:cNvCxnSpPr>
            <a:stCxn id="122" idx="0"/>
            <a:endCxn id="110" idx="6"/>
          </p:cNvCxnSpPr>
          <p:nvPr/>
        </p:nvCxnSpPr>
        <p:spPr>
          <a:xfrm rot="16200000" flipV="1">
            <a:off x="4670377" y="2285111"/>
            <a:ext cx="716160" cy="5438768"/>
          </a:xfrm>
          <a:prstGeom prst="bentConnector2">
            <a:avLst/>
          </a:prstGeom>
          <a:ln w="177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2651263" y="2025045"/>
            <a:ext cx="1001621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Probability</a:t>
            </a:r>
            <a:endParaRPr lang="en-GB" sz="1400" dirty="0"/>
          </a:p>
        </p:txBody>
      </p:sp>
      <p:sp>
        <p:nvSpPr>
          <p:cNvPr id="103" name="Rectangle 102"/>
          <p:cNvSpPr/>
          <p:nvPr/>
        </p:nvSpPr>
        <p:spPr>
          <a:xfrm>
            <a:off x="1474886" y="1799422"/>
            <a:ext cx="1020664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Descriptive</a:t>
            </a:r>
          </a:p>
          <a:p>
            <a:pPr algn="ctr"/>
            <a:r>
              <a:rPr lang="en-GB" sz="1400" b="1" dirty="0"/>
              <a:t>Statistics</a:t>
            </a:r>
            <a:endParaRPr lang="en-GB" sz="1400" dirty="0"/>
          </a:p>
        </p:txBody>
      </p:sp>
      <p:sp>
        <p:nvSpPr>
          <p:cNvPr id="105" name="Rectangle 104"/>
          <p:cNvSpPr/>
          <p:nvPr/>
        </p:nvSpPr>
        <p:spPr>
          <a:xfrm>
            <a:off x="3808597" y="1799422"/>
            <a:ext cx="1149289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Probability</a:t>
            </a:r>
          </a:p>
          <a:p>
            <a:pPr algn="ctr"/>
            <a:r>
              <a:rPr lang="en-GB" sz="1400" b="1" dirty="0"/>
              <a:t>Distributions</a:t>
            </a:r>
            <a:endParaRPr lang="en-GB" sz="1400" dirty="0"/>
          </a:p>
        </p:txBody>
      </p:sp>
      <p:sp>
        <p:nvSpPr>
          <p:cNvPr id="107" name="Rectangle 106"/>
          <p:cNvSpPr/>
          <p:nvPr/>
        </p:nvSpPr>
        <p:spPr>
          <a:xfrm>
            <a:off x="6275649" y="1799422"/>
            <a:ext cx="1013418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Hypothesis</a:t>
            </a:r>
          </a:p>
          <a:p>
            <a:pPr algn="ctr"/>
            <a:r>
              <a:rPr lang="en-GB" sz="1400" b="1" dirty="0"/>
              <a:t>Testing 1</a:t>
            </a:r>
            <a:endParaRPr lang="en-GB" sz="1400" dirty="0"/>
          </a:p>
        </p:txBody>
      </p:sp>
      <p:sp>
        <p:nvSpPr>
          <p:cNvPr id="109" name="Rectangle 108"/>
          <p:cNvSpPr/>
          <p:nvPr/>
        </p:nvSpPr>
        <p:spPr>
          <a:xfrm>
            <a:off x="2594245" y="5039380"/>
            <a:ext cx="1113318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Testing</a:t>
            </a:r>
          </a:p>
          <a:p>
            <a:pPr algn="ctr"/>
            <a:r>
              <a:rPr lang="en-GB" sz="1400" b="1" dirty="0"/>
              <a:t>Relationship</a:t>
            </a:r>
            <a:endParaRPr lang="en-GB" sz="1400" dirty="0"/>
          </a:p>
        </p:txBody>
      </p:sp>
      <p:sp>
        <p:nvSpPr>
          <p:cNvPr id="111" name="Rectangle 110"/>
          <p:cNvSpPr/>
          <p:nvPr/>
        </p:nvSpPr>
        <p:spPr>
          <a:xfrm>
            <a:off x="3886201" y="5054798"/>
            <a:ext cx="991169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Regression</a:t>
            </a:r>
            <a:endParaRPr lang="en-GB" sz="1400" dirty="0"/>
          </a:p>
        </p:txBody>
      </p:sp>
      <p:sp>
        <p:nvSpPr>
          <p:cNvPr id="113" name="Rectangle 112"/>
          <p:cNvSpPr/>
          <p:nvPr/>
        </p:nvSpPr>
        <p:spPr>
          <a:xfrm>
            <a:off x="6334125" y="5085080"/>
            <a:ext cx="904875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Factor</a:t>
            </a:r>
          </a:p>
          <a:p>
            <a:pPr algn="ctr"/>
            <a:r>
              <a:rPr lang="en-GB" sz="1400" b="1" dirty="0"/>
              <a:t>Analysis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225248" y="1981200"/>
            <a:ext cx="870752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Sampling</a:t>
            </a:r>
          </a:p>
        </p:txBody>
      </p:sp>
      <p:sp>
        <p:nvSpPr>
          <p:cNvPr id="122" name="Oval 121"/>
          <p:cNvSpPr/>
          <p:nvPr/>
        </p:nvSpPr>
        <p:spPr>
          <a:xfrm>
            <a:off x="7385891" y="5362575"/>
            <a:ext cx="723900" cy="69532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11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42281" y="6106180"/>
            <a:ext cx="811119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Revision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134855" y="5090072"/>
            <a:ext cx="1045478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Conditional</a:t>
            </a:r>
          </a:p>
          <a:p>
            <a:pPr algn="ctr"/>
            <a:r>
              <a:rPr lang="en-GB" sz="1400" b="1" dirty="0"/>
              <a:t>Probability</a:t>
            </a:r>
            <a:endParaRPr lang="en-GB" sz="1400" dirty="0"/>
          </a:p>
        </p:txBody>
      </p:sp>
      <p:cxnSp>
        <p:nvCxnSpPr>
          <p:cNvPr id="127" name="Elbow Connector 46"/>
          <p:cNvCxnSpPr>
            <a:stCxn id="110" idx="2"/>
            <a:endCxn id="108" idx="6"/>
          </p:cNvCxnSpPr>
          <p:nvPr/>
        </p:nvCxnSpPr>
        <p:spPr>
          <a:xfrm rot="10800000" flipH="1">
            <a:off x="1585173" y="2691381"/>
            <a:ext cx="5563074" cy="1955034"/>
          </a:xfrm>
          <a:prstGeom prst="bentConnector5">
            <a:avLst>
              <a:gd name="adj1" fmla="val -4109"/>
              <a:gd name="adj2" fmla="val 50000"/>
              <a:gd name="adj3" fmla="val 104109"/>
            </a:avLst>
          </a:prstGeom>
          <a:ln w="177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69277"/>
          </a:xfrm>
        </p:spPr>
        <p:txBody>
          <a:bodyPr/>
          <a:lstStyle/>
          <a:p>
            <a:r>
              <a:rPr lang="en-GB" dirty="0"/>
              <a:t>Module Overview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447800" y="5029200"/>
            <a:ext cx="1013419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Hypothesis</a:t>
            </a:r>
          </a:p>
          <a:p>
            <a:pPr algn="ctr"/>
            <a:r>
              <a:rPr lang="en-GB" sz="1400" b="1" dirty="0"/>
              <a:t>Testing 2</a:t>
            </a:r>
          </a:p>
        </p:txBody>
      </p:sp>
      <p:cxnSp>
        <p:nvCxnSpPr>
          <p:cNvPr id="142" name="Elbow Connector 73"/>
          <p:cNvCxnSpPr>
            <a:stCxn id="122" idx="0"/>
            <a:endCxn id="110" idx="6"/>
          </p:cNvCxnSpPr>
          <p:nvPr/>
        </p:nvCxnSpPr>
        <p:spPr>
          <a:xfrm rot="16200000" flipV="1">
            <a:off x="4670377" y="2285111"/>
            <a:ext cx="716160" cy="5438768"/>
          </a:xfrm>
          <a:prstGeom prst="bentConnector2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4" name="Elbow Connector 46"/>
          <p:cNvCxnSpPr>
            <a:stCxn id="110" idx="2"/>
            <a:endCxn id="108" idx="6"/>
          </p:cNvCxnSpPr>
          <p:nvPr/>
        </p:nvCxnSpPr>
        <p:spPr>
          <a:xfrm rot="10800000" flipH="1">
            <a:off x="1585173" y="2691381"/>
            <a:ext cx="5563074" cy="1955034"/>
          </a:xfrm>
          <a:prstGeom prst="bentConnector5">
            <a:avLst>
              <a:gd name="adj1" fmla="val -4109"/>
              <a:gd name="adj2" fmla="val 50000"/>
              <a:gd name="adj3" fmla="val 104109"/>
            </a:avLst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585173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6</a:t>
            </a:r>
          </a:p>
        </p:txBody>
      </p:sp>
      <p:sp>
        <p:nvSpPr>
          <p:cNvPr id="112" name="Oval 111"/>
          <p:cNvSpPr/>
          <p:nvPr/>
        </p:nvSpPr>
        <p:spPr>
          <a:xfrm>
            <a:off x="2767095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7</a:t>
            </a:r>
          </a:p>
        </p:txBody>
      </p:sp>
      <p:sp>
        <p:nvSpPr>
          <p:cNvPr id="114" name="Oval 113"/>
          <p:cNvSpPr/>
          <p:nvPr/>
        </p:nvSpPr>
        <p:spPr>
          <a:xfrm>
            <a:off x="4006152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8</a:t>
            </a:r>
          </a:p>
        </p:txBody>
      </p:sp>
      <p:sp>
        <p:nvSpPr>
          <p:cNvPr id="116" name="Oval 115"/>
          <p:cNvSpPr/>
          <p:nvPr/>
        </p:nvSpPr>
        <p:spPr>
          <a:xfrm>
            <a:off x="6424348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10</a:t>
            </a:r>
          </a:p>
        </p:txBody>
      </p:sp>
      <p:sp>
        <p:nvSpPr>
          <p:cNvPr id="125" name="Oval 124"/>
          <p:cNvSpPr/>
          <p:nvPr/>
        </p:nvSpPr>
        <p:spPr>
          <a:xfrm>
            <a:off x="5304166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2790125" y="2345979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2</a:t>
            </a:r>
          </a:p>
        </p:txBody>
      </p:sp>
      <p:sp>
        <p:nvSpPr>
          <p:cNvPr id="104" name="Oval 103"/>
          <p:cNvSpPr/>
          <p:nvPr/>
        </p:nvSpPr>
        <p:spPr>
          <a:xfrm>
            <a:off x="4019643" y="2345979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5255214" y="2343718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4</a:t>
            </a:r>
          </a:p>
        </p:txBody>
      </p:sp>
      <p:sp>
        <p:nvSpPr>
          <p:cNvPr id="108" name="Oval 107"/>
          <p:cNvSpPr/>
          <p:nvPr/>
        </p:nvSpPr>
        <p:spPr>
          <a:xfrm>
            <a:off x="6424347" y="2343718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5</a:t>
            </a:r>
          </a:p>
        </p:txBody>
      </p:sp>
      <p:sp>
        <p:nvSpPr>
          <p:cNvPr id="138" name="Oval 137"/>
          <p:cNvSpPr/>
          <p:nvPr/>
        </p:nvSpPr>
        <p:spPr>
          <a:xfrm>
            <a:off x="1600200" y="2352675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1</a:t>
            </a:r>
          </a:p>
        </p:txBody>
      </p:sp>
      <p:cxnSp>
        <p:nvCxnSpPr>
          <p:cNvPr id="181" name="Straight Arrow Connector 180"/>
          <p:cNvCxnSpPr>
            <a:stCxn id="180" idx="3"/>
            <a:endCxn id="122" idx="6"/>
          </p:cNvCxnSpPr>
          <p:nvPr/>
        </p:nvCxnSpPr>
        <p:spPr>
          <a:xfrm flipH="1">
            <a:off x="8109791" y="5709209"/>
            <a:ext cx="779641" cy="1029"/>
          </a:xfrm>
          <a:prstGeom prst="straightConnector1">
            <a:avLst/>
          </a:prstGeom>
          <a:ln w="1778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>
            <a:stCxn id="180" idx="3"/>
            <a:endCxn id="122" idx="6"/>
          </p:cNvCxnSpPr>
          <p:nvPr/>
        </p:nvCxnSpPr>
        <p:spPr>
          <a:xfrm flipH="1">
            <a:off x="8109791" y="5709209"/>
            <a:ext cx="779641" cy="1029"/>
          </a:xfrm>
          <a:prstGeom prst="straightConnector1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0" name="Pentagon 41"/>
          <p:cNvSpPr/>
          <p:nvPr/>
        </p:nvSpPr>
        <p:spPr>
          <a:xfrm>
            <a:off x="8766613" y="5578018"/>
            <a:ext cx="122819" cy="26238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33401435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LUBS5586M Week-09 Conditional Probabili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2119</Words>
  <Application>Microsoft Macintosh PowerPoint</Application>
  <PresentationFormat>On-screen Show (4:3)</PresentationFormat>
  <Paragraphs>420</Paragraphs>
  <Slides>31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 Math</vt:lpstr>
      <vt:lpstr>Times New Roman</vt:lpstr>
      <vt:lpstr>Office Theme</vt:lpstr>
      <vt:lpstr>Module Overview</vt:lpstr>
      <vt:lpstr>Examination Update</vt:lpstr>
      <vt:lpstr>Recall Week 2: The probability scale</vt:lpstr>
      <vt:lpstr>Recall Week 2: Combining Events</vt:lpstr>
      <vt:lpstr>Recall Week 2</vt:lpstr>
      <vt:lpstr>Combining Events</vt:lpstr>
      <vt:lpstr>Combining Events</vt:lpstr>
      <vt:lpstr>Conditional Probabilities</vt:lpstr>
      <vt:lpstr>Example</vt:lpstr>
      <vt:lpstr>Bayes Theorem</vt:lpstr>
      <vt:lpstr>Question 1</vt:lpstr>
      <vt:lpstr>Question 1</vt:lpstr>
      <vt:lpstr>Law of total probability</vt:lpstr>
      <vt:lpstr>Probability Exercise 2</vt:lpstr>
      <vt:lpstr>Exercise 2</vt:lpstr>
      <vt:lpstr>Probability Exercise 3</vt:lpstr>
      <vt:lpstr>Exercise 3</vt:lpstr>
      <vt:lpstr>PowerPoint Presentation</vt:lpstr>
      <vt:lpstr>Probability Exercise 4</vt:lpstr>
      <vt:lpstr>Exercise 4</vt:lpstr>
      <vt:lpstr>Exercise 4</vt:lpstr>
      <vt:lpstr>Probability Exercise 5</vt:lpstr>
      <vt:lpstr>Probability Exercise 5</vt:lpstr>
      <vt:lpstr>Natural frequencies method</vt:lpstr>
      <vt:lpstr>Natural frequencies method</vt:lpstr>
      <vt:lpstr>Probability exercise 6</vt:lpstr>
      <vt:lpstr>Exercise 6</vt:lpstr>
      <vt:lpstr>Exercise 6</vt:lpstr>
      <vt:lpstr>Reading…</vt:lpstr>
      <vt:lpstr>When preparing for the exam</vt:lpstr>
      <vt:lpstr>Module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LUBS5586M Week-09 Conditional Probability</dc:title>
  <dc:creator>Sajid Siraj</dc:creator>
  <cp:lastModifiedBy>Peizhi Shi</cp:lastModifiedBy>
  <cp:revision>207</cp:revision>
  <dcterms:created xsi:type="dcterms:W3CDTF">2006-08-16T00:00:00Z</dcterms:created>
  <dcterms:modified xsi:type="dcterms:W3CDTF">2025-11-24T18:11:36Z</dcterms:modified>
</cp:coreProperties>
</file>