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20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rts/chart12.xml" ContentType="application/vnd.openxmlformats-officedocument.drawingml.chart+xml"/>
  <Override PartName="/ppt/notesSlides/notesSlide26.xml" ContentType="application/vnd.openxmlformats-officedocument.presentationml.notesSlide+xml"/>
  <Override PartName="/ppt/charts/chart13.xml" ContentType="application/vnd.openxmlformats-officedocument.drawingml.chart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rts/chart14.xml" ContentType="application/vnd.openxmlformats-officedocument.drawingml.chart+xml"/>
  <Override PartName="/ppt/notesSlides/notesSlide29.xml" ContentType="application/vnd.openxmlformats-officedocument.presentationml.notesSlide+xml"/>
  <Override PartName="/ppt/charts/chart15.xml" ContentType="application/vnd.openxmlformats-officedocument.drawingml.chart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380" r:id="rId2"/>
    <p:sldId id="382" r:id="rId3"/>
    <p:sldId id="383" r:id="rId4"/>
    <p:sldId id="384" r:id="rId5"/>
    <p:sldId id="385" r:id="rId6"/>
    <p:sldId id="386" r:id="rId7"/>
    <p:sldId id="405" r:id="rId8"/>
    <p:sldId id="388" r:id="rId9"/>
    <p:sldId id="387" r:id="rId10"/>
    <p:sldId id="389" r:id="rId11"/>
    <p:sldId id="390" r:id="rId12"/>
    <p:sldId id="391" r:id="rId13"/>
    <p:sldId id="392" r:id="rId14"/>
    <p:sldId id="393" r:id="rId15"/>
    <p:sldId id="394" r:id="rId16"/>
    <p:sldId id="395" r:id="rId17"/>
    <p:sldId id="396" r:id="rId18"/>
    <p:sldId id="397" r:id="rId19"/>
    <p:sldId id="404" r:id="rId20"/>
    <p:sldId id="398" r:id="rId21"/>
    <p:sldId id="338" r:id="rId22"/>
    <p:sldId id="339" r:id="rId23"/>
    <p:sldId id="315" r:id="rId24"/>
    <p:sldId id="406" r:id="rId25"/>
    <p:sldId id="408" r:id="rId26"/>
    <p:sldId id="409" r:id="rId27"/>
    <p:sldId id="341" r:id="rId28"/>
    <p:sldId id="323" r:id="rId29"/>
    <p:sldId id="342" r:id="rId30"/>
    <p:sldId id="343" r:id="rId31"/>
    <p:sldId id="369" r:id="rId32"/>
    <p:sldId id="345" r:id="rId33"/>
    <p:sldId id="346" r:id="rId34"/>
    <p:sldId id="330" r:id="rId35"/>
    <p:sldId id="332" r:id="rId36"/>
    <p:sldId id="334" r:id="rId37"/>
    <p:sldId id="336" r:id="rId38"/>
    <p:sldId id="410" r:id="rId39"/>
    <p:sldId id="411" r:id="rId40"/>
    <p:sldId id="368" r:id="rId41"/>
    <p:sldId id="381" r:id="rId42"/>
  </p:sldIdLst>
  <p:sldSz cx="9144000" cy="6858000" type="screen4x3"/>
  <p:notesSz cx="6858000" cy="9144000"/>
  <p:custDataLst>
    <p:tags r:id="rId4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FFFFFF"/>
    <a:srgbClr val="000000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216" autoAdjust="0"/>
    <p:restoredTop sz="89976" autoAdjust="0"/>
  </p:normalViewPr>
  <p:slideViewPr>
    <p:cSldViewPr>
      <p:cViewPr varScale="1">
        <p:scale>
          <a:sx n="82" d="100"/>
          <a:sy n="82" d="100"/>
        </p:scale>
        <p:origin x="2142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D:\home\sajidsiraj\Dropbox\Teaching\LUBS5586\Data%20For%20Analysis\hours-spent-in-library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D:\home\sajidsiraj\Dropbox\Teaching\LUBS5586\Data%20For%20Analysis\hours-spent-in-library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D:\home\sajidsiraj\Dropbox\Teaching\LUBS5586\Data%20For%20Analysis\hours-spent-in-library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D:\home\sajidsiraj\Dropbox\Teaching\LUBS5586\Data%20For%20Analysis\hours-spent-in-library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D:\home\sajidsiraj\Dropbox\Teaching\LUBS5586\Data%20For%20Analysis\hours-spent-in-library.xlsx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D:\home\sajidsiraj\Dropbox\Teaching\LUBS5586\Data%20For%20Analysis\hours-spent-in-library.xlsx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D:\home\sajidsiraj\Dropbox\Teaching\LUBS5586\Data%20For%20Analysis\hours-spent-in-library.xlsx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file:///D:\home\sajidsiraj\Dropbox\Teaching\LUBS5586\Data%20For%20Analysis\hours-spent-in-library.xlsx" TargetMode="Externa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oleObject" Target="file:///D:\home\sajidsiraj\Dropbox\Teaching\LUBS5586\Data%20For%20Analysis\hours-spent-in-library.xlsx" TargetMode="External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oleObject" Target="file:///D:\home\sajidsiraj\Dropbox\Teaching\LUBS5586\Data%20For%20Analysis\hours-spent-in-library.xlsx" TargetMode="External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oleObject" Target="file:///D:\home\sajidsiraj\Dropbox\Teaching\LUBS5586\Data%20For%20Analysis\hours-spent-in-library.xlsx" TargetMode="External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oleObject" Target="file:///D:\home\sajidsiraj\Dropbox\Teaching\LUBS5586\Data%20For%20Analysis\hours-spent-in-library.xlsx" TargetMode="External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oleObject" Target="file:///D:\home\sajidsiraj\Dropbox\Teaching\LUBS5586\Data%20For%20Analysis\hours-spent-in-library.xlsx" TargetMode="External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1980269707665851E-2"/>
          <c:y val="5.2380952380952382E-2"/>
          <c:w val="0.88112317856819622"/>
          <c:h val="0.7303415823022122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Num of Card Swipes</c:v>
                </c:pt>
              </c:strCache>
            </c:strRef>
          </c:tx>
          <c:spPr>
            <a:ln w="28575">
              <a:noFill/>
            </a:ln>
          </c:spPr>
          <c:xVal>
            <c:numRef>
              <c:f>Sheet1!$A$2:$A$11</c:f>
              <c:numCache>
                <c:formatCode>General</c:formatCode>
                <c:ptCount val="10"/>
                <c:pt idx="0">
                  <c:v>0</c:v>
                </c:pt>
                <c:pt idx="1">
                  <c:v>20</c:v>
                </c:pt>
                <c:pt idx="2">
                  <c:v>50</c:v>
                </c:pt>
                <c:pt idx="3">
                  <c:v>80</c:v>
                </c:pt>
                <c:pt idx="4">
                  <c:v>140</c:v>
                </c:pt>
                <c:pt idx="5">
                  <c:v>200</c:v>
                </c:pt>
                <c:pt idx="6">
                  <c:v>250</c:v>
                </c:pt>
                <c:pt idx="7">
                  <c:v>280</c:v>
                </c:pt>
                <c:pt idx="8">
                  <c:v>350</c:v>
                </c:pt>
                <c:pt idx="9">
                  <c:v>400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11</c:v>
                </c:pt>
                <c:pt idx="2">
                  <c:v>24</c:v>
                </c:pt>
                <c:pt idx="3">
                  <c:v>45</c:v>
                </c:pt>
                <c:pt idx="4">
                  <c:v>75</c:v>
                </c:pt>
                <c:pt idx="5">
                  <c:v>110</c:v>
                </c:pt>
                <c:pt idx="6">
                  <c:v>130</c:v>
                </c:pt>
                <c:pt idx="7">
                  <c:v>145</c:v>
                </c:pt>
                <c:pt idx="8">
                  <c:v>180</c:v>
                </c:pt>
                <c:pt idx="9">
                  <c:v>210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FFD-47D2-92D8-458DF8AF0F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54870096"/>
        <c:axId val="454870488"/>
      </c:scatterChart>
      <c:valAx>
        <c:axId val="45487009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  <a:r>
                  <a:rPr lang="en-GB" sz="1100" dirty="0"/>
                  <a:t>Number of hours spent in library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454870488"/>
        <c:crosses val="autoZero"/>
        <c:crossBetween val="midCat"/>
      </c:valAx>
      <c:valAx>
        <c:axId val="454870488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crossAx val="454870096"/>
        <c:crosses val="autoZero"/>
        <c:crossBetween val="midCat"/>
      </c:valAx>
    </c:plotArea>
    <c:legend>
      <c:legendPos val="r"/>
      <c:layout>
        <c:manualLayout>
          <c:xMode val="edge"/>
          <c:yMode val="edge"/>
          <c:x val="0.10521020001810116"/>
          <c:y val="8.2582302212223471E-2"/>
          <c:w val="0.25734727124626661"/>
          <c:h val="8.0357705286839137E-2"/>
        </c:manualLayout>
      </c:layout>
      <c:overlay val="0"/>
      <c:spPr>
        <a:solidFill>
          <a:schemeClr val="bg1">
            <a:lumMod val="95000"/>
          </a:schemeClr>
        </a:solidFill>
      </c:spPr>
    </c:legend>
    <c:plotVisOnly val="1"/>
    <c:dispBlanksAs val="gap"/>
    <c:showDLblsOverMax val="0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1980269707665851E-2"/>
          <c:y val="5.2380952380952382E-2"/>
          <c:w val="0.88112317856819622"/>
          <c:h val="0.73034158230221224"/>
        </c:manualLayout>
      </c:layout>
      <c:scatterChart>
        <c:scatterStyle val="lineMarker"/>
        <c:varyColors val="0"/>
        <c:ser>
          <c:idx val="1"/>
          <c:order val="0"/>
          <c:tx>
            <c:strRef>
              <c:f>Sheet1!$C$1</c:f>
              <c:strCache>
                <c:ptCount val="1"/>
                <c:pt idx="0">
                  <c:v>Num of Drinks Purchased</c:v>
                </c:pt>
              </c:strCache>
            </c:strRef>
          </c:tx>
          <c:spPr>
            <a:ln w="28575">
              <a:noFill/>
            </a:ln>
          </c:spPr>
          <c:xVal>
            <c:numRef>
              <c:f>Sheet1!$A$2:$A$11</c:f>
              <c:numCache>
                <c:formatCode>General</c:formatCode>
                <c:ptCount val="10"/>
                <c:pt idx="0">
                  <c:v>0</c:v>
                </c:pt>
                <c:pt idx="1">
                  <c:v>20</c:v>
                </c:pt>
                <c:pt idx="2">
                  <c:v>50</c:v>
                </c:pt>
                <c:pt idx="3">
                  <c:v>80</c:v>
                </c:pt>
                <c:pt idx="4">
                  <c:v>140</c:v>
                </c:pt>
                <c:pt idx="5">
                  <c:v>200</c:v>
                </c:pt>
                <c:pt idx="6">
                  <c:v>250</c:v>
                </c:pt>
                <c:pt idx="7">
                  <c:v>280</c:v>
                </c:pt>
                <c:pt idx="8">
                  <c:v>350</c:v>
                </c:pt>
                <c:pt idx="9">
                  <c:v>400</c:v>
                </c:pt>
              </c:numCache>
            </c:numRef>
          </c:xVal>
          <c:yVal>
            <c:numRef>
              <c:f>Sheet1!$C$2:$C$11</c:f>
              <c:numCache>
                <c:formatCode>General</c:formatCode>
                <c:ptCount val="10"/>
                <c:pt idx="0">
                  <c:v>0</c:v>
                </c:pt>
                <c:pt idx="1">
                  <c:v>12</c:v>
                </c:pt>
                <c:pt idx="2">
                  <c:v>20</c:v>
                </c:pt>
                <c:pt idx="3">
                  <c:v>35</c:v>
                </c:pt>
                <c:pt idx="4">
                  <c:v>25</c:v>
                </c:pt>
                <c:pt idx="5">
                  <c:v>40</c:v>
                </c:pt>
                <c:pt idx="6">
                  <c:v>60</c:v>
                </c:pt>
                <c:pt idx="7">
                  <c:v>50</c:v>
                </c:pt>
                <c:pt idx="8">
                  <c:v>65</c:v>
                </c:pt>
                <c:pt idx="9">
                  <c:v>80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B79-492D-8FD7-CCF84AA727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54890872"/>
        <c:axId val="454891264"/>
      </c:scatterChart>
      <c:valAx>
        <c:axId val="45489087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  <a:r>
                  <a:rPr lang="en-GB" sz="1100" dirty="0"/>
                  <a:t>Number of hours spent in library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454891264"/>
        <c:crosses val="autoZero"/>
        <c:crossBetween val="midCat"/>
      </c:valAx>
      <c:valAx>
        <c:axId val="454891264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crossAx val="454890872"/>
        <c:crosses val="autoZero"/>
        <c:crossBetween val="midCat"/>
      </c:valAx>
    </c:plotArea>
    <c:legend>
      <c:legendPos val="r"/>
      <c:layout>
        <c:manualLayout>
          <c:xMode val="edge"/>
          <c:yMode val="edge"/>
          <c:x val="0.11957801611005518"/>
          <c:y val="8.2582302212223471E-2"/>
          <c:w val="0.31145646664856547"/>
          <c:h val="0.11190701162354703"/>
        </c:manualLayout>
      </c:layout>
      <c:overlay val="0"/>
      <c:spPr>
        <a:solidFill>
          <a:schemeClr val="bg1">
            <a:lumMod val="95000"/>
          </a:schemeClr>
        </a:solidFill>
      </c:spPr>
    </c:legend>
    <c:plotVisOnly val="1"/>
    <c:dispBlanksAs val="gap"/>
    <c:showDLblsOverMax val="0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1980269707665851E-2"/>
          <c:y val="5.2380952380952382E-2"/>
          <c:w val="0.88112317856819622"/>
          <c:h val="0.73034158230221224"/>
        </c:manualLayout>
      </c:layout>
      <c:scatterChart>
        <c:scatterStyle val="lineMarker"/>
        <c:varyColors val="0"/>
        <c:ser>
          <c:idx val="2"/>
          <c:order val="0"/>
          <c:tx>
            <c:strRef>
              <c:f>Sheet1!$D$1</c:f>
              <c:strCache>
                <c:ptCount val="1"/>
                <c:pt idx="0">
                  <c:v>TV Watching Hours </c:v>
                </c:pt>
              </c:strCache>
            </c:strRef>
          </c:tx>
          <c:spPr>
            <a:ln w="28575">
              <a:noFill/>
            </a:ln>
          </c:spPr>
          <c:xVal>
            <c:numRef>
              <c:f>Sheet1!$A$2:$A$11</c:f>
              <c:numCache>
                <c:formatCode>General</c:formatCode>
                <c:ptCount val="10"/>
                <c:pt idx="0">
                  <c:v>0</c:v>
                </c:pt>
                <c:pt idx="1">
                  <c:v>20</c:v>
                </c:pt>
                <c:pt idx="2">
                  <c:v>50</c:v>
                </c:pt>
                <c:pt idx="3">
                  <c:v>80</c:v>
                </c:pt>
                <c:pt idx="4">
                  <c:v>140</c:v>
                </c:pt>
                <c:pt idx="5">
                  <c:v>200</c:v>
                </c:pt>
                <c:pt idx="6">
                  <c:v>250</c:v>
                </c:pt>
                <c:pt idx="7">
                  <c:v>280</c:v>
                </c:pt>
                <c:pt idx="8">
                  <c:v>350</c:v>
                </c:pt>
                <c:pt idx="9">
                  <c:v>400</c:v>
                </c:pt>
              </c:numCache>
            </c:numRef>
          </c:xVal>
          <c:yVal>
            <c:numRef>
              <c:f>Sheet1!$D$2:$D$11</c:f>
              <c:numCache>
                <c:formatCode>General</c:formatCode>
                <c:ptCount val="10"/>
                <c:pt idx="0">
                  <c:v>330</c:v>
                </c:pt>
                <c:pt idx="1">
                  <c:v>360</c:v>
                </c:pt>
                <c:pt idx="2">
                  <c:v>300</c:v>
                </c:pt>
                <c:pt idx="3">
                  <c:v>310</c:v>
                </c:pt>
                <c:pt idx="4">
                  <c:v>240</c:v>
                </c:pt>
                <c:pt idx="5">
                  <c:v>275</c:v>
                </c:pt>
                <c:pt idx="6">
                  <c:v>180</c:v>
                </c:pt>
                <c:pt idx="7">
                  <c:v>220</c:v>
                </c:pt>
                <c:pt idx="8">
                  <c:v>170</c:v>
                </c:pt>
                <c:pt idx="9">
                  <c:v>150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AD5-4647-A587-96342E08CD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54892048"/>
        <c:axId val="454887344"/>
      </c:scatterChart>
      <c:valAx>
        <c:axId val="454892048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  <a:r>
                  <a:rPr lang="en-GB" sz="1100" dirty="0"/>
                  <a:t>Number of hours spent in library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454887344"/>
        <c:crosses val="autoZero"/>
        <c:crossBetween val="midCat"/>
      </c:valAx>
      <c:valAx>
        <c:axId val="454887344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crossAx val="454892048"/>
        <c:crosses val="autoZero"/>
        <c:crossBetween val="midCat"/>
      </c:valAx>
    </c:plotArea>
    <c:legend>
      <c:legendPos val="r"/>
      <c:layout>
        <c:manualLayout>
          <c:xMode val="edge"/>
          <c:yMode val="edge"/>
          <c:x val="0.6368193954204"/>
          <c:y val="8.2582302212223471E-2"/>
          <c:w val="0.31145646664856547"/>
          <c:h val="8.3335583052118481E-2"/>
        </c:manualLayout>
      </c:layout>
      <c:overlay val="0"/>
      <c:spPr>
        <a:solidFill>
          <a:schemeClr val="bg1">
            <a:lumMod val="95000"/>
          </a:schemeClr>
        </a:solidFill>
      </c:spPr>
    </c:legend>
    <c:plotVisOnly val="1"/>
    <c:dispBlanksAs val="gap"/>
    <c:showDLblsOverMax val="0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1980269707665851E-2"/>
          <c:y val="5.2380952380952382E-2"/>
          <c:w val="0.88112317856819622"/>
          <c:h val="0.73034158230221224"/>
        </c:manualLayout>
      </c:layout>
      <c:scatterChart>
        <c:scatterStyle val="lineMarker"/>
        <c:varyColors val="0"/>
        <c:ser>
          <c:idx val="3"/>
          <c:order val="0"/>
          <c:tx>
            <c:strRef>
              <c:f>Sheet1!$E$1</c:f>
              <c:strCache>
                <c:ptCount val="1"/>
                <c:pt idx="0">
                  <c:v>Exam Performance</c:v>
                </c:pt>
              </c:strCache>
            </c:strRef>
          </c:tx>
          <c:spPr>
            <a:ln w="28575">
              <a:noFill/>
            </a:ln>
          </c:spPr>
          <c:xVal>
            <c:numRef>
              <c:f>Sheet1!$A$2:$A$11</c:f>
              <c:numCache>
                <c:formatCode>General</c:formatCode>
                <c:ptCount val="10"/>
                <c:pt idx="0">
                  <c:v>0</c:v>
                </c:pt>
                <c:pt idx="1">
                  <c:v>20</c:v>
                </c:pt>
                <c:pt idx="2">
                  <c:v>50</c:v>
                </c:pt>
                <c:pt idx="3">
                  <c:v>80</c:v>
                </c:pt>
                <c:pt idx="4">
                  <c:v>140</c:v>
                </c:pt>
                <c:pt idx="5">
                  <c:v>200</c:v>
                </c:pt>
                <c:pt idx="6">
                  <c:v>250</c:v>
                </c:pt>
                <c:pt idx="7">
                  <c:v>280</c:v>
                </c:pt>
                <c:pt idx="8">
                  <c:v>350</c:v>
                </c:pt>
                <c:pt idx="9">
                  <c:v>400</c:v>
                </c:pt>
              </c:numCache>
            </c:numRef>
          </c:xVal>
          <c:yVal>
            <c:numRef>
              <c:f>Sheet1!$E$2:$E$11</c:f>
              <c:numCache>
                <c:formatCode>0</c:formatCode>
                <c:ptCount val="10"/>
                <c:pt idx="0">
                  <c:v>85</c:v>
                </c:pt>
                <c:pt idx="1">
                  <c:v>56.000000000000007</c:v>
                </c:pt>
                <c:pt idx="2">
                  <c:v>75</c:v>
                </c:pt>
                <c:pt idx="3">
                  <c:v>66</c:v>
                </c:pt>
                <c:pt idx="4">
                  <c:v>80</c:v>
                </c:pt>
                <c:pt idx="5">
                  <c:v>73</c:v>
                </c:pt>
                <c:pt idx="6">
                  <c:v>75</c:v>
                </c:pt>
                <c:pt idx="7">
                  <c:v>89</c:v>
                </c:pt>
                <c:pt idx="8">
                  <c:v>72</c:v>
                </c:pt>
                <c:pt idx="9">
                  <c:v>90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18B-4944-879C-F492CF05EA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54892440"/>
        <c:axId val="454892832"/>
      </c:scatterChart>
      <c:valAx>
        <c:axId val="45489244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  <a:r>
                  <a:rPr lang="en-GB" sz="1100" dirty="0"/>
                  <a:t>Number of hours spent in library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454892832"/>
        <c:crosses val="autoZero"/>
        <c:crossBetween val="midCat"/>
      </c:valAx>
      <c:valAx>
        <c:axId val="454892832"/>
        <c:scaling>
          <c:orientation val="minMax"/>
        </c:scaling>
        <c:delete val="0"/>
        <c:axPos val="l"/>
        <c:majorGridlines/>
        <c:numFmt formatCode="0" sourceLinked="1"/>
        <c:majorTickMark val="none"/>
        <c:minorTickMark val="none"/>
        <c:tickLblPos val="nextTo"/>
        <c:crossAx val="454892440"/>
        <c:crosses val="autoZero"/>
        <c:crossBetween val="midCat"/>
      </c:valAx>
    </c:plotArea>
    <c:legend>
      <c:legendPos val="r"/>
      <c:layout>
        <c:manualLayout>
          <c:xMode val="edge"/>
          <c:yMode val="edge"/>
          <c:x val="0.6368193954204"/>
          <c:y val="0.39686801649793774"/>
          <c:w val="0.31145646664856547"/>
          <c:h val="0.11190701162354703"/>
        </c:manualLayout>
      </c:layout>
      <c:overlay val="0"/>
      <c:spPr>
        <a:solidFill>
          <a:schemeClr val="bg1">
            <a:lumMod val="95000"/>
          </a:schemeClr>
        </a:solidFill>
      </c:spPr>
    </c:legend>
    <c:plotVisOnly val="1"/>
    <c:dispBlanksAs val="gap"/>
    <c:showDLblsOverMax val="0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1980269707665851E-2"/>
          <c:y val="5.2380952380952382E-2"/>
          <c:w val="0.88112317856819622"/>
          <c:h val="0.7303415823022122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Num of Card Swipes</c:v>
                </c:pt>
              </c:strCache>
            </c:strRef>
          </c:tx>
          <c:spPr>
            <a:ln w="28575">
              <a:noFill/>
            </a:ln>
          </c:spPr>
          <c:xVal>
            <c:numRef>
              <c:f>Sheet1!$A$2:$A$11</c:f>
              <c:numCache>
                <c:formatCode>General</c:formatCode>
                <c:ptCount val="10"/>
                <c:pt idx="0">
                  <c:v>0</c:v>
                </c:pt>
                <c:pt idx="1">
                  <c:v>20</c:v>
                </c:pt>
                <c:pt idx="2">
                  <c:v>50</c:v>
                </c:pt>
                <c:pt idx="3">
                  <c:v>80</c:v>
                </c:pt>
                <c:pt idx="4">
                  <c:v>140</c:v>
                </c:pt>
                <c:pt idx="5">
                  <c:v>200</c:v>
                </c:pt>
                <c:pt idx="6">
                  <c:v>250</c:v>
                </c:pt>
                <c:pt idx="7">
                  <c:v>280</c:v>
                </c:pt>
                <c:pt idx="8">
                  <c:v>350</c:v>
                </c:pt>
                <c:pt idx="9">
                  <c:v>400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11</c:v>
                </c:pt>
                <c:pt idx="2">
                  <c:v>24</c:v>
                </c:pt>
                <c:pt idx="3">
                  <c:v>45</c:v>
                </c:pt>
                <c:pt idx="4">
                  <c:v>75</c:v>
                </c:pt>
                <c:pt idx="5">
                  <c:v>110</c:v>
                </c:pt>
                <c:pt idx="6">
                  <c:v>130</c:v>
                </c:pt>
                <c:pt idx="7">
                  <c:v>145</c:v>
                </c:pt>
                <c:pt idx="8">
                  <c:v>180</c:v>
                </c:pt>
                <c:pt idx="9">
                  <c:v>210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0C1-4ACF-8AB5-71AD96C856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54894008"/>
        <c:axId val="454894792"/>
      </c:scatterChart>
      <c:valAx>
        <c:axId val="454894008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  <a:r>
                  <a:rPr lang="en-GB" sz="1100" dirty="0"/>
                  <a:t>Number of hours spent in library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454894792"/>
        <c:crosses val="autoZero"/>
        <c:crossBetween val="midCat"/>
      </c:valAx>
      <c:valAx>
        <c:axId val="454894792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crossAx val="454894008"/>
        <c:crosses val="autoZero"/>
        <c:crossBetween val="midCat"/>
      </c:valAx>
    </c:plotArea>
    <c:legend>
      <c:legendPos val="r"/>
      <c:layout>
        <c:manualLayout>
          <c:xMode val="edge"/>
          <c:yMode val="edge"/>
          <c:x val="0.10521020001810116"/>
          <c:y val="8.2582302212223471E-2"/>
          <c:w val="0.25734727124626661"/>
          <c:h val="8.0357705286839137E-2"/>
        </c:manualLayout>
      </c:layout>
      <c:overlay val="0"/>
      <c:spPr>
        <a:solidFill>
          <a:schemeClr val="bg1">
            <a:lumMod val="95000"/>
          </a:schemeClr>
        </a:solidFill>
      </c:spPr>
    </c:legend>
    <c:plotVisOnly val="1"/>
    <c:dispBlanksAs val="gap"/>
    <c:showDLblsOverMax val="0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1980269707665851E-2"/>
          <c:y val="5.2380952380952382E-2"/>
          <c:w val="0.88112317856819622"/>
          <c:h val="0.73034158230221224"/>
        </c:manualLayout>
      </c:layout>
      <c:scatterChart>
        <c:scatterStyle val="lineMarker"/>
        <c:varyColors val="0"/>
        <c:ser>
          <c:idx val="1"/>
          <c:order val="0"/>
          <c:tx>
            <c:strRef>
              <c:f>Sheet1!$C$1</c:f>
              <c:strCache>
                <c:ptCount val="1"/>
                <c:pt idx="0">
                  <c:v>Num of Drinks Purchased</c:v>
                </c:pt>
              </c:strCache>
            </c:strRef>
          </c:tx>
          <c:spPr>
            <a:ln w="28575">
              <a:noFill/>
            </a:ln>
          </c:spPr>
          <c:xVal>
            <c:numRef>
              <c:f>Sheet1!$A$2:$A$11</c:f>
              <c:numCache>
                <c:formatCode>General</c:formatCode>
                <c:ptCount val="10"/>
                <c:pt idx="0">
                  <c:v>0</c:v>
                </c:pt>
                <c:pt idx="1">
                  <c:v>20</c:v>
                </c:pt>
                <c:pt idx="2">
                  <c:v>50</c:v>
                </c:pt>
                <c:pt idx="3">
                  <c:v>80</c:v>
                </c:pt>
                <c:pt idx="4">
                  <c:v>140</c:v>
                </c:pt>
                <c:pt idx="5">
                  <c:v>200</c:v>
                </c:pt>
                <c:pt idx="6">
                  <c:v>250</c:v>
                </c:pt>
                <c:pt idx="7">
                  <c:v>280</c:v>
                </c:pt>
                <c:pt idx="8">
                  <c:v>350</c:v>
                </c:pt>
                <c:pt idx="9">
                  <c:v>400</c:v>
                </c:pt>
              </c:numCache>
            </c:numRef>
          </c:xVal>
          <c:yVal>
            <c:numRef>
              <c:f>Sheet1!$C$2:$C$11</c:f>
              <c:numCache>
                <c:formatCode>General</c:formatCode>
                <c:ptCount val="10"/>
                <c:pt idx="0">
                  <c:v>0</c:v>
                </c:pt>
                <c:pt idx="1">
                  <c:v>12</c:v>
                </c:pt>
                <c:pt idx="2">
                  <c:v>20</c:v>
                </c:pt>
                <c:pt idx="3">
                  <c:v>35</c:v>
                </c:pt>
                <c:pt idx="4">
                  <c:v>25</c:v>
                </c:pt>
                <c:pt idx="5">
                  <c:v>40</c:v>
                </c:pt>
                <c:pt idx="6">
                  <c:v>60</c:v>
                </c:pt>
                <c:pt idx="7">
                  <c:v>50</c:v>
                </c:pt>
                <c:pt idx="8">
                  <c:v>65</c:v>
                </c:pt>
                <c:pt idx="9">
                  <c:v>80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C45-4EA3-AA54-93F116F16C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54895968"/>
        <c:axId val="454896360"/>
      </c:scatterChart>
      <c:valAx>
        <c:axId val="454895968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  <a:r>
                  <a:rPr lang="en-GB" sz="1100" dirty="0"/>
                  <a:t>Number of hours spent in library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454896360"/>
        <c:crosses val="autoZero"/>
        <c:crossBetween val="midCat"/>
      </c:valAx>
      <c:valAx>
        <c:axId val="454896360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crossAx val="454895968"/>
        <c:crosses val="autoZero"/>
        <c:crossBetween val="midCat"/>
      </c:valAx>
    </c:plotArea>
    <c:legend>
      <c:legendPos val="r"/>
      <c:layout>
        <c:manualLayout>
          <c:xMode val="edge"/>
          <c:yMode val="edge"/>
          <c:x val="0.11957801611005518"/>
          <c:y val="8.2582302212223471E-2"/>
          <c:w val="0.31145646664856547"/>
          <c:h val="0.11190701162354703"/>
        </c:manualLayout>
      </c:layout>
      <c:overlay val="0"/>
      <c:spPr>
        <a:solidFill>
          <a:schemeClr val="bg1">
            <a:lumMod val="95000"/>
          </a:schemeClr>
        </a:solidFill>
      </c:spPr>
    </c:legend>
    <c:plotVisOnly val="1"/>
    <c:dispBlanksAs val="gap"/>
    <c:showDLblsOverMax val="0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1980269707665851E-2"/>
          <c:y val="5.2380952380952382E-2"/>
          <c:w val="0.88112317856819622"/>
          <c:h val="0.73034158230221224"/>
        </c:manualLayout>
      </c:layout>
      <c:scatterChart>
        <c:scatterStyle val="lineMarker"/>
        <c:varyColors val="0"/>
        <c:ser>
          <c:idx val="2"/>
          <c:order val="0"/>
          <c:tx>
            <c:strRef>
              <c:f>Sheet1!$D$1</c:f>
              <c:strCache>
                <c:ptCount val="1"/>
                <c:pt idx="0">
                  <c:v>TV Watching Hours </c:v>
                </c:pt>
              </c:strCache>
            </c:strRef>
          </c:tx>
          <c:spPr>
            <a:ln w="28575">
              <a:noFill/>
            </a:ln>
          </c:spPr>
          <c:xVal>
            <c:numRef>
              <c:f>Sheet1!$A$2:$A$11</c:f>
              <c:numCache>
                <c:formatCode>General</c:formatCode>
                <c:ptCount val="10"/>
                <c:pt idx="0">
                  <c:v>0</c:v>
                </c:pt>
                <c:pt idx="1">
                  <c:v>20</c:v>
                </c:pt>
                <c:pt idx="2">
                  <c:v>50</c:v>
                </c:pt>
                <c:pt idx="3">
                  <c:v>80</c:v>
                </c:pt>
                <c:pt idx="4">
                  <c:v>140</c:v>
                </c:pt>
                <c:pt idx="5">
                  <c:v>200</c:v>
                </c:pt>
                <c:pt idx="6">
                  <c:v>250</c:v>
                </c:pt>
                <c:pt idx="7">
                  <c:v>280</c:v>
                </c:pt>
                <c:pt idx="8">
                  <c:v>350</c:v>
                </c:pt>
                <c:pt idx="9">
                  <c:v>400</c:v>
                </c:pt>
              </c:numCache>
            </c:numRef>
          </c:xVal>
          <c:yVal>
            <c:numRef>
              <c:f>Sheet1!$D$2:$D$11</c:f>
              <c:numCache>
                <c:formatCode>General</c:formatCode>
                <c:ptCount val="10"/>
                <c:pt idx="0">
                  <c:v>330</c:v>
                </c:pt>
                <c:pt idx="1">
                  <c:v>360</c:v>
                </c:pt>
                <c:pt idx="2">
                  <c:v>300</c:v>
                </c:pt>
                <c:pt idx="3">
                  <c:v>310</c:v>
                </c:pt>
                <c:pt idx="4">
                  <c:v>240</c:v>
                </c:pt>
                <c:pt idx="5">
                  <c:v>275</c:v>
                </c:pt>
                <c:pt idx="6">
                  <c:v>180</c:v>
                </c:pt>
                <c:pt idx="7">
                  <c:v>220</c:v>
                </c:pt>
                <c:pt idx="8">
                  <c:v>170</c:v>
                </c:pt>
                <c:pt idx="9">
                  <c:v>150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167-421F-9562-7EFC7AE211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54897144"/>
        <c:axId val="454895184"/>
      </c:scatterChart>
      <c:valAx>
        <c:axId val="45489714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  <a:r>
                  <a:rPr lang="en-GB" sz="1100" dirty="0"/>
                  <a:t>Number of hours spent in library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454895184"/>
        <c:crosses val="autoZero"/>
        <c:crossBetween val="midCat"/>
      </c:valAx>
      <c:valAx>
        <c:axId val="454895184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crossAx val="454897144"/>
        <c:crosses val="autoZero"/>
        <c:crossBetween val="midCat"/>
      </c:valAx>
    </c:plotArea>
    <c:legend>
      <c:legendPos val="r"/>
      <c:layout>
        <c:manualLayout>
          <c:xMode val="edge"/>
          <c:yMode val="edge"/>
          <c:x val="0.6368193954204"/>
          <c:y val="8.2582302212223471E-2"/>
          <c:w val="0.31145646664856547"/>
          <c:h val="8.3335583052118481E-2"/>
        </c:manualLayout>
      </c:layout>
      <c:overlay val="0"/>
      <c:spPr>
        <a:solidFill>
          <a:schemeClr val="bg1">
            <a:lumMod val="95000"/>
          </a:schemeClr>
        </a:solidFill>
      </c:spPr>
    </c:legend>
    <c:plotVisOnly val="1"/>
    <c:dispBlanksAs val="gap"/>
    <c:showDLblsOverMax val="0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1980269707665851E-2"/>
          <c:y val="5.2380952380952382E-2"/>
          <c:w val="0.88112317856819622"/>
          <c:h val="0.73034158230221224"/>
        </c:manualLayout>
      </c:layout>
      <c:scatterChart>
        <c:scatterStyle val="lineMarker"/>
        <c:varyColors val="0"/>
        <c:ser>
          <c:idx val="3"/>
          <c:order val="0"/>
          <c:tx>
            <c:strRef>
              <c:f>Sheet1!$E$1</c:f>
              <c:strCache>
                <c:ptCount val="1"/>
                <c:pt idx="0">
                  <c:v>Exam Performance</c:v>
                </c:pt>
              </c:strCache>
            </c:strRef>
          </c:tx>
          <c:spPr>
            <a:ln w="28575">
              <a:noFill/>
            </a:ln>
          </c:spPr>
          <c:xVal>
            <c:numRef>
              <c:f>Sheet1!$A$2:$A$11</c:f>
              <c:numCache>
                <c:formatCode>General</c:formatCode>
                <c:ptCount val="10"/>
                <c:pt idx="0">
                  <c:v>0</c:v>
                </c:pt>
                <c:pt idx="1">
                  <c:v>20</c:v>
                </c:pt>
                <c:pt idx="2">
                  <c:v>50</c:v>
                </c:pt>
                <c:pt idx="3">
                  <c:v>80</c:v>
                </c:pt>
                <c:pt idx="4">
                  <c:v>140</c:v>
                </c:pt>
                <c:pt idx="5">
                  <c:v>200</c:v>
                </c:pt>
                <c:pt idx="6">
                  <c:v>250</c:v>
                </c:pt>
                <c:pt idx="7">
                  <c:v>280</c:v>
                </c:pt>
                <c:pt idx="8">
                  <c:v>350</c:v>
                </c:pt>
                <c:pt idx="9">
                  <c:v>400</c:v>
                </c:pt>
              </c:numCache>
            </c:numRef>
          </c:xVal>
          <c:yVal>
            <c:numRef>
              <c:f>Sheet1!$E$2:$E$11</c:f>
              <c:numCache>
                <c:formatCode>0</c:formatCode>
                <c:ptCount val="10"/>
                <c:pt idx="0">
                  <c:v>85</c:v>
                </c:pt>
                <c:pt idx="1">
                  <c:v>56.000000000000007</c:v>
                </c:pt>
                <c:pt idx="2">
                  <c:v>75</c:v>
                </c:pt>
                <c:pt idx="3">
                  <c:v>66</c:v>
                </c:pt>
                <c:pt idx="4">
                  <c:v>80</c:v>
                </c:pt>
                <c:pt idx="5">
                  <c:v>73</c:v>
                </c:pt>
                <c:pt idx="6">
                  <c:v>75</c:v>
                </c:pt>
                <c:pt idx="7">
                  <c:v>89</c:v>
                </c:pt>
                <c:pt idx="8">
                  <c:v>72</c:v>
                </c:pt>
                <c:pt idx="9">
                  <c:v>90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B29D-4FB0-B80C-E20AE7E137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54843048"/>
        <c:axId val="454843832"/>
      </c:scatterChart>
      <c:valAx>
        <c:axId val="454843048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  <a:r>
                  <a:rPr lang="en-GB" sz="1100" dirty="0"/>
                  <a:t>Number of hours spent in library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454843832"/>
        <c:crosses val="autoZero"/>
        <c:crossBetween val="midCat"/>
      </c:valAx>
      <c:valAx>
        <c:axId val="454843832"/>
        <c:scaling>
          <c:orientation val="minMax"/>
        </c:scaling>
        <c:delete val="0"/>
        <c:axPos val="l"/>
        <c:majorGridlines/>
        <c:numFmt formatCode="0" sourceLinked="1"/>
        <c:majorTickMark val="none"/>
        <c:minorTickMark val="none"/>
        <c:tickLblPos val="nextTo"/>
        <c:crossAx val="454843048"/>
        <c:crosses val="autoZero"/>
        <c:crossBetween val="midCat"/>
      </c:valAx>
    </c:plotArea>
    <c:legend>
      <c:legendPos val="r"/>
      <c:layout>
        <c:manualLayout>
          <c:xMode val="edge"/>
          <c:yMode val="edge"/>
          <c:x val="0.6368193954204"/>
          <c:y val="0.39686801649793774"/>
          <c:w val="0.31145646664856547"/>
          <c:h val="0.11190701162354703"/>
        </c:manualLayout>
      </c:layout>
      <c:overlay val="0"/>
      <c:spPr>
        <a:solidFill>
          <a:schemeClr val="bg1">
            <a:lumMod val="95000"/>
          </a:schemeClr>
        </a:solidFill>
      </c:spPr>
    </c:legend>
    <c:plotVisOnly val="1"/>
    <c:dispBlanksAs val="gap"/>
    <c:showDLblsOverMax val="0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1980269707665851E-2"/>
          <c:y val="5.2380952380952382E-2"/>
          <c:w val="0.88112317856819622"/>
          <c:h val="0.73034158230221224"/>
        </c:manualLayout>
      </c:layout>
      <c:scatterChart>
        <c:scatterStyle val="lineMarker"/>
        <c:varyColors val="0"/>
        <c:ser>
          <c:idx val="1"/>
          <c:order val="0"/>
          <c:tx>
            <c:strRef>
              <c:f>Sheet1!$C$1</c:f>
              <c:strCache>
                <c:ptCount val="1"/>
                <c:pt idx="0">
                  <c:v>Drinks Purchased</c:v>
                </c:pt>
              </c:strCache>
            </c:strRef>
          </c:tx>
          <c:spPr>
            <a:ln w="28575">
              <a:noFill/>
            </a:ln>
          </c:spPr>
          <c:xVal>
            <c:numRef>
              <c:f>Sheet1!$A$2:$A$11</c:f>
              <c:numCache>
                <c:formatCode>General</c:formatCode>
                <c:ptCount val="10"/>
                <c:pt idx="0">
                  <c:v>0</c:v>
                </c:pt>
                <c:pt idx="1">
                  <c:v>20</c:v>
                </c:pt>
                <c:pt idx="2">
                  <c:v>50</c:v>
                </c:pt>
                <c:pt idx="3">
                  <c:v>80</c:v>
                </c:pt>
                <c:pt idx="4">
                  <c:v>140</c:v>
                </c:pt>
                <c:pt idx="5">
                  <c:v>200</c:v>
                </c:pt>
                <c:pt idx="6">
                  <c:v>250</c:v>
                </c:pt>
                <c:pt idx="7">
                  <c:v>280</c:v>
                </c:pt>
                <c:pt idx="8">
                  <c:v>350</c:v>
                </c:pt>
                <c:pt idx="9">
                  <c:v>400</c:v>
                </c:pt>
              </c:numCache>
            </c:numRef>
          </c:xVal>
          <c:yVal>
            <c:numRef>
              <c:f>Sheet1!$C$2:$C$11</c:f>
              <c:numCache>
                <c:formatCode>General</c:formatCode>
                <c:ptCount val="10"/>
                <c:pt idx="0">
                  <c:v>0</c:v>
                </c:pt>
                <c:pt idx="1">
                  <c:v>12</c:v>
                </c:pt>
                <c:pt idx="2">
                  <c:v>20</c:v>
                </c:pt>
                <c:pt idx="3">
                  <c:v>50</c:v>
                </c:pt>
                <c:pt idx="4">
                  <c:v>25</c:v>
                </c:pt>
                <c:pt idx="5">
                  <c:v>40</c:v>
                </c:pt>
                <c:pt idx="6">
                  <c:v>60</c:v>
                </c:pt>
                <c:pt idx="7">
                  <c:v>50</c:v>
                </c:pt>
                <c:pt idx="8">
                  <c:v>65</c:v>
                </c:pt>
                <c:pt idx="9">
                  <c:v>80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5F8-41E3-A650-C13647964A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54834032"/>
        <c:axId val="454841872"/>
      </c:scatterChart>
      <c:valAx>
        <c:axId val="4548340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crossAx val="454841872"/>
        <c:crosses val="autoZero"/>
        <c:crossBetween val="midCat"/>
      </c:valAx>
      <c:valAx>
        <c:axId val="4548418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crossAx val="454834032"/>
        <c:crosses val="autoZero"/>
        <c:crossBetween val="midCat"/>
      </c:valAx>
    </c:plotArea>
    <c:legend>
      <c:legendPos val="r"/>
      <c:layout>
        <c:manualLayout>
          <c:xMode val="edge"/>
          <c:yMode val="edge"/>
          <c:x val="0.61957810172377092"/>
          <c:y val="0.55545046694744549"/>
          <c:w val="0.31145646664856547"/>
          <c:h val="0.11190701162354703"/>
        </c:manualLayout>
      </c:layout>
      <c:overlay val="0"/>
      <c:spPr>
        <a:solidFill>
          <a:schemeClr val="bg1">
            <a:lumMod val="95000"/>
          </a:schemeClr>
        </a:solidFill>
      </c:spPr>
    </c:legend>
    <c:plotVisOnly val="1"/>
    <c:dispBlanksAs val="gap"/>
    <c:showDLblsOverMax val="0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Column2</c:v>
                </c:pt>
              </c:strCache>
            </c:strRef>
          </c:tx>
          <c:spPr>
            <a:ln w="28575">
              <a:noFill/>
            </a:ln>
          </c:spPr>
          <c:marker>
            <c:symbol val="square"/>
            <c:size val="6"/>
            <c:spPr>
              <a:solidFill>
                <a:schemeClr val="bg1">
                  <a:lumMod val="50000"/>
                </a:schemeClr>
              </a:solidFill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0</c:v>
                </c:pt>
                <c:pt idx="1">
                  <c:v>20</c:v>
                </c:pt>
                <c:pt idx="2">
                  <c:v>50</c:v>
                </c:pt>
                <c:pt idx="3">
                  <c:v>80</c:v>
                </c:pt>
                <c:pt idx="4">
                  <c:v>140</c:v>
                </c:pt>
                <c:pt idx="5">
                  <c:v>200</c:v>
                </c:pt>
                <c:pt idx="6">
                  <c:v>250</c:v>
                </c:pt>
                <c:pt idx="7">
                  <c:v>280</c:v>
                </c:pt>
                <c:pt idx="8">
                  <c:v>350</c:v>
                </c:pt>
                <c:pt idx="9">
                  <c:v>400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A28-4911-BA87-438B5FD806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54835208"/>
        <c:axId val="454835600"/>
      </c:scatterChart>
      <c:valAx>
        <c:axId val="45483520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54835600"/>
        <c:crosses val="autoZero"/>
        <c:crossBetween val="midCat"/>
      </c:valAx>
      <c:valAx>
        <c:axId val="45483560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454835208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1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Column2</c:v>
                </c:pt>
              </c:strCache>
            </c:strRef>
          </c:tx>
          <c:spPr>
            <a:ln w="28575">
              <a:noFill/>
            </a:ln>
          </c:spPr>
          <c:marker>
            <c:symbol val="square"/>
            <c:size val="7"/>
            <c:spPr>
              <a:solidFill>
                <a:schemeClr val="bg1">
                  <a:lumMod val="50000"/>
                </a:schemeClr>
              </a:solidFill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12</c:v>
                </c:pt>
                <c:pt idx="2">
                  <c:v>20</c:v>
                </c:pt>
                <c:pt idx="3">
                  <c:v>35</c:v>
                </c:pt>
                <c:pt idx="4">
                  <c:v>25</c:v>
                </c:pt>
                <c:pt idx="5">
                  <c:v>40</c:v>
                </c:pt>
                <c:pt idx="6">
                  <c:v>60</c:v>
                </c:pt>
                <c:pt idx="7">
                  <c:v>50</c:v>
                </c:pt>
                <c:pt idx="8">
                  <c:v>65</c:v>
                </c:pt>
                <c:pt idx="9">
                  <c:v>80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B11-4932-892D-4C6BC828DA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54841088"/>
        <c:axId val="454836384"/>
      </c:scatterChart>
      <c:valAx>
        <c:axId val="45484108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54836384"/>
        <c:crosses val="autoZero"/>
        <c:crossBetween val="midCat"/>
      </c:valAx>
      <c:valAx>
        <c:axId val="45483638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454841088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1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1980269707665851E-2"/>
          <c:y val="5.2380952380952382E-2"/>
          <c:w val="0.88112317856819622"/>
          <c:h val="0.73034158230221224"/>
        </c:manualLayout>
      </c:layout>
      <c:scatterChart>
        <c:scatterStyle val="lineMarker"/>
        <c:varyColors val="0"/>
        <c:ser>
          <c:idx val="1"/>
          <c:order val="0"/>
          <c:tx>
            <c:strRef>
              <c:f>Sheet1!$C$1</c:f>
              <c:strCache>
                <c:ptCount val="1"/>
                <c:pt idx="0">
                  <c:v>Drinks Purchased</c:v>
                </c:pt>
              </c:strCache>
            </c:strRef>
          </c:tx>
          <c:spPr>
            <a:ln w="28575">
              <a:noFill/>
            </a:ln>
          </c:spPr>
          <c:xVal>
            <c:numRef>
              <c:f>Sheet1!$A$2:$A$11</c:f>
              <c:numCache>
                <c:formatCode>General</c:formatCode>
                <c:ptCount val="10"/>
                <c:pt idx="0">
                  <c:v>0</c:v>
                </c:pt>
                <c:pt idx="1">
                  <c:v>20</c:v>
                </c:pt>
                <c:pt idx="2">
                  <c:v>50</c:v>
                </c:pt>
                <c:pt idx="3">
                  <c:v>80</c:v>
                </c:pt>
                <c:pt idx="4">
                  <c:v>140</c:v>
                </c:pt>
                <c:pt idx="5">
                  <c:v>200</c:v>
                </c:pt>
                <c:pt idx="6">
                  <c:v>250</c:v>
                </c:pt>
                <c:pt idx="7">
                  <c:v>280</c:v>
                </c:pt>
                <c:pt idx="8">
                  <c:v>350</c:v>
                </c:pt>
                <c:pt idx="9">
                  <c:v>400</c:v>
                </c:pt>
              </c:numCache>
            </c:numRef>
          </c:xVal>
          <c:yVal>
            <c:numRef>
              <c:f>Sheet1!$C$2:$C$11</c:f>
              <c:numCache>
                <c:formatCode>General</c:formatCode>
                <c:ptCount val="10"/>
                <c:pt idx="0">
                  <c:v>0</c:v>
                </c:pt>
                <c:pt idx="1">
                  <c:v>12</c:v>
                </c:pt>
                <c:pt idx="2">
                  <c:v>20</c:v>
                </c:pt>
                <c:pt idx="3">
                  <c:v>50</c:v>
                </c:pt>
                <c:pt idx="4">
                  <c:v>25</c:v>
                </c:pt>
                <c:pt idx="5">
                  <c:v>40</c:v>
                </c:pt>
                <c:pt idx="6">
                  <c:v>60</c:v>
                </c:pt>
                <c:pt idx="7">
                  <c:v>50</c:v>
                </c:pt>
                <c:pt idx="8">
                  <c:v>65</c:v>
                </c:pt>
                <c:pt idx="9">
                  <c:v>80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6E63-45A6-ACF2-48B9561999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54838736"/>
        <c:axId val="454837952"/>
      </c:scatterChart>
      <c:valAx>
        <c:axId val="45483873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54837952"/>
        <c:crosses val="autoZero"/>
        <c:crossBetween val="midCat"/>
      </c:valAx>
      <c:valAx>
        <c:axId val="45483795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54838736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1980269707665851E-2"/>
          <c:y val="5.2380952380952382E-2"/>
          <c:w val="0.88112317856819622"/>
          <c:h val="0.73034158230221224"/>
        </c:manualLayout>
      </c:layout>
      <c:scatterChart>
        <c:scatterStyle val="lineMarker"/>
        <c:varyColors val="0"/>
        <c:ser>
          <c:idx val="1"/>
          <c:order val="0"/>
          <c:tx>
            <c:strRef>
              <c:f>Sheet1!$C$1</c:f>
              <c:strCache>
                <c:ptCount val="1"/>
                <c:pt idx="0">
                  <c:v>Drinks Purchased</c:v>
                </c:pt>
              </c:strCache>
            </c:strRef>
          </c:tx>
          <c:spPr>
            <a:ln w="28575">
              <a:noFill/>
            </a:ln>
          </c:spPr>
          <c:xVal>
            <c:numRef>
              <c:f>Sheet1!$A$2:$A$11</c:f>
              <c:numCache>
                <c:formatCode>General</c:formatCode>
                <c:ptCount val="10"/>
                <c:pt idx="0">
                  <c:v>0</c:v>
                </c:pt>
                <c:pt idx="1">
                  <c:v>20</c:v>
                </c:pt>
                <c:pt idx="2">
                  <c:v>50</c:v>
                </c:pt>
                <c:pt idx="3">
                  <c:v>80</c:v>
                </c:pt>
                <c:pt idx="4">
                  <c:v>140</c:v>
                </c:pt>
                <c:pt idx="5">
                  <c:v>200</c:v>
                </c:pt>
                <c:pt idx="6">
                  <c:v>250</c:v>
                </c:pt>
                <c:pt idx="7">
                  <c:v>280</c:v>
                </c:pt>
                <c:pt idx="8">
                  <c:v>350</c:v>
                </c:pt>
                <c:pt idx="9">
                  <c:v>400</c:v>
                </c:pt>
              </c:numCache>
            </c:numRef>
          </c:xVal>
          <c:yVal>
            <c:numRef>
              <c:f>Sheet1!$C$2:$C$11</c:f>
              <c:numCache>
                <c:formatCode>General</c:formatCode>
                <c:ptCount val="10"/>
                <c:pt idx="0">
                  <c:v>0</c:v>
                </c:pt>
                <c:pt idx="1">
                  <c:v>12</c:v>
                </c:pt>
                <c:pt idx="2">
                  <c:v>20</c:v>
                </c:pt>
                <c:pt idx="3">
                  <c:v>50</c:v>
                </c:pt>
                <c:pt idx="4">
                  <c:v>25</c:v>
                </c:pt>
                <c:pt idx="5">
                  <c:v>40</c:v>
                </c:pt>
                <c:pt idx="6">
                  <c:v>60</c:v>
                </c:pt>
                <c:pt idx="7">
                  <c:v>50</c:v>
                </c:pt>
                <c:pt idx="8">
                  <c:v>65</c:v>
                </c:pt>
                <c:pt idx="9">
                  <c:v>80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DEA-4D60-A884-20861C825D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54839912"/>
        <c:axId val="454855200"/>
      </c:scatterChart>
      <c:valAx>
        <c:axId val="45483991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54855200"/>
        <c:crosses val="autoZero"/>
        <c:crossBetween val="midCat"/>
      </c:valAx>
      <c:valAx>
        <c:axId val="45485520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5483991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1980269707665851E-2"/>
          <c:y val="5.2380952380952382E-2"/>
          <c:w val="0.88112317856819622"/>
          <c:h val="0.73034158230221224"/>
        </c:manualLayout>
      </c:layout>
      <c:scatterChart>
        <c:scatterStyle val="lineMarker"/>
        <c:varyColors val="0"/>
        <c:ser>
          <c:idx val="1"/>
          <c:order val="0"/>
          <c:tx>
            <c:strRef>
              <c:f>Sheet1!$C$1</c:f>
              <c:strCache>
                <c:ptCount val="1"/>
                <c:pt idx="0">
                  <c:v>Drinks Purchased</c:v>
                </c:pt>
              </c:strCache>
            </c:strRef>
          </c:tx>
          <c:spPr>
            <a:ln w="28575">
              <a:noFill/>
            </a:ln>
          </c:spPr>
          <c:xVal>
            <c:numRef>
              <c:f>Sheet1!$A$2:$A$11</c:f>
              <c:numCache>
                <c:formatCode>General</c:formatCode>
                <c:ptCount val="10"/>
                <c:pt idx="0">
                  <c:v>0</c:v>
                </c:pt>
                <c:pt idx="1">
                  <c:v>20</c:v>
                </c:pt>
                <c:pt idx="2">
                  <c:v>50</c:v>
                </c:pt>
                <c:pt idx="3">
                  <c:v>80</c:v>
                </c:pt>
                <c:pt idx="4">
                  <c:v>140</c:v>
                </c:pt>
                <c:pt idx="5">
                  <c:v>200</c:v>
                </c:pt>
                <c:pt idx="6">
                  <c:v>250</c:v>
                </c:pt>
                <c:pt idx="7">
                  <c:v>280</c:v>
                </c:pt>
                <c:pt idx="8">
                  <c:v>350</c:v>
                </c:pt>
                <c:pt idx="9">
                  <c:v>400</c:v>
                </c:pt>
              </c:numCache>
            </c:numRef>
          </c:xVal>
          <c:yVal>
            <c:numRef>
              <c:f>Sheet1!$C$2:$C$11</c:f>
              <c:numCache>
                <c:formatCode>General</c:formatCode>
                <c:ptCount val="10"/>
                <c:pt idx="0">
                  <c:v>0</c:v>
                </c:pt>
                <c:pt idx="1">
                  <c:v>12</c:v>
                </c:pt>
                <c:pt idx="2">
                  <c:v>20</c:v>
                </c:pt>
                <c:pt idx="3">
                  <c:v>50</c:v>
                </c:pt>
                <c:pt idx="4">
                  <c:v>25</c:v>
                </c:pt>
                <c:pt idx="5">
                  <c:v>40</c:v>
                </c:pt>
                <c:pt idx="6">
                  <c:v>60</c:v>
                </c:pt>
                <c:pt idx="7">
                  <c:v>50</c:v>
                </c:pt>
                <c:pt idx="8">
                  <c:v>65</c:v>
                </c:pt>
                <c:pt idx="9">
                  <c:v>80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ACF-49B3-9931-010DA6DCE6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54849320"/>
        <c:axId val="454856768"/>
      </c:scatterChart>
      <c:valAx>
        <c:axId val="4548493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crossAx val="454856768"/>
        <c:crosses val="autoZero"/>
        <c:crossBetween val="midCat"/>
      </c:valAx>
      <c:valAx>
        <c:axId val="4548567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crossAx val="454849320"/>
        <c:crosses val="autoZero"/>
        <c:crossBetween val="midCat"/>
      </c:valAx>
    </c:plotArea>
    <c:legend>
      <c:legendPos val="r"/>
      <c:layout>
        <c:manualLayout>
          <c:xMode val="edge"/>
          <c:yMode val="edge"/>
          <c:x val="0.61957810172377092"/>
          <c:y val="0.55545046694744549"/>
          <c:w val="0.31145646664856547"/>
          <c:h val="0.11190701162354703"/>
        </c:manualLayout>
      </c:layout>
      <c:overlay val="0"/>
      <c:spPr>
        <a:solidFill>
          <a:schemeClr val="bg1">
            <a:lumMod val="95000"/>
          </a:schemeClr>
        </a:solidFill>
      </c:spPr>
    </c:legend>
    <c:plotVisOnly val="1"/>
    <c:dispBlanksAs val="gap"/>
    <c:showDLblsOverMax val="0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1980269707665851E-2"/>
          <c:y val="5.2380952380952382E-2"/>
          <c:w val="0.88112317856819622"/>
          <c:h val="0.73034158230221224"/>
        </c:manualLayout>
      </c:layout>
      <c:scatterChart>
        <c:scatterStyle val="lineMarker"/>
        <c:varyColors val="0"/>
        <c:ser>
          <c:idx val="1"/>
          <c:order val="0"/>
          <c:tx>
            <c:strRef>
              <c:f>Sheet1!$C$1</c:f>
              <c:strCache>
                <c:ptCount val="1"/>
                <c:pt idx="0">
                  <c:v>Drinks Purchased</c:v>
                </c:pt>
              </c:strCache>
            </c:strRef>
          </c:tx>
          <c:spPr>
            <a:ln w="28575">
              <a:noFill/>
            </a:ln>
          </c:spPr>
          <c:xVal>
            <c:numRef>
              <c:f>Sheet1!$A$2:$A$11</c:f>
              <c:numCache>
                <c:formatCode>General</c:formatCode>
                <c:ptCount val="10"/>
                <c:pt idx="0">
                  <c:v>0</c:v>
                </c:pt>
                <c:pt idx="1">
                  <c:v>20</c:v>
                </c:pt>
                <c:pt idx="2">
                  <c:v>50</c:v>
                </c:pt>
                <c:pt idx="3">
                  <c:v>80</c:v>
                </c:pt>
                <c:pt idx="4">
                  <c:v>140</c:v>
                </c:pt>
                <c:pt idx="5">
                  <c:v>200</c:v>
                </c:pt>
                <c:pt idx="6">
                  <c:v>250</c:v>
                </c:pt>
                <c:pt idx="7">
                  <c:v>280</c:v>
                </c:pt>
                <c:pt idx="8">
                  <c:v>350</c:v>
                </c:pt>
                <c:pt idx="9">
                  <c:v>400</c:v>
                </c:pt>
              </c:numCache>
            </c:numRef>
          </c:xVal>
          <c:yVal>
            <c:numRef>
              <c:f>Sheet1!$C$2:$C$11</c:f>
              <c:numCache>
                <c:formatCode>General</c:formatCode>
                <c:ptCount val="10"/>
                <c:pt idx="0">
                  <c:v>0</c:v>
                </c:pt>
                <c:pt idx="1">
                  <c:v>12</c:v>
                </c:pt>
                <c:pt idx="2">
                  <c:v>20</c:v>
                </c:pt>
                <c:pt idx="3">
                  <c:v>50</c:v>
                </c:pt>
                <c:pt idx="4">
                  <c:v>25</c:v>
                </c:pt>
                <c:pt idx="5">
                  <c:v>40</c:v>
                </c:pt>
                <c:pt idx="6">
                  <c:v>60</c:v>
                </c:pt>
                <c:pt idx="7">
                  <c:v>50</c:v>
                </c:pt>
                <c:pt idx="8">
                  <c:v>65</c:v>
                </c:pt>
                <c:pt idx="9">
                  <c:v>80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531-4639-B841-B219D20C17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54845792"/>
        <c:axId val="454854416"/>
      </c:scatterChart>
      <c:valAx>
        <c:axId val="4548457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crossAx val="454854416"/>
        <c:crosses val="autoZero"/>
        <c:crossBetween val="midCat"/>
      </c:valAx>
      <c:valAx>
        <c:axId val="45485441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crossAx val="454845792"/>
        <c:crosses val="autoZero"/>
        <c:crossBetween val="midCat"/>
      </c:valAx>
    </c:plotArea>
    <c:legend>
      <c:legendPos val="r"/>
      <c:layout>
        <c:manualLayout>
          <c:xMode val="edge"/>
          <c:yMode val="edge"/>
          <c:x val="0.61957810172377092"/>
          <c:y val="0.55545046694744549"/>
          <c:w val="0.31145646664856547"/>
          <c:h val="0.11190701162354703"/>
        </c:manualLayout>
      </c:layout>
      <c:overlay val="0"/>
      <c:spPr>
        <a:solidFill>
          <a:schemeClr val="bg1">
            <a:lumMod val="95000"/>
          </a:schemeClr>
        </a:solidFill>
      </c:spPr>
    </c:legend>
    <c:plotVisOnly val="1"/>
    <c:dispBlanksAs val="gap"/>
    <c:showDLblsOverMax val="0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406446850393701"/>
          <c:y val="6.6494636539997709E-2"/>
          <c:w val="0.82541469816272961"/>
          <c:h val="0.67670575145498113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Crime Rate</c:v>
                </c:pt>
              </c:strCache>
            </c:strRef>
          </c:tx>
          <c:xVal>
            <c:numRef>
              <c:f>Sheet1!$A$2:$A$11</c:f>
              <c:numCache>
                <c:formatCode>General</c:formatCode>
                <c:ptCount val="10"/>
                <c:pt idx="0">
                  <c:v>100</c:v>
                </c:pt>
                <c:pt idx="1">
                  <c:v>180</c:v>
                </c:pt>
                <c:pt idx="2">
                  <c:v>310</c:v>
                </c:pt>
                <c:pt idx="3">
                  <c:v>430</c:v>
                </c:pt>
                <c:pt idx="4">
                  <c:v>480</c:v>
                </c:pt>
                <c:pt idx="5">
                  <c:v>610</c:v>
                </c:pt>
                <c:pt idx="6">
                  <c:v>750</c:v>
                </c:pt>
                <c:pt idx="7">
                  <c:v>800</c:v>
                </c:pt>
                <c:pt idx="8">
                  <c:v>910</c:v>
                </c:pt>
                <c:pt idx="9">
                  <c:v>999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16</c:v>
                </c:pt>
                <c:pt idx="1">
                  <c:v>50</c:v>
                </c:pt>
                <c:pt idx="2">
                  <c:v>90</c:v>
                </c:pt>
                <c:pt idx="3">
                  <c:v>90</c:v>
                </c:pt>
                <c:pt idx="4">
                  <c:v>70</c:v>
                </c:pt>
                <c:pt idx="5">
                  <c:v>180</c:v>
                </c:pt>
                <c:pt idx="6">
                  <c:v>140</c:v>
                </c:pt>
                <c:pt idx="7">
                  <c:v>130</c:v>
                </c:pt>
                <c:pt idx="8">
                  <c:v>220</c:v>
                </c:pt>
                <c:pt idx="9">
                  <c:v>190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85C-469C-9863-22DB147B70E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Drug Abuse</c:v>
                </c:pt>
              </c:strCache>
            </c:strRef>
          </c:tx>
          <c:spPr>
            <a:ln>
              <a:noFill/>
            </a:ln>
          </c:spPr>
          <c:marker>
            <c:spPr>
              <a:noFill/>
              <a:ln>
                <a:noFill/>
              </a:ln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100</c:v>
                </c:pt>
                <c:pt idx="1">
                  <c:v>180</c:v>
                </c:pt>
                <c:pt idx="2">
                  <c:v>310</c:v>
                </c:pt>
                <c:pt idx="3">
                  <c:v>430</c:v>
                </c:pt>
                <c:pt idx="4">
                  <c:v>480</c:v>
                </c:pt>
                <c:pt idx="5">
                  <c:v>610</c:v>
                </c:pt>
                <c:pt idx="6">
                  <c:v>750</c:v>
                </c:pt>
                <c:pt idx="7">
                  <c:v>800</c:v>
                </c:pt>
                <c:pt idx="8">
                  <c:v>910</c:v>
                </c:pt>
                <c:pt idx="9">
                  <c:v>999</c:v>
                </c:pt>
              </c:numCache>
            </c:numRef>
          </c:xVal>
          <c:yVal>
            <c:numRef>
              <c:f>Sheet1!$C$2:$C$11</c:f>
              <c:numCache>
                <c:formatCode>General</c:formatCode>
                <c:ptCount val="10"/>
                <c:pt idx="0">
                  <c:v>12</c:v>
                </c:pt>
                <c:pt idx="1">
                  <c:v>54</c:v>
                </c:pt>
                <c:pt idx="2">
                  <c:v>33</c:v>
                </c:pt>
                <c:pt idx="3">
                  <c:v>94</c:v>
                </c:pt>
                <c:pt idx="4">
                  <c:v>70</c:v>
                </c:pt>
                <c:pt idx="5">
                  <c:v>182</c:v>
                </c:pt>
                <c:pt idx="6">
                  <c:v>140</c:v>
                </c:pt>
                <c:pt idx="7">
                  <c:v>133</c:v>
                </c:pt>
                <c:pt idx="8">
                  <c:v>224</c:v>
                </c:pt>
                <c:pt idx="9">
                  <c:v>189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385C-469C-9863-22DB147B70E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Unemployment</c:v>
                </c:pt>
              </c:strCache>
            </c:strRef>
          </c:tx>
          <c:spPr>
            <a:ln>
              <a:noFill/>
            </a:ln>
          </c:spPr>
          <c:marker>
            <c:spPr>
              <a:noFill/>
              <a:ln>
                <a:noFill/>
              </a:ln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100</c:v>
                </c:pt>
                <c:pt idx="1">
                  <c:v>180</c:v>
                </c:pt>
                <c:pt idx="2">
                  <c:v>310</c:v>
                </c:pt>
                <c:pt idx="3">
                  <c:v>430</c:v>
                </c:pt>
                <c:pt idx="4">
                  <c:v>480</c:v>
                </c:pt>
                <c:pt idx="5">
                  <c:v>610</c:v>
                </c:pt>
                <c:pt idx="6">
                  <c:v>750</c:v>
                </c:pt>
                <c:pt idx="7">
                  <c:v>800</c:v>
                </c:pt>
                <c:pt idx="8">
                  <c:v>910</c:v>
                </c:pt>
                <c:pt idx="9">
                  <c:v>999</c:v>
                </c:pt>
              </c:numCache>
            </c:numRef>
          </c:xVal>
          <c:yVal>
            <c:numRef>
              <c:f>Sheet1!$D$2:$D$11</c:f>
              <c:numCache>
                <c:formatCode>General</c:formatCode>
                <c:ptCount val="10"/>
                <c:pt idx="0">
                  <c:v>26</c:v>
                </c:pt>
                <c:pt idx="1">
                  <c:v>78</c:v>
                </c:pt>
                <c:pt idx="2">
                  <c:v>42</c:v>
                </c:pt>
                <c:pt idx="3">
                  <c:v>135</c:v>
                </c:pt>
                <c:pt idx="4">
                  <c:v>108</c:v>
                </c:pt>
                <c:pt idx="5">
                  <c:v>233</c:v>
                </c:pt>
                <c:pt idx="6">
                  <c:v>208</c:v>
                </c:pt>
                <c:pt idx="7">
                  <c:v>194</c:v>
                </c:pt>
                <c:pt idx="8">
                  <c:v>250</c:v>
                </c:pt>
                <c:pt idx="9">
                  <c:v>282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385C-469C-9863-22DB147B70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74460728"/>
        <c:axId val="374441912"/>
      </c:scatterChart>
      <c:valAx>
        <c:axId val="374460728"/>
        <c:scaling>
          <c:orientation val="minMax"/>
          <c:max val="1000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GB" dirty="0"/>
                  <a:t>Homeless People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374441912"/>
        <c:crosses val="autoZero"/>
        <c:crossBetween val="midCat"/>
      </c:valAx>
      <c:valAx>
        <c:axId val="374441912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crossAx val="374460728"/>
        <c:crosses val="autoZero"/>
        <c:crossBetween val="midCat"/>
      </c:valAx>
    </c:plotArea>
    <c:legend>
      <c:legendPos val="r"/>
      <c:legendEntry>
        <c:idx val="1"/>
        <c:delete val="1"/>
      </c:legendEntry>
      <c:legendEntry>
        <c:idx val="2"/>
        <c:delete val="1"/>
      </c:legendEntry>
      <c:layout>
        <c:manualLayout>
          <c:xMode val="edge"/>
          <c:yMode val="edge"/>
          <c:x val="0.14920784120734909"/>
          <c:y val="0.10887567043250027"/>
          <c:w val="0.24785498687664043"/>
          <c:h val="0.24911930845600821"/>
        </c:manualLayout>
      </c:layout>
      <c:overlay val="0"/>
      <c:spPr>
        <a:solidFill>
          <a:schemeClr val="accent3">
            <a:lumMod val="20000"/>
            <a:lumOff val="80000"/>
          </a:schemeClr>
        </a:solidFill>
      </c:spPr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406446850393701"/>
          <c:y val="6.6494636539997709E-2"/>
          <c:w val="0.82541469816272961"/>
          <c:h val="0.67670575145498113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Crime Rate</c:v>
                </c:pt>
              </c:strCache>
            </c:strRef>
          </c:tx>
          <c:xVal>
            <c:numRef>
              <c:f>Sheet1!$A$2:$A$11</c:f>
              <c:numCache>
                <c:formatCode>General</c:formatCode>
                <c:ptCount val="10"/>
                <c:pt idx="0">
                  <c:v>100</c:v>
                </c:pt>
                <c:pt idx="1">
                  <c:v>180</c:v>
                </c:pt>
                <c:pt idx="2">
                  <c:v>310</c:v>
                </c:pt>
                <c:pt idx="3">
                  <c:v>430</c:v>
                </c:pt>
                <c:pt idx="4">
                  <c:v>480</c:v>
                </c:pt>
                <c:pt idx="5">
                  <c:v>610</c:v>
                </c:pt>
                <c:pt idx="6">
                  <c:v>750</c:v>
                </c:pt>
                <c:pt idx="7">
                  <c:v>800</c:v>
                </c:pt>
                <c:pt idx="8">
                  <c:v>910</c:v>
                </c:pt>
                <c:pt idx="9">
                  <c:v>999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16</c:v>
                </c:pt>
                <c:pt idx="1">
                  <c:v>50</c:v>
                </c:pt>
                <c:pt idx="2">
                  <c:v>90</c:v>
                </c:pt>
                <c:pt idx="3">
                  <c:v>90</c:v>
                </c:pt>
                <c:pt idx="4">
                  <c:v>70</c:v>
                </c:pt>
                <c:pt idx="5">
                  <c:v>180</c:v>
                </c:pt>
                <c:pt idx="6">
                  <c:v>140</c:v>
                </c:pt>
                <c:pt idx="7">
                  <c:v>130</c:v>
                </c:pt>
                <c:pt idx="8">
                  <c:v>220</c:v>
                </c:pt>
                <c:pt idx="9">
                  <c:v>190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596B-4C72-BCF4-9B16A89D978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Drug Abuse</c:v>
                </c:pt>
              </c:strCache>
            </c:strRef>
          </c:tx>
          <c:xVal>
            <c:numRef>
              <c:f>Sheet1!$A$2:$A$11</c:f>
              <c:numCache>
                <c:formatCode>General</c:formatCode>
                <c:ptCount val="10"/>
                <c:pt idx="0">
                  <c:v>100</c:v>
                </c:pt>
                <c:pt idx="1">
                  <c:v>180</c:v>
                </c:pt>
                <c:pt idx="2">
                  <c:v>310</c:v>
                </c:pt>
                <c:pt idx="3">
                  <c:v>430</c:v>
                </c:pt>
                <c:pt idx="4">
                  <c:v>480</c:v>
                </c:pt>
                <c:pt idx="5">
                  <c:v>610</c:v>
                </c:pt>
                <c:pt idx="6">
                  <c:v>750</c:v>
                </c:pt>
                <c:pt idx="7">
                  <c:v>800</c:v>
                </c:pt>
                <c:pt idx="8">
                  <c:v>910</c:v>
                </c:pt>
                <c:pt idx="9">
                  <c:v>999</c:v>
                </c:pt>
              </c:numCache>
            </c:numRef>
          </c:xVal>
          <c:yVal>
            <c:numRef>
              <c:f>Sheet1!$C$2:$C$11</c:f>
              <c:numCache>
                <c:formatCode>General</c:formatCode>
                <c:ptCount val="10"/>
                <c:pt idx="0">
                  <c:v>12</c:v>
                </c:pt>
                <c:pt idx="1">
                  <c:v>54</c:v>
                </c:pt>
                <c:pt idx="2">
                  <c:v>33</c:v>
                </c:pt>
                <c:pt idx="3">
                  <c:v>80</c:v>
                </c:pt>
                <c:pt idx="4">
                  <c:v>80</c:v>
                </c:pt>
                <c:pt idx="5">
                  <c:v>165</c:v>
                </c:pt>
                <c:pt idx="6">
                  <c:v>190</c:v>
                </c:pt>
                <c:pt idx="7">
                  <c:v>170</c:v>
                </c:pt>
                <c:pt idx="8">
                  <c:v>224</c:v>
                </c:pt>
                <c:pt idx="9">
                  <c:v>230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596B-4C72-BCF4-9B16A89D978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Unemployment</c:v>
                </c:pt>
              </c:strCache>
            </c:strRef>
          </c:tx>
          <c:xVal>
            <c:numRef>
              <c:f>Sheet1!$A$2:$A$11</c:f>
              <c:numCache>
                <c:formatCode>General</c:formatCode>
                <c:ptCount val="10"/>
                <c:pt idx="0">
                  <c:v>100</c:v>
                </c:pt>
                <c:pt idx="1">
                  <c:v>180</c:v>
                </c:pt>
                <c:pt idx="2">
                  <c:v>310</c:v>
                </c:pt>
                <c:pt idx="3">
                  <c:v>430</c:v>
                </c:pt>
                <c:pt idx="4">
                  <c:v>480</c:v>
                </c:pt>
                <c:pt idx="5">
                  <c:v>610</c:v>
                </c:pt>
                <c:pt idx="6">
                  <c:v>750</c:v>
                </c:pt>
                <c:pt idx="7">
                  <c:v>800</c:v>
                </c:pt>
                <c:pt idx="8">
                  <c:v>910</c:v>
                </c:pt>
                <c:pt idx="9">
                  <c:v>999</c:v>
                </c:pt>
              </c:numCache>
            </c:numRef>
          </c:xVal>
          <c:yVal>
            <c:numRef>
              <c:f>Sheet1!$D$2:$D$11</c:f>
              <c:numCache>
                <c:formatCode>General</c:formatCode>
                <c:ptCount val="10"/>
                <c:pt idx="0">
                  <c:v>26</c:v>
                </c:pt>
                <c:pt idx="1">
                  <c:v>78</c:v>
                </c:pt>
                <c:pt idx="2">
                  <c:v>42</c:v>
                </c:pt>
                <c:pt idx="3">
                  <c:v>135</c:v>
                </c:pt>
                <c:pt idx="4">
                  <c:v>108</c:v>
                </c:pt>
                <c:pt idx="5">
                  <c:v>233</c:v>
                </c:pt>
                <c:pt idx="6">
                  <c:v>208</c:v>
                </c:pt>
                <c:pt idx="7">
                  <c:v>194</c:v>
                </c:pt>
                <c:pt idx="8">
                  <c:v>250</c:v>
                </c:pt>
                <c:pt idx="9">
                  <c:v>282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596B-4C72-BCF4-9B16A89D97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74487776"/>
        <c:axId val="374469744"/>
      </c:scatterChart>
      <c:valAx>
        <c:axId val="374487776"/>
        <c:scaling>
          <c:orientation val="minMax"/>
          <c:max val="1000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GB" dirty="0"/>
                  <a:t>Homeless People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374469744"/>
        <c:crosses val="autoZero"/>
        <c:crossBetween val="midCat"/>
      </c:valAx>
      <c:valAx>
        <c:axId val="374469744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crossAx val="374487776"/>
        <c:crosses val="autoZero"/>
        <c:crossBetween val="midCat"/>
      </c:valAx>
    </c:plotArea>
    <c:legend>
      <c:legendPos val="r"/>
      <c:layout>
        <c:manualLayout>
          <c:xMode val="edge"/>
          <c:yMode val="edge"/>
          <c:x val="0.14920784120734909"/>
          <c:y val="0.10887567043250027"/>
          <c:w val="0.24785498687664043"/>
          <c:h val="0.24911930845600821"/>
        </c:manualLayout>
      </c:layout>
      <c:overlay val="0"/>
      <c:spPr>
        <a:solidFill>
          <a:schemeClr val="accent3">
            <a:lumMod val="20000"/>
            <a:lumOff val="80000"/>
          </a:schemeClr>
        </a:solidFill>
      </c:spPr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6BDA18-A924-4623-AFDA-7F89229823E3}" type="datetimeFigureOut">
              <a:rPr lang="en-GB" smtClean="0"/>
              <a:t>11/11/2024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B37484-4BD0-4B53-9749-250372656A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844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37484-4BD0-4B53-9749-250372656A21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02777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37484-4BD0-4B53-9749-250372656A21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22438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2225" y="796925"/>
            <a:ext cx="4273550" cy="3205163"/>
          </a:xfrm>
          <a:ln/>
        </p:spPr>
      </p:sp>
      <p:sp>
        <p:nvSpPr>
          <p:cNvPr id="329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991" y="4347195"/>
            <a:ext cx="5030018" cy="3849359"/>
          </a:xfrm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776073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37484-4BD0-4B53-9749-250372656A21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44448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37484-4BD0-4B53-9749-250372656A21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72359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37484-4BD0-4B53-9749-250372656A21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31237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37484-4BD0-4B53-9749-250372656A21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85547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37484-4BD0-4B53-9749-250372656A21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53497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2225" y="796925"/>
            <a:ext cx="4273550" cy="3205163"/>
          </a:xfrm>
          <a:ln/>
        </p:spPr>
      </p:sp>
      <p:sp>
        <p:nvSpPr>
          <p:cNvPr id="309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991" y="4347195"/>
            <a:ext cx="5030018" cy="3849359"/>
          </a:xfrm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400917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2225" y="796925"/>
            <a:ext cx="4273550" cy="3205163"/>
          </a:xfrm>
          <a:ln/>
        </p:spPr>
      </p:sp>
      <p:sp>
        <p:nvSpPr>
          <p:cNvPr id="309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991" y="4347195"/>
            <a:ext cx="5030018" cy="3849359"/>
          </a:xfrm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928980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37484-4BD0-4B53-9749-250372656A21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89155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2225" y="796925"/>
            <a:ext cx="4273550" cy="3205163"/>
          </a:xfrm>
          <a:ln/>
        </p:spPr>
      </p:sp>
      <p:sp>
        <p:nvSpPr>
          <p:cNvPr id="3543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991" y="4347195"/>
            <a:ext cx="5030018" cy="3849359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42229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37484-4BD0-4B53-9749-250372656A21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19667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37484-4BD0-4B53-9749-250372656A21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66752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37484-4BD0-4B53-9749-250372656A21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07261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977861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519730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37484-4BD0-4B53-9749-250372656A21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32335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37484-4BD0-4B53-9749-250372656A21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83535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37484-4BD0-4B53-9749-250372656A21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75419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2225" y="796925"/>
            <a:ext cx="4273550" cy="3205163"/>
          </a:xfrm>
          <a:ln/>
        </p:spPr>
      </p:sp>
      <p:sp>
        <p:nvSpPr>
          <p:cNvPr id="266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991" y="4347195"/>
            <a:ext cx="5030018" cy="3849359"/>
          </a:xfrm>
        </p:spPr>
        <p:txBody>
          <a:bodyPr/>
          <a:lstStyle/>
          <a:p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03301073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37484-4BD0-4B53-9749-250372656A21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577092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2225" y="796925"/>
            <a:ext cx="4273550" cy="3205163"/>
          </a:xfrm>
          <a:ln/>
        </p:spPr>
      </p:sp>
      <p:sp>
        <p:nvSpPr>
          <p:cNvPr id="266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991" y="4347195"/>
            <a:ext cx="5030018" cy="3849359"/>
          </a:xfrm>
        </p:spPr>
        <p:txBody>
          <a:bodyPr/>
          <a:lstStyle/>
          <a:p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45832721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2225" y="796925"/>
            <a:ext cx="4273550" cy="3205163"/>
          </a:xfrm>
          <a:ln/>
        </p:spPr>
      </p:sp>
      <p:sp>
        <p:nvSpPr>
          <p:cNvPr id="266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991" y="4347195"/>
            <a:ext cx="5030018" cy="3849359"/>
          </a:xfrm>
        </p:spPr>
        <p:txBody>
          <a:bodyPr/>
          <a:lstStyle/>
          <a:p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78844605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37484-4BD0-4B53-9749-250372656A21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638075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2225" y="796925"/>
            <a:ext cx="4273550" cy="3205163"/>
          </a:xfrm>
          <a:ln/>
        </p:spPr>
      </p:sp>
      <p:sp>
        <p:nvSpPr>
          <p:cNvPr id="282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991" y="4347195"/>
            <a:ext cx="5030018" cy="3849359"/>
          </a:xfrm>
        </p:spPr>
        <p:txBody>
          <a:bodyPr/>
          <a:lstStyle/>
          <a:p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425562096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37484-4BD0-4B53-9749-250372656A21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687978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37484-4BD0-4B53-9749-250372656A21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156669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37484-4BD0-4B53-9749-250372656A21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156669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37484-4BD0-4B53-9749-250372656A21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156669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37484-4BD0-4B53-9749-250372656A21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156669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37484-4BD0-4B53-9749-250372656A21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819462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37484-4BD0-4B53-9749-250372656A21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264173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2225" y="796925"/>
            <a:ext cx="4273550" cy="3205163"/>
          </a:xfrm>
          <a:ln/>
        </p:spPr>
      </p:sp>
      <p:sp>
        <p:nvSpPr>
          <p:cNvPr id="292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991" y="4347195"/>
            <a:ext cx="5030018" cy="3849359"/>
          </a:xfrm>
        </p:spPr>
        <p:txBody>
          <a:bodyPr/>
          <a:lstStyle/>
          <a:p>
            <a:endParaRPr lang="en-GB" altLang="en-US" dirty="0"/>
          </a:p>
          <a:p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61600777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37484-4BD0-4B53-9749-250372656A21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167021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37484-4BD0-4B53-9749-250372656A21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795740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37484-4BD0-4B53-9749-250372656A21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181849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37484-4BD0-4B53-9749-250372656A21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53327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76200"/>
            <a:ext cx="8229600" cy="11430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625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7.png"/><Relationship Id="rId4" Type="http://schemas.openxmlformats.org/officeDocument/2006/relationships/image" Target="../media/image3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8.png"/><Relationship Id="rId4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2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4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0.png"/><Relationship Id="rId9" Type="http://schemas.openxmlformats.org/officeDocument/2006/relationships/image" Target="../media/image4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8.xml"/><Relationship Id="rId5" Type="http://schemas.openxmlformats.org/officeDocument/2006/relationships/chart" Target="../charts/chart7.xml"/><Relationship Id="rId4" Type="http://schemas.openxmlformats.org/officeDocument/2006/relationships/chart" Target="../charts/char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0.png"/><Relationship Id="rId5" Type="http://schemas.openxmlformats.org/officeDocument/2006/relationships/image" Target="../media/image410.png"/><Relationship Id="rId4" Type="http://schemas.openxmlformats.org/officeDocument/2006/relationships/image" Target="../media/image31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chart" Target="../charts/chart9.xml"/><Relationship Id="rId7" Type="http://schemas.openxmlformats.org/officeDocument/2006/relationships/image" Target="../media/image70.png"/><Relationship Id="rId12" Type="http://schemas.openxmlformats.org/officeDocument/2006/relationships/image" Target="../media/image1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0.png"/><Relationship Id="rId11" Type="http://schemas.openxmlformats.org/officeDocument/2006/relationships/image" Target="../media/image110.png"/><Relationship Id="rId5" Type="http://schemas.openxmlformats.org/officeDocument/2006/relationships/chart" Target="../charts/chart11.xml"/><Relationship Id="rId10" Type="http://schemas.openxmlformats.org/officeDocument/2006/relationships/image" Target="../media/image100.png"/><Relationship Id="rId4" Type="http://schemas.openxmlformats.org/officeDocument/2006/relationships/chart" Target="../charts/chart10.xml"/><Relationship Id="rId9" Type="http://schemas.openxmlformats.org/officeDocument/2006/relationships/image" Target="../media/image9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0.png"/><Relationship Id="rId4" Type="http://schemas.openxmlformats.org/officeDocument/2006/relationships/image" Target="../media/image13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0.png"/><Relationship Id="rId5" Type="http://schemas.openxmlformats.org/officeDocument/2006/relationships/image" Target="../media/image140.png"/><Relationship Id="rId4" Type="http://schemas.openxmlformats.org/officeDocument/2006/relationships/image" Target="../media/image8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0.png"/><Relationship Id="rId4" Type="http://schemas.openxmlformats.org/officeDocument/2006/relationships/image" Target="../media/image18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7" Type="http://schemas.openxmlformats.org/officeDocument/2006/relationships/image" Target="../media/image23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0.png"/><Relationship Id="rId5" Type="http://schemas.openxmlformats.org/officeDocument/2006/relationships/image" Target="../media/image21.png"/><Relationship Id="rId4" Type="http://schemas.openxmlformats.org/officeDocument/2006/relationships/image" Target="../media/image200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png"/><Relationship Id="rId3" Type="http://schemas.openxmlformats.org/officeDocument/2006/relationships/image" Target="../media/image21.png"/><Relationship Id="rId7" Type="http://schemas.openxmlformats.org/officeDocument/2006/relationships/image" Target="../media/image22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5.png"/><Relationship Id="rId5" Type="http://schemas.openxmlformats.org/officeDocument/2006/relationships/image" Target="../media/image240.png"/><Relationship Id="rId4" Type="http://schemas.openxmlformats.org/officeDocument/2006/relationships/chart" Target="../charts/chart1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0.png"/><Relationship Id="rId5" Type="http://schemas.openxmlformats.org/officeDocument/2006/relationships/image" Target="../media/image220.png"/><Relationship Id="rId4" Type="http://schemas.openxmlformats.org/officeDocument/2006/relationships/image" Target="../media/image25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0.png"/><Relationship Id="rId5" Type="http://schemas.openxmlformats.org/officeDocument/2006/relationships/image" Target="../media/image220.png"/><Relationship Id="rId4" Type="http://schemas.openxmlformats.org/officeDocument/2006/relationships/image" Target="../media/image27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1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9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8" name="Straight Arrow Connector 127"/>
          <p:cNvCxnSpPr>
            <a:stCxn id="124" idx="1"/>
            <a:endCxn id="108" idx="2"/>
          </p:cNvCxnSpPr>
          <p:nvPr/>
        </p:nvCxnSpPr>
        <p:spPr>
          <a:xfrm>
            <a:off x="533400" y="2688209"/>
            <a:ext cx="5890947" cy="3172"/>
          </a:xfrm>
          <a:prstGeom prst="straightConnector1">
            <a:avLst/>
          </a:prstGeom>
          <a:ln w="17780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3" name="Straight Arrow Connector 142"/>
          <p:cNvCxnSpPr>
            <a:stCxn id="124" idx="1"/>
            <a:endCxn id="108" idx="2"/>
          </p:cNvCxnSpPr>
          <p:nvPr/>
        </p:nvCxnSpPr>
        <p:spPr>
          <a:xfrm>
            <a:off x="533400" y="2688209"/>
            <a:ext cx="5890947" cy="3172"/>
          </a:xfrm>
          <a:prstGeom prst="straightConnector1">
            <a:avLst/>
          </a:prstGeom>
          <a:ln w="9525" cap="flat" cmpd="sng" algn="ctr">
            <a:solidFill>
              <a:schemeClr val="bg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9" name="Rounded Rectangle 64"/>
          <p:cNvSpPr/>
          <p:nvPr/>
        </p:nvSpPr>
        <p:spPr>
          <a:xfrm>
            <a:off x="1066800" y="1295400"/>
            <a:ext cx="7010400" cy="4676775"/>
          </a:xfrm>
          <a:prstGeom prst="roundRect">
            <a:avLst/>
          </a:prstGeom>
          <a:noFill/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4" name="Pentagon 41"/>
          <p:cNvSpPr/>
          <p:nvPr/>
        </p:nvSpPr>
        <p:spPr>
          <a:xfrm>
            <a:off x="533400" y="2557018"/>
            <a:ext cx="122819" cy="26238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b="1" dirty="0"/>
          </a:p>
        </p:txBody>
      </p:sp>
      <p:cxnSp>
        <p:nvCxnSpPr>
          <p:cNvPr id="135" name="Elbow Connector 73"/>
          <p:cNvCxnSpPr>
            <a:stCxn id="122" idx="0"/>
            <a:endCxn id="110" idx="6"/>
          </p:cNvCxnSpPr>
          <p:nvPr/>
        </p:nvCxnSpPr>
        <p:spPr>
          <a:xfrm rot="16200000" flipV="1">
            <a:off x="4670377" y="2285111"/>
            <a:ext cx="716160" cy="5438768"/>
          </a:xfrm>
          <a:prstGeom prst="bentConnector2">
            <a:avLst/>
          </a:prstGeom>
          <a:ln w="1778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1" name="Rectangle 100"/>
          <p:cNvSpPr/>
          <p:nvPr/>
        </p:nvSpPr>
        <p:spPr>
          <a:xfrm>
            <a:off x="2651263" y="2025045"/>
            <a:ext cx="1001621" cy="307777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n-GB" sz="1400" b="1" dirty="0"/>
              <a:t>Probability</a:t>
            </a:r>
            <a:endParaRPr lang="en-GB" sz="1400" dirty="0"/>
          </a:p>
        </p:txBody>
      </p:sp>
      <p:sp>
        <p:nvSpPr>
          <p:cNvPr id="103" name="Rectangle 102"/>
          <p:cNvSpPr/>
          <p:nvPr/>
        </p:nvSpPr>
        <p:spPr>
          <a:xfrm>
            <a:off x="1474886" y="1799422"/>
            <a:ext cx="1020664" cy="52322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n-GB" sz="1400" b="1" dirty="0"/>
              <a:t>Descriptive</a:t>
            </a:r>
          </a:p>
          <a:p>
            <a:pPr algn="ctr"/>
            <a:r>
              <a:rPr lang="en-GB" sz="1400" b="1" dirty="0"/>
              <a:t>Statistics</a:t>
            </a:r>
            <a:endParaRPr lang="en-GB" sz="1400" dirty="0"/>
          </a:p>
        </p:txBody>
      </p:sp>
      <p:sp>
        <p:nvSpPr>
          <p:cNvPr id="105" name="Rectangle 104"/>
          <p:cNvSpPr/>
          <p:nvPr/>
        </p:nvSpPr>
        <p:spPr>
          <a:xfrm>
            <a:off x="3808597" y="1799422"/>
            <a:ext cx="1149289" cy="52322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n-GB" sz="1400" b="1" dirty="0"/>
              <a:t>Probability</a:t>
            </a:r>
          </a:p>
          <a:p>
            <a:pPr algn="ctr"/>
            <a:r>
              <a:rPr lang="en-GB" sz="1400" b="1" dirty="0"/>
              <a:t>Distributions</a:t>
            </a:r>
            <a:endParaRPr lang="en-GB" sz="1400" dirty="0"/>
          </a:p>
        </p:txBody>
      </p:sp>
      <p:sp>
        <p:nvSpPr>
          <p:cNvPr id="107" name="Rectangle 106"/>
          <p:cNvSpPr/>
          <p:nvPr/>
        </p:nvSpPr>
        <p:spPr>
          <a:xfrm>
            <a:off x="6275649" y="1799422"/>
            <a:ext cx="1013418" cy="52322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n-GB" sz="1400" b="1" dirty="0"/>
              <a:t>Hypothesis</a:t>
            </a:r>
          </a:p>
          <a:p>
            <a:pPr algn="ctr"/>
            <a:r>
              <a:rPr lang="en-GB" sz="1400" b="1" dirty="0"/>
              <a:t>Testing 1</a:t>
            </a:r>
            <a:endParaRPr lang="en-GB" sz="1400" dirty="0"/>
          </a:p>
        </p:txBody>
      </p:sp>
      <p:sp>
        <p:nvSpPr>
          <p:cNvPr id="109" name="Rectangle 108"/>
          <p:cNvSpPr/>
          <p:nvPr/>
        </p:nvSpPr>
        <p:spPr>
          <a:xfrm>
            <a:off x="2594245" y="5039380"/>
            <a:ext cx="1113318" cy="52322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n-GB" sz="1400" b="1" dirty="0"/>
              <a:t>Testing</a:t>
            </a:r>
          </a:p>
          <a:p>
            <a:pPr algn="ctr"/>
            <a:r>
              <a:rPr lang="en-GB" sz="1400" b="1" dirty="0"/>
              <a:t>Relationship</a:t>
            </a:r>
            <a:endParaRPr lang="en-GB" sz="1400" dirty="0"/>
          </a:p>
        </p:txBody>
      </p:sp>
      <p:sp>
        <p:nvSpPr>
          <p:cNvPr id="111" name="Rectangle 110"/>
          <p:cNvSpPr/>
          <p:nvPr/>
        </p:nvSpPr>
        <p:spPr>
          <a:xfrm>
            <a:off x="3886201" y="5054798"/>
            <a:ext cx="991169" cy="307777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n-GB" sz="1400" b="1" dirty="0"/>
              <a:t>Regression</a:t>
            </a:r>
            <a:endParaRPr lang="en-GB" sz="1400" dirty="0"/>
          </a:p>
        </p:txBody>
      </p:sp>
      <p:sp>
        <p:nvSpPr>
          <p:cNvPr id="113" name="Rectangle 112"/>
          <p:cNvSpPr/>
          <p:nvPr/>
        </p:nvSpPr>
        <p:spPr>
          <a:xfrm>
            <a:off x="6334125" y="5085080"/>
            <a:ext cx="904875" cy="52322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GB" sz="1400" b="1" dirty="0"/>
              <a:t>Factor</a:t>
            </a:r>
          </a:p>
          <a:p>
            <a:pPr algn="ctr"/>
            <a:r>
              <a:rPr lang="en-GB" sz="1400" b="1" dirty="0"/>
              <a:t>Analysis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225248" y="1981200"/>
            <a:ext cx="870752" cy="307777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n-GB" sz="1400" b="1" dirty="0"/>
              <a:t>Sampling</a:t>
            </a:r>
          </a:p>
        </p:txBody>
      </p:sp>
      <p:sp>
        <p:nvSpPr>
          <p:cNvPr id="122" name="Oval 121"/>
          <p:cNvSpPr/>
          <p:nvPr/>
        </p:nvSpPr>
        <p:spPr>
          <a:xfrm>
            <a:off x="7385891" y="5362575"/>
            <a:ext cx="723900" cy="69532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/>
              <a:t>Week</a:t>
            </a:r>
          </a:p>
          <a:p>
            <a:pPr algn="ctr"/>
            <a:r>
              <a:rPr lang="en-GB" sz="2000" b="1" dirty="0"/>
              <a:t>11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7342281" y="6106180"/>
            <a:ext cx="811119" cy="307777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n-GB" sz="1400" b="1" dirty="0"/>
              <a:t>Revision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134855" y="5090072"/>
            <a:ext cx="1045478" cy="52322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n-GB" sz="1400" b="1" dirty="0"/>
              <a:t>Conditional</a:t>
            </a:r>
          </a:p>
          <a:p>
            <a:pPr algn="ctr"/>
            <a:r>
              <a:rPr lang="en-GB" sz="1400" b="1" dirty="0"/>
              <a:t>Probability</a:t>
            </a:r>
            <a:endParaRPr lang="en-GB" sz="1400" dirty="0"/>
          </a:p>
        </p:txBody>
      </p:sp>
      <p:cxnSp>
        <p:nvCxnSpPr>
          <p:cNvPr id="127" name="Elbow Connector 46"/>
          <p:cNvCxnSpPr>
            <a:stCxn id="110" idx="2"/>
            <a:endCxn id="108" idx="6"/>
          </p:cNvCxnSpPr>
          <p:nvPr/>
        </p:nvCxnSpPr>
        <p:spPr>
          <a:xfrm rot="10800000" flipH="1">
            <a:off x="1585173" y="2691381"/>
            <a:ext cx="5563074" cy="1955034"/>
          </a:xfrm>
          <a:prstGeom prst="bentConnector5">
            <a:avLst>
              <a:gd name="adj1" fmla="val -4109"/>
              <a:gd name="adj2" fmla="val 50000"/>
              <a:gd name="adj3" fmla="val 104109"/>
            </a:avLst>
          </a:prstGeom>
          <a:ln w="1778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6" name="Title 1"/>
          <p:cNvSpPr>
            <a:spLocks noGrp="1"/>
          </p:cNvSpPr>
          <p:nvPr>
            <p:ph type="title"/>
          </p:nvPr>
        </p:nvSpPr>
        <p:spPr>
          <a:xfrm>
            <a:off x="304800" y="76200"/>
            <a:ext cx="8229600" cy="869277"/>
          </a:xfrm>
        </p:spPr>
        <p:txBody>
          <a:bodyPr/>
          <a:lstStyle/>
          <a:p>
            <a:r>
              <a:rPr lang="en-GB" dirty="0"/>
              <a:t>Module Overview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447800" y="5029200"/>
            <a:ext cx="1013419" cy="52322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n-GB" sz="1400" b="1" dirty="0"/>
              <a:t>Hypothesis</a:t>
            </a:r>
          </a:p>
          <a:p>
            <a:pPr algn="ctr"/>
            <a:r>
              <a:rPr lang="en-GB" sz="1400" b="1" dirty="0"/>
              <a:t>Testing 2</a:t>
            </a:r>
          </a:p>
        </p:txBody>
      </p:sp>
      <p:cxnSp>
        <p:nvCxnSpPr>
          <p:cNvPr id="142" name="Elbow Connector 73"/>
          <p:cNvCxnSpPr>
            <a:stCxn id="122" idx="0"/>
            <a:endCxn id="110" idx="6"/>
          </p:cNvCxnSpPr>
          <p:nvPr/>
        </p:nvCxnSpPr>
        <p:spPr>
          <a:xfrm rot="16200000" flipV="1">
            <a:off x="4670377" y="2285111"/>
            <a:ext cx="716160" cy="5438768"/>
          </a:xfrm>
          <a:prstGeom prst="bentConnector2">
            <a:avLst/>
          </a:prstGeom>
          <a:ln w="9525" cap="flat" cmpd="sng" algn="ctr">
            <a:solidFill>
              <a:schemeClr val="bg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4" name="Elbow Connector 46"/>
          <p:cNvCxnSpPr>
            <a:stCxn id="110" idx="2"/>
            <a:endCxn id="108" idx="6"/>
          </p:cNvCxnSpPr>
          <p:nvPr/>
        </p:nvCxnSpPr>
        <p:spPr>
          <a:xfrm rot="10800000" flipH="1">
            <a:off x="1585173" y="2691381"/>
            <a:ext cx="5563074" cy="1955034"/>
          </a:xfrm>
          <a:prstGeom prst="bentConnector5">
            <a:avLst>
              <a:gd name="adj1" fmla="val -4109"/>
              <a:gd name="adj2" fmla="val 50000"/>
              <a:gd name="adj3" fmla="val 104109"/>
            </a:avLst>
          </a:prstGeom>
          <a:ln w="9525" cap="flat" cmpd="sng" algn="ctr">
            <a:solidFill>
              <a:schemeClr val="bg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0" name="Oval 109"/>
          <p:cNvSpPr/>
          <p:nvPr/>
        </p:nvSpPr>
        <p:spPr>
          <a:xfrm>
            <a:off x="1585173" y="4298752"/>
            <a:ext cx="723900" cy="695325"/>
          </a:xfrm>
          <a:prstGeom prst="ellipse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/>
              <a:t>Week</a:t>
            </a:r>
          </a:p>
          <a:p>
            <a:pPr algn="ctr"/>
            <a:r>
              <a:rPr lang="en-GB" sz="2000" b="1" dirty="0"/>
              <a:t>6</a:t>
            </a:r>
          </a:p>
        </p:txBody>
      </p:sp>
      <p:sp>
        <p:nvSpPr>
          <p:cNvPr id="112" name="Oval 111"/>
          <p:cNvSpPr/>
          <p:nvPr/>
        </p:nvSpPr>
        <p:spPr>
          <a:xfrm>
            <a:off x="2767095" y="4298752"/>
            <a:ext cx="723900" cy="695325"/>
          </a:xfrm>
          <a:prstGeom prst="ellipse">
            <a:avLst/>
          </a:prstGeom>
          <a:solidFill>
            <a:srgbClr val="FFC000"/>
          </a:solidFill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/>
              <a:t>Week</a:t>
            </a:r>
          </a:p>
          <a:p>
            <a:pPr algn="ctr"/>
            <a:r>
              <a:rPr lang="en-GB" sz="2000" b="1" dirty="0"/>
              <a:t>7</a:t>
            </a:r>
          </a:p>
        </p:txBody>
      </p:sp>
      <p:sp>
        <p:nvSpPr>
          <p:cNvPr id="114" name="Oval 113"/>
          <p:cNvSpPr/>
          <p:nvPr/>
        </p:nvSpPr>
        <p:spPr>
          <a:xfrm>
            <a:off x="4006152" y="4298752"/>
            <a:ext cx="723900" cy="695325"/>
          </a:xfrm>
          <a:prstGeom prst="ellipse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/>
              <a:t>Week</a:t>
            </a:r>
          </a:p>
          <a:p>
            <a:pPr algn="ctr"/>
            <a:r>
              <a:rPr lang="en-GB" sz="2000" b="1" dirty="0"/>
              <a:t>8</a:t>
            </a:r>
          </a:p>
        </p:txBody>
      </p:sp>
      <p:sp>
        <p:nvSpPr>
          <p:cNvPr id="116" name="Oval 115"/>
          <p:cNvSpPr/>
          <p:nvPr/>
        </p:nvSpPr>
        <p:spPr>
          <a:xfrm>
            <a:off x="6424348" y="4298752"/>
            <a:ext cx="723900" cy="695325"/>
          </a:xfrm>
          <a:prstGeom prst="ellipse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/>
              <a:t>Week</a:t>
            </a:r>
          </a:p>
          <a:p>
            <a:pPr algn="ctr"/>
            <a:r>
              <a:rPr lang="en-GB" sz="2000" b="1" dirty="0"/>
              <a:t>10</a:t>
            </a:r>
          </a:p>
        </p:txBody>
      </p:sp>
      <p:sp>
        <p:nvSpPr>
          <p:cNvPr id="125" name="Oval 124"/>
          <p:cNvSpPr/>
          <p:nvPr/>
        </p:nvSpPr>
        <p:spPr>
          <a:xfrm>
            <a:off x="5304166" y="4298752"/>
            <a:ext cx="723900" cy="695325"/>
          </a:xfrm>
          <a:prstGeom prst="ellipse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/>
              <a:t>Week</a:t>
            </a:r>
          </a:p>
          <a:p>
            <a:pPr algn="ctr"/>
            <a:r>
              <a:rPr lang="en-GB" sz="2000" b="1" dirty="0"/>
              <a:t>9</a:t>
            </a:r>
          </a:p>
        </p:txBody>
      </p:sp>
      <p:sp>
        <p:nvSpPr>
          <p:cNvPr id="100" name="Oval 99"/>
          <p:cNvSpPr/>
          <p:nvPr/>
        </p:nvSpPr>
        <p:spPr>
          <a:xfrm>
            <a:off x="2790125" y="2345979"/>
            <a:ext cx="723900" cy="695325"/>
          </a:xfrm>
          <a:prstGeom prst="ellipse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/>
              <a:t>Week</a:t>
            </a:r>
          </a:p>
          <a:p>
            <a:pPr algn="ctr"/>
            <a:r>
              <a:rPr lang="en-GB" sz="2000" b="1" dirty="0"/>
              <a:t>2</a:t>
            </a:r>
          </a:p>
        </p:txBody>
      </p:sp>
      <p:sp>
        <p:nvSpPr>
          <p:cNvPr id="104" name="Oval 103"/>
          <p:cNvSpPr/>
          <p:nvPr/>
        </p:nvSpPr>
        <p:spPr>
          <a:xfrm>
            <a:off x="4019643" y="2345979"/>
            <a:ext cx="723900" cy="695325"/>
          </a:xfrm>
          <a:prstGeom prst="ellipse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/>
              <a:t>Week</a:t>
            </a:r>
          </a:p>
          <a:p>
            <a:pPr algn="ctr"/>
            <a:r>
              <a:rPr lang="en-GB" sz="2000" b="1" dirty="0"/>
              <a:t>3</a:t>
            </a:r>
          </a:p>
        </p:txBody>
      </p:sp>
      <p:sp>
        <p:nvSpPr>
          <p:cNvPr id="106" name="Oval 105"/>
          <p:cNvSpPr/>
          <p:nvPr/>
        </p:nvSpPr>
        <p:spPr>
          <a:xfrm>
            <a:off x="5255214" y="2343718"/>
            <a:ext cx="723900" cy="695325"/>
          </a:xfrm>
          <a:prstGeom prst="ellipse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/>
              <a:t>Week</a:t>
            </a:r>
          </a:p>
          <a:p>
            <a:pPr algn="ctr"/>
            <a:r>
              <a:rPr lang="en-GB" sz="2000" b="1" dirty="0"/>
              <a:t>4</a:t>
            </a:r>
          </a:p>
        </p:txBody>
      </p:sp>
      <p:sp>
        <p:nvSpPr>
          <p:cNvPr id="108" name="Oval 107"/>
          <p:cNvSpPr/>
          <p:nvPr/>
        </p:nvSpPr>
        <p:spPr>
          <a:xfrm>
            <a:off x="6424347" y="2343718"/>
            <a:ext cx="723900" cy="695325"/>
          </a:xfrm>
          <a:prstGeom prst="ellipse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/>
              <a:t>Week</a:t>
            </a:r>
          </a:p>
          <a:p>
            <a:pPr algn="ctr"/>
            <a:r>
              <a:rPr lang="en-GB" sz="2000" b="1" dirty="0"/>
              <a:t>5</a:t>
            </a:r>
          </a:p>
        </p:txBody>
      </p:sp>
      <p:sp>
        <p:nvSpPr>
          <p:cNvPr id="138" name="Oval 137"/>
          <p:cNvSpPr/>
          <p:nvPr/>
        </p:nvSpPr>
        <p:spPr>
          <a:xfrm>
            <a:off x="1600200" y="2352675"/>
            <a:ext cx="723900" cy="695325"/>
          </a:xfrm>
          <a:prstGeom prst="ellipse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/>
              <a:t>Week</a:t>
            </a:r>
          </a:p>
          <a:p>
            <a:pPr algn="ctr"/>
            <a:r>
              <a:rPr lang="en-GB" sz="2000" b="1" dirty="0"/>
              <a:t>1</a:t>
            </a:r>
          </a:p>
        </p:txBody>
      </p:sp>
      <p:cxnSp>
        <p:nvCxnSpPr>
          <p:cNvPr id="181" name="Straight Arrow Connector 180"/>
          <p:cNvCxnSpPr>
            <a:stCxn id="180" idx="3"/>
            <a:endCxn id="122" idx="6"/>
          </p:cNvCxnSpPr>
          <p:nvPr/>
        </p:nvCxnSpPr>
        <p:spPr>
          <a:xfrm flipH="1">
            <a:off x="8109791" y="5709209"/>
            <a:ext cx="779641" cy="1029"/>
          </a:xfrm>
          <a:prstGeom prst="straightConnector1">
            <a:avLst/>
          </a:prstGeom>
          <a:ln w="17780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2" name="Straight Arrow Connector 181"/>
          <p:cNvCxnSpPr>
            <a:stCxn id="180" idx="3"/>
            <a:endCxn id="122" idx="6"/>
          </p:cNvCxnSpPr>
          <p:nvPr/>
        </p:nvCxnSpPr>
        <p:spPr>
          <a:xfrm flipH="1">
            <a:off x="8109791" y="5709209"/>
            <a:ext cx="779641" cy="1029"/>
          </a:xfrm>
          <a:prstGeom prst="straightConnector1">
            <a:avLst/>
          </a:prstGeom>
          <a:ln w="9525" cap="flat" cmpd="sng" algn="ctr">
            <a:solidFill>
              <a:schemeClr val="bg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0" name="Pentagon 41"/>
          <p:cNvSpPr/>
          <p:nvPr/>
        </p:nvSpPr>
        <p:spPr>
          <a:xfrm>
            <a:off x="8766613" y="5578018"/>
            <a:ext cx="122819" cy="26238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b="1" dirty="0"/>
          </a:p>
        </p:txBody>
      </p:sp>
    </p:spTree>
    <p:extLst>
      <p:ext uri="{BB962C8B-B14F-4D97-AF65-F5344CB8AC3E}">
        <p14:creationId xmlns:p14="http://schemas.microsoft.com/office/powerpoint/2010/main" val="145964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Hypothesis Testing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143000"/>
            <a:ext cx="5150357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Rectangle 14"/>
          <p:cNvSpPr/>
          <p:nvPr/>
        </p:nvSpPr>
        <p:spPr>
          <a:xfrm>
            <a:off x="304800" y="762000"/>
            <a:ext cx="40262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/>
              <a:t>So far, looking for differences…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1334313" y="2099846"/>
          <a:ext cx="7657287" cy="2476500"/>
        </p:xfrm>
        <a:graphic>
          <a:graphicData uri="http://schemas.openxmlformats.org/drawingml/2006/table">
            <a:tbl>
              <a:tblPr firstRow="1" firstCol="1">
                <a:tableStyleId>{8EC20E35-A176-4012-BC5E-935CFFF8708E}</a:tableStyleId>
              </a:tblPr>
              <a:tblGrid>
                <a:gridCol w="20184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Categorical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Scalar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775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Relating</a:t>
                      </a:r>
                    </a:p>
                    <a:p>
                      <a:pPr algn="ctr"/>
                      <a:r>
                        <a:rPr lang="en-GB" sz="2400" dirty="0"/>
                        <a:t>Two groups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3200" b="1" dirty="0">
                          <a:solidFill>
                            <a:schemeClr val="tx1"/>
                          </a:solidFill>
                        </a:rPr>
                        <a:t>χ</a:t>
                      </a:r>
                      <a:r>
                        <a:rPr lang="en-GB" sz="3200" b="1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  <a:p>
                      <a:pPr algn="ctr"/>
                      <a:r>
                        <a:rPr lang="en-GB" sz="1800" dirty="0">
                          <a:solidFill>
                            <a:schemeClr val="tx1"/>
                          </a:solidFill>
                        </a:rPr>
                        <a:t>test for</a:t>
                      </a:r>
                      <a:r>
                        <a:rPr lang="en-GB" sz="1800" baseline="0" dirty="0">
                          <a:solidFill>
                            <a:schemeClr val="tx1"/>
                          </a:solidFill>
                        </a:rPr>
                        <a:t> independence</a:t>
                      </a:r>
                      <a:endParaRPr lang="en-GB" sz="1800" baseline="30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aseline="0" dirty="0">
                          <a:solidFill>
                            <a:schemeClr val="tx1"/>
                          </a:solidFill>
                        </a:rPr>
                        <a:t>Correlation </a:t>
                      </a:r>
                      <a:r>
                        <a:rPr lang="en-GB" sz="2400" b="1" dirty="0">
                          <a:solidFill>
                            <a:schemeClr val="tx1"/>
                          </a:solidFill>
                        </a:rPr>
                        <a:t>t Test</a:t>
                      </a:r>
                      <a:endParaRPr lang="en-GB" sz="2400" baseline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GB" sz="2400" b="1" baseline="0" dirty="0">
                          <a:solidFill>
                            <a:schemeClr val="tx1"/>
                          </a:solidFill>
                        </a:rPr>
                        <a:t>Linear Regression</a:t>
                      </a:r>
                      <a:endParaRPr lang="en-GB" sz="2400" b="1" baseline="30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775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Relating</a:t>
                      </a:r>
                    </a:p>
                    <a:p>
                      <a:pPr algn="ctr"/>
                      <a:r>
                        <a:rPr lang="en-GB" sz="2400" b="1" dirty="0"/>
                        <a:t>Many groups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Logistic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>
                          <a:solidFill>
                            <a:schemeClr val="tx1"/>
                          </a:solidFill>
                        </a:rPr>
                        <a:t>Multiple Regression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3848913" y="4572000"/>
            <a:ext cx="51195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N.B.  This is only a subset of numerous statistical techniques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15068" y="2514600"/>
            <a:ext cx="2209800" cy="990600"/>
          </a:xfrm>
          <a:prstGeom prst="roundRect">
            <a:avLst/>
          </a:prstGeom>
          <a:noFill/>
          <a:ln w="762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5977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alt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altLang="en-US">
                            <a:latin typeface="Cambria Math"/>
                          </a:rPr>
                          <m:t>𝝌</m:t>
                        </m:r>
                      </m:e>
                      <m:sup>
                        <m:r>
                          <a:rPr lang="en-GB" altLang="en-US" smtClean="0"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GB" altLang="en-US" dirty="0"/>
                  <a:t> for Testing Relationships</a:t>
                </a:r>
                <a:endParaRPr lang="en-GB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3"/>
                <a:stretch>
                  <a:fillRect t="-64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397000"/>
          <a:ext cx="6228708" cy="2748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06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26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26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26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algn="r"/>
                      <a:endParaRPr lang="en-GB" sz="1800" dirty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r>
                        <a:rPr lang="en-GB" sz="1800" dirty="0">
                          <a:solidFill>
                            <a:schemeClr val="tx1"/>
                          </a:solidFill>
                        </a:rPr>
                        <a:t>Number</a:t>
                      </a:r>
                      <a:r>
                        <a:rPr lang="en-GB" sz="1800" baseline="0" dirty="0">
                          <a:solidFill>
                            <a:schemeClr val="tx1"/>
                          </a:solidFill>
                        </a:rPr>
                        <a:t> of </a:t>
                      </a:r>
                      <a:r>
                        <a:rPr lang="en-GB" sz="1800" b="1" baseline="0" dirty="0">
                          <a:solidFill>
                            <a:schemeClr val="tx1"/>
                          </a:solidFill>
                        </a:rPr>
                        <a:t>MALES</a:t>
                      </a:r>
                      <a:r>
                        <a:rPr lang="en-GB" sz="1800" baseline="0" dirty="0">
                          <a:solidFill>
                            <a:schemeClr val="tx1"/>
                          </a:solidFill>
                        </a:rPr>
                        <a:t> responded</a:t>
                      </a:r>
                    </a:p>
                    <a:p>
                      <a:pPr algn="r"/>
                      <a:endParaRPr lang="en-GB" sz="1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altLang="en-US" sz="2400" b="0" dirty="0">
                          <a:solidFill>
                            <a:schemeClr val="tx1"/>
                          </a:solidFill>
                        </a:rPr>
                        <a:t>160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altLang="en-US" sz="2400" b="0" dirty="0">
                          <a:solidFill>
                            <a:schemeClr val="tx1"/>
                          </a:solidFill>
                        </a:rPr>
                        <a:t>140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en-US" sz="2400" b="0" dirty="0">
                          <a:solidFill>
                            <a:schemeClr val="tx1"/>
                          </a:solidFill>
                        </a:rPr>
                        <a:t>150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algn="r"/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Number of </a:t>
                      </a:r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FEMALES</a:t>
                      </a:r>
                      <a:r>
                        <a:rPr lang="en-GB" sz="1800" b="0" baseline="0" dirty="0">
                          <a:solidFill>
                            <a:schemeClr val="tx1"/>
                          </a:solidFill>
                        </a:rPr>
                        <a:t> responded</a:t>
                      </a:r>
                    </a:p>
                    <a:p>
                      <a:pPr algn="r"/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110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146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en-US" sz="2400" b="0" dirty="0">
                          <a:solidFill>
                            <a:schemeClr val="tx1"/>
                          </a:solidFill>
                        </a:rPr>
                        <a:t>191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304800" y="762000"/>
            <a:ext cx="8458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GB" altLang="en-US" sz="2400" dirty="0"/>
              <a:t>Is there a relationship between gender and product choice?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010400" y="1397000"/>
          <a:ext cx="2590800" cy="27482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ysClr val="windowText" lastClr="000000"/>
                          </a:solidFill>
                        </a:rPr>
                        <a:t>A+B+C</a:t>
                      </a:r>
                    </a:p>
                  </a:txBody>
                  <a:tcPr>
                    <a:lnR w="12700" cmpd="sng"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en-US" sz="1800" b="1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altLang="en-US" sz="18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altLang="en-US" sz="18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altLang="en-US" sz="18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en-US" sz="1800" b="1" dirty="0">
                          <a:solidFill>
                            <a:schemeClr val="tx1"/>
                          </a:solidFill>
                        </a:rPr>
                        <a:t>447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altLang="en-US" sz="18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altLang="en-US" sz="18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altLang="en-US" sz="18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4191000"/>
          <a:ext cx="7402034" cy="6400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445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4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43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43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43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r"/>
                      <a:r>
                        <a:rPr lang="en-GB" sz="1800" b="1" dirty="0">
                          <a:solidFill>
                            <a:sysClr val="windowText" lastClr="000000"/>
                          </a:solidFill>
                        </a:rPr>
                        <a:t>MALES+FEMALES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270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286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en-US" sz="1800" b="1" dirty="0">
                          <a:solidFill>
                            <a:schemeClr val="tx1"/>
                          </a:solidFill>
                        </a:rPr>
                        <a:t>341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altLang="en-US" sz="18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010400" y="4191000"/>
          <a:ext cx="2286000" cy="6400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en-US" sz="3200" b="0" dirty="0">
                          <a:solidFill>
                            <a:schemeClr val="tx1"/>
                          </a:solidFill>
                        </a:rPr>
                        <a:t>897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en-US" sz="18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altLang="en-US" sz="18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800378" y="4180367"/>
            <a:ext cx="2628622" cy="64633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r"/>
            <a:r>
              <a:rPr lang="en-GB" dirty="0"/>
              <a:t>Number of customers responded</a:t>
            </a:r>
            <a:endParaRPr lang="en-GB" b="1" dirty="0"/>
          </a:p>
        </p:txBody>
      </p:sp>
      <p:sp>
        <p:nvSpPr>
          <p:cNvPr id="11" name="Oval Callout 10"/>
          <p:cNvSpPr/>
          <p:nvPr/>
        </p:nvSpPr>
        <p:spPr>
          <a:xfrm>
            <a:off x="7620000" y="130813"/>
            <a:ext cx="1384179" cy="876656"/>
          </a:xfrm>
          <a:prstGeom prst="wedgeEllipseCallout">
            <a:avLst>
              <a:gd name="adj1" fmla="val -39121"/>
              <a:gd name="adj2" fmla="val 9300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Row SUM</a:t>
            </a:r>
          </a:p>
        </p:txBody>
      </p:sp>
      <p:sp>
        <p:nvSpPr>
          <p:cNvPr id="12" name="Oval Callout 11"/>
          <p:cNvSpPr/>
          <p:nvPr/>
        </p:nvSpPr>
        <p:spPr>
          <a:xfrm>
            <a:off x="304800" y="4563253"/>
            <a:ext cx="1384179" cy="876656"/>
          </a:xfrm>
          <a:prstGeom prst="wedgeEllipseCallout">
            <a:avLst>
              <a:gd name="adj1" fmla="val 86856"/>
              <a:gd name="adj2" fmla="val -41620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Column SUM</a:t>
            </a:r>
          </a:p>
        </p:txBody>
      </p:sp>
    </p:spTree>
    <p:extLst>
      <p:ext uri="{BB962C8B-B14F-4D97-AF65-F5344CB8AC3E}">
        <p14:creationId xmlns:p14="http://schemas.microsoft.com/office/powerpoint/2010/main" val="1478404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707" name="Text Box 3"/>
          <p:cNvSpPr txBox="1">
            <a:spLocks noChangeArrowheads="1"/>
          </p:cNvSpPr>
          <p:nvPr/>
        </p:nvSpPr>
        <p:spPr bwMode="auto">
          <a:xfrm>
            <a:off x="304800" y="990600"/>
            <a:ext cx="372922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 sz="2400" dirty="0">
                <a:solidFill>
                  <a:srgbClr val="333399"/>
                </a:solidFill>
              </a:rPr>
              <a:t>The Null Hypothesis is that…</a:t>
            </a:r>
          </a:p>
        </p:txBody>
      </p:sp>
      <p:sp>
        <p:nvSpPr>
          <p:cNvPr id="328708" name="Text Box 4"/>
          <p:cNvSpPr txBox="1">
            <a:spLocks noChangeArrowheads="1"/>
          </p:cNvSpPr>
          <p:nvPr/>
        </p:nvSpPr>
        <p:spPr bwMode="auto">
          <a:xfrm>
            <a:off x="304800" y="2554069"/>
            <a:ext cx="5943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GB" altLang="en-US" sz="2400" dirty="0"/>
              <a:t>To </a:t>
            </a:r>
            <a:r>
              <a:rPr lang="en-GB" altLang="en-US" sz="2400" b="1" dirty="0"/>
              <a:t>generate the expected frequencies </a:t>
            </a:r>
            <a:r>
              <a:rPr lang="en-GB" altLang="en-US" sz="2400" dirty="0"/>
              <a:t>under the null hypothesis we use the formula</a:t>
            </a:r>
            <a:endParaRPr lang="en-GB" altLang="en-US" sz="2400" dirty="0">
              <a:solidFill>
                <a:schemeClr val="accent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altLang="en-US">
                            <a:latin typeface="Cambria Math"/>
                          </a:rPr>
                          <m:t>𝝌</m:t>
                        </m:r>
                      </m:e>
                      <m:sup>
                        <m:r>
                          <a:rPr lang="en-GB" altLang="en-US"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GB" altLang="en-US" dirty="0"/>
                  <a:t> for Testing Relationships</a:t>
                </a:r>
                <a:endParaRPr lang="en-GB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3"/>
                <a:stretch>
                  <a:fillRect t="-64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4038600" y="990600"/>
            <a:ext cx="4572000" cy="83099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/>
            <a:r>
              <a:rPr lang="en-GB" altLang="en-US" sz="2400" dirty="0">
                <a:solidFill>
                  <a:srgbClr val="333399"/>
                </a:solidFill>
              </a:rPr>
              <a:t>There is </a:t>
            </a:r>
            <a:r>
              <a:rPr lang="en-GB" altLang="en-US" sz="2400" b="1" dirty="0">
                <a:solidFill>
                  <a:srgbClr val="333399"/>
                </a:solidFill>
              </a:rPr>
              <a:t>no association</a:t>
            </a:r>
            <a:r>
              <a:rPr lang="en-GB" altLang="en-US" sz="2400" dirty="0">
                <a:solidFill>
                  <a:srgbClr val="333399"/>
                </a:solidFill>
              </a:rPr>
              <a:t> between </a:t>
            </a:r>
          </a:p>
          <a:p>
            <a:pPr algn="ctr"/>
            <a:r>
              <a:rPr lang="en-GB" altLang="en-US" sz="2400" dirty="0">
                <a:solidFill>
                  <a:srgbClr val="333399"/>
                </a:solidFill>
              </a:rPr>
              <a:t>gender and product preference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2729033" y="3610468"/>
                <a:ext cx="4662367" cy="8091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1" i="1">
                              <a:latin typeface="Cambria Math"/>
                            </a:rPr>
                            <m:t>𝒇</m:t>
                          </m:r>
                        </m:e>
                        <m:sub>
                          <m:r>
                            <a:rPr lang="en-GB" sz="2400" b="1" i="1">
                              <a:latin typeface="Cambria Math"/>
                            </a:rPr>
                            <m:t>𝒆</m:t>
                          </m:r>
                        </m:sub>
                      </m:sSub>
                      <m:r>
                        <a:rPr lang="en-GB" sz="2400" b="1" i="1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GB" sz="2400">
                                  <a:latin typeface="Cambria Math"/>
                                </a:rPr>
                                <m:t>row</m:t>
                              </m:r>
                              <m:r>
                                <a:rPr lang="en-GB" sz="2400">
                                  <a:latin typeface="Cambria Math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GB" sz="2400">
                                  <a:latin typeface="Cambria Math"/>
                                </a:rPr>
                                <m:t>sum</m:t>
                              </m:r>
                            </m:e>
                          </m:d>
                          <m:r>
                            <a:rPr lang="en-GB" sz="2400">
                              <a:latin typeface="Cambria Math"/>
                            </a:rPr>
                            <m:t>×(</m:t>
                          </m:r>
                          <m:r>
                            <m:rPr>
                              <m:sty m:val="p"/>
                            </m:rPr>
                            <a:rPr lang="en-GB" sz="2400">
                              <a:latin typeface="Cambria Math"/>
                            </a:rPr>
                            <m:t>column</m:t>
                          </m:r>
                          <m:r>
                            <a:rPr lang="en-GB" sz="2400">
                              <a:latin typeface="Cambria Math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GB" sz="2400">
                              <a:latin typeface="Cambria Math"/>
                            </a:rPr>
                            <m:t>sum</m:t>
                          </m:r>
                          <m:r>
                            <a:rPr lang="en-GB" sz="2400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GB" sz="2400">
                              <a:latin typeface="Cambria Math"/>
                            </a:rPr>
                            <m:t>overall</m:t>
                          </m:r>
                          <m:r>
                            <a:rPr lang="en-GB" sz="2400">
                              <a:latin typeface="Cambria Math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GB" sz="2400">
                              <a:latin typeface="Cambria Math"/>
                            </a:rPr>
                            <m:t>sum</m:t>
                          </m:r>
                          <m:r>
                            <a:rPr lang="en-GB" sz="2400">
                              <a:latin typeface="Cambria Math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9033" y="3610468"/>
                <a:ext cx="4662367" cy="8091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2901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alt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altLang="en-US">
                            <a:latin typeface="Cambria Math"/>
                          </a:rPr>
                          <m:t>𝝌</m:t>
                        </m:r>
                      </m:e>
                      <m:sup>
                        <m:r>
                          <a:rPr lang="en-GB" altLang="en-US" smtClean="0"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GB" altLang="en-US" dirty="0"/>
                  <a:t> for Testing Relationships</a:t>
                </a:r>
                <a:endParaRPr lang="en-GB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3"/>
                <a:stretch>
                  <a:fillRect t="-64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397000"/>
          <a:ext cx="6228708" cy="2748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06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26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26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26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MALES</a:t>
                      </a:r>
                      <a:r>
                        <a:rPr lang="en-GB" sz="1800" dirty="0">
                          <a:solidFill>
                            <a:schemeClr val="tx1"/>
                          </a:solidFill>
                        </a:rPr>
                        <a:t>             Observed</a:t>
                      </a:r>
                    </a:p>
                    <a:p>
                      <a:pPr algn="r"/>
                      <a:endParaRPr lang="en-GB" sz="1800" dirty="0">
                        <a:solidFill>
                          <a:srgbClr val="C00000"/>
                        </a:solidFill>
                      </a:endParaRPr>
                    </a:p>
                    <a:p>
                      <a:pPr algn="r"/>
                      <a:endParaRPr lang="en-GB" sz="1800" b="1" dirty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endParaRPr lang="en-GB" sz="1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altLang="en-US" sz="2400" b="0" dirty="0">
                          <a:solidFill>
                            <a:schemeClr val="tx1"/>
                          </a:solidFill>
                        </a:rPr>
                        <a:t>160</a:t>
                      </a:r>
                    </a:p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altLang="en-US" sz="2400" b="0" dirty="0">
                          <a:solidFill>
                            <a:schemeClr val="tx1"/>
                          </a:solidFill>
                        </a:rPr>
                        <a:t>140</a:t>
                      </a:r>
                    </a:p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en-US" sz="2400" b="0" dirty="0">
                          <a:solidFill>
                            <a:schemeClr val="tx1"/>
                          </a:solidFill>
                        </a:rPr>
                        <a:t>150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FEMALES      </a:t>
                      </a:r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   Observed</a:t>
                      </a:r>
                    </a:p>
                    <a:p>
                      <a:pPr algn="r"/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110</a:t>
                      </a:r>
                    </a:p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146</a:t>
                      </a:r>
                    </a:p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en-US" sz="2400" b="0" dirty="0">
                          <a:solidFill>
                            <a:schemeClr val="tx1"/>
                          </a:solidFill>
                        </a:rPr>
                        <a:t>191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304800" y="762000"/>
            <a:ext cx="8458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GB" altLang="en-US" sz="2400" dirty="0"/>
              <a:t>Is there a relationship between gender and product choice?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010400" y="1397000"/>
          <a:ext cx="2590800" cy="27482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ysClr val="windowText" lastClr="000000"/>
                          </a:solidFill>
                        </a:rPr>
                        <a:t>A+B+C</a:t>
                      </a:r>
                    </a:p>
                  </a:txBody>
                  <a:tcPr>
                    <a:lnR w="12700" cmpd="sng"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en-US" sz="1800" b="1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altLang="en-US" sz="18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altLang="en-US" sz="18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altLang="en-US" sz="18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en-US" sz="1800" b="1" dirty="0">
                          <a:solidFill>
                            <a:schemeClr val="tx1"/>
                          </a:solidFill>
                        </a:rPr>
                        <a:t>447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altLang="en-US" sz="18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altLang="en-US" sz="18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altLang="en-US" sz="18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4191000"/>
          <a:ext cx="7402034" cy="6400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445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4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43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43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43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sz="1800" b="1" dirty="0">
                          <a:solidFill>
                            <a:sysClr val="windowText" lastClr="000000"/>
                          </a:solidFill>
                        </a:rPr>
                        <a:t>MALES+FEMALES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270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286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en-US" sz="1800" b="1" dirty="0">
                          <a:solidFill>
                            <a:schemeClr val="tx1"/>
                          </a:solidFill>
                        </a:rPr>
                        <a:t>341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altLang="en-US" sz="18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010400" y="4191000"/>
          <a:ext cx="2286000" cy="6400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en-US" sz="3200" b="0" dirty="0">
                          <a:solidFill>
                            <a:schemeClr val="tx1"/>
                          </a:solidFill>
                        </a:rPr>
                        <a:t>897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en-US" sz="18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altLang="en-US" sz="18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800378" y="4180367"/>
            <a:ext cx="2628622" cy="64633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r"/>
            <a:r>
              <a:rPr lang="en-GB" dirty="0"/>
              <a:t>Number of customers responded</a:t>
            </a:r>
            <a:endParaRPr lang="en-GB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/>
              <p:cNvGraphicFramePr>
                <a:graphicFrameLocks noGrp="1"/>
              </p:cNvGraphicFramePr>
              <p:nvPr/>
            </p:nvGraphicFramePr>
            <p:xfrm>
              <a:off x="1143000" y="1403499"/>
              <a:ext cx="5771508" cy="274828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286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43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12330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pPr algn="r"/>
                          <a:endParaRPr lang="en-GB" sz="18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r"/>
                          <a:endParaRPr lang="en-GB" sz="1800" b="1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800" dirty="0">
                              <a:solidFill>
                                <a:srgbClr val="C00000"/>
                              </a:solidFill>
                            </a:rPr>
                            <a:t>Expected</a:t>
                          </a:r>
                        </a:p>
                        <a:p>
                          <a:pPr algn="r"/>
                          <a:endParaRPr lang="en-GB" sz="18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altLang="en-US" sz="1400" b="0" dirty="0">
                            <a:solidFill>
                              <a:srgbClr val="C00000"/>
                            </a:solidFill>
                          </a:endParaRPr>
                        </a:p>
                        <a:p>
                          <a:pPr algn="ctr"/>
                          <a:endParaRPr lang="en-GB" altLang="en-US" sz="1400" b="0" dirty="0">
                            <a:solidFill>
                              <a:srgbClr val="C00000"/>
                            </a:solidFill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450</m:t>
                                    </m:r>
                                    <m:r>
                                      <a:rPr lang="en-GB" sz="1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  <a:ea typeface="Cambria Math"/>
                                      </a:rPr>
                                      <m:t>×270</m:t>
                                    </m:r>
                                  </m:num>
                                  <m:den>
                                    <m:r>
                                      <a:rPr lang="en-GB" sz="1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897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b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altLang="en-US" sz="1400" b="0" dirty="0">
                            <a:solidFill>
                              <a:srgbClr val="C00000"/>
                            </a:solidFill>
                          </a:endParaRPr>
                        </a:p>
                        <a:p>
                          <a:pPr algn="ctr"/>
                          <a:endParaRPr lang="en-GB" altLang="en-US" sz="1400" b="0" dirty="0">
                            <a:solidFill>
                              <a:srgbClr val="C00000"/>
                            </a:solidFill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450</m:t>
                                    </m:r>
                                    <m:r>
                                      <a:rPr lang="en-GB" sz="1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  <a:ea typeface="Cambria Math"/>
                                      </a:rPr>
                                      <m:t>×286</m:t>
                                    </m:r>
                                  </m:num>
                                  <m:den>
                                    <m:r>
                                      <a:rPr lang="en-GB" sz="1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897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b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altLang="en-US" sz="1400" b="0" dirty="0">
                            <a:solidFill>
                              <a:srgbClr val="C00000"/>
                            </a:solidFill>
                          </a:endParaRPr>
                        </a:p>
                        <a:p>
                          <a:pPr algn="ctr"/>
                          <a:endParaRPr lang="en-GB" altLang="en-US" sz="1400" b="0" dirty="0">
                            <a:solidFill>
                              <a:srgbClr val="C00000"/>
                            </a:solidFill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450</m:t>
                                    </m:r>
                                    <m:r>
                                      <a:rPr lang="en-GB" sz="1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  <a:ea typeface="Cambria Math"/>
                                      </a:rPr>
                                      <m:t>×341</m:t>
                                    </m:r>
                                  </m:num>
                                  <m:den>
                                    <m:r>
                                      <a:rPr lang="en-GB" sz="1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897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altLang="en-US" sz="1400" b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pPr marL="0" marR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800" dirty="0">
                            <a:solidFill>
                              <a:srgbClr val="C00000"/>
                            </a:solidFill>
                          </a:endParaRPr>
                        </a:p>
                        <a:p>
                          <a:pPr marL="0" marR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800" dirty="0">
                            <a:solidFill>
                              <a:srgbClr val="C00000"/>
                            </a:solidFill>
                          </a:endParaRPr>
                        </a:p>
                        <a:p>
                          <a:pPr marL="0" marR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800" dirty="0">
                              <a:solidFill>
                                <a:srgbClr val="C00000"/>
                              </a:solidFill>
                            </a:rPr>
                            <a:t>Expected</a:t>
                          </a:r>
                        </a:p>
                        <a:p>
                          <a:pPr marL="0" marR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altLang="en-US" sz="1400" b="0" dirty="0">
                            <a:solidFill>
                              <a:srgbClr val="C00000"/>
                            </a:solidFill>
                          </a:endParaRPr>
                        </a:p>
                        <a:p>
                          <a:pPr algn="ctr"/>
                          <a:endParaRPr lang="en-GB" altLang="en-US" sz="1400" b="0" dirty="0">
                            <a:solidFill>
                              <a:srgbClr val="C00000"/>
                            </a:solidFill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447</m:t>
                                    </m:r>
                                    <m:r>
                                      <a:rPr lang="en-GB" sz="1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  <a:ea typeface="Cambria Math"/>
                                      </a:rPr>
                                      <m:t>×270</m:t>
                                    </m:r>
                                  </m:num>
                                  <m:den>
                                    <m:r>
                                      <a:rPr lang="en-GB" sz="1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897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b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altLang="en-US" sz="1400" b="0" dirty="0">
                            <a:solidFill>
                              <a:srgbClr val="C00000"/>
                            </a:solidFill>
                          </a:endParaRPr>
                        </a:p>
                        <a:p>
                          <a:pPr algn="ctr"/>
                          <a:endParaRPr lang="en-GB" altLang="en-US" sz="1400" b="0" dirty="0">
                            <a:solidFill>
                              <a:srgbClr val="C00000"/>
                            </a:solidFill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447</m:t>
                                    </m:r>
                                    <m:r>
                                      <a:rPr lang="en-GB" sz="1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  <a:ea typeface="Cambria Math"/>
                                      </a:rPr>
                                      <m:t>×286</m:t>
                                    </m:r>
                                  </m:num>
                                  <m:den>
                                    <m:r>
                                      <a:rPr lang="en-GB" sz="1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897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b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altLang="en-US" sz="1800" b="0" dirty="0">
                            <a:solidFill>
                              <a:srgbClr val="C00000"/>
                            </a:solidFill>
                          </a:endParaRPr>
                        </a:p>
                        <a:p>
                          <a:pPr algn="ctr"/>
                          <a:endParaRPr lang="en-GB" altLang="en-US" sz="1400" b="0" dirty="0">
                            <a:solidFill>
                              <a:srgbClr val="C00000"/>
                            </a:solidFill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447</m:t>
                                    </m:r>
                                    <m:r>
                                      <a:rPr lang="en-GB" sz="1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  <a:ea typeface="Cambria Math"/>
                                      </a:rPr>
                                      <m:t>×341</m:t>
                                    </m:r>
                                  </m:num>
                                  <m:den>
                                    <m:r>
                                      <a:rPr lang="en-GB" sz="1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897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altLang="en-US" sz="1400" b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89862694"/>
                  </p:ext>
                </p:extLst>
              </p:nvPr>
            </p:nvGraphicFramePr>
            <p:xfrm>
              <a:off x="1143000" y="1403499"/>
              <a:ext cx="5771508" cy="274828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286000"/>
                    <a:gridCol w="1143000"/>
                    <a:gridCol w="1219200"/>
                    <a:gridCol w="1123308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1188720">
                    <a:tc>
                      <a:txBody>
                        <a:bodyPr/>
                        <a:lstStyle/>
                        <a:p>
                          <a:pPr algn="r"/>
                          <a:endParaRPr lang="en-GB" sz="1800" dirty="0" smtClean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r"/>
                          <a:endParaRPr lang="en-GB" sz="1800" b="1" dirty="0" smtClean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800" dirty="0" smtClean="0">
                              <a:solidFill>
                                <a:srgbClr val="C00000"/>
                              </a:solidFill>
                            </a:rPr>
                            <a:t>Expected</a:t>
                          </a:r>
                        </a:p>
                        <a:p>
                          <a:pPr algn="r"/>
                          <a:endParaRPr lang="en-GB" sz="18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4"/>
                          <a:stretch>
                            <a:fillRect l="-201070" t="-31282" r="-205882" b="-1005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4"/>
                          <a:stretch>
                            <a:fillRect l="-281500" t="-31282" r="-92500" b="-1005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4"/>
                          <a:stretch>
                            <a:fillRect l="-414674" t="-31282" r="-543" b="-100513"/>
                          </a:stretch>
                        </a:blipFill>
                      </a:tcPr>
                    </a:tc>
                  </a:tr>
                  <a:tr h="1188720">
                    <a:tc>
                      <a:txBody>
                        <a:bodyPr/>
                        <a:lstStyle/>
                        <a:p>
                          <a:pPr marL="0" marR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800" dirty="0" smtClean="0">
                            <a:solidFill>
                              <a:srgbClr val="C00000"/>
                            </a:solidFill>
                          </a:endParaRPr>
                        </a:p>
                        <a:p>
                          <a:pPr marL="0" marR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800" dirty="0" smtClean="0">
                            <a:solidFill>
                              <a:srgbClr val="C00000"/>
                            </a:solidFill>
                          </a:endParaRPr>
                        </a:p>
                        <a:p>
                          <a:pPr marL="0" marR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800" dirty="0" smtClean="0">
                              <a:solidFill>
                                <a:srgbClr val="C00000"/>
                              </a:solidFill>
                            </a:rPr>
                            <a:t>Expected</a:t>
                          </a:r>
                        </a:p>
                        <a:p>
                          <a:pPr marL="0" marR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4"/>
                          <a:stretch>
                            <a:fillRect l="-201070" t="-131282" r="-205882" b="-5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4"/>
                          <a:stretch>
                            <a:fillRect l="-281500" t="-131282" r="-92500" b="-5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4"/>
                          <a:stretch>
                            <a:fillRect l="-414674" t="-131282" r="-543" b="-513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grpSp>
        <p:nvGrpSpPr>
          <p:cNvPr id="16" name="Group 15"/>
          <p:cNvGrpSpPr/>
          <p:nvPr/>
        </p:nvGrpSpPr>
        <p:grpSpPr>
          <a:xfrm>
            <a:off x="4533900" y="1828800"/>
            <a:ext cx="2857500" cy="2286000"/>
            <a:chOff x="4533900" y="1981200"/>
            <a:chExt cx="2857500" cy="2286000"/>
          </a:xfrm>
        </p:grpSpPr>
        <p:sp>
          <p:nvSpPr>
            <p:cNvPr id="3" name="Oval 2"/>
            <p:cNvSpPr/>
            <p:nvPr/>
          </p:nvSpPr>
          <p:spPr>
            <a:xfrm>
              <a:off x="4533900" y="1981200"/>
              <a:ext cx="1257300" cy="914400"/>
            </a:xfrm>
            <a:prstGeom prst="ellipse">
              <a:avLst/>
            </a:prstGeom>
            <a:noFill/>
            <a:ln w="76200"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1" name="Straight Arrow Connector 10"/>
            <p:cNvCxnSpPr>
              <a:stCxn id="3" idx="6"/>
            </p:cNvCxnSpPr>
            <p:nvPr/>
          </p:nvCxnSpPr>
          <p:spPr>
            <a:xfrm>
              <a:off x="5791200" y="2438400"/>
              <a:ext cx="1600200" cy="0"/>
            </a:xfrm>
            <a:prstGeom prst="straightConnector1">
              <a:avLst/>
            </a:prstGeom>
            <a:ln w="57150">
              <a:solidFill>
                <a:schemeClr val="accent3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>
              <a:stCxn id="3" idx="4"/>
            </p:cNvCxnSpPr>
            <p:nvPr/>
          </p:nvCxnSpPr>
          <p:spPr>
            <a:xfrm>
              <a:off x="5162550" y="2895600"/>
              <a:ext cx="0" cy="1371600"/>
            </a:xfrm>
            <a:prstGeom prst="straightConnector1">
              <a:avLst/>
            </a:prstGeom>
            <a:ln w="57150">
              <a:solidFill>
                <a:schemeClr val="accent3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/>
              <p:cNvGraphicFramePr>
                <a:graphicFrameLocks noGrp="1"/>
              </p:cNvGraphicFramePr>
              <p:nvPr/>
            </p:nvGraphicFramePr>
            <p:xfrm>
              <a:off x="1143000" y="1405720"/>
              <a:ext cx="5771508" cy="166497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286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43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12330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23290">
                    <a:tc>
                      <a:txBody>
                        <a:bodyPr/>
                        <a:lstStyle/>
                        <a:p>
                          <a:pPr algn="r"/>
                          <a:endParaRPr lang="en-GB" sz="18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400" b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altLang="en-US" sz="1400" b="0" dirty="0">
                            <a:solidFill>
                              <a:srgbClr val="C00000"/>
                            </a:solidFill>
                          </a:endParaRPr>
                        </a:p>
                        <a:p>
                          <a:pPr algn="ctr"/>
                          <a:endParaRPr lang="en-GB" altLang="en-US" sz="1400" b="0" dirty="0">
                            <a:solidFill>
                              <a:srgbClr val="C00000"/>
                            </a:solidFill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450</m:t>
                                    </m:r>
                                    <m:r>
                                      <a:rPr lang="en-GB" sz="1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  <a:ea typeface="Cambria Math"/>
                                      </a:rPr>
                                      <m:t>×286</m:t>
                                    </m:r>
                                  </m:num>
                                  <m:den>
                                    <m:r>
                                      <a:rPr lang="en-GB" sz="1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897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b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altLang="en-US" sz="1400" b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400" b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altLang="en-US" sz="1400" b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altLang="en-US" sz="1400" b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69451724"/>
                  </p:ext>
                </p:extLst>
              </p:nvPr>
            </p:nvGraphicFramePr>
            <p:xfrm>
              <a:off x="1143000" y="1405720"/>
              <a:ext cx="5771508" cy="166497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286000"/>
                    <a:gridCol w="1143000"/>
                    <a:gridCol w="1219200"/>
                    <a:gridCol w="1123308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923290">
                    <a:tc>
                      <a:txBody>
                        <a:bodyPr/>
                        <a:lstStyle/>
                        <a:p>
                          <a:pPr algn="r"/>
                          <a:endParaRPr lang="en-GB" sz="18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400" b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5"/>
                          <a:stretch>
                            <a:fillRect l="-281500" t="-41060" r="-92500" b="-403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altLang="en-US" sz="1400" b="0" dirty="0" smtClean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400" b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altLang="en-US" sz="1400" b="0" dirty="0" smtClean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altLang="en-US" sz="1400" b="0" dirty="0" smtClean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79281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alt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altLang="en-US">
                            <a:latin typeface="Cambria Math"/>
                          </a:rPr>
                          <m:t>𝝌</m:t>
                        </m:r>
                      </m:e>
                      <m:sup>
                        <m:r>
                          <a:rPr lang="en-GB" altLang="en-US" smtClean="0"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GB" altLang="en-US" dirty="0"/>
                  <a:t> for Testing Relationships</a:t>
                </a:r>
                <a:endParaRPr lang="en-GB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3"/>
                <a:stretch>
                  <a:fillRect t="-64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397000"/>
          <a:ext cx="6228708" cy="2748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06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26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26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26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MALES  </a:t>
                      </a:r>
                      <a:r>
                        <a:rPr lang="en-GB" sz="1800" dirty="0">
                          <a:solidFill>
                            <a:schemeClr val="tx1"/>
                          </a:solidFill>
                        </a:rPr>
                        <a:t>           Observed</a:t>
                      </a:r>
                    </a:p>
                    <a:p>
                      <a:pPr algn="r"/>
                      <a:r>
                        <a:rPr lang="en-GB" sz="1800" dirty="0">
                          <a:solidFill>
                            <a:srgbClr val="C00000"/>
                          </a:solidFill>
                        </a:rPr>
                        <a:t>Expected </a:t>
                      </a:r>
                    </a:p>
                    <a:p>
                      <a:pPr algn="r"/>
                      <a:endParaRPr lang="en-GB" sz="1800" b="1" dirty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endParaRPr lang="en-GB" sz="1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altLang="en-US" sz="1800" b="0" dirty="0">
                          <a:solidFill>
                            <a:schemeClr val="tx1"/>
                          </a:solidFill>
                        </a:rPr>
                        <a:t>160</a:t>
                      </a:r>
                    </a:p>
                    <a:p>
                      <a:pPr algn="ctr"/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altLang="en-US" sz="1800" b="0" dirty="0">
                          <a:solidFill>
                            <a:schemeClr val="tx1"/>
                          </a:solidFill>
                        </a:rPr>
                        <a:t>140</a:t>
                      </a:r>
                    </a:p>
                    <a:p>
                      <a:pPr algn="ctr"/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en-US" sz="1800" b="0" dirty="0">
                          <a:solidFill>
                            <a:schemeClr val="tx1"/>
                          </a:solidFill>
                        </a:rPr>
                        <a:t>150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FEMALES      </a:t>
                      </a:r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   Observed</a:t>
                      </a:r>
                    </a:p>
                    <a:p>
                      <a:pPr algn="r"/>
                      <a:r>
                        <a:rPr lang="en-GB" sz="1800" b="0" baseline="0" dirty="0">
                          <a:solidFill>
                            <a:srgbClr val="C00000"/>
                          </a:solidFill>
                        </a:rPr>
                        <a:t>Expected</a:t>
                      </a:r>
                    </a:p>
                    <a:p>
                      <a:pPr algn="r"/>
                      <a:endParaRPr lang="en-GB" sz="18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110</a:t>
                      </a:r>
                    </a:p>
                    <a:p>
                      <a:pPr algn="ctr"/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146</a:t>
                      </a:r>
                    </a:p>
                    <a:p>
                      <a:pPr algn="ctr"/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en-US" sz="1800" b="0" dirty="0">
                          <a:solidFill>
                            <a:schemeClr val="tx1"/>
                          </a:solidFill>
                        </a:rPr>
                        <a:t>191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304800" y="762000"/>
            <a:ext cx="8458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GB" altLang="en-US" sz="2400" dirty="0"/>
              <a:t>Is there a relationship between gender and product choice?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010400" y="1397000"/>
          <a:ext cx="2590800" cy="27482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ysClr val="windowText" lastClr="000000"/>
                          </a:solidFill>
                        </a:rPr>
                        <a:t>A+B+C</a:t>
                      </a:r>
                    </a:p>
                  </a:txBody>
                  <a:tcPr>
                    <a:lnR w="12700" cmpd="sng"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en-US" sz="1800" b="1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altLang="en-US" sz="18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altLang="en-US" sz="18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altLang="en-US" sz="18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en-US" sz="1800" b="1" dirty="0">
                          <a:solidFill>
                            <a:schemeClr val="tx1"/>
                          </a:solidFill>
                        </a:rPr>
                        <a:t>447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altLang="en-US" sz="18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altLang="en-US" sz="18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altLang="en-US" sz="18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4191000"/>
          <a:ext cx="7402034" cy="6400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445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4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43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43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43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sz="1800" b="1" dirty="0">
                          <a:solidFill>
                            <a:sysClr val="windowText" lastClr="000000"/>
                          </a:solidFill>
                        </a:rPr>
                        <a:t>MALES+FEMALES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270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286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en-US" sz="1800" b="1" dirty="0">
                          <a:solidFill>
                            <a:schemeClr val="tx1"/>
                          </a:solidFill>
                        </a:rPr>
                        <a:t>341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altLang="en-US" sz="18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010400" y="4191000"/>
          <a:ext cx="2286000" cy="6400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en-US" sz="3200" b="0" dirty="0">
                          <a:solidFill>
                            <a:schemeClr val="tx1"/>
                          </a:solidFill>
                        </a:rPr>
                        <a:t>897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en-US" sz="18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altLang="en-US" sz="18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800378" y="4180367"/>
            <a:ext cx="2628622" cy="64633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r"/>
            <a:r>
              <a:rPr lang="en-GB" dirty="0"/>
              <a:t>Number of customers responded</a:t>
            </a:r>
            <a:endParaRPr lang="en-GB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/>
              <p:cNvGraphicFramePr>
                <a:graphicFrameLocks noGrp="1"/>
              </p:cNvGraphicFramePr>
              <p:nvPr/>
            </p:nvGraphicFramePr>
            <p:xfrm>
              <a:off x="1066801" y="1403499"/>
              <a:ext cx="5867400" cy="274828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36219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43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143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21920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pPr algn="r"/>
                          <a:endParaRPr lang="en-GB" sz="18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r"/>
                          <a:r>
                            <a:rPr lang="en-GB" sz="1800" b="1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  <a:p>
                          <a:pPr algn="r"/>
                          <a:endParaRPr lang="en-GB" sz="1800" b="1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r"/>
                          <a:endParaRPr lang="en-GB" sz="18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altLang="en-US" sz="1800" b="0" dirty="0">
                            <a:solidFill>
                              <a:srgbClr val="C00000"/>
                            </a:solidFill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1800" b="0" i="1" smtClean="0">
                                    <a:solidFill>
                                      <a:srgbClr val="C00000"/>
                                    </a:solidFill>
                                    <a:latin typeface="Cambria Math"/>
                                  </a:rPr>
                                  <m:t>135.5</m:t>
                                </m:r>
                              </m:oMath>
                            </m:oMathPara>
                          </a14:m>
                          <a:endParaRPr lang="en-GB" sz="1800" b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altLang="en-US" sz="1800" b="0" dirty="0">
                            <a:solidFill>
                              <a:srgbClr val="C00000"/>
                            </a:solidFill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1800" b="0" i="1" smtClean="0">
                                    <a:solidFill>
                                      <a:srgbClr val="C00000"/>
                                    </a:solidFill>
                                    <a:latin typeface="Cambria Math"/>
                                  </a:rPr>
                                  <m:t>143.5</m:t>
                                </m:r>
                              </m:oMath>
                            </m:oMathPara>
                          </a14:m>
                          <a:endParaRPr lang="en-GB" sz="1800" b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altLang="en-US" sz="1800" b="0" dirty="0">
                            <a:solidFill>
                              <a:srgbClr val="C00000"/>
                            </a:solidFill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1800" b="0" i="1" smtClean="0">
                                    <a:solidFill>
                                      <a:srgbClr val="C00000"/>
                                    </a:solidFill>
                                    <a:latin typeface="Cambria Math"/>
                                  </a:rPr>
                                  <m:t>171.1</m:t>
                                </m:r>
                              </m:oMath>
                            </m:oMathPara>
                          </a14:m>
                          <a:endParaRPr lang="en-GB" altLang="en-US" sz="1800" b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pPr algn="r"/>
                          <a:endParaRPr lang="en-GB" sz="18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r"/>
                          <a:endParaRPr lang="en-GB" sz="18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r"/>
                          <a:endParaRPr lang="en-GB" sz="18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r"/>
                          <a:endParaRPr lang="en-GB" sz="1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800" b="0" i="1" dirty="0">
                            <a:solidFill>
                              <a:srgbClr val="C00000"/>
                            </a:solidFill>
                            <a:latin typeface="Cambria Math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1800" b="0" i="1" smtClean="0">
                                    <a:solidFill>
                                      <a:srgbClr val="C00000"/>
                                    </a:solidFill>
                                    <a:latin typeface="Cambria Math"/>
                                  </a:rPr>
                                  <m:t>134.5</m:t>
                                </m:r>
                              </m:oMath>
                            </m:oMathPara>
                          </a14:m>
                          <a:endParaRPr lang="en-GB" sz="1800" b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altLang="en-US" sz="1800" b="0" dirty="0">
                            <a:solidFill>
                              <a:srgbClr val="C00000"/>
                            </a:solidFill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1800" b="0" i="1" smtClean="0">
                                    <a:solidFill>
                                      <a:srgbClr val="C00000"/>
                                    </a:solidFill>
                                    <a:latin typeface="Cambria Math"/>
                                  </a:rPr>
                                  <m:t>142.5</m:t>
                                </m:r>
                              </m:oMath>
                            </m:oMathPara>
                          </a14:m>
                          <a:endParaRPr lang="en-GB" sz="1800" b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altLang="en-US" sz="1800" b="0" dirty="0">
                            <a:solidFill>
                              <a:srgbClr val="C00000"/>
                            </a:solidFill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1800" b="0" i="1" smtClean="0">
                                    <a:solidFill>
                                      <a:srgbClr val="C00000"/>
                                    </a:solidFill>
                                    <a:latin typeface="Cambria Math"/>
                                  </a:rPr>
                                  <m:t>169.9</m:t>
                                </m:r>
                              </m:oMath>
                            </m:oMathPara>
                          </a14:m>
                          <a:endParaRPr lang="en-GB" altLang="en-US" sz="1800" b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32654257"/>
                  </p:ext>
                </p:extLst>
              </p:nvPr>
            </p:nvGraphicFramePr>
            <p:xfrm>
              <a:off x="1066801" y="1403499"/>
              <a:ext cx="5867400" cy="274828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362199"/>
                    <a:gridCol w="1143000"/>
                    <a:gridCol w="1143000"/>
                    <a:gridCol w="1219201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1188720">
                    <a:tc>
                      <a:txBody>
                        <a:bodyPr/>
                        <a:lstStyle/>
                        <a:p>
                          <a:pPr algn="r"/>
                          <a:endParaRPr lang="en-GB" sz="1800" dirty="0" smtClean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r"/>
                          <a:r>
                            <a:rPr lang="en-GB" sz="1800" b="1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  <a:p>
                          <a:pPr algn="r"/>
                          <a:endParaRPr lang="en-GB" sz="1800" b="1" dirty="0" smtClean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r"/>
                          <a:endParaRPr lang="en-GB" sz="18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4"/>
                          <a:stretch>
                            <a:fillRect l="-207487" t="-31282" r="-207487" b="-1005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4"/>
                          <a:stretch>
                            <a:fillRect l="-305851" t="-31282" r="-106383" b="-1005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4"/>
                          <a:stretch>
                            <a:fillRect l="-381500" t="-31282" b="-100513"/>
                          </a:stretch>
                        </a:blipFill>
                      </a:tcPr>
                    </a:tc>
                  </a:tr>
                  <a:tr h="1188720">
                    <a:tc>
                      <a:txBody>
                        <a:bodyPr/>
                        <a:lstStyle/>
                        <a:p>
                          <a:pPr algn="r"/>
                          <a:endParaRPr lang="en-GB" sz="1800" b="0" dirty="0" smtClean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r"/>
                          <a:endParaRPr lang="en-GB" sz="1800" b="0" dirty="0" smtClean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r"/>
                          <a:endParaRPr lang="en-GB" sz="1800" b="0" dirty="0" smtClean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r"/>
                          <a:endParaRPr lang="en-GB" sz="1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4"/>
                          <a:stretch>
                            <a:fillRect l="-207487" t="-131282" r="-207487" b="-5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4"/>
                          <a:stretch>
                            <a:fillRect l="-305851" t="-131282" r="-106383" b="-5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4"/>
                          <a:stretch>
                            <a:fillRect l="-381500" t="-131282" b="-513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292397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alt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altLang="en-US">
                            <a:latin typeface="Cambria Math"/>
                          </a:rPr>
                          <m:t>𝝌</m:t>
                        </m:r>
                      </m:e>
                      <m:sup>
                        <m:r>
                          <a:rPr lang="en-GB" altLang="en-US" smtClean="0"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GB" altLang="en-US" dirty="0"/>
                  <a:t> for Testing Relationships</a:t>
                </a:r>
                <a:endParaRPr lang="en-GB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3"/>
                <a:stretch>
                  <a:fillRect t="-64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C6423F2-2E90-89C5-A5DB-B8CAA78064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9959796"/>
              </p:ext>
            </p:extLst>
          </p:nvPr>
        </p:nvGraphicFramePr>
        <p:xfrm>
          <a:off x="421069" y="990600"/>
          <a:ext cx="7427531" cy="15849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923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8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88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88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8804">
                  <a:extLst>
                    <a:ext uri="{9D8B030D-6E8A-4147-A177-3AD203B41FA5}">
                      <a16:colId xmlns:a16="http://schemas.microsoft.com/office/drawing/2014/main" val="4166020902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r>
                        <a:rPr lang="en-GB" sz="2000" dirty="0"/>
                        <a:t>Expected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A + B + 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GB" sz="2000" dirty="0"/>
                        <a:t>Males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135.5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143.5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171.1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1" dirty="0"/>
                        <a:t>450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Females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134.5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142.5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169.9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1" dirty="0"/>
                        <a:t>447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Males + Females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1" dirty="0"/>
                        <a:t>270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1" dirty="0"/>
                        <a:t>286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1" dirty="0"/>
                        <a:t>341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1" dirty="0"/>
                        <a:t>897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3388953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Box 3">
                <a:extLst>
                  <a:ext uri="{FF2B5EF4-FFF2-40B4-BE49-F238E27FC236}">
                    <a16:creationId xmlns:a16="http://schemas.microsoft.com/office/drawing/2014/main" id="{D8C8F978-207B-ABFF-3AFB-6630A43D1C4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9346" y="3051334"/>
                <a:ext cx="8429854" cy="80021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GB" altLang="en-US" b="0" dirty="0">
                    <a:latin typeface="+mn-lt"/>
                  </a:rPr>
                  <a:t>Recall: gender and product events are</a:t>
                </a:r>
                <a:r>
                  <a:rPr lang="en-GB" altLang="en-US" dirty="0">
                    <a:latin typeface="+mn-lt"/>
                  </a:rPr>
                  <a:t> independent if</a:t>
                </a:r>
                <a:r>
                  <a:rPr lang="en-GB" altLang="en-US" b="0" dirty="0">
                    <a:latin typeface="+mn-lt"/>
                  </a:rPr>
                  <a:t>…</a:t>
                </a:r>
              </a:p>
              <a:p>
                <a:endParaRPr lang="en-GB" altLang="en-US" sz="1000" b="0" dirty="0">
                  <a:latin typeface="+mn-lt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altLang="en-US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GB" alt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alt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𝑃𝑟𝑜𝑑𝑢𝑐𝑡</m:t>
                        </m:r>
                        <m:r>
                          <a:rPr lang="en-GB" altLang="en-US" b="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|</m:t>
                        </m:r>
                        <m:r>
                          <a:rPr lang="en-GB" alt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𝐺𝑒𝑛𝑑𝑒𝑟</m:t>
                        </m:r>
                      </m:e>
                    </m:d>
                    <m:r>
                      <a:rPr lang="en-GB" altLang="en-US" b="0" i="1">
                        <a:solidFill>
                          <a:srgbClr val="0070C0"/>
                        </a:solidFill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GB" altLang="en-US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GB" alt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alt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𝑃𝑟𝑜𝑑𝑢𝑐𝑡</m:t>
                        </m:r>
                      </m:e>
                    </m:d>
                  </m:oMath>
                </a14:m>
                <a:r>
                  <a:rPr lang="en-GB" altLang="en-US" b="0" dirty="0">
                    <a:latin typeface="+mn-lt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altLang="en-US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GB" alt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alt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𝐺𝑒𝑛𝑑𝑒𝑟</m:t>
                        </m:r>
                        <m:r>
                          <a:rPr lang="en-GB" alt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|</m:t>
                        </m:r>
                        <m:r>
                          <a:rPr lang="en-GB" alt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𝑃𝑟𝑜𝑑𝑢𝑐𝑡</m:t>
                        </m:r>
                      </m:e>
                    </m:d>
                    <m:r>
                      <a:rPr lang="en-GB" altLang="en-US" b="0" i="1">
                        <a:solidFill>
                          <a:srgbClr val="0070C0"/>
                        </a:solidFill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GB" altLang="en-US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GB" alt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alt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𝐺𝑒𝑛𝑑𝑒𝑟</m:t>
                        </m:r>
                      </m:e>
                    </m:d>
                  </m:oMath>
                </a14:m>
                <a:endParaRPr lang="en-GB" altLang="en-US" b="0" dirty="0">
                  <a:latin typeface="+mn-lt"/>
                </a:endParaRPr>
              </a:p>
            </p:txBody>
          </p:sp>
        </mc:Choice>
        <mc:Fallback>
          <p:sp>
            <p:nvSpPr>
              <p:cNvPr id="5" name="Text Box 3">
                <a:extLst>
                  <a:ext uri="{FF2B5EF4-FFF2-40B4-BE49-F238E27FC236}">
                    <a16:creationId xmlns:a16="http://schemas.microsoft.com/office/drawing/2014/main" id="{D8C8F978-207B-ABFF-3AFB-6630A43D1C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9346" y="3051334"/>
                <a:ext cx="8429854" cy="800219"/>
              </a:xfrm>
              <a:prstGeom prst="rect">
                <a:avLst/>
              </a:prstGeom>
              <a:blipFill>
                <a:blip r:embed="rId4"/>
                <a:stretch>
                  <a:fillRect l="-578" t="-4580" b="-1145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 Box 3">
                <a:extLst>
                  <a:ext uri="{FF2B5EF4-FFF2-40B4-BE49-F238E27FC236}">
                    <a16:creationId xmlns:a16="http://schemas.microsoft.com/office/drawing/2014/main" id="{E725B0E4-5696-6D67-6FC3-08DDCE85F5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1000" y="4191000"/>
                <a:ext cx="8429854" cy="80021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GB" altLang="en-US" b="0" dirty="0">
                    <a:latin typeface="+mn-lt"/>
                  </a:rPr>
                  <a:t>After calculation, we have</a:t>
                </a:r>
              </a:p>
              <a:p>
                <a:endParaRPr lang="en-GB" altLang="en-US" sz="1000" b="0" dirty="0">
                  <a:latin typeface="+mn-lt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altLang="en-US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GB" alt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alt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GB" altLang="en-US" b="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|</m:t>
                        </m:r>
                        <m:r>
                          <a:rPr lang="en-GB" alt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𝑀𝑎𝑙𝑒</m:t>
                        </m:r>
                      </m:e>
                    </m:d>
                    <m:r>
                      <a:rPr lang="en-GB" altLang="en-US" b="0" i="1">
                        <a:solidFill>
                          <a:srgbClr val="0070C0"/>
                        </a:solidFill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GB" altLang="en-US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GB" alt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alt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GB" altLang="en-US" b="0" dirty="0">
                    <a:latin typeface="+mn-lt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altLang="en-US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GB" alt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alt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𝑀𝑎𝑙𝑒</m:t>
                        </m:r>
                        <m:r>
                          <a:rPr lang="en-GB" alt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|</m:t>
                        </m:r>
                        <m:r>
                          <a:rPr lang="en-GB" alt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GB" altLang="en-US" b="0" i="1">
                        <a:solidFill>
                          <a:srgbClr val="0070C0"/>
                        </a:solidFill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GB" altLang="en-US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GB" alt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alt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𝑀𝑎𝑙𝑒</m:t>
                        </m:r>
                      </m:e>
                    </m:d>
                  </m:oMath>
                </a14:m>
                <a:endParaRPr lang="en-GB" altLang="en-US" b="0" dirty="0">
                  <a:latin typeface="+mn-lt"/>
                </a:endParaRPr>
              </a:p>
            </p:txBody>
          </p:sp>
        </mc:Choice>
        <mc:Fallback>
          <p:sp>
            <p:nvSpPr>
              <p:cNvPr id="14" name="Text Box 3">
                <a:extLst>
                  <a:ext uri="{FF2B5EF4-FFF2-40B4-BE49-F238E27FC236}">
                    <a16:creationId xmlns:a16="http://schemas.microsoft.com/office/drawing/2014/main" id="{E725B0E4-5696-6D67-6FC3-08DDCE85F5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1000" y="4191000"/>
                <a:ext cx="8429854" cy="800219"/>
              </a:xfrm>
              <a:prstGeom prst="rect">
                <a:avLst/>
              </a:prstGeom>
              <a:blipFill>
                <a:blip r:embed="rId5"/>
                <a:stretch>
                  <a:fillRect l="-651" t="-4580" b="-1068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 Box 3">
                <a:extLst>
                  <a:ext uri="{FF2B5EF4-FFF2-40B4-BE49-F238E27FC236}">
                    <a16:creationId xmlns:a16="http://schemas.microsoft.com/office/drawing/2014/main" id="{409706D3-565C-B988-6866-7560B643D4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1000" y="4953000"/>
                <a:ext cx="8429854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GB" altLang="en-US" sz="1000" b="0" dirty="0">
                  <a:latin typeface="+mn-lt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altLang="en-US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GB" alt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alt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GB" altLang="en-US" b="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|</m:t>
                        </m:r>
                        <m:r>
                          <a:rPr lang="en-GB" alt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𝐹𝑒𝑚𝑎𝑙𝑒</m:t>
                        </m:r>
                      </m:e>
                    </m:d>
                    <m:r>
                      <a:rPr lang="en-GB" altLang="en-US" b="0" i="1">
                        <a:solidFill>
                          <a:srgbClr val="0070C0"/>
                        </a:solidFill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GB" altLang="en-US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GB" alt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alt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GB" altLang="en-US" b="0" dirty="0">
                    <a:latin typeface="+mn-lt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altLang="en-US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GB" alt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alt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𝐹𝑒𝑚𝑎𝑙𝑒</m:t>
                        </m:r>
                        <m:r>
                          <a:rPr lang="en-GB" alt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|</m:t>
                        </m:r>
                        <m:r>
                          <a:rPr lang="en-GB" alt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GB" altLang="en-US" b="0" i="1">
                        <a:solidFill>
                          <a:srgbClr val="0070C0"/>
                        </a:solidFill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GB" altLang="en-US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GB" alt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alt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𝐹𝑒𝑚𝑎𝑙𝑒</m:t>
                        </m:r>
                      </m:e>
                    </m:d>
                  </m:oMath>
                </a14:m>
                <a:endParaRPr lang="en-GB" altLang="en-US" b="0" dirty="0">
                  <a:latin typeface="+mn-lt"/>
                </a:endParaRPr>
              </a:p>
            </p:txBody>
          </p:sp>
        </mc:Choice>
        <mc:Fallback>
          <p:sp>
            <p:nvSpPr>
              <p:cNvPr id="17" name="Text Box 3">
                <a:extLst>
                  <a:ext uri="{FF2B5EF4-FFF2-40B4-BE49-F238E27FC236}">
                    <a16:creationId xmlns:a16="http://schemas.microsoft.com/office/drawing/2014/main" id="{409706D3-565C-B988-6866-7560B643D4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1000" y="4953000"/>
                <a:ext cx="8429854" cy="523220"/>
              </a:xfrm>
              <a:prstGeom prst="rect">
                <a:avLst/>
              </a:prstGeom>
              <a:blipFill>
                <a:blip r:embed="rId6"/>
                <a:stretch>
                  <a:fillRect b="-1764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 Box 3">
                <a:extLst>
                  <a:ext uri="{FF2B5EF4-FFF2-40B4-BE49-F238E27FC236}">
                    <a16:creationId xmlns:a16="http://schemas.microsoft.com/office/drawing/2014/main" id="{88B62ECD-BA04-3F51-CAC4-AB4371E53D4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1000" y="5877580"/>
                <a:ext cx="8429854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en-US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en-GB" alt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GB" altLang="en-US" b="0" dirty="0">
                  <a:latin typeface="+mn-lt"/>
                </a:endParaRPr>
              </a:p>
            </p:txBody>
          </p:sp>
        </mc:Choice>
        <mc:Fallback>
          <p:sp>
            <p:nvSpPr>
              <p:cNvPr id="18" name="Text Box 3">
                <a:extLst>
                  <a:ext uri="{FF2B5EF4-FFF2-40B4-BE49-F238E27FC236}">
                    <a16:creationId xmlns:a16="http://schemas.microsoft.com/office/drawing/2014/main" id="{88B62ECD-BA04-3F51-CAC4-AB4371E53D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1000" y="5877580"/>
                <a:ext cx="842985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 Box 3">
                <a:extLst>
                  <a:ext uri="{FF2B5EF4-FFF2-40B4-BE49-F238E27FC236}">
                    <a16:creationId xmlns:a16="http://schemas.microsoft.com/office/drawing/2014/main" id="{5EE8A6CF-E974-3667-BB68-C523DBF63F3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1000" y="5391807"/>
                <a:ext cx="8429854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GB" altLang="en-US" sz="1000" b="0" dirty="0">
                  <a:latin typeface="+mn-lt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altLang="en-US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GB" alt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alt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GB" altLang="en-US" b="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|</m:t>
                        </m:r>
                        <m:r>
                          <a:rPr lang="en-GB" alt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𝑀𝑎𝑙𝑒</m:t>
                        </m:r>
                      </m:e>
                    </m:d>
                    <m:r>
                      <a:rPr lang="en-GB" altLang="en-US" b="0" i="1">
                        <a:solidFill>
                          <a:srgbClr val="0070C0"/>
                        </a:solidFill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GB" altLang="en-US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GB" alt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alt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en-GB" altLang="en-US" b="0" dirty="0">
                    <a:latin typeface="+mn-lt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altLang="en-US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GB" alt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alt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GB" alt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𝑎𝑙𝑒</m:t>
                        </m:r>
                        <m:r>
                          <a:rPr lang="en-GB" alt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|</m:t>
                        </m:r>
                        <m:r>
                          <a:rPr lang="en-GB" alt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GB" altLang="en-US" b="0" i="1">
                        <a:solidFill>
                          <a:srgbClr val="0070C0"/>
                        </a:solidFill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GB" altLang="en-US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GB" alt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alt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𝑀𝑎𝑙𝑒</m:t>
                        </m:r>
                      </m:e>
                    </m:d>
                  </m:oMath>
                </a14:m>
                <a:endParaRPr lang="en-GB" altLang="en-US" b="0" dirty="0">
                  <a:latin typeface="+mn-lt"/>
                </a:endParaRPr>
              </a:p>
            </p:txBody>
          </p:sp>
        </mc:Choice>
        <mc:Fallback>
          <p:sp>
            <p:nvSpPr>
              <p:cNvPr id="19" name="Text Box 3">
                <a:extLst>
                  <a:ext uri="{FF2B5EF4-FFF2-40B4-BE49-F238E27FC236}">
                    <a16:creationId xmlns:a16="http://schemas.microsoft.com/office/drawing/2014/main" id="{5EE8A6CF-E974-3667-BB68-C523DBF63F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1000" y="5391807"/>
                <a:ext cx="8429854" cy="523220"/>
              </a:xfrm>
              <a:prstGeom prst="rect">
                <a:avLst/>
              </a:prstGeom>
              <a:blipFill>
                <a:blip r:embed="rId8"/>
                <a:stretch>
                  <a:fillRect b="-1744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1312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4" grpId="0"/>
      <p:bldP spid="17" grpId="0"/>
      <p:bldP spid="18" grpId="0"/>
      <p:bldP spid="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alt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altLang="en-US">
                            <a:latin typeface="Cambria Math"/>
                          </a:rPr>
                          <m:t>𝝌</m:t>
                        </m:r>
                      </m:e>
                      <m:sup>
                        <m:r>
                          <a:rPr lang="en-GB" altLang="en-US" smtClean="0"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GB" altLang="en-US" dirty="0"/>
                  <a:t> for Testing Relationships</a:t>
                </a:r>
                <a:endParaRPr lang="en-GB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3"/>
                <a:stretch>
                  <a:fillRect t="-64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/>
            </p:nvGraphicFramePr>
            <p:xfrm>
              <a:off x="685800" y="1397000"/>
              <a:ext cx="6228708" cy="2715134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74063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6269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16269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16269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172147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800" b="1" dirty="0">
                              <a:solidFill>
                                <a:schemeClr val="tx1"/>
                              </a:solidFill>
                            </a:rPr>
                            <a:t>MALES</a:t>
                          </a:r>
                          <a:r>
                            <a:rPr lang="en-GB" sz="1800" dirty="0">
                              <a:solidFill>
                                <a:schemeClr val="tx1"/>
                              </a:solidFill>
                            </a:rPr>
                            <a:t>                     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800" b="0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GB" sz="1800" b="0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𝑜</m:t>
                                  </m:r>
                                </m:sub>
                              </m:sSub>
                            </m:oMath>
                          </a14:m>
                          <a:endParaRPr lang="en-GB" sz="18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800" b="0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GB" sz="1800" b="0" i="1" smtClean="0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𝑒</m:t>
                                  </m:r>
                                </m:sub>
                              </m:sSub>
                            </m:oMath>
                          </a14:m>
                          <a:r>
                            <a:rPr lang="en-GB" sz="1800" dirty="0">
                              <a:solidFill>
                                <a:srgbClr val="C00000"/>
                              </a:solidFill>
                            </a:rPr>
                            <a:t> </a:t>
                          </a:r>
                        </a:p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GB" sz="1600" b="0" i="1">
                                            <a:solidFill>
                                              <a:srgbClr val="7030A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GB" sz="1600" b="0" i="1">
                                                <a:solidFill>
                                                  <a:srgbClr val="7030A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GB" sz="1600" b="0" i="1">
                                                    <a:solidFill>
                                                      <a:srgbClr val="7030A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GB" sz="1600" b="0" i="1">
                                                    <a:solidFill>
                                                      <a:srgbClr val="7030A0"/>
                                                    </a:solidFill>
                                                    <a:latin typeface="Cambria Math"/>
                                                  </a:rPr>
                                                  <m:t>𝑓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GB" sz="1600" b="0" i="1">
                                                    <a:solidFill>
                                                      <a:srgbClr val="7030A0"/>
                                                    </a:solidFill>
                                                    <a:latin typeface="Cambria Math"/>
                                                  </a:rPr>
                                                  <m:t>𝑜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GB" sz="1600" b="0" i="1">
                                                <a:solidFill>
                                                  <a:srgbClr val="7030A0"/>
                                                </a:solidFill>
                                                <a:latin typeface="Cambria Math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GB" sz="1600" b="0" i="1">
                                                    <a:solidFill>
                                                      <a:srgbClr val="7030A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GB" sz="1600" b="0" i="1">
                                                    <a:solidFill>
                                                      <a:srgbClr val="7030A0"/>
                                                    </a:solidFill>
                                                    <a:latin typeface="Cambria Math"/>
                                                  </a:rPr>
                                                  <m:t>𝑓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GB" sz="1600" b="0" i="1">
                                                    <a:solidFill>
                                                      <a:srgbClr val="7030A0"/>
                                                    </a:solidFill>
                                                    <a:latin typeface="Cambria Math"/>
                                                  </a:rPr>
                                                  <m:t>𝑒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GB" sz="1600" b="0" i="1">
                                            <a:solidFill>
                                              <a:srgbClr val="7030A0"/>
                                            </a:solidFill>
                                            <a:latin typeface="Cambria Math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GB" sz="1600" b="0" i="1">
                                            <a:solidFill>
                                              <a:srgbClr val="7030A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1600" b="0" i="1">
                                            <a:solidFill>
                                              <a:srgbClr val="7030A0"/>
                                            </a:solidFill>
                                            <a:latin typeface="Cambria Math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GB" sz="1600" b="0" i="1">
                                            <a:solidFill>
                                              <a:srgbClr val="7030A0"/>
                                            </a:solidFill>
                                            <a:latin typeface="Cambria Math"/>
                                          </a:rPr>
                                          <m:t>𝑒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en-GB" sz="2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altLang="en-US" sz="1800" b="0" dirty="0">
                              <a:solidFill>
                                <a:schemeClr val="tx1"/>
                              </a:solidFill>
                            </a:rPr>
                            <a:t>160</a:t>
                          </a:r>
                        </a:p>
                        <a:p>
                          <a:pPr algn="ctr"/>
                          <a:endParaRPr lang="en-GB" sz="1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altLang="en-US" sz="1800" b="0" dirty="0">
                              <a:solidFill>
                                <a:schemeClr val="tx1"/>
                              </a:solidFill>
                            </a:rPr>
                            <a:t>140</a:t>
                          </a:r>
                        </a:p>
                        <a:p>
                          <a:pPr algn="ctr"/>
                          <a:endParaRPr lang="en-GB" sz="1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altLang="en-US" sz="1800" b="0" dirty="0">
                              <a:solidFill>
                                <a:schemeClr val="tx1"/>
                              </a:solidFill>
                            </a:rPr>
                            <a:t>150</a:t>
                          </a:r>
                        </a:p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altLang="en-US" sz="1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172147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800" b="1" dirty="0">
                              <a:solidFill>
                                <a:schemeClr val="tx1"/>
                              </a:solidFill>
                            </a:rPr>
                            <a:t>FEMALES   </a:t>
                          </a:r>
                          <a:r>
                            <a:rPr lang="en-GB" sz="1800" b="0" dirty="0">
                              <a:solidFill>
                                <a:schemeClr val="tx1"/>
                              </a:solidFill>
                            </a:rPr>
                            <a:t>              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800" b="0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GB" sz="1800" b="0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𝑜</m:t>
                                  </m:r>
                                </m:sub>
                              </m:sSub>
                            </m:oMath>
                          </a14:m>
                          <a:endParaRPr lang="en-GB" sz="18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800" b="0" i="1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0" i="1">
                                        <a:solidFill>
                                          <a:srgbClr val="7030A0"/>
                                        </a:solidFill>
                                        <a:latin typeface="Cambria Math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GB" sz="1800" b="0" i="1" smtClean="0">
                                        <a:solidFill>
                                          <a:srgbClr val="7030A0"/>
                                        </a:solidFill>
                                        <a:latin typeface="Cambria Math"/>
                                      </a:rPr>
                                      <m:t>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sz="1800" b="0" baseline="0" dirty="0">
                            <a:solidFill>
                              <a:srgbClr val="C00000"/>
                            </a:solidFill>
                          </a:endParaRPr>
                        </a:p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GB" sz="1600" b="0" i="1">
                                            <a:solidFill>
                                              <a:srgbClr val="7030A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GB" sz="1600" b="0" i="1">
                                                <a:solidFill>
                                                  <a:srgbClr val="7030A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GB" sz="1600" b="0" i="1">
                                                    <a:solidFill>
                                                      <a:srgbClr val="7030A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GB" sz="1600" b="0" i="1">
                                                    <a:solidFill>
                                                      <a:srgbClr val="7030A0"/>
                                                    </a:solidFill>
                                                    <a:latin typeface="Cambria Math"/>
                                                  </a:rPr>
                                                  <m:t>𝑓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GB" sz="1600" b="0" i="1">
                                                    <a:solidFill>
                                                      <a:srgbClr val="7030A0"/>
                                                    </a:solidFill>
                                                    <a:latin typeface="Cambria Math"/>
                                                  </a:rPr>
                                                  <m:t>𝑜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GB" sz="1600" b="0" i="1">
                                                <a:solidFill>
                                                  <a:srgbClr val="7030A0"/>
                                                </a:solidFill>
                                                <a:latin typeface="Cambria Math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GB" sz="1600" b="0" i="1">
                                                    <a:solidFill>
                                                      <a:srgbClr val="7030A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GB" sz="1600" b="0" i="1">
                                                    <a:solidFill>
                                                      <a:srgbClr val="7030A0"/>
                                                    </a:solidFill>
                                                    <a:latin typeface="Cambria Math"/>
                                                  </a:rPr>
                                                  <m:t>𝑓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GB" sz="1600" b="0" i="1">
                                                    <a:solidFill>
                                                      <a:srgbClr val="7030A0"/>
                                                    </a:solidFill>
                                                    <a:latin typeface="Cambria Math"/>
                                                  </a:rPr>
                                                  <m:t>𝑒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GB" sz="1600" b="0" i="1">
                                            <a:solidFill>
                                              <a:srgbClr val="7030A0"/>
                                            </a:solidFill>
                                            <a:latin typeface="Cambria Math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GB" sz="1600" b="0" i="1">
                                            <a:solidFill>
                                              <a:srgbClr val="7030A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1600" b="0" i="1">
                                            <a:solidFill>
                                              <a:srgbClr val="7030A0"/>
                                            </a:solidFill>
                                            <a:latin typeface="Cambria Math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GB" sz="1600" b="0" i="1">
                                            <a:solidFill>
                                              <a:srgbClr val="7030A0"/>
                                            </a:solidFill>
                                            <a:latin typeface="Cambria Math"/>
                                          </a:rPr>
                                          <m:t>𝑒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en-GB" sz="1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800" b="0" dirty="0">
                              <a:solidFill>
                                <a:schemeClr val="tx1"/>
                              </a:solidFill>
                            </a:rPr>
                            <a:t>110</a:t>
                          </a:r>
                        </a:p>
                        <a:p>
                          <a:pPr algn="ctr"/>
                          <a:endParaRPr lang="en-GB" sz="1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800" b="0" dirty="0">
                              <a:solidFill>
                                <a:schemeClr val="tx1"/>
                              </a:solidFill>
                            </a:rPr>
                            <a:t>146</a:t>
                          </a:r>
                        </a:p>
                        <a:p>
                          <a:pPr algn="ctr"/>
                          <a:endParaRPr lang="en-GB" sz="1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altLang="en-US" sz="1800" b="0" dirty="0">
                              <a:solidFill>
                                <a:schemeClr val="tx1"/>
                              </a:solidFill>
                            </a:rPr>
                            <a:t>191</a:t>
                          </a:r>
                        </a:p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altLang="en-US" sz="1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85416390"/>
                  </p:ext>
                </p:extLst>
              </p:nvPr>
            </p:nvGraphicFramePr>
            <p:xfrm>
              <a:off x="685800" y="1397000"/>
              <a:ext cx="6228708" cy="2715134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740632"/>
                    <a:gridCol w="1162692"/>
                    <a:gridCol w="1162692"/>
                    <a:gridCol w="1162692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A</a:t>
                          </a:r>
                          <a:endParaRPr lang="en-GB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B</a:t>
                          </a:r>
                          <a:endParaRPr lang="en-GB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C</a:t>
                          </a:r>
                          <a:endParaRPr lang="en-GB" dirty="0"/>
                        </a:p>
                      </a:txBody>
                      <a:tcPr>
                        <a:noFill/>
                      </a:tcPr>
                    </a:tc>
                  </a:tr>
                  <a:tr h="117214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4"/>
                          <a:stretch>
                            <a:fillRect l="-223" t="-34375" r="-127617" b="-1005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altLang="en-US" sz="1800" b="0" dirty="0" smtClean="0">
                              <a:solidFill>
                                <a:schemeClr val="tx1"/>
                              </a:solidFill>
                            </a:rPr>
                            <a:t>160</a:t>
                          </a:r>
                        </a:p>
                        <a:p>
                          <a:pPr algn="ctr"/>
                          <a:endParaRPr lang="en-GB" sz="1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altLang="en-US" sz="1800" b="0" dirty="0" smtClean="0">
                              <a:solidFill>
                                <a:schemeClr val="tx1"/>
                              </a:solidFill>
                            </a:rPr>
                            <a:t>140</a:t>
                          </a:r>
                        </a:p>
                        <a:p>
                          <a:pPr algn="ctr"/>
                          <a:endParaRPr lang="en-GB" sz="1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altLang="en-US" sz="1800" b="0" dirty="0" smtClean="0">
                              <a:solidFill>
                                <a:schemeClr val="tx1"/>
                              </a:solidFill>
                            </a:rPr>
                            <a:t>150</a:t>
                          </a:r>
                        </a:p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altLang="en-US" sz="1800" b="0" dirty="0" smtClean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117214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4"/>
                          <a:stretch>
                            <a:fillRect l="-223" t="-133679" r="-1276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800" b="0" dirty="0" smtClean="0">
                              <a:solidFill>
                                <a:schemeClr val="tx1"/>
                              </a:solidFill>
                            </a:rPr>
                            <a:t>110</a:t>
                          </a:r>
                        </a:p>
                        <a:p>
                          <a:pPr algn="ctr"/>
                          <a:endParaRPr lang="en-GB" sz="1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800" b="0" dirty="0" smtClean="0">
                              <a:solidFill>
                                <a:schemeClr val="tx1"/>
                              </a:solidFill>
                            </a:rPr>
                            <a:t>146</a:t>
                          </a:r>
                        </a:p>
                        <a:p>
                          <a:pPr algn="ctr"/>
                          <a:endParaRPr lang="en-GB" sz="1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altLang="en-US" sz="1800" b="0" dirty="0" smtClean="0">
                              <a:solidFill>
                                <a:schemeClr val="tx1"/>
                              </a:solidFill>
                            </a:rPr>
                            <a:t>191</a:t>
                          </a:r>
                        </a:p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altLang="en-US" sz="1800" b="0" dirty="0" smtClean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304800" y="762000"/>
            <a:ext cx="8458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GB" altLang="en-US" sz="2400" dirty="0"/>
              <a:t>Is there a relationship between gender and product choice?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010400" y="1397000"/>
          <a:ext cx="2590800" cy="27482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ysClr val="windowText" lastClr="000000"/>
                          </a:solidFill>
                        </a:rPr>
                        <a:t>A+B+C</a:t>
                      </a:r>
                    </a:p>
                  </a:txBody>
                  <a:tcPr>
                    <a:lnR w="12700" cmpd="sng"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en-US" sz="1800" b="1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altLang="en-US" sz="18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altLang="en-US" sz="18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altLang="en-US" sz="18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en-US" sz="1800" b="1" dirty="0">
                          <a:solidFill>
                            <a:schemeClr val="tx1"/>
                          </a:solidFill>
                        </a:rPr>
                        <a:t>447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altLang="en-US" sz="18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altLang="en-US" sz="18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altLang="en-US" sz="18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4191000"/>
          <a:ext cx="7402034" cy="6400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445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4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43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43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43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sz="1800" b="1" dirty="0">
                          <a:solidFill>
                            <a:sysClr val="windowText" lastClr="000000"/>
                          </a:solidFill>
                        </a:rPr>
                        <a:t>MALES+FEMALES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270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286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en-US" sz="1800" b="1" dirty="0">
                          <a:solidFill>
                            <a:schemeClr val="tx1"/>
                          </a:solidFill>
                        </a:rPr>
                        <a:t>341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altLang="en-US" sz="18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010400" y="4191000"/>
          <a:ext cx="2286000" cy="6400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en-US" sz="3200" b="0" dirty="0">
                          <a:solidFill>
                            <a:schemeClr val="tx1"/>
                          </a:solidFill>
                        </a:rPr>
                        <a:t>897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en-US" sz="18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altLang="en-US" sz="18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800378" y="4180367"/>
            <a:ext cx="2628622" cy="64633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r"/>
            <a:r>
              <a:rPr lang="en-GB" dirty="0"/>
              <a:t>Number of customers responded</a:t>
            </a:r>
            <a:endParaRPr lang="en-GB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/>
              <p:cNvGraphicFramePr>
                <a:graphicFrameLocks noGrp="1"/>
              </p:cNvGraphicFramePr>
              <p:nvPr/>
            </p:nvGraphicFramePr>
            <p:xfrm>
              <a:off x="1066801" y="1403499"/>
              <a:ext cx="5867400" cy="274828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36219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43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143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21920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pPr algn="r"/>
                          <a:endParaRPr lang="en-GB" sz="18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r"/>
                          <a:r>
                            <a:rPr lang="en-GB" sz="1800" b="1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  <a:p>
                          <a:pPr algn="r"/>
                          <a:endParaRPr lang="en-GB" sz="1800" b="1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r"/>
                          <a:endParaRPr lang="en-GB" sz="18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altLang="en-US" sz="1800" b="0" dirty="0">
                            <a:solidFill>
                              <a:srgbClr val="C00000"/>
                            </a:solidFill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1800" b="0" i="1" smtClean="0">
                                    <a:solidFill>
                                      <a:srgbClr val="C00000"/>
                                    </a:solidFill>
                                    <a:latin typeface="Cambria Math"/>
                                  </a:rPr>
                                  <m:t>135.5</m:t>
                                </m:r>
                              </m:oMath>
                            </m:oMathPara>
                          </a14:m>
                          <a:endParaRPr lang="en-GB" sz="1800" b="0" dirty="0">
                            <a:solidFill>
                              <a:srgbClr val="C00000"/>
                            </a:solidFill>
                          </a:endParaRPr>
                        </a:p>
                        <a:p>
                          <a:pPr algn="ctr"/>
                          <a:r>
                            <a:rPr lang="en-GB" altLang="en-US" sz="2400" dirty="0">
                              <a:solidFill>
                                <a:srgbClr val="7030A0"/>
                              </a:solidFill>
                            </a:rPr>
                            <a:t>4.4490</a:t>
                          </a:r>
                          <a:endParaRPr lang="en-GB" sz="2400" b="0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altLang="en-US" sz="1800" b="0" dirty="0">
                            <a:solidFill>
                              <a:srgbClr val="C00000"/>
                            </a:solidFill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1800" b="0" i="1" smtClean="0">
                                    <a:solidFill>
                                      <a:srgbClr val="C00000"/>
                                    </a:solidFill>
                                    <a:latin typeface="Cambria Math"/>
                                  </a:rPr>
                                  <m:t>143.5</m:t>
                                </m:r>
                              </m:oMath>
                            </m:oMathPara>
                          </a14:m>
                          <a:endParaRPr lang="en-GB" sz="1800" b="0" dirty="0">
                            <a:solidFill>
                              <a:srgbClr val="C00000"/>
                            </a:solidFill>
                          </a:endParaRPr>
                        </a:p>
                        <a:p>
                          <a:pPr algn="ctr"/>
                          <a:r>
                            <a:rPr lang="en-GB" altLang="en-US" sz="2400" dirty="0">
                              <a:solidFill>
                                <a:srgbClr val="7030A0"/>
                              </a:solidFill>
                            </a:rPr>
                            <a:t>0.0843</a:t>
                          </a:r>
                          <a:endParaRPr lang="en-GB" sz="2400" b="0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altLang="en-US" sz="1800" b="0" dirty="0">
                            <a:solidFill>
                              <a:srgbClr val="C00000"/>
                            </a:solidFill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1800" b="0" i="1" smtClean="0">
                                    <a:solidFill>
                                      <a:srgbClr val="C00000"/>
                                    </a:solidFill>
                                    <a:latin typeface="Cambria Math"/>
                                  </a:rPr>
                                  <m:t>171.1</m:t>
                                </m:r>
                              </m:oMath>
                            </m:oMathPara>
                          </a14:m>
                          <a:endParaRPr lang="en-GB" altLang="en-US" sz="1800" b="0" dirty="0">
                            <a:solidFill>
                              <a:srgbClr val="C00000"/>
                            </a:solidFill>
                          </a:endParaRPr>
                        </a:p>
                        <a:p>
                          <a:pPr algn="ctr"/>
                          <a:r>
                            <a:rPr lang="en-GB" altLang="en-US" sz="2400" dirty="0">
                              <a:solidFill>
                                <a:srgbClr val="7030A0"/>
                              </a:solidFill>
                            </a:rPr>
                            <a:t>2.5952</a:t>
                          </a:r>
                          <a:endParaRPr lang="en-GB" altLang="en-US" sz="2400" b="0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pPr algn="r"/>
                          <a:endParaRPr lang="en-GB" sz="18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r"/>
                          <a:endParaRPr lang="en-GB" sz="18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r"/>
                          <a:endParaRPr lang="en-GB" sz="18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r"/>
                          <a:endParaRPr lang="en-GB" sz="1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800" b="0" i="1" dirty="0">
                            <a:solidFill>
                              <a:srgbClr val="C00000"/>
                            </a:solidFill>
                            <a:latin typeface="Cambria Math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1800" b="0" i="1" smtClean="0">
                                    <a:solidFill>
                                      <a:srgbClr val="C00000"/>
                                    </a:solidFill>
                                    <a:latin typeface="Cambria Math"/>
                                  </a:rPr>
                                  <m:t>134.5</m:t>
                                </m:r>
                              </m:oMath>
                            </m:oMathPara>
                          </a14:m>
                          <a:endParaRPr lang="en-GB" sz="1800" b="0" dirty="0">
                            <a:solidFill>
                              <a:srgbClr val="C00000"/>
                            </a:solidFill>
                          </a:endParaRPr>
                        </a:p>
                        <a:p>
                          <a:pPr algn="ctr"/>
                          <a:r>
                            <a:rPr lang="en-GB" altLang="en-US" sz="2400" dirty="0">
                              <a:solidFill>
                                <a:srgbClr val="7030A0"/>
                              </a:solidFill>
                            </a:rPr>
                            <a:t>4.4789</a:t>
                          </a:r>
                          <a:endParaRPr lang="en-GB" sz="2400" b="0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altLang="en-US" sz="1800" b="0" dirty="0">
                            <a:solidFill>
                              <a:srgbClr val="C00000"/>
                            </a:solidFill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1800" b="0" i="1" smtClean="0">
                                    <a:solidFill>
                                      <a:srgbClr val="C00000"/>
                                    </a:solidFill>
                                    <a:latin typeface="Cambria Math"/>
                                  </a:rPr>
                                  <m:t>142.5</m:t>
                                </m:r>
                              </m:oMath>
                            </m:oMathPara>
                          </a14:m>
                          <a:endParaRPr lang="en-GB" sz="1800" b="0" dirty="0">
                            <a:solidFill>
                              <a:srgbClr val="C00000"/>
                            </a:solidFill>
                          </a:endParaRPr>
                        </a:p>
                        <a:p>
                          <a:pPr algn="ctr"/>
                          <a:r>
                            <a:rPr lang="en-GB" altLang="en-US" sz="2400" dirty="0">
                              <a:solidFill>
                                <a:srgbClr val="7030A0"/>
                              </a:solidFill>
                            </a:rPr>
                            <a:t>0.0849</a:t>
                          </a:r>
                          <a:endParaRPr lang="en-GB" sz="2400" b="0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altLang="en-US" sz="1800" b="0" dirty="0">
                            <a:solidFill>
                              <a:srgbClr val="C00000"/>
                            </a:solidFill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1800" b="0" i="1" smtClean="0">
                                    <a:solidFill>
                                      <a:srgbClr val="C00000"/>
                                    </a:solidFill>
                                    <a:latin typeface="Cambria Math"/>
                                  </a:rPr>
                                  <m:t>169.9</m:t>
                                </m:r>
                              </m:oMath>
                            </m:oMathPara>
                          </a14:m>
                          <a:endParaRPr lang="en-GB" altLang="en-US" sz="1800" b="0" dirty="0">
                            <a:solidFill>
                              <a:srgbClr val="C00000"/>
                            </a:solidFill>
                          </a:endParaRPr>
                        </a:p>
                        <a:p>
                          <a:pPr algn="ctr"/>
                          <a:r>
                            <a:rPr lang="en-GB" altLang="en-US" sz="2400" dirty="0">
                              <a:solidFill>
                                <a:srgbClr val="7030A0"/>
                              </a:solidFill>
                            </a:rPr>
                            <a:t>2.6126</a:t>
                          </a:r>
                          <a:endParaRPr lang="en-GB" altLang="en-US" sz="2400" b="0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69728653"/>
                  </p:ext>
                </p:extLst>
              </p:nvPr>
            </p:nvGraphicFramePr>
            <p:xfrm>
              <a:off x="1066801" y="1403499"/>
              <a:ext cx="5867400" cy="274828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362199"/>
                    <a:gridCol w="1143000"/>
                    <a:gridCol w="1143000"/>
                    <a:gridCol w="1219201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1188720">
                    <a:tc>
                      <a:txBody>
                        <a:bodyPr/>
                        <a:lstStyle/>
                        <a:p>
                          <a:pPr algn="r"/>
                          <a:endParaRPr lang="en-GB" sz="1800" dirty="0" smtClean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r"/>
                          <a:r>
                            <a:rPr lang="en-GB" sz="1800" b="1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  <a:p>
                          <a:pPr algn="r"/>
                          <a:endParaRPr lang="en-GB" sz="1800" b="1" dirty="0" smtClean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r"/>
                          <a:endParaRPr lang="en-GB" sz="18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5"/>
                          <a:stretch>
                            <a:fillRect l="-207487" t="-31282" r="-207487" b="-1005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5"/>
                          <a:stretch>
                            <a:fillRect l="-305851" t="-31282" r="-106383" b="-1005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5"/>
                          <a:stretch>
                            <a:fillRect l="-381500" t="-31282" b="-100513"/>
                          </a:stretch>
                        </a:blipFill>
                      </a:tcPr>
                    </a:tc>
                  </a:tr>
                  <a:tr h="1188720">
                    <a:tc>
                      <a:txBody>
                        <a:bodyPr/>
                        <a:lstStyle/>
                        <a:p>
                          <a:pPr algn="r"/>
                          <a:endParaRPr lang="en-GB" sz="1800" b="0" dirty="0" smtClean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r"/>
                          <a:endParaRPr lang="en-GB" sz="1800" b="0" dirty="0" smtClean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r"/>
                          <a:endParaRPr lang="en-GB" sz="1800" b="0" dirty="0" smtClean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r"/>
                          <a:endParaRPr lang="en-GB" sz="1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5"/>
                          <a:stretch>
                            <a:fillRect l="-207487" t="-131282" r="-207487" b="-5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5"/>
                          <a:stretch>
                            <a:fillRect l="-305851" t="-131282" r="-106383" b="-5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5"/>
                          <a:stretch>
                            <a:fillRect l="-381500" t="-131282" b="-513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43589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alt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altLang="en-US">
                            <a:latin typeface="Cambria Math"/>
                          </a:rPr>
                          <m:t>𝝌</m:t>
                        </m:r>
                      </m:e>
                      <m:sup>
                        <m:r>
                          <a:rPr lang="en-GB" altLang="en-US" smtClean="0"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GB" altLang="en-US" dirty="0"/>
                  <a:t> for Testing Relationships</a:t>
                </a:r>
                <a:endParaRPr lang="en-GB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3"/>
                <a:stretch>
                  <a:fillRect t="-64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/>
            </p:nvGraphicFramePr>
            <p:xfrm>
              <a:off x="685800" y="1397000"/>
              <a:ext cx="6228708" cy="287020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74063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6269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16269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16269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21920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800" b="1" dirty="0">
                              <a:solidFill>
                                <a:schemeClr val="tx1"/>
                              </a:solidFill>
                            </a:rPr>
                            <a:t>MALES</a:t>
                          </a:r>
                          <a:r>
                            <a:rPr lang="en-GB" sz="1800" dirty="0">
                              <a:solidFill>
                                <a:schemeClr val="tx1"/>
                              </a:solidFill>
                            </a:rPr>
                            <a:t>           Observed</a:t>
                          </a:r>
                        </a:p>
                        <a:p>
                          <a:pPr algn="r"/>
                          <a:r>
                            <a:rPr lang="en-GB" sz="1800" dirty="0">
                              <a:solidFill>
                                <a:srgbClr val="C00000"/>
                              </a:solidFill>
                            </a:rPr>
                            <a:t>Expected </a:t>
                          </a:r>
                        </a:p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GB" altLang="en-US" sz="1800" dirty="0" smtClean="0">
                                    <a:solidFill>
                                      <a:srgbClr val="7030A0"/>
                                    </a:solidFill>
                                    <a:sym typeface="Symbol" pitchFamily="18" charset="2"/>
                                  </a:rPr>
                                  <m:t></m:t>
                                </m:r>
                                <m:r>
                                  <m:rPr>
                                    <m:nor/>
                                  </m:rPr>
                                  <a:rPr lang="en-GB" altLang="en-US" sz="1800" baseline="30000" dirty="0" smtClean="0">
                                    <a:solidFill>
                                      <a:srgbClr val="7030A0"/>
                                    </a:solidFill>
                                    <a:sym typeface="Symbol" pitchFamily="18" charset="2"/>
                                  </a:rPr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en-GB" altLang="en-US" sz="1800" dirty="0" smtClean="0">
                                    <a:solidFill>
                                      <a:srgbClr val="7030A0"/>
                                    </a:solidFill>
                                    <a:sym typeface="Symbol" pitchFamily="18" charset="2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GB" altLang="en-US" sz="1800" dirty="0" smtClean="0">
                                    <a:solidFill>
                                      <a:srgbClr val="7030A0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GB" altLang="en-US" sz="1800" dirty="0" smtClean="0">
                                    <a:solidFill>
                                      <a:srgbClr val="7030A0"/>
                                    </a:solidFill>
                                  </a:rPr>
                                  <m:t>cell</m:t>
                                </m:r>
                                <m:r>
                                  <m:rPr>
                                    <m:nor/>
                                  </m:rPr>
                                  <a:rPr lang="en-GB" altLang="en-US" sz="1800" dirty="0" smtClean="0">
                                    <a:solidFill>
                                      <a:srgbClr val="7030A0"/>
                                    </a:solidFill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 altLang="en-US" sz="1800" dirty="0">
                            <a:solidFill>
                              <a:srgbClr val="7030A0"/>
                            </a:solidFill>
                          </a:endParaRPr>
                        </a:p>
                        <a:p>
                          <a:pPr algn="r"/>
                          <a:endParaRPr lang="en-GB" sz="2000" b="1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altLang="en-US" sz="1800" b="0" dirty="0">
                              <a:solidFill>
                                <a:schemeClr val="tx1"/>
                              </a:solidFill>
                            </a:rPr>
                            <a:t>160</a:t>
                          </a:r>
                        </a:p>
                        <a:p>
                          <a:pPr algn="ctr"/>
                          <a:endParaRPr lang="en-GB" sz="1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altLang="en-US" sz="1800" b="0" dirty="0">
                              <a:solidFill>
                                <a:schemeClr val="tx1"/>
                              </a:solidFill>
                            </a:rPr>
                            <a:t>140</a:t>
                          </a:r>
                        </a:p>
                        <a:p>
                          <a:pPr algn="ctr"/>
                          <a:endParaRPr lang="en-GB" sz="1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altLang="en-US" sz="1800" b="0" dirty="0">
                              <a:solidFill>
                                <a:schemeClr val="tx1"/>
                              </a:solidFill>
                            </a:rPr>
                            <a:t>150</a:t>
                          </a:r>
                        </a:p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altLang="en-US" sz="1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28016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800" b="1" dirty="0">
                              <a:solidFill>
                                <a:schemeClr val="tx1"/>
                              </a:solidFill>
                            </a:rPr>
                            <a:t>FEMALES      </a:t>
                          </a:r>
                          <a:r>
                            <a:rPr lang="en-GB" sz="1800" b="0" dirty="0">
                              <a:solidFill>
                                <a:schemeClr val="tx1"/>
                              </a:solidFill>
                            </a:rPr>
                            <a:t>   Observed</a:t>
                          </a:r>
                        </a:p>
                        <a:p>
                          <a:pPr algn="r"/>
                          <a:r>
                            <a:rPr lang="en-GB" sz="1800" b="0" baseline="0" dirty="0">
                              <a:solidFill>
                                <a:srgbClr val="C00000"/>
                              </a:solidFill>
                            </a:rPr>
                            <a:t>Expected</a:t>
                          </a:r>
                        </a:p>
                        <a:p>
                          <a:pPr algn="r"/>
                          <a:r>
                            <a:rPr lang="en-GB" altLang="en-US" sz="1800" dirty="0">
                              <a:solidFill>
                                <a:srgbClr val="7030A0"/>
                              </a:solidFill>
                              <a:sym typeface="Symbol" pitchFamily="18" charset="2"/>
                            </a:rPr>
                            <a:t></a:t>
                          </a:r>
                          <a:r>
                            <a:rPr lang="en-GB" altLang="en-US" sz="1800" baseline="30000" dirty="0">
                              <a:solidFill>
                                <a:srgbClr val="7030A0"/>
                              </a:solidFill>
                              <a:sym typeface="Symbol" pitchFamily="18" charset="2"/>
                            </a:rPr>
                            <a:t>2</a:t>
                          </a:r>
                          <a:r>
                            <a:rPr lang="en-GB" altLang="en-US" sz="1800" dirty="0">
                              <a:solidFill>
                                <a:srgbClr val="7030A0"/>
                              </a:solidFill>
                              <a:sym typeface="Symbol" pitchFamily="18" charset="2"/>
                            </a:rPr>
                            <a:t> </a:t>
                          </a:r>
                          <a:r>
                            <a:rPr lang="en-GB" altLang="en-US" sz="1800" dirty="0">
                              <a:solidFill>
                                <a:srgbClr val="7030A0"/>
                              </a:solidFill>
                            </a:rPr>
                            <a:t>(cell)</a:t>
                          </a:r>
                        </a:p>
                        <a:p>
                          <a:pPr algn="r"/>
                          <a:endParaRPr lang="en-GB" sz="2400" b="0" baseline="0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800" b="0" dirty="0">
                              <a:solidFill>
                                <a:schemeClr val="tx1"/>
                              </a:solidFill>
                            </a:rPr>
                            <a:t>110</a:t>
                          </a:r>
                        </a:p>
                        <a:p>
                          <a:pPr algn="ctr"/>
                          <a:endParaRPr lang="en-GB" sz="1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800" b="0" dirty="0">
                              <a:solidFill>
                                <a:schemeClr val="tx1"/>
                              </a:solidFill>
                            </a:rPr>
                            <a:t>146</a:t>
                          </a:r>
                        </a:p>
                        <a:p>
                          <a:pPr algn="ctr"/>
                          <a:endParaRPr lang="en-GB" sz="1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altLang="en-US" sz="1800" b="0" dirty="0">
                              <a:solidFill>
                                <a:schemeClr val="tx1"/>
                              </a:solidFill>
                            </a:rPr>
                            <a:t>191</a:t>
                          </a:r>
                        </a:p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altLang="en-US" sz="1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58986364"/>
                  </p:ext>
                </p:extLst>
              </p:nvPr>
            </p:nvGraphicFramePr>
            <p:xfrm>
              <a:off x="685800" y="1397000"/>
              <a:ext cx="6228708" cy="287020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740632"/>
                    <a:gridCol w="1162692"/>
                    <a:gridCol w="1162692"/>
                    <a:gridCol w="1162692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A</a:t>
                          </a:r>
                          <a:endParaRPr lang="en-GB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B</a:t>
                          </a:r>
                          <a:endParaRPr lang="en-GB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C</a:t>
                          </a:r>
                          <a:endParaRPr lang="en-GB" dirty="0"/>
                        </a:p>
                      </a:txBody>
                      <a:tcPr>
                        <a:noFill/>
                      </a:tcPr>
                    </a:tc>
                  </a:tr>
                  <a:tr h="1219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4"/>
                          <a:stretch>
                            <a:fillRect l="-223" t="-33000" r="-127617" b="-1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altLang="en-US" sz="1800" b="0" dirty="0" smtClean="0">
                              <a:solidFill>
                                <a:schemeClr val="tx1"/>
                              </a:solidFill>
                            </a:rPr>
                            <a:t>160</a:t>
                          </a:r>
                        </a:p>
                        <a:p>
                          <a:pPr algn="ctr"/>
                          <a:endParaRPr lang="en-GB" sz="1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altLang="en-US" sz="1800" b="0" dirty="0" smtClean="0">
                              <a:solidFill>
                                <a:schemeClr val="tx1"/>
                              </a:solidFill>
                            </a:rPr>
                            <a:t>140</a:t>
                          </a:r>
                        </a:p>
                        <a:p>
                          <a:pPr algn="ctr"/>
                          <a:endParaRPr lang="en-GB" sz="1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altLang="en-US" sz="1800" b="0" dirty="0" smtClean="0">
                              <a:solidFill>
                                <a:schemeClr val="tx1"/>
                              </a:solidFill>
                            </a:rPr>
                            <a:t>150</a:t>
                          </a:r>
                        </a:p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altLang="en-US" sz="1800" b="0" dirty="0" smtClean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128016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800" b="1" dirty="0" smtClean="0">
                              <a:solidFill>
                                <a:schemeClr val="tx1"/>
                              </a:solidFill>
                            </a:rPr>
                            <a:t>FEMALES      </a:t>
                          </a:r>
                          <a:r>
                            <a:rPr lang="en-GB" sz="1800" b="0" dirty="0" smtClean="0">
                              <a:solidFill>
                                <a:schemeClr val="tx1"/>
                              </a:solidFill>
                            </a:rPr>
                            <a:t>   Observed</a:t>
                          </a:r>
                        </a:p>
                        <a:p>
                          <a:pPr algn="r"/>
                          <a:r>
                            <a:rPr lang="en-GB" sz="1800" b="0" baseline="0" dirty="0" smtClean="0">
                              <a:solidFill>
                                <a:srgbClr val="C00000"/>
                              </a:solidFill>
                            </a:rPr>
                            <a:t>Expected</a:t>
                          </a:r>
                        </a:p>
                        <a:p>
                          <a:pPr algn="r"/>
                          <a:r>
                            <a:rPr lang="en-GB" altLang="en-US" sz="1800" dirty="0" smtClean="0">
                              <a:solidFill>
                                <a:srgbClr val="7030A0"/>
                              </a:solidFill>
                              <a:sym typeface="Symbol" pitchFamily="18" charset="2"/>
                            </a:rPr>
                            <a:t></a:t>
                          </a:r>
                          <a:r>
                            <a:rPr lang="en-GB" altLang="en-US" sz="1800" baseline="30000" dirty="0" smtClean="0">
                              <a:solidFill>
                                <a:srgbClr val="7030A0"/>
                              </a:solidFill>
                              <a:sym typeface="Symbol" pitchFamily="18" charset="2"/>
                            </a:rPr>
                            <a:t>2</a:t>
                          </a:r>
                          <a:r>
                            <a:rPr lang="en-GB" altLang="en-US" sz="1800" dirty="0" smtClean="0">
                              <a:solidFill>
                                <a:srgbClr val="7030A0"/>
                              </a:solidFill>
                              <a:sym typeface="Symbol" pitchFamily="18" charset="2"/>
                            </a:rPr>
                            <a:t> </a:t>
                          </a:r>
                          <a:r>
                            <a:rPr lang="en-GB" altLang="en-US" sz="1800" dirty="0" smtClean="0">
                              <a:solidFill>
                                <a:srgbClr val="7030A0"/>
                              </a:solidFill>
                            </a:rPr>
                            <a:t>(cell)</a:t>
                          </a:r>
                        </a:p>
                        <a:p>
                          <a:pPr algn="r"/>
                          <a:endParaRPr lang="en-GB" sz="2400" b="0" baseline="0" dirty="0" smtClean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800" b="0" dirty="0" smtClean="0">
                              <a:solidFill>
                                <a:schemeClr val="tx1"/>
                              </a:solidFill>
                            </a:rPr>
                            <a:t>110</a:t>
                          </a:r>
                        </a:p>
                        <a:p>
                          <a:pPr algn="ctr"/>
                          <a:endParaRPr lang="en-GB" sz="1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800" b="0" dirty="0" smtClean="0">
                              <a:solidFill>
                                <a:schemeClr val="tx1"/>
                              </a:solidFill>
                            </a:rPr>
                            <a:t>146</a:t>
                          </a:r>
                        </a:p>
                        <a:p>
                          <a:pPr algn="ctr"/>
                          <a:endParaRPr lang="en-GB" sz="1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altLang="en-US" sz="1800" b="0" dirty="0" smtClean="0">
                              <a:solidFill>
                                <a:schemeClr val="tx1"/>
                              </a:solidFill>
                            </a:rPr>
                            <a:t>191</a:t>
                          </a:r>
                        </a:p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altLang="en-US" sz="1800" b="0" dirty="0" smtClean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304800" y="762000"/>
            <a:ext cx="8458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GB" altLang="en-US" sz="2400" dirty="0"/>
              <a:t>Is there a relationship between gender and product choice?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010400" y="1397000"/>
          <a:ext cx="2590800" cy="27482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ysClr val="windowText" lastClr="000000"/>
                          </a:solidFill>
                        </a:rPr>
                        <a:t>A+B+C</a:t>
                      </a:r>
                    </a:p>
                  </a:txBody>
                  <a:tcPr>
                    <a:lnR w="12700" cmpd="sng"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en-US" sz="1800" b="1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altLang="en-US" sz="18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altLang="en-US" sz="18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altLang="en-US" sz="18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en-US" sz="1800" b="1" dirty="0">
                          <a:solidFill>
                            <a:schemeClr val="tx1"/>
                          </a:solidFill>
                        </a:rPr>
                        <a:t>447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altLang="en-US" sz="18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altLang="en-US" sz="18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altLang="en-US" sz="18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4191000"/>
          <a:ext cx="7402034" cy="6400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445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4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43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43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43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sz="1800" b="1" dirty="0">
                          <a:solidFill>
                            <a:sysClr val="windowText" lastClr="000000"/>
                          </a:solidFill>
                        </a:rPr>
                        <a:t>MALES+FEMALES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270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286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en-US" sz="1800" b="1" dirty="0">
                          <a:solidFill>
                            <a:schemeClr val="tx1"/>
                          </a:solidFill>
                        </a:rPr>
                        <a:t>341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altLang="en-US" sz="18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010400" y="4191000"/>
          <a:ext cx="2286000" cy="6400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en-US" sz="3200" b="0" dirty="0">
                          <a:solidFill>
                            <a:schemeClr val="tx1"/>
                          </a:solidFill>
                        </a:rPr>
                        <a:t>897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en-US" sz="18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altLang="en-US" sz="18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800378" y="4180367"/>
            <a:ext cx="2628622" cy="64633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r"/>
            <a:r>
              <a:rPr lang="en-GB" dirty="0"/>
              <a:t>Number of customers responded</a:t>
            </a:r>
            <a:endParaRPr lang="en-GB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/>
              <p:cNvGraphicFramePr>
                <a:graphicFrameLocks noGrp="1"/>
              </p:cNvGraphicFramePr>
              <p:nvPr/>
            </p:nvGraphicFramePr>
            <p:xfrm>
              <a:off x="1066801" y="1403499"/>
              <a:ext cx="5867400" cy="274828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36219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43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143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21920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pPr algn="r"/>
                          <a:endParaRPr lang="en-GB" sz="18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r"/>
                          <a:r>
                            <a:rPr lang="en-GB" sz="1800" b="1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  <a:p>
                          <a:pPr algn="r"/>
                          <a:endParaRPr lang="en-GB" sz="1800" b="1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r"/>
                          <a:endParaRPr lang="en-GB" sz="18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altLang="en-US" sz="1800" b="0" dirty="0">
                            <a:solidFill>
                              <a:srgbClr val="C00000"/>
                            </a:solidFill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1800" b="0" i="1" smtClean="0">
                                    <a:solidFill>
                                      <a:srgbClr val="C00000"/>
                                    </a:solidFill>
                                    <a:latin typeface="Cambria Math"/>
                                  </a:rPr>
                                  <m:t>135.5</m:t>
                                </m:r>
                              </m:oMath>
                            </m:oMathPara>
                          </a14:m>
                          <a:endParaRPr lang="en-GB" sz="1800" b="0" dirty="0">
                            <a:solidFill>
                              <a:srgbClr val="C00000"/>
                            </a:solidFill>
                          </a:endParaRPr>
                        </a:p>
                        <a:p>
                          <a:pPr algn="ctr"/>
                          <a:r>
                            <a:rPr lang="en-GB" altLang="en-US" sz="2400" dirty="0">
                              <a:solidFill>
                                <a:srgbClr val="7030A0"/>
                              </a:solidFill>
                            </a:rPr>
                            <a:t>4.4490</a:t>
                          </a:r>
                          <a:endParaRPr lang="en-GB" sz="2400" b="0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altLang="en-US" sz="1800" b="0" dirty="0">
                            <a:solidFill>
                              <a:srgbClr val="C00000"/>
                            </a:solidFill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1800" b="0" i="1" smtClean="0">
                                    <a:solidFill>
                                      <a:srgbClr val="C00000"/>
                                    </a:solidFill>
                                    <a:latin typeface="Cambria Math"/>
                                  </a:rPr>
                                  <m:t>143.5</m:t>
                                </m:r>
                              </m:oMath>
                            </m:oMathPara>
                          </a14:m>
                          <a:endParaRPr lang="en-GB" sz="1800" b="0" dirty="0">
                            <a:solidFill>
                              <a:srgbClr val="C00000"/>
                            </a:solidFill>
                          </a:endParaRPr>
                        </a:p>
                        <a:p>
                          <a:pPr algn="ctr"/>
                          <a:r>
                            <a:rPr lang="en-GB" altLang="en-US" sz="2400" dirty="0">
                              <a:solidFill>
                                <a:srgbClr val="7030A0"/>
                              </a:solidFill>
                            </a:rPr>
                            <a:t>0.0843</a:t>
                          </a:r>
                          <a:endParaRPr lang="en-GB" sz="2400" b="0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altLang="en-US" sz="1800" b="0" dirty="0">
                            <a:solidFill>
                              <a:srgbClr val="C00000"/>
                            </a:solidFill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1800" b="0" i="1" smtClean="0">
                                    <a:solidFill>
                                      <a:srgbClr val="C00000"/>
                                    </a:solidFill>
                                    <a:latin typeface="Cambria Math"/>
                                  </a:rPr>
                                  <m:t>171.1</m:t>
                                </m:r>
                              </m:oMath>
                            </m:oMathPara>
                          </a14:m>
                          <a:endParaRPr lang="en-GB" altLang="en-US" sz="1800" b="0" dirty="0">
                            <a:solidFill>
                              <a:srgbClr val="C00000"/>
                            </a:solidFill>
                          </a:endParaRPr>
                        </a:p>
                        <a:p>
                          <a:pPr algn="ctr"/>
                          <a:r>
                            <a:rPr lang="en-GB" altLang="en-US" sz="2400" dirty="0">
                              <a:solidFill>
                                <a:srgbClr val="7030A0"/>
                              </a:solidFill>
                            </a:rPr>
                            <a:t>2.5952</a:t>
                          </a:r>
                          <a:endParaRPr lang="en-GB" altLang="en-US" sz="2400" b="0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pPr algn="r"/>
                          <a:endParaRPr lang="en-GB" sz="18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r"/>
                          <a:endParaRPr lang="en-GB" sz="18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r"/>
                          <a:endParaRPr lang="en-GB" sz="18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r"/>
                          <a:endParaRPr lang="en-GB" sz="1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800" b="0" i="1" dirty="0">
                            <a:solidFill>
                              <a:srgbClr val="C00000"/>
                            </a:solidFill>
                            <a:latin typeface="Cambria Math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1800" b="0" i="1" smtClean="0">
                                    <a:solidFill>
                                      <a:srgbClr val="C00000"/>
                                    </a:solidFill>
                                    <a:latin typeface="Cambria Math"/>
                                  </a:rPr>
                                  <m:t>134.5</m:t>
                                </m:r>
                              </m:oMath>
                            </m:oMathPara>
                          </a14:m>
                          <a:endParaRPr lang="en-GB" sz="1800" b="0" dirty="0">
                            <a:solidFill>
                              <a:srgbClr val="C00000"/>
                            </a:solidFill>
                          </a:endParaRPr>
                        </a:p>
                        <a:p>
                          <a:pPr algn="ctr"/>
                          <a:r>
                            <a:rPr lang="en-GB" altLang="en-US" sz="2400" dirty="0">
                              <a:solidFill>
                                <a:srgbClr val="7030A0"/>
                              </a:solidFill>
                            </a:rPr>
                            <a:t>4.4789</a:t>
                          </a:r>
                          <a:endParaRPr lang="en-GB" sz="2400" b="0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altLang="en-US" sz="1800" b="0" dirty="0">
                            <a:solidFill>
                              <a:srgbClr val="C00000"/>
                            </a:solidFill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1800" b="0" i="1" smtClean="0">
                                    <a:solidFill>
                                      <a:srgbClr val="C00000"/>
                                    </a:solidFill>
                                    <a:latin typeface="Cambria Math"/>
                                  </a:rPr>
                                  <m:t>142.5</m:t>
                                </m:r>
                              </m:oMath>
                            </m:oMathPara>
                          </a14:m>
                          <a:endParaRPr lang="en-GB" sz="1800" b="0" dirty="0">
                            <a:solidFill>
                              <a:srgbClr val="C00000"/>
                            </a:solidFill>
                          </a:endParaRPr>
                        </a:p>
                        <a:p>
                          <a:pPr algn="ctr"/>
                          <a:r>
                            <a:rPr lang="en-GB" altLang="en-US" sz="2400" dirty="0">
                              <a:solidFill>
                                <a:srgbClr val="7030A0"/>
                              </a:solidFill>
                            </a:rPr>
                            <a:t>0.0849</a:t>
                          </a:r>
                          <a:endParaRPr lang="en-GB" sz="2400" b="0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altLang="en-US" sz="1800" b="0" dirty="0">
                            <a:solidFill>
                              <a:srgbClr val="C00000"/>
                            </a:solidFill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1800" b="0" i="1" smtClean="0">
                                    <a:solidFill>
                                      <a:srgbClr val="C00000"/>
                                    </a:solidFill>
                                    <a:latin typeface="Cambria Math"/>
                                  </a:rPr>
                                  <m:t>169.9</m:t>
                                </m:r>
                              </m:oMath>
                            </m:oMathPara>
                          </a14:m>
                          <a:endParaRPr lang="en-GB" altLang="en-US" sz="1800" b="0" dirty="0">
                            <a:solidFill>
                              <a:srgbClr val="C00000"/>
                            </a:solidFill>
                          </a:endParaRPr>
                        </a:p>
                        <a:p>
                          <a:pPr algn="ctr"/>
                          <a:r>
                            <a:rPr lang="en-GB" altLang="en-US" sz="2400" dirty="0">
                              <a:solidFill>
                                <a:srgbClr val="7030A0"/>
                              </a:solidFill>
                            </a:rPr>
                            <a:t>2.6126</a:t>
                          </a:r>
                          <a:endParaRPr lang="en-GB" altLang="en-US" sz="2400" b="0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24836898"/>
                  </p:ext>
                </p:extLst>
              </p:nvPr>
            </p:nvGraphicFramePr>
            <p:xfrm>
              <a:off x="1066801" y="1403499"/>
              <a:ext cx="5867400" cy="274828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362199"/>
                    <a:gridCol w="1143000"/>
                    <a:gridCol w="1143000"/>
                    <a:gridCol w="1219201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1188720">
                    <a:tc>
                      <a:txBody>
                        <a:bodyPr/>
                        <a:lstStyle/>
                        <a:p>
                          <a:pPr algn="r"/>
                          <a:endParaRPr lang="en-GB" sz="1800" dirty="0" smtClean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r"/>
                          <a:r>
                            <a:rPr lang="en-GB" sz="1800" b="1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  <a:p>
                          <a:pPr algn="r"/>
                          <a:endParaRPr lang="en-GB" sz="1800" b="1" dirty="0" smtClean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r"/>
                          <a:endParaRPr lang="en-GB" sz="18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5"/>
                          <a:stretch>
                            <a:fillRect l="-207487" t="-31282" r="-207487" b="-1005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5"/>
                          <a:stretch>
                            <a:fillRect l="-305851" t="-31282" r="-106383" b="-1005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5"/>
                          <a:stretch>
                            <a:fillRect l="-381500" t="-31282" b="-100513"/>
                          </a:stretch>
                        </a:blipFill>
                      </a:tcPr>
                    </a:tc>
                  </a:tr>
                  <a:tr h="1188720">
                    <a:tc>
                      <a:txBody>
                        <a:bodyPr/>
                        <a:lstStyle/>
                        <a:p>
                          <a:pPr algn="r"/>
                          <a:endParaRPr lang="en-GB" sz="1800" b="0" dirty="0" smtClean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r"/>
                          <a:endParaRPr lang="en-GB" sz="1800" b="0" dirty="0" smtClean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r"/>
                          <a:endParaRPr lang="en-GB" sz="1800" b="0" dirty="0" smtClean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r"/>
                          <a:endParaRPr lang="en-GB" sz="1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5"/>
                          <a:stretch>
                            <a:fillRect l="-207487" t="-131282" r="-207487" b="-5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5"/>
                          <a:stretch>
                            <a:fillRect l="-305851" t="-131282" r="-106383" b="-5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5"/>
                          <a:stretch>
                            <a:fillRect l="-381500" t="-131282" b="-513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6491803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GB" altLang="en-US" dirty="0"/>
                  <a:t>Recall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altLang="en-US">
                            <a:latin typeface="Cambria Math"/>
                          </a:rPr>
                          <m:t>𝝌</m:t>
                        </m:r>
                      </m:e>
                      <m:sup>
                        <m:r>
                          <a:rPr lang="en-GB" altLang="en-US"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3"/>
                <a:stretch>
                  <a:fillRect l="-2222" t="-64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5130559" y="969637"/>
                <a:ext cx="3327641" cy="131459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b="0" i="1">
                              <a:latin typeface="Cambria Math"/>
                            </a:rPr>
                            <m:t>𝜒</m:t>
                          </m:r>
                        </m:e>
                        <m:sup>
                          <m:r>
                            <a:rPr lang="en-GB" sz="2800" b="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GB" sz="2800" b="0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GB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2800" b="0" i="1">
                                              <a:latin typeface="Cambria Math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GB" sz="2800" b="0" i="1">
                                              <a:latin typeface="Cambria Math"/>
                                            </a:rPr>
                                            <m:t>𝑜</m:t>
                                          </m:r>
                                        </m:sub>
                                      </m:sSub>
                                      <m:r>
                                        <a:rPr lang="en-GB" sz="2800" b="0" i="1">
                                          <a:latin typeface="Cambria Math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GB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2800" b="0" i="1">
                                              <a:latin typeface="Cambria Math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GB" sz="2800" b="0" i="1">
                                              <a:latin typeface="Cambria Math"/>
                                            </a:rPr>
                                            <m:t>𝑒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GB" sz="2800" b="0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800" b="0" i="1">
                                      <a:latin typeface="Cambria Math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GB" sz="2800" b="0" i="1">
                                      <a:latin typeface="Cambria Math"/>
                                    </a:rPr>
                                    <m:t>𝑒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0559" y="969637"/>
                <a:ext cx="3327641" cy="1314591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Group 37"/>
          <p:cNvGrpSpPr/>
          <p:nvPr/>
        </p:nvGrpSpPr>
        <p:grpSpPr>
          <a:xfrm>
            <a:off x="381000" y="2362200"/>
            <a:ext cx="4452340" cy="2667000"/>
            <a:chOff x="1033206" y="2133600"/>
            <a:chExt cx="7232907" cy="3201527"/>
          </a:xfrm>
        </p:grpSpPr>
        <p:sp>
          <p:nvSpPr>
            <p:cNvPr id="39" name="Freeform 5"/>
            <p:cNvSpPr>
              <a:spLocks/>
            </p:cNvSpPr>
            <p:nvPr/>
          </p:nvSpPr>
          <p:spPr bwMode="auto">
            <a:xfrm>
              <a:off x="4203700" y="4279900"/>
              <a:ext cx="2547938" cy="666750"/>
            </a:xfrm>
            <a:custGeom>
              <a:avLst/>
              <a:gdLst>
                <a:gd name="T0" fmla="*/ 8 w 997"/>
                <a:gd name="T1" fmla="*/ 261 h 261"/>
                <a:gd name="T2" fmla="*/ 0 w 997"/>
                <a:gd name="T3" fmla="*/ 0 h 261"/>
                <a:gd name="T4" fmla="*/ 102 w 997"/>
                <a:gd name="T5" fmla="*/ 83 h 261"/>
                <a:gd name="T6" fmla="*/ 174 w 997"/>
                <a:gd name="T7" fmla="*/ 128 h 261"/>
                <a:gd name="T8" fmla="*/ 223 w 997"/>
                <a:gd name="T9" fmla="*/ 149 h 261"/>
                <a:gd name="T10" fmla="*/ 249 w 997"/>
                <a:gd name="T11" fmla="*/ 155 h 261"/>
                <a:gd name="T12" fmla="*/ 322 w 997"/>
                <a:gd name="T13" fmla="*/ 176 h 261"/>
                <a:gd name="T14" fmla="*/ 363 w 997"/>
                <a:gd name="T15" fmla="*/ 180 h 261"/>
                <a:gd name="T16" fmla="*/ 448 w 997"/>
                <a:gd name="T17" fmla="*/ 201 h 261"/>
                <a:gd name="T18" fmla="*/ 594 w 997"/>
                <a:gd name="T19" fmla="*/ 221 h 261"/>
                <a:gd name="T20" fmla="*/ 997 w 997"/>
                <a:gd name="T21" fmla="*/ 240 h 261"/>
                <a:gd name="T22" fmla="*/ 996 w 997"/>
                <a:gd name="T23" fmla="*/ 260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97" h="261">
                  <a:moveTo>
                    <a:pt x="8" y="261"/>
                  </a:moveTo>
                  <a:lnTo>
                    <a:pt x="0" y="0"/>
                  </a:lnTo>
                  <a:lnTo>
                    <a:pt x="102" y="83"/>
                  </a:lnTo>
                  <a:lnTo>
                    <a:pt x="174" y="128"/>
                  </a:lnTo>
                  <a:lnTo>
                    <a:pt x="223" y="149"/>
                  </a:lnTo>
                  <a:lnTo>
                    <a:pt x="249" y="155"/>
                  </a:lnTo>
                  <a:lnTo>
                    <a:pt x="322" y="176"/>
                  </a:lnTo>
                  <a:lnTo>
                    <a:pt x="363" y="180"/>
                  </a:lnTo>
                  <a:lnTo>
                    <a:pt x="448" y="201"/>
                  </a:lnTo>
                  <a:lnTo>
                    <a:pt x="594" y="221"/>
                  </a:lnTo>
                  <a:lnTo>
                    <a:pt x="997" y="240"/>
                  </a:lnTo>
                  <a:lnTo>
                    <a:pt x="996" y="260"/>
                  </a:lnTo>
                </a:path>
              </a:pathLst>
            </a:custGeom>
            <a:solidFill>
              <a:srgbClr val="0099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0" name="Freeform 6"/>
            <p:cNvSpPr>
              <a:spLocks/>
            </p:cNvSpPr>
            <p:nvPr/>
          </p:nvSpPr>
          <p:spPr bwMode="auto">
            <a:xfrm>
              <a:off x="1258888" y="2133600"/>
              <a:ext cx="6634162" cy="2820988"/>
            </a:xfrm>
            <a:custGeom>
              <a:avLst/>
              <a:gdLst>
                <a:gd name="T0" fmla="*/ 0 w 3388"/>
                <a:gd name="T1" fmla="*/ 0 h 1023"/>
                <a:gd name="T2" fmla="*/ 0 w 3388"/>
                <a:gd name="T3" fmla="*/ 1022 h 1023"/>
                <a:gd name="T4" fmla="*/ 3387 w 3388"/>
                <a:gd name="T5" fmla="*/ 1022 h 1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88" h="1023">
                  <a:moveTo>
                    <a:pt x="0" y="0"/>
                  </a:moveTo>
                  <a:lnTo>
                    <a:pt x="0" y="1022"/>
                  </a:lnTo>
                  <a:lnTo>
                    <a:pt x="3387" y="1022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1" name="Rectangle 7"/>
            <p:cNvSpPr>
              <a:spLocks noChangeArrowheads="1"/>
            </p:cNvSpPr>
            <p:nvPr/>
          </p:nvSpPr>
          <p:spPr bwMode="auto">
            <a:xfrm>
              <a:off x="1033206" y="4696952"/>
              <a:ext cx="736600" cy="638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b="0" dirty="0">
                  <a:latin typeface="Arial" charset="0"/>
                </a:rPr>
                <a:t>0</a:t>
              </a:r>
              <a:r>
                <a:rPr lang="en-US" altLang="en-US" sz="3600" dirty="0">
                  <a:latin typeface="Arial" charset="0"/>
                </a:rPr>
                <a:t> </a:t>
              </a:r>
            </a:p>
          </p:txBody>
        </p:sp>
        <p:sp>
          <p:nvSpPr>
            <p:cNvPr id="43" name="Freeform 9"/>
            <p:cNvSpPr>
              <a:spLocks/>
            </p:cNvSpPr>
            <p:nvPr/>
          </p:nvSpPr>
          <p:spPr bwMode="auto">
            <a:xfrm>
              <a:off x="1276350" y="2730500"/>
              <a:ext cx="6989763" cy="2241550"/>
            </a:xfrm>
            <a:custGeom>
              <a:avLst/>
              <a:gdLst>
                <a:gd name="T0" fmla="*/ 0 w 3492"/>
                <a:gd name="T1" fmla="*/ 1011 h 1021"/>
                <a:gd name="T2" fmla="*/ 162 w 3492"/>
                <a:gd name="T3" fmla="*/ 837 h 1021"/>
                <a:gd name="T4" fmla="*/ 714 w 3492"/>
                <a:gd name="T5" fmla="*/ 3 h 1021"/>
                <a:gd name="T6" fmla="*/ 1728 w 3492"/>
                <a:gd name="T7" fmla="*/ 855 h 1021"/>
                <a:gd name="T8" fmla="*/ 3492 w 3492"/>
                <a:gd name="T9" fmla="*/ 999 h 10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92" h="1021">
                  <a:moveTo>
                    <a:pt x="0" y="1011"/>
                  </a:moveTo>
                  <a:cubicBezTo>
                    <a:pt x="27" y="982"/>
                    <a:pt x="43" y="1005"/>
                    <a:pt x="162" y="837"/>
                  </a:cubicBezTo>
                  <a:cubicBezTo>
                    <a:pt x="281" y="669"/>
                    <a:pt x="453" y="0"/>
                    <a:pt x="714" y="3"/>
                  </a:cubicBezTo>
                  <a:cubicBezTo>
                    <a:pt x="975" y="6"/>
                    <a:pt x="1265" y="689"/>
                    <a:pt x="1728" y="855"/>
                  </a:cubicBezTo>
                  <a:cubicBezTo>
                    <a:pt x="2191" y="1021"/>
                    <a:pt x="3125" y="969"/>
                    <a:pt x="3492" y="999"/>
                  </a:cubicBezTo>
                </a:path>
              </a:pathLst>
            </a:custGeom>
            <a:noFill/>
            <a:ln w="38100" cap="flat" cmpd="sng">
              <a:solidFill>
                <a:srgbClr val="333399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4" name="Freeform 10"/>
            <p:cNvSpPr>
              <a:spLocks/>
            </p:cNvSpPr>
            <p:nvPr/>
          </p:nvSpPr>
          <p:spPr bwMode="auto">
            <a:xfrm>
              <a:off x="4206875" y="4300538"/>
              <a:ext cx="7938" cy="654050"/>
            </a:xfrm>
            <a:custGeom>
              <a:avLst/>
              <a:gdLst>
                <a:gd name="T0" fmla="*/ 0 w 3"/>
                <a:gd name="T1" fmla="*/ 0 h 256"/>
                <a:gd name="T2" fmla="*/ 3 w 3"/>
                <a:gd name="T3" fmla="*/ 256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" h="256">
                  <a:moveTo>
                    <a:pt x="0" y="0"/>
                  </a:moveTo>
                  <a:lnTo>
                    <a:pt x="3" y="256"/>
                  </a:lnTo>
                </a:path>
              </a:pathLst>
            </a:cu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5" name="Line 11"/>
            <p:cNvSpPr>
              <a:spLocks noChangeShapeType="1"/>
            </p:cNvSpPr>
            <p:nvPr/>
          </p:nvSpPr>
          <p:spPr bwMode="auto">
            <a:xfrm flipH="1">
              <a:off x="4459288" y="4217988"/>
              <a:ext cx="368300" cy="4905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6" name="Text Box 12"/>
            <p:cNvSpPr txBox="1">
              <a:spLocks noChangeArrowheads="1"/>
            </p:cNvSpPr>
            <p:nvPr/>
          </p:nvSpPr>
          <p:spPr bwMode="auto">
            <a:xfrm>
              <a:off x="4705350" y="3727450"/>
              <a:ext cx="612775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en-US" sz="2000" b="0">
                  <a:latin typeface="Arial" charset="0"/>
                  <a:sym typeface="Symbol" pitchFamily="18" charset="2"/>
                </a:rPr>
                <a:t></a:t>
              </a:r>
              <a:endParaRPr lang="en-US" altLang="en-US" sz="2000" b="0" baseline="-25000">
                <a:latin typeface="Arial" charset="0"/>
                <a:sym typeface="Symbol" pitchFamily="18" charset="2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47"/>
              <p:cNvSpPr/>
              <p:nvPr/>
            </p:nvSpPr>
            <p:spPr>
              <a:xfrm>
                <a:off x="4311492" y="4724400"/>
                <a:ext cx="58849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/>
                            </a:rPr>
                            <m:t>𝜒</m:t>
                          </m:r>
                        </m:e>
                        <m:sup>
                          <m:r>
                            <a:rPr lang="en-GB" sz="2400" i="1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48" name="Rectangle 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1492" y="4724400"/>
                <a:ext cx="588494" cy="461665"/>
              </a:xfrm>
              <a:prstGeom prst="rect">
                <a:avLst/>
              </a:prstGeom>
              <a:blipFill rotWithShape="1">
                <a:blip r:embed="rId5"/>
                <a:stretch>
                  <a:fillRect b="-789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ounded Rectangle 14"/>
          <p:cNvSpPr/>
          <p:nvPr/>
        </p:nvSpPr>
        <p:spPr>
          <a:xfrm>
            <a:off x="6096000" y="1066800"/>
            <a:ext cx="2209800" cy="1143000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altLang="en-US" sz="3600" dirty="0">
                <a:solidFill>
                  <a:schemeClr val="tx1"/>
                </a:solidFill>
              </a:rPr>
              <a:t>14.3049</a:t>
            </a:r>
            <a:endParaRPr lang="en-GB" sz="3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4645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GB" altLang="en-US" dirty="0"/>
                  <a:t>Recall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altLang="en-US">
                            <a:latin typeface="Cambria Math"/>
                          </a:rPr>
                          <m:t>𝝌</m:t>
                        </m:r>
                      </m:e>
                      <m:sup>
                        <m:r>
                          <a:rPr lang="en-GB" altLang="en-US"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3"/>
                <a:stretch>
                  <a:fillRect l="-2222" t="-64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5130559" y="969637"/>
                <a:ext cx="3327641" cy="131459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b="0" i="1">
                              <a:latin typeface="Cambria Math"/>
                            </a:rPr>
                            <m:t>𝜒</m:t>
                          </m:r>
                        </m:e>
                        <m:sup>
                          <m:r>
                            <a:rPr lang="en-GB" sz="2800" b="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GB" sz="2800" b="0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GB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2800" b="0" i="1">
                                              <a:latin typeface="Cambria Math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GB" sz="2800" b="0" i="1">
                                              <a:latin typeface="Cambria Math"/>
                                            </a:rPr>
                                            <m:t>𝑜</m:t>
                                          </m:r>
                                        </m:sub>
                                      </m:sSub>
                                      <m:r>
                                        <a:rPr lang="en-GB" sz="2800" b="0" i="1">
                                          <a:latin typeface="Cambria Math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GB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2800" b="0" i="1">
                                              <a:latin typeface="Cambria Math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GB" sz="2800" b="0" i="1">
                                              <a:latin typeface="Cambria Math"/>
                                            </a:rPr>
                                            <m:t>𝑒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GB" sz="2800" b="0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800" b="0" i="1">
                                      <a:latin typeface="Cambria Math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GB" sz="2800" b="0" i="1">
                                      <a:latin typeface="Cambria Math"/>
                                    </a:rPr>
                                    <m:t>𝑒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0559" y="969637"/>
                <a:ext cx="3327641" cy="1314591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/>
          <p:cNvGrpSpPr/>
          <p:nvPr/>
        </p:nvGrpSpPr>
        <p:grpSpPr>
          <a:xfrm>
            <a:off x="381000" y="2362200"/>
            <a:ext cx="4452340" cy="2667000"/>
            <a:chOff x="1033206" y="2133600"/>
            <a:chExt cx="7232907" cy="3201527"/>
          </a:xfrm>
        </p:grpSpPr>
        <p:sp>
          <p:nvSpPr>
            <p:cNvPr id="20" name="Freeform 5"/>
            <p:cNvSpPr>
              <a:spLocks/>
            </p:cNvSpPr>
            <p:nvPr/>
          </p:nvSpPr>
          <p:spPr bwMode="auto">
            <a:xfrm>
              <a:off x="4203700" y="4279900"/>
              <a:ext cx="2547938" cy="666750"/>
            </a:xfrm>
            <a:custGeom>
              <a:avLst/>
              <a:gdLst>
                <a:gd name="T0" fmla="*/ 8 w 997"/>
                <a:gd name="T1" fmla="*/ 261 h 261"/>
                <a:gd name="T2" fmla="*/ 0 w 997"/>
                <a:gd name="T3" fmla="*/ 0 h 261"/>
                <a:gd name="T4" fmla="*/ 102 w 997"/>
                <a:gd name="T5" fmla="*/ 83 h 261"/>
                <a:gd name="T6" fmla="*/ 174 w 997"/>
                <a:gd name="T7" fmla="*/ 128 h 261"/>
                <a:gd name="T8" fmla="*/ 223 w 997"/>
                <a:gd name="T9" fmla="*/ 149 h 261"/>
                <a:gd name="T10" fmla="*/ 249 w 997"/>
                <a:gd name="T11" fmla="*/ 155 h 261"/>
                <a:gd name="T12" fmla="*/ 322 w 997"/>
                <a:gd name="T13" fmla="*/ 176 h 261"/>
                <a:gd name="T14" fmla="*/ 363 w 997"/>
                <a:gd name="T15" fmla="*/ 180 h 261"/>
                <a:gd name="T16" fmla="*/ 448 w 997"/>
                <a:gd name="T17" fmla="*/ 201 h 261"/>
                <a:gd name="T18" fmla="*/ 594 w 997"/>
                <a:gd name="T19" fmla="*/ 221 h 261"/>
                <a:gd name="T20" fmla="*/ 997 w 997"/>
                <a:gd name="T21" fmla="*/ 240 h 261"/>
                <a:gd name="T22" fmla="*/ 996 w 997"/>
                <a:gd name="T23" fmla="*/ 260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97" h="261">
                  <a:moveTo>
                    <a:pt x="8" y="261"/>
                  </a:moveTo>
                  <a:lnTo>
                    <a:pt x="0" y="0"/>
                  </a:lnTo>
                  <a:lnTo>
                    <a:pt x="102" y="83"/>
                  </a:lnTo>
                  <a:lnTo>
                    <a:pt x="174" y="128"/>
                  </a:lnTo>
                  <a:lnTo>
                    <a:pt x="223" y="149"/>
                  </a:lnTo>
                  <a:lnTo>
                    <a:pt x="249" y="155"/>
                  </a:lnTo>
                  <a:lnTo>
                    <a:pt x="322" y="176"/>
                  </a:lnTo>
                  <a:lnTo>
                    <a:pt x="363" y="180"/>
                  </a:lnTo>
                  <a:lnTo>
                    <a:pt x="448" y="201"/>
                  </a:lnTo>
                  <a:lnTo>
                    <a:pt x="594" y="221"/>
                  </a:lnTo>
                  <a:lnTo>
                    <a:pt x="997" y="240"/>
                  </a:lnTo>
                  <a:lnTo>
                    <a:pt x="996" y="260"/>
                  </a:lnTo>
                </a:path>
              </a:pathLst>
            </a:custGeom>
            <a:solidFill>
              <a:srgbClr val="0099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1" name="Freeform 6"/>
            <p:cNvSpPr>
              <a:spLocks/>
            </p:cNvSpPr>
            <p:nvPr/>
          </p:nvSpPr>
          <p:spPr bwMode="auto">
            <a:xfrm>
              <a:off x="1258888" y="2133600"/>
              <a:ext cx="6634162" cy="2820988"/>
            </a:xfrm>
            <a:custGeom>
              <a:avLst/>
              <a:gdLst>
                <a:gd name="T0" fmla="*/ 0 w 3388"/>
                <a:gd name="T1" fmla="*/ 0 h 1023"/>
                <a:gd name="T2" fmla="*/ 0 w 3388"/>
                <a:gd name="T3" fmla="*/ 1022 h 1023"/>
                <a:gd name="T4" fmla="*/ 3387 w 3388"/>
                <a:gd name="T5" fmla="*/ 1022 h 1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88" h="1023">
                  <a:moveTo>
                    <a:pt x="0" y="0"/>
                  </a:moveTo>
                  <a:lnTo>
                    <a:pt x="0" y="1022"/>
                  </a:lnTo>
                  <a:lnTo>
                    <a:pt x="3387" y="1022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" name="Rectangle 7"/>
            <p:cNvSpPr>
              <a:spLocks noChangeArrowheads="1"/>
            </p:cNvSpPr>
            <p:nvPr/>
          </p:nvSpPr>
          <p:spPr bwMode="auto">
            <a:xfrm>
              <a:off x="1033206" y="4696952"/>
              <a:ext cx="736600" cy="638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b="0" dirty="0">
                  <a:latin typeface="Arial" charset="0"/>
                </a:rPr>
                <a:t>0</a:t>
              </a:r>
              <a:r>
                <a:rPr lang="en-US" altLang="en-US" sz="3600" dirty="0">
                  <a:latin typeface="Arial" charset="0"/>
                </a:rPr>
                <a:t> </a:t>
              </a:r>
            </a:p>
          </p:txBody>
        </p:sp>
        <p:sp>
          <p:nvSpPr>
            <p:cNvPr id="24" name="Freeform 9"/>
            <p:cNvSpPr>
              <a:spLocks/>
            </p:cNvSpPr>
            <p:nvPr/>
          </p:nvSpPr>
          <p:spPr bwMode="auto">
            <a:xfrm>
              <a:off x="1276350" y="2730500"/>
              <a:ext cx="6989763" cy="2241550"/>
            </a:xfrm>
            <a:custGeom>
              <a:avLst/>
              <a:gdLst>
                <a:gd name="T0" fmla="*/ 0 w 3492"/>
                <a:gd name="T1" fmla="*/ 1011 h 1021"/>
                <a:gd name="T2" fmla="*/ 162 w 3492"/>
                <a:gd name="T3" fmla="*/ 837 h 1021"/>
                <a:gd name="T4" fmla="*/ 714 w 3492"/>
                <a:gd name="T5" fmla="*/ 3 h 1021"/>
                <a:gd name="T6" fmla="*/ 1728 w 3492"/>
                <a:gd name="T7" fmla="*/ 855 h 1021"/>
                <a:gd name="T8" fmla="*/ 3492 w 3492"/>
                <a:gd name="T9" fmla="*/ 999 h 10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92" h="1021">
                  <a:moveTo>
                    <a:pt x="0" y="1011"/>
                  </a:moveTo>
                  <a:cubicBezTo>
                    <a:pt x="27" y="982"/>
                    <a:pt x="43" y="1005"/>
                    <a:pt x="162" y="837"/>
                  </a:cubicBezTo>
                  <a:cubicBezTo>
                    <a:pt x="281" y="669"/>
                    <a:pt x="453" y="0"/>
                    <a:pt x="714" y="3"/>
                  </a:cubicBezTo>
                  <a:cubicBezTo>
                    <a:pt x="975" y="6"/>
                    <a:pt x="1265" y="689"/>
                    <a:pt x="1728" y="855"/>
                  </a:cubicBezTo>
                  <a:cubicBezTo>
                    <a:pt x="2191" y="1021"/>
                    <a:pt x="3125" y="969"/>
                    <a:pt x="3492" y="999"/>
                  </a:cubicBezTo>
                </a:path>
              </a:pathLst>
            </a:custGeom>
            <a:noFill/>
            <a:ln w="38100" cap="flat" cmpd="sng">
              <a:solidFill>
                <a:srgbClr val="333399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5" name="Freeform 10"/>
            <p:cNvSpPr>
              <a:spLocks/>
            </p:cNvSpPr>
            <p:nvPr/>
          </p:nvSpPr>
          <p:spPr bwMode="auto">
            <a:xfrm>
              <a:off x="4206875" y="4300538"/>
              <a:ext cx="7938" cy="654050"/>
            </a:xfrm>
            <a:custGeom>
              <a:avLst/>
              <a:gdLst>
                <a:gd name="T0" fmla="*/ 0 w 3"/>
                <a:gd name="T1" fmla="*/ 0 h 256"/>
                <a:gd name="T2" fmla="*/ 3 w 3"/>
                <a:gd name="T3" fmla="*/ 256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" h="256">
                  <a:moveTo>
                    <a:pt x="0" y="0"/>
                  </a:moveTo>
                  <a:lnTo>
                    <a:pt x="3" y="256"/>
                  </a:lnTo>
                </a:path>
              </a:pathLst>
            </a:cu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6" name="Line 11"/>
            <p:cNvSpPr>
              <a:spLocks noChangeShapeType="1"/>
            </p:cNvSpPr>
            <p:nvPr/>
          </p:nvSpPr>
          <p:spPr bwMode="auto">
            <a:xfrm flipH="1">
              <a:off x="4459288" y="4217988"/>
              <a:ext cx="368300" cy="4905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7" name="Text Box 12"/>
            <p:cNvSpPr txBox="1">
              <a:spLocks noChangeArrowheads="1"/>
            </p:cNvSpPr>
            <p:nvPr/>
          </p:nvSpPr>
          <p:spPr bwMode="auto">
            <a:xfrm>
              <a:off x="4705350" y="3727450"/>
              <a:ext cx="612775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en-US" sz="2000" b="0">
                  <a:latin typeface="Arial" charset="0"/>
                  <a:sym typeface="Symbol" pitchFamily="18" charset="2"/>
                </a:rPr>
                <a:t></a:t>
              </a:r>
              <a:endParaRPr lang="en-US" altLang="en-US" sz="2000" b="0" baseline="-25000">
                <a:latin typeface="Arial" charset="0"/>
                <a:sym typeface="Symbol" pitchFamily="18" charset="2"/>
              </a:endParaRPr>
            </a:p>
          </p:txBody>
        </p:sp>
      </p:grpSp>
      <p:sp>
        <p:nvSpPr>
          <p:cNvPr id="4" name="Rounded Rectangle 3"/>
          <p:cNvSpPr/>
          <p:nvPr/>
        </p:nvSpPr>
        <p:spPr>
          <a:xfrm>
            <a:off x="6096000" y="1066800"/>
            <a:ext cx="2209800" cy="1143000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altLang="en-US" sz="3600" dirty="0">
                <a:solidFill>
                  <a:schemeClr val="tx1"/>
                </a:solidFill>
              </a:rPr>
              <a:t>14.3049</a:t>
            </a:r>
            <a:endParaRPr lang="en-GB" sz="3600" b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4311492" y="4724400"/>
                <a:ext cx="58849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/>
                            </a:rPr>
                            <m:t>𝜒</m:t>
                          </m:r>
                        </m:e>
                        <m:sup>
                          <m:r>
                            <a:rPr lang="en-GB" sz="2400" i="1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1492" y="4724400"/>
                <a:ext cx="588494" cy="461665"/>
              </a:xfrm>
              <a:prstGeom prst="rect">
                <a:avLst/>
              </a:prstGeom>
              <a:blipFill rotWithShape="1">
                <a:blip r:embed="rId5"/>
                <a:stretch>
                  <a:fillRect b="-789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/>
          <p:cNvGrpSpPr/>
          <p:nvPr/>
        </p:nvGrpSpPr>
        <p:grpSpPr>
          <a:xfrm>
            <a:off x="1927242" y="1956137"/>
            <a:ext cx="2111358" cy="3244398"/>
            <a:chOff x="1927242" y="1956137"/>
            <a:chExt cx="2111358" cy="3244398"/>
          </a:xfrm>
        </p:grpSpPr>
        <p:grpSp>
          <p:nvGrpSpPr>
            <p:cNvPr id="12" name="Group 11"/>
            <p:cNvGrpSpPr/>
            <p:nvPr/>
          </p:nvGrpSpPr>
          <p:grpSpPr>
            <a:xfrm>
              <a:off x="1987878" y="2974495"/>
              <a:ext cx="880305" cy="2226040"/>
              <a:chOff x="1987878" y="2974495"/>
              <a:chExt cx="880305" cy="222604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Rectangle 6"/>
                  <p:cNvSpPr/>
                  <p:nvPr/>
                </p:nvSpPr>
                <p:spPr>
                  <a:xfrm>
                    <a:off x="1987878" y="4712196"/>
                    <a:ext cx="880305" cy="488339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2400" b="1" i="1">
                                  <a:solidFill>
                                    <a:srgbClr val="C00000"/>
                                  </a:solidFill>
                                  <a:latin typeface="Cambria Math"/>
                                </a:rPr>
                                <m:t>𝝌</m:t>
                              </m:r>
                            </m:e>
                            <m:sub>
                              <m:r>
                                <a:rPr lang="en-GB" sz="2400" b="1" i="1" smtClean="0">
                                  <a:solidFill>
                                    <a:srgbClr val="C00000"/>
                                  </a:solidFill>
                                  <a:latin typeface="Cambria Math"/>
                                </a:rPr>
                                <m:t>𝒄𝒓𝒊𝒕</m:t>
                              </m:r>
                            </m:sub>
                            <m:sup>
                              <m:r>
                                <a:rPr lang="en-GB" sz="2400" b="1" i="1" smtClean="0">
                                  <a:solidFill>
                                    <a:srgbClr val="C00000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sup>
                          </m:sSubSup>
                        </m:oMath>
                      </m:oMathPara>
                    </a14:m>
                    <a:endParaRPr lang="en-GB" sz="2400" b="1" dirty="0">
                      <a:solidFill>
                        <a:srgbClr val="C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" name="Rectangle 6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87878" y="4712196"/>
                    <a:ext cx="880305" cy="488339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0" name="Straight Connector 9"/>
              <p:cNvCxnSpPr>
                <a:stCxn id="25" idx="1"/>
              </p:cNvCxnSpPr>
              <p:nvPr/>
            </p:nvCxnSpPr>
            <p:spPr>
              <a:xfrm flipH="1" flipV="1">
                <a:off x="2332652" y="2974495"/>
                <a:ext cx="6840" cy="173770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  <p:sp>
          <p:nvSpPr>
            <p:cNvPr id="29" name="Rectangle 28"/>
            <p:cNvSpPr/>
            <p:nvPr/>
          </p:nvSpPr>
          <p:spPr>
            <a:xfrm>
              <a:off x="1927242" y="1956137"/>
              <a:ext cx="2111358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altLang="en-US" sz="2000" b="1" dirty="0">
                  <a:solidFill>
                    <a:srgbClr val="C00000"/>
                  </a:solidFill>
                  <a:sym typeface="Symbol" pitchFamily="18" charset="2"/>
                </a:rPr>
                <a:t>Lookup table provides the critical value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 Box 3"/>
              <p:cNvSpPr txBox="1">
                <a:spLocks noChangeArrowheads="1"/>
              </p:cNvSpPr>
              <p:nvPr/>
            </p:nvSpPr>
            <p:spPr bwMode="auto">
              <a:xfrm>
                <a:off x="5867400" y="533400"/>
                <a:ext cx="2667000" cy="48833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2400" dirty="0"/>
                  <a:t>Reject 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1" i="1">
                            <a:latin typeface="Cambria Math"/>
                          </a:rPr>
                          <m:t>𝝌</m:t>
                        </m:r>
                      </m:e>
                      <m:sup>
                        <m:r>
                          <a:rPr lang="en-GB" sz="2400" b="1" i="1">
                            <a:latin typeface="Cambria Math"/>
                          </a:rPr>
                          <m:t>𝟐</m:t>
                        </m:r>
                      </m:sup>
                    </m:sSup>
                    <m:sSubSup>
                      <m:sSubSupPr>
                        <m:ctrlPr>
                          <a:rPr lang="en-GB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&gt;</m:t>
                        </m:r>
                        <m:r>
                          <a:rPr lang="en-GB" sz="2400" b="1" i="1">
                            <a:solidFill>
                              <a:srgbClr val="C00000"/>
                            </a:solidFill>
                            <a:latin typeface="Cambria Math"/>
                          </a:rPr>
                          <m:t>𝝌</m:t>
                        </m:r>
                      </m:e>
                      <m:sub>
                        <m:r>
                          <a:rPr lang="en-GB" sz="2400" b="1" i="1">
                            <a:solidFill>
                              <a:srgbClr val="C00000"/>
                            </a:solidFill>
                            <a:latin typeface="Cambria Math"/>
                          </a:rPr>
                          <m:t>𝒄𝒓𝒊𝒕</m:t>
                        </m:r>
                      </m:sub>
                      <m:sup>
                        <m:r>
                          <a:rPr lang="en-GB" sz="2400" b="1" i="1">
                            <a:solidFill>
                              <a:srgbClr val="C00000"/>
                            </a:solidFill>
                            <a:latin typeface="Cambria Math"/>
                          </a:rPr>
                          <m:t>𝟐</m:t>
                        </m:r>
                      </m:sup>
                    </m:sSubSup>
                  </m:oMath>
                </a14:m>
                <a:endParaRPr lang="en-GB" altLang="en-US" sz="2400" dirty="0"/>
              </a:p>
            </p:txBody>
          </p:sp>
        </mc:Choice>
        <mc:Fallback xmlns="">
          <p:sp>
            <p:nvSpPr>
              <p:cNvPr id="30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67400" y="533400"/>
                <a:ext cx="2667000" cy="488339"/>
              </a:xfrm>
              <a:prstGeom prst="rect">
                <a:avLst/>
              </a:prstGeom>
              <a:blipFill rotWithShape="1">
                <a:blip r:embed="rId7"/>
                <a:stretch>
                  <a:fillRect l="-2746" t="-5000" b="-26250"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Box 4"/>
              <p:cNvSpPr txBox="1">
                <a:spLocks noChangeArrowheads="1"/>
              </p:cNvSpPr>
              <p:nvPr/>
            </p:nvSpPr>
            <p:spPr bwMode="auto">
              <a:xfrm>
                <a:off x="4038600" y="2667000"/>
                <a:ext cx="4267199" cy="1015663"/>
              </a:xfrm>
              <a:prstGeom prst="rect">
                <a:avLst/>
              </a:prstGeom>
              <a:ln/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GB" altLang="en-US" sz="2000" dirty="0">
                    <a:solidFill>
                      <a:srgbClr val="333399"/>
                    </a:solidFill>
                    <a:sym typeface="Symbol" pitchFamily="18" charset="2"/>
                  </a:rPr>
                  <a:t>For a two-way frequency table</a:t>
                </a:r>
              </a:p>
              <a:p>
                <a:endParaRPr lang="en-GB" altLang="en-US" sz="2000" dirty="0">
                  <a:solidFill>
                    <a:srgbClr val="333399"/>
                  </a:solidFill>
                  <a:sym typeface="Symbol" pitchFamily="18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>
                          <a:latin typeface="Cambria Math"/>
                        </a:rPr>
                        <m:t>𝑑𝑓</m:t>
                      </m:r>
                      <m:r>
                        <a:rPr lang="en-GB" sz="2000" i="1">
                          <a:latin typeface="Cambria Math"/>
                        </a:rPr>
                        <m:t>= (</m:t>
                      </m:r>
                      <m:r>
                        <m:rPr>
                          <m:sty m:val="p"/>
                        </m:rPr>
                        <a:rPr lang="en-GB" sz="2000">
                          <a:latin typeface="Cambria Math"/>
                        </a:rPr>
                        <m:t>cols</m:t>
                      </m:r>
                      <m:r>
                        <a:rPr lang="en-GB" sz="2000" i="1">
                          <a:latin typeface="Cambria Math"/>
                        </a:rPr>
                        <m:t>−1)</m:t>
                      </m:r>
                      <m:r>
                        <a:rPr lang="en-GB" sz="2000" b="0" i="1" smtClean="0">
                          <a:latin typeface="Cambria Math"/>
                        </a:rPr>
                        <m:t>(</m:t>
                      </m:r>
                      <m:r>
                        <a:rPr lang="en-GB" sz="2000" b="0" i="1" smtClean="0">
                          <a:latin typeface="Cambria Math"/>
                        </a:rPr>
                        <m:t>𝑟𝑜𝑤𝑠</m:t>
                      </m:r>
                      <m:r>
                        <a:rPr lang="en-GB" sz="2000" b="0" i="1" smtClean="0">
                          <a:latin typeface="Cambria Math"/>
                        </a:rPr>
                        <m:t>−1)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3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38600" y="2667000"/>
                <a:ext cx="4267199" cy="1015663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  <a:ln/>
              <a:ex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Oval Callout 2"/>
              <p:cNvSpPr/>
              <p:nvPr/>
            </p:nvSpPr>
            <p:spPr>
              <a:xfrm>
                <a:off x="5473821" y="4038600"/>
                <a:ext cx="1384179" cy="876656"/>
              </a:xfrm>
              <a:prstGeom prst="wedgeEllipseCallout">
                <a:avLst>
                  <a:gd name="adj1" fmla="val -89050"/>
                  <a:gd name="adj2" fmla="val -97411"/>
                </a:avLst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What is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/>
                      </a:rPr>
                      <m:t>𝑑𝑓</m:t>
                    </m:r>
                    <m:r>
                      <a:rPr lang="en-GB" b="0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GB" dirty="0"/>
                  <a:t>?</a:t>
                </a:r>
              </a:p>
            </p:txBody>
          </p:sp>
        </mc:Choice>
        <mc:Fallback xmlns="">
          <p:sp>
            <p:nvSpPr>
              <p:cNvPr id="3" name="Oval Callout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3821" y="4038600"/>
                <a:ext cx="1384179" cy="876656"/>
              </a:xfrm>
              <a:prstGeom prst="wedgeEllipseCallout">
                <a:avLst>
                  <a:gd name="adj1" fmla="val -89050"/>
                  <a:gd name="adj2" fmla="val -97411"/>
                </a:avLst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1711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23" grpId="0" animBg="1"/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621" name="Text Box 5"/>
          <p:cNvSpPr txBox="1">
            <a:spLocks noChangeArrowheads="1"/>
          </p:cNvSpPr>
          <p:nvPr/>
        </p:nvSpPr>
        <p:spPr bwMode="auto">
          <a:xfrm>
            <a:off x="311888" y="685800"/>
            <a:ext cx="8679712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GB" altLang="en-US" sz="2400" b="1" dirty="0">
                <a:solidFill>
                  <a:schemeClr val="tx1"/>
                </a:solidFill>
              </a:rPr>
              <a:t>Summary</a:t>
            </a:r>
          </a:p>
          <a:p>
            <a:endParaRPr lang="en-GB" altLang="en-US" sz="2400" dirty="0">
              <a:solidFill>
                <a:schemeClr val="tx1"/>
              </a:solidFill>
            </a:endParaRPr>
          </a:p>
          <a:p>
            <a:r>
              <a:rPr lang="en-GB" altLang="en-US" sz="2400" dirty="0"/>
              <a:t>Step 1</a:t>
            </a:r>
            <a:endParaRPr lang="en-GB" altLang="en-US" sz="2400" dirty="0">
              <a:solidFill>
                <a:schemeClr val="tx1"/>
              </a:solidFill>
            </a:endParaRPr>
          </a:p>
          <a:p>
            <a:r>
              <a:rPr lang="en-GB" sz="2400" b="0" i="1" dirty="0"/>
              <a:t>H</a:t>
            </a:r>
            <a:r>
              <a:rPr lang="en-GB" sz="2400" b="0" baseline="-25000" dirty="0"/>
              <a:t>0</a:t>
            </a:r>
            <a:r>
              <a:rPr lang="en-GB" sz="2400" b="0" dirty="0"/>
              <a:t>: </a:t>
            </a:r>
            <a:r>
              <a:rPr lang="en-GB" altLang="en-US" sz="2400" dirty="0">
                <a:solidFill>
                  <a:schemeClr val="tx1"/>
                </a:solidFill>
              </a:rPr>
              <a:t>There is no association between gender and product preference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Chi Squared (</a:t>
            </a:r>
            <a:r>
              <a:rPr lang="en-GB" altLang="en-US" dirty="0">
                <a:sym typeface="Symbol" pitchFamily="18" charset="2"/>
              </a:rPr>
              <a:t></a:t>
            </a:r>
            <a:r>
              <a:rPr lang="en-GB" altLang="en-US" baseline="30000" dirty="0">
                <a:sym typeface="Symbol" pitchFamily="18" charset="2"/>
              </a:rPr>
              <a:t>2</a:t>
            </a:r>
            <a:r>
              <a:rPr lang="en-GB" altLang="en-US" dirty="0">
                <a:sym typeface="Symbol" pitchFamily="18" charset="2"/>
              </a:rPr>
              <a:t>)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Box 5"/>
              <p:cNvSpPr txBox="1">
                <a:spLocks noChangeArrowheads="1"/>
              </p:cNvSpPr>
              <p:nvPr/>
            </p:nvSpPr>
            <p:spPr bwMode="auto">
              <a:xfrm>
                <a:off x="304800" y="2362200"/>
                <a:ext cx="8146312" cy="8781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r>
                  <a:rPr lang="en-GB" altLang="en-US" sz="2400" dirty="0">
                    <a:solidFill>
                      <a:schemeClr val="tx1"/>
                    </a:solidFill>
                    <a:sym typeface="Symbol" pitchFamily="18" charset="2"/>
                  </a:rPr>
                  <a:t>Step 2</a:t>
                </a:r>
              </a:p>
              <a:p>
                <a:r>
                  <a:rPr lang="en-GB" altLang="en-US" sz="2400" dirty="0">
                    <a:solidFill>
                      <a:schemeClr val="tx1"/>
                    </a:solidFill>
                    <a:sym typeface="Symbol" pitchFamily="18" charset="2"/>
                  </a:rPr>
                  <a:t>The calculated value 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sz="24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sz="2400" b="1" i="1">
                            <a:latin typeface="Cambria Math"/>
                          </a:rPr>
                          <m:t>𝝌</m:t>
                        </m:r>
                      </m:e>
                      <m:sub/>
                      <m:sup>
                        <m:r>
                          <a:rPr lang="en-GB" sz="2400" b="1" i="1">
                            <a:latin typeface="Cambria Math"/>
                          </a:rPr>
                          <m:t>𝟐</m:t>
                        </m:r>
                      </m:sup>
                    </m:sSubSup>
                  </m:oMath>
                </a14:m>
                <a:r>
                  <a:rPr lang="en-GB" altLang="en-US" sz="2400" b="1" dirty="0">
                    <a:solidFill>
                      <a:schemeClr val="tx1"/>
                    </a:solidFill>
                    <a:sym typeface="Symbol" pitchFamily="18" charset="2"/>
                  </a:rPr>
                  <a:t>= 14</a:t>
                </a:r>
                <a:r>
                  <a:rPr lang="en-GB" altLang="en-US" sz="2400" b="1" dirty="0">
                    <a:solidFill>
                      <a:schemeClr val="tx1"/>
                    </a:solidFill>
                  </a:rPr>
                  <a:t>.3049</a:t>
                </a:r>
                <a:endParaRPr lang="en-GB" altLang="en-US" sz="2400" dirty="0">
                  <a:solidFill>
                    <a:schemeClr val="tx1"/>
                  </a:solidFill>
                  <a:sym typeface="Symbol" pitchFamily="18" charset="2"/>
                </a:endParaRPr>
              </a:p>
            </p:txBody>
          </p:sp>
        </mc:Choice>
        <mc:Fallback>
          <p:sp>
            <p:nvSpPr>
              <p:cNvPr id="5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800" y="2362200"/>
                <a:ext cx="8146312" cy="878126"/>
              </a:xfrm>
              <a:prstGeom prst="rect">
                <a:avLst/>
              </a:prstGeom>
              <a:blipFill>
                <a:blip r:embed="rId3"/>
                <a:stretch>
                  <a:fillRect l="-1123" t="-5556" b="-1388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Box 5">
                <a:extLst>
                  <a:ext uri="{FF2B5EF4-FFF2-40B4-BE49-F238E27FC236}">
                    <a16:creationId xmlns:a16="http://schemas.microsoft.com/office/drawing/2014/main" id="{4E051699-EEDA-1765-C6BD-2054EA4353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4800" y="3352800"/>
                <a:ext cx="8679712" cy="122700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r>
                  <a:rPr lang="en-GB" altLang="en-US" sz="2400" dirty="0"/>
                  <a:t>Step 3</a:t>
                </a:r>
              </a:p>
              <a:p>
                <a:r>
                  <a:rPr lang="en-GB" altLang="en-US" sz="2400" dirty="0">
                    <a:solidFill>
                      <a:schemeClr val="tx1"/>
                    </a:solidFill>
                    <a:sym typeface="Symbol" pitchFamily="18" charset="2"/>
                  </a:rPr>
                  <a:t>We have the degrees of freedom, </a:t>
                </a:r>
                <a14:m>
                  <m:oMath xmlns:m="http://schemas.openxmlformats.org/officeDocument/2006/math">
                    <m:r>
                      <a:rPr lang="en-GB" altLang="en-US" sz="2400" i="1" dirty="0" smtClean="0">
                        <a:solidFill>
                          <a:schemeClr val="tx1"/>
                        </a:solidFill>
                        <a:latin typeface="Cambria Math"/>
                        <a:sym typeface="Symbol" pitchFamily="18" charset="2"/>
                      </a:rPr>
                      <m:t>𝑑𝑓</m:t>
                    </m:r>
                    <m:r>
                      <a:rPr lang="en-GB" altLang="en-US" sz="2400" i="1" dirty="0" smtClean="0">
                        <a:solidFill>
                          <a:schemeClr val="tx1"/>
                        </a:solidFill>
                        <a:latin typeface="Cambria Math"/>
                        <a:sym typeface="Symbol" pitchFamily="18" charset="2"/>
                      </a:rPr>
                      <m:t>=2</m:t>
                    </m:r>
                  </m:oMath>
                </a14:m>
                <a:endParaRPr lang="en-GB" altLang="en-US" sz="2400" dirty="0">
                  <a:solidFill>
                    <a:schemeClr val="tx1"/>
                  </a:solidFill>
                  <a:sym typeface="Symbol" pitchFamily="18" charset="2"/>
                </a:endParaRPr>
              </a:p>
              <a:p>
                <a:r>
                  <a:rPr lang="en-GB" altLang="en-US" sz="2400" dirty="0">
                    <a:solidFill>
                      <a:schemeClr val="tx1"/>
                    </a:solidFill>
                    <a:sym typeface="Symbol" pitchFamily="18" charset="2"/>
                  </a:rPr>
                  <a:t>The lookup table gives the critical value,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sz="2400" b="1" i="1">
                            <a:solidFill>
                              <a:srgbClr val="C00000"/>
                            </a:solidFill>
                            <a:latin typeface="Cambria Math"/>
                          </a:rPr>
                          <m:t>𝝌</m:t>
                        </m:r>
                      </m:e>
                      <m:sub>
                        <m:r>
                          <a:rPr lang="en-GB" sz="2400" b="1" i="1">
                            <a:solidFill>
                              <a:srgbClr val="C00000"/>
                            </a:solidFill>
                            <a:latin typeface="Cambria Math"/>
                          </a:rPr>
                          <m:t>𝒄𝒓𝒊𝒕</m:t>
                        </m:r>
                      </m:sub>
                      <m:sup>
                        <m:r>
                          <a:rPr lang="en-GB" sz="2400" b="1" i="1">
                            <a:solidFill>
                              <a:srgbClr val="C00000"/>
                            </a:solidFill>
                            <a:latin typeface="Cambria Math"/>
                          </a:rPr>
                          <m:t>𝟐</m:t>
                        </m:r>
                      </m:sup>
                    </m:sSubSup>
                    <m:r>
                      <a:rPr lang="en-GB" sz="2400" b="1" i="1" smtClean="0">
                        <a:solidFill>
                          <a:srgbClr val="C00000"/>
                        </a:solidFill>
                        <a:latin typeface="Cambria Math"/>
                      </a:rPr>
                      <m:t>=</m:t>
                    </m:r>
                    <m:r>
                      <a:rPr lang="en-GB" sz="2400" b="1" i="1" smtClean="0">
                        <a:solidFill>
                          <a:srgbClr val="C00000"/>
                        </a:solidFill>
                        <a:latin typeface="Cambria Math"/>
                      </a:rPr>
                      <m:t>𝟓</m:t>
                    </m:r>
                    <m:r>
                      <a:rPr lang="en-GB" sz="2400" b="1" i="1" smtClean="0">
                        <a:solidFill>
                          <a:srgbClr val="C00000"/>
                        </a:solidFill>
                        <a:latin typeface="Cambria Math"/>
                      </a:rPr>
                      <m:t>.</m:t>
                    </m:r>
                    <m:r>
                      <a:rPr lang="en-GB" sz="2400" b="1" i="1" smtClean="0">
                        <a:solidFill>
                          <a:srgbClr val="C00000"/>
                        </a:solidFill>
                        <a:latin typeface="Cambria Math"/>
                      </a:rPr>
                      <m:t>𝟗𝟗𝟏</m:t>
                    </m:r>
                  </m:oMath>
                </a14:m>
                <a:endParaRPr lang="en-GB" altLang="en-US" sz="2400" dirty="0">
                  <a:solidFill>
                    <a:srgbClr val="C00000"/>
                  </a:solidFill>
                  <a:sym typeface="Symbol" pitchFamily="18" charset="2"/>
                </a:endParaRPr>
              </a:p>
            </p:txBody>
          </p:sp>
        </mc:Choice>
        <mc:Fallback>
          <p:sp>
            <p:nvSpPr>
              <p:cNvPr id="4" name="Text Box 5">
                <a:extLst>
                  <a:ext uri="{FF2B5EF4-FFF2-40B4-BE49-F238E27FC236}">
                    <a16:creationId xmlns:a16="http://schemas.microsoft.com/office/drawing/2014/main" id="{4E051699-EEDA-1765-C6BD-2054EA4353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800" y="3352800"/>
                <a:ext cx="8679712" cy="1227003"/>
              </a:xfrm>
              <a:prstGeom prst="rect">
                <a:avLst/>
              </a:prstGeom>
              <a:blipFill>
                <a:blip r:embed="rId4"/>
                <a:stretch>
                  <a:fillRect l="-1053" t="-3980" b="-1044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 Box 5">
                <a:extLst>
                  <a:ext uri="{FF2B5EF4-FFF2-40B4-BE49-F238E27FC236}">
                    <a16:creationId xmlns:a16="http://schemas.microsoft.com/office/drawing/2014/main" id="{7A5B2096-A532-4A93-2ADB-BD91D57E5A5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4800" y="4672806"/>
                <a:ext cx="8146312" cy="161678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r>
                  <a:rPr lang="en-GB" altLang="en-US" sz="2400" dirty="0">
                    <a:solidFill>
                      <a:schemeClr val="tx1"/>
                    </a:solidFill>
                    <a:sym typeface="Symbol" pitchFamily="18" charset="2"/>
                  </a:rPr>
                  <a:t>Conclusion</a:t>
                </a:r>
              </a:p>
              <a:p>
                <a:r>
                  <a:rPr lang="en-GB" altLang="en-US" sz="2400" dirty="0">
                    <a:solidFill>
                      <a:schemeClr val="tx1"/>
                    </a:solidFill>
                    <a:sym typeface="Symbol" pitchFamily="18" charset="2"/>
                  </a:rPr>
                  <a:t>As</a:t>
                </a:r>
                <a14:m>
                  <m:oMath xmlns:m="http://schemas.openxmlformats.org/officeDocument/2006/math">
                    <m:r>
                      <a:rPr lang="en-GB" sz="2400" b="0" i="0" smtClean="0">
                        <a:latin typeface="Cambria Math"/>
                      </a:rPr>
                      <m:t> </m:t>
                    </m:r>
                    <m:sSubSup>
                      <m:sSubSupPr>
                        <m:ctrlPr>
                          <a:rPr lang="en-GB" sz="24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sz="2400" b="1" i="1">
                            <a:latin typeface="Cambria Math"/>
                          </a:rPr>
                          <m:t>𝝌</m:t>
                        </m:r>
                      </m:e>
                      <m:sub/>
                      <m:sup>
                        <m:r>
                          <a:rPr lang="en-GB" sz="2400" b="1" i="1">
                            <a:latin typeface="Cambria Math"/>
                          </a:rPr>
                          <m:t>𝟐</m:t>
                        </m:r>
                      </m:sup>
                    </m:sSubSup>
                    <m:r>
                      <a:rPr lang="en-GB" sz="2400" b="1" i="1" smtClean="0">
                        <a:solidFill>
                          <a:srgbClr val="C00000"/>
                        </a:solidFill>
                        <a:latin typeface="Cambria Math"/>
                      </a:rPr>
                      <m:t>&gt;</m:t>
                    </m:r>
                    <m:sSubSup>
                      <m:sSubSupPr>
                        <m:ctrlPr>
                          <a:rPr lang="en-GB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sz="2400" b="1" i="1">
                            <a:solidFill>
                              <a:srgbClr val="C00000"/>
                            </a:solidFill>
                            <a:latin typeface="Cambria Math"/>
                          </a:rPr>
                          <m:t>𝝌</m:t>
                        </m:r>
                      </m:e>
                      <m:sub>
                        <m:r>
                          <a:rPr lang="en-GB" sz="2400" b="1" i="1">
                            <a:solidFill>
                              <a:srgbClr val="C00000"/>
                            </a:solidFill>
                            <a:latin typeface="Cambria Math"/>
                          </a:rPr>
                          <m:t>𝒄𝒓𝒊𝒕</m:t>
                        </m:r>
                      </m:sub>
                      <m:sup>
                        <m:r>
                          <a:rPr lang="en-GB" sz="2400" b="1" i="1">
                            <a:solidFill>
                              <a:srgbClr val="C00000"/>
                            </a:solidFill>
                            <a:latin typeface="Cambria Math"/>
                          </a:rPr>
                          <m:t>𝟐</m:t>
                        </m:r>
                      </m:sup>
                    </m:sSubSup>
                  </m:oMath>
                </a14:m>
                <a:r>
                  <a:rPr lang="en-GB" altLang="en-US" sz="2400" dirty="0">
                    <a:solidFill>
                      <a:schemeClr val="tx1"/>
                    </a:solidFill>
                    <a:sym typeface="Symbol" pitchFamily="18" charset="2"/>
                  </a:rPr>
                  <a:t> this means </a:t>
                </a:r>
                <a:r>
                  <a:rPr lang="en-GB" altLang="en-US" sz="2400" b="1" dirty="0">
                    <a:solidFill>
                      <a:schemeClr val="tx1"/>
                    </a:solidFill>
                    <a:sym typeface="Symbol" pitchFamily="18" charset="2"/>
                  </a:rPr>
                  <a:t>p-value </a:t>
                </a:r>
                <a14:m>
                  <m:oMath xmlns:m="http://schemas.openxmlformats.org/officeDocument/2006/math">
                    <m:r>
                      <a:rPr lang="en-GB" altLang="en-US" sz="2400" b="1" i="1" dirty="0" smtClean="0">
                        <a:solidFill>
                          <a:schemeClr val="tx1"/>
                        </a:solidFill>
                        <a:latin typeface="Cambria Math"/>
                        <a:sym typeface="Symbol" pitchFamily="18" charset="2"/>
                      </a:rPr>
                      <m:t>&lt;</m:t>
                    </m:r>
                    <m:r>
                      <a:rPr lang="en-GB" altLang="en-US" sz="2400" b="1" i="1" dirty="0" smtClean="0">
                        <a:solidFill>
                          <a:schemeClr val="tx1"/>
                        </a:solidFill>
                        <a:latin typeface="Cambria Math"/>
                        <a:sym typeface="Symbol" pitchFamily="18" charset="2"/>
                      </a:rPr>
                      <m:t>𝟎</m:t>
                    </m:r>
                    <m:r>
                      <a:rPr lang="en-GB" altLang="en-US" sz="2400" b="1" i="1" dirty="0" smtClean="0">
                        <a:solidFill>
                          <a:schemeClr val="tx1"/>
                        </a:solidFill>
                        <a:latin typeface="Cambria Math"/>
                        <a:sym typeface="Symbol" pitchFamily="18" charset="2"/>
                      </a:rPr>
                      <m:t>.</m:t>
                    </m:r>
                    <m:r>
                      <a:rPr lang="en-GB" altLang="en-US" sz="2400" b="1" i="1" dirty="0" smtClean="0">
                        <a:solidFill>
                          <a:schemeClr val="tx1"/>
                        </a:solidFill>
                        <a:latin typeface="Cambria Math"/>
                        <a:sym typeface="Symbol" pitchFamily="18" charset="2"/>
                      </a:rPr>
                      <m:t>𝟎𝟓</m:t>
                    </m:r>
                  </m:oMath>
                </a14:m>
                <a:endParaRPr lang="en-GB" altLang="en-US" sz="2400" b="1" dirty="0">
                  <a:solidFill>
                    <a:schemeClr val="tx1"/>
                  </a:solidFill>
                  <a:sym typeface="Symbol" pitchFamily="18" charset="2"/>
                </a:endParaRPr>
              </a:p>
              <a:p>
                <a:r>
                  <a:rPr lang="en-GB" altLang="en-US" sz="2400" dirty="0">
                    <a:sym typeface="Symbol" pitchFamily="18" charset="2"/>
                  </a:rPr>
                  <a:t>Our result says the observations are significantly different from expected values so, the gender and product choice are related</a:t>
                </a:r>
              </a:p>
            </p:txBody>
          </p:sp>
        </mc:Choice>
        <mc:Fallback>
          <p:sp>
            <p:nvSpPr>
              <p:cNvPr id="7" name="Text Box 5">
                <a:extLst>
                  <a:ext uri="{FF2B5EF4-FFF2-40B4-BE49-F238E27FC236}">
                    <a16:creationId xmlns:a16="http://schemas.microsoft.com/office/drawing/2014/main" id="{7A5B2096-A532-4A93-2ADB-BD91D57E5A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800" y="4672806"/>
                <a:ext cx="8146312" cy="1616789"/>
              </a:xfrm>
              <a:prstGeom prst="rect">
                <a:avLst/>
              </a:prstGeom>
              <a:blipFill>
                <a:blip r:embed="rId5"/>
                <a:stretch>
                  <a:fillRect l="-1123" t="-3019" b="-754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932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" grpId="0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294" name="Text Box 14"/>
          <p:cNvSpPr txBox="1">
            <a:spLocks noChangeArrowheads="1"/>
          </p:cNvSpPr>
          <p:nvPr/>
        </p:nvSpPr>
        <p:spPr bwMode="auto">
          <a:xfrm>
            <a:off x="304800" y="914400"/>
            <a:ext cx="6858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buClr>
                <a:srgbClr val="333399"/>
              </a:buClr>
            </a:pPr>
            <a:r>
              <a:rPr lang="en-GB" altLang="en-US" sz="2400" dirty="0"/>
              <a:t>Note that for 2 x 2 tables the formula for </a:t>
            </a:r>
            <a:r>
              <a:rPr lang="en-GB" altLang="en-US" sz="2400" dirty="0">
                <a:sym typeface="Symbol" pitchFamily="18" charset="2"/>
              </a:rPr>
              <a:t></a:t>
            </a:r>
            <a:r>
              <a:rPr lang="en-GB" altLang="en-US" sz="2400" baseline="30000" dirty="0">
                <a:sym typeface="Symbol" pitchFamily="18" charset="2"/>
              </a:rPr>
              <a:t>2</a:t>
            </a:r>
            <a:r>
              <a:rPr lang="en-GB" altLang="en-US" sz="2400" dirty="0">
                <a:sym typeface="Symbol" pitchFamily="18" charset="2"/>
              </a:rPr>
              <a:t> (</a:t>
            </a:r>
            <a:r>
              <a:rPr lang="en-GB" altLang="en-US" sz="2400" dirty="0" err="1">
                <a:sym typeface="Symbol" pitchFamily="18" charset="2"/>
              </a:rPr>
              <a:t>calc</a:t>
            </a:r>
            <a:r>
              <a:rPr lang="en-GB" altLang="en-US" sz="2400" dirty="0">
                <a:sym typeface="Symbol" pitchFamily="18" charset="2"/>
              </a:rPr>
              <a:t>) is calculated using a slightly different formula</a:t>
            </a:r>
          </a:p>
        </p:txBody>
      </p:sp>
      <p:sp>
        <p:nvSpPr>
          <p:cNvPr id="353295" name="Text Box 15"/>
          <p:cNvSpPr txBox="1">
            <a:spLocks noChangeArrowheads="1"/>
          </p:cNvSpPr>
          <p:nvPr/>
        </p:nvSpPr>
        <p:spPr bwMode="auto">
          <a:xfrm>
            <a:off x="1279525" y="4611688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3296" name="Text Box 16"/>
              <p:cNvSpPr txBox="1">
                <a:spLocks noChangeArrowheads="1"/>
              </p:cNvSpPr>
              <p:nvPr/>
            </p:nvSpPr>
            <p:spPr bwMode="auto">
              <a:xfrm>
                <a:off x="381000" y="3886200"/>
                <a:ext cx="4953000" cy="1200329"/>
              </a:xfrm>
              <a:prstGeom prst="rect">
                <a:avLst/>
              </a:prstGeom>
              <a:ln/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>
                  <a:buClr>
                    <a:srgbClr val="333399"/>
                  </a:buClr>
                </a:pPr>
                <a:r>
                  <a:rPr lang="en-GB" altLang="en-US" sz="2400" dirty="0"/>
                  <a:t>Also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1" i="1">
                            <a:latin typeface="Cambria Math"/>
                          </a:rPr>
                          <m:t>𝒇</m:t>
                        </m:r>
                      </m:e>
                      <m:sub>
                        <m:r>
                          <a:rPr lang="en-GB" sz="2400" b="1" i="1">
                            <a:latin typeface="Cambria Math"/>
                          </a:rPr>
                          <m:t>𝒆</m:t>
                        </m:r>
                      </m:sub>
                    </m:sSub>
                  </m:oMath>
                </a14:m>
                <a:r>
                  <a:rPr lang="en-GB" altLang="en-US" sz="2400" b="1" dirty="0"/>
                  <a:t> should not be less than 5 </a:t>
                </a:r>
              </a:p>
              <a:p>
                <a:pPr>
                  <a:buClr>
                    <a:srgbClr val="333399"/>
                  </a:buClr>
                </a:pPr>
                <a:r>
                  <a:rPr lang="en-GB" altLang="en-US" sz="2400" dirty="0"/>
                  <a:t>	(for more than 20% of cells)</a:t>
                </a:r>
              </a:p>
              <a:p>
                <a:pPr>
                  <a:buClr>
                    <a:srgbClr val="333399"/>
                  </a:buClr>
                </a:pPr>
                <a:r>
                  <a:rPr lang="en-GB" altLang="en-US" sz="2400" dirty="0"/>
                  <a:t>SPSS shows a warning if this happens</a:t>
                </a:r>
              </a:p>
            </p:txBody>
          </p:sp>
        </mc:Choice>
        <mc:Fallback xmlns="">
          <p:sp>
            <p:nvSpPr>
              <p:cNvPr id="353296" name="Text 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1000" y="3886200"/>
                <a:ext cx="4953000" cy="1200329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/>
              <a:ex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Yate’s correction for </a:t>
            </a:r>
            <a:r>
              <a:rPr lang="en-GB" altLang="en-US" dirty="0">
                <a:sym typeface="Symbol" pitchFamily="18" charset="2"/>
              </a:rPr>
              <a:t></a:t>
            </a:r>
            <a:r>
              <a:rPr lang="en-GB" altLang="en-US" baseline="30000" dirty="0">
                <a:sym typeface="Symbol" pitchFamily="18" charset="2"/>
              </a:rPr>
              <a:t>2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898525" y="1962008"/>
                <a:ext cx="4244495" cy="118269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b="0" i="1">
                              <a:latin typeface="Cambria Math"/>
                            </a:rPr>
                            <m:t>𝜒</m:t>
                          </m:r>
                        </m:e>
                        <m:sup>
                          <m:r>
                            <a:rPr lang="en-GB" sz="2800" b="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GB" sz="2800" b="0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GB" sz="28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GB" sz="2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GB" sz="2800" i="1">
                                                  <a:latin typeface="Cambria Math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GB" sz="2800" i="1">
                                                  <a:latin typeface="Cambria Math"/>
                                                </a:rPr>
                                                <m:t>𝑜</m:t>
                                              </m:r>
                                            </m:sub>
                                          </m:sSub>
                                          <m:r>
                                            <a:rPr lang="en-GB" sz="2800" i="1">
                                              <a:latin typeface="Cambria Math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GB" sz="2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GB" sz="2800" i="1">
                                                  <a:latin typeface="Cambria Math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GB" sz="2800" i="1">
                                                  <a:latin typeface="Cambria Math"/>
                                                </a:rPr>
                                                <m:t>𝑒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en-GB" sz="2800" b="0" i="1" smtClean="0">
                                          <a:latin typeface="Cambria Math"/>
                                        </a:rPr>
                                        <m:t>−0.5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GB" sz="2800" b="0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800" b="0" i="1">
                                      <a:latin typeface="Cambria Math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GB" sz="2800" b="0" i="1">
                                      <a:latin typeface="Cambria Math"/>
                                    </a:rPr>
                                    <m:t>𝑒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525" y="1962008"/>
                <a:ext cx="4244495" cy="1182696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loud Callout 18"/>
              <p:cNvSpPr/>
              <p:nvPr/>
            </p:nvSpPr>
            <p:spPr>
              <a:xfrm>
                <a:off x="5135932" y="2544496"/>
                <a:ext cx="3716953" cy="1844567"/>
              </a:xfrm>
              <a:prstGeom prst="cloudCallout">
                <a:avLst>
                  <a:gd name="adj1" fmla="val -63031"/>
                  <a:gd name="adj2" fmla="val -29808"/>
                </a:avLst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GB" sz="1600" dirty="0"/>
                  <a:t>Recall the formula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>
                              <a:latin typeface="Cambria Math"/>
                            </a:rPr>
                            <m:t>𝜒</m:t>
                          </m:r>
                        </m:e>
                        <m:sup>
                          <m:r>
                            <a:rPr lang="en-GB" sz="2000" b="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GB" sz="2000" b="0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GB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2000" b="0" i="1">
                                              <a:latin typeface="Cambria Math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GB" sz="2000" b="0" i="1">
                                              <a:latin typeface="Cambria Math"/>
                                            </a:rPr>
                                            <m:t>𝑜</m:t>
                                          </m:r>
                                        </m:sub>
                                      </m:sSub>
                                      <m:r>
                                        <a:rPr lang="en-GB" sz="2000" b="0" i="1">
                                          <a:latin typeface="Cambria Math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GB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2000" b="0" i="1">
                                              <a:latin typeface="Cambria Math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GB" sz="2000" b="0" i="1">
                                              <a:latin typeface="Cambria Math"/>
                                            </a:rPr>
                                            <m:t>𝑒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GB" sz="2000" b="0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000" b="0" i="1">
                                      <a:latin typeface="Cambria Math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GB" sz="2000" b="0" i="1">
                                      <a:latin typeface="Cambria Math"/>
                                    </a:rPr>
                                    <m:t>𝑒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9" name="Cloud Callout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5932" y="2544496"/>
                <a:ext cx="3716953" cy="1844567"/>
              </a:xfrm>
              <a:prstGeom prst="cloudCallout">
                <a:avLst>
                  <a:gd name="adj1" fmla="val -63031"/>
                  <a:gd name="adj2" fmla="val -29808"/>
                </a:avLst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783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3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329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093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37" y="762000"/>
            <a:ext cx="6696075" cy="2259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80934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37" y="2971800"/>
            <a:ext cx="5040313" cy="2663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" name="Group 2"/>
          <p:cNvGrpSpPr/>
          <p:nvPr/>
        </p:nvGrpSpPr>
        <p:grpSpPr>
          <a:xfrm>
            <a:off x="5670550" y="3340100"/>
            <a:ext cx="3168650" cy="1323439"/>
            <a:chOff x="5670550" y="3505200"/>
            <a:chExt cx="3168650" cy="1323439"/>
          </a:xfrm>
        </p:grpSpPr>
        <p:sp>
          <p:nvSpPr>
            <p:cNvPr id="380935" name="Text Box 7"/>
            <p:cNvSpPr txBox="1">
              <a:spLocks noChangeArrowheads="1"/>
            </p:cNvSpPr>
            <p:nvPr/>
          </p:nvSpPr>
          <p:spPr bwMode="auto">
            <a:xfrm>
              <a:off x="6678612" y="3505200"/>
              <a:ext cx="2160588" cy="1323439"/>
            </a:xfrm>
            <a:prstGeom prst="rect">
              <a:avLst/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GB" altLang="en-US" sz="2000" b="1" dirty="0"/>
                <a:t>This is the p-value</a:t>
              </a:r>
              <a:r>
                <a:rPr lang="en-GB" altLang="en-US" sz="2000" dirty="0"/>
                <a:t> i.e. probability  of the result given the null hypothesis</a:t>
              </a:r>
              <a:endParaRPr lang="en-US" altLang="en-US" sz="2000" dirty="0"/>
            </a:p>
          </p:txBody>
        </p:sp>
        <p:sp>
          <p:nvSpPr>
            <p:cNvPr id="380936" name="Line 8"/>
            <p:cNvSpPr>
              <a:spLocks noChangeShapeType="1"/>
            </p:cNvSpPr>
            <p:nvPr/>
          </p:nvSpPr>
          <p:spPr bwMode="auto">
            <a:xfrm flipH="1">
              <a:off x="5670550" y="4002087"/>
              <a:ext cx="1008062" cy="1428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>
                <a:sym typeface="Symbol" pitchFamily="18" charset="2"/>
              </a:rPr>
              <a:t></a:t>
            </a:r>
            <a:r>
              <a:rPr lang="en-GB" altLang="en-US" baseline="30000" dirty="0">
                <a:sym typeface="Symbol" pitchFamily="18" charset="2"/>
              </a:rPr>
              <a:t>2</a:t>
            </a:r>
            <a:r>
              <a:rPr lang="en-GB" altLang="en-US" dirty="0">
                <a:sym typeface="Symbol" pitchFamily="18" charset="2"/>
              </a:rPr>
              <a:t> with two variables in SPSS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1434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 1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0771709"/>
              </p:ext>
            </p:extLst>
          </p:nvPr>
        </p:nvGraphicFramePr>
        <p:xfrm>
          <a:off x="457200" y="990600"/>
          <a:ext cx="8229600" cy="4648200"/>
        </p:xfrm>
        <a:graphic>
          <a:graphicData uri="http://schemas.openxmlformats.org/drawingml/2006/table">
            <a:tbl>
              <a:tblPr firstRow="1" firstCol="1" lastRow="1" lastCol="1" bandRow="1">
                <a:tableStyleId>{2D5ABB26-0587-4C30-8999-92F81FD0307C}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62050"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CYCLING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NOT CYCLING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ROW</a:t>
                      </a:r>
                      <a:endParaRPr lang="en-GB" sz="2400" baseline="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GB" sz="2400" baseline="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SUM</a:t>
                      </a:r>
                      <a:endParaRPr lang="en-GB" sz="2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2050">
                <a:tc>
                  <a:txBody>
                    <a:bodyPr/>
                    <a:lstStyle/>
                    <a:p>
                      <a:pPr lvl="0" algn="l"/>
                      <a:r>
                        <a:rPr lang="en-GB" baseline="0" dirty="0"/>
                        <a:t>          </a:t>
                      </a:r>
                      <a:r>
                        <a:rPr lang="en-GB" dirty="0"/>
                        <a:t>FEMALE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62050">
                <a:tc>
                  <a:txBody>
                    <a:bodyPr/>
                    <a:lstStyle/>
                    <a:p>
                      <a:pPr lvl="0" algn="l"/>
                      <a:r>
                        <a:rPr lang="en-GB" dirty="0"/>
                        <a:t>              MALE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62050">
                <a:tc>
                  <a:txBody>
                    <a:bodyPr/>
                    <a:lstStyle/>
                    <a:p>
                      <a:pPr algn="r"/>
                      <a:r>
                        <a:rPr lang="en-GB" sz="24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COLUMN</a:t>
                      </a:r>
                    </a:p>
                    <a:p>
                      <a:pPr algn="r"/>
                      <a:r>
                        <a:rPr lang="en-GB" sz="24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SUM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32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TOTAL</a:t>
                      </a:r>
                      <a:endParaRPr lang="en-GB" sz="32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026" name="Picture 2" descr="https://sjcag.files.wordpress.com/2014/05/no_cycling.gi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5875" y="762000"/>
            <a:ext cx="1000125" cy="1000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3.bp.blogspot.com/-J1K19ILE1RI/VCajfQCJrAI/AAAAAAAACQk/raTua1QCyDo/s255/green.cycle.small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747711"/>
            <a:ext cx="1028700" cy="1028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https://encrypted-tbn3.gstatic.com/images?q=tbn:ANd9GcSYalP_o92KbXHoPFFqiq3Bvqwigqxp-tT4vK0P7iW-hwi5ZHCjhA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2573" y="2391107"/>
            <a:ext cx="399766" cy="656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http://images.clipartpanda.com/male-clipart-17738-male-design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3581400"/>
            <a:ext cx="270112" cy="60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74820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0285228"/>
              </p:ext>
            </p:extLst>
          </p:nvPr>
        </p:nvGraphicFramePr>
        <p:xfrm>
          <a:off x="7010400" y="228600"/>
          <a:ext cx="1752600" cy="1036320"/>
        </p:xfrm>
        <a:graphic>
          <a:graphicData uri="http://schemas.openxmlformats.org/drawingml/2006/table">
            <a:tbl>
              <a:tblPr firstRow="1" firstCol="1" lastRow="1" lastCol="1" bandRow="1">
                <a:tableStyleId>{2D5ABB26-0587-4C30-8999-92F81FD0307C}</a:tableStyleId>
              </a:tblPr>
              <a:tblGrid>
                <a:gridCol w="87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1646364"/>
              </p:ext>
            </p:extLst>
          </p:nvPr>
        </p:nvGraphicFramePr>
        <p:xfrm>
          <a:off x="7010400" y="1514856"/>
          <a:ext cx="1752600" cy="1036320"/>
        </p:xfrm>
        <a:graphic>
          <a:graphicData uri="http://schemas.openxmlformats.org/drawingml/2006/table">
            <a:tbl>
              <a:tblPr firstRow="1" firstCol="1" lastRow="1" lastCol="1" bandRow="1">
                <a:tableStyleId>{2D5ABB26-0587-4C30-8999-92F81FD0307C}</a:tableStyleId>
              </a:tblPr>
              <a:tblGrid>
                <a:gridCol w="87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9187638"/>
              </p:ext>
            </p:extLst>
          </p:nvPr>
        </p:nvGraphicFramePr>
        <p:xfrm>
          <a:off x="7010400" y="2855976"/>
          <a:ext cx="1752600" cy="1066800"/>
        </p:xfrm>
        <a:graphic>
          <a:graphicData uri="http://schemas.openxmlformats.org/drawingml/2006/table">
            <a:tbl>
              <a:tblPr firstRow="1" firstCol="1" lastRow="1" lastCol="1" bandRow="1">
                <a:tableStyleId>{2D5ABB26-0587-4C30-8999-92F81FD0307C}</a:tableStyleId>
              </a:tblPr>
              <a:tblGrid>
                <a:gridCol w="87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0.1309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0.156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0.2421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0.2887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0" name="Elbow Connector 9"/>
          <p:cNvCxnSpPr>
            <a:endCxn id="8" idx="1"/>
          </p:cNvCxnSpPr>
          <p:nvPr/>
        </p:nvCxnSpPr>
        <p:spPr>
          <a:xfrm>
            <a:off x="6096000" y="3157537"/>
            <a:ext cx="914400" cy="231839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Elbow Connector 10"/>
          <p:cNvCxnSpPr>
            <a:endCxn id="5" idx="1"/>
          </p:cNvCxnSpPr>
          <p:nvPr/>
        </p:nvCxnSpPr>
        <p:spPr>
          <a:xfrm flipV="1">
            <a:off x="6096000" y="746760"/>
            <a:ext cx="914400" cy="160020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Elbow Connector 12"/>
          <p:cNvCxnSpPr>
            <a:endCxn id="6" idx="1"/>
          </p:cNvCxnSpPr>
          <p:nvPr/>
        </p:nvCxnSpPr>
        <p:spPr>
          <a:xfrm>
            <a:off x="6096000" y="1524000"/>
            <a:ext cx="914400" cy="509016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FD808AC7-F257-7CF5-482E-FC6BB17C38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" y="228600"/>
            <a:ext cx="5457825" cy="539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6567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>
          <a:xfrm rot="20415716">
            <a:off x="1955623" y="4874865"/>
            <a:ext cx="1539460" cy="4616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/>
            <a:r>
              <a:rPr lang="en-GB" sz="2400" dirty="0"/>
              <a:t>Pearson’s 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Parametric v Non-parametric Tests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457200" y="895350"/>
            <a:ext cx="4040188" cy="639762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r>
              <a:rPr lang="en-GB"/>
              <a:t>Parametric</a:t>
            </a:r>
            <a:endParaRPr lang="en-GB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57200" y="1535112"/>
            <a:ext cx="4040188" cy="2046288"/>
          </a:xfrm>
        </p:spPr>
        <p:txBody>
          <a:bodyPr>
            <a:normAutofit/>
          </a:bodyPr>
          <a:lstStyle/>
          <a:p>
            <a:pPr marL="0" indent="0">
              <a:buClr>
                <a:srgbClr val="333399"/>
              </a:buClr>
              <a:buNone/>
            </a:pPr>
            <a:r>
              <a:rPr lang="en-GB" altLang="en-US" dirty="0"/>
              <a:t>These assume you have either interval or ratio data</a:t>
            </a:r>
          </a:p>
          <a:p>
            <a:pPr marL="0" indent="0">
              <a:buClr>
                <a:srgbClr val="333399"/>
              </a:buClr>
              <a:buNone/>
            </a:pPr>
            <a:r>
              <a:rPr lang="en-GB" altLang="en-US" b="1" dirty="0"/>
              <a:t>They make assumptions about the distribution (normality, variances)</a:t>
            </a:r>
            <a:endParaRPr lang="en-GB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>
          <a:xfrm>
            <a:off x="4645025" y="895350"/>
            <a:ext cx="4041775" cy="639762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n-GB"/>
              <a:t>Non-parametric</a:t>
            </a:r>
            <a:endParaRPr lang="en-GB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>
          <a:xfrm>
            <a:off x="4645025" y="1535112"/>
            <a:ext cx="4041775" cy="2046288"/>
          </a:xfrm>
        </p:spPr>
        <p:txBody>
          <a:bodyPr>
            <a:normAutofit/>
          </a:bodyPr>
          <a:lstStyle/>
          <a:p>
            <a:pPr marL="0" indent="0">
              <a:buClr>
                <a:srgbClr val="333399"/>
              </a:buClr>
              <a:buNone/>
            </a:pPr>
            <a:r>
              <a:rPr lang="en-GB" altLang="en-US" b="1" dirty="0"/>
              <a:t>These make less assumptions about the data</a:t>
            </a:r>
          </a:p>
          <a:p>
            <a:pPr marL="0" indent="0">
              <a:buClr>
                <a:srgbClr val="333399"/>
              </a:buClr>
              <a:buNone/>
            </a:pPr>
            <a:r>
              <a:rPr lang="en-GB" altLang="en-US" dirty="0"/>
              <a:t>They are also known as “distribution free” statistics</a:t>
            </a:r>
          </a:p>
          <a:p>
            <a:pPr marL="0" indent="0">
              <a:buClr>
                <a:srgbClr val="333399"/>
              </a:buClr>
              <a:buNone/>
            </a:pPr>
            <a:endParaRPr lang="en-GB" dirty="0"/>
          </a:p>
          <a:p>
            <a:pPr marL="0" indent="0">
              <a:buClr>
                <a:srgbClr val="333399"/>
              </a:buClr>
              <a:buNone/>
            </a:pPr>
            <a:endParaRPr lang="en-GB" dirty="0"/>
          </a:p>
          <a:p>
            <a:pPr marL="0" indent="0">
              <a:buClr>
                <a:srgbClr val="333399"/>
              </a:buClr>
              <a:buNone/>
            </a:pPr>
            <a:endParaRPr lang="en-GB" dirty="0"/>
          </a:p>
        </p:txBody>
      </p:sp>
      <p:sp>
        <p:nvSpPr>
          <p:cNvPr id="13" name="Rectangle 12"/>
          <p:cNvSpPr/>
          <p:nvPr/>
        </p:nvSpPr>
        <p:spPr>
          <a:xfrm>
            <a:off x="2362200" y="925033"/>
            <a:ext cx="19812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buClr>
                <a:srgbClr val="333399"/>
              </a:buClr>
            </a:pPr>
            <a:r>
              <a:rPr lang="en-GB" altLang="en-US" sz="1600" dirty="0">
                <a:solidFill>
                  <a:schemeClr val="accent6">
                    <a:lumMod val="75000"/>
                  </a:schemeClr>
                </a:solidFill>
              </a:rPr>
              <a:t>Parametric were developed first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1711" y="4642123"/>
            <a:ext cx="1697901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/>
            <a:r>
              <a:rPr lang="en-GB" dirty="0"/>
              <a:t>Spearman's Rho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3528" y="4823796"/>
            <a:ext cx="1396793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/>
            <a:r>
              <a:rPr lang="en-GB" dirty="0"/>
              <a:t>Kendall's Tau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3810000"/>
            <a:ext cx="828689" cy="4616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/>
            <a:r>
              <a:rPr lang="en-GB" sz="2400" dirty="0"/>
              <a:t>t test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62796" y="4731463"/>
            <a:ext cx="1099404" cy="4616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/>
            <a:r>
              <a:rPr lang="en-GB" sz="2400" dirty="0"/>
              <a:t>ANOVA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67609" y="3376983"/>
            <a:ext cx="1960601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altLang="en-US" dirty="0" err="1">
                <a:cs typeface="Arial" pitchFamily="34" charset="0"/>
              </a:rPr>
              <a:t>Kruskal</a:t>
            </a:r>
            <a:r>
              <a:rPr lang="en-US" altLang="en-US" dirty="0">
                <a:cs typeface="Arial" pitchFamily="34" charset="0"/>
              </a:rPr>
              <a:t>-Wallis Test </a:t>
            </a:r>
            <a:endParaRPr lang="en-GB" dirty="0"/>
          </a:p>
        </p:txBody>
      </p:sp>
      <p:sp>
        <p:nvSpPr>
          <p:cNvPr id="23" name="Rectangle 22"/>
          <p:cNvSpPr/>
          <p:nvPr/>
        </p:nvSpPr>
        <p:spPr>
          <a:xfrm>
            <a:off x="6979807" y="3811491"/>
            <a:ext cx="1554593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altLang="en-US" dirty="0">
                <a:cs typeface="Arial" pitchFamily="34" charset="0"/>
              </a:rPr>
              <a:t>Friedman Test </a:t>
            </a:r>
            <a:endParaRPr lang="en-GB" dirty="0"/>
          </a:p>
        </p:txBody>
      </p:sp>
      <p:sp>
        <p:nvSpPr>
          <p:cNvPr id="24" name="Rectangle 23"/>
          <p:cNvSpPr/>
          <p:nvPr/>
        </p:nvSpPr>
        <p:spPr>
          <a:xfrm>
            <a:off x="5670669" y="5269468"/>
            <a:ext cx="2257541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altLang="en-US" dirty="0">
                <a:cs typeface="Arial" pitchFamily="34" charset="0"/>
              </a:rPr>
              <a:t>Wilcoxon Signed-Rank</a:t>
            </a:r>
            <a:endParaRPr lang="en-GB" dirty="0"/>
          </a:p>
        </p:txBody>
      </p:sp>
      <p:sp>
        <p:nvSpPr>
          <p:cNvPr id="25" name="Rectangle 24"/>
          <p:cNvSpPr/>
          <p:nvPr/>
        </p:nvSpPr>
        <p:spPr>
          <a:xfrm>
            <a:off x="4811062" y="3949991"/>
            <a:ext cx="1703095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altLang="en-US" dirty="0">
                <a:cs typeface="Arial" pitchFamily="34" charset="0"/>
              </a:rPr>
              <a:t>Fisher Exact test</a:t>
            </a:r>
            <a:endParaRPr lang="en-GB" dirty="0"/>
          </a:p>
        </p:txBody>
      </p:sp>
      <p:sp>
        <p:nvSpPr>
          <p:cNvPr id="17" name="Rectangle 16"/>
          <p:cNvSpPr/>
          <p:nvPr/>
        </p:nvSpPr>
        <p:spPr>
          <a:xfrm>
            <a:off x="5825431" y="4240522"/>
            <a:ext cx="1748364" cy="52322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/>
            <a:r>
              <a:rPr lang="en-GB" sz="2800" b="1" dirty="0"/>
              <a:t>Chi square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4925" y="4222268"/>
            <a:ext cx="1003416" cy="5232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/>
            <a:r>
              <a:rPr lang="en-GB" sz="2800" b="1" dirty="0"/>
              <a:t>Z test</a:t>
            </a:r>
          </a:p>
        </p:txBody>
      </p:sp>
    </p:spTree>
    <p:extLst>
      <p:ext uri="{BB962C8B-B14F-4D97-AF65-F5344CB8AC3E}">
        <p14:creationId xmlns:p14="http://schemas.microsoft.com/office/powerpoint/2010/main" val="19879063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382" name="Rectangle 6"/>
          <p:cNvSpPr>
            <a:spLocks noChangeArrowheads="1"/>
          </p:cNvSpPr>
          <p:nvPr/>
        </p:nvSpPr>
        <p:spPr bwMode="auto">
          <a:xfrm>
            <a:off x="304800" y="914400"/>
            <a:ext cx="76200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342900" indent="-3429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333399"/>
              </a:buClr>
            </a:pPr>
            <a:r>
              <a:rPr lang="en-GB" altLang="en-US" dirty="0">
                <a:latin typeface="Avalon" pitchFamily="34" charset="0"/>
              </a:rPr>
              <a:t>Generally tests making </a:t>
            </a:r>
            <a:r>
              <a:rPr lang="en-GB" altLang="en-US" b="1" dirty="0">
                <a:latin typeface="Avalon" pitchFamily="34" charset="0"/>
              </a:rPr>
              <a:t>less assumptions are less powerful</a:t>
            </a:r>
            <a:r>
              <a:rPr lang="en-GB" altLang="en-US" dirty="0">
                <a:latin typeface="Avalon" pitchFamily="34" charset="0"/>
              </a:rPr>
              <a:t> in detecting effects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Why do we still use parametric statistics?</a:t>
            </a:r>
            <a:endParaRPr lang="en-GB" dirty="0"/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304800" y="2133600"/>
            <a:ext cx="762000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342900" indent="-3429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333399"/>
              </a:buClr>
            </a:pPr>
            <a:r>
              <a:rPr lang="en-GB" altLang="en-US" dirty="0">
                <a:latin typeface="Avalon" pitchFamily="34" charset="0"/>
              </a:rPr>
              <a:t>The </a:t>
            </a:r>
            <a:r>
              <a:rPr lang="en-GB" altLang="en-US" b="1" dirty="0">
                <a:latin typeface="Avalon" pitchFamily="34" charset="0"/>
              </a:rPr>
              <a:t>sophistication </a:t>
            </a:r>
            <a:r>
              <a:rPr lang="en-GB" altLang="en-US" dirty="0">
                <a:latin typeface="Avalon" pitchFamily="34" charset="0"/>
              </a:rPr>
              <a:t>of the tests available </a:t>
            </a:r>
            <a:r>
              <a:rPr lang="en-GB" altLang="en-US" b="1" dirty="0">
                <a:latin typeface="Avalon" pitchFamily="34" charset="0"/>
              </a:rPr>
              <a:t>is greater </a:t>
            </a:r>
            <a:r>
              <a:rPr lang="en-GB" altLang="en-US" dirty="0">
                <a:latin typeface="Avalon" pitchFamily="34" charset="0"/>
              </a:rPr>
              <a:t>and a </a:t>
            </a:r>
            <a:r>
              <a:rPr lang="en-GB" altLang="en-US" b="1" dirty="0">
                <a:latin typeface="Avalon" pitchFamily="34" charset="0"/>
              </a:rPr>
              <a:t>wider range of tests</a:t>
            </a:r>
            <a:r>
              <a:rPr lang="en-GB" altLang="en-US" dirty="0">
                <a:latin typeface="Avalon" pitchFamily="34" charset="0"/>
              </a:rPr>
              <a:t> are available in statistics software</a:t>
            </a: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304800" y="3657600"/>
            <a:ext cx="76200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342900" indent="-3429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333399"/>
              </a:buClr>
            </a:pPr>
            <a:r>
              <a:rPr lang="en-GB" altLang="en-US" dirty="0">
                <a:latin typeface="Avalon" pitchFamily="34" charset="0"/>
              </a:rPr>
              <a:t>Parametric statistics can, </a:t>
            </a:r>
            <a:r>
              <a:rPr lang="en-GB" altLang="en-US" b="1" dirty="0">
                <a:latin typeface="Avalon" pitchFamily="34" charset="0"/>
              </a:rPr>
              <a:t>in practice</a:t>
            </a:r>
            <a:r>
              <a:rPr lang="en-GB" altLang="en-US" dirty="0">
                <a:latin typeface="Avalon" pitchFamily="34" charset="0"/>
              </a:rPr>
              <a:t>, be </a:t>
            </a:r>
            <a:r>
              <a:rPr lang="en-GB" altLang="en-US" b="1" dirty="0">
                <a:latin typeface="Avalon" pitchFamily="34" charset="0"/>
              </a:rPr>
              <a:t>quite robust </a:t>
            </a:r>
            <a:r>
              <a:rPr lang="en-GB" altLang="en-US" dirty="0">
                <a:latin typeface="Avalon" pitchFamily="34" charset="0"/>
              </a:rPr>
              <a:t>to violations of their assumptions</a:t>
            </a:r>
          </a:p>
          <a:p>
            <a:pPr marL="0" indent="0">
              <a:spcBef>
                <a:spcPct val="20000"/>
              </a:spcBef>
              <a:buClr>
                <a:srgbClr val="333399"/>
              </a:buClr>
            </a:pPr>
            <a:endParaRPr lang="en-GB" altLang="en-US" dirty="0">
              <a:latin typeface="Avalon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10993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304800" y="4800600"/>
            <a:ext cx="76200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342900" indent="-3429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333399"/>
              </a:buClr>
            </a:pPr>
            <a:r>
              <a:rPr lang="en-GB" altLang="en-US" sz="4400" b="1" dirty="0">
                <a:latin typeface="Avalon" pitchFamily="34" charset="0"/>
              </a:rPr>
              <a:t>10 Minutes Break</a:t>
            </a:r>
          </a:p>
          <a:p>
            <a:pPr marL="0" indent="0">
              <a:spcBef>
                <a:spcPct val="20000"/>
              </a:spcBef>
              <a:buClr>
                <a:srgbClr val="333399"/>
              </a:buClr>
            </a:pPr>
            <a:endParaRPr lang="en-GB" altLang="en-US" dirty="0">
              <a:latin typeface="Avalon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31016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 so far…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066800"/>
            <a:ext cx="5150357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304800" y="762000"/>
            <a:ext cx="48778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/>
              <a:t>We looked at measuring differences…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334313" y="2099846"/>
          <a:ext cx="7657287" cy="2476500"/>
        </p:xfrm>
        <a:graphic>
          <a:graphicData uri="http://schemas.openxmlformats.org/drawingml/2006/table">
            <a:tbl>
              <a:tblPr firstRow="1" firstCol="1">
                <a:tableStyleId>{8EC20E35-A176-4012-BC5E-935CFFF8708E}</a:tableStyleId>
              </a:tblPr>
              <a:tblGrid>
                <a:gridCol w="20184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Categorical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Scalar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775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Relating</a:t>
                      </a:r>
                    </a:p>
                    <a:p>
                      <a:pPr algn="ctr"/>
                      <a:r>
                        <a:rPr lang="en-GB" sz="2400" dirty="0"/>
                        <a:t>Two groups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32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χ</a:t>
                      </a:r>
                      <a:r>
                        <a:rPr lang="en-GB" sz="3200" b="1" baseline="300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2</a:t>
                      </a:r>
                    </a:p>
                    <a:p>
                      <a:pPr algn="ctr"/>
                      <a:r>
                        <a:rPr lang="en-GB" sz="1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test for</a:t>
                      </a:r>
                      <a:r>
                        <a:rPr lang="en-GB" sz="18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independence</a:t>
                      </a:r>
                      <a:endParaRPr lang="en-GB" sz="1800" baseline="300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aseline="0" dirty="0">
                          <a:solidFill>
                            <a:schemeClr val="tx1"/>
                          </a:solidFill>
                        </a:rPr>
                        <a:t>Correlation </a:t>
                      </a:r>
                      <a:r>
                        <a:rPr lang="en-GB" sz="2400" b="1" dirty="0">
                          <a:solidFill>
                            <a:schemeClr val="tx1"/>
                          </a:solidFill>
                        </a:rPr>
                        <a:t>t Test</a:t>
                      </a:r>
                      <a:endParaRPr lang="en-GB" sz="2400" baseline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GB" sz="2400" b="1" baseline="0" dirty="0">
                          <a:solidFill>
                            <a:schemeClr val="tx1"/>
                          </a:solidFill>
                        </a:rPr>
                        <a:t>Linear Regression</a:t>
                      </a:r>
                      <a:endParaRPr lang="en-GB" sz="2400" b="1" baseline="30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775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Relating</a:t>
                      </a:r>
                    </a:p>
                    <a:p>
                      <a:pPr algn="ctr"/>
                      <a:r>
                        <a:rPr lang="en-GB" sz="2400" b="1" dirty="0"/>
                        <a:t>Many groups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Logistic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>
                          <a:solidFill>
                            <a:schemeClr val="tx1"/>
                          </a:solidFill>
                        </a:rPr>
                        <a:t>Multiple Regression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848913" y="4572000"/>
            <a:ext cx="51195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N.B.  This is only a subset of numerous statistical techniques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15068" y="2514600"/>
            <a:ext cx="2209800" cy="990600"/>
          </a:xfrm>
          <a:prstGeom prst="roundRect">
            <a:avLst/>
          </a:prstGeom>
          <a:noFill/>
          <a:ln w="762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ounded Rectangle 15"/>
          <p:cNvSpPr/>
          <p:nvPr/>
        </p:nvSpPr>
        <p:spPr>
          <a:xfrm>
            <a:off x="6248400" y="2514600"/>
            <a:ext cx="2590800" cy="990600"/>
          </a:xfrm>
          <a:prstGeom prst="roundRect">
            <a:avLst/>
          </a:prstGeom>
          <a:noFill/>
          <a:ln w="762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28825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hart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58343897"/>
              </p:ext>
            </p:extLst>
          </p:nvPr>
        </p:nvGraphicFramePr>
        <p:xfrm>
          <a:off x="228600" y="228600"/>
          <a:ext cx="4419600" cy="266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85189677"/>
              </p:ext>
            </p:extLst>
          </p:nvPr>
        </p:nvGraphicFramePr>
        <p:xfrm>
          <a:off x="4648200" y="228600"/>
          <a:ext cx="4419600" cy="266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" name="Chart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91880969"/>
              </p:ext>
            </p:extLst>
          </p:nvPr>
        </p:nvGraphicFramePr>
        <p:xfrm>
          <a:off x="228600" y="3124200"/>
          <a:ext cx="4419600" cy="266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1" name="Chart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89349972"/>
              </p:ext>
            </p:extLst>
          </p:nvPr>
        </p:nvGraphicFramePr>
        <p:xfrm>
          <a:off x="4648200" y="3124200"/>
          <a:ext cx="4419600" cy="266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2438400" y="1600200"/>
            <a:ext cx="1981200" cy="685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EXTREMELY STRONG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81800" y="1600200"/>
            <a:ext cx="1981200" cy="6858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RELATIVELY WEAKER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495800"/>
            <a:ext cx="1981200" cy="685800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NEGATIVELY</a:t>
            </a:r>
          </a:p>
          <a:p>
            <a:pPr algn="ctr"/>
            <a:r>
              <a:rPr lang="en-GB" dirty="0"/>
              <a:t>RELATED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34000" y="4419600"/>
            <a:ext cx="1981200" cy="68580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ALMOST NO RELATIONSHIP</a:t>
            </a:r>
          </a:p>
        </p:txBody>
      </p:sp>
    </p:spTree>
    <p:extLst>
      <p:ext uri="{BB962C8B-B14F-4D97-AF65-F5344CB8AC3E}">
        <p14:creationId xmlns:p14="http://schemas.microsoft.com/office/powerpoint/2010/main" val="2208112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>
        <p:bldAsOne/>
      </p:bldGraphic>
      <p:bldGraphic spid="10" grpId="0">
        <p:bldAsOne/>
      </p:bldGraphic>
      <p:bldGraphic spid="11" grpId="0">
        <p:bldAsOne/>
      </p:bldGraphic>
      <p:bldP spid="12" grpId="0" animBg="1"/>
      <p:bldP spid="13" grpId="0" animBg="1"/>
      <p:bldP spid="14" grpId="0" animBg="1"/>
      <p:bldP spid="1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hart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80166415"/>
              </p:ext>
            </p:extLst>
          </p:nvPr>
        </p:nvGraphicFramePr>
        <p:xfrm>
          <a:off x="228600" y="228600"/>
          <a:ext cx="4419600" cy="266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11600713"/>
              </p:ext>
            </p:extLst>
          </p:nvPr>
        </p:nvGraphicFramePr>
        <p:xfrm>
          <a:off x="4648200" y="228600"/>
          <a:ext cx="4419600" cy="266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" name="Chart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94965010"/>
              </p:ext>
            </p:extLst>
          </p:nvPr>
        </p:nvGraphicFramePr>
        <p:xfrm>
          <a:off x="228600" y="3124200"/>
          <a:ext cx="4419600" cy="266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1" name="Chart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24417118"/>
              </p:ext>
            </p:extLst>
          </p:nvPr>
        </p:nvGraphicFramePr>
        <p:xfrm>
          <a:off x="4648200" y="3124200"/>
          <a:ext cx="4419600" cy="266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2438400" y="1600200"/>
            <a:ext cx="1981200" cy="685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EXTREMELY STRONG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81800" y="1600200"/>
            <a:ext cx="1981200" cy="6858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RELATIVELY WEAKER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495800"/>
            <a:ext cx="1981200" cy="685800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NEGATIVELY</a:t>
            </a:r>
          </a:p>
          <a:p>
            <a:pPr algn="ctr"/>
            <a:r>
              <a:rPr lang="en-GB" dirty="0"/>
              <a:t>RELATED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34000" y="4419600"/>
            <a:ext cx="1981200" cy="68580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ALMOST NO RELATIONSHIP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876298" y="457200"/>
            <a:ext cx="3200400" cy="1828800"/>
            <a:chOff x="914400" y="1143000"/>
            <a:chExt cx="3200400" cy="1828800"/>
          </a:xfrm>
        </p:grpSpPr>
        <p:sp>
          <p:nvSpPr>
            <p:cNvPr id="17" name="Rounded Rectangle 16"/>
            <p:cNvSpPr/>
            <p:nvPr/>
          </p:nvSpPr>
          <p:spPr>
            <a:xfrm>
              <a:off x="914400" y="1143000"/>
              <a:ext cx="3200400" cy="1828800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en-GB" b="1" dirty="0">
                  <a:solidFill>
                    <a:schemeClr val="tx2"/>
                  </a:solidFill>
                </a:rPr>
                <a:t>A POSITIVE </a:t>
              </a:r>
            </a:p>
            <a:p>
              <a:r>
                <a:rPr lang="en-GB" b="1" dirty="0">
                  <a:solidFill>
                    <a:schemeClr val="tx2"/>
                  </a:solidFill>
                </a:rPr>
                <a:t>RELATION</a:t>
              </a:r>
            </a:p>
          </p:txBody>
        </p:sp>
        <p:sp>
          <p:nvSpPr>
            <p:cNvPr id="18" name="Line 7"/>
            <p:cNvSpPr>
              <a:spLocks noChangeShapeType="1"/>
            </p:cNvSpPr>
            <p:nvPr/>
          </p:nvSpPr>
          <p:spPr bwMode="auto">
            <a:xfrm rot="20946921" flipV="1">
              <a:off x="1440411" y="1713459"/>
              <a:ext cx="2072175" cy="687881"/>
            </a:xfrm>
            <a:prstGeom prst="line">
              <a:avLst/>
            </a:prstGeom>
            <a:ln>
              <a:headEnd type="arrow" w="med" len="med"/>
              <a:tailEnd type="arrow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5372100" y="457200"/>
            <a:ext cx="3200400" cy="1828800"/>
            <a:chOff x="914400" y="1143000"/>
            <a:chExt cx="3200400" cy="1828800"/>
          </a:xfrm>
        </p:grpSpPr>
        <p:sp>
          <p:nvSpPr>
            <p:cNvPr id="20" name="Rounded Rectangle 19"/>
            <p:cNvSpPr/>
            <p:nvPr/>
          </p:nvSpPr>
          <p:spPr>
            <a:xfrm>
              <a:off x="914400" y="1143000"/>
              <a:ext cx="3200400" cy="1828800"/>
            </a:xfrm>
            <a:prstGeom prst="round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en-GB" b="1" dirty="0">
                  <a:solidFill>
                    <a:srgbClr val="C00000"/>
                  </a:solidFill>
                </a:rPr>
                <a:t>A POSITIVE </a:t>
              </a:r>
            </a:p>
            <a:p>
              <a:r>
                <a:rPr lang="en-GB" b="1" dirty="0">
                  <a:solidFill>
                    <a:srgbClr val="C00000"/>
                  </a:solidFill>
                </a:rPr>
                <a:t>RELATION</a:t>
              </a:r>
            </a:p>
          </p:txBody>
        </p:sp>
        <p:sp>
          <p:nvSpPr>
            <p:cNvPr id="21" name="Line 7"/>
            <p:cNvSpPr>
              <a:spLocks noChangeShapeType="1"/>
            </p:cNvSpPr>
            <p:nvPr/>
          </p:nvSpPr>
          <p:spPr bwMode="auto">
            <a:xfrm rot="20946921" flipV="1">
              <a:off x="1440411" y="1713459"/>
              <a:ext cx="2072175" cy="687881"/>
            </a:xfrm>
            <a:prstGeom prst="line">
              <a:avLst/>
            </a:prstGeom>
            <a:ln>
              <a:headEnd type="arrow" w="med" len="med"/>
              <a:tailEnd type="arrow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838196" y="3581400"/>
            <a:ext cx="3200400" cy="1828800"/>
            <a:chOff x="914400" y="1143000"/>
            <a:chExt cx="3200400" cy="1828800"/>
          </a:xfrm>
        </p:grpSpPr>
        <p:sp>
          <p:nvSpPr>
            <p:cNvPr id="23" name="Rounded Rectangle 22"/>
            <p:cNvSpPr/>
            <p:nvPr/>
          </p:nvSpPr>
          <p:spPr>
            <a:xfrm>
              <a:off x="914400" y="1143000"/>
              <a:ext cx="3200400" cy="1828800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r"/>
              <a:r>
                <a:rPr lang="en-GB" b="1" dirty="0">
                  <a:solidFill>
                    <a:schemeClr val="accent3">
                      <a:lumMod val="50000"/>
                    </a:schemeClr>
                  </a:solidFill>
                </a:rPr>
                <a:t>A NEGATIVE</a:t>
              </a:r>
            </a:p>
            <a:p>
              <a:pPr algn="r"/>
              <a:r>
                <a:rPr lang="en-GB" b="1" dirty="0">
                  <a:solidFill>
                    <a:schemeClr val="accent3">
                      <a:lumMod val="50000"/>
                    </a:schemeClr>
                  </a:solidFill>
                </a:rPr>
                <a:t>RELATION</a:t>
              </a:r>
            </a:p>
          </p:txBody>
        </p:sp>
        <p:sp>
          <p:nvSpPr>
            <p:cNvPr id="24" name="Line 7"/>
            <p:cNvSpPr>
              <a:spLocks noChangeShapeType="1"/>
            </p:cNvSpPr>
            <p:nvPr/>
          </p:nvSpPr>
          <p:spPr bwMode="auto">
            <a:xfrm rot="20946921">
              <a:off x="1516899" y="1378125"/>
              <a:ext cx="1408310" cy="1434748"/>
            </a:xfrm>
            <a:prstGeom prst="line">
              <a:avLst/>
            </a:prstGeom>
            <a:ln>
              <a:headEnd type="arrow" w="med" len="med"/>
              <a:tailEnd type="arrow" w="med" len="med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5410200" y="3581400"/>
            <a:ext cx="3200400" cy="1828800"/>
            <a:chOff x="5410200" y="3581400"/>
            <a:chExt cx="3200400" cy="1828800"/>
          </a:xfrm>
        </p:grpSpPr>
        <p:sp>
          <p:nvSpPr>
            <p:cNvPr id="25" name="Rounded Rectangle 24"/>
            <p:cNvSpPr/>
            <p:nvPr/>
          </p:nvSpPr>
          <p:spPr>
            <a:xfrm>
              <a:off x="5410200" y="3581400"/>
              <a:ext cx="3200400" cy="1828800"/>
            </a:xfrm>
            <a:prstGeom prst="round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b"/>
            <a:lstStyle/>
            <a:p>
              <a:pPr algn="ctr"/>
              <a:r>
                <a:rPr lang="en-GB" b="1" dirty="0">
                  <a:solidFill>
                    <a:srgbClr val="7030A0"/>
                  </a:solidFill>
                </a:rPr>
                <a:t>ALMOST NO</a:t>
              </a:r>
            </a:p>
            <a:p>
              <a:pPr algn="ctr"/>
              <a:r>
                <a:rPr lang="en-GB" b="1" dirty="0">
                  <a:solidFill>
                    <a:srgbClr val="7030A0"/>
                  </a:solidFill>
                </a:rPr>
                <a:t>RELATION</a:t>
              </a:r>
            </a:p>
          </p:txBody>
        </p:sp>
        <p:sp>
          <p:nvSpPr>
            <p:cNvPr id="26" name="Line 7"/>
            <p:cNvSpPr>
              <a:spLocks noChangeShapeType="1"/>
            </p:cNvSpPr>
            <p:nvPr/>
          </p:nvSpPr>
          <p:spPr bwMode="auto">
            <a:xfrm rot="20946921">
              <a:off x="6038991" y="3822509"/>
              <a:ext cx="2095215" cy="402893"/>
            </a:xfrm>
            <a:prstGeom prst="line">
              <a:avLst/>
            </a:prstGeom>
            <a:ln>
              <a:headEnd type="arrow" w="med" len="med"/>
              <a:tailEnd type="arrow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2" name="Explosion 1 1"/>
          <p:cNvSpPr/>
          <p:nvPr/>
        </p:nvSpPr>
        <p:spPr>
          <a:xfrm>
            <a:off x="2438396" y="1981200"/>
            <a:ext cx="4495804" cy="2171700"/>
          </a:xfrm>
          <a:prstGeom prst="irregularSeal1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/>
              <a:t>HOW TO QUANTIFY?</a:t>
            </a:r>
          </a:p>
        </p:txBody>
      </p:sp>
    </p:spTree>
    <p:extLst>
      <p:ext uri="{BB962C8B-B14F-4D97-AF65-F5344CB8AC3E}">
        <p14:creationId xmlns:p14="http://schemas.microsoft.com/office/powerpoint/2010/main" val="2078083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The Correlation Coefficient</a:t>
            </a:r>
            <a:endParaRPr lang="en-GB" dirty="0"/>
          </a:p>
        </p:txBody>
      </p:sp>
      <p:grpSp>
        <p:nvGrpSpPr>
          <p:cNvPr id="10" name="Group 9"/>
          <p:cNvGrpSpPr/>
          <p:nvPr/>
        </p:nvGrpSpPr>
        <p:grpSpPr>
          <a:xfrm>
            <a:off x="1905000" y="1230868"/>
            <a:ext cx="1219200" cy="1377516"/>
            <a:chOff x="1752600" y="1230868"/>
            <a:chExt cx="1219200" cy="1377516"/>
          </a:xfrm>
        </p:grpSpPr>
        <p:grpSp>
          <p:nvGrpSpPr>
            <p:cNvPr id="3" name="Group 2"/>
            <p:cNvGrpSpPr/>
            <p:nvPr/>
          </p:nvGrpSpPr>
          <p:grpSpPr>
            <a:xfrm>
              <a:off x="1752600" y="1693984"/>
              <a:ext cx="1219200" cy="914400"/>
              <a:chOff x="2895600" y="2455984"/>
              <a:chExt cx="1219200" cy="914400"/>
            </a:xfrm>
          </p:grpSpPr>
          <p:sp>
            <p:nvSpPr>
              <p:cNvPr id="265221" name="Line 5"/>
              <p:cNvSpPr>
                <a:spLocks noChangeShapeType="1"/>
              </p:cNvSpPr>
              <p:nvPr/>
            </p:nvSpPr>
            <p:spPr bwMode="auto">
              <a:xfrm>
                <a:off x="2895600" y="2455984"/>
                <a:ext cx="0" cy="9144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5222" name="Line 6"/>
              <p:cNvSpPr>
                <a:spLocks noChangeShapeType="1"/>
              </p:cNvSpPr>
              <p:nvPr/>
            </p:nvSpPr>
            <p:spPr bwMode="auto">
              <a:xfrm>
                <a:off x="2895600" y="3352800"/>
                <a:ext cx="12192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23" name="Line 10"/>
            <p:cNvSpPr>
              <a:spLocks noChangeShapeType="1"/>
            </p:cNvSpPr>
            <p:nvPr/>
          </p:nvSpPr>
          <p:spPr bwMode="auto">
            <a:xfrm rot="653079" flipH="1">
              <a:off x="1936809" y="1897112"/>
              <a:ext cx="833999" cy="594109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/>
                <p:cNvSpPr txBox="1"/>
                <p:nvPr/>
              </p:nvSpPr>
              <p:spPr>
                <a:xfrm>
                  <a:off x="2057400" y="1230868"/>
                  <a:ext cx="78124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i="1" dirty="0" smtClean="0">
                            <a:latin typeface="Cambria Math"/>
                          </a:rPr>
                          <m:t>𝑟</m:t>
                        </m:r>
                        <m:r>
                          <a:rPr lang="en-GB" i="1" dirty="0" smtClean="0">
                            <a:latin typeface="Cambria Math"/>
                          </a:rPr>
                          <m:t>&gt;0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9" name="Text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7400" y="1230868"/>
                  <a:ext cx="781240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Group 10"/>
          <p:cNvGrpSpPr/>
          <p:nvPr/>
        </p:nvGrpSpPr>
        <p:grpSpPr>
          <a:xfrm>
            <a:off x="3886200" y="1219200"/>
            <a:ext cx="1219200" cy="1411651"/>
            <a:chOff x="3733800" y="1219200"/>
            <a:chExt cx="1219200" cy="1411651"/>
          </a:xfrm>
        </p:grpSpPr>
        <p:grpSp>
          <p:nvGrpSpPr>
            <p:cNvPr id="13" name="Group 12"/>
            <p:cNvGrpSpPr/>
            <p:nvPr/>
          </p:nvGrpSpPr>
          <p:grpSpPr>
            <a:xfrm>
              <a:off x="3733800" y="1716451"/>
              <a:ext cx="1219200" cy="914400"/>
              <a:chOff x="2895600" y="2455984"/>
              <a:chExt cx="1219200" cy="914400"/>
            </a:xfrm>
          </p:grpSpPr>
          <p:sp>
            <p:nvSpPr>
              <p:cNvPr id="14" name="Line 5"/>
              <p:cNvSpPr>
                <a:spLocks noChangeShapeType="1"/>
              </p:cNvSpPr>
              <p:nvPr/>
            </p:nvSpPr>
            <p:spPr bwMode="auto">
              <a:xfrm>
                <a:off x="2895600" y="2455984"/>
                <a:ext cx="0" cy="9144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5" name="Line 6"/>
              <p:cNvSpPr>
                <a:spLocks noChangeShapeType="1"/>
              </p:cNvSpPr>
              <p:nvPr/>
            </p:nvSpPr>
            <p:spPr bwMode="auto">
              <a:xfrm>
                <a:off x="2895600" y="3352800"/>
                <a:ext cx="12192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6" name="Line 7"/>
              <p:cNvSpPr>
                <a:spLocks noChangeShapeType="1"/>
              </p:cNvSpPr>
              <p:nvPr/>
            </p:nvSpPr>
            <p:spPr bwMode="auto">
              <a:xfrm rot="20946921">
                <a:off x="3045435" y="2698022"/>
                <a:ext cx="1028761" cy="197822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/>
                <p:cNvSpPr txBox="1"/>
                <p:nvPr/>
              </p:nvSpPr>
              <p:spPr>
                <a:xfrm>
                  <a:off x="4019360" y="1219200"/>
                  <a:ext cx="78124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i="1" dirty="0" smtClean="0">
                            <a:latin typeface="Cambria Math"/>
                          </a:rPr>
                          <m:t>𝑟</m:t>
                        </m:r>
                        <m:r>
                          <a:rPr lang="en-GB" i="1" dirty="0" smtClean="0">
                            <a:latin typeface="Cambria Math"/>
                            <a:ea typeface="Cambria Math"/>
                          </a:rPr>
                          <m:t>≅</m:t>
                        </m:r>
                        <m:r>
                          <a:rPr lang="en-GB" i="1" dirty="0" smtClean="0">
                            <a:latin typeface="Cambria Math"/>
                          </a:rPr>
                          <m:t>0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19360" y="1219200"/>
                  <a:ext cx="781240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Group 11"/>
          <p:cNvGrpSpPr/>
          <p:nvPr/>
        </p:nvGrpSpPr>
        <p:grpSpPr>
          <a:xfrm>
            <a:off x="5858608" y="1230868"/>
            <a:ext cx="1227992" cy="1399983"/>
            <a:chOff x="5706208" y="1230868"/>
            <a:chExt cx="1227992" cy="1399983"/>
          </a:xfrm>
        </p:grpSpPr>
        <p:grpSp>
          <p:nvGrpSpPr>
            <p:cNvPr id="2" name="Group 1"/>
            <p:cNvGrpSpPr/>
            <p:nvPr/>
          </p:nvGrpSpPr>
          <p:grpSpPr>
            <a:xfrm>
              <a:off x="5706208" y="1716451"/>
              <a:ext cx="1227992" cy="914400"/>
              <a:chOff x="2963008" y="4513384"/>
              <a:chExt cx="1227992" cy="914400"/>
            </a:xfrm>
          </p:grpSpPr>
          <p:sp>
            <p:nvSpPr>
              <p:cNvPr id="265224" name="Line 8"/>
              <p:cNvSpPr>
                <a:spLocks noChangeShapeType="1"/>
              </p:cNvSpPr>
              <p:nvPr/>
            </p:nvSpPr>
            <p:spPr bwMode="auto">
              <a:xfrm>
                <a:off x="2971800" y="4513384"/>
                <a:ext cx="0" cy="9144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5225" name="Line 9"/>
              <p:cNvSpPr>
                <a:spLocks noChangeShapeType="1"/>
              </p:cNvSpPr>
              <p:nvPr/>
            </p:nvSpPr>
            <p:spPr bwMode="auto">
              <a:xfrm>
                <a:off x="2963008" y="5410200"/>
                <a:ext cx="12192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5226" name="Line 10"/>
              <p:cNvSpPr>
                <a:spLocks noChangeShapeType="1"/>
              </p:cNvSpPr>
              <p:nvPr/>
            </p:nvSpPr>
            <p:spPr bwMode="auto">
              <a:xfrm rot="653079" flipH="1" flipV="1">
                <a:off x="3124200" y="4876800"/>
                <a:ext cx="1066800" cy="228600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/>
                <p:cNvSpPr txBox="1"/>
                <p:nvPr/>
              </p:nvSpPr>
              <p:spPr>
                <a:xfrm>
                  <a:off x="6000560" y="1230868"/>
                  <a:ext cx="78124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i="1" dirty="0" smtClean="0">
                            <a:latin typeface="Cambria Math"/>
                          </a:rPr>
                          <m:t>𝑟</m:t>
                        </m:r>
                        <m:r>
                          <a:rPr lang="en-GB" b="0" i="1" dirty="0" smtClean="0">
                            <a:latin typeface="Cambria Math"/>
                          </a:rPr>
                          <m:t>&lt;</m:t>
                        </m:r>
                        <m:r>
                          <a:rPr lang="en-GB" i="1" dirty="0" smtClean="0">
                            <a:latin typeface="Cambria Math"/>
                          </a:rPr>
                          <m:t>0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26" name="Text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0560" y="1230868"/>
                  <a:ext cx="781240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7" name="Rectangle 16"/>
          <p:cNvSpPr/>
          <p:nvPr/>
        </p:nvSpPr>
        <p:spPr>
          <a:xfrm>
            <a:off x="502220" y="3048000"/>
            <a:ext cx="71939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altLang="en-US" dirty="0"/>
              <a:t>The correlation coefficient lets us </a:t>
            </a:r>
            <a:r>
              <a:rPr lang="en-GB" altLang="en-US" b="1" dirty="0"/>
              <a:t>measure the sign and strength </a:t>
            </a:r>
            <a:r>
              <a:rPr lang="en-GB" altLang="en-US" dirty="0"/>
              <a:t>of the relationship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502220" y="4059115"/>
                <a:ext cx="6965380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altLang="en-US" dirty="0"/>
                  <a:t>And can be used to measure the </a:t>
                </a:r>
                <a:r>
                  <a:rPr lang="en-GB" altLang="en-US" b="1" dirty="0"/>
                  <a:t>significance of relationship </a:t>
                </a:r>
                <a:r>
                  <a:rPr lang="en-GB" altLang="en-US" dirty="0"/>
                  <a:t>for given number of samples (i.e. </a:t>
                </a:r>
                <a14:m>
                  <m:oMath xmlns:m="http://schemas.openxmlformats.org/officeDocument/2006/math">
                    <m:r>
                      <a:rPr lang="en-GB" altLang="en-US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GB" altLang="en-US" dirty="0"/>
                  <a:t>).</a:t>
                </a:r>
                <a:endParaRPr lang="en-GB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220" y="4059115"/>
                <a:ext cx="6965380" cy="646331"/>
              </a:xfrm>
              <a:prstGeom prst="rect">
                <a:avLst/>
              </a:prstGeom>
              <a:blipFill rotWithShape="1">
                <a:blip r:embed="rId6"/>
                <a:stretch>
                  <a:fillRect l="-700" t="-4717" b="-14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30576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The Correlation Coefficient</a:t>
            </a:r>
            <a:endParaRPr lang="en-GB" dirty="0"/>
          </a:p>
        </p:txBody>
      </p:sp>
      <p:graphicFrame>
        <p:nvGraphicFramePr>
          <p:cNvPr id="3" name="Chart 2"/>
          <p:cNvGraphicFramePr>
            <a:graphicFrameLocks/>
          </p:cNvGraphicFramePr>
          <p:nvPr/>
        </p:nvGraphicFramePr>
        <p:xfrm>
          <a:off x="1752600" y="1600200"/>
          <a:ext cx="5638800" cy="3276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304800" y="714345"/>
            <a:ext cx="203978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GB" altLang="en-US" sz="2000" dirty="0"/>
              <a:t>How to calculate?</a:t>
            </a:r>
          </a:p>
        </p:txBody>
      </p:sp>
      <p:graphicFrame>
        <p:nvGraphicFramePr>
          <p:cNvPr id="15" name="Chart 14"/>
          <p:cNvGraphicFramePr/>
          <p:nvPr/>
        </p:nvGraphicFramePr>
        <p:xfrm>
          <a:off x="1916722" y="3505199"/>
          <a:ext cx="5474677" cy="8030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6" name="Chart 15"/>
          <p:cNvGraphicFramePr/>
          <p:nvPr/>
        </p:nvGraphicFramePr>
        <p:xfrm>
          <a:off x="2074984" y="1644161"/>
          <a:ext cx="1157653" cy="26552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pSp>
        <p:nvGrpSpPr>
          <p:cNvPr id="36" name="Group 35"/>
          <p:cNvGrpSpPr/>
          <p:nvPr/>
        </p:nvGrpSpPr>
        <p:grpSpPr>
          <a:xfrm>
            <a:off x="2286000" y="1752600"/>
            <a:ext cx="4343400" cy="3341132"/>
            <a:chOff x="2286000" y="1752600"/>
            <a:chExt cx="4343400" cy="3341132"/>
          </a:xfrm>
        </p:grpSpPr>
        <p:grpSp>
          <p:nvGrpSpPr>
            <p:cNvPr id="29" name="Group 28"/>
            <p:cNvGrpSpPr/>
            <p:nvPr/>
          </p:nvGrpSpPr>
          <p:grpSpPr>
            <a:xfrm>
              <a:off x="2286000" y="1752600"/>
              <a:ext cx="4343400" cy="2971800"/>
              <a:chOff x="2286000" y="1752600"/>
              <a:chExt cx="4343400" cy="2971800"/>
            </a:xfrm>
          </p:grpSpPr>
          <p:cxnSp>
            <p:nvCxnSpPr>
              <p:cNvPr id="18" name="Straight Arrow Connector 17"/>
              <p:cNvCxnSpPr/>
              <p:nvPr/>
            </p:nvCxnSpPr>
            <p:spPr>
              <a:xfrm>
                <a:off x="2286000" y="4495800"/>
                <a:ext cx="4343400" cy="0"/>
              </a:xfrm>
              <a:prstGeom prst="straightConnector1">
                <a:avLst/>
              </a:prstGeom>
              <a:ln>
                <a:headEnd type="arrow"/>
                <a:tailEnd type="arrow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 flipV="1">
                <a:off x="4267200" y="1752600"/>
                <a:ext cx="0" cy="29718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/>
                <p:cNvSpPr txBox="1"/>
                <p:nvPr/>
              </p:nvSpPr>
              <p:spPr>
                <a:xfrm>
                  <a:off x="4083207" y="4724400"/>
                  <a:ext cx="367986" cy="369332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b="0" i="1" smtClean="0">
                                <a:latin typeface="Cambria Math"/>
                              </a:rPr>
                              <m:t>𝑥</m:t>
                            </m:r>
                          </m:e>
                        </m:acc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30" name="TextBox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83207" y="4724400"/>
                  <a:ext cx="367986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r="-17188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7" name="Group 36"/>
          <p:cNvGrpSpPr/>
          <p:nvPr/>
        </p:nvGrpSpPr>
        <p:grpSpPr>
          <a:xfrm>
            <a:off x="1156014" y="1981200"/>
            <a:ext cx="5854386" cy="2286000"/>
            <a:chOff x="1156014" y="1981200"/>
            <a:chExt cx="5854386" cy="2286000"/>
          </a:xfrm>
        </p:grpSpPr>
        <p:grpSp>
          <p:nvGrpSpPr>
            <p:cNvPr id="28" name="Group 27"/>
            <p:cNvGrpSpPr/>
            <p:nvPr/>
          </p:nvGrpSpPr>
          <p:grpSpPr>
            <a:xfrm>
              <a:off x="1524000" y="1981200"/>
              <a:ext cx="5486400" cy="2286000"/>
              <a:chOff x="1524000" y="1981200"/>
              <a:chExt cx="5486400" cy="2286000"/>
            </a:xfrm>
          </p:grpSpPr>
          <p:cxnSp>
            <p:nvCxnSpPr>
              <p:cNvPr id="20" name="Straight Arrow Connector 19"/>
              <p:cNvCxnSpPr/>
              <p:nvPr/>
            </p:nvCxnSpPr>
            <p:spPr>
              <a:xfrm flipV="1">
                <a:off x="1828800" y="1981200"/>
                <a:ext cx="0" cy="2286000"/>
              </a:xfrm>
              <a:prstGeom prst="straightConnector1">
                <a:avLst/>
              </a:prstGeom>
              <a:ln>
                <a:headEnd type="arrow"/>
                <a:tailEnd type="arrow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>
              <a:xfrm>
                <a:off x="1524000" y="2971800"/>
                <a:ext cx="5486400" cy="0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/>
                <p:cNvSpPr txBox="1"/>
                <p:nvPr/>
              </p:nvSpPr>
              <p:spPr>
                <a:xfrm>
                  <a:off x="1156014" y="2787134"/>
                  <a:ext cx="371384" cy="369332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b="0" i="1" smtClean="0">
                                <a:latin typeface="Cambria Math"/>
                              </a:rPr>
                              <m:t>𝑦</m:t>
                            </m:r>
                          </m:e>
                        </m:acc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31" name="TextBox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6014" y="2787134"/>
                  <a:ext cx="371384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b="-1538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Group 34"/>
          <p:cNvGrpSpPr/>
          <p:nvPr/>
        </p:nvGrpSpPr>
        <p:grpSpPr>
          <a:xfrm>
            <a:off x="3276600" y="2286000"/>
            <a:ext cx="940776" cy="647644"/>
            <a:chOff x="3276600" y="2286000"/>
            <a:chExt cx="940776" cy="64764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/>
                <p:cNvSpPr txBox="1"/>
                <p:nvPr/>
              </p:nvSpPr>
              <p:spPr>
                <a:xfrm>
                  <a:off x="3276600" y="2286000"/>
                  <a:ext cx="779957" cy="369332"/>
                </a:xfrm>
                <a:prstGeom prst="rect">
                  <a:avLst/>
                </a:prstGeom>
                <a:solidFill>
                  <a:schemeClr val="bg2"/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GB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n-GB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GB" b="1" i="1">
                                    <a:latin typeface="Cambria Math"/>
                                  </a:rPr>
                                  <m:t>𝒙</m:t>
                                </m:r>
                              </m:e>
                            </m:acc>
                            <m:r>
                              <a:rPr lang="en-GB" b="1" i="1">
                                <a:latin typeface="Cambria Math"/>
                              </a:rPr>
                              <m:t>,</m:t>
                            </m:r>
                            <m:acc>
                              <m:accPr>
                                <m:chr m:val="̅"/>
                                <m:ctrlPr>
                                  <a:rPr lang="en-GB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GB" b="1" i="1">
                                    <a:latin typeface="Cambria Math"/>
                                  </a:rPr>
                                  <m:t>𝒚</m:t>
                                </m:r>
                              </m:e>
                            </m:acc>
                          </m:e>
                        </m:d>
                      </m:oMath>
                    </m:oMathPara>
                  </a14:m>
                  <a:endParaRPr lang="en-GB" b="1" dirty="0"/>
                </a:p>
              </p:txBody>
            </p:sp>
          </mc:Choice>
          <mc:Fallback xmlns="">
            <p:sp>
              <p:nvSpPr>
                <p:cNvPr id="32" name="TextBox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76600" y="2286000"/>
                  <a:ext cx="779957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r="-28346" b="-4918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" name="Straight Arrow Connector 33"/>
            <p:cNvCxnSpPr/>
            <p:nvPr/>
          </p:nvCxnSpPr>
          <p:spPr>
            <a:xfrm>
              <a:off x="3912576" y="2617176"/>
              <a:ext cx="304800" cy="31646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ounded Rectangular Callout 40"/>
              <p:cNvSpPr/>
              <p:nvPr/>
            </p:nvSpPr>
            <p:spPr>
              <a:xfrm>
                <a:off x="5181600" y="838197"/>
                <a:ext cx="3429000" cy="914403"/>
              </a:xfrm>
              <a:prstGeom prst="wedgeRoundRectCallout">
                <a:avLst>
                  <a:gd name="adj1" fmla="val -23939"/>
                  <a:gd name="adj2" fmla="val 113334"/>
                  <a:gd name="adj3" fmla="val 16667"/>
                </a:avLst>
              </a:prstGeom>
              <a:solidFill>
                <a:schemeClr val="accent3">
                  <a:lumMod val="75000"/>
                </a:schemeClr>
              </a:solidFill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d>
                      <m:d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1" i="1">
                            <a:latin typeface="Cambria Math"/>
                          </a:rPr>
                          <m:t>𝒙</m:t>
                        </m:r>
                        <m:r>
                          <a:rPr lang="en-GB" b="1" i="1">
                            <a:latin typeface="Cambria Math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GB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b="1" i="1">
                                <a:latin typeface="Cambria Math"/>
                              </a:rPr>
                              <m:t>𝒙</m:t>
                            </m:r>
                          </m:e>
                        </m:acc>
                        <m:r>
                          <a:rPr lang="en-GB" b="1" i="1">
                            <a:latin typeface="Cambria Math"/>
                          </a:rPr>
                          <m:t>&gt;</m:t>
                        </m:r>
                        <m:r>
                          <a:rPr lang="en-GB" b="1" i="1">
                            <a:latin typeface="Cambria Math"/>
                          </a:rPr>
                          <m:t>𝟎</m:t>
                        </m:r>
                      </m:e>
                    </m:d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1" i="1">
                            <a:latin typeface="Cambria Math"/>
                          </a:rPr>
                          <m:t>𝒚</m:t>
                        </m:r>
                        <m:r>
                          <a:rPr lang="en-GB" b="1" i="1">
                            <a:latin typeface="Cambria Math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GB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b="1" i="1">
                                <a:latin typeface="Cambria Math"/>
                              </a:rPr>
                              <m:t>𝒚</m:t>
                            </m:r>
                          </m:e>
                        </m:acc>
                        <m:r>
                          <a:rPr lang="en-GB" b="1" i="1">
                            <a:latin typeface="Cambria Math"/>
                          </a:rPr>
                          <m:t>&gt;</m:t>
                        </m:r>
                        <m:r>
                          <a:rPr lang="en-GB" b="1" i="1">
                            <a:latin typeface="Cambria Math"/>
                          </a:rPr>
                          <m:t>𝟎</m:t>
                        </m:r>
                      </m:e>
                    </m:d>
                  </m:oMath>
                </a14:m>
                <a:endParaRPr lang="en-GB" dirty="0"/>
              </a:p>
              <a:p>
                <a:pPr algn="ctr"/>
                <a:r>
                  <a:rPr lang="en-GB" sz="1400" dirty="0"/>
                  <a:t>Therefore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1" i="1">
                            <a:latin typeface="Cambria Math"/>
                          </a:rPr>
                          <m:t>𝒙</m:t>
                        </m:r>
                        <m:r>
                          <a:rPr lang="en-GB" sz="1400" b="1" i="1">
                            <a:latin typeface="Cambria Math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GB" sz="1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1400" b="1" i="1">
                                <a:latin typeface="Cambria Math"/>
                              </a:rPr>
                              <m:t>𝒙</m:t>
                            </m:r>
                          </m:e>
                        </m:acc>
                      </m:e>
                    </m:d>
                    <m:d>
                      <m:dPr>
                        <m:ctrlPr>
                          <a:rPr lang="en-GB" sz="1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1" i="1">
                            <a:latin typeface="Cambria Math"/>
                          </a:rPr>
                          <m:t>𝒚</m:t>
                        </m:r>
                        <m:r>
                          <a:rPr lang="en-GB" sz="1400" b="1" i="1">
                            <a:latin typeface="Cambria Math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GB" sz="1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1400" b="1" i="1">
                                <a:latin typeface="Cambria Math"/>
                              </a:rPr>
                              <m:t>𝒚</m:t>
                            </m:r>
                          </m:e>
                        </m:acc>
                      </m:e>
                    </m:d>
                    <m:r>
                      <a:rPr lang="en-GB" sz="1400" b="1" i="1" smtClean="0">
                        <a:latin typeface="Cambria Math"/>
                      </a:rPr>
                      <m:t>&gt;</m:t>
                    </m:r>
                    <m:r>
                      <a:rPr lang="en-GB" sz="1400" b="1" i="1" smtClean="0">
                        <a:latin typeface="Cambria Math"/>
                      </a:rPr>
                      <m:t>𝟎</m:t>
                    </m:r>
                  </m:oMath>
                </a14:m>
                <a:endParaRPr lang="en-GB" sz="1400" dirty="0"/>
              </a:p>
            </p:txBody>
          </p:sp>
        </mc:Choice>
        <mc:Fallback xmlns="">
          <p:sp>
            <p:nvSpPr>
              <p:cNvPr id="41" name="Rounded Rectangular Callout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1600" y="838197"/>
                <a:ext cx="3429000" cy="914403"/>
              </a:xfrm>
              <a:prstGeom prst="wedgeRoundRectCallout">
                <a:avLst>
                  <a:gd name="adj1" fmla="val -23939"/>
                  <a:gd name="adj2" fmla="val 113334"/>
                  <a:gd name="adj3" fmla="val 16667"/>
                </a:avLst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ounded Rectangular Callout 43"/>
              <p:cNvSpPr/>
              <p:nvPr/>
            </p:nvSpPr>
            <p:spPr>
              <a:xfrm>
                <a:off x="152400" y="4451864"/>
                <a:ext cx="3429000" cy="914403"/>
              </a:xfrm>
              <a:prstGeom prst="wedgeRoundRectCallout">
                <a:avLst>
                  <a:gd name="adj1" fmla="val 26830"/>
                  <a:gd name="adj2" fmla="val -128972"/>
                  <a:gd name="adj3" fmla="val 16667"/>
                </a:avLst>
              </a:prstGeom>
              <a:solidFill>
                <a:schemeClr val="accent3">
                  <a:lumMod val="75000"/>
                </a:schemeClr>
              </a:solidFill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d>
                      <m:d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1" i="1">
                            <a:latin typeface="Cambria Math"/>
                          </a:rPr>
                          <m:t>𝒙</m:t>
                        </m:r>
                        <m:r>
                          <a:rPr lang="en-GB" b="1" i="1">
                            <a:latin typeface="Cambria Math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GB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b="1" i="1">
                                <a:latin typeface="Cambria Math"/>
                              </a:rPr>
                              <m:t>𝒙</m:t>
                            </m:r>
                          </m:e>
                        </m:acc>
                        <m:r>
                          <a:rPr lang="en-GB" b="1" i="1" smtClean="0">
                            <a:latin typeface="Cambria Math"/>
                          </a:rPr>
                          <m:t>&lt;</m:t>
                        </m:r>
                        <m:r>
                          <a:rPr lang="en-GB" b="1" i="1">
                            <a:latin typeface="Cambria Math"/>
                          </a:rPr>
                          <m:t>𝟎</m:t>
                        </m:r>
                      </m:e>
                    </m:d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1" i="1">
                            <a:latin typeface="Cambria Math"/>
                          </a:rPr>
                          <m:t>𝒚</m:t>
                        </m:r>
                        <m:r>
                          <a:rPr lang="en-GB" b="1" i="1">
                            <a:latin typeface="Cambria Math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GB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b="1" i="1">
                                <a:latin typeface="Cambria Math"/>
                              </a:rPr>
                              <m:t>𝒚</m:t>
                            </m:r>
                          </m:e>
                        </m:acc>
                        <m:r>
                          <a:rPr lang="en-GB" b="1" i="1" smtClean="0">
                            <a:latin typeface="Cambria Math"/>
                          </a:rPr>
                          <m:t>&lt;</m:t>
                        </m:r>
                        <m:r>
                          <a:rPr lang="en-GB" b="1" i="1">
                            <a:latin typeface="Cambria Math"/>
                          </a:rPr>
                          <m:t>𝟎</m:t>
                        </m:r>
                      </m:e>
                    </m:d>
                  </m:oMath>
                </a14:m>
                <a:endParaRPr lang="en-GB" dirty="0"/>
              </a:p>
              <a:p>
                <a:pPr algn="ctr"/>
                <a:r>
                  <a:rPr lang="en-GB" sz="1400" dirty="0"/>
                  <a:t>Therefore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1" i="1">
                            <a:latin typeface="Cambria Math"/>
                          </a:rPr>
                          <m:t>𝒙</m:t>
                        </m:r>
                        <m:r>
                          <a:rPr lang="en-GB" sz="1400" b="1" i="1">
                            <a:latin typeface="Cambria Math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GB" sz="1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1400" b="1" i="1">
                                <a:latin typeface="Cambria Math"/>
                              </a:rPr>
                              <m:t>𝒙</m:t>
                            </m:r>
                          </m:e>
                        </m:acc>
                      </m:e>
                    </m:d>
                    <m:d>
                      <m:dPr>
                        <m:ctrlPr>
                          <a:rPr lang="en-GB" sz="1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1" i="1">
                            <a:latin typeface="Cambria Math"/>
                          </a:rPr>
                          <m:t>𝒚</m:t>
                        </m:r>
                        <m:r>
                          <a:rPr lang="en-GB" sz="1400" b="1" i="1">
                            <a:latin typeface="Cambria Math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GB" sz="1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1400" b="1" i="1">
                                <a:latin typeface="Cambria Math"/>
                              </a:rPr>
                              <m:t>𝒚</m:t>
                            </m:r>
                          </m:e>
                        </m:acc>
                      </m:e>
                    </m:d>
                    <m:r>
                      <a:rPr lang="en-GB" sz="1400" b="1" i="1" smtClean="0">
                        <a:latin typeface="Cambria Math"/>
                      </a:rPr>
                      <m:t>&gt;</m:t>
                    </m:r>
                    <m:r>
                      <a:rPr lang="en-GB" sz="1400" b="1" i="1" smtClean="0">
                        <a:latin typeface="Cambria Math"/>
                      </a:rPr>
                      <m:t>𝟎</m:t>
                    </m:r>
                  </m:oMath>
                </a14:m>
                <a:endParaRPr lang="en-GB" sz="1400" dirty="0"/>
              </a:p>
            </p:txBody>
          </p:sp>
        </mc:Choice>
        <mc:Fallback xmlns="">
          <p:sp>
            <p:nvSpPr>
              <p:cNvPr id="44" name="Rounded Rectangular Callout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4451864"/>
                <a:ext cx="3429000" cy="914403"/>
              </a:xfrm>
              <a:prstGeom prst="wedgeRoundRectCallout">
                <a:avLst>
                  <a:gd name="adj1" fmla="val 26830"/>
                  <a:gd name="adj2" fmla="val -128972"/>
                  <a:gd name="adj3" fmla="val 16667"/>
                </a:avLst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ounded Rectangular Callout 45"/>
              <p:cNvSpPr/>
              <p:nvPr/>
            </p:nvSpPr>
            <p:spPr>
              <a:xfrm>
                <a:off x="533400" y="1263125"/>
                <a:ext cx="1752600" cy="457202"/>
              </a:xfrm>
              <a:prstGeom prst="wedgeRoundRectCallout">
                <a:avLst>
                  <a:gd name="adj1" fmla="val 89815"/>
                  <a:gd name="adj2" fmla="val 274873"/>
                  <a:gd name="adj3" fmla="val 16667"/>
                </a:avLst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1" i="1">
                              <a:latin typeface="Cambria Math"/>
                            </a:rPr>
                            <m:t>𝒙</m:t>
                          </m:r>
                          <m:r>
                            <a:rPr lang="en-GB" sz="1400" b="1" i="1">
                              <a:latin typeface="Cambria Math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GB" sz="14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1400" b="1" i="1">
                                  <a:latin typeface="Cambria Math"/>
                                </a:rPr>
                                <m:t>𝒙</m:t>
                              </m:r>
                            </m:e>
                          </m:acc>
                        </m:e>
                      </m:d>
                      <m:d>
                        <m:dPr>
                          <m:ctrlPr>
                            <a:rPr lang="en-GB" sz="1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1" i="1">
                              <a:latin typeface="Cambria Math"/>
                            </a:rPr>
                            <m:t>𝒚</m:t>
                          </m:r>
                          <m:r>
                            <a:rPr lang="en-GB" sz="1400" b="1" i="1">
                              <a:latin typeface="Cambria Math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GB" sz="14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1400" b="1" i="1">
                                  <a:latin typeface="Cambria Math"/>
                                </a:rPr>
                                <m:t>𝒚</m:t>
                              </m:r>
                            </m:e>
                          </m:acc>
                        </m:e>
                      </m:d>
                      <m:r>
                        <a:rPr lang="en-GB" sz="1400" b="1" i="1" smtClean="0">
                          <a:latin typeface="Cambria Math"/>
                        </a:rPr>
                        <m:t>&lt;</m:t>
                      </m:r>
                      <m:r>
                        <a:rPr lang="en-GB" sz="1400" b="1" i="1" smtClean="0">
                          <a:latin typeface="Cambria Math"/>
                        </a:rPr>
                        <m:t>𝟎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46" name="Rounded Rectangular Callout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1263125"/>
                <a:ext cx="1752600" cy="457202"/>
              </a:xfrm>
              <a:prstGeom prst="wedgeRoundRectCallout">
                <a:avLst>
                  <a:gd name="adj1" fmla="val 89815"/>
                  <a:gd name="adj2" fmla="val 274873"/>
                  <a:gd name="adj3" fmla="val 16667"/>
                </a:avLst>
              </a:prstGeom>
              <a:blipFill rotWithShape="1">
                <a:blip r:embed="rId11"/>
                <a:stretch>
                  <a:fillRect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ounded Rectangular Callout 46"/>
              <p:cNvSpPr/>
              <p:nvPr/>
            </p:nvSpPr>
            <p:spPr>
              <a:xfrm>
                <a:off x="7010400" y="3581400"/>
                <a:ext cx="1752600" cy="457202"/>
              </a:xfrm>
              <a:prstGeom prst="wedgeRoundRectCallout">
                <a:avLst>
                  <a:gd name="adj1" fmla="val -190118"/>
                  <a:gd name="adj2" fmla="val -138587"/>
                  <a:gd name="adj3" fmla="val 16667"/>
                </a:avLst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1" i="1">
                              <a:latin typeface="Cambria Math"/>
                            </a:rPr>
                            <m:t>𝒙</m:t>
                          </m:r>
                          <m:r>
                            <a:rPr lang="en-GB" sz="1400" b="1" i="1">
                              <a:latin typeface="Cambria Math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GB" sz="14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1400" b="1" i="1">
                                  <a:latin typeface="Cambria Math"/>
                                </a:rPr>
                                <m:t>𝒙</m:t>
                              </m:r>
                            </m:e>
                          </m:acc>
                        </m:e>
                      </m:d>
                      <m:d>
                        <m:dPr>
                          <m:ctrlPr>
                            <a:rPr lang="en-GB" sz="1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1" i="1">
                              <a:latin typeface="Cambria Math"/>
                            </a:rPr>
                            <m:t>𝒚</m:t>
                          </m:r>
                          <m:r>
                            <a:rPr lang="en-GB" sz="1400" b="1" i="1">
                              <a:latin typeface="Cambria Math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GB" sz="14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1400" b="1" i="1">
                                  <a:latin typeface="Cambria Math"/>
                                </a:rPr>
                                <m:t>𝒚</m:t>
                              </m:r>
                            </m:e>
                          </m:acc>
                        </m:e>
                      </m:d>
                      <m:r>
                        <a:rPr lang="en-GB" sz="1400" b="1" i="1" smtClean="0">
                          <a:latin typeface="Cambria Math"/>
                        </a:rPr>
                        <m:t>&lt;</m:t>
                      </m:r>
                      <m:r>
                        <a:rPr lang="en-GB" sz="1400" b="1" i="1" smtClean="0">
                          <a:latin typeface="Cambria Math"/>
                        </a:rPr>
                        <m:t>𝟎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47" name="Rounded Rectangular Callout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0400" y="3581400"/>
                <a:ext cx="1752600" cy="457202"/>
              </a:xfrm>
              <a:prstGeom prst="wedgeRoundRectCallout">
                <a:avLst>
                  <a:gd name="adj1" fmla="val -190118"/>
                  <a:gd name="adj2" fmla="val -138587"/>
                  <a:gd name="adj3" fmla="val 16667"/>
                </a:avLst>
              </a:prstGeom>
              <a:blipFill rotWithShape="1">
                <a:blip r:embed="rId12"/>
                <a:stretch>
                  <a:fillRect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7982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5" grpId="0">
        <p:bldAsOne/>
      </p:bldGraphic>
      <p:bldGraphic spid="16" grpId="0">
        <p:bldAsOne/>
      </p:bldGraphic>
      <p:bldP spid="41" grpId="0" animBg="1"/>
      <p:bldP spid="44" grpId="0" animBg="1"/>
      <p:bldP spid="46" grpId="0" animBg="1"/>
      <p:bldP spid="4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Question 2</a:t>
            </a:r>
            <a:endParaRPr lang="en-GB" dirty="0"/>
          </a:p>
        </p:txBody>
      </p:sp>
      <p:grpSp>
        <p:nvGrpSpPr>
          <p:cNvPr id="10" name="Group 9"/>
          <p:cNvGrpSpPr/>
          <p:nvPr/>
        </p:nvGrpSpPr>
        <p:grpSpPr>
          <a:xfrm>
            <a:off x="1905000" y="1230868"/>
            <a:ext cx="1219200" cy="1377516"/>
            <a:chOff x="1752600" y="1230868"/>
            <a:chExt cx="1219200" cy="1377516"/>
          </a:xfrm>
        </p:grpSpPr>
        <p:grpSp>
          <p:nvGrpSpPr>
            <p:cNvPr id="3" name="Group 2"/>
            <p:cNvGrpSpPr/>
            <p:nvPr/>
          </p:nvGrpSpPr>
          <p:grpSpPr>
            <a:xfrm>
              <a:off x="1752600" y="1693984"/>
              <a:ext cx="1219200" cy="914400"/>
              <a:chOff x="2895600" y="2455984"/>
              <a:chExt cx="1219200" cy="914400"/>
            </a:xfrm>
          </p:grpSpPr>
          <p:sp>
            <p:nvSpPr>
              <p:cNvPr id="265221" name="Line 5"/>
              <p:cNvSpPr>
                <a:spLocks noChangeShapeType="1"/>
              </p:cNvSpPr>
              <p:nvPr/>
            </p:nvSpPr>
            <p:spPr bwMode="auto">
              <a:xfrm>
                <a:off x="2895600" y="2455984"/>
                <a:ext cx="0" cy="9144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5222" name="Line 6"/>
              <p:cNvSpPr>
                <a:spLocks noChangeShapeType="1"/>
              </p:cNvSpPr>
              <p:nvPr/>
            </p:nvSpPr>
            <p:spPr bwMode="auto">
              <a:xfrm>
                <a:off x="2895600" y="3352800"/>
                <a:ext cx="12192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23" name="Line 10"/>
            <p:cNvSpPr>
              <a:spLocks noChangeShapeType="1"/>
            </p:cNvSpPr>
            <p:nvPr/>
          </p:nvSpPr>
          <p:spPr bwMode="auto">
            <a:xfrm rot="653079" flipH="1">
              <a:off x="1936809" y="1897112"/>
              <a:ext cx="833999" cy="594109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TextBox 8"/>
                <p:cNvSpPr txBox="1"/>
                <p:nvPr/>
              </p:nvSpPr>
              <p:spPr>
                <a:xfrm>
                  <a:off x="1752600" y="1230868"/>
                  <a:ext cx="56380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>
            <p:sp>
              <p:nvSpPr>
                <p:cNvPr id="9" name="Text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2600" y="1230868"/>
                  <a:ext cx="563809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11475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Group 10"/>
          <p:cNvGrpSpPr/>
          <p:nvPr/>
        </p:nvGrpSpPr>
        <p:grpSpPr>
          <a:xfrm>
            <a:off x="3886200" y="1219200"/>
            <a:ext cx="1219200" cy="1411651"/>
            <a:chOff x="3733800" y="1219200"/>
            <a:chExt cx="1219200" cy="1411651"/>
          </a:xfrm>
        </p:grpSpPr>
        <p:grpSp>
          <p:nvGrpSpPr>
            <p:cNvPr id="13" name="Group 12"/>
            <p:cNvGrpSpPr/>
            <p:nvPr/>
          </p:nvGrpSpPr>
          <p:grpSpPr>
            <a:xfrm>
              <a:off x="3733800" y="1716451"/>
              <a:ext cx="1219200" cy="914400"/>
              <a:chOff x="2895600" y="2455984"/>
              <a:chExt cx="1219200" cy="914400"/>
            </a:xfrm>
          </p:grpSpPr>
          <p:sp>
            <p:nvSpPr>
              <p:cNvPr id="14" name="Line 5"/>
              <p:cNvSpPr>
                <a:spLocks noChangeShapeType="1"/>
              </p:cNvSpPr>
              <p:nvPr/>
            </p:nvSpPr>
            <p:spPr bwMode="auto">
              <a:xfrm>
                <a:off x="2895600" y="2455984"/>
                <a:ext cx="0" cy="9144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5" name="Line 6"/>
              <p:cNvSpPr>
                <a:spLocks noChangeShapeType="1"/>
              </p:cNvSpPr>
              <p:nvPr/>
            </p:nvSpPr>
            <p:spPr bwMode="auto">
              <a:xfrm>
                <a:off x="2895600" y="3352800"/>
                <a:ext cx="12192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6" name="Line 7"/>
              <p:cNvSpPr>
                <a:spLocks noChangeShapeType="1"/>
              </p:cNvSpPr>
              <p:nvPr/>
            </p:nvSpPr>
            <p:spPr bwMode="auto">
              <a:xfrm rot="20946921">
                <a:off x="3045435" y="2698022"/>
                <a:ext cx="1028761" cy="197822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TextBox 24"/>
                <p:cNvSpPr txBox="1"/>
                <p:nvPr/>
              </p:nvSpPr>
              <p:spPr>
                <a:xfrm>
                  <a:off x="3785234" y="1219200"/>
                  <a:ext cx="55816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85234" y="1219200"/>
                  <a:ext cx="558166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11475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Group 11"/>
          <p:cNvGrpSpPr/>
          <p:nvPr/>
        </p:nvGrpSpPr>
        <p:grpSpPr>
          <a:xfrm>
            <a:off x="5858608" y="1230868"/>
            <a:ext cx="1227992" cy="1399983"/>
            <a:chOff x="5706208" y="1230868"/>
            <a:chExt cx="1227992" cy="1399983"/>
          </a:xfrm>
        </p:grpSpPr>
        <p:grpSp>
          <p:nvGrpSpPr>
            <p:cNvPr id="2" name="Group 1"/>
            <p:cNvGrpSpPr/>
            <p:nvPr/>
          </p:nvGrpSpPr>
          <p:grpSpPr>
            <a:xfrm>
              <a:off x="5706208" y="1716451"/>
              <a:ext cx="1227992" cy="914400"/>
              <a:chOff x="2963008" y="4513384"/>
              <a:chExt cx="1227992" cy="914400"/>
            </a:xfrm>
          </p:grpSpPr>
          <p:sp>
            <p:nvSpPr>
              <p:cNvPr id="265224" name="Line 8"/>
              <p:cNvSpPr>
                <a:spLocks noChangeShapeType="1"/>
              </p:cNvSpPr>
              <p:nvPr/>
            </p:nvSpPr>
            <p:spPr bwMode="auto">
              <a:xfrm>
                <a:off x="2971800" y="4513384"/>
                <a:ext cx="0" cy="9144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5225" name="Line 9"/>
              <p:cNvSpPr>
                <a:spLocks noChangeShapeType="1"/>
              </p:cNvSpPr>
              <p:nvPr/>
            </p:nvSpPr>
            <p:spPr bwMode="auto">
              <a:xfrm>
                <a:off x="2963008" y="5410200"/>
                <a:ext cx="12192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5226" name="Line 10"/>
              <p:cNvSpPr>
                <a:spLocks noChangeShapeType="1"/>
              </p:cNvSpPr>
              <p:nvPr/>
            </p:nvSpPr>
            <p:spPr bwMode="auto">
              <a:xfrm rot="653079" flipH="1" flipV="1">
                <a:off x="3124200" y="4876800"/>
                <a:ext cx="1066800" cy="228600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TextBox 25"/>
                <p:cNvSpPr txBox="1"/>
                <p:nvPr/>
              </p:nvSpPr>
              <p:spPr>
                <a:xfrm>
                  <a:off x="5715000" y="1230868"/>
                  <a:ext cx="55816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>
            <p:sp>
              <p:nvSpPr>
                <p:cNvPr id="26" name="Text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15000" y="1230868"/>
                  <a:ext cx="558166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11475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FB462909-E7EF-90FF-E9C7-E9DBE22E48E2}"/>
              </a:ext>
            </a:extLst>
          </p:cNvPr>
          <p:cNvSpPr txBox="1">
            <a:spLocks/>
          </p:cNvSpPr>
          <p:nvPr/>
        </p:nvSpPr>
        <p:spPr>
          <a:xfrm>
            <a:off x="502220" y="3651040"/>
            <a:ext cx="8229600" cy="799827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400" b="0" dirty="0"/>
              <a:t>(1) If (x</a:t>
            </a:r>
            <a:r>
              <a:rPr lang="en-GB" sz="2400" b="0" baseline="-25000" dirty="0"/>
              <a:t>1</a:t>
            </a:r>
            <a:r>
              <a:rPr lang="en-GB" sz="2400" b="0" dirty="0"/>
              <a:t> - x</a:t>
            </a:r>
            <a:r>
              <a:rPr lang="en-GB" sz="2400" b="0" baseline="-25000" dirty="0"/>
              <a:t>2</a:t>
            </a:r>
            <a:r>
              <a:rPr lang="en-GB" sz="2400" b="0" dirty="0"/>
              <a:t>) (y</a:t>
            </a:r>
            <a:r>
              <a:rPr lang="en-GB" sz="2400" b="0" baseline="-25000" dirty="0"/>
              <a:t>1</a:t>
            </a:r>
            <a:r>
              <a:rPr lang="en-GB" sz="2400" b="0" dirty="0"/>
              <a:t> - y</a:t>
            </a:r>
            <a:r>
              <a:rPr lang="en-GB" sz="2400" b="0" baseline="-25000" dirty="0"/>
              <a:t>2</a:t>
            </a:r>
            <a:r>
              <a:rPr lang="en-GB" sz="2400" b="0" dirty="0"/>
              <a:t>) &gt; 0, which of the above best describes the relationship between the two points (x</a:t>
            </a:r>
            <a:r>
              <a:rPr lang="en-GB" sz="2400" b="0" baseline="-25000" dirty="0"/>
              <a:t>1,</a:t>
            </a:r>
            <a:r>
              <a:rPr lang="en-GB" sz="2400" b="0" dirty="0"/>
              <a:t> y</a:t>
            </a:r>
            <a:r>
              <a:rPr lang="en-GB" sz="2400" b="0" baseline="-25000" dirty="0"/>
              <a:t>1</a:t>
            </a:r>
            <a:r>
              <a:rPr lang="en-GB" sz="2400" b="0" dirty="0"/>
              <a:t>) and (x</a:t>
            </a:r>
            <a:r>
              <a:rPr lang="en-GB" sz="2400" b="0" baseline="-25000" dirty="0"/>
              <a:t>2,</a:t>
            </a:r>
            <a:r>
              <a:rPr lang="en-GB" sz="2400" b="0" dirty="0"/>
              <a:t> y</a:t>
            </a:r>
            <a:r>
              <a:rPr lang="en-GB" sz="2400" b="0" baseline="-25000" dirty="0"/>
              <a:t>2</a:t>
            </a:r>
            <a:r>
              <a:rPr lang="en-GB" sz="2400" b="0" dirty="0"/>
              <a:t>)?</a:t>
            </a:r>
            <a:endParaRPr lang="en-GB" sz="24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CBE5914-D39B-268B-347E-EEDE2DBFF582}"/>
              </a:ext>
            </a:extLst>
          </p:cNvPr>
          <p:cNvSpPr txBox="1">
            <a:spLocks/>
          </p:cNvSpPr>
          <p:nvPr/>
        </p:nvSpPr>
        <p:spPr>
          <a:xfrm>
            <a:off x="502220" y="4572000"/>
            <a:ext cx="8229600" cy="799827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400" b="0" dirty="0"/>
              <a:t>(2) If (x</a:t>
            </a:r>
            <a:r>
              <a:rPr lang="en-GB" sz="2400" b="0" baseline="-25000" dirty="0"/>
              <a:t>1</a:t>
            </a:r>
            <a:r>
              <a:rPr lang="en-GB" sz="2400" b="0" dirty="0"/>
              <a:t> - x</a:t>
            </a:r>
            <a:r>
              <a:rPr lang="en-GB" sz="2400" b="0" baseline="-25000" dirty="0"/>
              <a:t>2</a:t>
            </a:r>
            <a:r>
              <a:rPr lang="en-GB" sz="2400" b="0" dirty="0"/>
              <a:t>) (y</a:t>
            </a:r>
            <a:r>
              <a:rPr lang="en-GB" sz="2400" b="0" baseline="-25000" dirty="0"/>
              <a:t>1</a:t>
            </a:r>
            <a:r>
              <a:rPr lang="en-GB" sz="2400" b="0" dirty="0"/>
              <a:t> - y</a:t>
            </a:r>
            <a:r>
              <a:rPr lang="en-GB" sz="2400" b="0" baseline="-25000" dirty="0"/>
              <a:t>2</a:t>
            </a:r>
            <a:r>
              <a:rPr lang="en-GB" sz="2400" b="0" dirty="0"/>
              <a:t>) &lt; 0, which of the above best describes the relationship between the two points (x</a:t>
            </a:r>
            <a:r>
              <a:rPr lang="en-GB" sz="2400" b="0" baseline="-25000" dirty="0"/>
              <a:t>1,</a:t>
            </a:r>
            <a:r>
              <a:rPr lang="en-GB" sz="2400" b="0" dirty="0"/>
              <a:t> y</a:t>
            </a:r>
            <a:r>
              <a:rPr lang="en-GB" sz="2400" b="0" baseline="-25000" dirty="0"/>
              <a:t>1</a:t>
            </a:r>
            <a:r>
              <a:rPr lang="en-GB" sz="2400" b="0" dirty="0"/>
              <a:t>) and (x</a:t>
            </a:r>
            <a:r>
              <a:rPr lang="en-GB" sz="2400" b="0" baseline="-25000" dirty="0"/>
              <a:t>2,</a:t>
            </a:r>
            <a:r>
              <a:rPr lang="en-GB" sz="2400" b="0" dirty="0"/>
              <a:t> y</a:t>
            </a:r>
            <a:r>
              <a:rPr lang="en-GB" sz="2400" b="0" baseline="-25000" dirty="0"/>
              <a:t>2</a:t>
            </a:r>
            <a:r>
              <a:rPr lang="en-GB" sz="2400" b="0" dirty="0"/>
              <a:t>)?</a:t>
            </a:r>
            <a:endParaRPr lang="en-GB" sz="2400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49E237A0-9264-9C99-06F1-B0DB81D5C494}"/>
              </a:ext>
            </a:extLst>
          </p:cNvPr>
          <p:cNvSpPr txBox="1">
            <a:spLocks/>
          </p:cNvSpPr>
          <p:nvPr/>
        </p:nvSpPr>
        <p:spPr>
          <a:xfrm>
            <a:off x="502220" y="5471056"/>
            <a:ext cx="8229600" cy="799827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400" b="0" dirty="0"/>
              <a:t>(3) If (x</a:t>
            </a:r>
            <a:r>
              <a:rPr lang="en-GB" sz="2400" b="0" baseline="-25000" dirty="0"/>
              <a:t>1</a:t>
            </a:r>
            <a:r>
              <a:rPr lang="en-GB" sz="2400" b="0" dirty="0"/>
              <a:t> - x</a:t>
            </a:r>
            <a:r>
              <a:rPr lang="en-GB" sz="2400" b="0" baseline="-25000" dirty="0"/>
              <a:t>2</a:t>
            </a:r>
            <a:r>
              <a:rPr lang="en-GB" sz="2400" b="0" dirty="0"/>
              <a:t>) (y</a:t>
            </a:r>
            <a:r>
              <a:rPr lang="en-GB" sz="2400" b="0" baseline="-25000" dirty="0"/>
              <a:t>1</a:t>
            </a:r>
            <a:r>
              <a:rPr lang="en-GB" sz="2400" b="0" dirty="0"/>
              <a:t> - y</a:t>
            </a:r>
            <a:r>
              <a:rPr lang="en-GB" sz="2400" b="0" baseline="-25000" dirty="0"/>
              <a:t>2</a:t>
            </a:r>
            <a:r>
              <a:rPr lang="en-GB" sz="2400" b="0" dirty="0"/>
              <a:t>) = 0, which of the above best describes the relationship between the two points (x</a:t>
            </a:r>
            <a:r>
              <a:rPr lang="en-GB" sz="2400" b="0" baseline="-25000" dirty="0"/>
              <a:t>1,</a:t>
            </a:r>
            <a:r>
              <a:rPr lang="en-GB" sz="2400" b="0" dirty="0"/>
              <a:t> y</a:t>
            </a:r>
            <a:r>
              <a:rPr lang="en-GB" sz="2400" b="0" baseline="-25000" dirty="0"/>
              <a:t>1</a:t>
            </a:r>
            <a:r>
              <a:rPr lang="en-GB" sz="2400" b="0" dirty="0"/>
              <a:t>) and (x</a:t>
            </a:r>
            <a:r>
              <a:rPr lang="en-GB" sz="2400" b="0" baseline="-25000" dirty="0"/>
              <a:t>2,</a:t>
            </a:r>
            <a:r>
              <a:rPr lang="en-GB" sz="2400" b="0" dirty="0"/>
              <a:t> y</a:t>
            </a:r>
            <a:r>
              <a:rPr lang="en-GB" sz="2400" b="0" baseline="-25000" dirty="0"/>
              <a:t>2</a:t>
            </a:r>
            <a:r>
              <a:rPr lang="en-GB" sz="2400" b="0" dirty="0"/>
              <a:t>)?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2055511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Question 2</a:t>
            </a:r>
            <a:endParaRPr lang="en-GB" dirty="0"/>
          </a:p>
        </p:txBody>
      </p:sp>
      <p:grpSp>
        <p:nvGrpSpPr>
          <p:cNvPr id="10" name="Group 9"/>
          <p:cNvGrpSpPr/>
          <p:nvPr/>
        </p:nvGrpSpPr>
        <p:grpSpPr>
          <a:xfrm>
            <a:off x="1905000" y="1230868"/>
            <a:ext cx="1219200" cy="1377516"/>
            <a:chOff x="1752600" y="1230868"/>
            <a:chExt cx="1219200" cy="1377516"/>
          </a:xfrm>
        </p:grpSpPr>
        <p:grpSp>
          <p:nvGrpSpPr>
            <p:cNvPr id="3" name="Group 2"/>
            <p:cNvGrpSpPr/>
            <p:nvPr/>
          </p:nvGrpSpPr>
          <p:grpSpPr>
            <a:xfrm>
              <a:off x="1752600" y="1693984"/>
              <a:ext cx="1219200" cy="914400"/>
              <a:chOff x="2895600" y="2455984"/>
              <a:chExt cx="1219200" cy="914400"/>
            </a:xfrm>
          </p:grpSpPr>
          <p:sp>
            <p:nvSpPr>
              <p:cNvPr id="265221" name="Line 5"/>
              <p:cNvSpPr>
                <a:spLocks noChangeShapeType="1"/>
              </p:cNvSpPr>
              <p:nvPr/>
            </p:nvSpPr>
            <p:spPr bwMode="auto">
              <a:xfrm>
                <a:off x="2895600" y="2455984"/>
                <a:ext cx="0" cy="9144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5222" name="Line 6"/>
              <p:cNvSpPr>
                <a:spLocks noChangeShapeType="1"/>
              </p:cNvSpPr>
              <p:nvPr/>
            </p:nvSpPr>
            <p:spPr bwMode="auto">
              <a:xfrm>
                <a:off x="2895600" y="3352800"/>
                <a:ext cx="12192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23" name="Line 10"/>
            <p:cNvSpPr>
              <a:spLocks noChangeShapeType="1"/>
            </p:cNvSpPr>
            <p:nvPr/>
          </p:nvSpPr>
          <p:spPr bwMode="auto">
            <a:xfrm rot="653079" flipH="1">
              <a:off x="1936809" y="1897112"/>
              <a:ext cx="833999" cy="594109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TextBox 8"/>
                <p:cNvSpPr txBox="1"/>
                <p:nvPr/>
              </p:nvSpPr>
              <p:spPr>
                <a:xfrm>
                  <a:off x="1752600" y="1230868"/>
                  <a:ext cx="56380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>
            <p:sp>
              <p:nvSpPr>
                <p:cNvPr id="9" name="Text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2600" y="1230868"/>
                  <a:ext cx="563809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11475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Group 10"/>
          <p:cNvGrpSpPr/>
          <p:nvPr/>
        </p:nvGrpSpPr>
        <p:grpSpPr>
          <a:xfrm>
            <a:off x="3886200" y="1219200"/>
            <a:ext cx="1219200" cy="1411651"/>
            <a:chOff x="3733800" y="1219200"/>
            <a:chExt cx="1219200" cy="1411651"/>
          </a:xfrm>
        </p:grpSpPr>
        <p:grpSp>
          <p:nvGrpSpPr>
            <p:cNvPr id="13" name="Group 12"/>
            <p:cNvGrpSpPr/>
            <p:nvPr/>
          </p:nvGrpSpPr>
          <p:grpSpPr>
            <a:xfrm>
              <a:off x="3733800" y="1716451"/>
              <a:ext cx="1219200" cy="914400"/>
              <a:chOff x="2895600" y="2455984"/>
              <a:chExt cx="1219200" cy="914400"/>
            </a:xfrm>
          </p:grpSpPr>
          <p:sp>
            <p:nvSpPr>
              <p:cNvPr id="14" name="Line 5"/>
              <p:cNvSpPr>
                <a:spLocks noChangeShapeType="1"/>
              </p:cNvSpPr>
              <p:nvPr/>
            </p:nvSpPr>
            <p:spPr bwMode="auto">
              <a:xfrm>
                <a:off x="2895600" y="2455984"/>
                <a:ext cx="0" cy="9144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5" name="Line 6"/>
              <p:cNvSpPr>
                <a:spLocks noChangeShapeType="1"/>
              </p:cNvSpPr>
              <p:nvPr/>
            </p:nvSpPr>
            <p:spPr bwMode="auto">
              <a:xfrm>
                <a:off x="2895600" y="3352800"/>
                <a:ext cx="12192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6" name="Line 7"/>
              <p:cNvSpPr>
                <a:spLocks noChangeShapeType="1"/>
              </p:cNvSpPr>
              <p:nvPr/>
            </p:nvSpPr>
            <p:spPr bwMode="auto">
              <a:xfrm rot="20946921">
                <a:off x="3045435" y="2698022"/>
                <a:ext cx="1028761" cy="197822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TextBox 24"/>
                <p:cNvSpPr txBox="1"/>
                <p:nvPr/>
              </p:nvSpPr>
              <p:spPr>
                <a:xfrm>
                  <a:off x="3785234" y="1219200"/>
                  <a:ext cx="55816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85234" y="1219200"/>
                  <a:ext cx="558166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11475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Group 11"/>
          <p:cNvGrpSpPr/>
          <p:nvPr/>
        </p:nvGrpSpPr>
        <p:grpSpPr>
          <a:xfrm>
            <a:off x="5858608" y="1230868"/>
            <a:ext cx="1227992" cy="1399983"/>
            <a:chOff x="5706208" y="1230868"/>
            <a:chExt cx="1227992" cy="1399983"/>
          </a:xfrm>
        </p:grpSpPr>
        <p:grpSp>
          <p:nvGrpSpPr>
            <p:cNvPr id="2" name="Group 1"/>
            <p:cNvGrpSpPr/>
            <p:nvPr/>
          </p:nvGrpSpPr>
          <p:grpSpPr>
            <a:xfrm>
              <a:off x="5706208" y="1716451"/>
              <a:ext cx="1227992" cy="914400"/>
              <a:chOff x="2963008" y="4513384"/>
              <a:chExt cx="1227992" cy="914400"/>
            </a:xfrm>
          </p:grpSpPr>
          <p:sp>
            <p:nvSpPr>
              <p:cNvPr id="265224" name="Line 8"/>
              <p:cNvSpPr>
                <a:spLocks noChangeShapeType="1"/>
              </p:cNvSpPr>
              <p:nvPr/>
            </p:nvSpPr>
            <p:spPr bwMode="auto">
              <a:xfrm>
                <a:off x="2971800" y="4513384"/>
                <a:ext cx="0" cy="9144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5225" name="Line 9"/>
              <p:cNvSpPr>
                <a:spLocks noChangeShapeType="1"/>
              </p:cNvSpPr>
              <p:nvPr/>
            </p:nvSpPr>
            <p:spPr bwMode="auto">
              <a:xfrm>
                <a:off x="2963008" y="5410200"/>
                <a:ext cx="12192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5226" name="Line 10"/>
              <p:cNvSpPr>
                <a:spLocks noChangeShapeType="1"/>
              </p:cNvSpPr>
              <p:nvPr/>
            </p:nvSpPr>
            <p:spPr bwMode="auto">
              <a:xfrm rot="653079" flipH="1" flipV="1">
                <a:off x="3124200" y="4876800"/>
                <a:ext cx="1066800" cy="228600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TextBox 25"/>
                <p:cNvSpPr txBox="1"/>
                <p:nvPr/>
              </p:nvSpPr>
              <p:spPr>
                <a:xfrm>
                  <a:off x="5715000" y="1230868"/>
                  <a:ext cx="55816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>
            <p:sp>
              <p:nvSpPr>
                <p:cNvPr id="26" name="Text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15000" y="1230868"/>
                  <a:ext cx="558166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11475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FB462909-E7EF-90FF-E9C7-E9DBE22E48E2}"/>
              </a:ext>
            </a:extLst>
          </p:cNvPr>
          <p:cNvSpPr txBox="1">
            <a:spLocks/>
          </p:cNvSpPr>
          <p:nvPr/>
        </p:nvSpPr>
        <p:spPr>
          <a:xfrm>
            <a:off x="502220" y="3651040"/>
            <a:ext cx="8229600" cy="799827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400" b="0" dirty="0"/>
              <a:t>(1) If (x</a:t>
            </a:r>
            <a:r>
              <a:rPr lang="en-GB" sz="2400" b="0" baseline="-25000" dirty="0"/>
              <a:t>1</a:t>
            </a:r>
            <a:r>
              <a:rPr lang="en-GB" sz="2400" b="0" dirty="0"/>
              <a:t> - x</a:t>
            </a:r>
            <a:r>
              <a:rPr lang="en-GB" sz="2400" b="0" baseline="-25000" dirty="0"/>
              <a:t>2</a:t>
            </a:r>
            <a:r>
              <a:rPr lang="en-GB" sz="2400" b="0" dirty="0"/>
              <a:t>) (y</a:t>
            </a:r>
            <a:r>
              <a:rPr lang="en-GB" sz="2400" b="0" baseline="-25000" dirty="0"/>
              <a:t>1</a:t>
            </a:r>
            <a:r>
              <a:rPr lang="en-GB" sz="2400" b="0" dirty="0"/>
              <a:t> - y</a:t>
            </a:r>
            <a:r>
              <a:rPr lang="en-GB" sz="2400" b="0" baseline="-25000" dirty="0"/>
              <a:t>2</a:t>
            </a:r>
            <a:r>
              <a:rPr lang="en-GB" sz="2400" b="0" dirty="0"/>
              <a:t>) &gt; 0, which of the above best describes the relationship between the two points (x</a:t>
            </a:r>
            <a:r>
              <a:rPr lang="en-GB" sz="2400" b="0" baseline="-25000" dirty="0"/>
              <a:t>1,</a:t>
            </a:r>
            <a:r>
              <a:rPr lang="en-GB" sz="2400" b="0" dirty="0"/>
              <a:t> y</a:t>
            </a:r>
            <a:r>
              <a:rPr lang="en-GB" sz="2400" b="0" baseline="-25000" dirty="0"/>
              <a:t>1</a:t>
            </a:r>
            <a:r>
              <a:rPr lang="en-GB" sz="2400" b="0" dirty="0"/>
              <a:t>) and (x</a:t>
            </a:r>
            <a:r>
              <a:rPr lang="en-GB" sz="2400" b="0" baseline="-25000" dirty="0"/>
              <a:t>2,</a:t>
            </a:r>
            <a:r>
              <a:rPr lang="en-GB" sz="2400" b="0" dirty="0"/>
              <a:t> y</a:t>
            </a:r>
            <a:r>
              <a:rPr lang="en-GB" sz="2400" b="0" baseline="-25000" dirty="0"/>
              <a:t>2</a:t>
            </a:r>
            <a:r>
              <a:rPr lang="en-GB" sz="2400" b="0" dirty="0"/>
              <a:t>)? </a:t>
            </a:r>
            <a:r>
              <a:rPr lang="en-GB" sz="2400" b="0" dirty="0">
                <a:solidFill>
                  <a:srgbClr val="FF0000"/>
                </a:solidFill>
              </a:rPr>
              <a:t>(a)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CBE5914-D39B-268B-347E-EEDE2DBFF582}"/>
              </a:ext>
            </a:extLst>
          </p:cNvPr>
          <p:cNvSpPr txBox="1">
            <a:spLocks/>
          </p:cNvSpPr>
          <p:nvPr/>
        </p:nvSpPr>
        <p:spPr>
          <a:xfrm>
            <a:off x="502220" y="4572000"/>
            <a:ext cx="8229600" cy="799827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400" b="0" dirty="0"/>
              <a:t>(2) If (x</a:t>
            </a:r>
            <a:r>
              <a:rPr lang="en-GB" sz="2400" b="0" baseline="-25000" dirty="0"/>
              <a:t>1</a:t>
            </a:r>
            <a:r>
              <a:rPr lang="en-GB" sz="2400" b="0" dirty="0"/>
              <a:t> - x</a:t>
            </a:r>
            <a:r>
              <a:rPr lang="en-GB" sz="2400" b="0" baseline="-25000" dirty="0"/>
              <a:t>2</a:t>
            </a:r>
            <a:r>
              <a:rPr lang="en-GB" sz="2400" b="0" dirty="0"/>
              <a:t>) (y</a:t>
            </a:r>
            <a:r>
              <a:rPr lang="en-GB" sz="2400" b="0" baseline="-25000" dirty="0"/>
              <a:t>1</a:t>
            </a:r>
            <a:r>
              <a:rPr lang="en-GB" sz="2400" b="0" dirty="0"/>
              <a:t> - y</a:t>
            </a:r>
            <a:r>
              <a:rPr lang="en-GB" sz="2400" b="0" baseline="-25000" dirty="0"/>
              <a:t>2</a:t>
            </a:r>
            <a:r>
              <a:rPr lang="en-GB" sz="2400" b="0" dirty="0"/>
              <a:t>) &lt; 0, which of the above best describes the relationship between the two points (x</a:t>
            </a:r>
            <a:r>
              <a:rPr lang="en-GB" sz="2400" b="0" baseline="-25000" dirty="0"/>
              <a:t>1,</a:t>
            </a:r>
            <a:r>
              <a:rPr lang="en-GB" sz="2400" b="0" dirty="0"/>
              <a:t> y</a:t>
            </a:r>
            <a:r>
              <a:rPr lang="en-GB" sz="2400" b="0" baseline="-25000" dirty="0"/>
              <a:t>1</a:t>
            </a:r>
            <a:r>
              <a:rPr lang="en-GB" sz="2400" b="0" dirty="0"/>
              <a:t>) and (x</a:t>
            </a:r>
            <a:r>
              <a:rPr lang="en-GB" sz="2400" b="0" baseline="-25000" dirty="0"/>
              <a:t>2,</a:t>
            </a:r>
            <a:r>
              <a:rPr lang="en-GB" sz="2400" b="0" dirty="0"/>
              <a:t> y</a:t>
            </a:r>
            <a:r>
              <a:rPr lang="en-GB" sz="2400" b="0" baseline="-25000" dirty="0"/>
              <a:t>2</a:t>
            </a:r>
            <a:r>
              <a:rPr lang="en-GB" sz="2400" b="0" dirty="0"/>
              <a:t>)? </a:t>
            </a:r>
            <a:r>
              <a:rPr lang="en-GB" sz="2400" b="0" dirty="0">
                <a:solidFill>
                  <a:srgbClr val="FF0000"/>
                </a:solidFill>
              </a:rPr>
              <a:t>(c)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49E237A0-9264-9C99-06F1-B0DB81D5C494}"/>
              </a:ext>
            </a:extLst>
          </p:cNvPr>
          <p:cNvSpPr txBox="1">
            <a:spLocks/>
          </p:cNvSpPr>
          <p:nvPr/>
        </p:nvSpPr>
        <p:spPr>
          <a:xfrm>
            <a:off x="502220" y="5471056"/>
            <a:ext cx="8229600" cy="799827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400" b="0" dirty="0"/>
              <a:t>(3) If (x</a:t>
            </a:r>
            <a:r>
              <a:rPr lang="en-GB" sz="2400" b="0" baseline="-25000" dirty="0"/>
              <a:t>1</a:t>
            </a:r>
            <a:r>
              <a:rPr lang="en-GB" sz="2400" b="0" dirty="0"/>
              <a:t> - x</a:t>
            </a:r>
            <a:r>
              <a:rPr lang="en-GB" sz="2400" b="0" baseline="-25000" dirty="0"/>
              <a:t>2</a:t>
            </a:r>
            <a:r>
              <a:rPr lang="en-GB" sz="2400" b="0" dirty="0"/>
              <a:t>) (y</a:t>
            </a:r>
            <a:r>
              <a:rPr lang="en-GB" sz="2400" b="0" baseline="-25000" dirty="0"/>
              <a:t>1</a:t>
            </a:r>
            <a:r>
              <a:rPr lang="en-GB" sz="2400" b="0" dirty="0"/>
              <a:t> - y</a:t>
            </a:r>
            <a:r>
              <a:rPr lang="en-GB" sz="2400" b="0" baseline="-25000" dirty="0"/>
              <a:t>2</a:t>
            </a:r>
            <a:r>
              <a:rPr lang="en-GB" sz="2400" b="0" dirty="0"/>
              <a:t>) = 0, which of the above best describes the relationship between the two points (x</a:t>
            </a:r>
            <a:r>
              <a:rPr lang="en-GB" sz="2400" b="0" baseline="-25000" dirty="0"/>
              <a:t>1,</a:t>
            </a:r>
            <a:r>
              <a:rPr lang="en-GB" sz="2400" b="0" dirty="0"/>
              <a:t> y</a:t>
            </a:r>
            <a:r>
              <a:rPr lang="en-GB" sz="2400" b="0" baseline="-25000" dirty="0"/>
              <a:t>1</a:t>
            </a:r>
            <a:r>
              <a:rPr lang="en-GB" sz="2400" b="0" dirty="0"/>
              <a:t>) and (x</a:t>
            </a:r>
            <a:r>
              <a:rPr lang="en-GB" sz="2400" b="0" baseline="-25000" dirty="0"/>
              <a:t>2,</a:t>
            </a:r>
            <a:r>
              <a:rPr lang="en-GB" sz="2400" b="0" dirty="0"/>
              <a:t> y</a:t>
            </a:r>
            <a:r>
              <a:rPr lang="en-GB" sz="2400" b="0" baseline="-25000" dirty="0"/>
              <a:t>2</a:t>
            </a:r>
            <a:r>
              <a:rPr lang="en-GB" sz="2400" b="0" dirty="0"/>
              <a:t>)? </a:t>
            </a:r>
            <a:r>
              <a:rPr lang="en-GB" sz="2400" b="0" dirty="0">
                <a:solidFill>
                  <a:srgbClr val="FF0000"/>
                </a:solidFill>
              </a:rPr>
              <a:t>(b)</a:t>
            </a:r>
            <a:endParaRPr lang="en-GB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46568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Chart 1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7013976"/>
              </p:ext>
            </p:extLst>
          </p:nvPr>
        </p:nvGraphicFramePr>
        <p:xfrm>
          <a:off x="1752600" y="1600200"/>
          <a:ext cx="5638800" cy="3276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The Covariance</a:t>
            </a:r>
            <a:endParaRPr lang="en-GB" dirty="0"/>
          </a:p>
        </p:txBody>
      </p:sp>
      <p:cxnSp>
        <p:nvCxnSpPr>
          <p:cNvPr id="23" name="Straight Connector 22"/>
          <p:cNvCxnSpPr/>
          <p:nvPr/>
        </p:nvCxnSpPr>
        <p:spPr>
          <a:xfrm flipV="1">
            <a:off x="4267200" y="1752600"/>
            <a:ext cx="0" cy="297180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1524000" y="2971800"/>
            <a:ext cx="5486400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grpSp>
        <p:nvGrpSpPr>
          <p:cNvPr id="35" name="Group 34"/>
          <p:cNvGrpSpPr/>
          <p:nvPr/>
        </p:nvGrpSpPr>
        <p:grpSpPr>
          <a:xfrm>
            <a:off x="3276600" y="2286000"/>
            <a:ext cx="940776" cy="647644"/>
            <a:chOff x="3276600" y="2286000"/>
            <a:chExt cx="940776" cy="64764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/>
                <p:cNvSpPr txBox="1"/>
                <p:nvPr/>
              </p:nvSpPr>
              <p:spPr>
                <a:xfrm>
                  <a:off x="3276600" y="2286000"/>
                  <a:ext cx="779957" cy="369332"/>
                </a:xfrm>
                <a:prstGeom prst="rect">
                  <a:avLst/>
                </a:prstGeom>
                <a:solidFill>
                  <a:schemeClr val="bg2"/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GB" b="1" i="1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n-GB" b="1" i="1">
                                    <a:solidFill>
                                      <a:schemeClr val="bg2">
                                        <a:lumMod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GB" b="1" i="1">
                                    <a:solidFill>
                                      <a:schemeClr val="bg2">
                                        <a:lumMod val="25000"/>
                                      </a:schemeClr>
                                    </a:solidFill>
                                    <a:latin typeface="Cambria Math"/>
                                  </a:rPr>
                                  <m:t>𝒙</m:t>
                                </m:r>
                              </m:e>
                            </m:acc>
                            <m:r>
                              <a:rPr lang="en-GB" b="1" i="1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/>
                              </a:rPr>
                              <m:t>,</m:t>
                            </m:r>
                            <m:acc>
                              <m:accPr>
                                <m:chr m:val="̅"/>
                                <m:ctrlPr>
                                  <a:rPr lang="en-GB" b="1" i="1">
                                    <a:solidFill>
                                      <a:schemeClr val="bg2">
                                        <a:lumMod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GB" b="1" i="1">
                                    <a:solidFill>
                                      <a:schemeClr val="bg2">
                                        <a:lumMod val="25000"/>
                                      </a:schemeClr>
                                    </a:solidFill>
                                    <a:latin typeface="Cambria Math"/>
                                  </a:rPr>
                                  <m:t>𝒚</m:t>
                                </m:r>
                              </m:e>
                            </m:acc>
                          </m:e>
                        </m:d>
                      </m:oMath>
                    </m:oMathPara>
                  </a14:m>
                  <a:endParaRPr lang="en-GB" b="1" dirty="0">
                    <a:solidFill>
                      <a:schemeClr val="bg2">
                        <a:lumMod val="2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2" name="TextBox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76600" y="2286000"/>
                  <a:ext cx="779957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r="-28346" b="-4918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" name="Straight Arrow Connector 33"/>
            <p:cNvCxnSpPr/>
            <p:nvPr/>
          </p:nvCxnSpPr>
          <p:spPr>
            <a:xfrm>
              <a:off x="3912576" y="2617176"/>
              <a:ext cx="304800" cy="316468"/>
            </a:xfrm>
            <a:prstGeom prst="straightConnector1">
              <a:avLst/>
            </a:prstGeom>
            <a:ln>
              <a:solidFill>
                <a:schemeClr val="bg2"/>
              </a:solidFill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Flowchart: Document 3"/>
              <p:cNvSpPr/>
              <p:nvPr/>
            </p:nvSpPr>
            <p:spPr>
              <a:xfrm>
                <a:off x="5029200" y="339969"/>
                <a:ext cx="3581400" cy="1905000"/>
              </a:xfrm>
              <a:prstGeom prst="flowChartDocumen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GB" dirty="0"/>
                  <a:t>Lets do it for all points…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/>
                            </a:rPr>
                            <m:t>𝑛</m:t>
                          </m:r>
                          <m:r>
                            <a:rPr lang="en-GB" sz="2400" b="0" i="1" smtClean="0">
                              <a:latin typeface="Cambria Math"/>
                            </a:rPr>
                            <m:t>−1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GB" sz="2400" b="0" i="1" smtClean="0">
                              <a:latin typeface="Cambria Math"/>
                            </a:rPr>
                            <m:t>𝑖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GB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b="1" i="1">
                                      <a:latin typeface="Cambria Math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GB" sz="2400" b="1" i="1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GB" sz="2400" b="1" i="1">
                                  <a:latin typeface="Cambria Math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GB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sz="2400" b="1" i="1">
                                      <a:latin typeface="Cambria Math"/>
                                    </a:rPr>
                                    <m:t>𝒙</m:t>
                                  </m:r>
                                </m:e>
                              </m:acc>
                            </m:e>
                          </m:d>
                          <m:d>
                            <m:dPr>
                              <m:ctrlPr>
                                <a:rPr lang="en-GB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b="1" i="1">
                                      <a:latin typeface="Cambria Math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n-GB" sz="2400" b="1" i="1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GB" sz="2400" b="1" i="1">
                                  <a:latin typeface="Cambria Math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GB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sz="2400" b="1" i="1">
                                      <a:latin typeface="Cambria Math"/>
                                    </a:rPr>
                                    <m:t>𝒚</m:t>
                                  </m:r>
                                </m:e>
                              </m:acc>
                            </m:e>
                          </m:d>
                        </m:e>
                      </m:nary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4" name="Flowchart: Document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0" y="339969"/>
                <a:ext cx="3581400" cy="1905000"/>
              </a:xfrm>
              <a:prstGeom prst="flowChartDocument">
                <a:avLst/>
              </a:prstGeom>
              <a:blipFill rotWithShape="1">
                <a:blip r:embed="rId5"/>
                <a:stretch>
                  <a:fillRect l="-10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5238750" y="1752600"/>
            <a:ext cx="3162300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GB" altLang="en-US" dirty="0">
                <a:solidFill>
                  <a:srgbClr val="333399"/>
                </a:solidFill>
              </a:rPr>
              <a:t>This is the covariance of x and y</a:t>
            </a:r>
          </a:p>
          <a:p>
            <a:pPr algn="ctr"/>
            <a:r>
              <a:rPr lang="en-GB" altLang="en-US" dirty="0">
                <a:solidFill>
                  <a:srgbClr val="333399"/>
                </a:solidFill>
              </a:rPr>
              <a:t>[ written as </a:t>
            </a:r>
            <a:r>
              <a:rPr lang="en-GB" altLang="en-US" b="1" dirty="0" err="1">
                <a:solidFill>
                  <a:srgbClr val="333399"/>
                </a:solidFill>
              </a:rPr>
              <a:t>cov</a:t>
            </a:r>
            <a:r>
              <a:rPr lang="en-GB" altLang="en-US" b="1" dirty="0">
                <a:solidFill>
                  <a:srgbClr val="333399"/>
                </a:solidFill>
              </a:rPr>
              <a:t>(</a:t>
            </a:r>
            <a:r>
              <a:rPr lang="en-GB" altLang="en-US" b="1" dirty="0" err="1">
                <a:solidFill>
                  <a:srgbClr val="333399"/>
                </a:solidFill>
              </a:rPr>
              <a:t>x,y</a:t>
            </a:r>
            <a:r>
              <a:rPr lang="en-GB" altLang="en-US" b="1" dirty="0">
                <a:solidFill>
                  <a:srgbClr val="333399"/>
                </a:solidFill>
              </a:rPr>
              <a:t>)</a:t>
            </a:r>
            <a:r>
              <a:rPr lang="en-GB" altLang="en-US" dirty="0">
                <a:solidFill>
                  <a:srgbClr val="333399"/>
                </a:solidFill>
              </a:rPr>
              <a:t> ]</a:t>
            </a:r>
          </a:p>
        </p:txBody>
      </p:sp>
    </p:spTree>
    <p:extLst>
      <p:ext uri="{BB962C8B-B14F-4D97-AF65-F5344CB8AC3E}">
        <p14:creationId xmlns:p14="http://schemas.microsoft.com/office/powerpoint/2010/main" val="1033217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The Correlation Coefficient</a:t>
            </a:r>
            <a:endParaRPr lang="en-GB" dirty="0"/>
          </a:p>
        </p:txBody>
      </p:sp>
      <p:graphicFrame>
        <p:nvGraphicFramePr>
          <p:cNvPr id="25" name="Chart 2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38877640"/>
              </p:ext>
            </p:extLst>
          </p:nvPr>
        </p:nvGraphicFramePr>
        <p:xfrm>
          <a:off x="1752600" y="1600200"/>
          <a:ext cx="5638800" cy="3276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26" name="Straight Connector 25"/>
          <p:cNvCxnSpPr/>
          <p:nvPr/>
        </p:nvCxnSpPr>
        <p:spPr>
          <a:xfrm flipV="1">
            <a:off x="4267200" y="1600200"/>
            <a:ext cx="0" cy="312420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1524000" y="2971800"/>
            <a:ext cx="5486400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grpSp>
        <p:nvGrpSpPr>
          <p:cNvPr id="28" name="Group 27"/>
          <p:cNvGrpSpPr/>
          <p:nvPr/>
        </p:nvGrpSpPr>
        <p:grpSpPr>
          <a:xfrm>
            <a:off x="3276600" y="2286000"/>
            <a:ext cx="940776" cy="647644"/>
            <a:chOff x="3276600" y="2286000"/>
            <a:chExt cx="940776" cy="64764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/>
                <p:cNvSpPr txBox="1"/>
                <p:nvPr/>
              </p:nvSpPr>
              <p:spPr>
                <a:xfrm>
                  <a:off x="3276600" y="2286000"/>
                  <a:ext cx="779957" cy="369332"/>
                </a:xfrm>
                <a:prstGeom prst="rect">
                  <a:avLst/>
                </a:prstGeom>
                <a:solidFill>
                  <a:schemeClr val="bg2"/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GB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n-GB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GB" b="1" i="1">
                                    <a:latin typeface="Cambria Math"/>
                                  </a:rPr>
                                  <m:t>𝒙</m:t>
                                </m:r>
                              </m:e>
                            </m:acc>
                            <m:r>
                              <a:rPr lang="en-GB" b="1" i="1">
                                <a:latin typeface="Cambria Math"/>
                              </a:rPr>
                              <m:t>,</m:t>
                            </m:r>
                            <m:acc>
                              <m:accPr>
                                <m:chr m:val="̅"/>
                                <m:ctrlPr>
                                  <a:rPr lang="en-GB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GB" b="1" i="1">
                                    <a:latin typeface="Cambria Math"/>
                                  </a:rPr>
                                  <m:t>𝒚</m:t>
                                </m:r>
                              </m:e>
                            </m:acc>
                          </m:e>
                        </m:d>
                      </m:oMath>
                    </m:oMathPara>
                  </a14:m>
                  <a:endParaRPr lang="en-GB" b="1" dirty="0"/>
                </a:p>
              </p:txBody>
            </p:sp>
          </mc:Choice>
          <mc:Fallback xmlns="">
            <p:sp>
              <p:nvSpPr>
                <p:cNvPr id="32" name="TextBox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76600" y="2286000"/>
                  <a:ext cx="779957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r="-28346" b="-4918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" name="Straight Arrow Connector 29"/>
            <p:cNvCxnSpPr/>
            <p:nvPr/>
          </p:nvCxnSpPr>
          <p:spPr>
            <a:xfrm>
              <a:off x="3912576" y="2617176"/>
              <a:ext cx="304800" cy="316468"/>
            </a:xfrm>
            <a:prstGeom prst="straightConnector1">
              <a:avLst/>
            </a:prstGeom>
            <a:ln>
              <a:solidFill>
                <a:schemeClr val="bg2"/>
              </a:solidFill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Flowchart: Document 30"/>
              <p:cNvSpPr/>
              <p:nvPr/>
            </p:nvSpPr>
            <p:spPr>
              <a:xfrm>
                <a:off x="4648200" y="1219200"/>
                <a:ext cx="3941763" cy="1143000"/>
              </a:xfrm>
              <a:prstGeom prst="flowChartDocumen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b="0" i="0" smtClean="0">
                          <a:latin typeface="Cambria Math"/>
                        </a:rPr>
                        <m:t>cov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,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en-GB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𝑛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−1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GB" b="0" i="1" smtClean="0">
                              <a:latin typeface="Cambria Math"/>
                            </a:rPr>
                            <m:t>𝑖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1" i="1">
                                      <a:latin typeface="Cambria Math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GB" b="1" i="1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GB" b="1" i="1">
                                  <a:latin typeface="Cambria Math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b="1" i="1">
                                      <a:latin typeface="Cambria Math"/>
                                    </a:rPr>
                                    <m:t>𝒙</m:t>
                                  </m:r>
                                </m:e>
                              </m:acc>
                            </m:e>
                          </m:d>
                          <m:d>
                            <m:d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1" i="1">
                                      <a:latin typeface="Cambria Math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n-GB" b="1" i="1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GB" b="1" i="1">
                                  <a:latin typeface="Cambria Math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b="1" i="1">
                                      <a:latin typeface="Cambria Math"/>
                                    </a:rPr>
                                    <m:t>𝒚</m:t>
                                  </m:r>
                                </m:e>
                              </m:acc>
                            </m:e>
                          </m:d>
                        </m:e>
                      </m:nary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1" name="Flowchart: Document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8200" y="1219200"/>
                <a:ext cx="3941763" cy="1143000"/>
              </a:xfrm>
              <a:prstGeom prst="flowChartDocumen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/>
          <p:cNvGrpSpPr/>
          <p:nvPr/>
        </p:nvGrpSpPr>
        <p:grpSpPr>
          <a:xfrm>
            <a:off x="2209800" y="4294601"/>
            <a:ext cx="4343400" cy="810799"/>
            <a:chOff x="2209800" y="4294601"/>
            <a:chExt cx="4343400" cy="810799"/>
          </a:xfrm>
        </p:grpSpPr>
        <p:cxnSp>
          <p:nvCxnSpPr>
            <p:cNvPr id="33" name="Straight Arrow Connector 32"/>
            <p:cNvCxnSpPr/>
            <p:nvPr/>
          </p:nvCxnSpPr>
          <p:spPr>
            <a:xfrm>
              <a:off x="2209800" y="4724400"/>
              <a:ext cx="4343400" cy="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Rectangle 35"/>
                <p:cNvSpPr/>
                <p:nvPr/>
              </p:nvSpPr>
              <p:spPr>
                <a:xfrm>
                  <a:off x="3310580" y="4294601"/>
                  <a:ext cx="1913239" cy="810799"/>
                </a:xfrm>
                <a:prstGeom prst="rect">
                  <a:avLst/>
                </a:prstGeom>
                <a:solidFill>
                  <a:schemeClr val="bg2"/>
                </a:solidFill>
              </p:spPr>
              <p:txBody>
                <a:bodyPr wrap="square">
                  <a:spAutoFit/>
                </a:bodyPr>
                <a:lstStyle/>
                <a:p>
                  <a:pPr algn="ctr" fontAlgn="b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altLang="ko-KR" sz="1200" b="0" i="1" smtClean="0">
                                <a:latin typeface="Cambria Math"/>
                              </a:rPr>
                              <m:t>𝑠</m:t>
                            </m:r>
                          </m:e>
                          <m:sub>
                            <m:r>
                              <a:rPr lang="en-GB" altLang="ko-KR" sz="1200" b="0" i="1" smtClean="0">
                                <a:latin typeface="Cambria Math"/>
                              </a:rPr>
                              <m:t>𝑥</m:t>
                            </m:r>
                          </m:sub>
                        </m:sSub>
                        <m:r>
                          <a:rPr lang="en-GB" altLang="ko-KR" sz="1200" b="0" i="1" smtClean="0">
                            <a:latin typeface="Cambria Math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en-GB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GB" altLang="ko-KR" sz="1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altLang="ko-KR" sz="1200" i="1">
                                    <a:latin typeface="Cambria Math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GB" altLang="ko-KR" sz="1200" i="1">
                                    <a:latin typeface="Cambria Math"/>
                                  </a:rPr>
                                  <m:t>𝑛</m:t>
                                </m:r>
                                <m:r>
                                  <a:rPr lang="en-GB" altLang="ko-KR" sz="1200" b="0" i="1" smtClean="0">
                                    <a:latin typeface="Cambria Math"/>
                                  </a:rPr>
                                  <m:t>−1</m:t>
                                </m:r>
                              </m:den>
                            </m:f>
                            <m:nary>
                              <m:naryPr>
                                <m:chr m:val="∑"/>
                                <m:ctrlPr>
                                  <a:rPr lang="en-GB" altLang="ko-KR" sz="12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GB" altLang="ko-KR" sz="1200" i="1">
                                    <a:latin typeface="Cambria Math"/>
                                  </a:rPr>
                                  <m:t>𝑖</m:t>
                                </m:r>
                                <m:r>
                                  <a:rPr lang="en-GB" altLang="ko-KR" sz="1200" i="1">
                                    <a:latin typeface="Cambria Math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GB" altLang="ko-KR" sz="1200" i="1">
                                    <a:latin typeface="Cambria Math"/>
                                  </a:rPr>
                                  <m:t>𝑛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en-GB" altLang="ko-KR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GB" altLang="ko-KR" sz="120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GB" sz="12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GB" sz="12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GB" sz="12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GB" sz="1200" i="1">
                                            <a:solidFill>
                                              <a:srgbClr val="000000"/>
                                            </a:solidFill>
                                            <a:latin typeface="Cambria Math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GB" altLang="ko-KR" sz="1200" i="1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GB" altLang="ko-KR" sz="12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/>
                                              </a:rPr>
                                              <m:t>𝑥</m:t>
                                            </m:r>
                                          </m:e>
                                        </m:acc>
                                      </m:e>
                                    </m:d>
                                  </m:e>
                                  <m:sup>
                                    <m:r>
                                      <a:rPr lang="en-GB" altLang="ko-KR" sz="1200" b="0" i="1" smtClean="0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e>
                        </m:rad>
                      </m:oMath>
                    </m:oMathPara>
                  </a14:m>
                  <a:endParaRPr lang="en-GB" sz="1200" dirty="0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mc:Choice>
          <mc:Fallback xmlns="">
            <p:sp>
              <p:nvSpPr>
                <p:cNvPr id="36" name="Rectangle 3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0580" y="4294601"/>
                  <a:ext cx="1913239" cy="810799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Group 5"/>
          <p:cNvGrpSpPr/>
          <p:nvPr/>
        </p:nvGrpSpPr>
        <p:grpSpPr>
          <a:xfrm>
            <a:off x="448961" y="1828800"/>
            <a:ext cx="1913239" cy="2286000"/>
            <a:chOff x="448961" y="1828800"/>
            <a:chExt cx="1913239" cy="2286000"/>
          </a:xfrm>
        </p:grpSpPr>
        <p:cxnSp>
          <p:nvCxnSpPr>
            <p:cNvPr id="34" name="Straight Arrow Connector 33"/>
            <p:cNvCxnSpPr/>
            <p:nvPr/>
          </p:nvCxnSpPr>
          <p:spPr>
            <a:xfrm flipV="1">
              <a:off x="1600200" y="1828800"/>
              <a:ext cx="0" cy="228600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Rectangle 36"/>
                <p:cNvSpPr/>
                <p:nvPr/>
              </p:nvSpPr>
              <p:spPr>
                <a:xfrm>
                  <a:off x="448961" y="2566400"/>
                  <a:ext cx="1913239" cy="810799"/>
                </a:xfrm>
                <a:prstGeom prst="rect">
                  <a:avLst/>
                </a:prstGeom>
                <a:solidFill>
                  <a:schemeClr val="bg2"/>
                </a:solidFill>
              </p:spPr>
              <p:txBody>
                <a:bodyPr wrap="square">
                  <a:spAutoFit/>
                </a:bodyPr>
                <a:lstStyle/>
                <a:p>
                  <a:pPr algn="ctr" fontAlgn="b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altLang="ko-KR" sz="1200" b="0" i="1" smtClean="0">
                                <a:latin typeface="Cambria Math"/>
                              </a:rPr>
                              <m:t>𝑠</m:t>
                            </m:r>
                          </m:e>
                          <m:sub>
                            <m:r>
                              <a:rPr lang="en-GB" altLang="ko-KR" sz="1200" b="0" i="1" smtClean="0">
                                <a:latin typeface="Cambria Math"/>
                              </a:rPr>
                              <m:t>𝑦</m:t>
                            </m:r>
                          </m:sub>
                        </m:sSub>
                        <m:r>
                          <a:rPr lang="en-GB" altLang="ko-KR" sz="1200" b="0" i="1" smtClean="0">
                            <a:latin typeface="Cambria Math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en-GB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GB" altLang="ko-KR" sz="1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altLang="ko-KR" sz="1200" i="1">
                                    <a:latin typeface="Cambria Math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GB" altLang="ko-KR" sz="1200" i="1">
                                    <a:latin typeface="Cambria Math"/>
                                  </a:rPr>
                                  <m:t>𝑛</m:t>
                                </m:r>
                                <m:r>
                                  <a:rPr lang="en-GB" altLang="ko-KR" sz="1200" b="0" i="1" smtClean="0">
                                    <a:latin typeface="Cambria Math"/>
                                  </a:rPr>
                                  <m:t>−1</m:t>
                                </m:r>
                              </m:den>
                            </m:f>
                            <m:nary>
                              <m:naryPr>
                                <m:chr m:val="∑"/>
                                <m:ctrlPr>
                                  <a:rPr lang="en-GB" altLang="ko-KR" sz="12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GB" altLang="ko-KR" sz="1200" i="1">
                                    <a:latin typeface="Cambria Math"/>
                                  </a:rPr>
                                  <m:t>𝑖</m:t>
                                </m:r>
                                <m:r>
                                  <a:rPr lang="en-GB" altLang="ko-KR" sz="1200" i="1">
                                    <a:latin typeface="Cambria Math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GB" altLang="ko-KR" sz="1200" i="1">
                                    <a:latin typeface="Cambria Math"/>
                                  </a:rPr>
                                  <m:t>𝑛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en-GB" altLang="ko-KR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GB" altLang="ko-KR" sz="120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GB" sz="12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GB" sz="1200" b="0" i="1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GB" sz="12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GB" sz="1200" i="1">
                                            <a:solidFill>
                                              <a:srgbClr val="000000"/>
                                            </a:solidFill>
                                            <a:latin typeface="Cambria Math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GB" altLang="ko-KR" sz="1200" i="1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GB" altLang="ko-KR" sz="1200" b="0" i="1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/>
                                              </a:rPr>
                                              <m:t>𝑦</m:t>
                                            </m:r>
                                          </m:e>
                                        </m:acc>
                                      </m:e>
                                    </m:d>
                                  </m:e>
                                  <m:sup>
                                    <m:r>
                                      <a:rPr lang="en-GB" altLang="ko-KR" sz="1200" b="0" i="1" smtClean="0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e>
                        </m:rad>
                      </m:oMath>
                    </m:oMathPara>
                  </a14:m>
                  <a:endParaRPr lang="en-GB" sz="1200" dirty="0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mc:Choice>
          <mc:Fallback xmlns="">
            <p:sp>
              <p:nvSpPr>
                <p:cNvPr id="37" name="Rectangle 3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8961" y="2566400"/>
                  <a:ext cx="1913239" cy="810799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" name="Cloud Callout 9"/>
          <p:cNvSpPr/>
          <p:nvPr/>
        </p:nvSpPr>
        <p:spPr>
          <a:xfrm>
            <a:off x="5333999" y="3761201"/>
            <a:ext cx="1285081" cy="533400"/>
          </a:xfrm>
          <a:prstGeom prst="cloudCallout">
            <a:avLst>
              <a:gd name="adj1" fmla="val -67874"/>
              <a:gd name="adj2" fmla="val 59203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Recall?</a:t>
            </a:r>
          </a:p>
        </p:txBody>
      </p:sp>
    </p:spTree>
    <p:extLst>
      <p:ext uri="{BB962C8B-B14F-4D97-AF65-F5344CB8AC3E}">
        <p14:creationId xmlns:p14="http://schemas.microsoft.com/office/powerpoint/2010/main" val="349935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The Correlation Coefficient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10"/>
              <p:cNvSpPr txBox="1">
                <a:spLocks noChangeArrowheads="1"/>
              </p:cNvSpPr>
              <p:nvPr/>
            </p:nvSpPr>
            <p:spPr bwMode="auto">
              <a:xfrm>
                <a:off x="304800" y="838200"/>
                <a:ext cx="5189947" cy="4001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GB" altLang="en-US" sz="2000" dirty="0"/>
                  <a:t>So, the correlation coefficient, </a:t>
                </a:r>
                <a14:m>
                  <m:oMath xmlns:m="http://schemas.openxmlformats.org/officeDocument/2006/math">
                    <m:r>
                      <a:rPr lang="en-GB" altLang="en-US" sz="2000" i="1" dirty="0" smtClean="0">
                        <a:latin typeface="Cambria Math"/>
                      </a:rPr>
                      <m:t>𝑟</m:t>
                    </m:r>
                  </m:oMath>
                </a14:m>
                <a:r>
                  <a:rPr lang="en-GB" altLang="en-US" sz="2000" dirty="0"/>
                  <a:t>, is calculated as</a:t>
                </a:r>
              </a:p>
            </p:txBody>
          </p:sp>
        </mc:Choice>
        <mc:Fallback xmlns="">
          <p:sp>
            <p:nvSpPr>
              <p:cNvPr id="4" name="Text 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800" y="838200"/>
                <a:ext cx="5189947" cy="400110"/>
              </a:xfrm>
              <a:prstGeom prst="rect">
                <a:avLst/>
              </a:prstGeom>
              <a:blipFill rotWithShape="1">
                <a:blip r:embed="rId3"/>
                <a:stretch>
                  <a:fillRect l="-1175" t="-7692" r="-235" b="-2769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3124200" y="1524000"/>
                <a:ext cx="2667590" cy="117474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1" i="1">
                          <a:latin typeface="Cambria Math"/>
                        </a:rPr>
                        <m:t>𝒓</m:t>
                      </m:r>
                      <m:r>
                        <a:rPr lang="en-GB" sz="3200" b="1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1" i="1">
                              <a:latin typeface="Cambria Math"/>
                            </a:rPr>
                            <m:t>𝐜𝐨𝐯</m:t>
                          </m:r>
                          <m:r>
                            <a:rPr lang="en-GB" sz="3200" b="1" i="1">
                              <a:latin typeface="Cambria Math"/>
                            </a:rPr>
                            <m:t>(</m:t>
                          </m:r>
                          <m:r>
                            <a:rPr lang="en-GB" sz="3200" b="1" i="1">
                              <a:latin typeface="Cambria Math"/>
                            </a:rPr>
                            <m:t>𝒙</m:t>
                          </m:r>
                          <m:r>
                            <a:rPr lang="en-GB" sz="3200" b="1" i="1">
                              <a:latin typeface="Cambria Math"/>
                            </a:rPr>
                            <m:t>,</m:t>
                          </m:r>
                          <m:r>
                            <a:rPr lang="en-GB" sz="3200" b="1" i="1">
                              <a:latin typeface="Cambria Math"/>
                            </a:rPr>
                            <m:t>𝒚</m:t>
                          </m:r>
                          <m:r>
                            <a:rPr lang="en-GB" sz="3200" b="1" i="1">
                              <a:latin typeface="Cambria Math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1" i="1">
                                  <a:latin typeface="Cambria Math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GB" sz="3200" b="1" i="1">
                                  <a:latin typeface="Cambria Math"/>
                                </a:rPr>
                                <m:t>𝒙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1" i="1">
                                  <a:latin typeface="Cambria Math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GB" sz="3200" b="1" i="1">
                                  <a:latin typeface="Cambria Math"/>
                                </a:rPr>
                                <m:t>𝒚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4200" y="1524000"/>
                <a:ext cx="2667590" cy="117474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/>
          <p:cNvGrpSpPr/>
          <p:nvPr/>
        </p:nvGrpSpPr>
        <p:grpSpPr>
          <a:xfrm>
            <a:off x="304800" y="3181290"/>
            <a:ext cx="6167270" cy="1238310"/>
            <a:chOff x="304800" y="3181290"/>
            <a:chExt cx="6167270" cy="12383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304800" y="3181290"/>
                  <a:ext cx="3449021" cy="400110"/>
                </a:xfrm>
                <a:prstGeom prst="rect">
                  <a:avLst/>
                </a:prstGeom>
                <a:solidFill>
                  <a:schemeClr val="bg2"/>
                </a:solidFill>
                <a:ln>
                  <a:noFill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GB" altLang="en-US" sz="2000" b="1" i="1" dirty="0" smtClean="0">
                          <a:latin typeface="Cambria Math"/>
                        </a:rPr>
                        <m:t>𝒓</m:t>
                      </m:r>
                    </m:oMath>
                  </a14:m>
                  <a:r>
                    <a:rPr lang="en-GB" altLang="en-US" sz="2000" dirty="0"/>
                    <a:t> has values between -1 and +1</a:t>
                  </a:r>
                </a:p>
              </p:txBody>
            </p:sp>
          </mc:Choice>
          <mc:Fallback xmlns="">
            <p:sp>
              <p:nvSpPr>
                <p:cNvPr id="3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04800" y="3181290"/>
                  <a:ext cx="3449021" cy="400110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7576" r="-1237" b="-25758"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Group 11"/>
            <p:cNvGrpSpPr/>
            <p:nvPr/>
          </p:nvGrpSpPr>
          <p:grpSpPr>
            <a:xfrm>
              <a:off x="2481186" y="3815751"/>
              <a:ext cx="3990884" cy="603849"/>
              <a:chOff x="2481186" y="4038600"/>
              <a:chExt cx="3990884" cy="603849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2667295" y="4038600"/>
                <a:ext cx="3581400" cy="228600"/>
              </a:xfrm>
              <a:prstGeom prst="rect">
                <a:avLst/>
              </a:prstGeom>
              <a:gradFill>
                <a:gsLst>
                  <a:gs pos="0">
                    <a:srgbClr val="FF0000"/>
                  </a:gs>
                  <a:gs pos="50000">
                    <a:schemeClr val="bg1"/>
                  </a:gs>
                  <a:gs pos="100000">
                    <a:srgbClr val="00B050"/>
                  </a:gs>
                </a:gsLst>
                <a:lin ang="0" scaled="0"/>
              </a:gra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2481186" y="4267200"/>
                <a:ext cx="37221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altLang="en-US" b="1" dirty="0"/>
                  <a:t>-1</a:t>
                </a:r>
                <a:endParaRPr lang="en-GB" b="1" dirty="0"/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6054968" y="4267200"/>
                <a:ext cx="41710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altLang="en-US" b="1" dirty="0"/>
                  <a:t>+1</a:t>
                </a:r>
                <a:endParaRPr lang="en-GB" b="1" dirty="0"/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4328930" y="4273117"/>
                <a:ext cx="30168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altLang="en-US" b="1" dirty="0"/>
                  <a:t>0</a:t>
                </a:r>
                <a:endParaRPr lang="en-GB" b="1" dirty="0"/>
              </a:p>
            </p:txBody>
          </p:sp>
        </p:grpSp>
      </p:grpSp>
      <p:sp>
        <p:nvSpPr>
          <p:cNvPr id="11" name="Rounded Rectangular Callout 10"/>
          <p:cNvSpPr/>
          <p:nvPr/>
        </p:nvSpPr>
        <p:spPr>
          <a:xfrm>
            <a:off x="6054968" y="2439162"/>
            <a:ext cx="1995855" cy="1065275"/>
          </a:xfrm>
          <a:prstGeom prst="wedgeRoundRectCallout">
            <a:avLst>
              <a:gd name="adj1" fmla="val -127942"/>
              <a:gd name="adj2" fmla="val 8858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/>
              <a:t>What does 0 imply?</a:t>
            </a:r>
          </a:p>
        </p:txBody>
      </p:sp>
    </p:spTree>
    <p:extLst>
      <p:ext uri="{BB962C8B-B14F-4D97-AF65-F5344CB8AC3E}">
        <p14:creationId xmlns:p14="http://schemas.microsoft.com/office/powerpoint/2010/main" val="901472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4511982"/>
              </p:ext>
            </p:extLst>
          </p:nvPr>
        </p:nvGraphicFramePr>
        <p:xfrm>
          <a:off x="685800" y="1600200"/>
          <a:ext cx="5638800" cy="3276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35848226"/>
                  </p:ext>
                </p:extLst>
              </p:nvPr>
            </p:nvGraphicFramePr>
            <p:xfrm>
              <a:off x="457200" y="883920"/>
              <a:ext cx="7162800" cy="3749040"/>
            </p:xfrm>
            <a:graphic>
              <a:graphicData uri="http://schemas.openxmlformats.org/drawingml/2006/table">
                <a:tbl>
                  <a:tblPr firstRow="1" lastRow="1" bandRow="1">
                    <a:tableStyleId>{8EC20E35-A176-4012-BC5E-935CFFF8708E}</a:tableStyleId>
                  </a:tblPr>
                  <a:tblGrid>
                    <a:gridCol w="11938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636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90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9906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22098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latin typeface="Cambria Math"/>
                                  </a:rPr>
                                  <m:t>𝑛</m:t>
                                </m:r>
                                <m:r>
                                  <a:rPr lang="en-GB" i="1" dirty="0" smtClean="0">
                                    <a:latin typeface="Cambria Math"/>
                                  </a:rPr>
                                  <m:t>=10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dirty="0" smtClean="0">
                                        <a:latin typeface="Cambria Math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GB" dirty="0" smtClean="0">
                                        <a:latin typeface="Cambria Math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dirty="0" smtClean="0">
                                        <a:latin typeface="Cambria Math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GB" dirty="0" smtClean="0">
                                        <a:latin typeface="Cambria Math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1" i="1">
                                        <a:latin typeface="Cambria Math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GB" sz="1800" b="1" i="1">
                                        <a:latin typeface="Cambria Math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GB" sz="1800" b="1" i="1">
                                    <a:latin typeface="Cambria Math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1800" b="1" i="1">
                                        <a:latin typeface="Cambria Math"/>
                                      </a:rPr>
                                      <m:t>𝒙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1" i="1" smtClean="0">
                                        <a:latin typeface="Cambria Math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GB" sz="1800" b="1" i="1">
                                        <a:latin typeface="Cambria Math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GB" sz="1800" b="1" i="1">
                                    <a:latin typeface="Cambria Math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1800" b="1" i="1" smtClean="0">
                                        <a:latin typeface="Cambria Math"/>
                                      </a:rPr>
                                      <m:t>𝒚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GB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GB" sz="18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1800" b="1" i="1">
                                            <a:latin typeface="Cambria Math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GB" sz="1800" b="1" i="1">
                                            <a:latin typeface="Cambria Math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  <m:r>
                                      <a:rPr lang="en-GB" sz="1800" b="1" i="1">
                                        <a:latin typeface="Cambria Math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GB" sz="18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GB" sz="1800" b="1" i="1">
                                            <a:latin typeface="Cambria Math"/>
                                          </a:rPr>
                                          <m:t>𝒙</m:t>
                                        </m:r>
                                      </m:e>
                                    </m:acc>
                                  </m:e>
                                </m:d>
                                <m:d>
                                  <m:dPr>
                                    <m:ctrlP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GB" sz="18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1800" b="1" i="1">
                                            <a:latin typeface="Cambria Math"/>
                                          </a:rPr>
                                          <m:t>𝒚</m:t>
                                        </m:r>
                                      </m:e>
                                      <m:sub>
                                        <m:r>
                                          <a:rPr lang="en-GB" sz="1800" b="1" i="1">
                                            <a:latin typeface="Cambria Math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  <m:r>
                                      <a:rPr lang="en-GB" sz="1800" b="1" i="1">
                                        <a:latin typeface="Cambria Math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GB" sz="18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GB" sz="1800" b="1" i="1">
                                            <a:latin typeface="Cambria Math"/>
                                          </a:rPr>
                                          <m:t>𝒚</m:t>
                                        </m:r>
                                      </m:e>
                                    </m:acc>
                                  </m:e>
                                </m:d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-177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-40.2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/>
                            <a:t>20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/>
                            <a:t>12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-157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-28.2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endParaRPr lang="en-GB" sz="1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/>
                            <a:t>50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/>
                            <a:t>20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-127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-20.2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/>
                            <a:t>80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/>
                            <a:t>50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-97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9.8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endParaRPr lang="en-GB" sz="1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/>
                            <a:t>140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/>
                            <a:t>25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-37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-15.2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endParaRPr lang="en-GB" sz="1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/>
                            <a:t>200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/>
                            <a:t>40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-0.2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endParaRPr lang="en-GB" sz="1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/>
                            <a:t>250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/>
                            <a:t>60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73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19.8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endParaRPr lang="en-GB" sz="1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/>
                            <a:t>280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/>
                            <a:t>50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103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9.8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endParaRPr lang="en-GB" sz="1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/>
                            <a:t>350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/>
                            <a:t>65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173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24.8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/>
                            <a:t>400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/>
                            <a:t>80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223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39.8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600" dirty="0"/>
                            <a:t>Total=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600" dirty="0"/>
                            <a:t>1770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600" dirty="0"/>
                            <a:t>402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35848226"/>
                  </p:ext>
                </p:extLst>
              </p:nvPr>
            </p:nvGraphicFramePr>
            <p:xfrm>
              <a:off x="457200" y="883920"/>
              <a:ext cx="7162800" cy="3749040"/>
            </p:xfrm>
            <a:graphic>
              <a:graphicData uri="http://schemas.openxmlformats.org/drawingml/2006/table">
                <a:tbl>
                  <a:tblPr firstRow="1" lastRow="1" bandRow="1">
                    <a:tableStyleId>{8EC20E35-A176-4012-BC5E-935CFFF8708E}</a:tableStyleId>
                  </a:tblPr>
                  <a:tblGrid>
                    <a:gridCol w="1193800"/>
                    <a:gridCol w="863600"/>
                    <a:gridCol w="990600"/>
                    <a:gridCol w="914400"/>
                    <a:gridCol w="990600"/>
                    <a:gridCol w="2209800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r="-499490" b="-94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138028" r="-589437" b="-94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208642" r="-416667" b="-94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333333" r="-350000" b="-94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398773" r="-222086" b="-94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224586" b="-946667"/>
                          </a:stretch>
                        </a:blipFill>
                      </a:tcPr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 smtClean="0"/>
                            <a:t>0</a:t>
                          </a:r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 smtClean="0"/>
                            <a:t>0</a:t>
                          </a:r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-177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-40.2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ctr"/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 smtClean="0"/>
                            <a:t>20</a:t>
                          </a:r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 smtClean="0"/>
                            <a:t>12</a:t>
                          </a:r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-157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-28.2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ctr"/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endParaRPr lang="en-GB" sz="1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 smtClean="0"/>
                            <a:t>50</a:t>
                          </a:r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 smtClean="0"/>
                            <a:t>20</a:t>
                          </a:r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-127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-20.2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ctr"/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 smtClean="0"/>
                            <a:t>80</a:t>
                          </a:r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 smtClean="0"/>
                            <a:t>50</a:t>
                          </a:r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-97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9.8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ctr"/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endParaRPr lang="en-GB" sz="1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 smtClean="0"/>
                            <a:t>140</a:t>
                          </a:r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 smtClean="0"/>
                            <a:t>25</a:t>
                          </a:r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-37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-15.2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ctr"/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endParaRPr lang="en-GB" sz="1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 smtClean="0"/>
                            <a:t>200</a:t>
                          </a:r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 smtClean="0"/>
                            <a:t>40</a:t>
                          </a:r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-0.2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ctr"/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endParaRPr lang="en-GB" sz="1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 smtClean="0"/>
                            <a:t>250</a:t>
                          </a:r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 smtClean="0"/>
                            <a:t>60</a:t>
                          </a:r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73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19.8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ctr"/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endParaRPr lang="en-GB" sz="1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 smtClean="0"/>
                            <a:t>280</a:t>
                          </a:r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 smtClean="0"/>
                            <a:t>50</a:t>
                          </a:r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103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9.8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ctr"/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endParaRPr lang="en-GB" sz="1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 smtClean="0"/>
                            <a:t>350</a:t>
                          </a:r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 smtClean="0"/>
                            <a:t>65</a:t>
                          </a:r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173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24.8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ctr"/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 smtClean="0"/>
                            <a:t>400</a:t>
                          </a:r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 smtClean="0"/>
                            <a:t>80</a:t>
                          </a:r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223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39.8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ctr"/>
                    </a:tc>
                  </a:tr>
                  <a:tr h="33528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600" dirty="0" smtClean="0"/>
                            <a:t>Total=</a:t>
                          </a:r>
                          <a:endParaRPr lang="en-GB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600" dirty="0" smtClean="0"/>
                            <a:t>1770</a:t>
                          </a:r>
                          <a:endParaRPr lang="en-GB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600" dirty="0" smtClean="0"/>
                            <a:t>402</a:t>
                          </a:r>
                          <a:endParaRPr lang="en-GB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en-GB" sz="16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07241309"/>
                  </p:ext>
                </p:extLst>
              </p:nvPr>
            </p:nvGraphicFramePr>
            <p:xfrm>
              <a:off x="457200" y="896816"/>
              <a:ext cx="7162800" cy="3749040"/>
            </p:xfrm>
            <a:graphic>
              <a:graphicData uri="http://schemas.openxmlformats.org/drawingml/2006/table">
                <a:tbl>
                  <a:tblPr firstRow="1" lastRow="1" bandRow="1">
                    <a:tableStyleId>{8EC20E35-A176-4012-BC5E-935CFFF8708E}</a:tableStyleId>
                  </a:tblPr>
                  <a:tblGrid>
                    <a:gridCol w="11938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636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90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9906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22098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latin typeface="Cambria Math"/>
                                  </a:rPr>
                                  <m:t>𝑛</m:t>
                                </m:r>
                                <m:r>
                                  <a:rPr lang="en-GB" i="1" dirty="0" smtClean="0">
                                    <a:latin typeface="Cambria Math"/>
                                  </a:rPr>
                                  <m:t>=10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dirty="0" smtClean="0">
                                        <a:latin typeface="Cambria Math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GB" dirty="0" smtClean="0">
                                        <a:latin typeface="Cambria Math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dirty="0" smtClean="0">
                                        <a:latin typeface="Cambria Math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GB" dirty="0" smtClean="0">
                                        <a:latin typeface="Cambria Math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1" i="1">
                                        <a:latin typeface="Cambria Math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GB" sz="1800" b="1" i="1">
                                        <a:latin typeface="Cambria Math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GB" sz="1800" b="1" i="1">
                                    <a:latin typeface="Cambria Math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1800" b="1" i="1">
                                        <a:latin typeface="Cambria Math"/>
                                      </a:rPr>
                                      <m:t>𝒙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1" i="1" smtClean="0">
                                        <a:latin typeface="Cambria Math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GB" sz="1800" b="1" i="1">
                                        <a:latin typeface="Cambria Math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GB" sz="1800" b="1" i="1">
                                    <a:latin typeface="Cambria Math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1800" b="1" i="1" smtClean="0">
                                        <a:latin typeface="Cambria Math"/>
                                      </a:rPr>
                                      <m:t>𝒚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GB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GB" sz="18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1800" b="1" i="1">
                                            <a:latin typeface="Cambria Math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GB" sz="1800" b="1" i="1">
                                            <a:latin typeface="Cambria Math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  <m:r>
                                      <a:rPr lang="en-GB" sz="1800" b="1" i="1">
                                        <a:latin typeface="Cambria Math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GB" sz="18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GB" sz="1800" b="1" i="1">
                                            <a:latin typeface="Cambria Math"/>
                                          </a:rPr>
                                          <m:t>𝒙</m:t>
                                        </m:r>
                                      </m:e>
                                    </m:acc>
                                  </m:e>
                                </m:d>
                                <m:d>
                                  <m:dPr>
                                    <m:ctrlP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GB" sz="18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1800" b="1" i="1">
                                            <a:latin typeface="Cambria Math"/>
                                          </a:rPr>
                                          <m:t>𝒚</m:t>
                                        </m:r>
                                      </m:e>
                                      <m:sub>
                                        <m:r>
                                          <a:rPr lang="en-GB" sz="1800" b="1" i="1">
                                            <a:latin typeface="Cambria Math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  <m:r>
                                      <a:rPr lang="en-GB" sz="1800" b="1" i="1">
                                        <a:latin typeface="Cambria Math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GB" sz="18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GB" sz="1800" b="1" i="1">
                                            <a:latin typeface="Cambria Math"/>
                                          </a:rPr>
                                          <m:t>𝒚</m:t>
                                        </m:r>
                                      </m:e>
                                    </m:acc>
                                  </m:e>
                                </m:d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1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1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/>
                            <a:t>20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/>
                            <a:t>12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1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1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endParaRPr lang="en-GB" sz="1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/>
                            <a:t>50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/>
                            <a:t>20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1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1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/>
                            <a:t>80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/>
                            <a:t>50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1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1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endParaRPr lang="en-GB" sz="1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/>
                            <a:t>140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/>
                            <a:t>25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1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1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endParaRPr lang="en-GB" sz="1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/>
                            <a:t>200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/>
                            <a:t>40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1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1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endParaRPr lang="en-GB" sz="1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/>
                            <a:t>250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/>
                            <a:t>60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1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1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endParaRPr lang="en-GB" sz="1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/>
                            <a:t>280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/>
                            <a:t>50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1400" kern="120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1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endParaRPr lang="en-GB" sz="1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/>
                            <a:t>350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/>
                            <a:t>65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1400" kern="120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1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/>
                            <a:t>400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/>
                            <a:t>80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1400" kern="120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1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600" dirty="0"/>
                            <a:t>Total=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600" dirty="0"/>
                            <a:t>1770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600" dirty="0"/>
                            <a:t>402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07241309"/>
                  </p:ext>
                </p:extLst>
              </p:nvPr>
            </p:nvGraphicFramePr>
            <p:xfrm>
              <a:off x="457200" y="896816"/>
              <a:ext cx="7162800" cy="3749040"/>
            </p:xfrm>
            <a:graphic>
              <a:graphicData uri="http://schemas.openxmlformats.org/drawingml/2006/table">
                <a:tbl>
                  <a:tblPr firstRow="1" lastRow="1" bandRow="1">
                    <a:tableStyleId>{8EC20E35-A176-4012-BC5E-935CFFF8708E}</a:tableStyleId>
                  </a:tblPr>
                  <a:tblGrid>
                    <a:gridCol w="1193800"/>
                    <a:gridCol w="863600"/>
                    <a:gridCol w="990600"/>
                    <a:gridCol w="914400"/>
                    <a:gridCol w="990600"/>
                    <a:gridCol w="2209800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5"/>
                          <a:stretch>
                            <a:fillRect r="-499490" b="-94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5"/>
                          <a:stretch>
                            <a:fillRect l="-138028" r="-589437" b="-94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5"/>
                          <a:stretch>
                            <a:fillRect l="-208642" r="-416667" b="-94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5"/>
                          <a:stretch>
                            <a:fillRect l="-333333" r="-350000" b="-94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5"/>
                          <a:stretch>
                            <a:fillRect l="-398773" r="-222086" b="-94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5"/>
                          <a:stretch>
                            <a:fillRect l="-224586" b="-946667"/>
                          </a:stretch>
                        </a:blipFill>
                      </a:tcPr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 smtClean="0"/>
                            <a:t>0</a:t>
                          </a:r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 smtClean="0"/>
                            <a:t>0</a:t>
                          </a:r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1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1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ctr"/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 smtClean="0"/>
                            <a:t>20</a:t>
                          </a:r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 smtClean="0"/>
                            <a:t>12</a:t>
                          </a:r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1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1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ctr"/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endParaRPr lang="en-GB" sz="1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 smtClean="0"/>
                            <a:t>50</a:t>
                          </a:r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 smtClean="0"/>
                            <a:t>20</a:t>
                          </a:r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1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1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ctr"/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 smtClean="0"/>
                            <a:t>80</a:t>
                          </a:r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 smtClean="0"/>
                            <a:t>50</a:t>
                          </a:r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1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1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ctr"/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endParaRPr lang="en-GB" sz="1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 smtClean="0"/>
                            <a:t>140</a:t>
                          </a:r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 smtClean="0"/>
                            <a:t>25</a:t>
                          </a:r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1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1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ctr"/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endParaRPr lang="en-GB" sz="1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 smtClean="0"/>
                            <a:t>200</a:t>
                          </a:r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 smtClean="0"/>
                            <a:t>40</a:t>
                          </a:r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1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1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ctr"/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endParaRPr lang="en-GB" sz="1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 smtClean="0"/>
                            <a:t>250</a:t>
                          </a:r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 smtClean="0"/>
                            <a:t>60</a:t>
                          </a:r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1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1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ctr"/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endParaRPr lang="en-GB" sz="1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 smtClean="0"/>
                            <a:t>280</a:t>
                          </a:r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 smtClean="0"/>
                            <a:t>50</a:t>
                          </a:r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1400" kern="120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1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ctr"/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endParaRPr lang="en-GB" sz="1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 smtClean="0"/>
                            <a:t>350</a:t>
                          </a:r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 smtClean="0"/>
                            <a:t>65</a:t>
                          </a:r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1400" kern="120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1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ctr"/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 smtClean="0"/>
                            <a:t>400</a:t>
                          </a:r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 smtClean="0"/>
                            <a:t>80</a:t>
                          </a:r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1400" kern="120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1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ctr"/>
                    </a:tc>
                  </a:tr>
                  <a:tr h="33528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600" dirty="0" smtClean="0"/>
                            <a:t>Total=</a:t>
                          </a:r>
                          <a:endParaRPr lang="en-GB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600" dirty="0" smtClean="0"/>
                            <a:t>1770</a:t>
                          </a:r>
                          <a:endParaRPr lang="en-GB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600" dirty="0" smtClean="0"/>
                            <a:t>402</a:t>
                          </a:r>
                          <a:endParaRPr lang="en-GB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en-GB" sz="16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4304319"/>
              </p:ext>
            </p:extLst>
          </p:nvPr>
        </p:nvGraphicFramePr>
        <p:xfrm>
          <a:off x="457200" y="4800600"/>
          <a:ext cx="3048000" cy="670560"/>
        </p:xfrm>
        <a:graphic>
          <a:graphicData uri="http://schemas.openxmlformats.org/drawingml/2006/table">
            <a:tbl>
              <a:tblPr lastRow="1" bandRow="1">
                <a:tableStyleId>{8EC20E35-A176-4012-BC5E-935CFFF8708E}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8869">
                <a:tc>
                  <a:txBody>
                    <a:bodyPr/>
                    <a:lstStyle/>
                    <a:p>
                      <a:pPr algn="r"/>
                      <a:r>
                        <a:rPr lang="en-GB" sz="1600" dirty="0"/>
                        <a:t>Mean=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600" dirty="0"/>
                        <a:t>177.0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600" dirty="0"/>
                        <a:t>40.2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869">
                <a:tc>
                  <a:txBody>
                    <a:bodyPr/>
                    <a:lstStyle/>
                    <a:p>
                      <a:pPr algn="r"/>
                      <a:r>
                        <a:rPr lang="en-GB" sz="1600" dirty="0"/>
                        <a:t>SD=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141.03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25.46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Flowchart: Document 9"/>
              <p:cNvSpPr/>
              <p:nvPr/>
            </p:nvSpPr>
            <p:spPr>
              <a:xfrm>
                <a:off x="3525837" y="0"/>
                <a:ext cx="3941763" cy="797614"/>
              </a:xfrm>
              <a:prstGeom prst="flowChartDocumen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1600" b="0" i="0" smtClean="0">
                          <a:latin typeface="Cambria Math"/>
                        </a:rPr>
                        <m:t>cov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en-GB" sz="1600" b="0" i="1" smtClean="0">
                              <a:latin typeface="Cambria Math"/>
                            </a:rPr>
                            <m:t>,</m:t>
                          </m:r>
                          <m:r>
                            <a:rPr lang="en-GB" sz="1600" b="0" i="1" smtClean="0"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en-GB" sz="16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/>
                            </a:rPr>
                            <m:t>𝑛</m:t>
                          </m:r>
                          <m:r>
                            <a:rPr lang="en-GB" sz="1600" b="0" i="1" smtClean="0">
                              <a:latin typeface="Cambria Math"/>
                            </a:rPr>
                            <m:t>−1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GB" sz="1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GB" sz="1600" b="0" i="1" smtClean="0">
                              <a:latin typeface="Cambria Math"/>
                            </a:rPr>
                            <m:t>𝑖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GB" sz="16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>
                                      <a:latin typeface="Cambria Math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GB" sz="1600" b="1" i="1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GB" sz="1600" b="1" i="1">
                                  <a:latin typeface="Cambria Math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sz="1600" b="1" i="1">
                                      <a:latin typeface="Cambria Math"/>
                                    </a:rPr>
                                    <m:t>𝒙</m:t>
                                  </m:r>
                                </m:e>
                              </m:acc>
                            </m:e>
                          </m:d>
                          <m:d>
                            <m:dPr>
                              <m:ctrlPr>
                                <a:rPr lang="en-GB" sz="16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>
                                      <a:latin typeface="Cambria Math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n-GB" sz="1600" b="1" i="1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GB" sz="1600" b="1" i="1">
                                  <a:latin typeface="Cambria Math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sz="1600" b="1" i="1">
                                      <a:latin typeface="Cambria Math"/>
                                    </a:rPr>
                                    <m:t>𝒚</m:t>
                                  </m:r>
                                </m:e>
                              </m:acc>
                            </m:e>
                          </m:d>
                        </m:e>
                      </m:nary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0" name="Flowchart: Document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5837" y="0"/>
                <a:ext cx="3941763" cy="797614"/>
              </a:xfrm>
              <a:prstGeom prst="flowChartDocumen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Flowchart: Document 10"/>
              <p:cNvSpPr/>
              <p:nvPr/>
            </p:nvSpPr>
            <p:spPr>
              <a:xfrm>
                <a:off x="7620000" y="0"/>
                <a:ext cx="1350963" cy="797614"/>
              </a:xfrm>
              <a:prstGeom prst="flowChartDocumen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>
                          <a:latin typeface="Cambria Math"/>
                        </a:rPr>
                        <m:t>𝑟</m:t>
                      </m:r>
                      <m:r>
                        <a:rPr lang="en-GB" sz="16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i="1">
                              <a:latin typeface="Cambria Math"/>
                            </a:rPr>
                            <m:t>𝑐𝑜𝑣</m:t>
                          </m:r>
                          <m:r>
                            <a:rPr lang="en-GB" sz="1600" i="1">
                              <a:latin typeface="Cambria Math"/>
                            </a:rPr>
                            <m:t>(</m:t>
                          </m:r>
                          <m:r>
                            <a:rPr lang="en-GB" sz="1600" i="1">
                              <a:latin typeface="Cambria Math"/>
                            </a:rPr>
                            <m:t>𝑥</m:t>
                          </m:r>
                          <m:r>
                            <a:rPr lang="en-GB" sz="1600" i="1">
                              <a:latin typeface="Cambria Math"/>
                            </a:rPr>
                            <m:t>,</m:t>
                          </m:r>
                          <m:r>
                            <a:rPr lang="en-GB" sz="1600" i="1">
                              <a:latin typeface="Cambria Math"/>
                            </a:rPr>
                            <m:t>𝑦</m:t>
                          </m:r>
                          <m:r>
                            <a:rPr lang="en-GB" sz="1600" i="1">
                              <a:latin typeface="Cambria Math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/>
                                </a:rPr>
                                <m:t>𝑥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1" name="Flowchart: Document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0" y="0"/>
                <a:ext cx="1350963" cy="797614"/>
              </a:xfrm>
              <a:prstGeom prst="flowChartDocumen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9174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43316652"/>
                  </p:ext>
                </p:extLst>
              </p:nvPr>
            </p:nvGraphicFramePr>
            <p:xfrm>
              <a:off x="457200" y="896816"/>
              <a:ext cx="7162800" cy="3749040"/>
            </p:xfrm>
            <a:graphic>
              <a:graphicData uri="http://schemas.openxmlformats.org/drawingml/2006/table">
                <a:tbl>
                  <a:tblPr firstRow="1" lastRow="1" bandRow="1">
                    <a:tableStyleId>{8EC20E35-A176-4012-BC5E-935CFFF8708E}</a:tableStyleId>
                  </a:tblPr>
                  <a:tblGrid>
                    <a:gridCol w="11938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636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90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9906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22098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latin typeface="Cambria Math"/>
                                  </a:rPr>
                                  <m:t>𝑛</m:t>
                                </m:r>
                                <m:r>
                                  <a:rPr lang="en-GB" i="1" dirty="0" smtClean="0">
                                    <a:latin typeface="Cambria Math"/>
                                  </a:rPr>
                                  <m:t>=10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dirty="0" smtClean="0">
                                        <a:latin typeface="Cambria Math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GB" dirty="0" smtClean="0">
                                        <a:latin typeface="Cambria Math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dirty="0" smtClean="0">
                                        <a:latin typeface="Cambria Math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GB" dirty="0" smtClean="0">
                                        <a:latin typeface="Cambria Math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1" i="1">
                                        <a:latin typeface="Cambria Math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GB" sz="1800" b="1" i="1">
                                        <a:latin typeface="Cambria Math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GB" sz="1800" b="1" i="1">
                                    <a:latin typeface="Cambria Math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1800" b="1" i="1">
                                        <a:latin typeface="Cambria Math"/>
                                      </a:rPr>
                                      <m:t>𝒙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1" i="1" smtClean="0">
                                        <a:latin typeface="Cambria Math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GB" sz="1800" b="1" i="1">
                                        <a:latin typeface="Cambria Math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GB" sz="1800" b="1" i="1">
                                    <a:latin typeface="Cambria Math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1800" b="1" i="1" smtClean="0">
                                        <a:latin typeface="Cambria Math"/>
                                      </a:rPr>
                                      <m:t>𝒚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GB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GB" sz="18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1800" b="1" i="1">
                                            <a:latin typeface="Cambria Math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GB" sz="1800" b="1" i="1">
                                            <a:latin typeface="Cambria Math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  <m:r>
                                      <a:rPr lang="en-GB" sz="1800" b="1" i="1">
                                        <a:latin typeface="Cambria Math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GB" sz="18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GB" sz="1800" b="1" i="1">
                                            <a:latin typeface="Cambria Math"/>
                                          </a:rPr>
                                          <m:t>𝒙</m:t>
                                        </m:r>
                                      </m:e>
                                    </m:acc>
                                  </m:e>
                                </m:d>
                                <m:d>
                                  <m:dPr>
                                    <m:ctrlP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GB" sz="18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1800" b="1" i="1">
                                            <a:latin typeface="Cambria Math"/>
                                          </a:rPr>
                                          <m:t>𝒚</m:t>
                                        </m:r>
                                      </m:e>
                                      <m:sub>
                                        <m:r>
                                          <a:rPr lang="en-GB" sz="1800" b="1" i="1">
                                            <a:latin typeface="Cambria Math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  <m:r>
                                      <a:rPr lang="en-GB" sz="1800" b="1" i="1">
                                        <a:latin typeface="Cambria Math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GB" sz="18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GB" sz="1800" b="1" i="1">
                                            <a:latin typeface="Cambria Math"/>
                                          </a:rPr>
                                          <m:t>𝒚</m:t>
                                        </m:r>
                                      </m:e>
                                    </m:acc>
                                  </m:e>
                                </m:d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1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1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/>
                            <a:t>20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/>
                            <a:t>12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1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1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endParaRPr lang="en-GB" sz="1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/>
                            <a:t>50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/>
                            <a:t>20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1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1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/>
                            <a:t>80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/>
                            <a:t>50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1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1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endParaRPr lang="en-GB" sz="1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/>
                            <a:t>140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/>
                            <a:t>25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1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1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endParaRPr lang="en-GB" sz="1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/>
                            <a:t>200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/>
                            <a:t>40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1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1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endParaRPr lang="en-GB" sz="1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/>
                            <a:t>250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/>
                            <a:t>60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1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1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endParaRPr lang="en-GB" sz="1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/>
                            <a:t>280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/>
                            <a:t>50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1400" kern="120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1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endParaRPr lang="en-GB" sz="1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/>
                            <a:t>350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/>
                            <a:t>65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1400" kern="120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1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/>
                            <a:t>400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/>
                            <a:t>80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1400" kern="120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1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600" dirty="0"/>
                            <a:t>Total=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600" dirty="0"/>
                            <a:t>1770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600" dirty="0"/>
                            <a:t>402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43316652"/>
                  </p:ext>
                </p:extLst>
              </p:nvPr>
            </p:nvGraphicFramePr>
            <p:xfrm>
              <a:off x="457200" y="896816"/>
              <a:ext cx="7162800" cy="3749040"/>
            </p:xfrm>
            <a:graphic>
              <a:graphicData uri="http://schemas.openxmlformats.org/drawingml/2006/table">
                <a:tbl>
                  <a:tblPr firstRow="1" lastRow="1" bandRow="1">
                    <a:tableStyleId>{8EC20E35-A176-4012-BC5E-935CFFF8708E}</a:tableStyleId>
                  </a:tblPr>
                  <a:tblGrid>
                    <a:gridCol w="1193800"/>
                    <a:gridCol w="863600"/>
                    <a:gridCol w="990600"/>
                    <a:gridCol w="914400"/>
                    <a:gridCol w="990600"/>
                    <a:gridCol w="2209800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r="-499490" b="-94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38028" r="-589437" b="-94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08642" r="-416667" b="-94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333333" r="-350000" b="-94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398773" r="-222086" b="-94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24586" b="-946667"/>
                          </a:stretch>
                        </a:blipFill>
                      </a:tcPr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 smtClean="0"/>
                            <a:t>0</a:t>
                          </a:r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 smtClean="0"/>
                            <a:t>0</a:t>
                          </a:r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1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1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ctr"/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 smtClean="0"/>
                            <a:t>20</a:t>
                          </a:r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 smtClean="0"/>
                            <a:t>12</a:t>
                          </a:r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1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1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ctr"/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endParaRPr lang="en-GB" sz="1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 smtClean="0"/>
                            <a:t>50</a:t>
                          </a:r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 smtClean="0"/>
                            <a:t>20</a:t>
                          </a:r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1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1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ctr"/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 smtClean="0"/>
                            <a:t>80</a:t>
                          </a:r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 smtClean="0"/>
                            <a:t>50</a:t>
                          </a:r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1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1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ctr"/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endParaRPr lang="en-GB" sz="1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 smtClean="0"/>
                            <a:t>140</a:t>
                          </a:r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 smtClean="0"/>
                            <a:t>25</a:t>
                          </a:r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1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1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ctr"/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endParaRPr lang="en-GB" sz="1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 smtClean="0"/>
                            <a:t>200</a:t>
                          </a:r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 smtClean="0"/>
                            <a:t>40</a:t>
                          </a:r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1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1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ctr"/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endParaRPr lang="en-GB" sz="1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 smtClean="0"/>
                            <a:t>250</a:t>
                          </a:r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 smtClean="0"/>
                            <a:t>60</a:t>
                          </a:r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1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1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ctr"/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endParaRPr lang="en-GB" sz="1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 smtClean="0"/>
                            <a:t>280</a:t>
                          </a:r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 smtClean="0"/>
                            <a:t>50</a:t>
                          </a:r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1400" kern="120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1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ctr"/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endParaRPr lang="en-GB" sz="1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 smtClean="0"/>
                            <a:t>350</a:t>
                          </a:r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 smtClean="0"/>
                            <a:t>65</a:t>
                          </a:r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1400" kern="120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1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ctr"/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 smtClean="0"/>
                            <a:t>400</a:t>
                          </a:r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 smtClean="0"/>
                            <a:t>80</a:t>
                          </a:r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1400" kern="120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1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ctr"/>
                    </a:tc>
                  </a:tr>
                  <a:tr h="33528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600" dirty="0" smtClean="0"/>
                            <a:t>Total=</a:t>
                          </a:r>
                          <a:endParaRPr lang="en-GB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600" dirty="0" smtClean="0"/>
                            <a:t>1770</a:t>
                          </a:r>
                          <a:endParaRPr lang="en-GB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600" dirty="0" smtClean="0"/>
                            <a:t>402</a:t>
                          </a:r>
                          <a:endParaRPr lang="en-GB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en-GB" sz="16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5487443"/>
              </p:ext>
            </p:extLst>
          </p:nvPr>
        </p:nvGraphicFramePr>
        <p:xfrm>
          <a:off x="685800" y="1600200"/>
          <a:ext cx="5638800" cy="3276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10644567"/>
                  </p:ext>
                </p:extLst>
              </p:nvPr>
            </p:nvGraphicFramePr>
            <p:xfrm>
              <a:off x="457200" y="883920"/>
              <a:ext cx="7162800" cy="3749040"/>
            </p:xfrm>
            <a:graphic>
              <a:graphicData uri="http://schemas.openxmlformats.org/drawingml/2006/table">
                <a:tbl>
                  <a:tblPr firstRow="1" lastRow="1" bandRow="1">
                    <a:tableStyleId>{8EC20E35-A176-4012-BC5E-935CFFF8708E}</a:tableStyleId>
                  </a:tblPr>
                  <a:tblGrid>
                    <a:gridCol w="11938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636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90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9906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22098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latin typeface="Cambria Math"/>
                                  </a:rPr>
                                  <m:t>𝑛</m:t>
                                </m:r>
                                <m:r>
                                  <a:rPr lang="en-GB" i="1" dirty="0" smtClean="0">
                                    <a:latin typeface="Cambria Math"/>
                                  </a:rPr>
                                  <m:t>=10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dirty="0" smtClean="0">
                                        <a:latin typeface="Cambria Math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GB" dirty="0" smtClean="0">
                                        <a:latin typeface="Cambria Math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dirty="0" smtClean="0">
                                        <a:latin typeface="Cambria Math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GB" dirty="0" smtClean="0">
                                        <a:latin typeface="Cambria Math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1" i="1">
                                        <a:latin typeface="Cambria Math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GB" sz="1800" b="1" i="1">
                                        <a:latin typeface="Cambria Math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GB" sz="1800" b="1" i="1">
                                    <a:latin typeface="Cambria Math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1800" b="1" i="1">
                                        <a:latin typeface="Cambria Math"/>
                                      </a:rPr>
                                      <m:t>𝒙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1" i="1" smtClean="0">
                                        <a:latin typeface="Cambria Math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GB" sz="1800" b="1" i="1">
                                        <a:latin typeface="Cambria Math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GB" sz="1800" b="1" i="1">
                                    <a:latin typeface="Cambria Math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1800" b="1" i="1" smtClean="0">
                                        <a:latin typeface="Cambria Math"/>
                                      </a:rPr>
                                      <m:t>𝒚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GB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GB" sz="18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1800" b="1" i="1">
                                            <a:latin typeface="Cambria Math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GB" sz="1800" b="1" i="1">
                                            <a:latin typeface="Cambria Math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  <m:r>
                                      <a:rPr lang="en-GB" sz="1800" b="1" i="1">
                                        <a:latin typeface="Cambria Math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GB" sz="18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GB" sz="1800" b="1" i="1">
                                            <a:latin typeface="Cambria Math"/>
                                          </a:rPr>
                                          <m:t>𝒙</m:t>
                                        </m:r>
                                      </m:e>
                                    </m:acc>
                                  </m:e>
                                </m:d>
                                <m:d>
                                  <m:dPr>
                                    <m:ctrlP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GB" sz="18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1800" b="1" i="1">
                                            <a:latin typeface="Cambria Math"/>
                                          </a:rPr>
                                          <m:t>𝒚</m:t>
                                        </m:r>
                                      </m:e>
                                      <m:sub>
                                        <m:r>
                                          <a:rPr lang="en-GB" sz="1800" b="1" i="1">
                                            <a:latin typeface="Cambria Math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  <m:r>
                                      <a:rPr lang="en-GB" sz="1800" b="1" i="1">
                                        <a:latin typeface="Cambria Math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GB" sz="18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GB" sz="1800" b="1" i="1">
                                            <a:latin typeface="Cambria Math"/>
                                          </a:rPr>
                                          <m:t>𝒚</m:t>
                                        </m:r>
                                      </m:e>
                                    </m:acc>
                                  </m:e>
                                </m:d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-177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-40.2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7115.4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/>
                            <a:t>20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/>
                            <a:t>12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-157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-28.2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4427.4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endParaRPr lang="en-GB" sz="1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/>
                            <a:t>50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/>
                            <a:t>20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-127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-20.2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2565.4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/>
                            <a:t>80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/>
                            <a:t>50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-97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9.8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-950.6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endParaRPr lang="en-GB" sz="1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/>
                            <a:t>140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/>
                            <a:t>25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-37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-15.2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562.4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endParaRPr lang="en-GB" sz="1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/>
                            <a:t>200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/>
                            <a:t>40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-0.2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-4.6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endParaRPr lang="en-GB" sz="1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/>
                            <a:t>250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/>
                            <a:t>60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73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19.8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1445.4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endParaRPr lang="en-GB" sz="1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/>
                            <a:t>280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/>
                            <a:t>50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103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9.8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1009.4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endParaRPr lang="en-GB" sz="1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/>
                            <a:t>350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/>
                            <a:t>65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173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24.8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4290.4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/>
                            <a:t>400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/>
                            <a:t>80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223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39.8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8875.4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600" dirty="0"/>
                            <a:t>Total=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600" dirty="0"/>
                            <a:t>1770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600" dirty="0"/>
                            <a:t>402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600" dirty="0"/>
                            <a:t>29336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10644567"/>
                  </p:ext>
                </p:extLst>
              </p:nvPr>
            </p:nvGraphicFramePr>
            <p:xfrm>
              <a:off x="457200" y="883920"/>
              <a:ext cx="7162800" cy="3749040"/>
            </p:xfrm>
            <a:graphic>
              <a:graphicData uri="http://schemas.openxmlformats.org/drawingml/2006/table">
                <a:tbl>
                  <a:tblPr firstRow="1" lastRow="1" bandRow="1">
                    <a:tableStyleId>{8EC20E35-A176-4012-BC5E-935CFFF8708E}</a:tableStyleId>
                  </a:tblPr>
                  <a:tblGrid>
                    <a:gridCol w="1193800"/>
                    <a:gridCol w="863600"/>
                    <a:gridCol w="990600"/>
                    <a:gridCol w="914400"/>
                    <a:gridCol w="990600"/>
                    <a:gridCol w="2209800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5"/>
                          <a:stretch>
                            <a:fillRect r="-499490" b="-94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5"/>
                          <a:stretch>
                            <a:fillRect l="-138028" r="-589437" b="-94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5"/>
                          <a:stretch>
                            <a:fillRect l="-208642" r="-416667" b="-94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5"/>
                          <a:stretch>
                            <a:fillRect l="-333333" r="-350000" b="-94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5"/>
                          <a:stretch>
                            <a:fillRect l="-398773" r="-222086" b="-94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5"/>
                          <a:stretch>
                            <a:fillRect l="-224586" b="-946667"/>
                          </a:stretch>
                        </a:blipFill>
                      </a:tcPr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 smtClean="0"/>
                            <a:t>0</a:t>
                          </a:r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 smtClean="0"/>
                            <a:t>0</a:t>
                          </a:r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-177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-40.2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7115.4</a:t>
                          </a:r>
                        </a:p>
                      </a:txBody>
                      <a:tcPr marL="9525" marR="9525" marT="9525" marB="0" anchor="ctr"/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 smtClean="0"/>
                            <a:t>20</a:t>
                          </a:r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 smtClean="0"/>
                            <a:t>12</a:t>
                          </a:r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-157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-28.2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4427.4</a:t>
                          </a:r>
                        </a:p>
                      </a:txBody>
                      <a:tcPr marL="9525" marR="9525" marT="9525" marB="0" anchor="ctr"/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endParaRPr lang="en-GB" sz="1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 smtClean="0"/>
                            <a:t>50</a:t>
                          </a:r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 smtClean="0"/>
                            <a:t>20</a:t>
                          </a:r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-127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-20.2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2565.4</a:t>
                          </a:r>
                        </a:p>
                      </a:txBody>
                      <a:tcPr marL="9525" marR="9525" marT="9525" marB="0" anchor="ctr"/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 smtClean="0"/>
                            <a:t>80</a:t>
                          </a:r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 smtClean="0"/>
                            <a:t>50</a:t>
                          </a:r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-97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9.8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-950.6</a:t>
                          </a:r>
                        </a:p>
                      </a:txBody>
                      <a:tcPr marL="9525" marR="9525" marT="9525" marB="0" anchor="ctr"/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endParaRPr lang="en-GB" sz="1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 smtClean="0"/>
                            <a:t>140</a:t>
                          </a:r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 smtClean="0"/>
                            <a:t>25</a:t>
                          </a:r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-37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-15.2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562.4</a:t>
                          </a:r>
                        </a:p>
                      </a:txBody>
                      <a:tcPr marL="9525" marR="9525" marT="9525" marB="0" anchor="ctr"/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endParaRPr lang="en-GB" sz="1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 smtClean="0"/>
                            <a:t>200</a:t>
                          </a:r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 smtClean="0"/>
                            <a:t>40</a:t>
                          </a:r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-0.2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-4.6</a:t>
                          </a:r>
                        </a:p>
                      </a:txBody>
                      <a:tcPr marL="9525" marR="9525" marT="9525" marB="0" anchor="ctr"/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endParaRPr lang="en-GB" sz="1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 smtClean="0"/>
                            <a:t>250</a:t>
                          </a:r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 smtClean="0"/>
                            <a:t>60</a:t>
                          </a:r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73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19.8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1445.4</a:t>
                          </a:r>
                        </a:p>
                      </a:txBody>
                      <a:tcPr marL="9525" marR="9525" marT="9525" marB="0" anchor="ctr"/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endParaRPr lang="en-GB" sz="1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 smtClean="0"/>
                            <a:t>280</a:t>
                          </a:r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 smtClean="0"/>
                            <a:t>50</a:t>
                          </a:r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103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9.8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1009.4</a:t>
                          </a:r>
                        </a:p>
                      </a:txBody>
                      <a:tcPr marL="9525" marR="9525" marT="9525" marB="0" anchor="ctr"/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endParaRPr lang="en-GB" sz="1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 smtClean="0"/>
                            <a:t>350</a:t>
                          </a:r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 smtClean="0"/>
                            <a:t>65</a:t>
                          </a:r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173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24.8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4290.4</a:t>
                          </a:r>
                        </a:p>
                      </a:txBody>
                      <a:tcPr marL="9525" marR="9525" marT="9525" marB="0" anchor="ctr"/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pPr algn="r"/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 smtClean="0"/>
                            <a:t>400</a:t>
                          </a:r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400" dirty="0" smtClean="0"/>
                            <a:t>80</a:t>
                          </a:r>
                          <a:endParaRPr lang="en-GB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223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39.8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8875.4</a:t>
                          </a:r>
                        </a:p>
                      </a:txBody>
                      <a:tcPr marL="9525" marR="9525" marT="9525" marB="0" anchor="ctr"/>
                    </a:tc>
                  </a:tr>
                  <a:tr h="33528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600" dirty="0" smtClean="0"/>
                            <a:t>Total=</a:t>
                          </a:r>
                          <a:endParaRPr lang="en-GB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600" dirty="0" smtClean="0"/>
                            <a:t>1770</a:t>
                          </a:r>
                          <a:endParaRPr lang="en-GB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600" dirty="0" smtClean="0"/>
                            <a:t>402</a:t>
                          </a:r>
                          <a:endParaRPr lang="en-GB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600" dirty="0" smtClean="0"/>
                            <a:t>29336</a:t>
                          </a:r>
                          <a:endParaRPr lang="en-GB" sz="16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1766597"/>
              </p:ext>
            </p:extLst>
          </p:nvPr>
        </p:nvGraphicFramePr>
        <p:xfrm>
          <a:off x="457200" y="4800600"/>
          <a:ext cx="3048000" cy="670560"/>
        </p:xfrm>
        <a:graphic>
          <a:graphicData uri="http://schemas.openxmlformats.org/drawingml/2006/table">
            <a:tbl>
              <a:tblPr lastRow="1" bandRow="1">
                <a:tableStyleId>{8EC20E35-A176-4012-BC5E-935CFFF8708E}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8869">
                <a:tc>
                  <a:txBody>
                    <a:bodyPr/>
                    <a:lstStyle/>
                    <a:p>
                      <a:pPr algn="r"/>
                      <a:r>
                        <a:rPr lang="en-GB" sz="1600" dirty="0"/>
                        <a:t>Mean=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600" dirty="0"/>
                        <a:t>177.0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600" dirty="0"/>
                        <a:t>40.2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869">
                <a:tc>
                  <a:txBody>
                    <a:bodyPr/>
                    <a:lstStyle/>
                    <a:p>
                      <a:pPr algn="r"/>
                      <a:r>
                        <a:rPr lang="en-GB" sz="1600" dirty="0"/>
                        <a:t>SD=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141.03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25.46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61271245"/>
                  </p:ext>
                </p:extLst>
              </p:nvPr>
            </p:nvGraphicFramePr>
            <p:xfrm>
              <a:off x="4267200" y="4800600"/>
              <a:ext cx="3352800" cy="670560"/>
            </p:xfrm>
            <a:graphic>
              <a:graphicData uri="http://schemas.openxmlformats.org/drawingml/2006/table">
                <a:tbl>
                  <a:tblPr lastRow="1" bandRow="1">
                    <a:tableStyleId>{8EC20E35-A176-4012-BC5E-935CFFF8708E}</a:tableStyleId>
                  </a:tblPr>
                  <a:tblGrid>
                    <a:gridCol w="12954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35280">
                    <a:tc>
                      <a:txBody>
                        <a:bodyPr/>
                        <a:lstStyle/>
                        <a:p>
                          <a:pPr marL="0" marR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GB" sz="1600" b="1" i="0" dirty="0" smtClean="0">
                                    <a:latin typeface="Cambria Math"/>
                                  </a:rPr>
                                  <m:t>𝐜𝐨𝐯</m:t>
                                </m:r>
                                <m:d>
                                  <m:dPr>
                                    <m:ctrlPr>
                                      <a:rPr lang="en-GB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1600" i="1" dirty="0" err="1" smtClean="0">
                                        <a:latin typeface="Cambria Math"/>
                                      </a:rPr>
                                      <m:t>𝑥</m:t>
                                    </m:r>
                                    <m:r>
                                      <a:rPr lang="en-GB" sz="1600" i="1" dirty="0" err="1" smtClean="0"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GB" sz="1600" i="1" dirty="0" err="1" smtClean="0">
                                        <a:latin typeface="Cambria Math"/>
                                      </a:rPr>
                                      <m:t>𝑦</m:t>
                                    </m:r>
                                  </m:e>
                                </m:d>
                                <m:r>
                                  <a:rPr lang="en-GB" sz="1600" b="0" i="1" dirty="0" smtClean="0"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GB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600" dirty="0"/>
                            <a:t>3259.55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GB" sz="1600" b="1" i="1" dirty="0" smtClean="0">
                                    <a:latin typeface="Cambria Math"/>
                                  </a:rPr>
                                  <m:t>𝒓</m:t>
                                </m:r>
                                <m:r>
                                  <a:rPr lang="en-GB" sz="1600" i="1" dirty="0" smtClean="0"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GB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0.9078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61271245"/>
                  </p:ext>
                </p:extLst>
              </p:nvPr>
            </p:nvGraphicFramePr>
            <p:xfrm>
              <a:off x="4267200" y="4800600"/>
              <a:ext cx="3352800" cy="670560"/>
            </p:xfrm>
            <a:graphic>
              <a:graphicData uri="http://schemas.openxmlformats.org/drawingml/2006/table">
                <a:tbl>
                  <a:tblPr lastRow="1" bandRow="1">
                    <a:tableStyleId>{8EC20E35-A176-4012-BC5E-935CFFF8708E}</a:tableStyleId>
                  </a:tblPr>
                  <a:tblGrid>
                    <a:gridCol w="1295400"/>
                    <a:gridCol w="2057400"/>
                  </a:tblGrid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6"/>
                          <a:stretch>
                            <a:fillRect t="-5455" r="-158216" b="-12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600" dirty="0" smtClean="0"/>
                            <a:t>3259.55</a:t>
                          </a:r>
                          <a:endParaRPr lang="en-GB" sz="1600" dirty="0"/>
                        </a:p>
                      </a:txBody>
                      <a:tcPr/>
                    </a:tc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6"/>
                          <a:stretch>
                            <a:fillRect t="-105455" r="-158216" b="-2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 smtClean="0"/>
                            <a:t>0.9078</a:t>
                          </a:r>
                          <a:endParaRPr lang="en-GB" sz="16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Flowchart: Document 9"/>
              <p:cNvSpPr/>
              <p:nvPr/>
            </p:nvSpPr>
            <p:spPr>
              <a:xfrm>
                <a:off x="3525837" y="0"/>
                <a:ext cx="3941763" cy="797614"/>
              </a:xfrm>
              <a:prstGeom prst="flowChartDocumen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1600" b="0" i="0" smtClean="0">
                          <a:latin typeface="Cambria Math"/>
                        </a:rPr>
                        <m:t>cov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en-GB" sz="1600" b="0" i="1" smtClean="0">
                              <a:latin typeface="Cambria Math"/>
                            </a:rPr>
                            <m:t>,</m:t>
                          </m:r>
                          <m:r>
                            <a:rPr lang="en-GB" sz="1600" b="0" i="1" smtClean="0"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en-GB" sz="16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/>
                            </a:rPr>
                            <m:t>𝑛</m:t>
                          </m:r>
                          <m:r>
                            <a:rPr lang="en-GB" sz="1600" b="0" i="1" smtClean="0">
                              <a:latin typeface="Cambria Math"/>
                            </a:rPr>
                            <m:t>−1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GB" sz="1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GB" sz="1600" b="0" i="1" smtClean="0">
                              <a:latin typeface="Cambria Math"/>
                            </a:rPr>
                            <m:t>𝑖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GB" sz="16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>
                                      <a:latin typeface="Cambria Math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GB" sz="1600" b="1" i="1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GB" sz="1600" b="1" i="1">
                                  <a:latin typeface="Cambria Math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sz="1600" b="1" i="1">
                                      <a:latin typeface="Cambria Math"/>
                                    </a:rPr>
                                    <m:t>𝒙</m:t>
                                  </m:r>
                                </m:e>
                              </m:acc>
                            </m:e>
                          </m:d>
                          <m:d>
                            <m:dPr>
                              <m:ctrlPr>
                                <a:rPr lang="en-GB" sz="16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>
                                      <a:latin typeface="Cambria Math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n-GB" sz="1600" b="1" i="1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GB" sz="1600" b="1" i="1">
                                  <a:latin typeface="Cambria Math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sz="1600" b="1" i="1">
                                      <a:latin typeface="Cambria Math"/>
                                    </a:rPr>
                                    <m:t>𝒚</m:t>
                                  </m:r>
                                </m:e>
                              </m:acc>
                            </m:e>
                          </m:d>
                        </m:e>
                      </m:nary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0" name="Flowchart: Document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5837" y="0"/>
                <a:ext cx="3941763" cy="797614"/>
              </a:xfrm>
              <a:prstGeom prst="flowChartDocumen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Flowchart: Document 10"/>
              <p:cNvSpPr/>
              <p:nvPr/>
            </p:nvSpPr>
            <p:spPr>
              <a:xfrm>
                <a:off x="7620000" y="0"/>
                <a:ext cx="1350963" cy="797614"/>
              </a:xfrm>
              <a:prstGeom prst="flowChartDocumen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>
                          <a:latin typeface="Cambria Math"/>
                        </a:rPr>
                        <m:t>𝑟</m:t>
                      </m:r>
                      <m:r>
                        <a:rPr lang="en-GB" sz="16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i="1">
                              <a:latin typeface="Cambria Math"/>
                            </a:rPr>
                            <m:t>𝑐𝑜𝑣</m:t>
                          </m:r>
                          <m:r>
                            <a:rPr lang="en-GB" sz="1600" i="1">
                              <a:latin typeface="Cambria Math"/>
                            </a:rPr>
                            <m:t>(</m:t>
                          </m:r>
                          <m:r>
                            <a:rPr lang="en-GB" sz="1600" i="1">
                              <a:latin typeface="Cambria Math"/>
                            </a:rPr>
                            <m:t>𝑥</m:t>
                          </m:r>
                          <m:r>
                            <a:rPr lang="en-GB" sz="1600" i="1">
                              <a:latin typeface="Cambria Math"/>
                            </a:rPr>
                            <m:t>,</m:t>
                          </m:r>
                          <m:r>
                            <a:rPr lang="en-GB" sz="1600" i="1">
                              <a:latin typeface="Cambria Math"/>
                            </a:rPr>
                            <m:t>𝑦</m:t>
                          </m:r>
                          <m:r>
                            <a:rPr lang="en-GB" sz="1600" i="1">
                              <a:latin typeface="Cambria Math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/>
                                </a:rPr>
                                <m:t>𝑥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1" name="Flowchart: Document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0" y="0"/>
                <a:ext cx="1350963" cy="797614"/>
              </a:xfrm>
              <a:prstGeom prst="flowChartDocumen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2844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89121934"/>
                  </p:ext>
                </p:extLst>
              </p:nvPr>
            </p:nvGraphicFramePr>
            <p:xfrm>
              <a:off x="457201" y="883920"/>
              <a:ext cx="8001000" cy="3558018"/>
            </p:xfrm>
            <a:graphic>
              <a:graphicData uri="http://schemas.openxmlformats.org/drawingml/2006/table">
                <a:tbl>
                  <a:tblPr firstRow="1" lastRow="1" bandRow="1">
                    <a:tableStyleId>{8EC20E35-A176-4012-BC5E-935CFFF8708E}</a:tableStyleId>
                  </a:tblPr>
                  <a:tblGrid>
                    <a:gridCol w="128240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6079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906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981201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41148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i="1" dirty="0" smtClean="0">
                                    <a:latin typeface="Cambria Math"/>
                                  </a:rPr>
                                  <m:t>𝑛</m:t>
                                </m:r>
                                <m:r>
                                  <a:rPr lang="en-GB" sz="1800" i="1" dirty="0" smtClean="0"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GB" sz="1800" b="1" i="1" dirty="0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GB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800" dirty="0"/>
                            <a:t>Advertising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800" dirty="0"/>
                            <a:t>Sale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1" i="1">
                                        <a:latin typeface="Cambria Math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GB" sz="1800" b="1" i="1">
                                        <a:latin typeface="Cambria Math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GB" sz="1800" b="1" i="1">
                                    <a:latin typeface="Cambria Math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1800" b="1" i="1">
                                        <a:latin typeface="Cambria Math"/>
                                      </a:rPr>
                                      <m:t>𝒙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GB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1" i="1" smtClean="0">
                                        <a:latin typeface="Cambria Math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GB" sz="1800" b="1" i="1">
                                        <a:latin typeface="Cambria Math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GB" sz="1800" b="1" i="1">
                                    <a:latin typeface="Cambria Math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1800" b="1" i="1" smtClean="0">
                                        <a:latin typeface="Cambria Math"/>
                                      </a:rPr>
                                      <m:t>𝒚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GB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GB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GB" sz="18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1800" b="1" i="1">
                                            <a:latin typeface="Cambria Math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GB" sz="1800" b="1" i="1">
                                            <a:latin typeface="Cambria Math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  <m:r>
                                      <a:rPr lang="en-GB" sz="1800" b="1" i="1">
                                        <a:latin typeface="Cambria Math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GB" sz="18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GB" sz="1800" b="1" i="1">
                                            <a:latin typeface="Cambria Math"/>
                                          </a:rPr>
                                          <m:t>𝒙</m:t>
                                        </m:r>
                                      </m:e>
                                    </m:acc>
                                  </m:e>
                                </m:d>
                                <m:d>
                                  <m:dPr>
                                    <m:ctrlP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GB" sz="18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1800" b="1" i="1">
                                            <a:latin typeface="Cambria Math"/>
                                          </a:rPr>
                                          <m:t>𝒚</m:t>
                                        </m:r>
                                      </m:e>
                                      <m:sub>
                                        <m:r>
                                          <a:rPr lang="en-GB" sz="1800" b="1" i="1">
                                            <a:latin typeface="Cambria Math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  <m:r>
                                      <a:rPr lang="en-GB" sz="1800" b="1" i="1">
                                        <a:latin typeface="Cambria Math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GB" sz="18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GB" sz="1800" b="1" i="1">
                                            <a:latin typeface="Cambria Math"/>
                                          </a:rPr>
                                          <m:t>𝒚</m:t>
                                        </m:r>
                                      </m:e>
                                    </m:acc>
                                  </m:e>
                                </m:d>
                              </m:oMath>
                            </m:oMathPara>
                          </a14:m>
                          <a:endParaRPr lang="en-GB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r"/>
                          <a:endParaRPr lang="en-GB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2800" dirty="0"/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2800" dirty="0"/>
                            <a:t>60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2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2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GB" sz="2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r"/>
                          <a:endParaRPr lang="en-GB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2800" dirty="0"/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2800" dirty="0"/>
                            <a:t>100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2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2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GB" sz="2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r"/>
                          <a:endParaRPr lang="en-GB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2800" dirty="0"/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2800" dirty="0"/>
                            <a:t>70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2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2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GB" sz="2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r"/>
                          <a:endParaRPr lang="en-GB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2800" dirty="0"/>
                            <a:t>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2800" dirty="0"/>
                            <a:t>90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2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2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GB" sz="2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r"/>
                          <a:endParaRPr lang="en-GB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2800" dirty="0"/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2800" dirty="0"/>
                            <a:t>80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2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2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GB" sz="2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555738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2400" dirty="0"/>
                            <a:t>Total=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2400" dirty="0"/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2400" dirty="0"/>
                            <a:t>400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en-GB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89121934"/>
                  </p:ext>
                </p:extLst>
              </p:nvPr>
            </p:nvGraphicFramePr>
            <p:xfrm>
              <a:off x="457201" y="883920"/>
              <a:ext cx="8001000" cy="3558018"/>
            </p:xfrm>
            <a:graphic>
              <a:graphicData uri="http://schemas.openxmlformats.org/drawingml/2006/table">
                <a:tbl>
                  <a:tblPr firstRow="1" lastRow="1" bandRow="1">
                    <a:tableStyleId>{8EC20E35-A176-4012-BC5E-935CFFF8708E}</a:tableStyleId>
                  </a:tblPr>
                  <a:tblGrid>
                    <a:gridCol w="1282402"/>
                    <a:gridCol w="1460797"/>
                    <a:gridCol w="1371600"/>
                    <a:gridCol w="990600"/>
                    <a:gridCol w="914400"/>
                    <a:gridCol w="1981201"/>
                  </a:tblGrid>
                  <a:tr h="4114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t="-7353" r="-527143" b="-767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800" dirty="0" smtClean="0"/>
                            <a:t>Advertising</a:t>
                          </a:r>
                          <a:endParaRPr lang="en-GB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800" dirty="0" smtClean="0"/>
                            <a:t>Sale</a:t>
                          </a:r>
                          <a:endParaRPr lang="en-GB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414110" t="-7353" r="-293865" b="-767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558667" t="-7353" r="-219333" b="-767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304000" t="-7353" r="-1231" b="-767647"/>
                          </a:stretch>
                        </a:blipFill>
                      </a:tcPr>
                    </a:tc>
                  </a:tr>
                  <a:tr h="518160">
                    <a:tc>
                      <a:txBody>
                        <a:bodyPr/>
                        <a:lstStyle/>
                        <a:p>
                          <a:pPr algn="r"/>
                          <a:endParaRPr lang="en-GB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2800" dirty="0" smtClean="0"/>
                            <a:t>2</a:t>
                          </a:r>
                          <a:endParaRPr lang="en-GB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2800" dirty="0" smtClean="0"/>
                            <a:t>60</a:t>
                          </a:r>
                          <a:endParaRPr lang="en-GB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2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2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GB" sz="2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ctr"/>
                    </a:tc>
                  </a:tr>
                  <a:tr h="518160">
                    <a:tc>
                      <a:txBody>
                        <a:bodyPr/>
                        <a:lstStyle/>
                        <a:p>
                          <a:pPr algn="r"/>
                          <a:endParaRPr lang="en-GB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2800" dirty="0" smtClean="0"/>
                            <a:t>5</a:t>
                          </a:r>
                          <a:endParaRPr lang="en-GB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2800" dirty="0" smtClean="0"/>
                            <a:t>100</a:t>
                          </a:r>
                          <a:endParaRPr lang="en-GB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2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2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GB" sz="2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ctr"/>
                    </a:tc>
                  </a:tr>
                  <a:tr h="518160">
                    <a:tc>
                      <a:txBody>
                        <a:bodyPr/>
                        <a:lstStyle/>
                        <a:p>
                          <a:pPr algn="r"/>
                          <a:endParaRPr lang="en-GB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2800" dirty="0" smtClean="0"/>
                            <a:t>4</a:t>
                          </a:r>
                          <a:endParaRPr lang="en-GB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2800" dirty="0" smtClean="0"/>
                            <a:t>70</a:t>
                          </a:r>
                          <a:endParaRPr lang="en-GB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2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2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GB" sz="2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ctr"/>
                    </a:tc>
                  </a:tr>
                  <a:tr h="518160">
                    <a:tc>
                      <a:txBody>
                        <a:bodyPr/>
                        <a:lstStyle/>
                        <a:p>
                          <a:pPr algn="r"/>
                          <a:endParaRPr lang="en-GB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2800" dirty="0" smtClean="0"/>
                            <a:t>6</a:t>
                          </a:r>
                          <a:endParaRPr lang="en-GB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2800" dirty="0" smtClean="0"/>
                            <a:t>90</a:t>
                          </a:r>
                          <a:endParaRPr lang="en-GB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2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2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GB" sz="2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ctr"/>
                    </a:tc>
                  </a:tr>
                  <a:tr h="518160">
                    <a:tc>
                      <a:txBody>
                        <a:bodyPr/>
                        <a:lstStyle/>
                        <a:p>
                          <a:pPr algn="r"/>
                          <a:endParaRPr lang="en-GB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2800" dirty="0" smtClean="0"/>
                            <a:t>3</a:t>
                          </a:r>
                          <a:endParaRPr lang="en-GB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2800" dirty="0" smtClean="0"/>
                            <a:t>80</a:t>
                          </a:r>
                          <a:endParaRPr lang="en-GB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2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endParaRPr lang="en-GB" sz="2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endParaRPr lang="en-GB" sz="2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9525" marR="9525" marT="9525" marB="0" anchor="ctr"/>
                    </a:tc>
                  </a:tr>
                  <a:tr h="555738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2400" dirty="0" smtClean="0"/>
                            <a:t>Total=</a:t>
                          </a:r>
                          <a:endParaRPr lang="en-GB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2400" dirty="0" smtClean="0"/>
                            <a:t>20</a:t>
                          </a:r>
                          <a:endParaRPr lang="en-GB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2400" dirty="0" smtClean="0"/>
                            <a:t>400</a:t>
                          </a:r>
                          <a:endParaRPr lang="en-GB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en-GB" sz="24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9945744"/>
              </p:ext>
            </p:extLst>
          </p:nvPr>
        </p:nvGraphicFramePr>
        <p:xfrm>
          <a:off x="457200" y="4572000"/>
          <a:ext cx="4114800" cy="838200"/>
        </p:xfrm>
        <a:graphic>
          <a:graphicData uri="http://schemas.openxmlformats.org/drawingml/2006/table">
            <a:tbl>
              <a:tblPr lastRow="1" bandRow="1">
                <a:tableStyleId>{8EC20E35-A176-4012-BC5E-935CFFF8708E}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r"/>
                      <a:r>
                        <a:rPr lang="en-GB" sz="1600" dirty="0"/>
                        <a:t>Mean=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r"/>
                      <a:r>
                        <a:rPr lang="en-GB" sz="1600" dirty="0"/>
                        <a:t>SD=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1.581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15.811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2323457"/>
                  </p:ext>
                </p:extLst>
              </p:nvPr>
            </p:nvGraphicFramePr>
            <p:xfrm>
              <a:off x="5105400" y="4572000"/>
              <a:ext cx="3352800" cy="838200"/>
            </p:xfrm>
            <a:graphic>
              <a:graphicData uri="http://schemas.openxmlformats.org/drawingml/2006/table">
                <a:tbl>
                  <a:tblPr lastRow="1" bandRow="1">
                    <a:tableStyleId>{8EC20E35-A176-4012-BC5E-935CFFF8708E}</a:tableStyleId>
                  </a:tblPr>
                  <a:tblGrid>
                    <a:gridCol w="12954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19100">
                    <a:tc>
                      <a:txBody>
                        <a:bodyPr/>
                        <a:lstStyle/>
                        <a:p>
                          <a:pPr marL="0" marR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GB" sz="1600" b="1" i="0" dirty="0" smtClean="0">
                                    <a:latin typeface="Cambria Math"/>
                                  </a:rPr>
                                  <m:t>𝐜𝐨𝐯</m:t>
                                </m:r>
                                <m:d>
                                  <m:dPr>
                                    <m:ctrlPr>
                                      <a:rPr lang="en-GB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1600" i="1" dirty="0" err="1" smtClean="0">
                                        <a:latin typeface="Cambria Math"/>
                                      </a:rPr>
                                      <m:t>𝑥</m:t>
                                    </m:r>
                                    <m:r>
                                      <a:rPr lang="en-GB" sz="1600" i="1" dirty="0" err="1" smtClean="0"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GB" sz="1600" i="1" dirty="0" err="1" smtClean="0">
                                        <a:latin typeface="Cambria Math"/>
                                      </a:rPr>
                                      <m:t>𝑦</m:t>
                                    </m:r>
                                  </m:e>
                                </m:d>
                                <m:r>
                                  <a:rPr lang="en-GB" sz="1600" b="0" i="1" dirty="0" smtClean="0"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GB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en-GB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19100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GB" sz="1600" b="1" i="1" dirty="0" smtClean="0">
                                    <a:latin typeface="Cambria Math"/>
                                  </a:rPr>
                                  <m:t>𝒓</m:t>
                                </m:r>
                                <m:r>
                                  <a:rPr lang="en-GB" sz="1600" i="1" dirty="0" smtClean="0"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GB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2323457"/>
                  </p:ext>
                </p:extLst>
              </p:nvPr>
            </p:nvGraphicFramePr>
            <p:xfrm>
              <a:off x="5105400" y="4572000"/>
              <a:ext cx="3352800" cy="838200"/>
            </p:xfrm>
            <a:graphic>
              <a:graphicData uri="http://schemas.openxmlformats.org/drawingml/2006/table">
                <a:tbl>
                  <a:tblPr lastRow="1" bandRow="1">
                    <a:tableStyleId>{8EC20E35-A176-4012-BC5E-935CFFF8708E}</a:tableStyleId>
                  </a:tblPr>
                  <a:tblGrid>
                    <a:gridCol w="1295400"/>
                    <a:gridCol w="2057400"/>
                  </a:tblGrid>
                  <a:tr h="4191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469" r="-158216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en-GB" sz="2000" dirty="0"/>
                        </a:p>
                      </a:txBody>
                      <a:tcPr/>
                    </a:tc>
                  </a:tr>
                  <a:tr h="4191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469" t="-100000" r="-1582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20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Flowchart: Document 9"/>
              <p:cNvSpPr/>
              <p:nvPr/>
            </p:nvSpPr>
            <p:spPr>
              <a:xfrm>
                <a:off x="3525837" y="0"/>
                <a:ext cx="3941763" cy="797614"/>
              </a:xfrm>
              <a:prstGeom prst="flowChartDocumen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1600" b="0" i="0" smtClean="0">
                          <a:latin typeface="Cambria Math"/>
                        </a:rPr>
                        <m:t>cov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en-GB" sz="1600" b="0" i="1" smtClean="0">
                              <a:latin typeface="Cambria Math"/>
                            </a:rPr>
                            <m:t>,</m:t>
                          </m:r>
                          <m:r>
                            <a:rPr lang="en-GB" sz="1600" b="0" i="1" smtClean="0"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en-GB" sz="16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/>
                            </a:rPr>
                            <m:t>𝑛</m:t>
                          </m:r>
                          <m:r>
                            <a:rPr lang="en-GB" sz="1600" b="0" i="1" smtClean="0">
                              <a:latin typeface="Cambria Math"/>
                            </a:rPr>
                            <m:t>−1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GB" sz="1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GB" sz="1600" b="0" i="1" smtClean="0">
                              <a:latin typeface="Cambria Math"/>
                            </a:rPr>
                            <m:t>𝑖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GB" sz="16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>
                                      <a:latin typeface="Cambria Math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GB" sz="1600" b="1" i="1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GB" sz="1600" b="1" i="1">
                                  <a:latin typeface="Cambria Math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sz="1600" b="1" i="1">
                                      <a:latin typeface="Cambria Math"/>
                                    </a:rPr>
                                    <m:t>𝒙</m:t>
                                  </m:r>
                                </m:e>
                              </m:acc>
                            </m:e>
                          </m:d>
                          <m:d>
                            <m:dPr>
                              <m:ctrlPr>
                                <a:rPr lang="en-GB" sz="16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>
                                      <a:latin typeface="Cambria Math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n-GB" sz="1600" b="1" i="1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GB" sz="1600" b="1" i="1">
                                  <a:latin typeface="Cambria Math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sz="1600" b="1" i="1">
                                      <a:latin typeface="Cambria Math"/>
                                    </a:rPr>
                                    <m:t>𝒚</m:t>
                                  </m:r>
                                </m:e>
                              </m:acc>
                            </m:e>
                          </m:d>
                        </m:e>
                      </m:nary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0" name="Flowchart: Document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5837" y="0"/>
                <a:ext cx="3941763" cy="797614"/>
              </a:xfrm>
              <a:prstGeom prst="flowChartDocumen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Flowchart: Document 10"/>
              <p:cNvSpPr/>
              <p:nvPr/>
            </p:nvSpPr>
            <p:spPr>
              <a:xfrm>
                <a:off x="7620000" y="0"/>
                <a:ext cx="1350963" cy="797614"/>
              </a:xfrm>
              <a:prstGeom prst="flowChartDocumen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>
                          <a:latin typeface="Cambria Math"/>
                        </a:rPr>
                        <m:t>𝑟</m:t>
                      </m:r>
                      <m:r>
                        <a:rPr lang="en-GB" sz="16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i="1">
                              <a:latin typeface="Cambria Math"/>
                            </a:rPr>
                            <m:t>𝑐𝑜𝑣</m:t>
                          </m:r>
                          <m:r>
                            <a:rPr lang="en-GB" sz="1600" i="1">
                              <a:latin typeface="Cambria Math"/>
                            </a:rPr>
                            <m:t>(</m:t>
                          </m:r>
                          <m:r>
                            <a:rPr lang="en-GB" sz="1600" i="1">
                              <a:latin typeface="Cambria Math"/>
                            </a:rPr>
                            <m:t>𝑥</m:t>
                          </m:r>
                          <m:r>
                            <a:rPr lang="en-GB" sz="1600" i="1">
                              <a:latin typeface="Cambria Math"/>
                            </a:rPr>
                            <m:t>,</m:t>
                          </m:r>
                          <m:r>
                            <a:rPr lang="en-GB" sz="1600" i="1">
                              <a:latin typeface="Cambria Math"/>
                            </a:rPr>
                            <m:t>𝑦</m:t>
                          </m:r>
                          <m:r>
                            <a:rPr lang="en-GB" sz="1600" i="1">
                              <a:latin typeface="Cambria Math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/>
                                </a:rPr>
                                <m:t>𝑥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1" name="Flowchart: Document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0" y="0"/>
                <a:ext cx="1350963" cy="797614"/>
              </a:xfrm>
              <a:prstGeom prst="flowChartDocumen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89135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21267046"/>
                  </p:ext>
                </p:extLst>
              </p:nvPr>
            </p:nvGraphicFramePr>
            <p:xfrm>
              <a:off x="457201" y="883920"/>
              <a:ext cx="8001000" cy="3558018"/>
            </p:xfrm>
            <a:graphic>
              <a:graphicData uri="http://schemas.openxmlformats.org/drawingml/2006/table">
                <a:tbl>
                  <a:tblPr firstRow="1" lastRow="1" bandRow="1">
                    <a:tableStyleId>{8EC20E35-A176-4012-BC5E-935CFFF8708E}</a:tableStyleId>
                  </a:tblPr>
                  <a:tblGrid>
                    <a:gridCol w="128240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6079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906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981201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41148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i="1" dirty="0" smtClean="0">
                                    <a:latin typeface="Cambria Math"/>
                                  </a:rPr>
                                  <m:t>𝑛</m:t>
                                </m:r>
                                <m:r>
                                  <a:rPr lang="en-GB" sz="1800" i="1" dirty="0" smtClean="0"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GB" sz="1800" b="1" i="1" dirty="0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GB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800" dirty="0"/>
                            <a:t>Advertising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800" dirty="0"/>
                            <a:t>Sale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1" i="1">
                                        <a:latin typeface="Cambria Math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GB" sz="1800" b="1" i="1">
                                        <a:latin typeface="Cambria Math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GB" sz="1800" b="1" i="1">
                                    <a:latin typeface="Cambria Math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1800" b="1" i="1">
                                        <a:latin typeface="Cambria Math"/>
                                      </a:rPr>
                                      <m:t>𝒙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GB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1" i="1" smtClean="0">
                                        <a:latin typeface="Cambria Math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GB" sz="1800" b="1" i="1">
                                        <a:latin typeface="Cambria Math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GB" sz="1800" b="1" i="1">
                                    <a:latin typeface="Cambria Math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1800" b="1" i="1" smtClean="0">
                                        <a:latin typeface="Cambria Math"/>
                                      </a:rPr>
                                      <m:t>𝒚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GB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GB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GB" sz="18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1800" b="1" i="1">
                                            <a:latin typeface="Cambria Math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GB" sz="1800" b="1" i="1">
                                            <a:latin typeface="Cambria Math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  <m:r>
                                      <a:rPr lang="en-GB" sz="1800" b="1" i="1">
                                        <a:latin typeface="Cambria Math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GB" sz="18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GB" sz="1800" b="1" i="1">
                                            <a:latin typeface="Cambria Math"/>
                                          </a:rPr>
                                          <m:t>𝒙</m:t>
                                        </m:r>
                                      </m:e>
                                    </m:acc>
                                  </m:e>
                                </m:d>
                                <m:d>
                                  <m:dPr>
                                    <m:ctrlPr>
                                      <a:rPr lang="en-GB" sz="1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GB" sz="18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1800" b="1" i="1">
                                            <a:latin typeface="Cambria Math"/>
                                          </a:rPr>
                                          <m:t>𝒚</m:t>
                                        </m:r>
                                      </m:e>
                                      <m:sub>
                                        <m:r>
                                          <a:rPr lang="en-GB" sz="1800" b="1" i="1">
                                            <a:latin typeface="Cambria Math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  <m:r>
                                      <a:rPr lang="en-GB" sz="1800" b="1" i="1">
                                        <a:latin typeface="Cambria Math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GB" sz="18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GB" sz="1800" b="1" i="1">
                                            <a:latin typeface="Cambria Math"/>
                                          </a:rPr>
                                          <m:t>𝒚</m:t>
                                        </m:r>
                                      </m:e>
                                    </m:acc>
                                  </m:e>
                                </m:d>
                              </m:oMath>
                            </m:oMathPara>
                          </a14:m>
                          <a:endParaRPr lang="en-GB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r"/>
                          <a:endParaRPr lang="en-GB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2800" dirty="0"/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2800" dirty="0"/>
                            <a:t>60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2800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2800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-20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2800" b="0" i="0" u="none" strike="noStrike" dirty="0">
                              <a:solidFill>
                                <a:srgbClr val="FF0000"/>
                              </a:solidFill>
                              <a:effectLst/>
                              <a:latin typeface="+mn-lt"/>
                            </a:rPr>
                            <a:t>40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r"/>
                          <a:endParaRPr lang="en-GB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2800" dirty="0"/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2800" dirty="0"/>
                            <a:t>100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2800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+1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2800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+20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2800" b="0" i="0" u="none" strike="noStrike" dirty="0">
                              <a:solidFill>
                                <a:srgbClr val="FF0000"/>
                              </a:solidFill>
                              <a:effectLst/>
                              <a:latin typeface="+mn-lt"/>
                            </a:rPr>
                            <a:t>20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r"/>
                          <a:endParaRPr lang="en-GB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2800" dirty="0"/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2800" dirty="0"/>
                            <a:t>70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2800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2800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-10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2800" b="0" i="0" u="none" strike="noStrike" dirty="0">
                              <a:solidFill>
                                <a:srgbClr val="FF0000"/>
                              </a:solidFill>
                              <a:effectLst/>
                              <a:latin typeface="+mn-lt"/>
                            </a:rPr>
                            <a:t>0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r"/>
                          <a:endParaRPr lang="en-GB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2800" dirty="0"/>
                            <a:t>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2800" dirty="0"/>
                            <a:t>90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2800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+2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2800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+10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2800" b="0" i="0" u="none" strike="noStrike" dirty="0">
                              <a:solidFill>
                                <a:srgbClr val="FF0000"/>
                              </a:solidFill>
                              <a:effectLst/>
                              <a:latin typeface="+mn-lt"/>
                            </a:rPr>
                            <a:t>20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r"/>
                          <a:endParaRPr lang="en-GB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2800" dirty="0"/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2800" dirty="0"/>
                            <a:t>80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2800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2800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2800" b="0" i="0" u="none" strike="noStrike" dirty="0">
                              <a:solidFill>
                                <a:srgbClr val="FF0000"/>
                              </a:solidFill>
                              <a:effectLst/>
                              <a:latin typeface="+mn-lt"/>
                            </a:rPr>
                            <a:t>0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555738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2400" dirty="0"/>
                            <a:t>Total=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2400" dirty="0"/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2400" dirty="0"/>
                            <a:t>400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2400" dirty="0">
                              <a:solidFill>
                                <a:srgbClr val="FF0000"/>
                              </a:solidFill>
                            </a:rPr>
                            <a:t>80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21267046"/>
                  </p:ext>
                </p:extLst>
              </p:nvPr>
            </p:nvGraphicFramePr>
            <p:xfrm>
              <a:off x="457201" y="883920"/>
              <a:ext cx="8001000" cy="3558018"/>
            </p:xfrm>
            <a:graphic>
              <a:graphicData uri="http://schemas.openxmlformats.org/drawingml/2006/table">
                <a:tbl>
                  <a:tblPr firstRow="1" lastRow="1" bandRow="1">
                    <a:tableStyleId>{8EC20E35-A176-4012-BC5E-935CFFF8708E}</a:tableStyleId>
                  </a:tblPr>
                  <a:tblGrid>
                    <a:gridCol w="128240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6079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906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981201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4114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t="-7353" r="-527143" b="-767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800" dirty="0"/>
                            <a:t>Advertising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800" dirty="0"/>
                            <a:t>Sale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14110" t="-7353" r="-293865" b="-767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58667" t="-7353" r="-219333" b="-767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4000" t="-7353" r="-1231" b="-7676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r"/>
                          <a:endParaRPr lang="en-GB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2800" dirty="0"/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2800" dirty="0"/>
                            <a:t>60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2800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2800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-20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2800" b="0" i="0" u="none" strike="noStrike" dirty="0">
                              <a:solidFill>
                                <a:srgbClr val="FF0000"/>
                              </a:solidFill>
                              <a:effectLst/>
                              <a:latin typeface="+mn-lt"/>
                            </a:rPr>
                            <a:t>40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r"/>
                          <a:endParaRPr lang="en-GB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2800" dirty="0"/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2800" dirty="0"/>
                            <a:t>100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2800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+1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2800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+20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2800" b="0" i="0" u="none" strike="noStrike" dirty="0">
                              <a:solidFill>
                                <a:srgbClr val="FF0000"/>
                              </a:solidFill>
                              <a:effectLst/>
                              <a:latin typeface="+mn-lt"/>
                            </a:rPr>
                            <a:t>20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r"/>
                          <a:endParaRPr lang="en-GB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2800" dirty="0"/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2800" dirty="0"/>
                            <a:t>70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2800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2800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-10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2800" b="0" i="0" u="none" strike="noStrike" dirty="0">
                              <a:solidFill>
                                <a:srgbClr val="FF0000"/>
                              </a:solidFill>
                              <a:effectLst/>
                              <a:latin typeface="+mn-lt"/>
                            </a:rPr>
                            <a:t>0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r"/>
                          <a:endParaRPr lang="en-GB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2800" dirty="0"/>
                            <a:t>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2800" dirty="0"/>
                            <a:t>90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2800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+2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2800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+10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2800" b="0" i="0" u="none" strike="noStrike" dirty="0">
                              <a:solidFill>
                                <a:srgbClr val="FF0000"/>
                              </a:solidFill>
                              <a:effectLst/>
                              <a:latin typeface="+mn-lt"/>
                            </a:rPr>
                            <a:t>20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r"/>
                          <a:endParaRPr lang="en-GB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2800" dirty="0"/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2800" dirty="0"/>
                            <a:t>80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2800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r" defTabSz="914400" rtl="0" eaLnBrk="1" fontAlgn="b" latinLnBrk="0" hangingPunct="1"/>
                          <a:r>
                            <a:rPr lang="en-GB" sz="2800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2800" b="0" i="0" u="none" strike="noStrike" dirty="0">
                              <a:solidFill>
                                <a:srgbClr val="FF0000"/>
                              </a:solidFill>
                              <a:effectLst/>
                              <a:latin typeface="+mn-lt"/>
                            </a:rPr>
                            <a:t>0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555738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2400" dirty="0"/>
                            <a:t>Total=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2400" dirty="0"/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2400" dirty="0"/>
                            <a:t>400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4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2400" dirty="0">
                              <a:solidFill>
                                <a:srgbClr val="FF0000"/>
                              </a:solidFill>
                            </a:rPr>
                            <a:t>80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5088287"/>
              </p:ext>
            </p:extLst>
          </p:nvPr>
        </p:nvGraphicFramePr>
        <p:xfrm>
          <a:off x="457200" y="4572000"/>
          <a:ext cx="4114800" cy="838200"/>
        </p:xfrm>
        <a:graphic>
          <a:graphicData uri="http://schemas.openxmlformats.org/drawingml/2006/table">
            <a:tbl>
              <a:tblPr lastRow="1" bandRow="1">
                <a:tableStyleId>{8EC20E35-A176-4012-BC5E-935CFFF8708E}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r"/>
                      <a:r>
                        <a:rPr lang="en-GB" sz="1600" dirty="0"/>
                        <a:t>Mean=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r"/>
                      <a:r>
                        <a:rPr lang="en-GB" sz="1600" dirty="0"/>
                        <a:t>SD=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1.581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15.811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21450444"/>
                  </p:ext>
                </p:extLst>
              </p:nvPr>
            </p:nvGraphicFramePr>
            <p:xfrm>
              <a:off x="5105400" y="4572000"/>
              <a:ext cx="3352800" cy="838200"/>
            </p:xfrm>
            <a:graphic>
              <a:graphicData uri="http://schemas.openxmlformats.org/drawingml/2006/table">
                <a:tbl>
                  <a:tblPr lastRow="1" bandRow="1">
                    <a:tableStyleId>{8EC20E35-A176-4012-BC5E-935CFFF8708E}</a:tableStyleId>
                  </a:tblPr>
                  <a:tblGrid>
                    <a:gridCol w="12954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19100">
                    <a:tc>
                      <a:txBody>
                        <a:bodyPr/>
                        <a:lstStyle/>
                        <a:p>
                          <a:pPr marL="0" marR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GB" sz="1600" b="1" i="0" dirty="0" smtClean="0">
                                    <a:latin typeface="Cambria Math"/>
                                  </a:rPr>
                                  <m:t>𝐜𝐨𝐯</m:t>
                                </m:r>
                                <m:d>
                                  <m:dPr>
                                    <m:ctrlPr>
                                      <a:rPr lang="en-GB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1600" i="1" dirty="0" err="1" smtClean="0">
                                        <a:latin typeface="Cambria Math"/>
                                      </a:rPr>
                                      <m:t>𝑥</m:t>
                                    </m:r>
                                    <m:r>
                                      <a:rPr lang="en-GB" sz="1600" i="1" dirty="0" err="1" smtClean="0"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GB" sz="1600" i="1" dirty="0" err="1" smtClean="0">
                                        <a:latin typeface="Cambria Math"/>
                                      </a:rPr>
                                      <m:t>𝑦</m:t>
                                    </m:r>
                                  </m:e>
                                </m:d>
                                <m:r>
                                  <a:rPr lang="en-GB" sz="1600" b="0" i="1" dirty="0" smtClean="0"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GB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2000" dirty="0">
                              <a:solidFill>
                                <a:srgbClr val="FF0000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19100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GB" sz="1600" b="1" i="1" dirty="0" smtClean="0">
                                    <a:latin typeface="Cambria Math"/>
                                  </a:rPr>
                                  <m:t>𝒓</m:t>
                                </m:r>
                                <m:r>
                                  <a:rPr lang="en-GB" sz="1600" i="1" dirty="0" smtClean="0"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GB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000" dirty="0">
                              <a:solidFill>
                                <a:srgbClr val="FF0000"/>
                              </a:solidFill>
                            </a:rPr>
                            <a:t>0.7999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21450444"/>
                  </p:ext>
                </p:extLst>
              </p:nvPr>
            </p:nvGraphicFramePr>
            <p:xfrm>
              <a:off x="5105400" y="4572000"/>
              <a:ext cx="3352800" cy="838200"/>
            </p:xfrm>
            <a:graphic>
              <a:graphicData uri="http://schemas.openxmlformats.org/drawingml/2006/table">
                <a:tbl>
                  <a:tblPr lastRow="1" bandRow="1">
                    <a:tableStyleId>{8EC20E35-A176-4012-BC5E-935CFFF8708E}</a:tableStyleId>
                  </a:tblPr>
                  <a:tblGrid>
                    <a:gridCol w="1295400"/>
                    <a:gridCol w="2057400"/>
                  </a:tblGrid>
                  <a:tr h="4191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469" t="-7246" r="-158216" b="-120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2000" dirty="0" smtClean="0">
                              <a:solidFill>
                                <a:srgbClr val="FF0000"/>
                              </a:solidFill>
                            </a:rPr>
                            <a:t>20</a:t>
                          </a:r>
                          <a:endParaRPr lang="en-GB" sz="20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</a:tr>
                  <a:tr h="4191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469" t="-107246" r="-158216" b="-20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000" dirty="0" smtClean="0">
                              <a:solidFill>
                                <a:srgbClr val="FF0000"/>
                              </a:solidFill>
                            </a:rPr>
                            <a:t>0.7999</a:t>
                          </a:r>
                          <a:endParaRPr lang="en-GB" sz="20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Flowchart: Document 9"/>
              <p:cNvSpPr/>
              <p:nvPr/>
            </p:nvSpPr>
            <p:spPr>
              <a:xfrm>
                <a:off x="3525837" y="0"/>
                <a:ext cx="3941763" cy="797614"/>
              </a:xfrm>
              <a:prstGeom prst="flowChartDocumen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1600" b="0" i="0" smtClean="0">
                          <a:latin typeface="Cambria Math"/>
                        </a:rPr>
                        <m:t>cov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en-GB" sz="1600" b="0" i="1" smtClean="0">
                              <a:latin typeface="Cambria Math"/>
                            </a:rPr>
                            <m:t>,</m:t>
                          </m:r>
                          <m:r>
                            <a:rPr lang="en-GB" sz="1600" b="0" i="1" smtClean="0"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en-GB" sz="16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/>
                            </a:rPr>
                            <m:t>𝑛</m:t>
                          </m:r>
                          <m:r>
                            <a:rPr lang="en-GB" sz="1600" b="0" i="1" smtClean="0">
                              <a:latin typeface="Cambria Math"/>
                            </a:rPr>
                            <m:t>−1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GB" sz="1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GB" sz="1600" b="0" i="1" smtClean="0">
                              <a:latin typeface="Cambria Math"/>
                            </a:rPr>
                            <m:t>𝑖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GB" sz="16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>
                                      <a:latin typeface="Cambria Math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GB" sz="1600" b="1" i="1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GB" sz="1600" b="1" i="1">
                                  <a:latin typeface="Cambria Math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sz="1600" b="1" i="1">
                                      <a:latin typeface="Cambria Math"/>
                                    </a:rPr>
                                    <m:t>𝒙</m:t>
                                  </m:r>
                                </m:e>
                              </m:acc>
                            </m:e>
                          </m:d>
                          <m:d>
                            <m:dPr>
                              <m:ctrlPr>
                                <a:rPr lang="en-GB" sz="16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>
                                      <a:latin typeface="Cambria Math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n-GB" sz="1600" b="1" i="1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GB" sz="1600" b="1" i="1">
                                  <a:latin typeface="Cambria Math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sz="1600" b="1" i="1">
                                      <a:latin typeface="Cambria Math"/>
                                    </a:rPr>
                                    <m:t>𝒚</m:t>
                                  </m:r>
                                </m:e>
                              </m:acc>
                            </m:e>
                          </m:d>
                        </m:e>
                      </m:nary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0" name="Flowchart: Document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5837" y="0"/>
                <a:ext cx="3941763" cy="797614"/>
              </a:xfrm>
              <a:prstGeom prst="flowChartDocumen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Flowchart: Document 10"/>
              <p:cNvSpPr/>
              <p:nvPr/>
            </p:nvSpPr>
            <p:spPr>
              <a:xfrm>
                <a:off x="7620000" y="0"/>
                <a:ext cx="1350963" cy="797614"/>
              </a:xfrm>
              <a:prstGeom prst="flowChartDocumen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>
                          <a:latin typeface="Cambria Math"/>
                        </a:rPr>
                        <m:t>𝑟</m:t>
                      </m:r>
                      <m:r>
                        <a:rPr lang="en-GB" sz="16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i="1">
                              <a:latin typeface="Cambria Math"/>
                            </a:rPr>
                            <m:t>𝑐𝑜𝑣</m:t>
                          </m:r>
                          <m:r>
                            <a:rPr lang="en-GB" sz="1600" i="1">
                              <a:latin typeface="Cambria Math"/>
                            </a:rPr>
                            <m:t>(</m:t>
                          </m:r>
                          <m:r>
                            <a:rPr lang="en-GB" sz="1600" i="1">
                              <a:latin typeface="Cambria Math"/>
                            </a:rPr>
                            <m:t>𝑥</m:t>
                          </m:r>
                          <m:r>
                            <a:rPr lang="en-GB" sz="1600" i="1">
                              <a:latin typeface="Cambria Math"/>
                            </a:rPr>
                            <m:t>,</m:t>
                          </m:r>
                          <m:r>
                            <a:rPr lang="en-GB" sz="1600" i="1">
                              <a:latin typeface="Cambria Math"/>
                            </a:rPr>
                            <m:t>𝑦</m:t>
                          </m:r>
                          <m:r>
                            <a:rPr lang="en-GB" sz="1600" i="1">
                              <a:latin typeface="Cambria Math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/>
                                </a:rPr>
                                <m:t>𝑥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1" name="Flowchart: Document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0" y="0"/>
                <a:ext cx="1350963" cy="797614"/>
              </a:xfrm>
              <a:prstGeom prst="flowChartDocumen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58546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73766" name="Text Box 6"/>
              <p:cNvSpPr txBox="1">
                <a:spLocks noChangeArrowheads="1"/>
              </p:cNvSpPr>
              <p:nvPr/>
            </p:nvSpPr>
            <p:spPr bwMode="auto">
              <a:xfrm>
                <a:off x="304800" y="801231"/>
                <a:ext cx="7924800" cy="10156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r>
                  <a:rPr lang="en-GB" altLang="en-US" sz="2000" dirty="0"/>
                  <a:t>Step 1</a:t>
                </a:r>
              </a:p>
              <a:p>
                <a:r>
                  <a:rPr lang="en-GB" altLang="en-US" sz="2000" dirty="0"/>
                  <a:t>To check this we test the null hypothesis:-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alt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altLang="en-US" sz="2000" b="0" i="1" dirty="0" smtClean="0">
                              <a:latin typeface="Cambria Math"/>
                            </a:rPr>
                            <m:t>𝐻</m:t>
                          </m:r>
                        </m:e>
                        <m:sub>
                          <m:r>
                            <a:rPr lang="en-GB" altLang="en-US" sz="2000" b="0" i="1" dirty="0" smtClean="0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GB" altLang="en-US" sz="2000" b="0" i="1" dirty="0" smtClean="0">
                          <a:latin typeface="Cambria Math"/>
                        </a:rPr>
                        <m:t>: </m:t>
                      </m:r>
                      <m:r>
                        <a:rPr lang="en-GB" altLang="en-US" sz="2000" i="1" dirty="0" smtClean="0">
                          <a:latin typeface="Cambria Math"/>
                        </a:rPr>
                        <m:t>𝑟</m:t>
                      </m:r>
                      <m:r>
                        <a:rPr lang="en-GB" altLang="en-US" sz="2000" i="1" dirty="0" smtClean="0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GB" altLang="en-US" sz="2000" dirty="0"/>
              </a:p>
            </p:txBody>
          </p:sp>
        </mc:Choice>
        <mc:Fallback>
          <p:sp>
            <p:nvSpPr>
              <p:cNvPr id="373766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800" y="801231"/>
                <a:ext cx="7924800" cy="1015663"/>
              </a:xfrm>
              <a:prstGeom prst="rect">
                <a:avLst/>
              </a:prstGeom>
              <a:blipFill>
                <a:blip r:embed="rId3"/>
                <a:stretch>
                  <a:fillRect l="-769" t="-299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Significance of relation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/>
              <p:cNvSpPr/>
              <p:nvPr/>
            </p:nvSpPr>
            <p:spPr>
              <a:xfrm>
                <a:off x="304800" y="1981200"/>
                <a:ext cx="6553200" cy="166885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altLang="en-US" sz="2000" dirty="0"/>
                  <a:t>Step 2</a:t>
                </a:r>
              </a:p>
              <a:p>
                <a:r>
                  <a:rPr lang="en-GB" altLang="en-US" sz="2000" dirty="0"/>
                  <a:t>As we have a small sample, we need to use the </a:t>
                </a:r>
                <a:r>
                  <a:rPr lang="en-GB" altLang="en-US" sz="2000" i="1" dirty="0">
                    <a:solidFill>
                      <a:srgbClr val="333399"/>
                    </a:solidFill>
                    <a:latin typeface="Times New Roman" pitchFamily="18" charset="0"/>
                  </a:rPr>
                  <a:t>t </a:t>
                </a:r>
                <a:r>
                  <a:rPr lang="en-GB" altLang="en-US" sz="2000" dirty="0">
                    <a:solidFill>
                      <a:srgbClr val="333399"/>
                    </a:solidFill>
                  </a:rPr>
                  <a:t>distribution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000" i="1">
                          <a:latin typeface="Cambria Math"/>
                        </a:rPr>
                        <m:t>𝑡</m:t>
                      </m:r>
                      <m:r>
                        <a:rPr lang="en-GB" sz="20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i="1">
                              <a:latin typeface="Cambria Math"/>
                            </a:rPr>
                            <m:t>𝑟</m:t>
                          </m:r>
                          <m:r>
                            <a:rPr lang="en-GB" sz="2000" i="1">
                              <a:latin typeface="Cambria Math"/>
                            </a:rPr>
                            <m:t>−0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2000" i="1">
                                      <a:latin typeface="Cambria Math"/>
                                    </a:rPr>
                                    <m:t>1−</m:t>
                                  </m:r>
                                  <m:sSup>
                                    <m:sSupPr>
                                      <m:ctrlPr>
                                        <a:rPr lang="en-GB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sz="2000" i="1">
                                          <a:latin typeface="Cambria Math"/>
                                        </a:rPr>
                                        <m:t>𝑟</m:t>
                                      </m:r>
                                    </m:e>
                                    <m:sup>
                                      <m:r>
                                        <a:rPr lang="en-GB" sz="2000" i="1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GB" sz="2000" i="1">
                                      <a:latin typeface="Cambria Math"/>
                                    </a:rPr>
                                    <m:t>𝑛</m:t>
                                  </m:r>
                                  <m:r>
                                    <a:rPr lang="en-GB" sz="2000" i="1">
                                      <a:latin typeface="Cambria Math"/>
                                    </a:rPr>
                                    <m:t>−2</m:t>
                                  </m:r>
                                </m:den>
                              </m:f>
                            </m:e>
                          </m:rad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1981200"/>
                <a:ext cx="6553200" cy="1668855"/>
              </a:xfrm>
              <a:prstGeom prst="rect">
                <a:avLst/>
              </a:prstGeom>
              <a:blipFill>
                <a:blip r:embed="rId4"/>
                <a:stretch>
                  <a:fillRect l="-930" t="-18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9308AE4E-8467-7F09-18EF-1E83CDD450F8}"/>
                  </a:ext>
                </a:extLst>
              </p:cNvPr>
              <p:cNvSpPr/>
              <p:nvPr/>
            </p:nvSpPr>
            <p:spPr>
              <a:xfrm>
                <a:off x="304800" y="3940314"/>
                <a:ext cx="7924800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altLang="en-US" sz="2000" dirty="0">
                    <a:solidFill>
                      <a:schemeClr val="tx1"/>
                    </a:solidFill>
                  </a:rPr>
                  <a:t>Step 3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altLang="en-U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    </m:t>
                      </m:r>
                      <m:r>
                        <a:rPr lang="en-GB" altLang="en-U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𝑑𝑓</m:t>
                      </m:r>
                      <m:r>
                        <a:rPr lang="en-GB" altLang="en-U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GB" altLang="en-U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altLang="en-U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altLang="en-US" sz="200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en-GB" altLang="en-US" sz="2000" b="0" dirty="0">
                  <a:solidFill>
                    <a:schemeClr val="tx1"/>
                  </a:solidFill>
                </a:endParaRPr>
              </a:p>
              <a:p>
                <a:pPr/>
                <a:r>
                  <a:rPr lang="en-GB" altLang="en-US" sz="2000" dirty="0"/>
                  <a:t>Lookup T-table to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en-US" sz="200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GB" altLang="en-US" sz="2000" i="1" dirty="0">
                            <a:latin typeface="Cambria Math" panose="02040503050406030204" pitchFamily="18" charset="0"/>
                          </a:rPr>
                          <m:t>𝑐𝑟𝑖𝑡</m:t>
                        </m:r>
                      </m:sub>
                    </m:sSub>
                  </m:oMath>
                </a14:m>
                <a:endParaRPr lang="en-GB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9308AE4E-8467-7F09-18EF-1E83CDD450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3940314"/>
                <a:ext cx="7924800" cy="1015663"/>
              </a:xfrm>
              <a:prstGeom prst="rect">
                <a:avLst/>
              </a:prstGeom>
              <a:blipFill>
                <a:blip r:embed="rId5"/>
                <a:stretch>
                  <a:fillRect l="-769" t="-2994" b="-95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77D3A89D-784F-3E23-358C-B006FA693949}"/>
                  </a:ext>
                </a:extLst>
              </p:cNvPr>
              <p:cNvSpPr/>
              <p:nvPr/>
            </p:nvSpPr>
            <p:spPr>
              <a:xfrm>
                <a:off x="328246" y="5334000"/>
                <a:ext cx="7924800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altLang="en-US" sz="2000" dirty="0">
                    <a:solidFill>
                      <a:schemeClr val="tx1"/>
                    </a:solidFill>
                  </a:rPr>
                  <a:t>Step 4. Reject or fail to reject null hypothesis:</a:t>
                </a:r>
              </a:p>
              <a:p>
                <a:endParaRPr lang="en-GB" altLang="en-US" sz="2000" dirty="0">
                  <a:solidFill>
                    <a:schemeClr val="tx1"/>
                  </a:solidFill>
                </a:endParaRPr>
              </a:p>
              <a:p>
                <a:r>
                  <a:rPr lang="en-GB" altLang="en-US" sz="2000" dirty="0">
                    <a:solidFill>
                      <a:schemeClr val="tx1"/>
                    </a:solidFill>
                  </a:rPr>
                  <a:t>Reject null hypothesis because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altLang="en-US" sz="20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alt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GB" alt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GB" alt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𝑐𝑟𝑖𝑡</m:t>
                        </m:r>
                      </m:sub>
                    </m:sSub>
                  </m:oMath>
                </a14:m>
                <a:endParaRPr lang="en-GB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77D3A89D-784F-3E23-358C-B006FA6939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246" y="5334000"/>
                <a:ext cx="7924800" cy="1015663"/>
              </a:xfrm>
              <a:prstGeom prst="rect">
                <a:avLst/>
              </a:prstGeom>
              <a:blipFill>
                <a:blip r:embed="rId6"/>
                <a:stretch>
                  <a:fillRect l="-846" t="-2994" b="-95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8259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/>
      <p:bldP spid="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Significance of relation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0058" y="859369"/>
            <a:ext cx="4040188" cy="639762"/>
          </a:xfrm>
        </p:spPr>
        <p:txBody>
          <a:bodyPr/>
          <a:lstStyle/>
          <a:p>
            <a:r>
              <a:rPr lang="en-GB" dirty="0"/>
              <a:t>Library &amp; Drinks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</p:nvPr>
            </p:nvSpPr>
            <p:spPr>
              <a:xfrm>
                <a:off x="4670058" y="1499131"/>
                <a:ext cx="4040188" cy="3951288"/>
              </a:xfrm>
            </p:spPr>
            <p:txBody>
              <a:bodyPr/>
              <a:lstStyle/>
              <a:p>
                <a:pPr marL="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/>
                        </a:rPr>
                        <m:t>𝑡</m:t>
                      </m:r>
                      <m:r>
                        <a:rPr lang="en-GB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/>
                            </a:rPr>
                            <m:t>0.9078−0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i="1">
                                      <a:latin typeface="Cambria Math"/>
                                    </a:rPr>
                                    <m:t>1−</m:t>
                                  </m:r>
                                  <m:sSup>
                                    <m:sSup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i="1">
                                          <a:latin typeface="Cambria Math"/>
                                        </a:rPr>
                                        <m:t>0.</m:t>
                                      </m:r>
                                      <m:r>
                                        <a:rPr lang="en-GB" b="0" i="1" smtClean="0">
                                          <a:latin typeface="Cambria Math"/>
                                        </a:rPr>
                                        <m:t>9078</m:t>
                                      </m:r>
                                    </m:e>
                                    <m:sup>
                                      <m:r>
                                        <a:rPr lang="en-GB" i="1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10</m:t>
                                  </m:r>
                                  <m:r>
                                    <a:rPr lang="en-GB" i="1">
                                      <a:latin typeface="Cambria Math"/>
                                    </a:rPr>
                                    <m:t>−2</m:t>
                                  </m:r>
                                </m:den>
                              </m:f>
                            </m:e>
                          </m:rad>
                        </m:den>
                      </m:f>
                    </m:oMath>
                  </m:oMathPara>
                </a14:m>
                <a:endParaRPr lang="en-GB" i="1" dirty="0">
                  <a:latin typeface="Cambria Math"/>
                </a:endParaRPr>
              </a:p>
              <a:p>
                <a:pPr marL="0" lvl="1" indent="0"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GB" dirty="0"/>
                      <m:t>  </m:t>
                    </m:r>
                    <m:r>
                      <a:rPr lang="en-GB" i="1">
                        <a:latin typeface="Cambria Math"/>
                      </a:rPr>
                      <m:t>=</m:t>
                    </m:r>
                    <m:r>
                      <m:rPr>
                        <m:nor/>
                      </m:rPr>
                      <a:rPr lang="en-GB" dirty="0"/>
                      <m:t> </m:t>
                    </m:r>
                    <m:r>
                      <m:rPr>
                        <m:nor/>
                      </m:rPr>
                      <a:rPr lang="en-GB" b="0" i="0" dirty="0" smtClean="0"/>
                      <m:t>6</m:t>
                    </m:r>
                    <m:r>
                      <m:rPr>
                        <m:nor/>
                      </m:rPr>
                      <a:rPr lang="en-GB" dirty="0"/>
                      <m:t>.</m:t>
                    </m:r>
                    <m:r>
                      <m:rPr>
                        <m:nor/>
                      </m:rPr>
                      <a:rPr lang="en-GB" b="0" i="0" dirty="0" smtClean="0"/>
                      <m:t>122</m:t>
                    </m:r>
                  </m:oMath>
                </a14:m>
                <a:r>
                  <a:rPr lang="en-GB" dirty="0"/>
                  <a:t>1</a:t>
                </a:r>
              </a:p>
              <a:p>
                <a:pPr marL="0" lvl="1" indent="0">
                  <a:buNone/>
                </a:pPr>
                <a:endParaRPr lang="en-GB" altLang="en-US" sz="2400" dirty="0">
                  <a:sym typeface="Symbol" pitchFamily="18" charset="2"/>
                </a:endParaRPr>
              </a:p>
              <a:p>
                <a:pPr marL="0" indent="0">
                  <a:buNone/>
                </a:pPr>
                <a:r>
                  <a:rPr lang="en-GB" dirty="0"/>
                  <a:t>For two tail, critical value is = </a:t>
                </a:r>
                <a:r>
                  <a:rPr lang="en-GB" b="1" dirty="0"/>
                  <a:t>2.306</a:t>
                </a:r>
              </a:p>
              <a:p>
                <a:pPr marL="0" indent="0">
                  <a:buNone/>
                </a:pPr>
                <a:r>
                  <a:rPr lang="en-GB" dirty="0"/>
                  <a:t>   i.e. p−value &lt; 0.05</a:t>
                </a: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70058" y="1499131"/>
                <a:ext cx="4040188" cy="3951288"/>
              </a:xfrm>
              <a:blipFill>
                <a:blip r:embed="rId3"/>
                <a:stretch>
                  <a:fillRect l="-226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3400" y="914400"/>
            <a:ext cx="4041775" cy="639762"/>
          </a:xfrm>
        </p:spPr>
        <p:txBody>
          <a:bodyPr/>
          <a:lstStyle/>
          <a:p>
            <a:r>
              <a:rPr lang="en-GB" dirty="0"/>
              <a:t>Ads &amp; Sales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/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533400" y="1554162"/>
                <a:ext cx="4041775" cy="3951288"/>
              </a:xfrm>
            </p:spPr>
            <p:txBody>
              <a:bodyPr>
                <a:normAutofit/>
              </a:bodyPr>
              <a:lstStyle/>
              <a:p>
                <a:pPr marL="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/>
                        </a:rPr>
                        <m:t>𝑡</m:t>
                      </m:r>
                      <m:r>
                        <a:rPr lang="en-GB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0.7999</m:t>
                          </m:r>
                          <m:r>
                            <a:rPr lang="en-GB" i="1">
                              <a:latin typeface="Cambria Math"/>
                            </a:rPr>
                            <m:t>−0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i="1">
                                      <a:latin typeface="Cambria Math"/>
                                    </a:rPr>
                                    <m:t>1−</m:t>
                                  </m:r>
                                  <m:sSup>
                                    <m:sSup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i="1">
                                          <a:latin typeface="Cambria Math"/>
                                        </a:rPr>
                                        <m:t>0.7999</m:t>
                                      </m:r>
                                    </m:e>
                                    <m:sup>
                                      <m:r>
                                        <a:rPr lang="en-GB" i="1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5</m:t>
                                  </m:r>
                                  <m:r>
                                    <a:rPr lang="en-GB" i="1">
                                      <a:latin typeface="Cambria Math"/>
                                    </a:rPr>
                                    <m:t>−2</m:t>
                                  </m:r>
                                </m:den>
                              </m:f>
                            </m:e>
                          </m:rad>
                        </m:den>
                      </m:f>
                    </m:oMath>
                  </m:oMathPara>
                </a14:m>
                <a:endParaRPr lang="en-GB" i="1" dirty="0">
                  <a:latin typeface="Cambria Math"/>
                </a:endParaRPr>
              </a:p>
              <a:p>
                <a:pPr marL="0" lvl="1" indent="0">
                  <a:buNone/>
                </a:pPr>
                <a:r>
                  <a:rPr lang="en-GB" b="0" dirty="0"/>
                  <a:t>  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=</m:t>
                    </m:r>
                  </m:oMath>
                </a14:m>
                <a:r>
                  <a:rPr lang="en-GB" dirty="0"/>
                  <a:t> 2.3086</a:t>
                </a:r>
              </a:p>
              <a:p>
                <a:pPr marL="0" indent="0">
                  <a:buNone/>
                </a:pPr>
                <a:endParaRPr lang="en-GB" altLang="en-US" dirty="0">
                  <a:sym typeface="Symbol" pitchFamily="18" charset="2"/>
                </a:endParaRPr>
              </a:p>
              <a:p>
                <a:pPr marL="0" indent="0">
                  <a:buNone/>
                </a:pPr>
                <a:r>
                  <a:rPr lang="en-GB" altLang="en-US" dirty="0">
                    <a:sym typeface="Symbol" pitchFamily="18" charset="2"/>
                  </a:rPr>
                  <a:t>For two tail, critical value is = </a:t>
                </a:r>
                <a:r>
                  <a:rPr lang="en-GB" altLang="en-US" b="1" dirty="0">
                    <a:sym typeface="Symbol" pitchFamily="18" charset="2"/>
                  </a:rPr>
                  <a:t>3.182</a:t>
                </a:r>
              </a:p>
              <a:p>
                <a:pPr marL="0" indent="0">
                  <a:buNone/>
                </a:pPr>
                <a:r>
                  <a:rPr lang="en-GB" altLang="en-US" dirty="0">
                    <a:sym typeface="Symbol" pitchFamily="18" charset="2"/>
                  </a:rPr>
                  <a:t>   i.e. p-value &gt; 0.05</a:t>
                </a:r>
              </a:p>
            </p:txBody>
          </p:sp>
        </mc:Choice>
        <mc:Fallback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533400" y="1554162"/>
                <a:ext cx="4041775" cy="3951288"/>
              </a:xfrm>
              <a:blipFill>
                <a:blip r:embed="rId4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 rot="19444076">
            <a:off x="886879" y="2473396"/>
            <a:ext cx="284376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altLang="en-US" sz="3200" dirty="0">
                <a:solidFill>
                  <a:srgbClr val="FF0000"/>
                </a:solidFill>
                <a:sym typeface="Symbol" pitchFamily="18" charset="2"/>
              </a:rPr>
              <a:t>NOT significant at 5% level</a:t>
            </a:r>
          </a:p>
        </p:txBody>
      </p:sp>
      <p:sp>
        <p:nvSpPr>
          <p:cNvPr id="31" name="Rectangle 30"/>
          <p:cNvSpPr/>
          <p:nvPr/>
        </p:nvSpPr>
        <p:spPr>
          <a:xfrm rot="19444076">
            <a:off x="5172762" y="2418364"/>
            <a:ext cx="284376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altLang="en-US" sz="3200" dirty="0">
                <a:solidFill>
                  <a:srgbClr val="00B050"/>
                </a:solidFill>
                <a:sym typeface="Symbol" pitchFamily="18" charset="2"/>
              </a:rPr>
              <a:t>Significant at 5% level</a:t>
            </a:r>
          </a:p>
        </p:txBody>
      </p:sp>
    </p:spTree>
    <p:extLst>
      <p:ext uri="{BB962C8B-B14F-4D97-AF65-F5344CB8AC3E}">
        <p14:creationId xmlns:p14="http://schemas.microsoft.com/office/powerpoint/2010/main" val="4214695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 uiExpand="1" build="p"/>
      <p:bldP spid="7" grpId="0"/>
      <p:bldP spid="3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Chart 13"/>
          <p:cNvGraphicFramePr/>
          <p:nvPr>
            <p:extLst>
              <p:ext uri="{D42A27DB-BD31-4B8C-83A1-F6EECF244321}">
                <p14:modId xmlns:p14="http://schemas.microsoft.com/office/powerpoint/2010/main" val="3763449110"/>
              </p:ext>
            </p:extLst>
          </p:nvPr>
        </p:nvGraphicFramePr>
        <p:xfrm>
          <a:off x="1219200" y="1600200"/>
          <a:ext cx="6096000" cy="3505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5229391" y="0"/>
            <a:ext cx="3686009" cy="107721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en-GB" altLang="en-US" sz="1600" dirty="0"/>
              <a:t>You need to show that:</a:t>
            </a:r>
          </a:p>
          <a:p>
            <a:pPr lvl="1">
              <a:buClr>
                <a:srgbClr val="333399"/>
              </a:buClr>
            </a:pPr>
            <a:r>
              <a:rPr lang="en-GB" altLang="en-US" sz="1600" dirty="0"/>
              <a:t>X and Y </a:t>
            </a:r>
            <a:r>
              <a:rPr lang="en-GB" altLang="en-US" sz="1600" b="1" dirty="0"/>
              <a:t>vary together</a:t>
            </a:r>
          </a:p>
          <a:p>
            <a:pPr lvl="1">
              <a:buClr>
                <a:srgbClr val="333399"/>
              </a:buClr>
            </a:pPr>
            <a:r>
              <a:rPr lang="en-GB" altLang="en-US" sz="1600" b="1" dirty="0"/>
              <a:t>X occurs before Y</a:t>
            </a:r>
          </a:p>
          <a:p>
            <a:pPr lvl="1">
              <a:buClr>
                <a:srgbClr val="333399"/>
              </a:buClr>
            </a:pPr>
            <a:r>
              <a:rPr lang="en-GB" altLang="en-US" sz="1600" b="1" dirty="0"/>
              <a:t>eliminate</a:t>
            </a:r>
            <a:r>
              <a:rPr lang="en-GB" altLang="en-US" sz="1600" dirty="0"/>
              <a:t> potential “</a:t>
            </a:r>
            <a:r>
              <a:rPr lang="en-GB" altLang="en-US" sz="1600" b="1" dirty="0"/>
              <a:t>third variables</a:t>
            </a:r>
            <a:r>
              <a:rPr lang="en-GB" altLang="en-US" sz="1600" dirty="0"/>
              <a:t>”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Causality</a:t>
            </a:r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304800" y="685800"/>
            <a:ext cx="31275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en-US" sz="24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Correlation </a:t>
            </a:r>
            <a:r>
              <a:rPr lang="en-GB" altLang="en-US" sz="2400" dirty="0">
                <a:effectLst>
                  <a:outerShdw blurRad="38100" dist="38100" dir="2700000" algn="tl">
                    <a:srgbClr val="FFFFFF"/>
                  </a:outerShdw>
                </a:effectLst>
                <a:sym typeface="Symbol" pitchFamily="18" charset="2"/>
              </a:rPr>
              <a:t> C</a:t>
            </a:r>
            <a:r>
              <a:rPr lang="en-GB" altLang="en-US" sz="24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ausation</a:t>
            </a:r>
            <a:endParaRPr lang="en-GB" sz="2400" dirty="0"/>
          </a:p>
        </p:txBody>
      </p:sp>
      <p:graphicFrame>
        <p:nvGraphicFramePr>
          <p:cNvPr id="8" name="Chart 7"/>
          <p:cNvGraphicFramePr/>
          <p:nvPr>
            <p:extLst>
              <p:ext uri="{D42A27DB-BD31-4B8C-83A1-F6EECF244321}">
                <p14:modId xmlns:p14="http://schemas.microsoft.com/office/powerpoint/2010/main" val="1574024078"/>
              </p:ext>
            </p:extLst>
          </p:nvPr>
        </p:nvGraphicFramePr>
        <p:xfrm>
          <a:off x="1219200" y="1600200"/>
          <a:ext cx="6096000" cy="3505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604084"/>
            <a:ext cx="845820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050" dirty="0"/>
              <a:t>Source: Franz H. </a:t>
            </a:r>
            <a:r>
              <a:rPr lang="en-GB" sz="1050" dirty="0" err="1"/>
              <a:t>Messerli</a:t>
            </a:r>
            <a:r>
              <a:rPr lang="en-GB" sz="1050" dirty="0"/>
              <a:t>, M.D., Chocolate Consumption, Cognitive Function, and Nobel Laureates, N </a:t>
            </a:r>
            <a:r>
              <a:rPr lang="en-GB" sz="1050" dirty="0" err="1"/>
              <a:t>Engl</a:t>
            </a:r>
            <a:r>
              <a:rPr lang="en-GB" sz="1050" dirty="0"/>
              <a:t> J Med 2012; 367:1562-1564</a:t>
            </a:r>
          </a:p>
        </p:txBody>
      </p:sp>
    </p:spTree>
    <p:extLst>
      <p:ext uri="{BB962C8B-B14F-4D97-AF65-F5344CB8AC3E}">
        <p14:creationId xmlns:p14="http://schemas.microsoft.com/office/powerpoint/2010/main" val="2799932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AsOne/>
      </p:bldGraphic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219201"/>
            <a:ext cx="5321172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Group 2"/>
          <p:cNvGrpSpPr/>
          <p:nvPr/>
        </p:nvGrpSpPr>
        <p:grpSpPr>
          <a:xfrm>
            <a:off x="5410200" y="1676400"/>
            <a:ext cx="3631224" cy="1015663"/>
            <a:chOff x="5284176" y="1905000"/>
            <a:chExt cx="3631224" cy="1015663"/>
          </a:xfrm>
        </p:grpSpPr>
        <p:sp>
          <p:nvSpPr>
            <p:cNvPr id="250886" name="Text Box 6"/>
            <p:cNvSpPr txBox="1">
              <a:spLocks noChangeArrowheads="1"/>
            </p:cNvSpPr>
            <p:nvPr/>
          </p:nvSpPr>
          <p:spPr bwMode="auto">
            <a:xfrm>
              <a:off x="5969976" y="1905000"/>
              <a:ext cx="2945424" cy="1015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txBody>
            <a:bodyPr wrap="square">
              <a:spAutoFit/>
            </a:bodyPr>
            <a:lstStyle/>
            <a:p>
              <a:r>
                <a:rPr lang="en-GB" altLang="en-US" sz="2000" dirty="0"/>
                <a:t>This is the probability of the result given the null hypothesis</a:t>
              </a:r>
              <a:endParaRPr lang="en-US" altLang="en-US" sz="2000" dirty="0"/>
            </a:p>
          </p:txBody>
        </p:sp>
        <p:sp>
          <p:nvSpPr>
            <p:cNvPr id="250887" name="Line 7"/>
            <p:cNvSpPr>
              <a:spLocks noChangeShapeType="1"/>
            </p:cNvSpPr>
            <p:nvPr/>
          </p:nvSpPr>
          <p:spPr bwMode="auto">
            <a:xfrm flipH="1">
              <a:off x="5284176" y="2438400"/>
              <a:ext cx="685800" cy="40902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Correlation Coefficient in SPSS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497650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219201"/>
            <a:ext cx="5321172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Group 2"/>
          <p:cNvGrpSpPr/>
          <p:nvPr/>
        </p:nvGrpSpPr>
        <p:grpSpPr>
          <a:xfrm>
            <a:off x="5410200" y="1676400"/>
            <a:ext cx="3631224" cy="1015663"/>
            <a:chOff x="5284176" y="1905000"/>
            <a:chExt cx="3631224" cy="1015663"/>
          </a:xfrm>
        </p:grpSpPr>
        <p:sp>
          <p:nvSpPr>
            <p:cNvPr id="250886" name="Text Box 6"/>
            <p:cNvSpPr txBox="1">
              <a:spLocks noChangeArrowheads="1"/>
            </p:cNvSpPr>
            <p:nvPr/>
          </p:nvSpPr>
          <p:spPr bwMode="auto">
            <a:xfrm>
              <a:off x="5969976" y="1905000"/>
              <a:ext cx="2945424" cy="1015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txBody>
            <a:bodyPr wrap="square">
              <a:spAutoFit/>
            </a:bodyPr>
            <a:lstStyle/>
            <a:p>
              <a:r>
                <a:rPr lang="en-GB" altLang="en-US" sz="2000" dirty="0"/>
                <a:t>This is the probability of the result given the null hypothesis</a:t>
              </a:r>
              <a:endParaRPr lang="en-US" altLang="en-US" sz="2000" dirty="0"/>
            </a:p>
          </p:txBody>
        </p:sp>
        <p:sp>
          <p:nvSpPr>
            <p:cNvPr id="250887" name="Line 7"/>
            <p:cNvSpPr>
              <a:spLocks noChangeShapeType="1"/>
            </p:cNvSpPr>
            <p:nvPr/>
          </p:nvSpPr>
          <p:spPr bwMode="auto">
            <a:xfrm flipH="1">
              <a:off x="5284176" y="2438400"/>
              <a:ext cx="685800" cy="40902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Question 4</a:t>
            </a:r>
            <a:endParaRPr lang="en-GB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8A5F722-EA6E-F85F-97F3-E5825256E1F8}"/>
              </a:ext>
            </a:extLst>
          </p:cNvPr>
          <p:cNvSpPr txBox="1">
            <a:spLocks/>
          </p:cNvSpPr>
          <p:nvPr/>
        </p:nvSpPr>
        <p:spPr>
          <a:xfrm>
            <a:off x="304800" y="4648200"/>
            <a:ext cx="8077200" cy="19812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400" b="0" dirty="0"/>
              <a:t>1) What is the null hypothesis for this test?</a:t>
            </a:r>
          </a:p>
          <a:p>
            <a:r>
              <a:rPr lang="en-GB" sz="2400" b="0" dirty="0"/>
              <a:t>2) What is the result of the test?</a:t>
            </a:r>
          </a:p>
          <a:p>
            <a:endParaRPr lang="en-GB" sz="2000" b="0" dirty="0"/>
          </a:p>
        </p:txBody>
      </p:sp>
    </p:spTree>
    <p:extLst>
      <p:ext uri="{BB962C8B-B14F-4D97-AF65-F5344CB8AC3E}">
        <p14:creationId xmlns:p14="http://schemas.microsoft.com/office/powerpoint/2010/main" val="7841944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219201"/>
            <a:ext cx="5321172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Group 2"/>
          <p:cNvGrpSpPr/>
          <p:nvPr/>
        </p:nvGrpSpPr>
        <p:grpSpPr>
          <a:xfrm>
            <a:off x="5410200" y="1676400"/>
            <a:ext cx="3631224" cy="1015663"/>
            <a:chOff x="5284176" y="1905000"/>
            <a:chExt cx="3631224" cy="1015663"/>
          </a:xfrm>
        </p:grpSpPr>
        <p:sp>
          <p:nvSpPr>
            <p:cNvPr id="250886" name="Text Box 6"/>
            <p:cNvSpPr txBox="1">
              <a:spLocks noChangeArrowheads="1"/>
            </p:cNvSpPr>
            <p:nvPr/>
          </p:nvSpPr>
          <p:spPr bwMode="auto">
            <a:xfrm>
              <a:off x="5969976" y="1905000"/>
              <a:ext cx="2945424" cy="1015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txBody>
            <a:bodyPr wrap="square">
              <a:spAutoFit/>
            </a:bodyPr>
            <a:lstStyle/>
            <a:p>
              <a:r>
                <a:rPr lang="en-GB" altLang="en-US" sz="2000" dirty="0"/>
                <a:t>This is the probability of the result given the null hypothesis</a:t>
              </a:r>
              <a:endParaRPr lang="en-US" altLang="en-US" sz="2000" dirty="0"/>
            </a:p>
          </p:txBody>
        </p:sp>
        <p:sp>
          <p:nvSpPr>
            <p:cNvPr id="250887" name="Line 7"/>
            <p:cNvSpPr>
              <a:spLocks noChangeShapeType="1"/>
            </p:cNvSpPr>
            <p:nvPr/>
          </p:nvSpPr>
          <p:spPr bwMode="auto">
            <a:xfrm flipH="1">
              <a:off x="5284176" y="2438400"/>
              <a:ext cx="685800" cy="40902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Question 4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itle 1">
                <a:extLst>
                  <a:ext uri="{FF2B5EF4-FFF2-40B4-BE49-F238E27FC236}">
                    <a16:creationId xmlns:a16="http://schemas.microsoft.com/office/drawing/2014/main" id="{EFF9FFE9-555C-A59F-6232-4BCB9197F4F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04800" y="4572000"/>
                <a:ext cx="8077200" cy="1981200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Autofit/>
              </a:bodyPr>
              <a:lstStyle>
                <a:lvl1pPr algn="l" defTabSz="914400" rtl="0" eaLnBrk="1" latinLnBrk="0" hangingPunct="1">
                  <a:spcBef>
                    <a:spcPct val="0"/>
                  </a:spcBef>
                  <a:buNone/>
                  <a:defRPr sz="3600" b="1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GB" sz="2400" b="0" dirty="0"/>
                  <a:t>1)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GB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GB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GB" altLang="en-US" sz="2400" b="1" dirty="0">
                    <a:solidFill>
                      <a:schemeClr val="tx1"/>
                    </a:solidFill>
                  </a:rPr>
                  <a:t> </a:t>
                </a:r>
                <a:r>
                  <a:rPr lang="en-GB" sz="2400" b="0" dirty="0"/>
                  <a:t>There is no association between age and income</a:t>
                </a:r>
              </a:p>
              <a:p>
                <a:r>
                  <a:rPr lang="en-GB" sz="2400" b="0" dirty="0"/>
                  <a:t>2) Reject null hypothesis since p-value &lt; 0.05</a:t>
                </a:r>
              </a:p>
              <a:p>
                <a:endParaRPr lang="en-GB" sz="2000" b="0" dirty="0"/>
              </a:p>
            </p:txBody>
          </p:sp>
        </mc:Choice>
        <mc:Fallback>
          <p:sp>
            <p:nvSpPr>
              <p:cNvPr id="5" name="Title 1">
                <a:extLst>
                  <a:ext uri="{FF2B5EF4-FFF2-40B4-BE49-F238E27FC236}">
                    <a16:creationId xmlns:a16="http://schemas.microsoft.com/office/drawing/2014/main" id="{EFF9FFE9-555C-A59F-6232-4BCB9197F4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4572000"/>
                <a:ext cx="8077200" cy="1981200"/>
              </a:xfrm>
              <a:prstGeom prst="rect">
                <a:avLst/>
              </a:prstGeom>
              <a:blipFill>
                <a:blip r:embed="rId4"/>
                <a:stretch>
                  <a:fillRect l="-1132" t="-246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73277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Reading…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12837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Berenson et al. (2015)</a:t>
            </a:r>
          </a:p>
          <a:p>
            <a:pPr marL="0" indent="0">
              <a:buNone/>
            </a:pPr>
            <a:r>
              <a:rPr lang="en-GB" sz="1800" dirty="0"/>
              <a:t>Chapter 12, Sections 12.1 – 12.3 </a:t>
            </a:r>
          </a:p>
          <a:p>
            <a:pPr marL="0" indent="0">
              <a:buNone/>
            </a:pPr>
            <a:r>
              <a:rPr lang="en-GB" sz="1800" dirty="0"/>
              <a:t>	These all discuss the two-way chi squared test</a:t>
            </a:r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r>
              <a:rPr lang="en-GB" sz="1800" dirty="0"/>
              <a:t>Chapter 3, Section 3.6 </a:t>
            </a:r>
          </a:p>
          <a:p>
            <a:pPr marL="0" indent="0">
              <a:buNone/>
            </a:pPr>
            <a:r>
              <a:rPr lang="en-GB" sz="1800" dirty="0"/>
              <a:t>	The covariance and the coefficient of correlation</a:t>
            </a:r>
          </a:p>
          <a:p>
            <a:pPr marL="0" indent="0">
              <a:buNone/>
            </a:pPr>
            <a:r>
              <a:rPr lang="en-GB" sz="1800" dirty="0"/>
              <a:t>Chapter 13, Simple linear regression</a:t>
            </a:r>
          </a:p>
          <a:p>
            <a:pPr marL="0" indent="0">
              <a:buNone/>
            </a:pPr>
            <a:r>
              <a:rPr lang="en-GB" sz="1800" dirty="0"/>
              <a:t>	Subsection “</a:t>
            </a:r>
            <a:r>
              <a:rPr lang="en-GB" sz="1800" i="1" dirty="0"/>
              <a:t>t</a:t>
            </a:r>
            <a:r>
              <a:rPr lang="en-GB" sz="1800" dirty="0"/>
              <a:t> test for the correlation coefficient”</a:t>
            </a:r>
          </a:p>
        </p:txBody>
      </p:sp>
    </p:spTree>
    <p:extLst>
      <p:ext uri="{BB962C8B-B14F-4D97-AF65-F5344CB8AC3E}">
        <p14:creationId xmlns:p14="http://schemas.microsoft.com/office/powerpoint/2010/main" val="16931980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8" name="Straight Arrow Connector 127"/>
          <p:cNvCxnSpPr>
            <a:stCxn id="124" idx="1"/>
            <a:endCxn id="108" idx="2"/>
          </p:cNvCxnSpPr>
          <p:nvPr/>
        </p:nvCxnSpPr>
        <p:spPr>
          <a:xfrm>
            <a:off x="533400" y="2688209"/>
            <a:ext cx="5890947" cy="3172"/>
          </a:xfrm>
          <a:prstGeom prst="straightConnector1">
            <a:avLst/>
          </a:prstGeom>
          <a:ln w="17780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3" name="Straight Arrow Connector 142"/>
          <p:cNvCxnSpPr>
            <a:stCxn id="124" idx="1"/>
            <a:endCxn id="108" idx="2"/>
          </p:cNvCxnSpPr>
          <p:nvPr/>
        </p:nvCxnSpPr>
        <p:spPr>
          <a:xfrm>
            <a:off x="533400" y="2688209"/>
            <a:ext cx="5890947" cy="3172"/>
          </a:xfrm>
          <a:prstGeom prst="straightConnector1">
            <a:avLst/>
          </a:prstGeom>
          <a:ln w="9525" cap="flat" cmpd="sng" algn="ctr">
            <a:solidFill>
              <a:schemeClr val="bg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9" name="Rounded Rectangle 64"/>
          <p:cNvSpPr/>
          <p:nvPr/>
        </p:nvSpPr>
        <p:spPr>
          <a:xfrm>
            <a:off x="1066800" y="1295400"/>
            <a:ext cx="7010400" cy="4676775"/>
          </a:xfrm>
          <a:prstGeom prst="roundRect">
            <a:avLst/>
          </a:prstGeom>
          <a:noFill/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4" name="Pentagon 41"/>
          <p:cNvSpPr/>
          <p:nvPr/>
        </p:nvSpPr>
        <p:spPr>
          <a:xfrm>
            <a:off x="533400" y="2557018"/>
            <a:ext cx="122819" cy="26238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b="1" dirty="0"/>
          </a:p>
        </p:txBody>
      </p:sp>
      <p:cxnSp>
        <p:nvCxnSpPr>
          <p:cNvPr id="135" name="Elbow Connector 73"/>
          <p:cNvCxnSpPr>
            <a:stCxn id="122" idx="0"/>
            <a:endCxn id="110" idx="6"/>
          </p:cNvCxnSpPr>
          <p:nvPr/>
        </p:nvCxnSpPr>
        <p:spPr>
          <a:xfrm rot="16200000" flipV="1">
            <a:off x="4670377" y="2285111"/>
            <a:ext cx="716160" cy="5438768"/>
          </a:xfrm>
          <a:prstGeom prst="bentConnector2">
            <a:avLst/>
          </a:prstGeom>
          <a:ln w="1778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1" name="Rectangle 100"/>
          <p:cNvSpPr/>
          <p:nvPr/>
        </p:nvSpPr>
        <p:spPr>
          <a:xfrm>
            <a:off x="2651263" y="2025045"/>
            <a:ext cx="1001621" cy="307777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n-GB" sz="1400" b="1" dirty="0"/>
              <a:t>Probability</a:t>
            </a:r>
            <a:endParaRPr lang="en-GB" sz="1400" dirty="0"/>
          </a:p>
        </p:txBody>
      </p:sp>
      <p:sp>
        <p:nvSpPr>
          <p:cNvPr id="103" name="Rectangle 102"/>
          <p:cNvSpPr/>
          <p:nvPr/>
        </p:nvSpPr>
        <p:spPr>
          <a:xfrm>
            <a:off x="1474886" y="1799422"/>
            <a:ext cx="1020664" cy="52322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n-GB" sz="1400" b="1" dirty="0"/>
              <a:t>Descriptive</a:t>
            </a:r>
          </a:p>
          <a:p>
            <a:pPr algn="ctr"/>
            <a:r>
              <a:rPr lang="en-GB" sz="1400" b="1" dirty="0"/>
              <a:t>Statistics</a:t>
            </a:r>
            <a:endParaRPr lang="en-GB" sz="1400" dirty="0"/>
          </a:p>
        </p:txBody>
      </p:sp>
      <p:sp>
        <p:nvSpPr>
          <p:cNvPr id="105" name="Rectangle 104"/>
          <p:cNvSpPr/>
          <p:nvPr/>
        </p:nvSpPr>
        <p:spPr>
          <a:xfrm>
            <a:off x="3808597" y="1799422"/>
            <a:ext cx="1149289" cy="52322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n-GB" sz="1400" b="1" dirty="0"/>
              <a:t>Probability</a:t>
            </a:r>
          </a:p>
          <a:p>
            <a:pPr algn="ctr"/>
            <a:r>
              <a:rPr lang="en-GB" sz="1400" b="1" dirty="0"/>
              <a:t>Distributions</a:t>
            </a:r>
            <a:endParaRPr lang="en-GB" sz="1400" dirty="0"/>
          </a:p>
        </p:txBody>
      </p:sp>
      <p:sp>
        <p:nvSpPr>
          <p:cNvPr id="107" name="Rectangle 106"/>
          <p:cNvSpPr/>
          <p:nvPr/>
        </p:nvSpPr>
        <p:spPr>
          <a:xfrm>
            <a:off x="6275649" y="1799422"/>
            <a:ext cx="1013418" cy="52322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n-GB" sz="1400" b="1" dirty="0"/>
              <a:t>Hypothesis</a:t>
            </a:r>
          </a:p>
          <a:p>
            <a:pPr algn="ctr"/>
            <a:r>
              <a:rPr lang="en-GB" sz="1400" b="1" dirty="0"/>
              <a:t>Testing 1</a:t>
            </a:r>
            <a:endParaRPr lang="en-GB" sz="1400" dirty="0"/>
          </a:p>
        </p:txBody>
      </p:sp>
      <p:sp>
        <p:nvSpPr>
          <p:cNvPr id="109" name="Rectangle 108"/>
          <p:cNvSpPr/>
          <p:nvPr/>
        </p:nvSpPr>
        <p:spPr>
          <a:xfrm>
            <a:off x="2594245" y="5039380"/>
            <a:ext cx="1113318" cy="52322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n-GB" sz="1400" b="1" dirty="0"/>
              <a:t>Testing</a:t>
            </a:r>
          </a:p>
          <a:p>
            <a:pPr algn="ctr"/>
            <a:r>
              <a:rPr lang="en-GB" sz="1400" b="1" dirty="0"/>
              <a:t>Relationship</a:t>
            </a:r>
            <a:endParaRPr lang="en-GB" sz="1400" dirty="0"/>
          </a:p>
        </p:txBody>
      </p:sp>
      <p:sp>
        <p:nvSpPr>
          <p:cNvPr id="111" name="Rectangle 110"/>
          <p:cNvSpPr/>
          <p:nvPr/>
        </p:nvSpPr>
        <p:spPr>
          <a:xfrm>
            <a:off x="3886201" y="5054798"/>
            <a:ext cx="991169" cy="307777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n-GB" sz="1400" b="1" dirty="0"/>
              <a:t>Regression</a:t>
            </a:r>
            <a:endParaRPr lang="en-GB" sz="1400" dirty="0"/>
          </a:p>
        </p:txBody>
      </p:sp>
      <p:sp>
        <p:nvSpPr>
          <p:cNvPr id="113" name="Rectangle 112"/>
          <p:cNvSpPr/>
          <p:nvPr/>
        </p:nvSpPr>
        <p:spPr>
          <a:xfrm>
            <a:off x="6334125" y="5085080"/>
            <a:ext cx="904875" cy="52322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GB" sz="1400" b="1" dirty="0"/>
              <a:t>Factor</a:t>
            </a:r>
          </a:p>
          <a:p>
            <a:pPr algn="ctr"/>
            <a:r>
              <a:rPr lang="en-GB" sz="1400" b="1" dirty="0"/>
              <a:t>Analysis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225248" y="1981200"/>
            <a:ext cx="870752" cy="307777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n-GB" sz="1400" b="1" dirty="0"/>
              <a:t>Sampling</a:t>
            </a:r>
          </a:p>
        </p:txBody>
      </p:sp>
      <p:sp>
        <p:nvSpPr>
          <p:cNvPr id="122" name="Oval 121"/>
          <p:cNvSpPr/>
          <p:nvPr/>
        </p:nvSpPr>
        <p:spPr>
          <a:xfrm>
            <a:off x="7385891" y="5362575"/>
            <a:ext cx="723900" cy="69532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/>
              <a:t>Week</a:t>
            </a:r>
          </a:p>
          <a:p>
            <a:pPr algn="ctr"/>
            <a:r>
              <a:rPr lang="en-GB" sz="2000" b="1" dirty="0"/>
              <a:t>11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7342281" y="6106180"/>
            <a:ext cx="811119" cy="307777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n-GB" sz="1400" b="1" dirty="0"/>
              <a:t>Revision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134855" y="5090072"/>
            <a:ext cx="1045478" cy="52322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n-GB" sz="1400" b="1" dirty="0"/>
              <a:t>Conditional</a:t>
            </a:r>
          </a:p>
          <a:p>
            <a:pPr algn="ctr"/>
            <a:r>
              <a:rPr lang="en-GB" sz="1400" b="1" dirty="0"/>
              <a:t>Probability</a:t>
            </a:r>
            <a:endParaRPr lang="en-GB" sz="1400" dirty="0"/>
          </a:p>
        </p:txBody>
      </p:sp>
      <p:cxnSp>
        <p:nvCxnSpPr>
          <p:cNvPr id="127" name="Elbow Connector 46"/>
          <p:cNvCxnSpPr>
            <a:stCxn id="110" idx="2"/>
            <a:endCxn id="108" idx="6"/>
          </p:cNvCxnSpPr>
          <p:nvPr/>
        </p:nvCxnSpPr>
        <p:spPr>
          <a:xfrm rot="10800000" flipH="1">
            <a:off x="1585173" y="2691381"/>
            <a:ext cx="5563074" cy="1955034"/>
          </a:xfrm>
          <a:prstGeom prst="bentConnector5">
            <a:avLst>
              <a:gd name="adj1" fmla="val -4109"/>
              <a:gd name="adj2" fmla="val 50000"/>
              <a:gd name="adj3" fmla="val 104109"/>
            </a:avLst>
          </a:prstGeom>
          <a:ln w="1778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6" name="Title 1"/>
          <p:cNvSpPr>
            <a:spLocks noGrp="1"/>
          </p:cNvSpPr>
          <p:nvPr>
            <p:ph type="title"/>
          </p:nvPr>
        </p:nvSpPr>
        <p:spPr>
          <a:xfrm>
            <a:off x="304800" y="76200"/>
            <a:ext cx="8229600" cy="869277"/>
          </a:xfrm>
        </p:spPr>
        <p:txBody>
          <a:bodyPr/>
          <a:lstStyle/>
          <a:p>
            <a:r>
              <a:rPr lang="en-GB" dirty="0"/>
              <a:t>Module Overview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447800" y="5029200"/>
            <a:ext cx="1013419" cy="52322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n-GB" sz="1400" b="1" dirty="0"/>
              <a:t>Hypothesis</a:t>
            </a:r>
          </a:p>
          <a:p>
            <a:pPr algn="ctr"/>
            <a:r>
              <a:rPr lang="en-GB" sz="1400" b="1" dirty="0"/>
              <a:t>Testing 2</a:t>
            </a:r>
          </a:p>
        </p:txBody>
      </p:sp>
      <p:cxnSp>
        <p:nvCxnSpPr>
          <p:cNvPr id="142" name="Elbow Connector 73"/>
          <p:cNvCxnSpPr>
            <a:stCxn id="122" idx="0"/>
            <a:endCxn id="110" idx="6"/>
          </p:cNvCxnSpPr>
          <p:nvPr/>
        </p:nvCxnSpPr>
        <p:spPr>
          <a:xfrm rot="16200000" flipV="1">
            <a:off x="4670377" y="2285111"/>
            <a:ext cx="716160" cy="5438768"/>
          </a:xfrm>
          <a:prstGeom prst="bentConnector2">
            <a:avLst/>
          </a:prstGeom>
          <a:ln w="9525" cap="flat" cmpd="sng" algn="ctr">
            <a:solidFill>
              <a:schemeClr val="bg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4" name="Elbow Connector 46"/>
          <p:cNvCxnSpPr>
            <a:stCxn id="110" idx="2"/>
            <a:endCxn id="108" idx="6"/>
          </p:cNvCxnSpPr>
          <p:nvPr/>
        </p:nvCxnSpPr>
        <p:spPr>
          <a:xfrm rot="10800000" flipH="1">
            <a:off x="1585173" y="2691381"/>
            <a:ext cx="5563074" cy="1955034"/>
          </a:xfrm>
          <a:prstGeom prst="bentConnector5">
            <a:avLst>
              <a:gd name="adj1" fmla="val -4109"/>
              <a:gd name="adj2" fmla="val 50000"/>
              <a:gd name="adj3" fmla="val 104109"/>
            </a:avLst>
          </a:prstGeom>
          <a:ln w="9525" cap="flat" cmpd="sng" algn="ctr">
            <a:solidFill>
              <a:schemeClr val="bg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0" name="Oval 109"/>
          <p:cNvSpPr/>
          <p:nvPr/>
        </p:nvSpPr>
        <p:spPr>
          <a:xfrm>
            <a:off x="1585173" y="4298752"/>
            <a:ext cx="723900" cy="695325"/>
          </a:xfrm>
          <a:prstGeom prst="ellipse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/>
              <a:t>Week</a:t>
            </a:r>
          </a:p>
          <a:p>
            <a:pPr algn="ctr"/>
            <a:r>
              <a:rPr lang="en-GB" sz="2000" b="1" dirty="0"/>
              <a:t>6</a:t>
            </a:r>
          </a:p>
        </p:txBody>
      </p:sp>
      <p:sp>
        <p:nvSpPr>
          <p:cNvPr id="112" name="Oval 111"/>
          <p:cNvSpPr/>
          <p:nvPr/>
        </p:nvSpPr>
        <p:spPr>
          <a:xfrm>
            <a:off x="2767095" y="4298752"/>
            <a:ext cx="723900" cy="695325"/>
          </a:xfrm>
          <a:prstGeom prst="ellipse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/>
              <a:t>Week</a:t>
            </a:r>
          </a:p>
          <a:p>
            <a:pPr algn="ctr"/>
            <a:r>
              <a:rPr lang="en-GB" sz="2000" b="1" dirty="0"/>
              <a:t>7</a:t>
            </a:r>
          </a:p>
        </p:txBody>
      </p:sp>
      <p:sp>
        <p:nvSpPr>
          <p:cNvPr id="114" name="Oval 113"/>
          <p:cNvSpPr/>
          <p:nvPr/>
        </p:nvSpPr>
        <p:spPr>
          <a:xfrm>
            <a:off x="4006152" y="4298752"/>
            <a:ext cx="723900" cy="695325"/>
          </a:xfrm>
          <a:prstGeom prst="ellipse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/>
              <a:t>Week</a:t>
            </a:r>
          </a:p>
          <a:p>
            <a:pPr algn="ctr"/>
            <a:r>
              <a:rPr lang="en-GB" sz="2000" b="1" dirty="0"/>
              <a:t>8</a:t>
            </a:r>
          </a:p>
        </p:txBody>
      </p:sp>
      <p:sp>
        <p:nvSpPr>
          <p:cNvPr id="116" name="Oval 115"/>
          <p:cNvSpPr/>
          <p:nvPr/>
        </p:nvSpPr>
        <p:spPr>
          <a:xfrm>
            <a:off x="6424348" y="4298752"/>
            <a:ext cx="723900" cy="695325"/>
          </a:xfrm>
          <a:prstGeom prst="ellipse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/>
              <a:t>Week</a:t>
            </a:r>
          </a:p>
          <a:p>
            <a:pPr algn="ctr"/>
            <a:r>
              <a:rPr lang="en-GB" sz="2000" b="1" dirty="0"/>
              <a:t>10</a:t>
            </a:r>
          </a:p>
        </p:txBody>
      </p:sp>
      <p:sp>
        <p:nvSpPr>
          <p:cNvPr id="125" name="Oval 124"/>
          <p:cNvSpPr/>
          <p:nvPr/>
        </p:nvSpPr>
        <p:spPr>
          <a:xfrm>
            <a:off x="5304166" y="4298752"/>
            <a:ext cx="723900" cy="695325"/>
          </a:xfrm>
          <a:prstGeom prst="ellipse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/>
              <a:t>Week</a:t>
            </a:r>
          </a:p>
          <a:p>
            <a:pPr algn="ctr"/>
            <a:r>
              <a:rPr lang="en-GB" sz="2000" b="1" dirty="0"/>
              <a:t>9</a:t>
            </a:r>
          </a:p>
        </p:txBody>
      </p:sp>
      <p:sp>
        <p:nvSpPr>
          <p:cNvPr id="100" name="Oval 99"/>
          <p:cNvSpPr/>
          <p:nvPr/>
        </p:nvSpPr>
        <p:spPr>
          <a:xfrm>
            <a:off x="2790125" y="2345979"/>
            <a:ext cx="723900" cy="695325"/>
          </a:xfrm>
          <a:prstGeom prst="ellipse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/>
              <a:t>Week</a:t>
            </a:r>
          </a:p>
          <a:p>
            <a:pPr algn="ctr"/>
            <a:r>
              <a:rPr lang="en-GB" sz="2000" b="1" dirty="0"/>
              <a:t>2</a:t>
            </a:r>
          </a:p>
        </p:txBody>
      </p:sp>
      <p:sp>
        <p:nvSpPr>
          <p:cNvPr id="104" name="Oval 103"/>
          <p:cNvSpPr/>
          <p:nvPr/>
        </p:nvSpPr>
        <p:spPr>
          <a:xfrm>
            <a:off x="4019643" y="2345979"/>
            <a:ext cx="723900" cy="695325"/>
          </a:xfrm>
          <a:prstGeom prst="ellipse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/>
              <a:t>Week</a:t>
            </a:r>
          </a:p>
          <a:p>
            <a:pPr algn="ctr"/>
            <a:r>
              <a:rPr lang="en-GB" sz="2000" b="1" dirty="0"/>
              <a:t>3</a:t>
            </a:r>
          </a:p>
        </p:txBody>
      </p:sp>
      <p:sp>
        <p:nvSpPr>
          <p:cNvPr id="106" name="Oval 105"/>
          <p:cNvSpPr/>
          <p:nvPr/>
        </p:nvSpPr>
        <p:spPr>
          <a:xfrm>
            <a:off x="5255214" y="2343718"/>
            <a:ext cx="723900" cy="695325"/>
          </a:xfrm>
          <a:prstGeom prst="ellipse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/>
              <a:t>Week</a:t>
            </a:r>
          </a:p>
          <a:p>
            <a:pPr algn="ctr"/>
            <a:r>
              <a:rPr lang="en-GB" sz="2000" b="1" dirty="0"/>
              <a:t>4</a:t>
            </a:r>
          </a:p>
        </p:txBody>
      </p:sp>
      <p:sp>
        <p:nvSpPr>
          <p:cNvPr id="108" name="Oval 107"/>
          <p:cNvSpPr/>
          <p:nvPr/>
        </p:nvSpPr>
        <p:spPr>
          <a:xfrm>
            <a:off x="6424347" y="2343718"/>
            <a:ext cx="723900" cy="695325"/>
          </a:xfrm>
          <a:prstGeom prst="ellipse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/>
              <a:t>Week</a:t>
            </a:r>
          </a:p>
          <a:p>
            <a:pPr algn="ctr"/>
            <a:r>
              <a:rPr lang="en-GB" sz="2000" b="1" dirty="0"/>
              <a:t>5</a:t>
            </a:r>
          </a:p>
        </p:txBody>
      </p:sp>
      <p:sp>
        <p:nvSpPr>
          <p:cNvPr id="138" name="Oval 137"/>
          <p:cNvSpPr/>
          <p:nvPr/>
        </p:nvSpPr>
        <p:spPr>
          <a:xfrm>
            <a:off x="1600200" y="2352675"/>
            <a:ext cx="723900" cy="695325"/>
          </a:xfrm>
          <a:prstGeom prst="ellipse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/>
              <a:t>Week</a:t>
            </a:r>
          </a:p>
          <a:p>
            <a:pPr algn="ctr"/>
            <a:r>
              <a:rPr lang="en-GB" sz="2000" b="1" dirty="0"/>
              <a:t>1</a:t>
            </a:r>
          </a:p>
        </p:txBody>
      </p:sp>
      <p:cxnSp>
        <p:nvCxnSpPr>
          <p:cNvPr id="181" name="Straight Arrow Connector 180"/>
          <p:cNvCxnSpPr>
            <a:stCxn id="180" idx="3"/>
            <a:endCxn id="122" idx="6"/>
          </p:cNvCxnSpPr>
          <p:nvPr/>
        </p:nvCxnSpPr>
        <p:spPr>
          <a:xfrm flipH="1">
            <a:off x="8109791" y="5709209"/>
            <a:ext cx="779641" cy="1029"/>
          </a:xfrm>
          <a:prstGeom prst="straightConnector1">
            <a:avLst/>
          </a:prstGeom>
          <a:ln w="17780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2" name="Straight Arrow Connector 181"/>
          <p:cNvCxnSpPr>
            <a:stCxn id="180" idx="3"/>
            <a:endCxn id="122" idx="6"/>
          </p:cNvCxnSpPr>
          <p:nvPr/>
        </p:nvCxnSpPr>
        <p:spPr>
          <a:xfrm flipH="1">
            <a:off x="8109791" y="5709209"/>
            <a:ext cx="779641" cy="1029"/>
          </a:xfrm>
          <a:prstGeom prst="straightConnector1">
            <a:avLst/>
          </a:prstGeom>
          <a:ln w="9525" cap="flat" cmpd="sng" algn="ctr">
            <a:solidFill>
              <a:schemeClr val="bg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0" name="Pentagon 41"/>
          <p:cNvSpPr/>
          <p:nvPr/>
        </p:nvSpPr>
        <p:spPr>
          <a:xfrm>
            <a:off x="8766613" y="5578018"/>
            <a:ext cx="122819" cy="26238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b="1" dirty="0"/>
          </a:p>
        </p:txBody>
      </p:sp>
    </p:spTree>
    <p:extLst>
      <p:ext uri="{BB962C8B-B14F-4D97-AF65-F5344CB8AC3E}">
        <p14:creationId xmlns:p14="http://schemas.microsoft.com/office/powerpoint/2010/main" val="351754937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Week-0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2238</Words>
  <Application>Microsoft Office PowerPoint</Application>
  <PresentationFormat>On-screen Show (4:3)</PresentationFormat>
  <Paragraphs>909</Paragraphs>
  <Slides>41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Avalon</vt:lpstr>
      <vt:lpstr>Arial</vt:lpstr>
      <vt:lpstr>Calibri</vt:lpstr>
      <vt:lpstr>Cambria Math</vt:lpstr>
      <vt:lpstr>Symbol</vt:lpstr>
      <vt:lpstr>Times New Roman</vt:lpstr>
      <vt:lpstr>Office Theme</vt:lpstr>
      <vt:lpstr>Module Overview</vt:lpstr>
      <vt:lpstr>Hypothesis Testing</vt:lpstr>
      <vt:lpstr>χ^2 for Testing Relationships</vt:lpstr>
      <vt:lpstr>χ^2 for Testing Relationships</vt:lpstr>
      <vt:lpstr>χ^2 for Testing Relationships</vt:lpstr>
      <vt:lpstr>χ^2 for Testing Relationships</vt:lpstr>
      <vt:lpstr>χ^2 for Testing Relationships</vt:lpstr>
      <vt:lpstr>χ^2 for Testing Relationships</vt:lpstr>
      <vt:lpstr>χ^2 for Testing Relationships</vt:lpstr>
      <vt:lpstr>Recall χ^2</vt:lpstr>
      <vt:lpstr>Recall χ^2</vt:lpstr>
      <vt:lpstr>Chi Squared (2)</vt:lpstr>
      <vt:lpstr>Yate’s correction for 2</vt:lpstr>
      <vt:lpstr>2 with two variables in SPSS</vt:lpstr>
      <vt:lpstr>Exercise 1</vt:lpstr>
      <vt:lpstr>PowerPoint Presentation</vt:lpstr>
      <vt:lpstr>Parametric v Non-parametric Tests</vt:lpstr>
      <vt:lpstr>Why do we still use parametric statistics?</vt:lpstr>
      <vt:lpstr>PowerPoint Presentation</vt:lpstr>
      <vt:lpstr>Summary so far…</vt:lpstr>
      <vt:lpstr>PowerPoint Presentation</vt:lpstr>
      <vt:lpstr>PowerPoint Presentation</vt:lpstr>
      <vt:lpstr>The Correlation Coefficient</vt:lpstr>
      <vt:lpstr>The Correlation Coefficient</vt:lpstr>
      <vt:lpstr>Question 2</vt:lpstr>
      <vt:lpstr>Question 2</vt:lpstr>
      <vt:lpstr>The Covariance</vt:lpstr>
      <vt:lpstr>The Correlation Coefficient</vt:lpstr>
      <vt:lpstr>The Correlation Coefficient</vt:lpstr>
      <vt:lpstr>Example</vt:lpstr>
      <vt:lpstr>Example</vt:lpstr>
      <vt:lpstr>Exercise 3</vt:lpstr>
      <vt:lpstr>Exercise 3</vt:lpstr>
      <vt:lpstr>Significance of relation</vt:lpstr>
      <vt:lpstr>Significance of relation</vt:lpstr>
      <vt:lpstr>Causality</vt:lpstr>
      <vt:lpstr>Correlation Coefficient in SPSS</vt:lpstr>
      <vt:lpstr>Question 4</vt:lpstr>
      <vt:lpstr>Question 4</vt:lpstr>
      <vt:lpstr>Reading…</vt:lpstr>
      <vt:lpstr>Module Overview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Week-06</dc:title>
  <dc:creator>Sajid Siraj</dc:creator>
  <cp:lastModifiedBy>Peizhi Shi</cp:lastModifiedBy>
  <cp:revision>302</cp:revision>
  <dcterms:created xsi:type="dcterms:W3CDTF">2006-08-16T00:00:00Z</dcterms:created>
  <dcterms:modified xsi:type="dcterms:W3CDTF">2024-11-11T16:38:00Z</dcterms:modified>
</cp:coreProperties>
</file>